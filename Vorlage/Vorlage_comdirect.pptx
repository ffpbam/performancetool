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5.xml" ContentType="application/vnd.openxmlformats-officedocument.drawingml.chartshapes+xml"/>
  <Override PartName="/ppt/media/image1.svg" ContentType="image/svg+xml"/>
  <Override PartName="/ppt/media/image4.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9"/>
  </p:notesMasterIdLst>
  <p:sldIdLst>
    <p:sldId id="256" r:id="rId2"/>
    <p:sldId id="267" r:id="rId3"/>
    <p:sldId id="306" r:id="rId4"/>
    <p:sldId id="269" r:id="rId5"/>
    <p:sldId id="271" r:id="rId6"/>
    <p:sldId id="257" r:id="rId7"/>
    <p:sldId id="303" r:id="rId8"/>
    <p:sldId id="272" r:id="rId9"/>
    <p:sldId id="304" r:id="rId10"/>
    <p:sldId id="273" r:id="rId11"/>
    <p:sldId id="305" r:id="rId12"/>
    <p:sldId id="284" r:id="rId13"/>
    <p:sldId id="302" r:id="rId14"/>
    <p:sldId id="285" r:id="rId15"/>
    <p:sldId id="300" r:id="rId16"/>
    <p:sldId id="307" r:id="rId17"/>
    <p:sldId id="1594" r:id="rId18"/>
    <p:sldId id="288" r:id="rId19"/>
    <p:sldId id="289" r:id="rId20"/>
    <p:sldId id="290" r:id="rId21"/>
    <p:sldId id="1595" r:id="rId34"/>
    <p:sldId id="295" r:id="rId23"/>
    <p:sldId id="296" r:id="rId24"/>
    <p:sldId id="297" r:id="rId25"/>
    <p:sldId id="312" r:id="rId26"/>
    <p:sldId id="311" r:id="rId27"/>
    <p:sldId id="299" r:id="rId28"/>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161" autoAdjust="0"/>
  </p:normalViewPr>
  <p:slideViewPr>
    <p:cSldViewPr snapToGrid="0" showGuides="1">
      <p:cViewPr varScale="1">
        <p:scale>
          <a:sx n="120" d="100"/>
          <a:sy n="120" d="100"/>
        </p:scale>
        <p:origin x="780" y="102"/>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1.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4" Type="http://schemas.openxmlformats.org/officeDocument/2006/relationships/chartUserShapes" Target="../drawings/drawing2.xml"/></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2.xlsx"/></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3.xlsx"/></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4" Type="http://schemas.openxmlformats.org/officeDocument/2006/relationships/chartUserShapes" Target="../drawings/drawing3.xml"/></Relationships>
</file>

<file path=ppt/charts/_rels/chart8.xml.rels><?xml version='1.0' encoding='UTF-8' standalone='yes'?>
<Relationships xmlns="http://schemas.openxmlformats.org/package/2006/relationships"><Relationship Id="rId1" Type="http://schemas.microsoft.com/office/2011/relationships/chartStyle" Target="style8.xml"/><Relationship Id="rId2" Type="http://schemas.microsoft.com/office/2011/relationships/chartColorStyle" Target="colors8.xml"/><Relationship Id="rId3" Type="http://schemas.openxmlformats.org/officeDocument/2006/relationships/package" Target="../embeddings/Microsoft_Excel_Worksheet4.xlsx"/></Relationships>
</file>

<file path=ppt/charts/_rels/chart9.xml.rels><?xml version='1.0' encoding='UTF-8' standalone='yes'?>
<Relationships xmlns="http://schemas.openxmlformats.org/package/2006/relationships"><Relationship Id="rId1" Type="http://schemas.microsoft.com/office/2011/relationships/chartStyle" Target="style9.xml"/><Relationship Id="rId2" Type="http://schemas.microsoft.com/office/2011/relationships/chartColorStyle" Target="colors9.xml"/><Relationship Id="rId3" Type="http://schemas.openxmlformats.org/officeDocument/2006/relationships/package" Target="../embeddings/Microsoft_Excel_Worksheet5.xlsx"/></Relationships>
</file>

<file path=ppt/charts/_rels/chart11.xml.rels><?xml version='1.0' encoding='UTF-8' standalone='yes'?>
<Relationships xmlns="http://schemas.openxmlformats.org/package/2006/relationships"><Relationship Id="rId1" Type="http://schemas.microsoft.com/office/2011/relationships/chartStyle" Target="style11.xml"/><Relationship Id="rId2" Type="http://schemas.microsoft.com/office/2011/relationships/chartColorStyle" Target="colors11.xml"/><Relationship Id="rId3" Type="http://schemas.openxmlformats.org/officeDocument/2006/relationships/package" Target="../embeddings/Microsoft_Excel_Worksheet7.xlsx"/><Relationship Id="rId4" Type="http://schemas.openxmlformats.org/officeDocument/2006/relationships/chartUserShapes" Target="../drawings/drawing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7DD5-4331-A1F2-494FF211F11D}"/>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7DD5-4331-A1F2-494FF211F11D}"/>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7DD5-4331-A1F2-494FF211F11D}"/>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7DD5-4331-A1F2-494FF211F11D}"/>
              </c:ext>
            </c:extLst>
          </c:dPt>
          <c:dLbls>
            <c:dLbl>
              <c:idx val="0"/>
              <c:layout>
                <c:manualLayout>
                  <c:x val="0.36145315303382419"/>
                  <c:y val="4.754085960149247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DD5-4331-A1F2-494FF211F11D}"/>
                </c:ext>
              </c:extLst>
            </c:dLbl>
            <c:dLbl>
              <c:idx val="1"/>
              <c:layout>
                <c:manualLayout>
                  <c:x val="0.2735762010246543"/>
                  <c:y val="7.59159037093437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DD5-4331-A1F2-494FF211F11D}"/>
                </c:ext>
              </c:extLst>
            </c:dLbl>
            <c:dLbl>
              <c:idx val="2"/>
              <c:layout>
                <c:manualLayout>
                  <c:x val="-0.17922550806711762"/>
                  <c:y val="-6.50820194747763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DD5-4331-A1F2-494FF211F11D}"/>
                </c:ext>
              </c:extLst>
            </c:dLbl>
            <c:dLbl>
              <c:idx val="3"/>
              <c:layout>
                <c:manualLayout>
                  <c:x val="-0.367021084446157"/>
                  <c:y val="-4.69891583719633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DD5-4331-A1F2-494FF211F11D}"/>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S_Diagramm_Com!$B$4:$B$7</c:f>
              <c:strCache>
                <c:ptCount val="4"/>
                <c:pt idx="0">
                  <c:v>EDELMETALLE</c:v>
                </c:pt>
                <c:pt idx="1">
                  <c:v>RENTEN</c:v>
                </c:pt>
                <c:pt idx="2">
                  <c:v>AKTIEN </c:v>
                </c:pt>
                <c:pt idx="3">
                  <c:v>LIQUIDITÄT</c:v>
                </c:pt>
              </c:strCache>
            </c:strRef>
          </c:cat>
          <c:val>
            <c:numRef>
              <c:f>S_Diagramm_Com!$C$4:$C$7</c:f>
              <c:numCache>
                <c:formatCode>0.00%</c:formatCode>
                <c:ptCount val="4"/>
                <c:pt idx="0">
                  <c:v>0.1195</c:v>
                </c:pt>
                <c:pt idx="1">
                  <c:v>0.53890000000000005</c:v>
                </c:pt>
                <c:pt idx="2">
                  <c:v>0.28599999999999992</c:v>
                </c:pt>
                <c:pt idx="3">
                  <c:v>5.5599999999999997E-2</c:v>
                </c:pt>
              </c:numCache>
            </c:numRef>
          </c:val>
          <c:extLst>
            <c:ext xmlns:c16="http://schemas.microsoft.com/office/drawing/2014/chart" uri="{C3380CC4-5D6E-409C-BE32-E72D297353CC}">
              <c16:uniqueId val="{00000008-7DD5-4331-A1F2-494FF211F11D}"/>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4034242250801352"/>
          <c:w val="0.23952616820244227"/>
          <c:h val="0.25965757749198648"/>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Tabelle1!$A$2:$A$234</c:f>
              <c:numCache>
                <c:formatCode>m/d/yyyy</c:formatCode>
                <c:ptCount val="233"/>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46203</c:v>
                </c:pt>
                <c:pt idx="31">
                  <c:v>46223</c:v>
                </c:pt>
              </c:numCache>
            </c:numRef>
          </c:cat>
          <c:val>
            <c:numRef>
              <c:f>Tabelle1!$B$2:$B$234</c:f>
              <c:numCache>
                <c:formatCode>General</c:formatCode>
                <c:ptCount val="233"/>
                <c:pt idx="0">
                  <c:v>1</c:v>
                </c:pt>
                <c:pt idx="1">
                  <c:v>1</c:v>
                </c:pt>
                <c:pt idx="2">
                  <c:v>1</c:v>
                </c:pt>
                <c:pt idx="3">
                  <c:v>1.0121</c:v>
                </c:pt>
                <c:pt idx="4">
                  <c:v>1.00116932</c:v>
                </c:pt>
                <c:pt idx="5">
                  <c:v>1.01168159786</c:v>
                </c:pt>
                <c:pt idx="6">
                  <c:v>1.0260474765496119</c:v>
                </c:pt>
                <c:pt idx="7">
                  <c:v>1.0344756357314857</c:v>
                </c:pt>
                <c:pt idx="8">
                  <c:v>1.0464755531059711</c:v>
                </c:pt>
                <c:pt idx="9">
                  <c:v>1.0568356610817202</c:v>
                </c:pt>
                <c:pt idx="10">
                  <c:v>1.0571527117800448</c:v>
                </c:pt>
                <c:pt idx="11">
                  <c:v>1.0756528842361956</c:v>
                </c:pt>
                <c:pt idx="12">
                  <c:v>1.064250963663292</c:v>
                </c:pt>
                <c:pt idx="13">
                  <c:v>1.0832542288704639</c:v>
                </c:pt>
                <c:pt idx="14">
                  <c:v>1.1006946219552782</c:v>
                </c:pt>
                <c:pt idx="15">
                  <c:v>1.0943105931479375</c:v>
                </c:pt>
                <c:pt idx="16">
                  <c:v>1.0931068514954749</c:v>
                </c:pt>
                <c:pt idx="17">
                  <c:v>1.1014144635668406</c:v>
                </c:pt>
                <c:pt idx="18">
                  <c:v>1.0921625820728791</c:v>
                </c:pt>
                <c:pt idx="19">
                  <c:v>1.1042820918136254</c:v>
                </c:pt>
                <c:pt idx="20">
                  <c:v>1.100527532701459</c:v>
                </c:pt>
                <c:pt idx="21">
                  <c:v>1.1149444433798481</c:v>
                </c:pt>
                <c:pt idx="22">
                  <c:v>1.1131605322704403</c:v>
                </c:pt>
                <c:pt idx="23">
                  <c:v>1.1316389971061296</c:v>
                </c:pt>
                <c:pt idx="24">
                  <c:v>1.1352602418968694</c:v>
                </c:pt>
                <c:pt idx="25">
                  <c:v>1.1544427452911696</c:v>
                </c:pt>
                <c:pt idx="26">
                  <c:v>1.1895627388141621</c:v>
                </c:pt>
                <c:pt idx="27">
                  <c:v>1.1578305260168602</c:v>
                </c:pt>
                <c:pt idx="28">
                  <c:v>1.1553461534846869</c:v>
                </c:pt>
                <c:pt idx="29">
                  <c:v>1.1554590795088768</c:v>
                </c:pt>
                <c:pt idx="30">
                  <c:v>1.1448440332350462</c:v>
                </c:pt>
                <c:pt idx="31">
                  <c:v>1.1477801098639779</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dateAx>
      <c:valAx>
        <c:axId val="111903199"/>
        <c:scaling>
          <c:orientation val="minMax"/>
          <c:min val="0.95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5.361273672671385E-2</c:v>
                </c:pt>
                <c:pt idx="1">
                  <c:v>6.2399999999999997E-2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3.78E-2</c:v>
                </c:pt>
                <c:pt idx="1">
                  <c:v>3.7900000000000003E-2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0C78-4B07-A53C-03F4AE4F8CBD}"/>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0C78-4B07-A53C-03F4AE4F8CBD}"/>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0C78-4B07-A53C-03F4AE4F8CBD}"/>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0C78-4B07-A53C-03F4AE4F8CBD}"/>
              </c:ext>
            </c:extLst>
          </c:dPt>
          <c:dLbls>
            <c:dLbl>
              <c:idx val="0"/>
              <c:layout>
                <c:manualLayout>
                  <c:x val="0.31798980255278375"/>
                  <c:y val="-1.435716207997475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0C78-4B07-A53C-03F4AE4F8CBD}"/>
                </c:ext>
              </c:extLst>
            </c:dLbl>
            <c:dLbl>
              <c:idx val="1"/>
              <c:layout>
                <c:manualLayout>
                  <c:x val="0.20595722547308626"/>
                  <c:y val="0.2373244241292498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0C78-4B07-A53C-03F4AE4F8CBD}"/>
                </c:ext>
              </c:extLst>
            </c:dLbl>
            <c:dLbl>
              <c:idx val="2"/>
              <c:layout>
                <c:manualLayout>
                  <c:x val="-0.19665332101426963"/>
                  <c:y val="-0.1626910481921662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0C78-4B07-A53C-03F4AE4F8CBD}"/>
                </c:ext>
              </c:extLst>
            </c:dLbl>
            <c:dLbl>
              <c:idx val="3"/>
              <c:layout>
                <c:manualLayout>
                  <c:x val="-0.30689853882216062"/>
                  <c:y val="-9.6335775710595407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0C78-4B07-A53C-03F4AE4F8CBD}"/>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S_Diagramm_Com!$F$4:$F$7</c:f>
              <c:strCache>
                <c:ptCount val="4"/>
                <c:pt idx="0">
                  <c:v>EDELMETALLE</c:v>
                </c:pt>
                <c:pt idx="1">
                  <c:v>RENTEN</c:v>
                </c:pt>
                <c:pt idx="2">
                  <c:v>AKTIEN </c:v>
                </c:pt>
                <c:pt idx="3">
                  <c:v>LIQUIDITÄT</c:v>
                </c:pt>
              </c:strCache>
            </c:strRef>
          </c:cat>
          <c:val>
            <c:numRef>
              <c:f>S_Diagramm_Com!$G$4:$G$7</c:f>
              <c:numCache>
                <c:formatCode>0.00%</c:formatCode>
                <c:ptCount val="4"/>
                <c:pt idx="0">
                  <c:v>0.12</c:v>
                </c:pt>
                <c:pt idx="1">
                  <c:v>0.17880000000000001</c:v>
                </c:pt>
                <c:pt idx="2">
                  <c:v>0.67080000000000006</c:v>
                </c:pt>
                <c:pt idx="3">
                  <c:v>3.04E-2</c:v>
                </c:pt>
              </c:numCache>
            </c:numRef>
          </c:val>
          <c:extLst>
            <c:ext xmlns:c16="http://schemas.microsoft.com/office/drawing/2014/chart" uri="{C3380CC4-5D6E-409C-BE32-E72D297353CC}">
              <c16:uniqueId val="{00000008-0C78-4B07-A53C-03F4AE4F8CBD}"/>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4133791968009033"/>
          <c:w val="0.26075351606611236"/>
          <c:h val="0.25866208031990962"/>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Tabelle1!$A$2:$A$234</c:f>
              <c:numCache>
                <c:formatCode>m/d/yyyy</c:formatCode>
                <c:ptCount val="233"/>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46203</c:v>
                </c:pt>
                <c:pt idx="31">
                  <c:v>46223</c:v>
                </c:pt>
              </c:numCache>
            </c:numRef>
          </c:cat>
          <c:val>
            <c:numRef>
              <c:f>Tabelle1!$B$2:$B$234</c:f>
              <c:numCache>
                <c:formatCode>General</c:formatCode>
                <c:ptCount val="233"/>
                <c:pt idx="0">
                  <c:v>1</c:v>
                </c:pt>
                <c:pt idx="1">
                  <c:v>1</c:v>
                </c:pt>
                <c:pt idx="2">
                  <c:v>1</c:v>
                </c:pt>
                <c:pt idx="3">
                  <c:v>1.0163</c:v>
                </c:pt>
                <c:pt idx="4">
                  <c:v>0.98733545</c:v>
                </c:pt>
                <c:pt idx="5">
                  <c:v>1.0012568798450001</c:v>
                </c:pt>
                <c:pt idx="6">
                  <c:v>1.0168764871705822</c:v>
                </c:pt>
                <c:pt idx="7">
                  <c:v>1.0144032401784857</c:v>
                </c:pt>
                <c:pt idx="8">
                  <c:v>1.0331697001217877</c:v>
                </c:pt>
                <c:pt idx="9">
                  <c:v>1.0317232625416173</c:v>
                </c:pt>
                <c:pt idx="10">
                  <c:v>1.0461673882172</c:v>
                </c:pt>
                <c:pt idx="11">
                  <c:v>1.0956511056798734</c:v>
                </c:pt>
                <c:pt idx="12">
                  <c:v>1.082284162190579</c:v>
                </c:pt>
                <c:pt idx="13">
                  <c:v>1.1000712859393489</c:v>
                </c:pt>
                <c:pt idx="14">
                  <c:v>1.1382437595614443</c:v>
                </c:pt>
                <c:pt idx="15">
                  <c:v>1.1234465906871456</c:v>
                </c:pt>
                <c:pt idx="16">
                  <c:v>1.1223231440964585</c:v>
                </c:pt>
                <c:pt idx="17">
                  <c:v>1.1642980296856662</c:v>
                </c:pt>
                <c:pt idx="18">
                  <c:v>1.1552165050541179</c:v>
                </c:pt>
                <c:pt idx="19">
                  <c:v>1.1923269111057775</c:v>
                </c:pt>
                <c:pt idx="20">
                  <c:v>1.1670495805903349</c:v>
                </c:pt>
                <c:pt idx="21">
                  <c:v>1.1936583110277945</c:v>
                </c:pt>
                <c:pt idx="22">
                  <c:v>1.1965230909742612</c:v>
                </c:pt>
                <c:pt idx="23">
                  <c:v>1.1952069155741896</c:v>
                </c:pt>
                <c:pt idx="24">
                  <c:v>1.1968802052559935</c:v>
                </c:pt>
                <c:pt idx="25">
                  <c:v>1.1972574625285808</c:v>
                </c:pt>
                <c:pt idx="26">
                  <c:v>1.2284323239062878</c:v>
                </c:pt>
                <c:pt idx="27">
                  <c:v>1.1835738401681368</c:v>
                </c:pt>
                <c:pt idx="28">
                  <c:v>1.1921409776459799</c:v>
                </c:pt>
                <c:pt idx="29">
                  <c:v>1.1940447859743897</c:v>
                </c:pt>
                <c:pt idx="30">
                  <c:v>1.1650117089661434</c:v>
                </c:pt>
                <c:pt idx="31">
                  <c:v>1.1798852115318432</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dateAx>
      <c:valAx>
        <c:axId val="111903199"/>
        <c:scaling>
          <c:orientation val="minMax"/>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7.1499999999999994E-2</c:v>
                </c:pt>
                <c:pt idx="1">
                  <c:v>0.10249999999999999</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4.3700000000000003E-2</c:v>
                </c:pt>
                <c:pt idx="1">
                  <c:v>7.6999999999999999E-2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D6D2-4D44-B8A5-1062D74E8B24}"/>
              </c:ext>
            </c:extLst>
          </c:dPt>
          <c:dPt>
            <c:idx val="1"/>
            <c:bubble3D val="0"/>
            <c:spPr>
              <a:solidFill>
                <a:srgbClr val="14355C"/>
              </a:solidFill>
              <a:ln w="19050">
                <a:solidFill>
                  <a:schemeClr val="lt1"/>
                </a:solidFill>
              </a:ln>
              <a:effectLst/>
            </c:spPr>
            <c:extLst>
              <c:ext xmlns:c16="http://schemas.microsoft.com/office/drawing/2014/chart" uri="{C3380CC4-5D6E-409C-BE32-E72D297353CC}">
                <c16:uniqueId val="{00000003-D6D2-4D44-B8A5-1062D74E8B24}"/>
              </c:ext>
            </c:extLst>
          </c:dPt>
          <c:dPt>
            <c:idx val="2"/>
            <c:bubble3D val="0"/>
            <c:spPr>
              <a:solidFill>
                <a:srgbClr val="9FD0EF"/>
              </a:solidFill>
              <a:ln w="19050">
                <a:solidFill>
                  <a:schemeClr val="lt1"/>
                </a:solidFill>
              </a:ln>
              <a:effectLst/>
            </c:spPr>
            <c:extLst>
              <c:ext xmlns:c16="http://schemas.microsoft.com/office/drawing/2014/chart" uri="{C3380CC4-5D6E-409C-BE32-E72D297353CC}">
                <c16:uniqueId val="{00000005-D6D2-4D44-B8A5-1062D74E8B24}"/>
              </c:ext>
            </c:extLst>
          </c:dPt>
          <c:dLbls>
            <c:dLbl>
              <c:idx val="0"/>
              <c:layout>
                <c:manualLayout>
                  <c:x val="0.3355682476616173"/>
                  <c:y val="3.589784317485442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6D2-4D44-B8A5-1062D74E8B24}"/>
                </c:ext>
              </c:extLst>
            </c:dLbl>
            <c:dLbl>
              <c:idx val="1"/>
              <c:layout>
                <c:manualLayout>
                  <c:x val="0.23977374941367988"/>
                  <c:y val="9.103156765066695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6D2-4D44-B8A5-1062D74E8B24}"/>
                </c:ext>
              </c:extLst>
            </c:dLbl>
            <c:dLbl>
              <c:idx val="2"/>
              <c:layout>
                <c:manualLayout>
                  <c:x val="-0.27213420522583676"/>
                  <c:y val="-9.704026013251879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6D2-4D44-B8A5-1062D74E8B24}"/>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S_Diagramm_Com!$J$4:$J$6</c:f>
              <c:strCache>
                <c:ptCount val="3"/>
                <c:pt idx="0">
                  <c:v>EDELMETALLE</c:v>
                </c:pt>
                <c:pt idx="1">
                  <c:v>AKTIEN </c:v>
                </c:pt>
                <c:pt idx="2">
                  <c:v>LIQUIDITÄT</c:v>
                </c:pt>
              </c:strCache>
            </c:strRef>
          </c:cat>
          <c:val>
            <c:numRef>
              <c:f>S_Diagramm_Com!$K$4:$K$6</c:f>
              <c:numCache>
                <c:formatCode>0.00%</c:formatCode>
                <c:ptCount val="3"/>
                <c:pt idx="0">
                  <c:v>7.4300000000000005E-2</c:v>
                </c:pt>
                <c:pt idx="1">
                  <c:v>0.89419999999999988</c:v>
                </c:pt>
                <c:pt idx="2">
                  <c:v>3.15E-2</c:v>
                </c:pt>
              </c:numCache>
            </c:numRef>
          </c:val>
          <c:extLst>
            <c:ext xmlns:c16="http://schemas.microsoft.com/office/drawing/2014/chart" uri="{C3380CC4-5D6E-409C-BE32-E72D297353CC}">
              <c16:uniqueId val="{00000006-D6D2-4D44-B8A5-1062D74E8B24}"/>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563915995587597"/>
          <c:w val="0.2628093700852579"/>
          <c:h val="0.21436084004412401"/>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Tabelle1!$A$2:$A$234</c:f>
              <c:numCache>
                <c:formatCode>m/d/yyyy</c:formatCode>
                <c:ptCount val="233"/>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46203</c:v>
                </c:pt>
                <c:pt idx="31">
                  <c:v>46223</c:v>
                </c:pt>
              </c:numCache>
            </c:numRef>
          </c:cat>
          <c:val>
            <c:numRef>
              <c:f>Tabelle1!$B$2:$B$234</c:f>
              <c:numCache>
                <c:formatCode>General</c:formatCode>
                <c:ptCount val="233"/>
                <c:pt idx="0">
                  <c:v>1</c:v>
                </c:pt>
                <c:pt idx="1">
                  <c:v>1</c:v>
                </c:pt>
                <c:pt idx="2">
                  <c:v>1</c:v>
                </c:pt>
                <c:pt idx="3">
                  <c:v>1.0174000000000001</c:v>
                </c:pt>
                <c:pt idx="4">
                  <c:v>0.97700922000000012</c:v>
                </c:pt>
                <c:pt idx="5">
                  <c:v>1.0019229551100002</c:v>
                </c:pt>
                <c:pt idx="6">
                  <c:v>1.0164508379590951</c:v>
                </c:pt>
                <c:pt idx="7">
                  <c:v>1.0067059204854136</c:v>
                </c:pt>
                <c:pt idx="8">
                  <c:v>1.0213031563324522</c:v>
                </c:pt>
                <c:pt idx="9">
                  <c:v>1.0076176940375974</c:v>
                </c:pt>
                <c:pt idx="10">
                  <c:v>1.0182984415943959</c:v>
                </c:pt>
                <c:pt idx="11">
                  <c:v>1.0680932353883619</c:v>
                </c:pt>
                <c:pt idx="12">
                  <c:v>1.0486539385042937</c:v>
                </c:pt>
                <c:pt idx="13">
                  <c:v>1.0840598511608019</c:v>
                </c:pt>
                <c:pt idx="14">
                  <c:v>1.1157143988146971</c:v>
                </c:pt>
                <c:pt idx="15">
                  <c:v>1.0610443932727769</c:v>
                </c:pt>
                <c:pt idx="16">
                  <c:v>1.0432188474657942</c:v>
                </c:pt>
                <c:pt idx="17">
                  <c:v>1.0949625023000977</c:v>
                </c:pt>
                <c:pt idx="18">
                  <c:v>1.0852173360296269</c:v>
                </c:pt>
                <c:pt idx="19">
                  <c:v>1.1286399202527131</c:v>
                </c:pt>
                <c:pt idx="20">
                  <c:v>1.0999724662782941</c:v>
                </c:pt>
                <c:pt idx="21">
                  <c:v>1.1199919651645591</c:v>
                </c:pt>
                <c:pt idx="22">
                  <c:v>1.1185359756098452</c:v>
                </c:pt>
                <c:pt idx="23">
                  <c:v>1.1347547472561879</c:v>
                </c:pt>
                <c:pt idx="24">
                  <c:v>1.1287405470957301</c:v>
                </c:pt>
                <c:pt idx="25">
                  <c:v>1.1225337319710833</c:v>
                </c:pt>
                <c:pt idx="26">
                  <c:v>1.1404655807246151</c:v>
                </c:pt>
                <c:pt idx="27">
                  <c:v>1.0871183306828582</c:v>
                </c:pt>
                <c:pt idx="28">
                  <c:v>1.1204043249316014</c:v>
                </c:pt>
                <c:pt idx="29">
                  <c:v>1.1200681027674726</c:v>
                </c:pt>
                <c:pt idx="30">
                  <c:v>1.1091969194606441</c:v>
                </c:pt>
                <c:pt idx="31">
                  <c:v>1.131835878511978</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dateAx>
      <c:valAx>
        <c:axId val="111903199"/>
        <c:scaling>
          <c:orientation val="minMax"/>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3.8199999999999998E-2</c:v>
                </c:pt>
                <c:pt idx="1">
                  <c:v>7.4200000000000002E-2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4.8500000000000001E-2</c:v>
                </c:pt>
                <c:pt idx="1">
                  <c:v>0.1148</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0514786418400876"/>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0591473984700434"/>
          <c:w val="1"/>
          <c:h val="0.79791118662193516"/>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Tabelle1!$A$2:$A$14</c:f>
              <c:numCache>
                <c:formatCode>General</c:formatCode>
                <c:ptCount val="13"/>
                <c:pt idx="0">
                  <c:v>2013</c:v>
                </c:pt>
                <c:pt idx="1">
                  <c:v>2014</c:v>
                </c:pt>
                <c:pt idx="2">
                  <c:v>2015</c:v>
                </c:pt>
                <c:pt idx="3">
                  <c:v>2016</c:v>
                </c:pt>
                <c:pt idx="4">
                  <c:v>2017</c:v>
                </c:pt>
                <c:pt idx="5">
                  <c:v>2018</c:v>
                </c:pt>
                <c:pt idx="6">
                  <c:v>2019</c:v>
                </c:pt>
                <c:pt idx="7">
                  <c:v>2020</c:v>
                </c:pt>
                <c:pt idx="8">
                  <c:v>2021</c:v>
                </c:pt>
                <c:pt idx="9">
                  <c:v>2022</c:v>
                </c:pt>
                <c:pt idx="10">
                  <c:v>2023</c:v>
                </c:pt>
                <c:pt idx="11">
                  <c:v>2024</c:v>
                </c:pt>
                <c:pt idx="12">
                  <c:v>2025</c:v>
                </c:pt>
              </c:numCache>
            </c:numRef>
          </c:cat>
          <c:val>
            <c:numRef>
              <c:f>Tabelle1!$B$2:$B$14</c:f>
              <c:numCache>
                <c:formatCode>General</c:formatCode>
                <c:ptCount val="13"/>
                <c:pt idx="0">
                  <c:v>3318</c:v>
                </c:pt>
                <c:pt idx="1">
                  <c:v>3677</c:v>
                </c:pt>
                <c:pt idx="2">
                  <c:v>3942</c:v>
                </c:pt>
                <c:pt idx="3">
                  <c:v>4266</c:v>
                </c:pt>
                <c:pt idx="4">
                  <c:v>4692</c:v>
                </c:pt>
                <c:pt idx="5">
                  <c:v>4444</c:v>
                </c:pt>
                <c:pt idx="6">
                  <c:v>4963</c:v>
                </c:pt>
                <c:pt idx="7">
                  <c:v>5246</c:v>
                </c:pt>
                <c:pt idx="8">
                  <c:v>6626</c:v>
                </c:pt>
                <c:pt idx="9">
                  <c:v>5789</c:v>
                </c:pt>
                <c:pt idx="10">
                  <c:v>6204</c:v>
                </c:pt>
                <c:pt idx="11">
                  <c:v>6780</c:v>
                </c:pt>
                <c:pt idx="12">
                  <c:v>7358</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0.42396</cdr:x>
      <cdr:y>0.92383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24784" y="261966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20.07.2026</a:t>
          </a:fld>
          <a:endParaRPr lang="de-DE" sz="600" b="0">
            <a:solidFill>
              <a:schemeClr val="bg1">
                <a:lumMod val="50000"/>
              </a:schemeClr>
            </a:solidFill>
          </a:endParaRPr>
        </a:p>
      </cdr:txBody>
    </cdr:sp>
  </cdr:relSizeAnchor>
  <cdr:relSizeAnchor xmlns:cdr="http://schemas.openxmlformats.org/drawingml/2006/chartDrawing">
    <cdr:from>
      <cdr:x>0</cdr:x>
      <cdr:y>0.00534</cdr:y>
    </cdr:from>
    <cdr:to>
      <cdr:x>0.99737</cdr:x>
      <cdr:y>0.07503</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16555"/>
          <a:ext cx="3955285"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AKTUELLE STRUKTUR</a:t>
          </a:r>
        </a:p>
      </cdr:txBody>
    </cdr:sp>
  </cdr:relSizeAnchor>
</c:userShapes>
</file>

<file path=ppt/drawings/drawing2.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0.42302</cdr:x>
      <cdr:y>0.9239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9704" y="262220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20.07.2026</a:t>
          </a:fld>
          <a:endParaRPr lang="de-DE" sz="600" b="0">
            <a:solidFill>
              <a:schemeClr val="bg1">
                <a:lumMod val="50000"/>
              </a:schemeClr>
            </a:solidFill>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0.42064</cdr:x>
      <cdr:y>0.9239</cdr:y>
    </cdr:from>
    <cdr:to>
      <cdr:x>0.99737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2284" y="2629645"/>
          <a:ext cx="1799216"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20.07.2026</a:t>
          </a:fld>
          <a:endParaRPr lang="de-DE" sz="600" b="0">
            <a:solidFill>
              <a:schemeClr val="bg1">
                <a:lumMod val="50000"/>
              </a:schemeClr>
            </a:solidFill>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DEZEMBER 2025 (OHNE INSTITUTIONELLES GESCHÄFT)</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20.07.2026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7.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1.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7.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7.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 Id="rId3"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36234304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20.07.2026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20.07.2026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 Id="rId27" Type="http://schemas.openxmlformats.org/officeDocument/2006/relationships/image" Target="../media/image1.svg"/><Relationship Id="rId28"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20.07.2026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7"/>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62" r:id="rId2"/>
    <p:sldLayoutId id="2147483663" r:id="rId3"/>
    <p:sldLayoutId id="2147483664" r:id="rId4"/>
    <p:sldLayoutId id="2147483667" r:id="rId5"/>
    <p:sldLayoutId id="2147483668" r:id="rId6"/>
    <p:sldLayoutId id="2147483669" r:id="rId7"/>
    <p:sldLayoutId id="2147483670" r:id="rId8"/>
    <p:sldLayoutId id="2147483673" r:id="rId9"/>
    <p:sldLayoutId id="2147483677" r:id="rId10"/>
    <p:sldLayoutId id="2147483678" r:id="rId11"/>
    <p:sldLayoutId id="2147483650" r:id="rId12"/>
    <p:sldLayoutId id="2147483672" r:id="rId13"/>
    <p:sldLayoutId id="2147483671" r:id="rId14"/>
    <p:sldLayoutId id="2147483665" r:id="rId15"/>
    <p:sldLayoutId id="2147483660" r:id="rId16"/>
    <p:sldLayoutId id="2147483666" r:id="rId17"/>
    <p:sldLayoutId id="2147483661" r:id="rId18"/>
    <p:sldLayoutId id="2147483654" r:id="rId19"/>
    <p:sldLayoutId id="2147483655" r:id="rId20"/>
    <p:sldLayoutId id="2147483674" r:id="rId21"/>
    <p:sldLayoutId id="2147483675" r:id="rId22"/>
    <p:sldLayoutId id="2147483676" r:id="rId23"/>
    <p:sldLayoutId id="2147483679" r:id="rId24"/>
    <p:sldLayoutId id="2147483680" r:id="rId25"/>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2.xml"/><Relationship Id="rId3"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5.xml"/><Relationship Id="rId3" Type="http://schemas.openxmlformats.org/officeDocument/2006/relationships/chart" Target="../charts/char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8.xml"/><Relationship Id="rId3" Type="http://schemas.openxmlformats.org/officeDocument/2006/relationships/chart" Target="../charts/char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6.png"/><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chart" Target="../charts/chart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 Id="rId3" Type="http://schemas.openxmlformats.org/officeDocument/2006/relationships/hyperlink" Target="mailto:info@fuggerbank.de" TargetMode="External"/><Relationship Id="rId4" Type="http://schemas.openxmlformats.org/officeDocument/2006/relationships/hyperlink" Target="http://www.fuggerbank.de/" TargetMode="External"/><Relationship Id="rId5" Type="http://schemas.openxmlformats.org/officeDocument/2006/relationships/hyperlink" Target="http://www.bafin.de/" TargetMode="External"/><Relationship Id="rId6" Type="http://schemas.openxmlformats.org/officeDocument/2006/relationships/hyperlink" Target="https://www.ecb.europa.eu/"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Untertitel">
            <a:extLst>
              <a:ext uri="{FF2B5EF4-FFF2-40B4-BE49-F238E27FC236}">
                <a16:creationId xmlns:a16="http://schemas.microsoft.com/office/drawing/2014/main" id="{E21E42E6-26DD-05A3-DFCF-CD476BFD417D}"/>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C392FFA6-DF5F-DE1D-D172-069B9790B85A}"/>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klassische Portfolioverwaltung</a:t>
            </a:r>
          </a:p>
        </p:txBody>
      </p:sp>
    </p:spTree>
    <p:extLst>
      <p:ext uri="{BB962C8B-B14F-4D97-AF65-F5344CB8AC3E}">
        <p14:creationId xmlns:p14="http://schemas.microsoft.com/office/powerpoint/2010/main" val="42633614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77DF082C-7F14-96A3-2286-2DE7F88EE07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a:t>
            </a:fld>
            <a:endParaRPr lang="de-DE"/>
          </a:p>
        </p:txBody>
      </p:sp>
      <p:sp>
        <p:nvSpPr>
          <p:cNvPr id="3" name="Inhalt">
            <a:extLst>
              <a:ext uri="{FF2B5EF4-FFF2-40B4-BE49-F238E27FC236}">
                <a16:creationId xmlns:a16="http://schemas.microsoft.com/office/drawing/2014/main" id="{7F2936BA-F0A5-9AB3-89AF-95CC696DBA02}"/>
              </a:ext>
            </a:extLst>
          </p:cNvPr>
          <p:cNvSpPr>
            <a:spLocks noGrp="1" noRot="1" noMove="1" noResize="1" noEditPoints="1" noAdjustHandles="1" noChangeArrowheads="1" noChangeShapeType="1"/>
          </p:cNvSpPr>
          <p:nvPr>
            <p:ph idx="1"/>
          </p:nvPr>
        </p:nvSpPr>
        <p:spPr>
          <a:xfrm>
            <a:off x="2016125" y="2147233"/>
            <a:ext cx="7272338" cy="3685241"/>
          </a:xfrm>
        </p:spPr>
        <p:txBody>
          <a:bodyPr/>
          <a:lstStyle/>
          <a:p>
            <a:r>
              <a:rPr lang="de-DE" dirty="0"/>
              <a:t>Unsere Portfolioverwaltung </a:t>
            </a:r>
            <a:r>
              <a:rPr lang="de-DE" u="sng" dirty="0">
                <a:uFill>
                  <a:solidFill>
                    <a:schemeClr val="accent3"/>
                  </a:solidFill>
                </a:uFill>
              </a:rPr>
              <a:t>	</a:t>
            </a:r>
            <a:r>
              <a:rPr lang="de-DE" dirty="0"/>
              <a:t>3</a:t>
            </a:r>
          </a:p>
          <a:p>
            <a:r>
              <a:rPr lang="de-DE" dirty="0"/>
              <a:t>Unsere klassischen Portfolioverwaltungsstrategien</a:t>
            </a:r>
            <a:r>
              <a:rPr lang="de-DE" u="sng" dirty="0">
                <a:uFill>
                  <a:solidFill>
                    <a:schemeClr val="accent3"/>
                  </a:solidFill>
                </a:uFill>
              </a:rPr>
              <a:t>	</a:t>
            </a:r>
            <a:r>
              <a:rPr lang="de-DE" dirty="0">
                <a:uFill>
                  <a:solidFill>
                    <a:schemeClr val="accent3"/>
                  </a:solidFill>
                </a:uFill>
              </a:rPr>
              <a:t>5</a:t>
            </a:r>
            <a:endParaRPr lang="de-DE" dirty="0"/>
          </a:p>
          <a:p>
            <a:r>
              <a:rPr lang="de-DE" dirty="0"/>
              <a:t>Honorar </a:t>
            </a:r>
            <a:r>
              <a:rPr lang="de-DE" u="sng" dirty="0">
                <a:uFill>
                  <a:solidFill>
                    <a:schemeClr val="accent3"/>
                  </a:solidFill>
                </a:uFill>
              </a:rPr>
              <a:t>	</a:t>
            </a:r>
            <a:r>
              <a:rPr lang="de-DE" dirty="0">
                <a:uFill>
                  <a:solidFill>
                    <a:schemeClr val="accent3"/>
                  </a:solidFill>
                </a:uFill>
              </a:rPr>
              <a:t>12</a:t>
            </a:r>
            <a:endParaRPr lang="de-DE" dirty="0"/>
          </a:p>
          <a:p>
            <a:r>
              <a:rPr lang="de-DE" dirty="0"/>
              <a:t>Unsere Investmentphilosophie </a:t>
            </a:r>
            <a:r>
              <a:rPr lang="de-DE" u="sng" dirty="0">
                <a:uFill>
                  <a:solidFill>
                    <a:schemeClr val="accent3"/>
                  </a:solidFill>
                </a:uFill>
              </a:rPr>
              <a:t>	</a:t>
            </a:r>
            <a:r>
              <a:rPr lang="de-DE" dirty="0"/>
              <a:t>16</a:t>
            </a:r>
          </a:p>
          <a:p>
            <a:r>
              <a:rPr lang="de-DE" dirty="0"/>
              <a:t>Die Bank in Zahlen </a:t>
            </a:r>
            <a:r>
              <a:rPr lang="de-DE" u="sng" dirty="0">
                <a:uFill>
                  <a:solidFill>
                    <a:schemeClr val="accent3"/>
                  </a:solidFill>
                </a:uFill>
              </a:rPr>
              <a:t>	</a:t>
            </a:r>
            <a:r>
              <a:rPr lang="de-DE" dirty="0">
                <a:uFill>
                  <a:solidFill>
                    <a:schemeClr val="accent3"/>
                  </a:solidFill>
                </a:uFill>
              </a:rPr>
              <a:t>21</a:t>
            </a:r>
            <a:endParaRPr lang="de-DE" dirty="0"/>
          </a:p>
          <a:p>
            <a:r>
              <a:rPr lang="de-DE" dirty="0"/>
              <a:t>Unsere Tradition </a:t>
            </a:r>
            <a:r>
              <a:rPr lang="de-DE" u="sng" dirty="0">
                <a:uFill>
                  <a:solidFill>
                    <a:schemeClr val="accent3"/>
                  </a:solidFill>
                </a:uFill>
              </a:rPr>
              <a:t>	</a:t>
            </a:r>
            <a:r>
              <a:rPr lang="de-DE" dirty="0">
                <a:uFill>
                  <a:solidFill>
                    <a:schemeClr val="accent3"/>
                  </a:solidFill>
                </a:uFill>
              </a:rPr>
              <a:t>22</a:t>
            </a:r>
            <a:endParaRPr lang="de-DE" dirty="0"/>
          </a:p>
          <a:p>
            <a:r>
              <a:rPr lang="de-DE" dirty="0"/>
              <a:t>Rechtliche Hinweise und Impressum </a:t>
            </a:r>
            <a:r>
              <a:rPr lang="de-DE" u="sng">
                <a:uFill>
                  <a:solidFill>
                    <a:schemeClr val="accent3"/>
                  </a:solidFill>
                </a:uFill>
              </a:rPr>
              <a:t>	</a:t>
            </a:r>
            <a:r>
              <a:rPr lang="de-DE"/>
              <a:t>26</a:t>
            </a:r>
            <a:endParaRPr lang="de-DE" dirty="0"/>
          </a:p>
        </p:txBody>
      </p:sp>
      <p:sp>
        <p:nvSpPr>
          <p:cNvPr id="2" name="Titel">
            <a:extLst>
              <a:ext uri="{FF2B5EF4-FFF2-40B4-BE49-F238E27FC236}">
                <a16:creationId xmlns:a16="http://schemas.microsoft.com/office/drawing/2014/main" id="{B04F1B54-07E4-4DBF-DC92-6DA02727FBAA}"/>
              </a:ext>
            </a:extLst>
          </p:cNvPr>
          <p:cNvSpPr>
            <a:spLocks noGrp="1" noRot="1" noMove="1" noResize="1" noEditPoints="1" noAdjustHandles="1" noChangeArrowheads="1" noChangeShapeType="1"/>
          </p:cNvSpPr>
          <p:nvPr>
            <p:ph type="title"/>
          </p:nvPr>
        </p:nvSpPr>
        <p:spPr>
          <a:xfrm>
            <a:off x="2016124" y="1656652"/>
            <a:ext cx="7272337" cy="360000"/>
          </a:xfrm>
        </p:spPr>
        <p:txBody>
          <a:bodyPr/>
          <a:lstStyle/>
          <a:p>
            <a:r>
              <a:rPr lang="de-DE" dirty="0"/>
              <a:t>Inhalt</a:t>
            </a:r>
          </a:p>
        </p:txBody>
      </p:sp>
    </p:spTree>
    <p:extLst>
      <p:ext uri="{BB962C8B-B14F-4D97-AF65-F5344CB8AC3E}">
        <p14:creationId xmlns:p14="http://schemas.microsoft.com/office/powerpoint/2010/main" val="739230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Vermögenserhalt und langfristiges Wachstum</a:t>
            </a:r>
          </a:p>
          <a:p>
            <a:pPr lvl="2"/>
            <a:r>
              <a:rPr lang="de-DE" dirty="0"/>
              <a:t>Unsere Vermögensverwaltung ist auf Sicherheit und langfristige Wertentwicklung ausgerichtet.</a:t>
            </a:r>
          </a:p>
          <a:p>
            <a:r>
              <a:rPr lang="de-DE" dirty="0"/>
              <a:t>Basierend auf fundierten Vorgesprächen</a:t>
            </a:r>
          </a:p>
          <a:p>
            <a:pPr lvl="2"/>
            <a:r>
              <a:rPr lang="de-DE" dirty="0"/>
              <a:t>Auf Grundlage persönlicher Gespräche ermitteln wir präzise Ihre individuellen Präferenzen sowie Anforderungen an das Rendite-Risiko-Profil und Ihren Anlagehorizont. </a:t>
            </a:r>
          </a:p>
          <a:p>
            <a:r>
              <a:rPr lang="de-DE" dirty="0"/>
              <a:t>Laufendes Monitoring und dynamische Reallokation</a:t>
            </a:r>
          </a:p>
          <a:p>
            <a:pPr lvl="2"/>
            <a:r>
              <a:rPr lang="de-DE" dirty="0"/>
              <a:t>Realisiert wird eine Anlagestrategie, die mit ihren einzelnen Positionen ständig überwacht und bei Marktveränderungen gegebenenfalls angepasst wird. Wertschwankungen des Portfolios können nicht ausgeschlossen werden. </a:t>
            </a:r>
          </a:p>
          <a:p>
            <a:r>
              <a:rPr lang="de-DE" dirty="0"/>
              <a:t>Breite Vermögensstreuung</a:t>
            </a:r>
          </a:p>
          <a:p>
            <a:pPr lvl="2"/>
            <a:r>
              <a:rPr lang="de-DE" dirty="0"/>
              <a:t>Wir bieten eine breite und transparente Streuung Ihres Vermögens, beispielsweise in Aktien, Anleihen, ETFʹs  </a:t>
            </a:r>
            <a:br>
              <a:rPr lang="de-DE" dirty="0"/>
            </a:br>
            <a:r>
              <a:rPr lang="de-DE" dirty="0"/>
              <a:t>und Fonds, Edelmetalle, risikoadjustierte Produkte wie Discountzertifikate und Aktienanleihen sowie Liquidität. </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a:t>Unsere Vermögensverwaltung</a:t>
            </a:r>
            <a:endParaRPr lang="de-DE" dirty="0"/>
          </a:p>
        </p:txBody>
      </p:sp>
    </p:spTree>
    <p:extLst>
      <p:ext uri="{BB962C8B-B14F-4D97-AF65-F5344CB8AC3E}">
        <p14:creationId xmlns:p14="http://schemas.microsoft.com/office/powerpoint/2010/main" val="42576883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4</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
          </p:nvPr>
        </p:nvSpPr>
        <p:spPr>
          <a:xfrm>
            <a:off x="1187448" y="1411638"/>
            <a:ext cx="4140201" cy="4420838"/>
          </a:xfrm>
        </p:spPr>
        <p:txBody>
          <a:bodyPr/>
          <a:lstStyle/>
          <a:p>
            <a:r>
              <a:rPr lang="de-DE" dirty="0"/>
              <a:t>Aufteilung zur Begrenzung von Risiken</a:t>
            </a:r>
          </a:p>
          <a:p>
            <a:pPr lvl="2"/>
            <a:r>
              <a:rPr lang="de-DE" dirty="0"/>
              <a:t>Durch die Aufteilung in verschiedene Assetklassen werden Risiken begrenzt. Trotz breiter Diversifizierung und Risiko-streuung können Wertschwankungen bis hin zu einem Total-verlust einzelner Positionen nicht ausgeschlossen werden. </a:t>
            </a:r>
          </a:p>
          <a:p>
            <a:r>
              <a:rPr lang="de-DE" dirty="0"/>
              <a:t>Anbieterunabhängige Produktauswahl</a:t>
            </a:r>
          </a:p>
          <a:p>
            <a:pPr lvl="2"/>
            <a:r>
              <a:rPr lang="de-DE" dirty="0"/>
              <a:t>Unsere Einzelauswahl in den zuvor genannten Assetklassen ist an keinen Anbieter gebunden, somit können wir uns unabhängig in der Produktauswahl am Markt bewegen.</a:t>
            </a:r>
          </a:p>
          <a:p>
            <a:r>
              <a:rPr lang="de-DE" dirty="0"/>
              <a:t>Planung von erfahrenen Portfoliomanagern</a:t>
            </a:r>
          </a:p>
          <a:p>
            <a:pPr lvl="2"/>
            <a:r>
              <a:rPr lang="de-DE" dirty="0"/>
              <a:t>Unsere erfahrenen Portfoliomanager planen im so genannten Top-Down-Verfahren und setzen je nach Marktsituation die Anlageentscheidungen je Strategie verantwortungsvoll um. </a:t>
            </a:r>
          </a:p>
          <a:p>
            <a:r>
              <a:rPr lang="de-DE" dirty="0"/>
              <a:t>Ab einem Anlagevolumen von 50.000 Euro</a:t>
            </a:r>
          </a:p>
          <a:p>
            <a:pPr lvl="2"/>
            <a:r>
              <a:rPr lang="de-DE" dirty="0"/>
              <a:t>Unsere klassische Portfolioverwaltung kann ab einem Anlagevolumen von 50.000 Euro in Auftrag gegeben werden. </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Portfolioverwaltung </a:t>
            </a:r>
          </a:p>
        </p:txBody>
      </p:sp>
    </p:spTree>
    <p:extLst>
      <p:ext uri="{BB962C8B-B14F-4D97-AF65-F5344CB8AC3E}">
        <p14:creationId xmlns:p14="http://schemas.microsoft.com/office/powerpoint/2010/main" val="1267825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081DADAC-023D-6904-0920-7F79CEBD967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5</a:t>
            </a:fld>
            <a:endParaRPr lang="de-DE"/>
          </a:p>
        </p:txBody>
      </p:sp>
      <p:graphicFrame>
        <p:nvGraphicFramePr>
          <p:cNvPr id="5" name="Tabelle">
            <a:extLst>
              <a:ext uri="{FF2B5EF4-FFF2-40B4-BE49-F238E27FC236}">
                <a16:creationId xmlns:a16="http://schemas.microsoft.com/office/drawing/2014/main" id="{EC80708B-0902-3AEC-CC9D-5DD4BA0EF575}"/>
              </a:ext>
            </a:extLst>
          </p:cNvPr>
          <p:cNvGraphicFramePr>
            <a:graphicFrameLocks noGrp="1"/>
          </p:cNvGraphicFramePr>
          <p:nvPr>
            <p:ph idx="1"/>
            <p:extLst>
              <p:ext uri="{D42A27DB-BD31-4B8C-83A1-F6EECF244321}">
                <p14:modId xmlns:p14="http://schemas.microsoft.com/office/powerpoint/2010/main" val="2603188964"/>
              </p:ext>
            </p:extLst>
          </p:nvPr>
        </p:nvGraphicFramePr>
        <p:xfrm>
          <a:off x="575751" y="1041400"/>
          <a:ext cx="8932460" cy="3759107"/>
        </p:xfrm>
        <a:graphic>
          <a:graphicData uri="http://schemas.openxmlformats.org/drawingml/2006/table">
            <a:tbl>
              <a:tblPr firstRow="1" bandRow="1">
                <a:tableStyleId>{2D5ABB26-0587-4C30-8999-92F81FD0307C}</a:tableStyleId>
              </a:tblPr>
              <a:tblGrid>
                <a:gridCol w="2164252">
                  <a:extLst>
                    <a:ext uri="{9D8B030D-6E8A-4147-A177-3AD203B41FA5}">
                      <a16:colId xmlns:a16="http://schemas.microsoft.com/office/drawing/2014/main" val="3761890794"/>
                    </a:ext>
                  </a:extLst>
                </a:gridCol>
                <a:gridCol w="68863">
                  <a:extLst>
                    <a:ext uri="{9D8B030D-6E8A-4147-A177-3AD203B41FA5}">
                      <a16:colId xmlns:a16="http://schemas.microsoft.com/office/drawing/2014/main" val="1578058522"/>
                    </a:ext>
                  </a:extLst>
                </a:gridCol>
                <a:gridCol w="68863">
                  <a:extLst>
                    <a:ext uri="{9D8B030D-6E8A-4147-A177-3AD203B41FA5}">
                      <a16:colId xmlns:a16="http://schemas.microsoft.com/office/drawing/2014/main" val="2072559993"/>
                    </a:ext>
                  </a:extLst>
                </a:gridCol>
                <a:gridCol w="2164252">
                  <a:extLst>
                    <a:ext uri="{9D8B030D-6E8A-4147-A177-3AD203B41FA5}">
                      <a16:colId xmlns:a16="http://schemas.microsoft.com/office/drawing/2014/main" val="2131862848"/>
                    </a:ext>
                  </a:extLst>
                </a:gridCol>
                <a:gridCol w="68863">
                  <a:extLst>
                    <a:ext uri="{9D8B030D-6E8A-4147-A177-3AD203B41FA5}">
                      <a16:colId xmlns:a16="http://schemas.microsoft.com/office/drawing/2014/main" val="1048734056"/>
                    </a:ext>
                  </a:extLst>
                </a:gridCol>
                <a:gridCol w="2164252">
                  <a:extLst>
                    <a:ext uri="{9D8B030D-6E8A-4147-A177-3AD203B41FA5}">
                      <a16:colId xmlns:a16="http://schemas.microsoft.com/office/drawing/2014/main" val="1963245952"/>
                    </a:ext>
                  </a:extLst>
                </a:gridCol>
                <a:gridCol w="68863">
                  <a:extLst>
                    <a:ext uri="{9D8B030D-6E8A-4147-A177-3AD203B41FA5}">
                      <a16:colId xmlns:a16="http://schemas.microsoft.com/office/drawing/2014/main" val="1182318350"/>
                    </a:ext>
                  </a:extLst>
                </a:gridCol>
                <a:gridCol w="2164252">
                  <a:extLst>
                    <a:ext uri="{9D8B030D-6E8A-4147-A177-3AD203B41FA5}">
                      <a16:colId xmlns:a16="http://schemas.microsoft.com/office/drawing/2014/main" val="3131425242"/>
                    </a:ext>
                  </a:extLst>
                </a:gridCol>
              </a:tblGrid>
              <a:tr h="396000">
                <a:tc>
                  <a:txBody>
                    <a:bodyPr/>
                    <a:lstStyle/>
                    <a:p>
                      <a:pPr algn="ctr">
                        <a:lnSpc>
                          <a:spcPts val="1300"/>
                        </a:lnSpc>
                      </a:pPr>
                      <a:endParaRPr lang="de-DE" sz="900" b="1" dirty="0">
                        <a:solidFill>
                          <a:schemeClr val="bg1"/>
                        </a:solidFill>
                      </a:endParaRPr>
                    </a:p>
                  </a:txBody>
                  <a:tcPr marL="0" marR="0" marT="0" marB="0" anchor="ctr">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FFPB Strategie 30</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FFPB Strategie 70</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FFPB Strategie 100</a:t>
                      </a:r>
                    </a:p>
                  </a:txBody>
                  <a:tcPr marL="0" marR="0" marT="0" marB="0" anchor="ctr">
                    <a:lnL>
                      <a:noFill/>
                    </a:lnL>
                    <a:solidFill>
                      <a:schemeClr val="accent1"/>
                    </a:solidFill>
                  </a:tcPr>
                </a:tc>
                <a:extLst>
                  <a:ext uri="{0D108BD9-81ED-4DB2-BD59-A6C34878D82A}">
                    <a16:rowId xmlns:a16="http://schemas.microsoft.com/office/drawing/2014/main" val="2504883458"/>
                  </a:ext>
                </a:extLst>
              </a:tr>
              <a:tr h="1224000">
                <a:tc>
                  <a:txBody>
                    <a:bodyPr/>
                    <a:lstStyle/>
                    <a:p>
                      <a:pPr>
                        <a:lnSpc>
                          <a:spcPts val="1300"/>
                        </a:lnSpc>
                      </a:pPr>
                      <a:r>
                        <a:rPr lang="de-DE" sz="900" b="1" dirty="0"/>
                        <a:t>Verwaltungsgrundsätze</a:t>
                      </a:r>
                    </a:p>
                  </a:txBody>
                  <a:tcPr marL="72000" marR="72000" marT="108000" marB="108000">
                    <a:lnR>
                      <a:noFill/>
                    </a:lnR>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Nominaler </a:t>
                      </a:r>
                      <a:r>
                        <a:rPr lang="de-DE" sz="900" dirty="0" err="1"/>
                        <a:t>Vermögenser</a:t>
                      </a:r>
                      <a:r>
                        <a:rPr lang="de-DE" sz="900" dirty="0"/>
                        <a:t>-</a:t>
                      </a:r>
                    </a:p>
                    <a:p>
                      <a:pPr algn="ctr">
                        <a:lnSpc>
                          <a:spcPts val="1300"/>
                        </a:lnSpc>
                      </a:pPr>
                      <a:r>
                        <a:rPr lang="de-DE" sz="900" dirty="0"/>
                        <a:t>halt ohne größere Wert-</a:t>
                      </a:r>
                    </a:p>
                    <a:p>
                      <a:pPr algn="ctr">
                        <a:lnSpc>
                          <a:spcPts val="1300"/>
                        </a:lnSpc>
                      </a:pPr>
                      <a:r>
                        <a:rPr lang="de-DE" sz="900" dirty="0" err="1"/>
                        <a:t>schwankungen</a:t>
                      </a:r>
                      <a:r>
                        <a:rPr lang="de-DE" sz="900" dirty="0"/>
                        <a:t> steht im </a:t>
                      </a:r>
                    </a:p>
                    <a:p>
                      <a:pPr algn="ctr">
                        <a:lnSpc>
                          <a:spcPts val="1300"/>
                        </a:lnSpc>
                      </a:pPr>
                      <a:r>
                        <a:rPr lang="de-DE" sz="900" dirty="0"/>
                        <a:t>Vordergrund. </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Ausgewogenes Verhältnis </a:t>
                      </a:r>
                    </a:p>
                    <a:p>
                      <a:pPr algn="ctr">
                        <a:lnSpc>
                          <a:spcPts val="1300"/>
                        </a:lnSpc>
                      </a:pPr>
                      <a:r>
                        <a:rPr lang="de-DE" sz="900" dirty="0"/>
                        <a:t>zwischen Ertragschancen </a:t>
                      </a:r>
                    </a:p>
                    <a:p>
                      <a:pPr algn="ctr">
                        <a:lnSpc>
                          <a:spcPts val="1300"/>
                        </a:lnSpc>
                      </a:pPr>
                      <a:r>
                        <a:rPr lang="de-DE" sz="900" dirty="0"/>
                        <a:t>und Risiken. Langfristig </a:t>
                      </a:r>
                      <a:r>
                        <a:rPr lang="de-DE" sz="900" dirty="0" err="1"/>
                        <a:t>be</a:t>
                      </a:r>
                      <a:r>
                        <a:rPr lang="de-DE" sz="900" dirty="0"/>
                        <a:t>-</a:t>
                      </a:r>
                    </a:p>
                    <a:p>
                      <a:pPr algn="ctr">
                        <a:lnSpc>
                          <a:spcPts val="1300"/>
                        </a:lnSpc>
                      </a:pPr>
                      <a:r>
                        <a:rPr lang="de-DE" sz="900" dirty="0"/>
                        <a:t>deutender, realer </a:t>
                      </a:r>
                      <a:r>
                        <a:rPr lang="de-DE" sz="900" dirty="0" err="1"/>
                        <a:t>Vermö</a:t>
                      </a:r>
                      <a:r>
                        <a:rPr lang="de-DE" sz="900" dirty="0"/>
                        <a:t>-</a:t>
                      </a:r>
                    </a:p>
                    <a:p>
                      <a:pPr algn="ctr">
                        <a:lnSpc>
                          <a:spcPts val="1300"/>
                        </a:lnSpc>
                      </a:pPr>
                      <a:r>
                        <a:rPr lang="de-DE" sz="900" dirty="0" err="1"/>
                        <a:t>genszuwachs</a:t>
                      </a:r>
                      <a:r>
                        <a:rPr lang="de-DE" sz="900" dirty="0"/>
                        <a:t>.</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Höhere Risiken spiegeln </a:t>
                      </a:r>
                    </a:p>
                    <a:p>
                      <a:pPr algn="ctr">
                        <a:lnSpc>
                          <a:spcPts val="1300"/>
                        </a:lnSpc>
                      </a:pPr>
                      <a:r>
                        <a:rPr lang="de-DE" sz="900" dirty="0"/>
                        <a:t>sich in höheren Ertrags-</a:t>
                      </a:r>
                    </a:p>
                    <a:p>
                      <a:pPr algn="ctr">
                        <a:lnSpc>
                          <a:spcPts val="1300"/>
                        </a:lnSpc>
                      </a:pPr>
                      <a:r>
                        <a:rPr lang="de-DE" sz="900" dirty="0" err="1"/>
                        <a:t>chancen</a:t>
                      </a:r>
                      <a:r>
                        <a:rPr lang="de-DE" sz="900" dirty="0"/>
                        <a:t> wieder. </a:t>
                      </a:r>
                      <a:r>
                        <a:rPr lang="de-DE" sz="900" dirty="0" err="1"/>
                        <a:t>Langfris</a:t>
                      </a:r>
                      <a:r>
                        <a:rPr lang="de-DE" sz="900" dirty="0"/>
                        <a:t>-</a:t>
                      </a:r>
                    </a:p>
                    <a:p>
                      <a:pPr algn="ctr">
                        <a:lnSpc>
                          <a:spcPts val="1300"/>
                        </a:lnSpc>
                      </a:pPr>
                      <a:r>
                        <a:rPr lang="de-DE" sz="900" dirty="0" err="1"/>
                        <a:t>tiger</a:t>
                      </a:r>
                      <a:r>
                        <a:rPr lang="de-DE" sz="900" dirty="0"/>
                        <a:t>, überdurchschnitt-</a:t>
                      </a:r>
                      <a:br>
                        <a:rPr lang="de-DE" sz="900" dirty="0"/>
                      </a:br>
                      <a:r>
                        <a:rPr lang="de-DE" sz="900" dirty="0" err="1"/>
                        <a:t>licher</a:t>
                      </a:r>
                      <a:r>
                        <a:rPr lang="de-DE" sz="900" dirty="0"/>
                        <a:t> Vermögenszuwachs.</a:t>
                      </a:r>
                    </a:p>
                  </a:txBody>
                  <a:tcPr marL="0" marR="0" marT="108000" marB="108000">
                    <a:lnL>
                      <a:noFill/>
                    </a:lnL>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748731864"/>
                  </a:ext>
                </a:extLst>
              </a:tr>
              <a:tr h="370840">
                <a:tc>
                  <a:txBody>
                    <a:bodyPr/>
                    <a:lstStyle/>
                    <a:p>
                      <a:pPr>
                        <a:lnSpc>
                          <a:spcPts val="1300"/>
                        </a:lnSpc>
                      </a:pPr>
                      <a:r>
                        <a:rPr lang="de-DE" sz="900" b="1" dirty="0"/>
                        <a:t>Anlageregion</a:t>
                      </a:r>
                    </a:p>
                  </a:txBody>
                  <a:tcPr marL="72000" marR="72000" marT="108000" marB="108000">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985023547"/>
                  </a:ext>
                </a:extLst>
              </a:tr>
              <a:tr h="370840">
                <a:tc>
                  <a:txBody>
                    <a:bodyPr/>
                    <a:lstStyle/>
                    <a:p>
                      <a:pPr>
                        <a:lnSpc>
                          <a:spcPts val="1300"/>
                        </a:lnSpc>
                      </a:pPr>
                      <a:r>
                        <a:rPr lang="de-DE" sz="900" b="1" dirty="0"/>
                        <a:t>Aktienanteil</a:t>
                      </a:r>
                    </a:p>
                  </a:txBody>
                  <a:tcPr marL="72000" marR="72000" marT="108000" marB="108000">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mind. 0 %, max.30 %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 mind. 30 %, max. 70 %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 mind. 70 %, </a:t>
                      </a:r>
                    </a:p>
                    <a:p>
                      <a:pPr algn="ctr">
                        <a:lnSpc>
                          <a:spcPts val="1300"/>
                        </a:lnSpc>
                      </a:pPr>
                      <a:r>
                        <a:rPr lang="de-DE" sz="900" dirty="0"/>
                        <a:t>max. 100 %</a:t>
                      </a:r>
                    </a:p>
                  </a:txBody>
                  <a:tcPr marL="0" marR="0" marT="108000" marB="108000">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88615533"/>
                  </a:ext>
                </a:extLst>
              </a:tr>
              <a:tr h="370840">
                <a:tc>
                  <a:txBody>
                    <a:bodyPr/>
                    <a:lstStyle/>
                    <a:p>
                      <a:pPr>
                        <a:lnSpc>
                          <a:spcPts val="1300"/>
                        </a:lnSpc>
                      </a:pPr>
                      <a:r>
                        <a:rPr lang="de-DE" sz="900" b="1" dirty="0" err="1"/>
                        <a:t>Anleihenanteil</a:t>
                      </a:r>
                      <a:r>
                        <a:rPr lang="de-DE" sz="900" b="1" dirty="0"/>
                        <a:t> / </a:t>
                      </a:r>
                    </a:p>
                    <a:p>
                      <a:pPr>
                        <a:lnSpc>
                          <a:spcPts val="1300"/>
                        </a:lnSpc>
                      </a:pPr>
                      <a:r>
                        <a:rPr lang="de-DE" sz="900" b="1" dirty="0"/>
                        <a:t>Liquidität </a:t>
                      </a:r>
                    </a:p>
                  </a:txBody>
                  <a:tcPr marL="72000" marR="72000" marT="108000" marB="108000">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100 %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70 %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30 %</a:t>
                      </a:r>
                    </a:p>
                  </a:txBody>
                  <a:tcPr marL="0" marR="0" marT="108000" marB="108000">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80682499"/>
                  </a:ext>
                </a:extLst>
              </a:tr>
              <a:tr h="370840">
                <a:tc>
                  <a:txBody>
                    <a:bodyPr/>
                    <a:lstStyle/>
                    <a:p>
                      <a:pPr>
                        <a:lnSpc>
                          <a:spcPts val="1300"/>
                        </a:lnSpc>
                      </a:pPr>
                      <a:r>
                        <a:rPr lang="de-DE" sz="900" b="1" dirty="0"/>
                        <a:t>Fremdwährungen</a:t>
                      </a:r>
                    </a:p>
                  </a:txBody>
                  <a:tcPr marL="72000" marR="72000" marT="108000" marB="108000">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nSpc>
                          <a:spcPts val="1300"/>
                        </a:lnSpc>
                      </a:pPr>
                      <a:endParaRPr lang="de-DE" sz="900" dirty="0"/>
                    </a:p>
                  </a:txBody>
                  <a:tcPr marL="0" marR="0" marT="0" marB="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46866869"/>
                  </a:ext>
                </a:extLst>
              </a:tr>
            </a:tbl>
          </a:graphicData>
        </a:graphic>
      </p:graphicFrame>
      <p:sp>
        <p:nvSpPr>
          <p:cNvPr id="2" name="Titel">
            <a:extLst>
              <a:ext uri="{FF2B5EF4-FFF2-40B4-BE49-F238E27FC236}">
                <a16:creationId xmlns:a16="http://schemas.microsoft.com/office/drawing/2014/main" id="{F401EBA1-E5FC-9FBC-793D-EB26966EC660}"/>
              </a:ext>
            </a:extLst>
          </p:cNvPr>
          <p:cNvSpPr>
            <a:spLocks noGrp="1" noRot="1" noMove="1" noResize="1" noEditPoints="1" noAdjustHandles="1" noChangeArrowheads="1" noChangeShapeType="1"/>
          </p:cNvSpPr>
          <p:nvPr>
            <p:ph type="title"/>
          </p:nvPr>
        </p:nvSpPr>
        <p:spPr/>
        <p:txBody>
          <a:bodyPr/>
          <a:lstStyle/>
          <a:p>
            <a:r>
              <a:rPr lang="de-DE" dirty="0"/>
              <a:t>Unsere drei klassischen Portfolioverwaltungsstrategien</a:t>
            </a:r>
          </a:p>
        </p:txBody>
      </p:sp>
    </p:spTree>
    <p:extLst>
      <p:ext uri="{BB962C8B-B14F-4D97-AF65-F5344CB8AC3E}">
        <p14:creationId xmlns:p14="http://schemas.microsoft.com/office/powerpoint/2010/main" val="42543544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6</a:t>
            </a:fld>
            <a:endParaRPr lang="de-DE"/>
          </a:p>
        </p:txBody>
      </p:sp>
      <p:graphicFrame>
        <p:nvGraphicFramePr>
          <p:cNvPr id="5" name="C_Kennzahlen">
            <a:extLst>
              <a:ext uri="{FF2B5EF4-FFF2-40B4-BE49-F238E27FC236}">
                <a16:creationId xmlns:a16="http://schemas.microsoft.com/office/drawing/2014/main" id="{00000000-0008-0000-1D00-000002000000}"/>
              </a:ext>
            </a:extLst>
          </p:cNvPr>
          <p:cNvGraphicFramePr>
            <a:graphicFrameLocks noGrp="1" noDrilldown="1" noMove="1" noResize="1"/>
          </p:cNvGraphicFramePr>
          <p:nvPr>
            <p:extLst>
              <p:ext uri="{D42A27DB-BD31-4B8C-83A1-F6EECF244321}">
                <p14:modId xmlns:p14="http://schemas.microsoft.com/office/powerpoint/2010/main" val="2596528670"/>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F4833324-B064-82C0-8EF8-37B90D5F0B25}"/>
              </a:ext>
            </a:extLst>
          </p:cNvPr>
          <p:cNvGraphicFramePr>
            <a:graphicFrameLocks noGrp="1" noDrilldown="1" noMove="1" noResize="1"/>
          </p:cNvGraphicFramePr>
          <p:nvPr>
            <p:extLst>
              <p:ext uri="{D42A27DB-BD31-4B8C-83A1-F6EECF244321}">
                <p14:modId xmlns:p14="http://schemas.microsoft.com/office/powerpoint/2010/main" val="1228108349"/>
              </p:ext>
            </p:extLst>
          </p:nvPr>
        </p:nvGraphicFramePr>
        <p:xfrm>
          <a:off x="4508500" y="1040400"/>
          <a:ext cx="5613400" cy="4774152"/>
        </p:xfrm>
        <a:graphic>
          <a:graphicData uri="http://schemas.openxmlformats.org/drawingml/2006/table">
            <a:tbl>
              <a:tblPr/>
              <a:tblGrid>
                <a:gridCol w="2184400">
                  <a:extLst>
                    <a:ext uri="{9D8B030D-6E8A-4147-A177-3AD203B41FA5}">
                      <a16:colId xmlns:a16="http://schemas.microsoft.com/office/drawing/2014/main" val="4153112938"/>
                    </a:ext>
                  </a:extLst>
                </a:gridCol>
                <a:gridCol w="50800">
                  <a:extLst>
                    <a:ext uri="{9D8B030D-6E8A-4147-A177-3AD203B41FA5}">
                      <a16:colId xmlns:a16="http://schemas.microsoft.com/office/drawing/2014/main" val="1500571226"/>
                    </a:ext>
                  </a:extLst>
                </a:gridCol>
                <a:gridCol w="571500">
                  <a:extLst>
                    <a:ext uri="{9D8B030D-6E8A-4147-A177-3AD203B41FA5}">
                      <a16:colId xmlns:a16="http://schemas.microsoft.com/office/drawing/2014/main" val="722675435"/>
                    </a:ext>
                  </a:extLst>
                </a:gridCol>
                <a:gridCol w="50800">
                  <a:extLst>
                    <a:ext uri="{9D8B030D-6E8A-4147-A177-3AD203B41FA5}">
                      <a16:colId xmlns:a16="http://schemas.microsoft.com/office/drawing/2014/main" val="2099602808"/>
                    </a:ext>
                  </a:extLst>
                </a:gridCol>
                <a:gridCol w="571500">
                  <a:extLst>
                    <a:ext uri="{9D8B030D-6E8A-4147-A177-3AD203B41FA5}">
                      <a16:colId xmlns:a16="http://schemas.microsoft.com/office/drawing/2014/main" val="4196713188"/>
                    </a:ext>
                  </a:extLst>
                </a:gridCol>
                <a:gridCol w="50800">
                  <a:extLst>
                    <a:ext uri="{9D8B030D-6E8A-4147-A177-3AD203B41FA5}">
                      <a16:colId xmlns:a16="http://schemas.microsoft.com/office/drawing/2014/main" val="4148129269"/>
                    </a:ext>
                  </a:extLst>
                </a:gridCol>
                <a:gridCol w="571500">
                  <a:extLst>
                    <a:ext uri="{9D8B030D-6E8A-4147-A177-3AD203B41FA5}">
                      <a16:colId xmlns:a16="http://schemas.microsoft.com/office/drawing/2014/main" val="4034548364"/>
                    </a:ext>
                  </a:extLst>
                </a:gridCol>
                <a:gridCol w="50800">
                  <a:extLst>
                    <a:ext uri="{9D8B030D-6E8A-4147-A177-3AD203B41FA5}">
                      <a16:colId xmlns:a16="http://schemas.microsoft.com/office/drawing/2014/main" val="3910902470"/>
                    </a:ext>
                  </a:extLst>
                </a:gridCol>
                <a:gridCol w="571500">
                  <a:extLst>
                    <a:ext uri="{9D8B030D-6E8A-4147-A177-3AD203B41FA5}">
                      <a16:colId xmlns:a16="http://schemas.microsoft.com/office/drawing/2014/main" val="2924086657"/>
                    </a:ext>
                  </a:extLst>
                </a:gridCol>
                <a:gridCol w="50800">
                  <a:extLst>
                    <a:ext uri="{9D8B030D-6E8A-4147-A177-3AD203B41FA5}">
                      <a16:colId xmlns:a16="http://schemas.microsoft.com/office/drawing/2014/main" val="679987118"/>
                    </a:ext>
                  </a:extLst>
                </a:gridCol>
                <a:gridCol w="889000">
                  <a:extLst>
                    <a:ext uri="{9D8B030D-6E8A-4147-A177-3AD203B41FA5}">
                      <a16:colId xmlns:a16="http://schemas.microsoft.com/office/drawing/2014/main" val="1193354134"/>
                    </a:ext>
                  </a:extLst>
                </a:gridCol>
              </a:tblGrid>
              <a:tr h="216000">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485"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3447777089"/>
                  </a:ext>
                </a:extLst>
              </a:tr>
              <a:tr h="189923">
                <a:tc>
                  <a:txBody>
                    <a:bodyPr/>
                    <a:lstStyle/>
                    <a:p>
                      <a:pPr algn="l" fontAlgn="ctr">
                        <a:buNone/>
                      </a:pPr>
                      <a:r>
                        <a:rPr lang="de-DE" sz="700" b="1" i="0" u="none" strike="noStrike">
                          <a:solidFill>
                            <a:srgbClr val="000000"/>
                          </a:solidFill>
                          <a:effectLst/>
                          <a:latin typeface="Noto Sans" panose="020B0502040504020204" pitchFamily="34" charset="0"/>
                        </a:rPr>
                        <a:t>AKTIEN</a:t>
                      </a:r>
                    </a:p>
                  </a:txBody>
                  <a:tcPr marL="68485"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2546104"/>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Allianz SE</a:t>
                      </a:r>
                    </a:p>
                  </a:txBody>
                  <a:tcPr marL="68485"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840400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08286643"/>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Berkshire Hathaway Inc. B</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A0YJQ2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2,97%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5080424"/>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Deutsche Telekom AG</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14141802"/>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Johnson &amp; Johnson</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853260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4,21%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68525661"/>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Microsoft Corp.</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2,41%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30498066"/>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Philip Morris Internat. Inc.</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A0NDBJ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3,01%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35066613"/>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Shell PLC</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29853594"/>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Walmart Inc.</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860853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3,87%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9388421"/>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Waste Management Inc.</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893579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2,75%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98440258"/>
                  </a:ext>
                </a:extLst>
              </a:tr>
              <a:tr h="189923">
                <a:tc>
                  <a:txBody>
                    <a:bodyPr/>
                    <a:lstStyle/>
                    <a:p>
                      <a:pPr algn="l" fontAlgn="ctr">
                        <a:buNone/>
                      </a:pPr>
                      <a:r>
                        <a:rPr lang="de-DE" sz="700" b="1" i="0" u="none" strike="noStrike">
                          <a:solidFill>
                            <a:srgbClr val="000000"/>
                          </a:solidFill>
                          <a:effectLst/>
                          <a:latin typeface="Noto Sans" panose="020B0502040504020204" pitchFamily="34" charset="0"/>
                        </a:rPr>
                        <a:t>RENTEN</a:t>
                      </a:r>
                    </a:p>
                  </a:txBody>
                  <a:tcPr marL="68485"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KUPON</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FÄLLIGKEIT</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35744075"/>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Bayer IHS </a:t>
                      </a:r>
                    </a:p>
                  </a:txBody>
                  <a:tcPr marL="68485"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26.08.26</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A351UZ</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6,19%</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22380784"/>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Belgien Staat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0,0 %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22.10.31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A287RJ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6,13%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90062898"/>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Dt. Pfandbriefbk. Green Bond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05.02.27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A30WF8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5,42%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2143736"/>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EnBW Green Bond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4,3 %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23.05.34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A3LREF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45885989"/>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Fraport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1,875 %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31.03.28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A3E5F0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7,19%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28571560"/>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Grenke Finance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06.07.29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A3LY39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5,54%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92451202"/>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Heidelberg Materials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31.05.32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A30V5U</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5,52%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74287411"/>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Hochtief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4,25 %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31.05.30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A383EL</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74032682"/>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Porsche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4,25 %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27.09.30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A351SX</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19614073"/>
                  </a:ext>
                </a:extLst>
              </a:tr>
              <a:tr h="189923">
                <a:tc>
                  <a:txBody>
                    <a:bodyPr/>
                    <a:lstStyle/>
                    <a:p>
                      <a:pPr algn="l" fontAlgn="ctr">
                        <a:buNone/>
                      </a:pPr>
                      <a:r>
                        <a:rPr lang="de-DE" sz="700" b="1" i="0" u="none" strike="noStrike">
                          <a:solidFill>
                            <a:srgbClr val="000000"/>
                          </a:solidFill>
                          <a:effectLst/>
                          <a:latin typeface="Noto Sans" panose="020B0502040504020204" pitchFamily="34" charset="0"/>
                        </a:rPr>
                        <a:t>EDELMETALLE</a:t>
                      </a:r>
                    </a:p>
                  </a:txBody>
                  <a:tcPr marL="68485"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77155215"/>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XETRA Gold</a:t>
                      </a:r>
                    </a:p>
                  </a:txBody>
                  <a:tcPr marL="68485"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11,95%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94369209"/>
                  </a:ext>
                </a:extLst>
              </a:tr>
              <a:tr h="189923">
                <a:tc>
                  <a:txBody>
                    <a:bodyPr/>
                    <a:lstStyle/>
                    <a:p>
                      <a:pPr algn="l" fontAlgn="ctr">
                        <a:buNone/>
                      </a:pPr>
                      <a:r>
                        <a:rPr lang="de-DE" sz="700" b="1" i="0" u="none" strike="noStrike">
                          <a:solidFill>
                            <a:srgbClr val="000000"/>
                          </a:solidFill>
                          <a:effectLst/>
                          <a:latin typeface="Noto Sans" panose="020B0502040504020204" pitchFamily="34" charset="0"/>
                        </a:rPr>
                        <a:t>LIQUIDITÄT</a:t>
                      </a:r>
                    </a:p>
                  </a:txBody>
                  <a:tcPr marL="68485"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5,56%</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54466784"/>
                  </a:ext>
                </a:extLst>
              </a:tr>
              <a:tr h="189923">
                <a:tc>
                  <a:txBody>
                    <a:bodyPr/>
                    <a:lstStyle/>
                    <a:p>
                      <a:pPr algn="l" fontAlgn="ctr">
                        <a:buNone/>
                      </a:pPr>
                      <a:r>
                        <a:rPr lang="de-DE" sz="700" b="1" i="0" u="none" strike="noStrike">
                          <a:solidFill>
                            <a:srgbClr val="000000"/>
                          </a:solidFill>
                          <a:effectLst/>
                          <a:latin typeface="Noto Sans" panose="020B0502040504020204" pitchFamily="34" charset="0"/>
                        </a:rPr>
                        <a:t> </a:t>
                      </a:r>
                    </a:p>
                  </a:txBody>
                  <a:tcPr marL="68485"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11104608"/>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p:cNvGraphicFramePr>
          <p:nvPr>
            <p:ph type="tbl" sz="quarter" idx="13"/>
            <p:extLst>
              <p:ext uri="{D42A27DB-BD31-4B8C-83A1-F6EECF244321}">
                <p14:modId xmlns:p14="http://schemas.microsoft.com/office/powerpoint/2010/main" val="2422630300"/>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FPFB Strategie 30</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Schwerpunkt Europa</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783001" rtl="0" eaLnBrk="1" fontAlgn="auto" latinLnBrk="0" hangingPunct="1">
                        <a:lnSpc>
                          <a:spcPct val="100000"/>
                        </a:lnSpc>
                        <a:spcBef>
                          <a:spcPts val="0"/>
                        </a:spcBef>
                        <a:spcAft>
                          <a:spcPts val="0"/>
                        </a:spcAft>
                        <a:buClrTx/>
                        <a:buSzTx/>
                        <a:buFontTx/>
                        <a:buNone/>
                        <a:tabLst/>
                        <a:defRPr/>
                      </a:pPr>
                      <a:r>
                        <a:rPr lang="de-DE" sz="900" b="0" dirty="0"/>
                        <a:t>max. 30 %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100%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Portfolioverwaltung 30</a:t>
            </a:r>
          </a:p>
        </p:txBody>
      </p:sp>
    </p:spTree>
    <p:extLst>
      <p:ext uri="{BB962C8B-B14F-4D97-AF65-F5344CB8AC3E}">
        <p14:creationId xmlns:p14="http://schemas.microsoft.com/office/powerpoint/2010/main" val="3986531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latin typeface="Noto Sans (Textkörper)"/>
              </a:rPr>
              <a:t>* nach Kosten</a:t>
            </a:r>
          </a:p>
          <a:p>
            <a:r>
              <a:rPr lang="de-DE" dirty="0">
                <a:latin typeface="Noto Sans (Textkörper)"/>
              </a:rPr>
              <a:t>** ab 30.06. abzüglich des halbjährlichen Honorarsatzes</a:t>
            </a:r>
          </a:p>
          <a:p>
            <a:r>
              <a:rPr lang="de-DE" dirty="0">
                <a:latin typeface="Noto Sans (Textkörper)"/>
              </a:rPr>
              <a:t>*** 7,5% Euro </a:t>
            </a:r>
            <a:r>
              <a:rPr lang="de-DE" dirty="0" err="1">
                <a:latin typeface="Noto Sans (Textkörper)"/>
              </a:rPr>
              <a:t>Stoxx</a:t>
            </a:r>
            <a:r>
              <a:rPr lang="de-DE" dirty="0">
                <a:latin typeface="Noto Sans (Textkörper)"/>
              </a:rPr>
              <a:t> 50; 7,5% MSCI World ; 42,5% </a:t>
            </a:r>
            <a:r>
              <a:rPr lang="de-DE" dirty="0" err="1">
                <a:latin typeface="Noto Sans (Textkörper)"/>
              </a:rPr>
              <a:t>iBoxx</a:t>
            </a:r>
            <a:r>
              <a:rPr lang="de-DE" dirty="0">
                <a:latin typeface="Noto Sans (Textkörper)"/>
              </a:rPr>
              <a:t> Corp. OV. 3-5 RE; 42,5% </a:t>
            </a:r>
            <a:r>
              <a:rPr lang="de-DE" dirty="0" err="1">
                <a:latin typeface="Noto Sans (Textkörper)"/>
              </a:rPr>
              <a:t>iBoxx</a:t>
            </a:r>
            <a:r>
              <a:rPr lang="de-DE" dirty="0">
                <a:latin typeface="Noto Sans (Textkörper)"/>
              </a:rPr>
              <a:t> E Germany 5-7 TR</a:t>
            </a:r>
          </a:p>
          <a:p>
            <a:endParaRPr lang="de-DE" dirty="0">
              <a:latin typeface="Noto Sans (Textkörper)"/>
            </a:endParaRPr>
          </a:p>
          <a:p>
            <a:r>
              <a:rPr lang="de-DE" dirty="0">
                <a:latin typeface="Noto Sans (Textkörper)"/>
              </a:rPr>
              <a:t>Die aufgeführten Zahlen beziehen sich auf die Wertentwicklung in der Vergangenheit. Wert und Erträge einer Vermögensanlage können steigen oder fallen. Eine positive Entwicklung in der Vergangenheit ist keine Garantie für eine zukünftige Wertentwicklung. </a:t>
            </a:r>
          </a:p>
          <a:p>
            <a:pPr marL="0" indent="0" algn="l" rtl="0" latinLnBrk="0">
              <a:spcBef>
                <a:spcPts val="0"/>
              </a:spcBef>
              <a:spcAft>
                <a:spcPts val="0"/>
              </a:spcAft>
            </a:pPr>
            <a:r>
              <a:rPr lang="de-DE" b="0" i="0" dirty="0">
                <a:effectLst/>
                <a:latin typeface="Noto Sans (Textkörper)"/>
              </a:rPr>
              <a:t>Der unterjährige Performance</a:t>
            </a:r>
            <a:r>
              <a:rPr lang="de-DE" b="1" i="0" dirty="0">
                <a:effectLst/>
                <a:latin typeface="Noto Sans (Textkörper)"/>
              </a:rPr>
              <a:t>-</a:t>
            </a:r>
            <a:r>
              <a:rPr lang="de-DE" b="0" i="0" dirty="0">
                <a:effectLst/>
                <a:latin typeface="Noto Sans (Textkörper)"/>
              </a:rPr>
              <a:t>Ausweis erfolgt vor Kosten (ab 30.06. abzüglich des halbjährigen Honorarsatzes). Die weiteren Performance</a:t>
            </a:r>
            <a:r>
              <a:rPr lang="de-DE" b="1" i="0" dirty="0">
                <a:effectLst/>
                <a:latin typeface="Noto Sans (Textkörper)"/>
              </a:rPr>
              <a:t>-</a:t>
            </a:r>
            <a:r>
              <a:rPr lang="de-DE" b="0" i="0" dirty="0">
                <a:effectLst/>
                <a:latin typeface="Noto Sans (Textkörper)"/>
              </a:rPr>
              <a:t>Angaben wurden nach</a:t>
            </a:r>
            <a:r>
              <a:rPr lang="de-DE" dirty="0">
                <a:latin typeface="Noto Sans (Textkörper)"/>
              </a:rPr>
              <a:t> </a:t>
            </a:r>
            <a:r>
              <a:rPr lang="de-DE" b="0" i="0" dirty="0">
                <a:effectLst/>
                <a:latin typeface="Noto Sans (Textkörper)"/>
              </a:rPr>
              <a:t>Kosten berechnet. Sowohl das VV-Honorar als auch fremde Spesen und evtl. Produktkosten wurden berücksichtigt. Die Inflation kann negative Auswirkungen auf den Wert und die nominale Rendite Ihres Anlagevermögens haben. So kann insbesondere bei risikofreien Anlagen ein Wertverlust dadurch eintreten, dass die negative Auswirkung der Inflation die nominale Rendite übersteigt. Auch eine geringe Anlagedauer und die Gesamtkosten und Gebührenkönnen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7</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D23963-F39D-4AE6-A44C-7B1B634AA4B6}" type="datetime1">
              <a:rPr lang="de-DE" sz="600" smtClean="0">
                <a:solidFill>
                  <a:schemeClr val="bg2"/>
                </a:solidFill>
              </a:rPr>
              <a:t>20.07.2026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196641515"/>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91508344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3612043249"/>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2024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14,78%</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2024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5,54%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1,64%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3,31</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Comdirect 30 | </a:t>
            </a:r>
            <a:r>
              <a:rPr lang="de-DE" b="0" dirty="0"/>
              <a:t>Wertentwicklung</a:t>
            </a:r>
          </a:p>
        </p:txBody>
      </p:sp>
    </p:spTree>
    <p:extLst>
      <p:ext uri="{BB962C8B-B14F-4D97-AF65-F5344CB8AC3E}">
        <p14:creationId xmlns:p14="http://schemas.microsoft.com/office/powerpoint/2010/main" val="3126815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8</a:t>
            </a:fld>
            <a:endParaRPr lang="de-DE"/>
          </a:p>
        </p:txBody>
      </p:sp>
      <p:graphicFrame>
        <p:nvGraphicFramePr>
          <p:cNvPr id="5" name="C_Kennzahlen">
            <a:extLst>
              <a:ext uri="{FF2B5EF4-FFF2-40B4-BE49-F238E27FC236}">
                <a16:creationId xmlns:a16="http://schemas.microsoft.com/office/drawing/2014/main" id="{00000000-0008-0000-1D00-000003000000}"/>
              </a:ext>
            </a:extLst>
          </p:cNvPr>
          <p:cNvGraphicFramePr>
            <a:graphicFrameLocks noGrp="1" noDrilldown="1" noMove="1" noResize="1"/>
          </p:cNvGraphicFramePr>
          <p:nvPr>
            <p:extLst>
              <p:ext uri="{D42A27DB-BD31-4B8C-83A1-F6EECF244321}">
                <p14:modId xmlns:p14="http://schemas.microsoft.com/office/powerpoint/2010/main" val="3812792983"/>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E0F2647C-3EB3-683F-BEA6-2C58994DC92F}"/>
              </a:ext>
            </a:extLst>
          </p:cNvPr>
          <p:cNvGraphicFramePr>
            <a:graphicFrameLocks noGrp="1" noDrilldown="1" noMove="1" noResize="1"/>
          </p:cNvGraphicFramePr>
          <p:nvPr>
            <p:extLst>
              <p:ext uri="{D42A27DB-BD31-4B8C-83A1-F6EECF244321}">
                <p14:modId xmlns:p14="http://schemas.microsoft.com/office/powerpoint/2010/main" val="131613901"/>
              </p:ext>
            </p:extLst>
          </p:nvPr>
        </p:nvGraphicFramePr>
        <p:xfrm>
          <a:off x="4508500" y="1040400"/>
          <a:ext cx="5613400" cy="4773411"/>
        </p:xfrm>
        <a:graphic>
          <a:graphicData uri="http://schemas.openxmlformats.org/drawingml/2006/table">
            <a:tbl>
              <a:tblPr/>
              <a:tblGrid>
                <a:gridCol w="2184400">
                  <a:extLst>
                    <a:ext uri="{9D8B030D-6E8A-4147-A177-3AD203B41FA5}">
                      <a16:colId xmlns:a16="http://schemas.microsoft.com/office/drawing/2014/main" val="930516035"/>
                    </a:ext>
                  </a:extLst>
                </a:gridCol>
                <a:gridCol w="50800">
                  <a:extLst>
                    <a:ext uri="{9D8B030D-6E8A-4147-A177-3AD203B41FA5}">
                      <a16:colId xmlns:a16="http://schemas.microsoft.com/office/drawing/2014/main" val="3569727738"/>
                    </a:ext>
                  </a:extLst>
                </a:gridCol>
                <a:gridCol w="571500">
                  <a:extLst>
                    <a:ext uri="{9D8B030D-6E8A-4147-A177-3AD203B41FA5}">
                      <a16:colId xmlns:a16="http://schemas.microsoft.com/office/drawing/2014/main" val="2641932948"/>
                    </a:ext>
                  </a:extLst>
                </a:gridCol>
                <a:gridCol w="50800">
                  <a:extLst>
                    <a:ext uri="{9D8B030D-6E8A-4147-A177-3AD203B41FA5}">
                      <a16:colId xmlns:a16="http://schemas.microsoft.com/office/drawing/2014/main" val="875571981"/>
                    </a:ext>
                  </a:extLst>
                </a:gridCol>
                <a:gridCol w="571500">
                  <a:extLst>
                    <a:ext uri="{9D8B030D-6E8A-4147-A177-3AD203B41FA5}">
                      <a16:colId xmlns:a16="http://schemas.microsoft.com/office/drawing/2014/main" val="2560234929"/>
                    </a:ext>
                  </a:extLst>
                </a:gridCol>
                <a:gridCol w="50800">
                  <a:extLst>
                    <a:ext uri="{9D8B030D-6E8A-4147-A177-3AD203B41FA5}">
                      <a16:colId xmlns:a16="http://schemas.microsoft.com/office/drawing/2014/main" val="1842181968"/>
                    </a:ext>
                  </a:extLst>
                </a:gridCol>
                <a:gridCol w="571500">
                  <a:extLst>
                    <a:ext uri="{9D8B030D-6E8A-4147-A177-3AD203B41FA5}">
                      <a16:colId xmlns:a16="http://schemas.microsoft.com/office/drawing/2014/main" val="2661903168"/>
                    </a:ext>
                  </a:extLst>
                </a:gridCol>
                <a:gridCol w="50800">
                  <a:extLst>
                    <a:ext uri="{9D8B030D-6E8A-4147-A177-3AD203B41FA5}">
                      <a16:colId xmlns:a16="http://schemas.microsoft.com/office/drawing/2014/main" val="3784987372"/>
                    </a:ext>
                  </a:extLst>
                </a:gridCol>
                <a:gridCol w="571500">
                  <a:extLst>
                    <a:ext uri="{9D8B030D-6E8A-4147-A177-3AD203B41FA5}">
                      <a16:colId xmlns:a16="http://schemas.microsoft.com/office/drawing/2014/main" val="941774286"/>
                    </a:ext>
                  </a:extLst>
                </a:gridCol>
                <a:gridCol w="50800">
                  <a:extLst>
                    <a:ext uri="{9D8B030D-6E8A-4147-A177-3AD203B41FA5}">
                      <a16:colId xmlns:a16="http://schemas.microsoft.com/office/drawing/2014/main" val="4214180977"/>
                    </a:ext>
                  </a:extLst>
                </a:gridCol>
                <a:gridCol w="889000">
                  <a:extLst>
                    <a:ext uri="{9D8B030D-6E8A-4147-A177-3AD203B41FA5}">
                      <a16:colId xmlns:a16="http://schemas.microsoft.com/office/drawing/2014/main" val="406558374"/>
                    </a:ext>
                  </a:extLst>
                </a:gridCol>
              </a:tblGrid>
              <a:tr h="216000">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706"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2465337888"/>
                  </a:ext>
                </a:extLst>
              </a:tr>
              <a:tr h="168793">
                <a:tc>
                  <a:txBody>
                    <a:bodyPr/>
                    <a:lstStyle/>
                    <a:p>
                      <a:pPr algn="l" fontAlgn="ctr">
                        <a:buNone/>
                      </a:pPr>
                      <a:r>
                        <a:rPr lang="de-DE" sz="700" b="1" i="0" u="none" strike="noStrike">
                          <a:solidFill>
                            <a:srgbClr val="000000"/>
                          </a:solidFill>
                          <a:effectLst/>
                          <a:latin typeface="Noto Sans" panose="020B0502040504020204" pitchFamily="34" charset="0"/>
                        </a:rPr>
                        <a:t>AKTIEN</a:t>
                      </a:r>
                    </a:p>
                  </a:txBody>
                  <a:tcPr marL="68706"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74623308"/>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Airbus SE</a:t>
                      </a:r>
                    </a:p>
                  </a:txBody>
                  <a:tcPr marL="6870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938914</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5,63%</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57735546"/>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Amazon.com Inc.</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3803736"/>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Apple Inc.</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865985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3,27%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13384986"/>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Berkshire Hathaway Inc. B</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A0YJQ2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54381301"/>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Deutsche Telekom AG</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5,42%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09819699"/>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Global Active ESG Equity ETF (Invesco)</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A2PHJT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7,32%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43949704"/>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Johnson &amp; Johnson</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853260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4,23%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63265622"/>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LVMH Moët Henn. L. Vuitton SE</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853292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10783540"/>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Microsoft Corp.</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4,54%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31337427"/>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Münchener Rückvers.-Ges. AG</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70440281"/>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NVIDIA Corp.</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4,84%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61824296"/>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Rheinmetall AG</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703000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2,17%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82110441"/>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Shell PLC</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4,84%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04231863"/>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Walmart Inc.</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860853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4,89%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90325778"/>
                  </a:ext>
                </a:extLst>
              </a:tr>
              <a:tr h="168793">
                <a:tc>
                  <a:txBody>
                    <a:bodyPr/>
                    <a:lstStyle/>
                    <a:p>
                      <a:pPr algn="l" fontAlgn="ctr">
                        <a:buNone/>
                      </a:pPr>
                      <a:r>
                        <a:rPr lang="de-DE" sz="700" b="1" i="0" u="none" strike="noStrike">
                          <a:solidFill>
                            <a:srgbClr val="000000"/>
                          </a:solidFill>
                          <a:effectLst/>
                          <a:latin typeface="Noto Sans" panose="020B0502040504020204" pitchFamily="34" charset="0"/>
                        </a:rPr>
                        <a:t>RENTEN</a:t>
                      </a:r>
                    </a:p>
                  </a:txBody>
                  <a:tcPr marL="6870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KUPON</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FÄLLIGKEIT</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76646912"/>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Bayer IHS </a:t>
                      </a:r>
                    </a:p>
                  </a:txBody>
                  <a:tcPr marL="6870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26.08.26</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A351UZ</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2,64%</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62006834"/>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Belgien Staat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0,0 %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22.10.31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A287RJ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34842289"/>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E.ON Green Bond IHS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3,875 %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12.01.35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A30V8B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2,09%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41728241"/>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Fraport IHS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1,875 %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31.03.28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A3E5F0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2,51%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904194973"/>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Heidelberg Materials IHS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31.05.32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A30V5U</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14524237"/>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RCI Banque IHS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4,875 %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02.10.29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A3LNYD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2,09%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65650263"/>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VW Green Bond IHS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3,875 %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10.09.30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A383ET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17209604"/>
                  </a:ext>
                </a:extLst>
              </a:tr>
              <a:tr h="168793">
                <a:tc>
                  <a:txBody>
                    <a:bodyPr/>
                    <a:lstStyle/>
                    <a:p>
                      <a:pPr algn="l" fontAlgn="ctr">
                        <a:buNone/>
                      </a:pPr>
                      <a:r>
                        <a:rPr lang="de-DE" sz="700" b="1" i="0" u="none" strike="noStrike">
                          <a:solidFill>
                            <a:srgbClr val="000000"/>
                          </a:solidFill>
                          <a:effectLst/>
                          <a:latin typeface="Noto Sans" panose="020B0502040504020204" pitchFamily="34" charset="0"/>
                        </a:rPr>
                        <a:t>EDELMETALLE</a:t>
                      </a:r>
                    </a:p>
                  </a:txBody>
                  <a:tcPr marL="6870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08659990"/>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XETRA Gold</a:t>
                      </a:r>
                    </a:p>
                  </a:txBody>
                  <a:tcPr marL="6870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75683885"/>
                  </a:ext>
                </a:extLst>
              </a:tr>
              <a:tr h="168793">
                <a:tc>
                  <a:txBody>
                    <a:bodyPr/>
                    <a:lstStyle/>
                    <a:p>
                      <a:pPr algn="l" fontAlgn="ctr">
                        <a:buNone/>
                      </a:pPr>
                      <a:r>
                        <a:rPr lang="de-DE" sz="700" b="1" i="0" u="none" strike="noStrike">
                          <a:solidFill>
                            <a:srgbClr val="000000"/>
                          </a:solidFill>
                          <a:effectLst/>
                          <a:latin typeface="Noto Sans" panose="020B0502040504020204" pitchFamily="34" charset="0"/>
                        </a:rPr>
                        <a:t>LIQUIDITÄT</a:t>
                      </a:r>
                    </a:p>
                  </a:txBody>
                  <a:tcPr marL="6870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3,04%</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18811380"/>
                  </a:ext>
                </a:extLst>
              </a:tr>
              <a:tr h="168793">
                <a:tc>
                  <a:txBody>
                    <a:bodyPr/>
                    <a:lstStyle/>
                    <a:p>
                      <a:pPr algn="l" fontAlgn="ctr">
                        <a:buNone/>
                      </a:pPr>
                      <a:r>
                        <a:rPr lang="de-DE" sz="700" b="1" i="0" u="none" strike="noStrike">
                          <a:solidFill>
                            <a:srgbClr val="000000"/>
                          </a:solidFill>
                          <a:effectLst/>
                          <a:latin typeface="Noto Sans" panose="020B0502040504020204" pitchFamily="34" charset="0"/>
                        </a:rPr>
                        <a:t> </a:t>
                      </a:r>
                    </a:p>
                  </a:txBody>
                  <a:tcPr marL="68706"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3290281517"/>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p:cNvGraphicFramePr>
          <p:nvPr>
            <p:ph type="tbl" sz="quarter" idx="13"/>
            <p:extLst>
              <p:ext uri="{D42A27DB-BD31-4B8C-83A1-F6EECF244321}">
                <p14:modId xmlns:p14="http://schemas.microsoft.com/office/powerpoint/2010/main" val="2951419940"/>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FFPB Strategie 70</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mind. 30%, max. 70 %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70%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Portfolioverwaltung 70</a:t>
            </a:r>
          </a:p>
        </p:txBody>
      </p:sp>
    </p:spTree>
    <p:extLst>
      <p:ext uri="{BB962C8B-B14F-4D97-AF65-F5344CB8AC3E}">
        <p14:creationId xmlns:p14="http://schemas.microsoft.com/office/powerpoint/2010/main" val="36589808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latin typeface="Noto Sans (Textkörper)"/>
              </a:rPr>
              <a:t>* nach Kosten</a:t>
            </a:r>
          </a:p>
          <a:p>
            <a:r>
              <a:rPr lang="de-DE" dirty="0">
                <a:latin typeface="Noto Sans (Textkörper)"/>
              </a:rPr>
              <a:t>** ab 30.06. abzüglich des halbjährlichen Honorarsatzes</a:t>
            </a:r>
          </a:p>
          <a:p>
            <a:r>
              <a:rPr lang="de-DE" dirty="0">
                <a:latin typeface="Noto Sans (Textkörper)"/>
              </a:rPr>
              <a:t>*** 25% Euro </a:t>
            </a:r>
            <a:r>
              <a:rPr lang="de-DE" dirty="0" err="1">
                <a:latin typeface="Noto Sans (Textkörper)"/>
              </a:rPr>
              <a:t>Stoxx</a:t>
            </a:r>
            <a:r>
              <a:rPr lang="de-DE" dirty="0">
                <a:latin typeface="Noto Sans (Textkörper)"/>
              </a:rPr>
              <a:t> 50; 25% MSCI World ; 25% </a:t>
            </a:r>
            <a:r>
              <a:rPr lang="de-DE" dirty="0" err="1">
                <a:latin typeface="Noto Sans (Textkörper)"/>
              </a:rPr>
              <a:t>iBoxx</a:t>
            </a:r>
            <a:r>
              <a:rPr lang="de-DE" dirty="0">
                <a:latin typeface="Noto Sans (Textkörper)"/>
              </a:rPr>
              <a:t> Corp. OV. 3-5 RE; 25% </a:t>
            </a:r>
            <a:r>
              <a:rPr lang="de-DE" dirty="0" err="1">
                <a:latin typeface="Noto Sans (Textkörper)"/>
              </a:rPr>
              <a:t>iBoxx</a:t>
            </a:r>
            <a:r>
              <a:rPr lang="de-DE" dirty="0">
                <a:latin typeface="Noto Sans (Textkörper)"/>
              </a:rPr>
              <a:t> E Germany 5-7 TR</a:t>
            </a:r>
          </a:p>
          <a:p>
            <a:endParaRPr lang="de-DE" dirty="0">
              <a:latin typeface="Noto Sans (Textkörper)"/>
            </a:endParaRPr>
          </a:p>
          <a:p>
            <a:r>
              <a:rPr lang="de-DE" dirty="0">
                <a:latin typeface="Noto Sans (Textkörper)"/>
              </a:rPr>
              <a:t>Die aufgeführten Zahlen beziehen sich auf die Wertentwicklung in der Vergangenheit. Wert und Erträge einer Vermögensanlage können steigen oder fallen. Eine positive Entwicklung in der Vergangenheit ist keine Garantie für eine zukünftige Wertentwicklung. </a:t>
            </a:r>
          </a:p>
          <a:p>
            <a:pPr marL="0" indent="0" algn="l" rtl="0" latinLnBrk="0">
              <a:spcBef>
                <a:spcPts val="0"/>
              </a:spcBef>
              <a:spcAft>
                <a:spcPts val="0"/>
              </a:spcAft>
            </a:pPr>
            <a:r>
              <a:rPr lang="de-DE" b="0" i="0" dirty="0">
                <a:effectLst/>
                <a:latin typeface="Noto Sans (Textkörper)"/>
              </a:rPr>
              <a:t>Der unterjährige Performance</a:t>
            </a:r>
            <a:r>
              <a:rPr lang="de-DE" b="1" i="0" dirty="0">
                <a:effectLst/>
                <a:latin typeface="Noto Sans (Textkörper)"/>
              </a:rPr>
              <a:t>-</a:t>
            </a:r>
            <a:r>
              <a:rPr lang="de-DE" b="0" i="0" dirty="0">
                <a:effectLst/>
                <a:latin typeface="Noto Sans (Textkörper)"/>
              </a:rPr>
              <a:t>Ausweis erfolgt vor Kosten (ab 30.06. abzüglich des halbjährigen Honorarsatzes). Die weiteren Performance</a:t>
            </a:r>
            <a:r>
              <a:rPr lang="de-DE" b="1" i="0" dirty="0">
                <a:effectLst/>
                <a:latin typeface="Noto Sans (Textkörper)"/>
              </a:rPr>
              <a:t>-</a:t>
            </a:r>
            <a:r>
              <a:rPr lang="de-DE" b="0" i="0" dirty="0">
                <a:effectLst/>
                <a:latin typeface="Noto Sans (Textkörper)"/>
              </a:rPr>
              <a:t>Angaben wurden nach</a:t>
            </a:r>
            <a:r>
              <a:rPr lang="de-DE" dirty="0">
                <a:latin typeface="Noto Sans (Textkörper)"/>
              </a:rPr>
              <a:t> </a:t>
            </a:r>
            <a:r>
              <a:rPr lang="de-DE" b="0" i="0" dirty="0">
                <a:effectLst/>
                <a:latin typeface="Noto Sans (Textkörper)"/>
              </a:rPr>
              <a:t>Kosten berechnet. Sowohl das VV-Honorar als auch fremde Spesen und evtl. Produktkosten wurden berücksichtigt. Die Inflation kann negative Auswirkungen auf den Wert und die nominale Rendite Ihres Anlagevermögens haben. So kann insbesondere bei risikofreien Anlagen ein Wertverlust dadurch eintreten, dass die negative Auswirkung der Inflation die nominale Rendite übersteigt. Auch eine geringe Anlagedauer und die Gesamtkosten und Gebührenkönnen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9</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D23963-F39D-4AE6-A44C-7B1B634AA4B6}" type="datetime1">
              <a:rPr lang="de-DE" sz="600" smtClean="0">
                <a:solidFill>
                  <a:schemeClr val="bg2"/>
                </a:solidFill>
              </a:rPr>
              <a:t>20.07.2026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1758934180"/>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176091066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2773752440"/>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2024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17,99%</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2024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6,69%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-0,84%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3,75</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Comdirect 70 | </a:t>
            </a:r>
            <a:r>
              <a:rPr lang="de-DE" b="0" dirty="0"/>
              <a:t>Wertentwicklung</a:t>
            </a:r>
          </a:p>
        </p:txBody>
      </p:sp>
    </p:spTree>
    <p:extLst>
      <p:ext uri="{BB962C8B-B14F-4D97-AF65-F5344CB8AC3E}">
        <p14:creationId xmlns:p14="http://schemas.microsoft.com/office/powerpoint/2010/main" val="13057927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10</a:t>
            </a:fld>
            <a:endParaRPr lang="de-DE"/>
          </a:p>
        </p:txBody>
      </p:sp>
      <p:graphicFrame>
        <p:nvGraphicFramePr>
          <p:cNvPr id="5" name="C_Kennzahlen">
            <a:extLst>
              <a:ext uri="{FF2B5EF4-FFF2-40B4-BE49-F238E27FC236}">
                <a16:creationId xmlns:a16="http://schemas.microsoft.com/office/drawing/2014/main" id="{00000000-0008-0000-1D00-000004000000}"/>
              </a:ext>
            </a:extLst>
          </p:cNvPr>
          <p:cNvGraphicFramePr>
            <a:graphicFrameLocks noGrp="1" noDrilldown="1" noMove="1" noResize="1"/>
          </p:cNvGraphicFramePr>
          <p:nvPr>
            <p:extLst>
              <p:ext uri="{D42A27DB-BD31-4B8C-83A1-F6EECF244321}">
                <p14:modId xmlns:p14="http://schemas.microsoft.com/office/powerpoint/2010/main" val="1246286725"/>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86234CCC-AA28-9578-A267-5085A8C56A38}"/>
              </a:ext>
            </a:extLst>
          </p:cNvPr>
          <p:cNvGraphicFramePr>
            <a:graphicFrameLocks noGrp="1" noDrilldown="1" noMove="1" noResize="1"/>
          </p:cNvGraphicFramePr>
          <p:nvPr>
            <p:extLst>
              <p:ext uri="{D42A27DB-BD31-4B8C-83A1-F6EECF244321}">
                <p14:modId xmlns:p14="http://schemas.microsoft.com/office/powerpoint/2010/main" val="3017752438"/>
              </p:ext>
            </p:extLst>
          </p:nvPr>
        </p:nvGraphicFramePr>
        <p:xfrm>
          <a:off x="4508500" y="1040400"/>
          <a:ext cx="5613400" cy="4773000"/>
        </p:xfrm>
        <a:graphic>
          <a:graphicData uri="http://schemas.openxmlformats.org/drawingml/2006/table">
            <a:tbl>
              <a:tblPr/>
              <a:tblGrid>
                <a:gridCol w="2184400">
                  <a:extLst>
                    <a:ext uri="{9D8B030D-6E8A-4147-A177-3AD203B41FA5}">
                      <a16:colId xmlns:a16="http://schemas.microsoft.com/office/drawing/2014/main" val="4113767849"/>
                    </a:ext>
                  </a:extLst>
                </a:gridCol>
                <a:gridCol w="50800">
                  <a:extLst>
                    <a:ext uri="{9D8B030D-6E8A-4147-A177-3AD203B41FA5}">
                      <a16:colId xmlns:a16="http://schemas.microsoft.com/office/drawing/2014/main" val="2614557322"/>
                    </a:ext>
                  </a:extLst>
                </a:gridCol>
                <a:gridCol w="571500">
                  <a:extLst>
                    <a:ext uri="{9D8B030D-6E8A-4147-A177-3AD203B41FA5}">
                      <a16:colId xmlns:a16="http://schemas.microsoft.com/office/drawing/2014/main" val="879793447"/>
                    </a:ext>
                  </a:extLst>
                </a:gridCol>
                <a:gridCol w="50800">
                  <a:extLst>
                    <a:ext uri="{9D8B030D-6E8A-4147-A177-3AD203B41FA5}">
                      <a16:colId xmlns:a16="http://schemas.microsoft.com/office/drawing/2014/main" val="2343424295"/>
                    </a:ext>
                  </a:extLst>
                </a:gridCol>
                <a:gridCol w="571500">
                  <a:extLst>
                    <a:ext uri="{9D8B030D-6E8A-4147-A177-3AD203B41FA5}">
                      <a16:colId xmlns:a16="http://schemas.microsoft.com/office/drawing/2014/main" val="507502996"/>
                    </a:ext>
                  </a:extLst>
                </a:gridCol>
                <a:gridCol w="50800">
                  <a:extLst>
                    <a:ext uri="{9D8B030D-6E8A-4147-A177-3AD203B41FA5}">
                      <a16:colId xmlns:a16="http://schemas.microsoft.com/office/drawing/2014/main" val="3073352519"/>
                    </a:ext>
                  </a:extLst>
                </a:gridCol>
                <a:gridCol w="571500">
                  <a:extLst>
                    <a:ext uri="{9D8B030D-6E8A-4147-A177-3AD203B41FA5}">
                      <a16:colId xmlns:a16="http://schemas.microsoft.com/office/drawing/2014/main" val="2861307406"/>
                    </a:ext>
                  </a:extLst>
                </a:gridCol>
                <a:gridCol w="50800">
                  <a:extLst>
                    <a:ext uri="{9D8B030D-6E8A-4147-A177-3AD203B41FA5}">
                      <a16:colId xmlns:a16="http://schemas.microsoft.com/office/drawing/2014/main" val="1461447330"/>
                    </a:ext>
                  </a:extLst>
                </a:gridCol>
                <a:gridCol w="571500">
                  <a:extLst>
                    <a:ext uri="{9D8B030D-6E8A-4147-A177-3AD203B41FA5}">
                      <a16:colId xmlns:a16="http://schemas.microsoft.com/office/drawing/2014/main" val="2436453985"/>
                    </a:ext>
                  </a:extLst>
                </a:gridCol>
                <a:gridCol w="50800">
                  <a:extLst>
                    <a:ext uri="{9D8B030D-6E8A-4147-A177-3AD203B41FA5}">
                      <a16:colId xmlns:a16="http://schemas.microsoft.com/office/drawing/2014/main" val="3591455819"/>
                    </a:ext>
                  </a:extLst>
                </a:gridCol>
                <a:gridCol w="889000">
                  <a:extLst>
                    <a:ext uri="{9D8B030D-6E8A-4147-A177-3AD203B41FA5}">
                      <a16:colId xmlns:a16="http://schemas.microsoft.com/office/drawing/2014/main" val="4196437300"/>
                    </a:ext>
                  </a:extLst>
                </a:gridCol>
              </a:tblGrid>
              <a:tr h="216000">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829"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667394060"/>
                  </a:ext>
                </a:extLst>
              </a:tr>
              <a:tr h="182280">
                <a:tc>
                  <a:txBody>
                    <a:bodyPr/>
                    <a:lstStyle/>
                    <a:p>
                      <a:pPr algn="l" fontAlgn="ctr">
                        <a:buNone/>
                      </a:pPr>
                      <a:r>
                        <a:rPr lang="de-DE" sz="700" b="1" i="0" u="none" strike="noStrike">
                          <a:solidFill>
                            <a:srgbClr val="000000"/>
                          </a:solidFill>
                          <a:effectLst/>
                          <a:latin typeface="Noto Sans" panose="020B0502040504020204" pitchFamily="34" charset="0"/>
                        </a:rPr>
                        <a:t>AKTIEN</a:t>
                      </a:r>
                    </a:p>
                  </a:txBody>
                  <a:tcPr marL="68829"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87805937"/>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3M Co.</a:t>
                      </a:r>
                    </a:p>
                  </a:txBody>
                  <a:tcPr marL="6882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851745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3,78%</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53317108"/>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Airbus SE</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938914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5,45%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61807124"/>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Alphabet Inc. A</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4,44%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11622488"/>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Apple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865985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3,21%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86364451"/>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Berkshire Hathaway Inc. B</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A0YJQ2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6,06%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62925574"/>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Deutsche Telekom AG</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3,67%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48205398"/>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Global Active ESG Equity ETF (Invesco)</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A2PHJT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10,24%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25009427"/>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Intuitive Surgical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888024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2,41%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06602180"/>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LVMH Moët Henn. L. Vuitton SE</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853292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3,21%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75186661"/>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Mercadolibre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A0MYNP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4462320"/>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Meta Platforms Inc. A</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A1JWVX</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4,36%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88895446"/>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Microsoft Corp.</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4,16%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97166953"/>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Münchener Rückvers.-Ges. AG</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5,86%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39819433"/>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NVIDIA Corp.</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4,74%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90174764"/>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Philip Morris Internat.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A0NDBJ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6,91%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55583160"/>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Rheinmetall AG</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703000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4674126"/>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Shell PLC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70735868"/>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VISA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A0NC7B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28516075"/>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Walmart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860853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4,80%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69511850"/>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Waste Management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893579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4,42%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79373293"/>
                  </a:ext>
                </a:extLst>
              </a:tr>
              <a:tr h="182280">
                <a:tc>
                  <a:txBody>
                    <a:bodyPr/>
                    <a:lstStyle/>
                    <a:p>
                      <a:pPr algn="l" fontAlgn="ctr">
                        <a:buNone/>
                      </a:pPr>
                      <a:r>
                        <a:rPr lang="de-DE" sz="700" b="1" i="0" u="none" strike="noStrike">
                          <a:solidFill>
                            <a:srgbClr val="000000"/>
                          </a:solidFill>
                          <a:effectLst/>
                          <a:latin typeface="Noto Sans" panose="020B0502040504020204" pitchFamily="34" charset="0"/>
                        </a:rPr>
                        <a:t>EDELMETALLE</a:t>
                      </a:r>
                    </a:p>
                  </a:txBody>
                  <a:tcPr marL="6882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78455719"/>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XETRA Gold</a:t>
                      </a:r>
                    </a:p>
                  </a:txBody>
                  <a:tcPr marL="6882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7,43%</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38131229"/>
                  </a:ext>
                </a:extLst>
              </a:tr>
              <a:tr h="182280">
                <a:tc>
                  <a:txBody>
                    <a:bodyPr/>
                    <a:lstStyle/>
                    <a:p>
                      <a:pPr algn="l" fontAlgn="ctr">
                        <a:buNone/>
                      </a:pPr>
                      <a:r>
                        <a:rPr lang="de-DE" sz="700" b="1" i="0" u="none" strike="noStrike">
                          <a:solidFill>
                            <a:srgbClr val="000000"/>
                          </a:solidFill>
                          <a:effectLst/>
                          <a:latin typeface="Noto Sans" panose="020B0502040504020204" pitchFamily="34" charset="0"/>
                        </a:rPr>
                        <a:t>LIQUIDITÄT</a:t>
                      </a:r>
                    </a:p>
                  </a:txBody>
                  <a:tcPr marL="6882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3,15%</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37246306"/>
                  </a:ext>
                </a:extLst>
              </a:tr>
              <a:tr h="182280">
                <a:tc>
                  <a:txBody>
                    <a:bodyPr/>
                    <a:lstStyle/>
                    <a:p>
                      <a:pPr algn="l" fontAlgn="ctr">
                        <a:buNone/>
                      </a:pPr>
                      <a:r>
                        <a:rPr lang="de-DE" sz="700" b="1" i="0" u="none" strike="noStrike">
                          <a:solidFill>
                            <a:srgbClr val="000000"/>
                          </a:solidFill>
                          <a:effectLst/>
                          <a:latin typeface="Noto Sans" panose="020B0502040504020204" pitchFamily="34" charset="0"/>
                        </a:rPr>
                        <a:t> </a:t>
                      </a:r>
                    </a:p>
                  </a:txBody>
                  <a:tcPr marL="68829"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828614641"/>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p:cNvGraphicFramePr>
          <p:nvPr>
            <p:ph type="tbl" sz="quarter" idx="13"/>
            <p:extLst>
              <p:ext uri="{D42A27DB-BD31-4B8C-83A1-F6EECF244321}">
                <p14:modId xmlns:p14="http://schemas.microsoft.com/office/powerpoint/2010/main" val="2326450785"/>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FFPB Strategie 100</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mind. 70 %, max. 100 %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30 %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Portfolioverwaltung 100</a:t>
            </a:r>
          </a:p>
        </p:txBody>
      </p:sp>
    </p:spTree>
    <p:extLst>
      <p:ext uri="{BB962C8B-B14F-4D97-AF65-F5344CB8AC3E}">
        <p14:creationId xmlns:p14="http://schemas.microsoft.com/office/powerpoint/2010/main" val="35154200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latin typeface="Noto Sans (Textkörper)"/>
              </a:rPr>
              <a:t>* nach Kosten</a:t>
            </a:r>
          </a:p>
          <a:p>
            <a:r>
              <a:rPr lang="de-DE" dirty="0">
                <a:latin typeface="Noto Sans (Textkörper)"/>
              </a:rPr>
              <a:t>** ab 30.06. abzüglich halbjährigen Honorarsatz</a:t>
            </a:r>
          </a:p>
          <a:p>
            <a:r>
              <a:rPr lang="de-DE" dirty="0">
                <a:latin typeface="Noto Sans (Textkörper)"/>
              </a:rPr>
              <a:t>*** 42,5% Euro </a:t>
            </a:r>
            <a:r>
              <a:rPr lang="de-DE" dirty="0" err="1">
                <a:latin typeface="Noto Sans (Textkörper)"/>
              </a:rPr>
              <a:t>Stoxx</a:t>
            </a:r>
            <a:r>
              <a:rPr lang="de-DE" dirty="0">
                <a:latin typeface="Noto Sans (Textkörper)"/>
              </a:rPr>
              <a:t> 50; 42,5% MSCI World; 7,5% </a:t>
            </a:r>
            <a:r>
              <a:rPr lang="de-DE" dirty="0" err="1">
                <a:latin typeface="Noto Sans (Textkörper)"/>
              </a:rPr>
              <a:t>iBoxx</a:t>
            </a:r>
            <a:r>
              <a:rPr lang="de-DE" dirty="0">
                <a:latin typeface="Noto Sans (Textkörper)"/>
              </a:rPr>
              <a:t> Corp. OV. 3-5 RE; 7,5% </a:t>
            </a:r>
            <a:r>
              <a:rPr lang="de-DE" dirty="0" err="1">
                <a:latin typeface="Noto Sans (Textkörper)"/>
              </a:rPr>
              <a:t>iBoxx</a:t>
            </a:r>
            <a:r>
              <a:rPr lang="de-DE" dirty="0">
                <a:latin typeface="Noto Sans (Textkörper)"/>
              </a:rPr>
              <a:t> E Germany 5-7 TR</a:t>
            </a:r>
          </a:p>
          <a:p>
            <a:endParaRPr lang="de-DE" dirty="0">
              <a:latin typeface="Noto Sans (Textkörper)"/>
            </a:endParaRPr>
          </a:p>
          <a:p>
            <a:r>
              <a:rPr lang="de-DE" dirty="0">
                <a:latin typeface="Noto Sans (Textkörper)"/>
              </a:rPr>
              <a:t>Die aufgeführten Zahlen beziehen sich auf die Wertentwicklung in der Vergangenheit. Wert und Erträge einer Vermögensanlage können steigen oder fallen. Eine positive Entwicklung in der Vergangenheit ist keine Garantie für eine zukünftige Wertentwicklung. </a:t>
            </a:r>
          </a:p>
          <a:p>
            <a:pPr marL="0" indent="0" algn="l" rtl="0" latinLnBrk="0">
              <a:spcBef>
                <a:spcPts val="0"/>
              </a:spcBef>
              <a:spcAft>
                <a:spcPts val="0"/>
              </a:spcAft>
            </a:pPr>
            <a:r>
              <a:rPr lang="de-DE" b="0" i="0" dirty="0">
                <a:effectLst/>
                <a:latin typeface="Noto Sans (Textkörper)"/>
              </a:rPr>
              <a:t>Der unterjährige Performance</a:t>
            </a:r>
            <a:r>
              <a:rPr lang="de-DE" b="1" i="0" dirty="0">
                <a:effectLst/>
                <a:latin typeface="Noto Sans (Textkörper)"/>
              </a:rPr>
              <a:t>-</a:t>
            </a:r>
            <a:r>
              <a:rPr lang="de-DE" b="0" i="0" dirty="0">
                <a:effectLst/>
                <a:latin typeface="Noto Sans (Textkörper)"/>
              </a:rPr>
              <a:t>Ausweis erfolgt vor Kosten (ab 30.06. abzüglich des halbjährigen Honorarsatzes). Die weiteren Performance</a:t>
            </a:r>
            <a:r>
              <a:rPr lang="de-DE" b="1" i="0" dirty="0">
                <a:effectLst/>
                <a:latin typeface="Noto Sans (Textkörper)"/>
              </a:rPr>
              <a:t>-</a:t>
            </a:r>
            <a:r>
              <a:rPr lang="de-DE" b="0" i="0" dirty="0">
                <a:effectLst/>
                <a:latin typeface="Noto Sans (Textkörper)"/>
              </a:rPr>
              <a:t>Angaben wurden nach</a:t>
            </a:r>
            <a:r>
              <a:rPr lang="de-DE" dirty="0">
                <a:latin typeface="Noto Sans (Textkörper)"/>
              </a:rPr>
              <a:t> </a:t>
            </a:r>
            <a:r>
              <a:rPr lang="de-DE" b="0" i="0" dirty="0">
                <a:effectLst/>
                <a:latin typeface="Noto Sans (Textkörper)"/>
              </a:rPr>
              <a:t>Kosten berechnet. Sowohl das VV-Honorar als auch fremde Spesen und evtl. Produktkosten wurden berücksichtigt. Die Inflation kann negative Auswirkungen auf den Wert und die nominale Rendite Ihres Anlagevermögens haben. So kann insbesondere bei risikofreien Anlagen ein Wertverlust dadurch eintreten, dass die negative Auswirkung der Inflation die nominale Rendite übersteigt. Auch eine geringe Anlagedauer und die Gesamtkosten und Gebührenkönnen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11</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D23963-F39D-4AE6-A44C-7B1B634AA4B6}" type="datetime1">
              <a:rPr lang="de-DE" sz="600" smtClean="0">
                <a:solidFill>
                  <a:schemeClr val="bg2"/>
                </a:solidFill>
              </a:rPr>
              <a:t>20.07.2026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1441390019"/>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2307272969"/>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4266439858"/>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2024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13,18%</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2024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4,97%</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0,99%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Comdirect 100 | </a:t>
            </a:r>
            <a:r>
              <a:rPr lang="de-DE" b="0" dirty="0"/>
              <a:t>Wertentwicklung</a:t>
            </a:r>
          </a:p>
        </p:txBody>
      </p:sp>
    </p:spTree>
    <p:extLst>
      <p:ext uri="{BB962C8B-B14F-4D97-AF65-F5344CB8AC3E}">
        <p14:creationId xmlns:p14="http://schemas.microsoft.com/office/powerpoint/2010/main" val="26771296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12</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Verwaltungsvergütung</a:t>
            </a:r>
          </a:p>
          <a:p>
            <a:pPr lvl="2"/>
            <a:r>
              <a:rPr lang="de-DE" dirty="0"/>
              <a:t>Die Honorargestaltung unserer Vermögensverwaltung ist fair, transparent und nachvollziehbar. Wir berechnen gegen-über unseren Kunden in unserer Vermögensverwaltung eine Verwaltungsvergütung, die sämtliche Gebühren für die Verwaltung umfasst. Ausgenommen davon sind die Transaktionskosten, die bei unserer Depotbank anfallen und fremde Spesen wie eventuell anfallende Courtagen, Transaktionssteuern (z. B. Frankreich) und fremde Spesen an in- und ausländischen Börsenplätzen. Investmentfonds werden ohne Ausgabeaufschläge zum Netto-Ausgabepreis abgerechnet.</a:t>
            </a:r>
          </a:p>
          <a:p>
            <a:r>
              <a:rPr lang="de-DE" dirty="0"/>
              <a:t>Halbjährliche Abrechnung</a:t>
            </a:r>
          </a:p>
          <a:p>
            <a:pPr lvl="2"/>
            <a:r>
              <a:rPr lang="de-DE" dirty="0"/>
              <a:t>Die Abrechnung für die Verwaltungsvergütung erfolgt halbjährlich. Als Berechnungsgrundlage dient das durchschnittlich verfügbare Kapital (Konto und Depot). </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5759163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13</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Transaktionskosten</a:t>
            </a:r>
          </a:p>
          <a:p>
            <a:pPr lvl="2"/>
            <a:r>
              <a:rPr lang="de-DE" dirty="0"/>
              <a:t>Die depotführende Bank vereinbart ihre Preise im Rahmen des Depotvertrages direkt mit Ihnen und stellt sie Ihnen genauso selbst in Rechnung.</a:t>
            </a:r>
          </a:p>
          <a:p>
            <a:pPr lvl="2"/>
            <a:r>
              <a:rPr lang="de-DE" dirty="0"/>
              <a:t>Sie haben dabei die Wahl zwischen zwei transparenten Preismodellen, die Ihnen Ihr Berater gerne erläutern wird.  Die anfallenden Transaktionskosen werden in den Verlustverrechnungstopf eingestellt und sind somit steuerlich anrechenbar.</a:t>
            </a:r>
          </a:p>
          <a:p>
            <a:pPr lvl="2"/>
            <a:endParaRPr lang="de-DE" dirty="0"/>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Transaktionskosten</a:t>
            </a:r>
          </a:p>
        </p:txBody>
      </p:sp>
    </p:spTree>
    <p:extLst>
      <p:ext uri="{BB962C8B-B14F-4D97-AF65-F5344CB8AC3E}">
        <p14:creationId xmlns:p14="http://schemas.microsoft.com/office/powerpoint/2010/main" val="16714436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14</a:t>
            </a:fld>
            <a:endParaRPr lang="de-DE"/>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graphicFrame>
        <p:nvGraphicFramePr>
          <p:cNvPr id="3" name="Tabelle 2">
            <a:extLst>
              <a:ext uri="{FF2B5EF4-FFF2-40B4-BE49-F238E27FC236}">
                <a16:creationId xmlns:a16="http://schemas.microsoft.com/office/drawing/2014/main" id="{A0A143F2-5FBD-00D7-FD86-630F82D438D3}"/>
              </a:ext>
            </a:extLst>
          </p:cNvPr>
          <p:cNvGraphicFramePr>
            <a:graphicFrameLocks noGrp="1"/>
          </p:cNvGraphicFramePr>
          <p:nvPr>
            <p:extLst>
              <p:ext uri="{D42A27DB-BD31-4B8C-83A1-F6EECF244321}">
                <p14:modId xmlns:p14="http://schemas.microsoft.com/office/powerpoint/2010/main" val="2666021158"/>
              </p:ext>
            </p:extLst>
          </p:nvPr>
        </p:nvGraphicFramePr>
        <p:xfrm>
          <a:off x="753470" y="1390270"/>
          <a:ext cx="8932460" cy="3825989"/>
        </p:xfrm>
        <a:graphic>
          <a:graphicData uri="http://schemas.openxmlformats.org/drawingml/2006/table">
            <a:tbl>
              <a:tblPr firstRow="1" bandRow="1">
                <a:tableStyleId>{2D5ABB26-0587-4C30-8999-92F81FD0307C}</a:tableStyleId>
              </a:tblPr>
              <a:tblGrid>
                <a:gridCol w="2164252">
                  <a:extLst>
                    <a:ext uri="{9D8B030D-6E8A-4147-A177-3AD203B41FA5}">
                      <a16:colId xmlns:a16="http://schemas.microsoft.com/office/drawing/2014/main" val="2740024814"/>
                    </a:ext>
                  </a:extLst>
                </a:gridCol>
                <a:gridCol w="68863">
                  <a:extLst>
                    <a:ext uri="{9D8B030D-6E8A-4147-A177-3AD203B41FA5}">
                      <a16:colId xmlns:a16="http://schemas.microsoft.com/office/drawing/2014/main" val="1463361124"/>
                    </a:ext>
                  </a:extLst>
                </a:gridCol>
                <a:gridCol w="68863">
                  <a:extLst>
                    <a:ext uri="{9D8B030D-6E8A-4147-A177-3AD203B41FA5}">
                      <a16:colId xmlns:a16="http://schemas.microsoft.com/office/drawing/2014/main" val="706605420"/>
                    </a:ext>
                  </a:extLst>
                </a:gridCol>
                <a:gridCol w="2164252">
                  <a:extLst>
                    <a:ext uri="{9D8B030D-6E8A-4147-A177-3AD203B41FA5}">
                      <a16:colId xmlns:a16="http://schemas.microsoft.com/office/drawing/2014/main" val="198262972"/>
                    </a:ext>
                  </a:extLst>
                </a:gridCol>
                <a:gridCol w="68863">
                  <a:extLst>
                    <a:ext uri="{9D8B030D-6E8A-4147-A177-3AD203B41FA5}">
                      <a16:colId xmlns:a16="http://schemas.microsoft.com/office/drawing/2014/main" val="772807978"/>
                    </a:ext>
                  </a:extLst>
                </a:gridCol>
                <a:gridCol w="2164252">
                  <a:extLst>
                    <a:ext uri="{9D8B030D-6E8A-4147-A177-3AD203B41FA5}">
                      <a16:colId xmlns:a16="http://schemas.microsoft.com/office/drawing/2014/main" val="4022111454"/>
                    </a:ext>
                  </a:extLst>
                </a:gridCol>
                <a:gridCol w="68863">
                  <a:extLst>
                    <a:ext uri="{9D8B030D-6E8A-4147-A177-3AD203B41FA5}">
                      <a16:colId xmlns:a16="http://schemas.microsoft.com/office/drawing/2014/main" val="4141636639"/>
                    </a:ext>
                  </a:extLst>
                </a:gridCol>
                <a:gridCol w="2164252">
                  <a:extLst>
                    <a:ext uri="{9D8B030D-6E8A-4147-A177-3AD203B41FA5}">
                      <a16:colId xmlns:a16="http://schemas.microsoft.com/office/drawing/2014/main" val="1200875104"/>
                    </a:ext>
                  </a:extLst>
                </a:gridCol>
              </a:tblGrid>
              <a:tr h="396000">
                <a:tc>
                  <a:txBody>
                    <a:bodyPr/>
                    <a:lstStyle/>
                    <a:p>
                      <a:pPr marL="0" marR="0" lvl="0" indent="0" algn="ctr" defTabSz="783001" rtl="0" eaLnBrk="1" fontAlgn="auto" latinLnBrk="0" hangingPunct="1">
                        <a:lnSpc>
                          <a:spcPts val="1300"/>
                        </a:lnSpc>
                        <a:spcBef>
                          <a:spcPts val="0"/>
                        </a:spcBef>
                        <a:spcAft>
                          <a:spcPts val="0"/>
                        </a:spcAft>
                        <a:buClrTx/>
                        <a:buSzTx/>
                        <a:buFontTx/>
                        <a:buNone/>
                        <a:tabLst/>
                        <a:defRPr/>
                      </a:pPr>
                      <a:r>
                        <a:rPr lang="de-DE" sz="900" b="1" dirty="0">
                          <a:solidFill>
                            <a:schemeClr val="bg1"/>
                          </a:solidFill>
                        </a:rPr>
                        <a:t>Unsere Verwaltungsvergütung</a:t>
                      </a:r>
                    </a:p>
                  </a:txBody>
                  <a:tcPr marL="0" marR="0" marT="0" marB="0" anchor="ctr">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FFPB Strategie 30</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783001" rtl="0" eaLnBrk="1" fontAlgn="auto" latinLnBrk="0" hangingPunct="1">
                        <a:lnSpc>
                          <a:spcPts val="1300"/>
                        </a:lnSpc>
                        <a:spcBef>
                          <a:spcPts val="0"/>
                        </a:spcBef>
                        <a:spcAft>
                          <a:spcPts val="0"/>
                        </a:spcAft>
                        <a:buClrTx/>
                        <a:buSzTx/>
                        <a:buFontTx/>
                        <a:buNone/>
                        <a:tabLst/>
                        <a:defRPr/>
                      </a:pPr>
                      <a:r>
                        <a:rPr lang="de-DE" sz="900" b="1" dirty="0">
                          <a:solidFill>
                            <a:schemeClr val="bg1"/>
                          </a:solidFill>
                        </a:rPr>
                        <a:t>FFPB Strategie 70</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FFPB Strategie 100</a:t>
                      </a:r>
                    </a:p>
                  </a:txBody>
                  <a:tcPr marL="0" marR="0" marT="0" marB="0" anchor="ctr">
                    <a:lnL>
                      <a:noFill/>
                    </a:lnL>
                    <a:solidFill>
                      <a:schemeClr val="accent1"/>
                    </a:solidFill>
                  </a:tcPr>
                </a:tc>
                <a:extLst>
                  <a:ext uri="{0D108BD9-81ED-4DB2-BD59-A6C34878D82A}">
                    <a16:rowId xmlns:a16="http://schemas.microsoft.com/office/drawing/2014/main" val="2906314418"/>
                  </a:ext>
                </a:extLst>
              </a:tr>
              <a:tr h="2034062">
                <a:tc>
                  <a:txBody>
                    <a:bodyPr/>
                    <a:lstStyle/>
                    <a:p>
                      <a:pPr>
                        <a:lnSpc>
                          <a:spcPts val="1300"/>
                        </a:lnSpc>
                      </a:pPr>
                      <a:endParaRPr lang="de-DE" sz="900" b="1" dirty="0"/>
                    </a:p>
                    <a:p>
                      <a:pPr>
                        <a:lnSpc>
                          <a:spcPts val="1300"/>
                        </a:lnSpc>
                      </a:pPr>
                      <a:r>
                        <a:rPr lang="de-DE" sz="900" b="1" dirty="0"/>
                        <a:t>Die Belastung unserer Honorars erfolgt halbjährlich</a:t>
                      </a:r>
                    </a:p>
                    <a:p>
                      <a:pPr>
                        <a:lnSpc>
                          <a:spcPts val="1300"/>
                        </a:lnSpc>
                      </a:pPr>
                      <a:endParaRPr lang="de-DE" sz="900" b="1" dirty="0"/>
                    </a:p>
                    <a:p>
                      <a:pPr>
                        <a:lnSpc>
                          <a:spcPts val="1300"/>
                        </a:lnSpc>
                      </a:pPr>
                      <a:endParaRPr lang="de-DE" sz="900" b="1" dirty="0"/>
                    </a:p>
                    <a:p>
                      <a:pPr>
                        <a:lnSpc>
                          <a:spcPts val="1300"/>
                        </a:lnSpc>
                      </a:pPr>
                      <a:endParaRPr lang="de-DE" sz="900" b="1" dirty="0"/>
                    </a:p>
                    <a:p>
                      <a:pPr>
                        <a:lnSpc>
                          <a:spcPts val="1300"/>
                        </a:lnSpc>
                      </a:pPr>
                      <a:endParaRPr lang="de-DE" sz="900" b="1" dirty="0"/>
                    </a:p>
                    <a:p>
                      <a:pPr>
                        <a:lnSpc>
                          <a:spcPts val="1300"/>
                        </a:lnSpc>
                      </a:pPr>
                      <a:endParaRPr lang="de-DE" sz="900" b="1" dirty="0"/>
                    </a:p>
                    <a:p>
                      <a:pPr>
                        <a:lnSpc>
                          <a:spcPts val="1300"/>
                        </a:lnSpc>
                      </a:pPr>
                      <a:endParaRPr lang="de-DE" sz="900" b="1" dirty="0"/>
                    </a:p>
                    <a:p>
                      <a:pPr>
                        <a:lnSpc>
                          <a:spcPts val="1300"/>
                        </a:lnSpc>
                      </a:pPr>
                      <a:endParaRPr lang="de-DE" sz="900" b="1" dirty="0"/>
                    </a:p>
                    <a:p>
                      <a:pPr>
                        <a:lnSpc>
                          <a:spcPts val="1300"/>
                        </a:lnSpc>
                      </a:pPr>
                      <a:r>
                        <a:rPr lang="de-DE" sz="900" b="1" dirty="0"/>
                        <a:t>Transaktionsgebühren Depotbank</a:t>
                      </a:r>
                    </a:p>
                  </a:txBody>
                  <a:tcPr marL="72000" marR="72000" marT="108000" marB="108000">
                    <a:lnR>
                      <a:noFill/>
                    </a:lnR>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spcAft>
                          <a:spcPts val="700"/>
                        </a:spcAft>
                      </a:pPr>
                      <a:r>
                        <a:rPr lang="de-DE" sz="900" b="1" dirty="0"/>
                        <a:t>Jährlich</a:t>
                      </a:r>
                    </a:p>
                    <a:p>
                      <a:pPr algn="ctr">
                        <a:lnSpc>
                          <a:spcPts val="1300"/>
                        </a:lnSpc>
                      </a:pPr>
                      <a:r>
                        <a:rPr lang="de-DE" sz="900" dirty="0"/>
                        <a:t>1,20 % netto des  </a:t>
                      </a:r>
                    </a:p>
                    <a:p>
                      <a:pPr algn="ctr">
                        <a:lnSpc>
                          <a:spcPts val="1300"/>
                        </a:lnSpc>
                      </a:pPr>
                      <a:r>
                        <a:rPr lang="de-DE" sz="900" dirty="0"/>
                        <a:t>verwalteten Vermögens  </a:t>
                      </a:r>
                    </a:p>
                    <a:p>
                      <a:pPr algn="ctr">
                        <a:lnSpc>
                          <a:spcPts val="1300"/>
                        </a:lnSpc>
                      </a:pPr>
                      <a:r>
                        <a:rPr lang="de-DE" sz="900" dirty="0"/>
                        <a:t>= 1,43 %* brutto</a:t>
                      </a:r>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200" dirty="0"/>
                    </a:p>
                    <a:p>
                      <a:pPr algn="ctr">
                        <a:lnSpc>
                          <a:spcPts val="1300"/>
                        </a:lnSpc>
                      </a:pPr>
                      <a:r>
                        <a:rPr lang="de-DE" sz="900" dirty="0"/>
                        <a:t>0,25% pro Einzelordervolumen (mindestens 10 Euro max. 90 Euro) - bei einem Depot-Volumen unter 280.000 Euro</a:t>
                      </a:r>
                    </a:p>
                    <a:p>
                      <a:pPr algn="ctr">
                        <a:lnSpc>
                          <a:spcPts val="1300"/>
                        </a:lnSpc>
                      </a:pPr>
                      <a:endParaRPr lang="de-DE" sz="900" dirty="0"/>
                    </a:p>
                    <a:p>
                      <a:pPr algn="ctr">
                        <a:lnSpc>
                          <a:spcPts val="1300"/>
                        </a:lnSpc>
                      </a:pPr>
                      <a:r>
                        <a:rPr lang="de-DE" sz="900" dirty="0"/>
                        <a:t>Alternativ: 0,10% pro Einzelordervolumen (mindestens 35 Euro max. 90 Euro) - bei einem Depot-Volumen über 280.000 Euro</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spcAft>
                          <a:spcPts val="700"/>
                        </a:spcAft>
                      </a:pPr>
                      <a:r>
                        <a:rPr lang="de-DE" sz="900" b="1" dirty="0"/>
                        <a:t>Jährlich</a:t>
                      </a:r>
                    </a:p>
                    <a:p>
                      <a:pPr algn="ctr">
                        <a:lnSpc>
                          <a:spcPts val="1300"/>
                        </a:lnSpc>
                      </a:pPr>
                      <a:r>
                        <a:rPr lang="de-DE" sz="900" dirty="0"/>
                        <a:t>1,40 % netto des  </a:t>
                      </a:r>
                    </a:p>
                    <a:p>
                      <a:pPr algn="ctr">
                        <a:lnSpc>
                          <a:spcPts val="1300"/>
                        </a:lnSpc>
                      </a:pPr>
                      <a:r>
                        <a:rPr lang="de-DE" sz="900" dirty="0"/>
                        <a:t>verwalteten Vermögens  </a:t>
                      </a:r>
                    </a:p>
                    <a:p>
                      <a:pPr algn="ctr">
                        <a:lnSpc>
                          <a:spcPts val="1300"/>
                        </a:lnSpc>
                      </a:pPr>
                      <a:r>
                        <a:rPr lang="de-DE" sz="900" dirty="0"/>
                        <a:t>= 1,67 %* brutto</a:t>
                      </a:r>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r>
                        <a:rPr lang="de-DE" sz="900" dirty="0"/>
                        <a:t>0,25% pro Einzelordervolumen (mindestens 10 Euro max. 90 Euro) - bei einem Depot-Volumen unter 280.000 Euro</a:t>
                      </a:r>
                    </a:p>
                    <a:p>
                      <a:pPr algn="ctr">
                        <a:lnSpc>
                          <a:spcPts val="1300"/>
                        </a:lnSpc>
                      </a:pPr>
                      <a:endParaRPr lang="de-DE" sz="900" dirty="0"/>
                    </a:p>
                    <a:p>
                      <a:pPr algn="ctr">
                        <a:lnSpc>
                          <a:spcPts val="1300"/>
                        </a:lnSpc>
                      </a:pPr>
                      <a:r>
                        <a:rPr lang="de-DE" sz="900" dirty="0"/>
                        <a:t>Alternativ: 0,10% pro Einzelordervolumen (mindestens 35 Euro max. 90 Euro) - bei einem Depot-Volumen über 280.000 Euro</a:t>
                      </a:r>
                    </a:p>
                    <a:p>
                      <a:pPr algn="ctr">
                        <a:lnSpc>
                          <a:spcPts val="1300"/>
                        </a:lnSpc>
                      </a:pPr>
                      <a:endParaRPr lang="de-DE" sz="900" dirty="0"/>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spcAft>
                          <a:spcPts val="700"/>
                        </a:spcAft>
                      </a:pPr>
                      <a:r>
                        <a:rPr lang="de-DE" sz="900" b="1" dirty="0"/>
                        <a:t>Jährlich</a:t>
                      </a:r>
                    </a:p>
                    <a:p>
                      <a:pPr algn="ctr">
                        <a:lnSpc>
                          <a:spcPts val="1300"/>
                        </a:lnSpc>
                      </a:pPr>
                      <a:r>
                        <a:rPr lang="de-DE" sz="900" dirty="0"/>
                        <a:t>1,60 % netto des  </a:t>
                      </a:r>
                    </a:p>
                    <a:p>
                      <a:pPr algn="ctr">
                        <a:lnSpc>
                          <a:spcPts val="1300"/>
                        </a:lnSpc>
                      </a:pPr>
                      <a:r>
                        <a:rPr lang="de-DE" sz="900" dirty="0"/>
                        <a:t>verwalteten Vermögens  </a:t>
                      </a:r>
                    </a:p>
                    <a:p>
                      <a:pPr algn="ctr">
                        <a:lnSpc>
                          <a:spcPts val="1300"/>
                        </a:lnSpc>
                      </a:pPr>
                      <a:r>
                        <a:rPr lang="de-DE" sz="900" dirty="0"/>
                        <a:t>= 1,90 %* brutto</a:t>
                      </a:r>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r>
                        <a:rPr lang="de-DE" sz="900" dirty="0"/>
                        <a:t>0,25% pro Einzelordervolumen (mindestens 10 Euro max. 90 Euro) - bei einem Depot-Volumen unter 280.000 Euro</a:t>
                      </a:r>
                    </a:p>
                    <a:p>
                      <a:pPr algn="ctr">
                        <a:lnSpc>
                          <a:spcPts val="1300"/>
                        </a:lnSpc>
                      </a:pPr>
                      <a:endParaRPr lang="de-DE" sz="900" dirty="0"/>
                    </a:p>
                    <a:p>
                      <a:pPr algn="ctr">
                        <a:lnSpc>
                          <a:spcPts val="1300"/>
                        </a:lnSpc>
                      </a:pPr>
                      <a:r>
                        <a:rPr lang="de-DE" sz="900" dirty="0"/>
                        <a:t>Alternativ: 0,10% pro Einzelordervolumen (mindestens 35 Euro max. 90 Euro) - bei einem Depot-Volumen über 280.000 Euro</a:t>
                      </a:r>
                    </a:p>
                    <a:p>
                      <a:pPr algn="ctr">
                        <a:lnSpc>
                          <a:spcPts val="1300"/>
                        </a:lnSpc>
                      </a:pPr>
                      <a:endParaRPr lang="de-DE" sz="900" dirty="0"/>
                    </a:p>
                  </a:txBody>
                  <a:tcPr marL="0" marR="0" marT="108000" marB="108000">
                    <a:lnL>
                      <a:noFill/>
                    </a:lnL>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423514167"/>
                  </a:ext>
                </a:extLst>
              </a:tr>
            </a:tbl>
          </a:graphicData>
        </a:graphic>
      </p:graphicFrame>
      <p:sp>
        <p:nvSpPr>
          <p:cNvPr id="5" name="Quelle">
            <a:extLst>
              <a:ext uri="{FF2B5EF4-FFF2-40B4-BE49-F238E27FC236}">
                <a16:creationId xmlns:a16="http://schemas.microsoft.com/office/drawing/2014/main" id="{2055E749-4AB3-6A0F-3406-AB7D5FB190FC}"/>
              </a:ext>
            </a:extLst>
          </p:cNvPr>
          <p:cNvSpPr txBox="1"/>
          <p:nvPr/>
        </p:nvSpPr>
        <p:spPr>
          <a:xfrm>
            <a:off x="753470" y="5415601"/>
            <a:ext cx="5963335" cy="116057"/>
          </a:xfrm>
          <a:prstGeom prst="rect">
            <a:avLst/>
          </a:prstGeom>
          <a:noFill/>
        </p:spPr>
        <p:txBody>
          <a:bodyPr wrap="square" lIns="0" tIns="0" rIns="0" bIns="0" rtlCol="0">
            <a:spAutoFit/>
          </a:bodyPr>
          <a:lstStyle/>
          <a:p>
            <a:pPr>
              <a:lnSpc>
                <a:spcPts val="1000"/>
              </a:lnSpc>
            </a:pPr>
            <a:r>
              <a:rPr lang="de-DE" sz="600" dirty="0">
                <a:solidFill>
                  <a:schemeClr val="tx1">
                    <a:lumMod val="50000"/>
                    <a:lumOff val="50000"/>
                  </a:schemeClr>
                </a:solidFill>
              </a:rPr>
              <a:t>*inklusive 19 % gesetzliche Umsatzsteuer</a:t>
            </a:r>
          </a:p>
        </p:txBody>
      </p:sp>
    </p:spTree>
    <p:extLst>
      <p:ext uri="{BB962C8B-B14F-4D97-AF65-F5344CB8AC3E}">
        <p14:creationId xmlns:p14="http://schemas.microsoft.com/office/powerpoint/2010/main" val="31352868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15</a:t>
            </a:fld>
            <a:endParaRPr lang="de-DE"/>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Steuerlicher Hinweis zum Honorar</a:t>
            </a:r>
          </a:p>
        </p:txBody>
      </p:sp>
      <p:sp>
        <p:nvSpPr>
          <p:cNvPr id="8" name="Text 1">
            <a:extLst>
              <a:ext uri="{FF2B5EF4-FFF2-40B4-BE49-F238E27FC236}">
                <a16:creationId xmlns:a16="http://schemas.microsoft.com/office/drawing/2014/main" id="{3202C050-C091-696A-2180-76024B7BC3C0}"/>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Die anfallenden Transaktionskosten im Rahmen der Vermögensverwaltung werden in den allgemeinen Verlustverrechnungstopf eingestellt, damit erfolgt automatisch die Verrechnung mit Ihren abgeltungssteuerpflichtigen Erträgen und damit eine Steuerminderung. </a:t>
            </a:r>
          </a:p>
        </p:txBody>
      </p:sp>
      <p:sp>
        <p:nvSpPr>
          <p:cNvPr id="14" name="Text 1">
            <a:extLst>
              <a:ext uri="{FF2B5EF4-FFF2-40B4-BE49-F238E27FC236}">
                <a16:creationId xmlns:a16="http://schemas.microsoft.com/office/drawing/2014/main" id="{C794E5D2-FEC0-5D64-F611-5B08C6B01664}"/>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Mit der Einführung der Abgeltungssteuer zum 1.Januar 2009 sind Werbungskosten bei der Ermittlung von Einkünften aus Kapitalvermögen grundsätzlich nicht mehr abzugsfähig. Hingegen wirken sich Anschaffungsnebenkosten und Veräußerungskosten steuermindernd aus.</a:t>
            </a:r>
            <a:br>
              <a:rPr lang="de-DE" dirty="0"/>
            </a:br>
            <a:endParaRPr lang="de-DE" dirty="0"/>
          </a:p>
          <a:p>
            <a:pPr lvl="2"/>
            <a:endParaRPr lang="de-DE" dirty="0"/>
          </a:p>
        </p:txBody>
      </p:sp>
    </p:spTree>
    <p:extLst>
      <p:ext uri="{BB962C8B-B14F-4D97-AF65-F5344CB8AC3E}">
        <p14:creationId xmlns:p14="http://schemas.microsoft.com/office/powerpoint/2010/main" val="23963615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E5AB73C8-63DD-B360-5A7F-E1758BA253F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16</a:t>
            </a:fld>
            <a:endParaRPr lang="de-DE"/>
          </a:p>
        </p:txBody>
      </p:sp>
      <p:sp>
        <p:nvSpPr>
          <p:cNvPr id="3" name="Text">
            <a:extLst>
              <a:ext uri="{FF2B5EF4-FFF2-40B4-BE49-F238E27FC236}">
                <a16:creationId xmlns:a16="http://schemas.microsoft.com/office/drawing/2014/main" id="{24FD612B-4314-DFD5-B833-7F27A3B852EB}"/>
              </a:ext>
            </a:extLst>
          </p:cNvPr>
          <p:cNvSpPr>
            <a:spLocks noGrp="1" noRot="1" noMove="1" noResize="1" noEditPoints="1" noAdjustHandles="1" noChangeArrowheads="1" noChangeShapeType="1"/>
          </p:cNvSpPr>
          <p:nvPr>
            <p:ph idx="1"/>
          </p:nvPr>
        </p:nvSpPr>
        <p:spPr/>
        <p:txBody>
          <a:bodyPr/>
          <a:lstStyle/>
          <a:p>
            <a:r>
              <a:rPr lang="de-DE" dirty="0"/>
              <a:t>Langfristiger Vermögenserhalt</a:t>
            </a:r>
          </a:p>
          <a:p>
            <a:pPr lvl="2"/>
            <a:r>
              <a:rPr lang="de-DE" dirty="0"/>
              <a:t>Langfristiger Vermögenserhalt durch ein realistisches Rendite-Risiko-Verhältnis mit einem konservativen Investmentansatz und dem Verzicht auf Aktionismus.</a:t>
            </a:r>
          </a:p>
          <a:p>
            <a:r>
              <a:rPr lang="de-DE" dirty="0"/>
              <a:t>Regelmäßiger Kundendialog</a:t>
            </a:r>
          </a:p>
          <a:p>
            <a:pPr lvl="2"/>
            <a:r>
              <a:rPr lang="de-DE" dirty="0"/>
              <a:t>Transparenz durch weitgehende Fokussierung auf Einzel-titel, aussagekräftige Portfolioberichte und den regel-mäßigen partnerschaftlichen Dialog mit unseren Kunden.</a:t>
            </a:r>
          </a:p>
          <a:p>
            <a:r>
              <a:rPr lang="de-DE" dirty="0"/>
              <a:t>Unabhängiges Investment</a:t>
            </a:r>
          </a:p>
          <a:p>
            <a:pPr lvl="2"/>
            <a:r>
              <a:rPr lang="de-DE" dirty="0"/>
              <a:t>Unabhängigkeit durch den Verzicht auf den Einsatz eigener Produkte.</a:t>
            </a:r>
          </a:p>
          <a:p>
            <a:r>
              <a:rPr lang="de-DE" dirty="0"/>
              <a:t>Breite Risikostreuung</a:t>
            </a:r>
          </a:p>
          <a:p>
            <a:pPr lvl="2"/>
            <a:r>
              <a:rPr lang="de-DE" dirty="0"/>
              <a:t>Risikostreuung durch Diversifizierung von Anlageklassen, Branchen, Regionen und Währungen.</a:t>
            </a:r>
          </a:p>
          <a:p>
            <a:r>
              <a:rPr lang="de-DE" dirty="0"/>
              <a:t>Zusammenspiel aus Erfahrung und geprüften Analyseinstrumenten</a:t>
            </a:r>
          </a:p>
          <a:p>
            <a:pPr lvl="2"/>
            <a:r>
              <a:rPr lang="de-DE" dirty="0"/>
              <a:t>Professionalität durch den Einsatz moderner fundamentaler und quantitativer Analyseinstrumente und erfahrener Mitarbeiter als Entscheidungsträger.</a:t>
            </a:r>
          </a:p>
        </p:txBody>
      </p:sp>
      <p:sp>
        <p:nvSpPr>
          <p:cNvPr id="4" name="Titel">
            <a:extLst>
              <a:ext uri="{FF2B5EF4-FFF2-40B4-BE49-F238E27FC236}">
                <a16:creationId xmlns:a16="http://schemas.microsoft.com/office/drawing/2014/main" id="{E12E245F-B51F-131E-6109-E14B015469E8}"/>
              </a:ext>
            </a:extLst>
          </p:cNvPr>
          <p:cNvSpPr>
            <a:spLocks noGrp="1" noRot="1" noMove="1" noResize="1" noEditPoints="1" noAdjustHandles="1" noChangeArrowheads="1" noChangeShapeType="1"/>
          </p:cNvSpPr>
          <p:nvPr>
            <p:ph type="title"/>
          </p:nvPr>
        </p:nvSpPr>
        <p:spPr/>
        <p:txBody>
          <a:bodyPr/>
          <a:lstStyle/>
          <a:p>
            <a:r>
              <a:rPr lang="de-DE" dirty="0"/>
              <a:t>Unsere Investmentphilosophie</a:t>
            </a:r>
          </a:p>
        </p:txBody>
      </p:sp>
    </p:spTree>
    <p:extLst>
      <p:ext uri="{BB962C8B-B14F-4D97-AF65-F5344CB8AC3E}">
        <p14:creationId xmlns:p14="http://schemas.microsoft.com/office/powerpoint/2010/main" val="39586801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4B23C-4952-B118-10C4-11038750BE1D}"/>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4507B016-EA07-C819-C973-1AD0148C4D5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17</a:t>
            </a:fld>
            <a:endParaRPr lang="de-DE" dirty="0"/>
          </a:p>
        </p:txBody>
      </p:sp>
      <p:sp>
        <p:nvSpPr>
          <p:cNvPr id="3" name="Text">
            <a:extLst>
              <a:ext uri="{FF2B5EF4-FFF2-40B4-BE49-F238E27FC236}">
                <a16:creationId xmlns:a16="http://schemas.microsoft.com/office/drawing/2014/main" id="{C062E8D2-57BE-4760-1DDE-D04E35D3BC15}"/>
              </a:ext>
            </a:extLst>
          </p:cNvPr>
          <p:cNvSpPr>
            <a:spLocks noGrp="1"/>
          </p:cNvSpPr>
          <p:nvPr>
            <p:ph idx="1"/>
          </p:nvPr>
        </p:nvSpPr>
        <p:spPr>
          <a:xfrm>
            <a:off x="1187448" y="1411638"/>
            <a:ext cx="4293128" cy="4420838"/>
          </a:xfrm>
        </p:spPr>
        <p:txBody>
          <a:bodyPr/>
          <a:lstStyle/>
          <a:p>
            <a:r>
              <a:rPr lang="de-DE" dirty="0"/>
              <a:t>Die optimale Vermögensverwaltungsstrategie</a:t>
            </a:r>
          </a:p>
          <a:p>
            <a:pPr lvl="2"/>
            <a:r>
              <a:rPr lang="de-DE" dirty="0"/>
              <a:t>Gemeinsame Festlegung der für Sie optimalen Vermögens-</a:t>
            </a:r>
            <a:r>
              <a:rPr lang="de-DE" dirty="0" err="1"/>
              <a:t>verwaltungsstrategie</a:t>
            </a:r>
            <a:r>
              <a:rPr lang="de-DE" dirty="0"/>
              <a:t> auf Basis einer Analyse Ihrer aktuellen Vermögensstruktur, Ihren individuellen Rendite-Risiko-präferenzen, Ihrem angestrebten Anlagehorizont und Ihren Anlagezielen.</a:t>
            </a:r>
          </a:p>
          <a:p>
            <a:pPr lvl="2"/>
            <a:r>
              <a:rPr lang="de-DE" dirty="0"/>
              <a:t>Allokation Ihres gewünschten Anlagebetrages in die von Ihnen gewählte Anlagestrategie und laufende Steuerung und Überwachung.</a:t>
            </a:r>
          </a:p>
          <a:p>
            <a:r>
              <a:rPr lang="de-DE" dirty="0"/>
              <a:t>Ganzheitliches Risikomanagement</a:t>
            </a:r>
          </a:p>
          <a:p>
            <a:pPr lvl="2"/>
            <a:r>
              <a:rPr lang="de-DE" dirty="0"/>
              <a:t>Laufende strategische und taktische Anpassung der Asset-Allokation Ihres Vermögensverwaltungsportfolios auf Basis makroökonomischer und betriebswirtschaftlicher Daten im Rahmen der vereinbarten Anlagerichtlinien. Unsere Anlageentscheidungen treffen wir vor allem auf der Basis fundamentaler Einschätzungen unserer erfahrenen Mitarbeiter in den Vermögensverwaltungsgremien und flankieren diese durch quantitative Analyseinstrumente. Besonderen Wert legen wir hierbei auf unser ganzheitliches Risikomanagement.</a:t>
            </a:r>
          </a:p>
          <a:p>
            <a:pPr lvl="2"/>
            <a:r>
              <a:rPr lang="de-DE" dirty="0"/>
              <a:t>Kontinuierliche Informationen über die Wertentwicklung Ihres Portfolios auf Basis regelmäßiger Berichte und persönlicher Gespräche.</a:t>
            </a:r>
          </a:p>
        </p:txBody>
      </p:sp>
      <p:sp>
        <p:nvSpPr>
          <p:cNvPr id="4" name="Titel">
            <a:extLst>
              <a:ext uri="{FF2B5EF4-FFF2-40B4-BE49-F238E27FC236}">
                <a16:creationId xmlns:a16="http://schemas.microsoft.com/office/drawing/2014/main" id="{5B40CA86-9E97-426C-F695-509278588661}"/>
              </a:ext>
            </a:extLst>
          </p:cNvPr>
          <p:cNvSpPr>
            <a:spLocks noGrp="1" noRot="1" noMove="1" noResize="1" noEditPoints="1" noAdjustHandles="1" noChangeArrowheads="1" noChangeShapeType="1"/>
          </p:cNvSpPr>
          <p:nvPr>
            <p:ph type="title"/>
          </p:nvPr>
        </p:nvSpPr>
        <p:spPr/>
        <p:txBody>
          <a:bodyPr/>
          <a:lstStyle/>
          <a:p>
            <a:r>
              <a:rPr lang="de-DE" dirty="0"/>
              <a:t>Unser Investmentprozess</a:t>
            </a:r>
          </a:p>
        </p:txBody>
      </p:sp>
    </p:spTree>
    <p:extLst>
      <p:ext uri="{BB962C8B-B14F-4D97-AF65-F5344CB8AC3E}">
        <p14:creationId xmlns:p14="http://schemas.microsoft.com/office/powerpoint/2010/main" val="2889263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18</a:t>
            </a:fld>
            <a:endParaRPr lang="de-DE"/>
          </a:p>
        </p:txBody>
      </p:sp>
      <p:sp>
        <p:nvSpPr>
          <p:cNvPr id="11" name="Text 3">
            <a:extLst>
              <a:ext uri="{FF2B5EF4-FFF2-40B4-BE49-F238E27FC236}">
                <a16:creationId xmlns:a16="http://schemas.microsoft.com/office/drawing/2014/main" id="{E721D5B7-2B6D-2367-6C3B-B7F2BC41399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r>
              <a:rPr lang="de-DE" dirty="0"/>
              <a:t>Zinsänderungsrisiko</a:t>
            </a:r>
          </a:p>
          <a:p>
            <a:pPr lvl="1"/>
            <a:r>
              <a:rPr lang="de-DE" dirty="0"/>
              <a:t>Stark steigende Zinsen können den Wert eines bestehenden Anleiheportfolios temporär stark reduzieren. Durch ein professionelles und </a:t>
            </a:r>
            <a:r>
              <a:rPr lang="de-DE" dirty="0" err="1"/>
              <a:t>ak-tives</a:t>
            </a:r>
            <a:r>
              <a:rPr lang="de-DE" dirty="0"/>
              <a:t> Laufzeitenmanagement streben wir eine deutliche Verringerung dieses Risikos an. </a:t>
            </a:r>
          </a:p>
          <a:p>
            <a:r>
              <a:rPr lang="de-DE" dirty="0"/>
              <a:t>Liquiditätsrisiko</a:t>
            </a:r>
          </a:p>
          <a:p>
            <a:pPr lvl="1"/>
            <a:r>
              <a:rPr lang="de-DE" dirty="0"/>
              <a:t>Das Liquiditätsrisiko schließen wir aus, indem wir ausschließlich in liquide Anlagen </a:t>
            </a:r>
            <a:r>
              <a:rPr lang="de-DE" dirty="0" err="1"/>
              <a:t>investie-ren</a:t>
            </a:r>
            <a:r>
              <a:rPr lang="de-DE" dirty="0"/>
              <a:t>. Geschlossene oder beschränkt verfügbare Produkte werden nicht erworben. </a:t>
            </a:r>
          </a:p>
        </p:txBody>
      </p:sp>
      <p:sp>
        <p:nvSpPr>
          <p:cNvPr id="4" name="Text 2">
            <a:extLst>
              <a:ext uri="{FF2B5EF4-FFF2-40B4-BE49-F238E27FC236}">
                <a16:creationId xmlns:a16="http://schemas.microsoft.com/office/drawing/2014/main" id="{3043CE18-576B-2D06-5DFA-D88278972F54}"/>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r>
              <a:rPr lang="de-DE" dirty="0"/>
              <a:t>Bonitäts-/Emittentenrisiko</a:t>
            </a:r>
          </a:p>
          <a:p>
            <a:pPr lvl="1"/>
            <a:r>
              <a:rPr lang="de-DE" dirty="0"/>
              <a:t>Bei Anleihen guter Bonität kann mit hoher Wahrscheinlichkeit davon ausgegangen wer-den, dass diese bei Laufzeitende vollständig zu-rückgezahlt werden. Daher achten wir auf gute Ratingeinstufungen der Anleiheemittenten. Weil es aber immer wieder vorkommt, dass die Bonität eines Emittenten sich verschlechtert, ohne dass dies rechtzeitig von den Rating-agenturen erkannt und bekanntgegeben wird, bilden wir uns auch ein eigens Urteil im Rah-</a:t>
            </a:r>
            <a:r>
              <a:rPr lang="de-DE" dirty="0" err="1"/>
              <a:t>men</a:t>
            </a:r>
            <a:r>
              <a:rPr lang="de-DE" dirty="0"/>
              <a:t> einer kontinuierlichen Überwachung der Emittenten durch unsere Anleihespezialisten. </a:t>
            </a:r>
          </a:p>
          <a:p>
            <a:r>
              <a:rPr lang="de-DE" dirty="0"/>
              <a:t>Währungsrisiko</a:t>
            </a:r>
          </a:p>
          <a:p>
            <a:pPr lvl="1"/>
            <a:r>
              <a:rPr lang="de-DE" dirty="0"/>
              <a:t>Das Einzelwährungsrisiko reduzieren wir durch eine breite und global orientierte </a:t>
            </a:r>
            <a:r>
              <a:rPr lang="de-DE" dirty="0" err="1"/>
              <a:t>Diversifizie-rung</a:t>
            </a:r>
            <a:r>
              <a:rPr lang="de-DE" dirty="0"/>
              <a:t>. </a:t>
            </a:r>
          </a:p>
        </p:txBody>
      </p:sp>
      <p:sp>
        <p:nvSpPr>
          <p:cNvPr id="5" name="Text 1">
            <a:extLst>
              <a:ext uri="{FF2B5EF4-FFF2-40B4-BE49-F238E27FC236}">
                <a16:creationId xmlns:a16="http://schemas.microsoft.com/office/drawing/2014/main" id="{E998F134-05AB-FCF7-7224-9CAA4D134CE5}"/>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r>
              <a:rPr lang="de-DE" dirty="0"/>
              <a:t>Kursänderungsrisiko</a:t>
            </a:r>
          </a:p>
          <a:p>
            <a:pPr lvl="1"/>
            <a:r>
              <a:rPr lang="de-DE" dirty="0"/>
              <a:t>Wertschwankungen eines Portfolios können niemals ausgeschlossen werden, weil Wertpapiermärkte typischerweise durch ihre Volatilität geprägt sind. Die Schwankungen können aber gemildert werden durch eine sorgfältige Einzeltitelauswahl und einer breiten Streuung. In turbulenten Marktphasen ist es wichtig, einen kühlen Kopf zu bewahren. Absicherungsmaßnahmen und vor allem eine aktive Steuerung der Investitionsquoten können Schwankungen reduzieren, Chancen können aber nur wahrgenommen werden, wenn man in einer Erholungsphase entsprechend investiert ist. Für eine sorgfältige Steuerung sind weder übertriebene Furcht noch Gier hilfreich, vielmehr braucht es Augen-maß und vor allem sehr viel Erfahrung und die professionelle Anwendung einer breiten Palette moderner Risikomanagement-instrumente.</a:t>
            </a:r>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Unser Risikomanagement</a:t>
            </a:r>
          </a:p>
        </p:txBody>
      </p:sp>
    </p:spTree>
    <p:extLst>
      <p:ext uri="{BB962C8B-B14F-4D97-AF65-F5344CB8AC3E}">
        <p14:creationId xmlns:p14="http://schemas.microsoft.com/office/powerpoint/2010/main" val="30897898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1F6443-B286-D081-D271-BC363530CE57}"/>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graphicFrame>
        <p:nvGraphicFramePr>
          <p:cNvPr id="6" name="Tabelle">
            <a:extLst>
              <a:ext uri="{FF2B5EF4-FFF2-40B4-BE49-F238E27FC236}">
                <a16:creationId xmlns:a16="http://schemas.microsoft.com/office/drawing/2014/main" id="{254E7761-68C2-F358-6C12-E31D307F6055}"/>
              </a:ext>
            </a:extLst>
          </p:cNvPr>
          <p:cNvGraphicFramePr>
            <a:graphicFrameLocks noGrp="1"/>
          </p:cNvGraphicFramePr>
          <p:nvPr>
            <p:ph idx="13"/>
            <p:extLst>
              <p:ext uri="{D42A27DB-BD31-4B8C-83A1-F6EECF244321}">
                <p14:modId xmlns:p14="http://schemas.microsoft.com/office/powerpoint/2010/main" val="3851782016"/>
              </p:ext>
            </p:extLst>
          </p:nvPr>
        </p:nvGraphicFramePr>
        <p:xfrm>
          <a:off x="3671888" y="1041400"/>
          <a:ext cx="6458309" cy="3708000"/>
        </p:xfrm>
        <a:graphic>
          <a:graphicData uri="http://schemas.openxmlformats.org/drawingml/2006/table">
            <a:tbl>
              <a:tblPr firstRow="1" bandRow="1">
                <a:tableStyleId>{69012ECD-51FC-41F1-AA8D-1B2483CD663E}</a:tableStyleId>
              </a:tblPr>
              <a:tblGrid>
                <a:gridCol w="246600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39420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anlageklasse</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err="1">
                          <a:solidFill>
                            <a:schemeClr val="bg1"/>
                          </a:solidFill>
                        </a:rPr>
                        <a:t>anlagelösungen</a:t>
                      </a:r>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360000">
                <a:tc>
                  <a:txBody>
                    <a:bodyPr/>
                    <a:lstStyle/>
                    <a:p>
                      <a:r>
                        <a:rPr lang="de-DE" sz="900" b="0" dirty="0"/>
                        <a:t>Liquidität</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a:spcAft>
                          <a:spcPts val="600"/>
                        </a:spcAft>
                        <a:buFontTx/>
                        <a:buBlip>
                          <a:blip r:embed="rId2"/>
                        </a:buBlip>
                      </a:pPr>
                      <a:r>
                        <a:rPr lang="de-DE" sz="900" b="0" dirty="0"/>
                        <a:t>Kontoguthaben</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0595349"/>
                  </a:ext>
                </a:extLst>
              </a:tr>
              <a:tr h="1404000">
                <a:tc>
                  <a:txBody>
                    <a:bodyPr/>
                    <a:lstStyle/>
                    <a:p>
                      <a:r>
                        <a:rPr lang="de-DE" sz="900" b="0" dirty="0"/>
                        <a:t>Anleihen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Staatsanleihen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Pfandbriefe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Unternehmensanleihen/ Bankenanleihen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Strukturierte 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5848646"/>
                  </a:ext>
                </a:extLst>
              </a:tr>
              <a:tr h="756000">
                <a:tc>
                  <a:txBody>
                    <a:bodyPr/>
                    <a:lstStyle/>
                    <a:p>
                      <a:r>
                        <a:rPr lang="de-DE" sz="900" b="0" dirty="0"/>
                        <a:t>Aktien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Einzeltitel</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2306334"/>
                  </a:ext>
                </a:extLst>
              </a:tr>
              <a:tr h="576000">
                <a:tc>
                  <a:txBody>
                    <a:bodyPr/>
                    <a:lstStyle/>
                    <a:p>
                      <a:r>
                        <a:rPr lang="de-DE" sz="900" b="0" dirty="0"/>
                        <a:t>Risikoadjustierte Produkte </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Discountzertifikate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Aktienanleihen </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3228351"/>
                  </a:ext>
                </a:extLst>
              </a:tr>
              <a:tr h="396000">
                <a:tc>
                  <a:txBody>
                    <a:bodyPr/>
                    <a:lstStyle/>
                    <a:p>
                      <a:r>
                        <a:rPr lang="de-DE" sz="900" b="0" dirty="0"/>
                        <a:t>Edelmetalle</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ETCs auf Edelmetalle</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914861"/>
                  </a:ext>
                </a:extLst>
              </a:tr>
            </a:tbl>
          </a:graphicData>
        </a:graphic>
      </p:graphicFrame>
      <p:sp>
        <p:nvSpPr>
          <p:cNvPr id="4" name="Text">
            <a:extLst>
              <a:ext uri="{FF2B5EF4-FFF2-40B4-BE49-F238E27FC236}">
                <a16:creationId xmlns:a16="http://schemas.microsoft.com/office/drawing/2014/main" id="{163A3452-6B15-0579-2A3C-DEE1D79CEEDF}"/>
              </a:ext>
            </a:extLst>
          </p:cNvPr>
          <p:cNvSpPr>
            <a:spLocks noGrp="1" noRot="1" noMove="1" noResize="1" noEditPoints="1" noAdjustHandles="1" noChangeArrowheads="1" noChangeShapeType="1"/>
          </p:cNvSpPr>
          <p:nvPr>
            <p:ph idx="1"/>
          </p:nvPr>
        </p:nvSpPr>
        <p:spPr/>
        <p:txBody>
          <a:bodyPr/>
          <a:lstStyle/>
          <a:p>
            <a:pPr lvl="2"/>
            <a:r>
              <a:rPr lang="de-DE" dirty="0"/>
              <a:t>Die Kombination verschiedener </a:t>
            </a:r>
            <a:r>
              <a:rPr lang="de-DE" dirty="0" err="1"/>
              <a:t>Anlageklas-sen</a:t>
            </a:r>
            <a:r>
              <a:rPr lang="de-DE" dirty="0"/>
              <a:t> – je nach individueller Risikobereitschaft –ermöglicht eine valide Portfoliodiversifikation, mit dem Ziel, auftretenden Marktvolatilitäten entgegenzuwirken. Dies kann durch unter-schiedliche Finanzinstrumente erfolgen.</a:t>
            </a:r>
          </a:p>
        </p:txBody>
      </p:sp>
      <p:sp>
        <p:nvSpPr>
          <p:cNvPr id="5" name="Titel">
            <a:extLst>
              <a:ext uri="{FF2B5EF4-FFF2-40B4-BE49-F238E27FC236}">
                <a16:creationId xmlns:a16="http://schemas.microsoft.com/office/drawing/2014/main" id="{A2638D9C-D791-60AF-4096-C955640E52F4}"/>
              </a:ext>
            </a:extLst>
          </p:cNvPr>
          <p:cNvSpPr>
            <a:spLocks noGrp="1" noRot="1" noMove="1" noResize="1" noEditPoints="1" noAdjustHandles="1" noChangeArrowheads="1" noChangeShapeType="1"/>
          </p:cNvSpPr>
          <p:nvPr>
            <p:ph type="title"/>
          </p:nvPr>
        </p:nvSpPr>
        <p:spPr/>
        <p:txBody>
          <a:bodyPr/>
          <a:lstStyle/>
          <a:p>
            <a:r>
              <a:rPr lang="de-DE" dirty="0"/>
              <a:t>Anlageklassen und Ausgestaltung</a:t>
            </a:r>
          </a:p>
        </p:txBody>
      </p:sp>
    </p:spTree>
    <p:extLst>
      <p:ext uri="{BB962C8B-B14F-4D97-AF65-F5344CB8AC3E}">
        <p14:creationId xmlns:p14="http://schemas.microsoft.com/office/powerpoint/2010/main" val="33181527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1BDD082-AD9A-6DD8-3348-F165CD10DD2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20</a:t>
            </a:fld>
            <a:endParaRPr lang="de-DE"/>
          </a:p>
        </p:txBody>
      </p:sp>
      <p:sp>
        <p:nvSpPr>
          <p:cNvPr id="6" name="Text">
            <a:extLst>
              <a:ext uri="{FF2B5EF4-FFF2-40B4-BE49-F238E27FC236}">
                <a16:creationId xmlns:a16="http://schemas.microsoft.com/office/drawing/2014/main" id="{D1C6F36B-B5D5-FA42-8AB2-64B475944977}"/>
              </a:ext>
            </a:extLst>
          </p:cNvPr>
          <p:cNvSpPr txBox="1">
            <a:spLocks noGrp="1" noRot="1" noMove="1" noResize="1" noEditPoints="1" noAdjustHandles="1" noChangeArrowheads="1" noChangeShapeType="1"/>
          </p:cNvSpPr>
          <p:nvPr/>
        </p:nvSpPr>
        <p:spPr>
          <a:xfrm>
            <a:off x="358775" y="4697839"/>
            <a:ext cx="4789488" cy="719684"/>
          </a:xfrm>
          <a:prstGeom prst="rect">
            <a:avLst/>
          </a:prstGeom>
          <a:noFill/>
        </p:spPr>
        <p:txBody>
          <a:bodyPr wrap="square" lIns="0" tIns="0" rIns="0" bIns="0" rtlCol="0">
            <a:spAutoFit/>
          </a:bodyPr>
          <a:lstStyle/>
          <a:p>
            <a:pPr marL="198000" indent="-198000">
              <a:lnSpc>
                <a:spcPts val="1900"/>
              </a:lnSpc>
              <a:buBlip>
                <a:blip r:embed="rId2"/>
              </a:buBlip>
            </a:pPr>
            <a:r>
              <a:rPr lang="de-DE" sz="1500" b="1" dirty="0">
                <a:solidFill>
                  <a:schemeClr val="accent1"/>
                </a:solidFill>
                <a:latin typeface="+mj-lt"/>
              </a:rPr>
              <a:t>Gerne stellen wir Ihnen in regelmäßigen  Abständen oder auf Wunsch einen aktuellen Bericht zur Verfügung.</a:t>
            </a:r>
          </a:p>
        </p:txBody>
      </p:sp>
      <p:graphicFrame>
        <p:nvGraphicFramePr>
          <p:cNvPr id="5" name="Tabelle">
            <a:extLst>
              <a:ext uri="{FF2B5EF4-FFF2-40B4-BE49-F238E27FC236}">
                <a16:creationId xmlns:a16="http://schemas.microsoft.com/office/drawing/2014/main" id="{1CF60558-7248-3322-4596-B33D91F44A2E}"/>
              </a:ext>
            </a:extLst>
          </p:cNvPr>
          <p:cNvGraphicFramePr>
            <a:graphicFrameLocks noGrp="1"/>
          </p:cNvGraphicFramePr>
          <p:nvPr>
            <p:ph idx="1"/>
            <p:extLst>
              <p:ext uri="{D42A27DB-BD31-4B8C-83A1-F6EECF244321}">
                <p14:modId xmlns:p14="http://schemas.microsoft.com/office/powerpoint/2010/main" val="280979355"/>
              </p:ext>
            </p:extLst>
          </p:nvPr>
        </p:nvGraphicFramePr>
        <p:xfrm>
          <a:off x="358775" y="1041400"/>
          <a:ext cx="9756000" cy="2866168"/>
        </p:xfrm>
        <a:graphic>
          <a:graphicData uri="http://schemas.openxmlformats.org/drawingml/2006/table">
            <a:tbl>
              <a:tblPr firstRow="1" bandRow="1">
                <a:tableStyleId>{2D5ABB26-0587-4C30-8999-92F81FD0307C}</a:tableStyleId>
              </a:tblPr>
              <a:tblGrid>
                <a:gridCol w="2304000">
                  <a:extLst>
                    <a:ext uri="{9D8B030D-6E8A-4147-A177-3AD203B41FA5}">
                      <a16:colId xmlns:a16="http://schemas.microsoft.com/office/drawing/2014/main" val="2960144582"/>
                    </a:ext>
                  </a:extLst>
                </a:gridCol>
                <a:gridCol w="180000">
                  <a:extLst>
                    <a:ext uri="{9D8B030D-6E8A-4147-A177-3AD203B41FA5}">
                      <a16:colId xmlns:a16="http://schemas.microsoft.com/office/drawing/2014/main" val="3719935177"/>
                    </a:ext>
                  </a:extLst>
                </a:gridCol>
                <a:gridCol w="2304000">
                  <a:extLst>
                    <a:ext uri="{9D8B030D-6E8A-4147-A177-3AD203B41FA5}">
                      <a16:colId xmlns:a16="http://schemas.microsoft.com/office/drawing/2014/main" val="1099370210"/>
                    </a:ext>
                  </a:extLst>
                </a:gridCol>
                <a:gridCol w="180000">
                  <a:extLst>
                    <a:ext uri="{9D8B030D-6E8A-4147-A177-3AD203B41FA5}">
                      <a16:colId xmlns:a16="http://schemas.microsoft.com/office/drawing/2014/main" val="1043823165"/>
                    </a:ext>
                  </a:extLst>
                </a:gridCol>
                <a:gridCol w="2304000">
                  <a:extLst>
                    <a:ext uri="{9D8B030D-6E8A-4147-A177-3AD203B41FA5}">
                      <a16:colId xmlns:a16="http://schemas.microsoft.com/office/drawing/2014/main" val="2181555188"/>
                    </a:ext>
                  </a:extLst>
                </a:gridCol>
                <a:gridCol w="180000">
                  <a:extLst>
                    <a:ext uri="{9D8B030D-6E8A-4147-A177-3AD203B41FA5}">
                      <a16:colId xmlns:a16="http://schemas.microsoft.com/office/drawing/2014/main" val="1222754153"/>
                    </a:ext>
                  </a:extLst>
                </a:gridCol>
                <a:gridCol w="2304000">
                  <a:extLst>
                    <a:ext uri="{9D8B030D-6E8A-4147-A177-3AD203B41FA5}">
                      <a16:colId xmlns:a16="http://schemas.microsoft.com/office/drawing/2014/main" val="1006042721"/>
                    </a:ext>
                  </a:extLst>
                </a:gridCol>
              </a:tblGrid>
              <a:tr h="370840">
                <a:tc>
                  <a:txBody>
                    <a:bodyPr/>
                    <a:lstStyle/>
                    <a:p>
                      <a: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pPr>
                      <a:r>
                        <a:rPr lang="de-DE" sz="1100" b="1" kern="1200" dirty="0">
                          <a:solidFill>
                            <a:schemeClr val="accent1"/>
                          </a:solidFill>
                          <a:latin typeface="+mj-lt"/>
                          <a:ea typeface="+mn-ea"/>
                          <a:cs typeface="+mn-cs"/>
                        </a:rPr>
                        <a:t>Vermögensverwaltungsbericht</a:t>
                      </a:r>
                    </a:p>
                    <a:p>
                      <a:pPr>
                        <a:lnSpc>
                          <a:spcPts val="1600"/>
                        </a:lnSpc>
                      </a:pPr>
                      <a:r>
                        <a:rPr lang="de-DE" sz="1100" kern="1200" dirty="0">
                          <a:solidFill>
                            <a:schemeClr val="tx1"/>
                          </a:solidFill>
                          <a:latin typeface="+mn-lt"/>
                          <a:ea typeface="+mn-ea"/>
                          <a:cs typeface="+mn-cs"/>
                        </a:rPr>
                        <a:t>Wir stellen Ihnen gemäß den </a:t>
                      </a:r>
                    </a:p>
                    <a:p>
                      <a:pPr>
                        <a:lnSpc>
                          <a:spcPts val="1600"/>
                        </a:lnSpc>
                      </a:pPr>
                      <a:r>
                        <a:rPr lang="de-DE" sz="1100" kern="1200" dirty="0">
                          <a:solidFill>
                            <a:schemeClr val="tx1"/>
                          </a:solidFill>
                          <a:latin typeface="+mn-lt"/>
                          <a:ea typeface="+mn-ea"/>
                          <a:cs typeface="+mn-cs"/>
                        </a:rPr>
                        <a:t>gesetzlichen Anforderungen </a:t>
                      </a:r>
                    </a:p>
                    <a:p>
                      <a:pPr>
                        <a:lnSpc>
                          <a:spcPts val="1600"/>
                        </a:lnSpc>
                      </a:pPr>
                      <a:r>
                        <a:rPr lang="de-DE" sz="1100" kern="1200" dirty="0">
                          <a:solidFill>
                            <a:schemeClr val="tx1"/>
                          </a:solidFill>
                          <a:latin typeface="+mn-lt"/>
                          <a:ea typeface="+mn-ea"/>
                          <a:cs typeface="+mn-cs"/>
                        </a:rPr>
                        <a:t>quartalsweise einen detaillierten </a:t>
                      </a:r>
                    </a:p>
                    <a:p>
                      <a:pPr>
                        <a:lnSpc>
                          <a:spcPts val="1600"/>
                        </a:lnSpc>
                      </a:pPr>
                      <a:r>
                        <a:rPr lang="de-DE" sz="1100" kern="1200" dirty="0">
                          <a:solidFill>
                            <a:schemeClr val="tx1"/>
                          </a:solidFill>
                          <a:latin typeface="+mn-lt"/>
                          <a:ea typeface="+mn-ea"/>
                          <a:cs typeface="+mn-cs"/>
                        </a:rPr>
                        <a:t>Bericht zur Verfügung. Folgende Bestandteile sind in diesem Be-</a:t>
                      </a:r>
                      <a:r>
                        <a:rPr lang="de-DE" sz="1100" kern="1200" dirty="0" err="1">
                          <a:solidFill>
                            <a:schemeClr val="tx1"/>
                          </a:solidFill>
                          <a:latin typeface="+mn-lt"/>
                          <a:ea typeface="+mn-ea"/>
                          <a:cs typeface="+mn-cs"/>
                        </a:rPr>
                        <a:t>richt</a:t>
                      </a:r>
                      <a:r>
                        <a:rPr lang="de-DE" sz="1100" kern="1200" dirty="0">
                          <a:solidFill>
                            <a:schemeClr val="tx1"/>
                          </a:solidFill>
                          <a:latin typeface="+mn-lt"/>
                          <a:ea typeface="+mn-ea"/>
                          <a:cs typeface="+mn-cs"/>
                        </a:rPr>
                        <a:t> enthalten:</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Wertentwicklung</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Vermögensübersicht</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Transaktionsliste</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Risikokennzahlen, fortlaufende Geeignetheitserklärung </a:t>
                      </a:r>
                    </a:p>
                  </a:txBody>
                  <a:tcPr marL="0" marR="0" marT="0" marB="252000">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err="1">
                          <a:solidFill>
                            <a:schemeClr val="accent1"/>
                          </a:solidFill>
                          <a:latin typeface="+mj-lt"/>
                          <a:ea typeface="+mn-ea"/>
                          <a:cs typeface="+mn-cs"/>
                        </a:rPr>
                        <a:t>ExPostReporting</a:t>
                      </a:r>
                      <a:endParaRPr lang="de-DE" sz="1100" b="1" kern="1200" dirty="0">
                        <a:solidFill>
                          <a:schemeClr val="accent1"/>
                        </a:solidFill>
                        <a:latin typeface="+mj-lt"/>
                        <a:ea typeface="+mn-ea"/>
                        <a:cs typeface="+mn-cs"/>
                      </a:endParaRPr>
                    </a:p>
                    <a:p>
                      <a:pPr marL="0" algn="l" defTabSz="783001" rtl="0" eaLnBrk="1" latinLnBrk="0" hangingPunct="1">
                        <a:lnSpc>
                          <a:spcPts val="1600"/>
                        </a:lnSpc>
                      </a:pPr>
                      <a:r>
                        <a:rPr lang="de-DE" sz="1100" kern="1200" dirty="0">
                          <a:solidFill>
                            <a:schemeClr val="tx1"/>
                          </a:solidFill>
                          <a:latin typeface="+mn-lt"/>
                          <a:ea typeface="+mn-ea"/>
                          <a:cs typeface="+mn-cs"/>
                        </a:rPr>
                        <a:t>Einmal pro Jahr erhalten Sie von unserer Depotbank, der comdirect*, eine Übersicht, wo neben unserem Vermögensverwaltungshonorar zusätzliche fremde Produktkosten aufgeführt sind.</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Steuerservice</a:t>
                      </a:r>
                    </a:p>
                    <a:p>
                      <a:pPr marL="0" algn="l" defTabSz="783001" rtl="0" eaLnBrk="1" latinLnBrk="0" hangingPunct="1">
                        <a:lnSpc>
                          <a:spcPts val="1600"/>
                        </a:lnSpc>
                      </a:pPr>
                      <a:r>
                        <a:rPr lang="de-DE" sz="1100" kern="1200" dirty="0">
                          <a:solidFill>
                            <a:schemeClr val="tx1"/>
                          </a:solidFill>
                          <a:latin typeface="+mn-lt"/>
                          <a:ea typeface="+mn-ea"/>
                          <a:cs typeface="+mn-cs"/>
                        </a:rPr>
                        <a:t>Die Erstellung aller steuerlich </a:t>
                      </a:r>
                      <a:r>
                        <a:rPr lang="de-DE" sz="1100" kern="1200" dirty="0" err="1">
                          <a:solidFill>
                            <a:schemeClr val="tx1"/>
                          </a:solidFill>
                          <a:latin typeface="+mn-lt"/>
                          <a:ea typeface="+mn-ea"/>
                          <a:cs typeface="+mn-cs"/>
                        </a:rPr>
                        <a:t>rele</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vanten</a:t>
                      </a:r>
                      <a:r>
                        <a:rPr lang="de-DE" sz="1100" kern="1200" dirty="0">
                          <a:solidFill>
                            <a:schemeClr val="tx1"/>
                          </a:solidFill>
                          <a:latin typeface="+mn-lt"/>
                          <a:ea typeface="+mn-ea"/>
                          <a:cs typeface="+mn-cs"/>
                        </a:rPr>
                        <a:t> und benötigten Unterlagen</a:t>
                      </a:r>
                    </a:p>
                    <a:p>
                      <a:pPr marL="0" algn="l" defTabSz="783001" rtl="0" eaLnBrk="1" latinLnBrk="0" hangingPunct="1">
                        <a:lnSpc>
                          <a:spcPts val="1600"/>
                        </a:lnSpc>
                      </a:pPr>
                      <a:r>
                        <a:rPr lang="de-DE" sz="1100" kern="1200" dirty="0">
                          <a:solidFill>
                            <a:schemeClr val="tx1"/>
                          </a:solidFill>
                          <a:latin typeface="+mn-lt"/>
                          <a:ea typeface="+mn-ea"/>
                          <a:cs typeface="+mn-cs"/>
                        </a:rPr>
                        <a:t>erfolgt automatisch und zeitnah durch unseren Dienstleister, die comdirect*,</a:t>
                      </a:r>
                    </a:p>
                    <a:p>
                      <a:pPr marL="0" algn="l" defTabSz="783001" rtl="0" eaLnBrk="1" latinLnBrk="0" hangingPunct="1">
                        <a:lnSpc>
                          <a:spcPts val="1600"/>
                        </a:lnSpc>
                      </a:pPr>
                      <a:r>
                        <a:rPr lang="de-DE" sz="1100" kern="1200" dirty="0">
                          <a:solidFill>
                            <a:schemeClr val="tx1"/>
                          </a:solidFill>
                          <a:latin typeface="+mn-lt"/>
                          <a:ea typeface="+mn-ea"/>
                          <a:cs typeface="+mn-cs"/>
                        </a:rPr>
                        <a:t>mit dem Ablauf des Kalender-jahres. </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Laufende Unterlagen</a:t>
                      </a:r>
                    </a:p>
                    <a:p>
                      <a:pPr marL="0" algn="l" defTabSz="783001" rtl="0" eaLnBrk="1" latinLnBrk="0" hangingPunct="1">
                        <a:lnSpc>
                          <a:spcPts val="1600"/>
                        </a:lnSpc>
                      </a:pPr>
                      <a:r>
                        <a:rPr lang="de-DE" sz="1100" kern="1200" dirty="0">
                          <a:solidFill>
                            <a:schemeClr val="tx1"/>
                          </a:solidFill>
                          <a:latin typeface="+mn-lt"/>
                          <a:ea typeface="+mn-ea"/>
                          <a:cs typeface="+mn-cs"/>
                        </a:rPr>
                        <a:t>Nach jeder Wertpapiertransaktion </a:t>
                      </a:r>
                    </a:p>
                    <a:p>
                      <a:pPr marL="0" algn="l" defTabSz="783001" rtl="0" eaLnBrk="1" latinLnBrk="0" hangingPunct="1">
                        <a:lnSpc>
                          <a:spcPts val="1600"/>
                        </a:lnSpc>
                      </a:pPr>
                      <a:r>
                        <a:rPr lang="de-DE" sz="1100" kern="1200" dirty="0">
                          <a:solidFill>
                            <a:schemeClr val="tx1"/>
                          </a:solidFill>
                          <a:latin typeface="+mn-lt"/>
                          <a:ea typeface="+mn-ea"/>
                          <a:cs typeface="+mn-cs"/>
                        </a:rPr>
                        <a:t>und Ertragsausschüttung erhalten </a:t>
                      </a:r>
                    </a:p>
                    <a:p>
                      <a:pPr marL="0" algn="l" defTabSz="783001" rtl="0" eaLnBrk="1" latinLnBrk="0" hangingPunct="1">
                        <a:lnSpc>
                          <a:spcPts val="1600"/>
                        </a:lnSpc>
                      </a:pPr>
                      <a:r>
                        <a:rPr lang="de-DE" sz="1100" kern="1200" dirty="0">
                          <a:solidFill>
                            <a:schemeClr val="tx1"/>
                          </a:solidFill>
                          <a:latin typeface="+mn-lt"/>
                          <a:ea typeface="+mn-ea"/>
                          <a:cs typeface="+mn-cs"/>
                        </a:rPr>
                        <a:t>Sie eine entsprechende </a:t>
                      </a:r>
                      <a:r>
                        <a:rPr lang="de-DE" sz="1100" kern="1200" dirty="0" err="1">
                          <a:solidFill>
                            <a:schemeClr val="tx1"/>
                          </a:solidFill>
                          <a:latin typeface="+mn-lt"/>
                          <a:ea typeface="+mn-ea"/>
                          <a:cs typeface="+mn-cs"/>
                        </a:rPr>
                        <a:t>Dokumen</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tation</a:t>
                      </a:r>
                      <a:r>
                        <a:rPr lang="de-DE" sz="1100" kern="1200" dirty="0">
                          <a:solidFill>
                            <a:schemeClr val="tx1"/>
                          </a:solidFill>
                          <a:latin typeface="+mn-lt"/>
                          <a:ea typeface="+mn-ea"/>
                          <a:cs typeface="+mn-cs"/>
                        </a:rPr>
                        <a:t> in Ihr Postfach. Somit </a:t>
                      </a:r>
                    </a:p>
                    <a:p>
                      <a:pPr marL="0" algn="l" defTabSz="783001" rtl="0" eaLnBrk="1" latinLnBrk="0" hangingPunct="1">
                        <a:lnSpc>
                          <a:spcPts val="1600"/>
                        </a:lnSpc>
                      </a:pPr>
                      <a:r>
                        <a:rPr lang="de-DE" sz="1100" kern="1200" dirty="0">
                          <a:solidFill>
                            <a:schemeClr val="tx1"/>
                          </a:solidFill>
                          <a:latin typeface="+mn-lt"/>
                          <a:ea typeface="+mn-ea"/>
                          <a:cs typeface="+mn-cs"/>
                        </a:rPr>
                        <a:t>ist für Sie ein hohes Maß an Trans-</a:t>
                      </a:r>
                    </a:p>
                    <a:p>
                      <a:pPr marL="0" algn="l" defTabSz="783001" rtl="0" eaLnBrk="1" latinLnBrk="0" hangingPunct="1">
                        <a:lnSpc>
                          <a:spcPts val="1600"/>
                        </a:lnSpc>
                      </a:pPr>
                      <a:r>
                        <a:rPr lang="de-DE" sz="1100" kern="1200" dirty="0" err="1">
                          <a:solidFill>
                            <a:schemeClr val="tx1"/>
                          </a:solidFill>
                          <a:latin typeface="+mn-lt"/>
                          <a:ea typeface="+mn-ea"/>
                          <a:cs typeface="+mn-cs"/>
                        </a:rPr>
                        <a:t>parenz</a:t>
                      </a:r>
                      <a:r>
                        <a:rPr lang="de-DE" sz="1100" kern="1200" dirty="0">
                          <a:solidFill>
                            <a:schemeClr val="tx1"/>
                          </a:solidFill>
                          <a:latin typeface="+mn-lt"/>
                          <a:ea typeface="+mn-ea"/>
                          <a:cs typeface="+mn-cs"/>
                        </a:rPr>
                        <a:t> gewährleistet.</a:t>
                      </a:r>
                    </a:p>
                  </a:txBody>
                  <a:tcPr marL="0" marR="0" marT="0" marB="252000">
                    <a:lnL>
                      <a:noFill/>
                    </a:lnL>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368564331"/>
                  </a:ext>
                </a:extLst>
              </a:tr>
            </a:tbl>
          </a:graphicData>
        </a:graphic>
      </p:graphicFrame>
      <p:sp>
        <p:nvSpPr>
          <p:cNvPr id="4" name="Titel">
            <a:extLst>
              <a:ext uri="{FF2B5EF4-FFF2-40B4-BE49-F238E27FC236}">
                <a16:creationId xmlns:a16="http://schemas.microsoft.com/office/drawing/2014/main" id="{963F2082-086E-D3BA-BA43-2CBC2A491BF6}"/>
              </a:ext>
            </a:extLst>
          </p:cNvPr>
          <p:cNvSpPr>
            <a:spLocks noGrp="1" noRot="1" noMove="1" noResize="1" noEditPoints="1" noAdjustHandles="1" noChangeArrowheads="1" noChangeShapeType="1"/>
          </p:cNvSpPr>
          <p:nvPr>
            <p:ph type="title"/>
          </p:nvPr>
        </p:nvSpPr>
        <p:spPr/>
        <p:txBody>
          <a:bodyPr/>
          <a:lstStyle/>
          <a:p>
            <a:r>
              <a:rPr lang="de-DE" dirty="0"/>
              <a:t>Unser Service und der Service unseres Depotführers der comdirect*</a:t>
            </a:r>
          </a:p>
        </p:txBody>
      </p:sp>
      <p:sp>
        <p:nvSpPr>
          <p:cNvPr id="8" name="Textfeld 7">
            <a:extLst>
              <a:ext uri="{FF2B5EF4-FFF2-40B4-BE49-F238E27FC236}">
                <a16:creationId xmlns:a16="http://schemas.microsoft.com/office/drawing/2014/main" id="{46ED3497-A73F-BC6C-7DAE-66B17C91A0A0}"/>
              </a:ext>
            </a:extLst>
          </p:cNvPr>
          <p:cNvSpPr txBox="1"/>
          <p:nvPr/>
        </p:nvSpPr>
        <p:spPr>
          <a:xfrm>
            <a:off x="628740" y="6336983"/>
            <a:ext cx="2755883" cy="230832"/>
          </a:xfrm>
          <a:prstGeom prst="rect">
            <a:avLst/>
          </a:prstGeom>
          <a:noFill/>
        </p:spPr>
        <p:txBody>
          <a:bodyPr wrap="none" rtlCol="0">
            <a:spAutoFit/>
          </a:bodyPr>
          <a:lstStyle/>
          <a:p>
            <a:r>
              <a:rPr lang="de-DE" sz="900" dirty="0"/>
              <a:t>* </a:t>
            </a:r>
            <a:r>
              <a:rPr lang="de-DE" sz="900" dirty="0">
                <a:solidFill>
                  <a:srgbClr val="000000"/>
                </a:solidFill>
              </a:rPr>
              <a:t>comdirect - eine Marke der Commerzbank AG</a:t>
            </a:r>
            <a:endParaRPr lang="de-DE" sz="900" dirty="0"/>
          </a:p>
        </p:txBody>
      </p:sp>
    </p:spTree>
    <p:extLst>
      <p:ext uri="{BB962C8B-B14F-4D97-AF65-F5344CB8AC3E}">
        <p14:creationId xmlns:p14="http://schemas.microsoft.com/office/powerpoint/2010/main" val="35931892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29</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lstStyle/>
          <a:p>
            <a:r>
              <a:rPr lang="de-DE" dirty="0"/>
              <a:t>Wesentliche Finanzkennzahlen auf einen Blick (Dezember 2025)</a:t>
            </a:r>
          </a:p>
          <a:p>
            <a:pPr lvl="1"/>
            <a:r>
              <a:rPr lang="de-DE" dirty="0"/>
              <a:t>Bilanzsumme 	</a:t>
            </a:r>
            <a:r>
              <a:rPr lang="de-DE" b="1" dirty="0"/>
              <a:t>623,0 Mio. EUR</a:t>
            </a:r>
          </a:p>
          <a:p>
            <a:pPr lvl="1"/>
            <a:r>
              <a:rPr lang="de-DE" dirty="0"/>
              <a:t>Assets </a:t>
            </a:r>
            <a:r>
              <a:rPr lang="de-DE" dirty="0" err="1"/>
              <a:t>under</a:t>
            </a:r>
            <a:r>
              <a:rPr lang="de-DE" dirty="0"/>
              <a:t> Control 	</a:t>
            </a:r>
            <a:r>
              <a:rPr lang="de-DE" b="1" dirty="0"/>
              <a:t>7.358 Mio. EUR</a:t>
            </a:r>
          </a:p>
          <a:p>
            <a:pPr lvl="1"/>
            <a:r>
              <a:rPr lang="de-DE" dirty="0"/>
              <a:t>EK-Rendite (vor Steuern) 	</a:t>
            </a:r>
            <a:r>
              <a:rPr lang="de-DE" b="1" dirty="0"/>
              <a:t>34,1 %</a:t>
            </a:r>
          </a:p>
          <a:p>
            <a:pPr lvl="1"/>
            <a:r>
              <a:rPr lang="de-DE" dirty="0"/>
              <a:t>Mitarbeiter 	</a:t>
            </a:r>
            <a:r>
              <a:rPr lang="de-DE" b="1" dirty="0"/>
              <a:t>146</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p:cNvGraphicFramePr>
          <p:nvPr>
            <p:ph idx="1"/>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4808557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a:extLst>
              <a:ext uri="{FF2B5EF4-FFF2-40B4-BE49-F238E27FC236}">
                <a16:creationId xmlns:a16="http://schemas.microsoft.com/office/drawing/2014/main" id="{25DE5420-5BAD-2473-43B5-9D481D3DE200}"/>
              </a:ext>
            </a:extLst>
          </p:cNvPr>
          <p:cNvSpPr>
            <a:spLocks noGrp="1" noRot="1" noMove="1" noResize="1" noEditPoints="1" noAdjustHandles="1" noChangeArrowheads="1" noChangeShapeType="1"/>
          </p:cNvSpPr>
          <p:nvPr>
            <p:ph type="subTitle" idx="1"/>
          </p:nvPr>
        </p:nvSpPr>
        <p:spPr/>
        <p:txBody>
          <a:bodyPr/>
          <a:lstStyle/>
          <a:p>
            <a:r>
              <a:rPr lang="de-DE" dirty="0"/>
              <a:t>INDIVIDUELL. UNABHÄNGIG. VERTRAUENSVOLL.</a:t>
            </a:r>
          </a:p>
        </p:txBody>
      </p:sp>
      <p:sp>
        <p:nvSpPr>
          <p:cNvPr id="3" name="Titel">
            <a:extLst>
              <a:ext uri="{FF2B5EF4-FFF2-40B4-BE49-F238E27FC236}">
                <a16:creationId xmlns:a16="http://schemas.microsoft.com/office/drawing/2014/main" id="{D82547BE-5B8D-6490-3DCD-C4B040A4C085}"/>
              </a:ext>
            </a:extLst>
          </p:cNvPr>
          <p:cNvSpPr>
            <a:spLocks noGrp="1" noRot="1" noMove="1" noResize="1" noEditPoints="1" noAdjustHandles="1" noChangeArrowheads="1" noChangeShapeType="1"/>
          </p:cNvSpPr>
          <p:nvPr>
            <p:ph type="ctrTitle"/>
          </p:nvPr>
        </p:nvSpPr>
        <p:spPr/>
        <p:txBody>
          <a:bodyPr/>
          <a:lstStyle/>
          <a:p>
            <a:r>
              <a:rPr lang="de-DE" dirty="0"/>
              <a:t>Unsere Tradition</a:t>
            </a:r>
          </a:p>
        </p:txBody>
      </p:sp>
    </p:spTree>
    <p:extLst>
      <p:ext uri="{BB962C8B-B14F-4D97-AF65-F5344CB8AC3E}">
        <p14:creationId xmlns:p14="http://schemas.microsoft.com/office/powerpoint/2010/main" val="27043174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B92230C9-01C7-F4FE-82CC-6ECE520E2001}"/>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23</a:t>
            </a:fld>
            <a:endParaRPr lang="de-DE"/>
          </a:p>
        </p:txBody>
      </p:sp>
      <p:sp>
        <p:nvSpPr>
          <p:cNvPr id="3" name="Text">
            <a:extLst>
              <a:ext uri="{FF2B5EF4-FFF2-40B4-BE49-F238E27FC236}">
                <a16:creationId xmlns:a16="http://schemas.microsoft.com/office/drawing/2014/main" id="{91440A74-D9D2-B4F0-F449-0359F5947835}"/>
              </a:ext>
            </a:extLst>
          </p:cNvPr>
          <p:cNvSpPr>
            <a:spLocks noGrp="1" noRot="1" noMove="1" noResize="1" noEditPoints="1" noAdjustHandles="1" noChangeArrowheads="1" noChangeShapeType="1"/>
          </p:cNvSpPr>
          <p:nvPr>
            <p:ph idx="1"/>
          </p:nvPr>
        </p:nvSpPr>
        <p:spPr/>
        <p:txBody>
          <a:bodyPr/>
          <a:lstStyle/>
          <a:p>
            <a:r>
              <a:rPr lang="de-DE" dirty="0"/>
              <a:t>wir freuen uns, dass Sie auf unsere Vermögensverwaltung aufmerksam geworden sind. Unser Haus trägt einen geschichtsträchtigen Namen, der uns mit Stolz erfüllt und dem wir uns verpflichtet fühlen.</a:t>
            </a:r>
          </a:p>
          <a:p>
            <a:r>
              <a:rPr lang="de-DE" dirty="0"/>
              <a:t>Jakob Fugger gilt als der erfolgreichste Bankier seiner Zeit. Zu Beginn des 16. Jahrhunderts entwickelte er das Familien-unternehmen der Gebrüder Fugger vom Textilhandel zum führenden Finanzierer europäischer Adelsdynastien. Schürf-rechte für Silber und Kupfer als Gegenleistung für Darlehen an die Habsburger legten den Grundstein für enormen Reichtum, der noch höhere Kreditvergaben ermöglichte.  Seine Rolle als Kreditgeber der maßgeblichen politischen Akteure machten ihn zu einer der einflussreichsten Persönlichkeiten seiner Epoche. </a:t>
            </a:r>
          </a:p>
        </p:txBody>
      </p:sp>
      <p:sp>
        <p:nvSpPr>
          <p:cNvPr id="4" name="Titel">
            <a:extLst>
              <a:ext uri="{FF2B5EF4-FFF2-40B4-BE49-F238E27FC236}">
                <a16:creationId xmlns:a16="http://schemas.microsoft.com/office/drawing/2014/main" id="{323D42A3-160A-D4DE-FE4A-9BFA9ECD8662}"/>
              </a:ext>
            </a:extLst>
          </p:cNvPr>
          <p:cNvSpPr>
            <a:spLocks noGrp="1" noRot="1" noMove="1" noResize="1" noEditPoints="1" noAdjustHandles="1" noChangeArrowheads="1" noChangeShapeType="1"/>
          </p:cNvSpPr>
          <p:nvPr>
            <p:ph type="title"/>
          </p:nvPr>
        </p:nvSpPr>
        <p:spPr/>
        <p:txBody>
          <a:bodyPr/>
          <a:lstStyle/>
          <a:p>
            <a:r>
              <a:rPr lang="de-DE" dirty="0"/>
              <a:t>Sehr geehrte Interessentin,</a:t>
            </a:r>
            <a:br>
              <a:rPr lang="de-DE" dirty="0"/>
            </a:br>
            <a:r>
              <a:rPr lang="de-DE" dirty="0"/>
              <a:t>sehr geehrter Interessent,</a:t>
            </a:r>
          </a:p>
        </p:txBody>
      </p:sp>
    </p:spTree>
    <p:extLst>
      <p:ext uri="{BB962C8B-B14F-4D97-AF65-F5344CB8AC3E}">
        <p14:creationId xmlns:p14="http://schemas.microsoft.com/office/powerpoint/2010/main" val="29900201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5F897033-8FC2-1E7E-0C1F-C1B3B83042D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24</a:t>
            </a:fld>
            <a:endParaRPr lang="de-DE" dirty="0"/>
          </a:p>
        </p:txBody>
      </p:sp>
      <p:sp>
        <p:nvSpPr>
          <p:cNvPr id="3" name="Text">
            <a:extLst>
              <a:ext uri="{FF2B5EF4-FFF2-40B4-BE49-F238E27FC236}">
                <a16:creationId xmlns:a16="http://schemas.microsoft.com/office/drawing/2014/main" id="{2CB82111-1751-7169-9828-A98AEBE30540}"/>
              </a:ext>
            </a:extLst>
          </p:cNvPr>
          <p:cNvSpPr>
            <a:spLocks noGrp="1" noRot="1" noMove="1" noResize="1" noEditPoints="1" noAdjustHandles="1" noChangeArrowheads="1" noChangeShapeType="1"/>
          </p:cNvSpPr>
          <p:nvPr>
            <p:ph idx="1"/>
          </p:nvPr>
        </p:nvSpPr>
        <p:spPr/>
        <p:txBody>
          <a:bodyPr/>
          <a:lstStyle/>
          <a:p>
            <a:r>
              <a:rPr lang="de-DE" dirty="0"/>
              <a:t>Kluge Investitionen in ländlichen Grundbesitz bildeten die Basis für den Kapitalerhalt des Familienvermögens in den kommenden schwierigen Zeiten. Als gläubiger Katholik </a:t>
            </a:r>
            <a:br>
              <a:rPr lang="de-DE" dirty="0"/>
            </a:br>
            <a:r>
              <a:rPr lang="de-DE" dirty="0"/>
              <a:t>fühlte sich Jakob Fugger immer auch dem Gemeinwohl verpflichtet und gründete mit der </a:t>
            </a:r>
            <a:r>
              <a:rPr lang="de-DE" dirty="0" err="1"/>
              <a:t>Fuggerei</a:t>
            </a:r>
            <a:r>
              <a:rPr lang="de-DE" dirty="0"/>
              <a:t> eine bis heute existierende Stiftung, die als die älteste erhaltene Sozial-siedlung der Welt gilt. Sie feierte 2021 ihr 500-jähriges Jubiläum.</a:t>
            </a:r>
          </a:p>
          <a:p>
            <a:pPr lvl="1"/>
            <a:r>
              <a:rPr lang="de-DE" dirty="0"/>
              <a:t>Auch wir investieren aus langjähriger  Tradition heraus breit aufgestellt am  Kapitalmarkt, um mit Sorgfalt und Weitsicht Ihr Vermögen zu erhalten und zu vermehren. </a:t>
            </a:r>
          </a:p>
          <a:p>
            <a:pPr lvl="1">
              <a:spcBef>
                <a:spcPts val="800"/>
              </a:spcBef>
            </a:pPr>
            <a:r>
              <a:rPr lang="de-DE" dirty="0"/>
              <a:t>Wir freuen uns auf eine erfolgreiche  Zusammenarbeit. </a:t>
            </a:r>
          </a:p>
        </p:txBody>
      </p:sp>
      <p:sp>
        <p:nvSpPr>
          <p:cNvPr id="4" name="Titel">
            <a:extLst>
              <a:ext uri="{FF2B5EF4-FFF2-40B4-BE49-F238E27FC236}">
                <a16:creationId xmlns:a16="http://schemas.microsoft.com/office/drawing/2014/main" id="{D17F4A2E-22EE-C9A9-9C76-55ABEAEDC660}"/>
              </a:ext>
            </a:extLst>
          </p:cNvPr>
          <p:cNvSpPr>
            <a:spLocks noGrp="1" noRot="1" noMove="1" noResize="1" noEditPoints="1" noAdjustHandles="1" noChangeArrowheads="1" noChangeShapeType="1"/>
          </p:cNvSpPr>
          <p:nvPr>
            <p:ph type="title"/>
          </p:nvPr>
        </p:nvSpPr>
        <p:spPr/>
        <p:txBody>
          <a:bodyPr/>
          <a:lstStyle/>
          <a:p>
            <a:r>
              <a:rPr lang="de-DE" dirty="0"/>
              <a:t>Die Fugger</a:t>
            </a:r>
          </a:p>
        </p:txBody>
      </p:sp>
    </p:spTree>
    <p:extLst>
      <p:ext uri="{BB962C8B-B14F-4D97-AF65-F5344CB8AC3E}">
        <p14:creationId xmlns:p14="http://schemas.microsoft.com/office/powerpoint/2010/main" val="24711337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ABEEE-A04E-6DAC-BC1B-672E88405F5C}"/>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086986D-FF02-10E6-714C-4BC3C095FB32}"/>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25</a:t>
            </a:fld>
            <a:endParaRPr lang="de-DE"/>
          </a:p>
        </p:txBody>
      </p:sp>
      <p:sp>
        <p:nvSpPr>
          <p:cNvPr id="6" name="Titel">
            <a:extLst>
              <a:ext uri="{FF2B5EF4-FFF2-40B4-BE49-F238E27FC236}">
                <a16:creationId xmlns:a16="http://schemas.microsoft.com/office/drawing/2014/main" id="{9A4A8219-EDFE-2E10-CAD7-8EE453B1C94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Risikohinweise</a:t>
            </a:r>
            <a:endParaRPr lang="de-DE" dirty="0">
              <a:solidFill>
                <a:srgbClr val="FF0000"/>
              </a:solidFill>
            </a:endParaRPr>
          </a:p>
        </p:txBody>
      </p:sp>
      <p:sp>
        <p:nvSpPr>
          <p:cNvPr id="8" name="Text 1">
            <a:extLst>
              <a:ext uri="{FF2B5EF4-FFF2-40B4-BE49-F238E27FC236}">
                <a16:creationId xmlns:a16="http://schemas.microsoft.com/office/drawing/2014/main" id="{2CA92FC6-4022-9D35-AA38-EEFAC8D0B3FD}"/>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Währungsrisiko:</a:t>
            </a:r>
            <a:r>
              <a:rPr lang="de-DE" dirty="0"/>
              <a:t> Bei Anlagen in Fremdwährungen hängt die Rendite nicht nur von der Kursentwicklung des Wertpapiers ab, sondern auch von der Entwicklung des Wechselkurses zum Euro. Ungünstige Wechselkursänderungen können Gewinne schmälern oder zu Verlusten führen.</a:t>
            </a:r>
            <a:endParaRPr lang="de-DE" b="1" dirty="0"/>
          </a:p>
          <a:p>
            <a:pPr lvl="2"/>
            <a:endParaRPr lang="de-DE" b="1" dirty="0"/>
          </a:p>
          <a:p>
            <a:pPr lvl="2"/>
            <a:r>
              <a:rPr lang="de-DE" b="1" dirty="0"/>
              <a:t>Meinungsvorbehalt</a:t>
            </a:r>
            <a:r>
              <a:rPr lang="de-DE" dirty="0"/>
              <a:t>: Die dargestellten Meinungsäußerungen geben die aktuelle Einschätzung des Erstellers wieder und können sich ohne vorherige Ankündigung ändern.</a:t>
            </a:r>
          </a:p>
          <a:p>
            <a:pPr lvl="2"/>
            <a:endParaRPr lang="de-DE" dirty="0"/>
          </a:p>
          <a:p>
            <a:pPr lvl="2"/>
            <a:r>
              <a:rPr lang="de-DE" b="1" dirty="0"/>
              <a:t>Steuerliche Hinweise:</a:t>
            </a:r>
            <a:r>
              <a:rPr lang="de-DE" dirty="0"/>
              <a:t> Die steuerliche Behandlung der Erträge hängt von den persönlichen Verhältnissen des Kunden ab und kann künftigen Änderungen unterworfen sein. Diese Information ersetzt keine individuelle Steuerberatung.</a:t>
            </a:r>
          </a:p>
        </p:txBody>
      </p:sp>
      <p:sp>
        <p:nvSpPr>
          <p:cNvPr id="14" name="Text 1">
            <a:extLst>
              <a:ext uri="{FF2B5EF4-FFF2-40B4-BE49-F238E27FC236}">
                <a16:creationId xmlns:a16="http://schemas.microsoft.com/office/drawing/2014/main" id="{262685F1-866B-40B7-CD4A-5027053E814A}"/>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Markt- und Kursrisiken</a:t>
            </a:r>
            <a:r>
              <a:rPr lang="de-DE" dirty="0"/>
              <a:t>: Anlagen an den Kapitalmärkten sind mit Risiken verbunden. Die Kurse, Erträge und Werte einer Investmentanlage, auch der beschriebenen Investitionsmöglichkeiten können schwanken. Ein Kapitalverlust ist nicht auszuschließen.</a:t>
            </a:r>
            <a:br>
              <a:rPr lang="de-DE" dirty="0">
                <a:solidFill>
                  <a:srgbClr val="FF0000"/>
                </a:solidFill>
              </a:rPr>
            </a:br>
            <a:endParaRPr lang="de-DE" dirty="0">
              <a:solidFill>
                <a:srgbClr val="FF0000"/>
              </a:solidFill>
            </a:endParaRPr>
          </a:p>
          <a:p>
            <a:pPr lvl="2"/>
            <a:r>
              <a:rPr lang="de-DE" b="1" dirty="0"/>
              <a:t>Frühere Entwicklungen</a:t>
            </a:r>
            <a:r>
              <a:rPr lang="de-DE" dirty="0"/>
              <a:t>, Simulationen oder Prognosen sind kein verlässlicher Indikator für die zukünftige Wertentwicklung. Eine positive Entwicklung in der Vergangenheit ist insbesondere keine Garantie für die zukünftige Wertentwicklung. </a:t>
            </a:r>
          </a:p>
          <a:p>
            <a:pPr lvl="2"/>
            <a:endParaRPr lang="de-DE" dirty="0"/>
          </a:p>
          <a:p>
            <a:pPr lvl="2"/>
            <a:r>
              <a:rPr lang="de-DE" dirty="0"/>
              <a:t>Insbesondere bei Anlagen mit geringer Nominalverzinsung kann die </a:t>
            </a:r>
            <a:r>
              <a:rPr lang="de-DE" b="1" dirty="0"/>
              <a:t>Inflation</a:t>
            </a:r>
            <a:r>
              <a:rPr lang="de-DE" dirty="0"/>
              <a:t> zu einem realen Wertverlust führen.</a:t>
            </a:r>
          </a:p>
          <a:p>
            <a:pPr lvl="2"/>
            <a:endParaRPr lang="de-DE" dirty="0"/>
          </a:p>
          <a:p>
            <a:pPr lvl="2"/>
            <a:r>
              <a:rPr lang="de-DE" dirty="0"/>
              <a:t>Eine kurze Anlagedauer sowie anfallende </a:t>
            </a:r>
            <a:r>
              <a:rPr lang="de-DE" b="1" dirty="0"/>
              <a:t>Kosten</a:t>
            </a:r>
            <a:r>
              <a:rPr lang="de-DE" dirty="0"/>
              <a:t> und Gebühren können das Risiko-Rendite-Verhältnis sowie die tatsächliche Netto-Rendite erheblich beeinträchtigen.</a:t>
            </a:r>
          </a:p>
          <a:p>
            <a:pPr marL="0" lvl="2" indent="0">
              <a:buNone/>
            </a:pPr>
            <a:endParaRPr lang="de-DE" dirty="0"/>
          </a:p>
          <a:p>
            <a:pPr lvl="2"/>
            <a:endParaRPr lang="de-DE" dirty="0"/>
          </a:p>
          <a:p>
            <a:pPr lvl="2"/>
            <a:endParaRPr lang="de-DE" dirty="0"/>
          </a:p>
        </p:txBody>
      </p:sp>
    </p:spTree>
    <p:extLst>
      <p:ext uri="{BB962C8B-B14F-4D97-AF65-F5344CB8AC3E}">
        <p14:creationId xmlns:p14="http://schemas.microsoft.com/office/powerpoint/2010/main" val="26814157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116CC-F0AE-71CB-1251-609EEDFB115A}"/>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B47530D-88A6-A760-B34A-D1BE097ED3C6}"/>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26</a:t>
            </a:fld>
            <a:endParaRPr lang="de-DE"/>
          </a:p>
        </p:txBody>
      </p:sp>
      <p:sp>
        <p:nvSpPr>
          <p:cNvPr id="6" name="Titel">
            <a:extLst>
              <a:ext uri="{FF2B5EF4-FFF2-40B4-BE49-F238E27FC236}">
                <a16:creationId xmlns:a16="http://schemas.microsoft.com/office/drawing/2014/main" id="{2811FDDA-3594-45DD-834F-5736DCC6EF3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
        <p:nvSpPr>
          <p:cNvPr id="8" name="Text 1">
            <a:extLst>
              <a:ext uri="{FF2B5EF4-FFF2-40B4-BE49-F238E27FC236}">
                <a16:creationId xmlns:a16="http://schemas.microsoft.com/office/drawing/2014/main" id="{6055C3FA-5170-362F-1D1E-FE305637A52B}"/>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a:lnSpc>
                <a:spcPct val="100000"/>
              </a:lnSpc>
              <a:spcBef>
                <a:spcPts val="600"/>
              </a:spcBef>
            </a:pPr>
            <a:r>
              <a:rPr lang="de-DE" sz="1000" dirty="0">
                <a:solidFill>
                  <a:srgbClr val="000000"/>
                </a:solidFill>
                <a:latin typeface="+mn-lt"/>
              </a:rPr>
              <a:t>Verantwortlich für die Inhalte</a:t>
            </a:r>
          </a:p>
          <a:p>
            <a:pPr>
              <a:lnSpc>
                <a:spcPct val="100000"/>
              </a:lnSpc>
              <a:spcBef>
                <a:spcPts val="600"/>
              </a:spcBef>
            </a:pPr>
            <a:r>
              <a:rPr lang="de-DE" sz="1000" b="0" dirty="0">
                <a:solidFill>
                  <a:srgbClr val="000000"/>
                </a:solidFill>
                <a:latin typeface="+mn-lt"/>
              </a:rPr>
              <a:t>Fürst Fugger Privatbank Aktiengesellschaft</a:t>
            </a:r>
            <a:br>
              <a:rPr lang="de-DE" sz="1000" b="0" dirty="0">
                <a:solidFill>
                  <a:srgbClr val="000000"/>
                </a:solidFill>
                <a:latin typeface="+mn-lt"/>
              </a:rPr>
            </a:br>
            <a:r>
              <a:rPr lang="de-DE" sz="1000" b="0" dirty="0">
                <a:solidFill>
                  <a:srgbClr val="000000"/>
                </a:solidFill>
                <a:latin typeface="+mn-lt"/>
              </a:rPr>
              <a:t>Maximilianstraße 38</a:t>
            </a:r>
            <a:br>
              <a:rPr lang="de-DE" sz="1000" b="0" dirty="0">
                <a:solidFill>
                  <a:srgbClr val="000000"/>
                </a:solidFill>
                <a:latin typeface="+mn-lt"/>
              </a:rPr>
            </a:br>
            <a:r>
              <a:rPr lang="de-DE" sz="1000" b="0" dirty="0">
                <a:solidFill>
                  <a:srgbClr val="000000"/>
                </a:solidFill>
                <a:latin typeface="+mn-lt"/>
              </a:rPr>
              <a:t>86150 Augsburg</a:t>
            </a:r>
            <a:br>
              <a:rPr lang="de-DE" sz="1000" b="0" dirty="0">
                <a:solidFill>
                  <a:srgbClr val="000000"/>
                </a:solidFill>
                <a:latin typeface="+mn-lt"/>
              </a:rPr>
            </a:br>
            <a:r>
              <a:rPr lang="de-DE" sz="1000" b="0" dirty="0">
                <a:solidFill>
                  <a:srgbClr val="000000"/>
                </a:solidFill>
                <a:latin typeface="+mn-lt"/>
              </a:rPr>
              <a:t>Telefon 0821 3201-0</a:t>
            </a:r>
            <a:br>
              <a:rPr lang="de-DE" sz="1000" b="0" dirty="0">
                <a:solidFill>
                  <a:srgbClr val="000000"/>
                </a:solidFill>
                <a:latin typeface="+mn-lt"/>
              </a:rPr>
            </a:br>
            <a:r>
              <a:rPr lang="de-DE" sz="1000" b="0" dirty="0">
                <a:solidFill>
                  <a:srgbClr val="000000"/>
                </a:solidFill>
                <a:latin typeface="+mn-lt"/>
              </a:rPr>
              <a:t>Telefax </a:t>
            </a:r>
            <a:r>
              <a:rPr lang="de-DE" sz="1000" b="0">
                <a:solidFill>
                  <a:srgbClr val="000000"/>
                </a:solidFill>
                <a:latin typeface="+mn-lt"/>
              </a:rPr>
              <a:t>0821 3201-271</a:t>
            </a:r>
            <a:endParaRPr lang="de-DE" sz="1000" b="0" dirty="0">
              <a:solidFill>
                <a:srgbClr val="FF0000"/>
              </a:solidFill>
              <a:latin typeface="+mn-lt"/>
            </a:endParaRPr>
          </a:p>
          <a:p>
            <a:pPr>
              <a:lnSpc>
                <a:spcPct val="100000"/>
              </a:lnSpc>
            </a:pPr>
            <a:r>
              <a:rPr lang="de-DE" sz="1000" dirty="0">
                <a:solidFill>
                  <a:srgbClr val="000000"/>
                </a:solidFill>
                <a:latin typeface="+mn-lt"/>
              </a:rPr>
              <a:t>E-Mail </a:t>
            </a:r>
            <a:r>
              <a:rPr lang="de-DE" sz="1000" u="sng" dirty="0">
                <a:solidFill>
                  <a:schemeClr val="accent3"/>
                </a:solidFill>
                <a:latin typeface="+mn-lt"/>
                <a:hlinkClick r:id="rId3">
                  <a:extLst>
                    <a:ext uri="{A12FA001-AC4F-418D-AE19-62706E023703}">
                      <ahyp:hlinkClr xmlns:ahyp="http://schemas.microsoft.com/office/drawing/2018/hyperlinkcolor" val="tx"/>
                    </a:ext>
                  </a:extLst>
                </a:hlinkClick>
              </a:rPr>
              <a:t>info@fuggerbank.de</a:t>
            </a:r>
            <a:r>
              <a:rPr lang="de-DE" sz="1000" dirty="0">
                <a:solidFill>
                  <a:schemeClr val="accent3"/>
                </a:solidFill>
                <a:latin typeface="+mn-lt"/>
              </a:rPr>
              <a:t>     </a:t>
            </a:r>
          </a:p>
          <a:p>
            <a:pPr>
              <a:lnSpc>
                <a:spcPct val="100000"/>
              </a:lnSpc>
            </a:pPr>
            <a:r>
              <a:rPr lang="de-DE" sz="1000" dirty="0">
                <a:solidFill>
                  <a:srgbClr val="000000"/>
                </a:solidFill>
                <a:latin typeface="+mn-lt"/>
              </a:rPr>
              <a:t>Homepage </a:t>
            </a:r>
            <a:r>
              <a:rPr lang="de-DE" sz="1000" dirty="0">
                <a:solidFill>
                  <a:schemeClr val="accent3"/>
                </a:solidFill>
                <a:latin typeface="+mn-lt"/>
                <a:hlinkClick r:id="rId4">
                  <a:extLst>
                    <a:ext uri="{A12FA001-AC4F-418D-AE19-62706E023703}">
                      <ahyp:hlinkClr xmlns:ahyp="http://schemas.microsoft.com/office/drawing/2018/hyperlinkcolor" val="tx"/>
                    </a:ext>
                  </a:extLst>
                </a:hlinkClick>
              </a:rPr>
              <a:t>www.fuggerbank.de</a:t>
            </a:r>
            <a:r>
              <a:rPr lang="de-DE" sz="1000" dirty="0">
                <a:solidFill>
                  <a:schemeClr val="accent3"/>
                </a:solidFill>
                <a:latin typeface="+mn-lt"/>
              </a:rPr>
              <a:t> </a:t>
            </a:r>
          </a:p>
          <a:p>
            <a:pPr>
              <a:lnSpc>
                <a:spcPts val="1100"/>
              </a:lnSpc>
            </a:pPr>
            <a:r>
              <a:rPr lang="de-DE" sz="1000" dirty="0">
                <a:solidFill>
                  <a:srgbClr val="000000"/>
                </a:solidFill>
                <a:latin typeface="+mn-lt"/>
              </a:rPr>
              <a:t>Vorstand </a:t>
            </a:r>
            <a:r>
              <a:rPr lang="de-DE" sz="1000" b="0" dirty="0">
                <a:solidFill>
                  <a:srgbClr val="000000"/>
                </a:solidFill>
                <a:latin typeface="+mn-lt"/>
              </a:rPr>
              <a:t>Dr. Martin Fritz (Vorsitzender)</a:t>
            </a:r>
            <a:br>
              <a:rPr lang="de-DE" sz="1000" b="0" dirty="0">
                <a:solidFill>
                  <a:srgbClr val="000000"/>
                </a:solidFill>
                <a:latin typeface="+mn-lt"/>
              </a:rPr>
            </a:br>
            <a:r>
              <a:rPr lang="de-DE" sz="1000" b="0" dirty="0">
                <a:solidFill>
                  <a:srgbClr val="000000"/>
                </a:solidFill>
                <a:latin typeface="+mn-lt"/>
              </a:rPr>
              <a:t>                   Jochen Hagen</a:t>
            </a:r>
          </a:p>
          <a:p>
            <a:pPr>
              <a:lnSpc>
                <a:spcPts val="600"/>
              </a:lnSpc>
            </a:pPr>
            <a:r>
              <a:rPr lang="de-DE" sz="1000" dirty="0">
                <a:solidFill>
                  <a:srgbClr val="000000"/>
                </a:solidFill>
                <a:latin typeface="+mn-lt"/>
              </a:rPr>
              <a:t>Vorsitzender des Aufsichtsrats </a:t>
            </a:r>
            <a:r>
              <a:rPr lang="de-DE" sz="1000" b="0" dirty="0">
                <a:solidFill>
                  <a:srgbClr val="000000"/>
                </a:solidFill>
                <a:latin typeface="+mn-lt"/>
              </a:rPr>
              <a:t>Dr. Jürgen Voß</a:t>
            </a:r>
          </a:p>
          <a:p>
            <a:pPr>
              <a:lnSpc>
                <a:spcPts val="600"/>
              </a:lnSpc>
            </a:pPr>
            <a:r>
              <a:rPr lang="en-US" sz="1000" b="0" dirty="0">
                <a:solidFill>
                  <a:srgbClr val="000000"/>
                </a:solidFill>
                <a:latin typeface="+mn-lt"/>
              </a:rPr>
              <a:t>BLZ 720 300 14 	BIC FUBKDE71</a:t>
            </a:r>
            <a:endParaRPr lang="de-DE" sz="1000" b="0" dirty="0">
              <a:solidFill>
                <a:srgbClr val="000000"/>
              </a:solidFill>
              <a:latin typeface="+mn-lt"/>
            </a:endParaRPr>
          </a:p>
          <a:p>
            <a:pPr>
              <a:lnSpc>
                <a:spcPts val="600"/>
              </a:lnSpc>
            </a:pPr>
            <a:r>
              <a:rPr lang="en-US" sz="1000" b="0" dirty="0" err="1">
                <a:solidFill>
                  <a:srgbClr val="000000"/>
                </a:solidFill>
                <a:latin typeface="+mn-lt"/>
              </a:rPr>
              <a:t>USt</a:t>
            </a:r>
            <a:r>
              <a:rPr lang="en-US" sz="1000" b="0" dirty="0">
                <a:solidFill>
                  <a:srgbClr val="000000"/>
                </a:solidFill>
                <a:latin typeface="+mn-lt"/>
              </a:rPr>
              <a:t>.-</a:t>
            </a:r>
            <a:r>
              <a:rPr lang="en-US" sz="1000" b="0" dirty="0" err="1">
                <a:solidFill>
                  <a:srgbClr val="000000"/>
                </a:solidFill>
                <a:latin typeface="+mn-lt"/>
              </a:rPr>
              <a:t>IdNr</a:t>
            </a:r>
            <a:r>
              <a:rPr lang="en-US" sz="1000" b="0" dirty="0">
                <a:solidFill>
                  <a:srgbClr val="000000"/>
                </a:solidFill>
                <a:latin typeface="+mn-lt"/>
              </a:rPr>
              <a:t>. </a:t>
            </a:r>
            <a:r>
              <a:rPr lang="de-DE" sz="1000" b="0" dirty="0">
                <a:solidFill>
                  <a:srgbClr val="000000"/>
                </a:solidFill>
                <a:latin typeface="+mn-lt"/>
              </a:rPr>
              <a:t>DE127460248 St.-Nr. 103/120/20616</a:t>
            </a:r>
          </a:p>
          <a:p>
            <a:pPr>
              <a:lnSpc>
                <a:spcPts val="600"/>
              </a:lnSpc>
            </a:pPr>
            <a:r>
              <a:rPr lang="de-DE" sz="1000" dirty="0">
                <a:solidFill>
                  <a:srgbClr val="000000"/>
                </a:solidFill>
                <a:latin typeface="+mn-lt"/>
              </a:rPr>
              <a:t>Handelsregister </a:t>
            </a:r>
            <a:r>
              <a:rPr lang="de-DE" sz="1000" b="0" dirty="0">
                <a:solidFill>
                  <a:srgbClr val="000000"/>
                </a:solidFill>
                <a:latin typeface="+mn-lt"/>
              </a:rPr>
              <a:t>Amtsgericht Augsburg HRB 30002</a:t>
            </a:r>
          </a:p>
          <a:p>
            <a:pPr>
              <a:lnSpc>
                <a:spcPts val="600"/>
              </a:lnSpc>
            </a:pPr>
            <a:r>
              <a:rPr lang="de-DE" sz="1000" dirty="0">
                <a:solidFill>
                  <a:srgbClr val="000000"/>
                </a:solidFill>
                <a:latin typeface="+mn-lt"/>
              </a:rPr>
              <a:t>Zuständige Aufsichtsbehörden</a:t>
            </a:r>
          </a:p>
          <a:p>
            <a:pPr>
              <a:lnSpc>
                <a:spcPts val="600"/>
              </a:lnSpc>
            </a:pPr>
            <a:r>
              <a:rPr lang="de-DE" sz="1000" b="0" dirty="0">
                <a:solidFill>
                  <a:srgbClr val="000000"/>
                </a:solidFill>
                <a:latin typeface="+mn-lt"/>
              </a:rPr>
              <a:t>Bundesanstalt für Finanzdienstleistungsaufsicht (BaFin)</a:t>
            </a:r>
            <a:br>
              <a:rPr lang="de-DE" sz="1000" b="0" dirty="0">
                <a:solidFill>
                  <a:srgbClr val="000000"/>
                </a:solidFill>
                <a:latin typeface="+mn-lt"/>
              </a:rPr>
            </a:br>
            <a:br>
              <a:rPr lang="de-DE" sz="1000" b="0" dirty="0">
                <a:solidFill>
                  <a:schemeClr val="accent3"/>
                </a:solidFill>
                <a:latin typeface="+mn-lt"/>
              </a:rPr>
            </a:br>
            <a:r>
              <a:rPr lang="de-DE" sz="1000" b="0" u="sng" dirty="0">
                <a:solidFill>
                  <a:schemeClr val="accent3"/>
                </a:solidFill>
                <a:latin typeface="+mn-lt"/>
                <a:hlinkClick r:id="rId5">
                  <a:extLst>
                    <a:ext uri="{A12FA001-AC4F-418D-AE19-62706E023703}">
                      <ahyp:hlinkClr xmlns:ahyp="http://schemas.microsoft.com/office/drawing/2018/hyperlinkcolor" val="tx"/>
                    </a:ext>
                  </a:extLst>
                </a:hlinkClick>
              </a:rPr>
              <a:t>www.bafin.de</a:t>
            </a:r>
            <a:endParaRPr lang="de-DE" sz="1000" b="0" dirty="0">
              <a:solidFill>
                <a:schemeClr val="accent3"/>
              </a:solidFill>
              <a:latin typeface="+mn-lt"/>
            </a:endParaRPr>
          </a:p>
          <a:p>
            <a:pPr>
              <a:lnSpc>
                <a:spcPts val="600"/>
              </a:lnSpc>
            </a:pPr>
            <a:r>
              <a:rPr lang="de-DE" sz="1000" b="0" dirty="0">
                <a:solidFill>
                  <a:srgbClr val="000000"/>
                </a:solidFill>
                <a:latin typeface="+mn-lt"/>
              </a:rPr>
              <a:t>Europäische Zentralbank </a:t>
            </a:r>
            <a:r>
              <a:rPr lang="de-DE" sz="1000" b="0" dirty="0">
                <a:solidFill>
                  <a:schemeClr val="accent3"/>
                </a:solidFill>
                <a:latin typeface="+mn-lt"/>
                <a:hlinkClick r:id="rId6">
                  <a:extLst>
                    <a:ext uri="{A12FA001-AC4F-418D-AE19-62706E023703}">
                      <ahyp:hlinkClr xmlns:ahyp="http://schemas.microsoft.com/office/drawing/2018/hyperlinkcolor" val="tx"/>
                    </a:ext>
                  </a:extLst>
                </a:hlinkClick>
              </a:rPr>
              <a:t>https://www.ecb.europa.eu/</a:t>
            </a:r>
            <a:r>
              <a:rPr lang="de-DE" sz="1000" b="0" dirty="0">
                <a:solidFill>
                  <a:schemeClr val="accent3"/>
                </a:solidFill>
                <a:latin typeface="+mn-lt"/>
              </a:rPr>
              <a:t> </a:t>
            </a:r>
          </a:p>
          <a:p>
            <a:pPr>
              <a:lnSpc>
                <a:spcPts val="600"/>
              </a:lnSpc>
            </a:pPr>
            <a:br>
              <a:rPr lang="de-DE" dirty="0">
                <a:solidFill>
                  <a:srgbClr val="000000"/>
                </a:solidFill>
                <a:latin typeface="+mn-lt"/>
              </a:rPr>
            </a:br>
            <a:endParaRPr lang="de-DE" dirty="0">
              <a:solidFill>
                <a:srgbClr val="000000"/>
              </a:solidFill>
              <a:latin typeface="+mn-lt"/>
            </a:endParaRPr>
          </a:p>
          <a:p>
            <a:pPr lvl="2"/>
            <a:endParaRPr lang="de-DE" dirty="0"/>
          </a:p>
        </p:txBody>
      </p:sp>
      <p:sp>
        <p:nvSpPr>
          <p:cNvPr id="14" name="Text 1">
            <a:extLst>
              <a:ext uri="{FF2B5EF4-FFF2-40B4-BE49-F238E27FC236}">
                <a16:creationId xmlns:a16="http://schemas.microsoft.com/office/drawing/2014/main" id="{8CCE4820-0FDA-9A4D-5A63-CD644FE440C8}"/>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b="0" dirty="0">
                <a:solidFill>
                  <a:srgbClr val="000000"/>
                </a:solidFill>
                <a:latin typeface="+mn-lt"/>
              </a:rPr>
              <a:t>Die vorliegenden Inhalte sind als reine Kundeninformation der Fürst Fugger Privatbank zu verstehen. Sie stellen weder ein verbindliches Angebot noch eine Anlageberatung dar. Da jeder Anlageerfolg eine individuelle Analyse Ihrer Ziele und Vermögensverhältnisse voraussetzt, ersetzt dieses Dokument kein persönliches Beratungsgespräch.</a:t>
            </a:r>
          </a:p>
          <a:p>
            <a:r>
              <a:rPr lang="de-DE" b="0" dirty="0">
                <a:solidFill>
                  <a:srgbClr val="000000"/>
                </a:solidFill>
                <a:latin typeface="+mn-lt"/>
              </a:rPr>
              <a:t>Wir haben die Informationen mit gebotener Sorgfalt zusammengestellt. Bitte haben Sie Verständnis, dass wir für die Richtigkeit der genutzten Quellen keine Gewähr übernehmen können und unsere Haftung auf Vorsatz sowie grobe Fahrlässigkeit beschränkt ist. Die Vertraulichkeit bleibt gewahrt: Eine Weitergabe an Dritte oder eine Vervielfältigung ist nur nach unserer ausdrücklichen Zustimmung zulässig.</a:t>
            </a:r>
          </a:p>
          <a:p>
            <a:pPr lvl="2"/>
            <a:endParaRPr lang="de-DE" dirty="0"/>
          </a:p>
        </p:txBody>
      </p:sp>
    </p:spTree>
    <p:extLst>
      <p:ext uri="{BB962C8B-B14F-4D97-AF65-F5344CB8AC3E}">
        <p14:creationId xmlns:p14="http://schemas.microsoft.com/office/powerpoint/2010/main" val="14092415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20.07.2026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4016</Words>
  <Application>Microsoft Office PowerPoint</Application>
  <PresentationFormat>Benutzerdefiniert</PresentationFormat>
  <Paragraphs>1248</Paragraphs>
  <Slides>27</Slides>
  <Notes>0</Notes>
  <HiddenSlides>0</HiddenSlides>
  <MMClips>0</MMClips>
  <ScaleCrop>false</ScaleCrop>
  <HeadingPairs>
    <vt:vector size="6" baseType="variant">
      <vt:variant>
        <vt:lpstr>Verwendete Schriftarten</vt:lpstr>
      </vt:variant>
      <vt:variant>
        <vt:i4>8</vt:i4>
      </vt:variant>
      <vt:variant>
        <vt:lpstr>Design</vt:lpstr>
      </vt:variant>
      <vt:variant>
        <vt:i4>1</vt:i4>
      </vt:variant>
      <vt:variant>
        <vt:lpstr>Folientitel</vt:lpstr>
      </vt:variant>
      <vt:variant>
        <vt:i4>27</vt:i4>
      </vt:variant>
    </vt:vector>
  </HeadingPairs>
  <TitlesOfParts>
    <vt:vector size="36" baseType="lpstr">
      <vt:lpstr>Arial</vt:lpstr>
      <vt:lpstr>Calibri</vt:lpstr>
      <vt:lpstr>Noto Sans</vt:lpstr>
      <vt:lpstr>Noto Sans (Textkörper)</vt:lpstr>
      <vt:lpstr>Noto Serif</vt:lpstr>
      <vt:lpstr>Open Sans</vt:lpstr>
      <vt:lpstr>Symbol</vt:lpstr>
      <vt:lpstr>Wingdings 2</vt:lpstr>
      <vt:lpstr>Office</vt:lpstr>
      <vt:lpstr>Unsere   klassische Portfolioverwaltung</vt:lpstr>
      <vt:lpstr>Inhalt</vt:lpstr>
      <vt:lpstr>Unsere Vermögensverwaltung</vt:lpstr>
      <vt:lpstr>Unsere Portfolioverwaltung </vt:lpstr>
      <vt:lpstr>Unsere drei klassischen Portfolioverwaltungsstrategien</vt:lpstr>
      <vt:lpstr>Anlagestrategie Portfolioverwaltung 30</vt:lpstr>
      <vt:lpstr>Anlagestrategie Comdirect 30 | Wertentwicklung</vt:lpstr>
      <vt:lpstr>Anlagestrategie Portfolioverwaltung 70</vt:lpstr>
      <vt:lpstr>Anlagestrategie Comdirect 70 | Wertentwicklung</vt:lpstr>
      <vt:lpstr>Anlagestrategie Portfolioverwaltung 100</vt:lpstr>
      <vt:lpstr>Anlagestrategie Comdirect 100 | Wertentwicklung</vt:lpstr>
      <vt:lpstr>Unser Honorar</vt:lpstr>
      <vt:lpstr>Transaktionskosten</vt:lpstr>
      <vt:lpstr>Unser Honorar</vt:lpstr>
      <vt:lpstr>Steuerlicher Hinweis zum Honorar</vt:lpstr>
      <vt:lpstr>Unsere Investmentphilosophie</vt:lpstr>
      <vt:lpstr>Unser Investmentprozess</vt:lpstr>
      <vt:lpstr>Unser Risikomanagement</vt:lpstr>
      <vt:lpstr>Anlageklassen und Ausgestaltung</vt:lpstr>
      <vt:lpstr>Unser Service und der Service unseres Depotführers der comdirect*</vt:lpstr>
      <vt:lpstr>Unsere Bank in Zahlen</vt:lpstr>
      <vt:lpstr>Unsere Tradition</vt:lpstr>
      <vt:lpstr>Sehr geehrte Interessentin, sehr geehrter Interessent,</vt:lpstr>
      <vt:lpstr>Die Fugger</vt:lpstr>
      <vt:lpstr>Risikohinweise</vt:lpstr>
      <vt:lpstr>Rechtliche Hinweise und Impressum</vt:lpstr>
      <vt:lpstr>Vielen Dank  für Ihr Interesse</vt:lpstr>
    </vt:vector>
  </TitlesOfParts>
  <Company>Fürst Fugger Privatbank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Fürst Fugger Privatbank</dc:creator>
  <cp:keywords>Vorlagen;Vermögensverwaltung</cp:keywords>
  <cp:lastModifiedBy>Fürst Fugger Privatbank</cp:lastModifiedBy>
  <cp:revision>195</cp:revision>
  <dcterms:created xsi:type="dcterms:W3CDTF">2023-08-14T05:18:02Z</dcterms:created>
  <dcterms:modified xsi:type="dcterms:W3CDTF">2026-07-20T09:07:39Z</dcterms:modified>
  <cp:category>Vorlagen;Design</cp:category>
</cp:coreProperties>
</file>