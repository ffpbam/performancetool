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4.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sldIdLst>
    <p:sldId id="256" r:id="rId2"/>
    <p:sldId id="267" r:id="rId3"/>
    <p:sldId id="306" r:id="rId4"/>
    <p:sldId id="269" r:id="rId5"/>
    <p:sldId id="271" r:id="rId6"/>
    <p:sldId id="257" r:id="rId7"/>
    <p:sldId id="303" r:id="rId8"/>
    <p:sldId id="272" r:id="rId9"/>
    <p:sldId id="304" r:id="rId10"/>
    <p:sldId id="273" r:id="rId11"/>
    <p:sldId id="305" r:id="rId12"/>
    <p:sldId id="284" r:id="rId13"/>
    <p:sldId id="302" r:id="rId14"/>
    <p:sldId id="285" r:id="rId15"/>
    <p:sldId id="300" r:id="rId16"/>
    <p:sldId id="307" r:id="rId17"/>
    <p:sldId id="1594" r:id="rId18"/>
    <p:sldId id="288" r:id="rId19"/>
    <p:sldId id="289" r:id="rId20"/>
    <p:sldId id="290" r:id="rId21"/>
    <p:sldId id="1595" r:id="rId34"/>
    <p:sldId id="295" r:id="rId23"/>
    <p:sldId id="296" r:id="rId24"/>
    <p:sldId id="297" r:id="rId25"/>
    <p:sldId id="312" r:id="rId26"/>
    <p:sldId id="311" r:id="rId27"/>
    <p:sldId id="299" r:id="rId2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161" autoAdjust="0"/>
  </p:normalViewPr>
  <p:slideViewPr>
    <p:cSldViewPr snapToGrid="0" showGuides="1">
      <p:cViewPr varScale="1">
        <p:scale>
          <a:sx n="120" d="100"/>
          <a:sy n="120" d="100"/>
        </p:scale>
        <p:origin x="780" y="10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7.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7DD5-4331-A1F2-494FF211F11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7DD5-4331-A1F2-494FF211F11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7DD5-4331-A1F2-494FF211F11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7DD5-4331-A1F2-494FF211F11D}"/>
              </c:ext>
            </c:extLst>
          </c:dPt>
          <c:dLbls>
            <c:dLbl>
              <c:idx val="0"/>
              <c:layout>
                <c:manualLayout>
                  <c:x val="0.36145315303382419"/>
                  <c:y val="4.754085960149247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DD5-4331-A1F2-494FF211F11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DD5-4331-A1F2-494FF211F11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DD5-4331-A1F2-494FF211F11D}"/>
                </c:ext>
              </c:extLst>
            </c:dLbl>
            <c:dLbl>
              <c:idx val="3"/>
              <c:layout>
                <c:manualLayout>
                  <c:x val="-0.367021084446157"/>
                  <c:y val="-4.69891583719633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7DD5-4331-A1F2-494FF211F11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S_Diagramm_Com!$B$4:$B$7</c:f>
              <c:strCache>
                <c:ptCount val="4"/>
                <c:pt idx="0">
                  <c:v>EDELMETALLE</c:v>
                </c:pt>
                <c:pt idx="1">
                  <c:v>RENTEN</c:v>
                </c:pt>
                <c:pt idx="2">
                  <c:v>AKTIEN </c:v>
                </c:pt>
                <c:pt idx="3">
                  <c:v>LIQUIDITÄT</c:v>
                </c:pt>
              </c:strCache>
            </c:strRef>
          </c:cat>
          <c:val>
            <c:numRef>
              <c:f>S_Diagramm_Com!$C$4:$C$7</c:f>
              <c:numCache>
                <c:formatCode>0.00%</c:formatCode>
                <c:ptCount val="4"/>
                <c:pt idx="0">
                  <c:v>0.1195</c:v>
                </c:pt>
                <c:pt idx="1">
                  <c:v>0.53890000000000005</c:v>
                </c:pt>
                <c:pt idx="2">
                  <c:v>0.28599999999999992</c:v>
                </c:pt>
                <c:pt idx="3">
                  <c:v>5.5599999999999997E-2</c:v>
                </c:pt>
              </c:numCache>
            </c:numRef>
          </c:val>
          <c:extLst>
            <c:ext xmlns:c16="http://schemas.microsoft.com/office/drawing/2014/chart" uri="{C3380CC4-5D6E-409C-BE32-E72D297353CC}">
              <c16:uniqueId val="{00000008-7DD5-4331-A1F2-494FF211F11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034242250801352"/>
          <c:w val="0.23952616820244227"/>
          <c:h val="0.25965757749198648"/>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1.0121</c:v>
                </c:pt>
                <c:pt idx="4">
                  <c:v>1.00116932</c:v>
                </c:pt>
                <c:pt idx="5">
                  <c:v>1.01168159786</c:v>
                </c:pt>
                <c:pt idx="6">
                  <c:v>1.0260474765496119</c:v>
                </c:pt>
                <c:pt idx="7">
                  <c:v>1.0344756357314857</c:v>
                </c:pt>
                <c:pt idx="8">
                  <c:v>1.0464755531059711</c:v>
                </c:pt>
                <c:pt idx="9">
                  <c:v>1.0568356610817202</c:v>
                </c:pt>
                <c:pt idx="10">
                  <c:v>1.0571527117800448</c:v>
                </c:pt>
                <c:pt idx="11">
                  <c:v>1.0756528842361956</c:v>
                </c:pt>
                <c:pt idx="12">
                  <c:v>1.064250963663292</c:v>
                </c:pt>
                <c:pt idx="13">
                  <c:v>1.0832542288704639</c:v>
                </c:pt>
                <c:pt idx="14">
                  <c:v>1.1006946219552782</c:v>
                </c:pt>
                <c:pt idx="15">
                  <c:v>1.0943105931479375</c:v>
                </c:pt>
                <c:pt idx="16">
                  <c:v>1.0931068514954749</c:v>
                </c:pt>
                <c:pt idx="17">
                  <c:v>1.1014144635668406</c:v>
                </c:pt>
                <c:pt idx="18">
                  <c:v>1.0921625820728791</c:v>
                </c:pt>
                <c:pt idx="19">
                  <c:v>1.1042820918136254</c:v>
                </c:pt>
                <c:pt idx="20">
                  <c:v>1.100527532701459</c:v>
                </c:pt>
                <c:pt idx="21">
                  <c:v>1.1149444433798481</c:v>
                </c:pt>
                <c:pt idx="22">
                  <c:v>1.1131605322704403</c:v>
                </c:pt>
                <c:pt idx="23">
                  <c:v>1.1316389971061296</c:v>
                </c:pt>
                <c:pt idx="24">
                  <c:v>1.1352602418968694</c:v>
                </c:pt>
                <c:pt idx="25">
                  <c:v>1.1544427452911696</c:v>
                </c:pt>
                <c:pt idx="26">
                  <c:v>1.1895627388141621</c:v>
                </c:pt>
                <c:pt idx="27">
                  <c:v>1.1578305260168602</c:v>
                </c:pt>
                <c:pt idx="28">
                  <c:v>1.1553461534846869</c:v>
                </c:pt>
                <c:pt idx="29">
                  <c:v>1.1554590795088768</c:v>
                </c:pt>
                <c:pt idx="30">
                  <c:v>1.1448440332350462</c:v>
                </c:pt>
                <c:pt idx="31">
                  <c:v>1.1477801098639779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5.361273672671385E-2</c:v>
                </c:pt>
                <c:pt idx="1">
                  <c:v>6.2399999999999997E-2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3.78E-2</c:v>
                </c:pt>
                <c:pt idx="1">
                  <c:v>3.7900000000000003E-2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C78-4B07-A53C-03F4AE4F8CB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C78-4B07-A53C-03F4AE4F8CB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0C78-4B07-A53C-03F4AE4F8CB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0C78-4B07-A53C-03F4AE4F8CBD}"/>
              </c:ext>
            </c:extLst>
          </c:dPt>
          <c:dLbls>
            <c:dLbl>
              <c:idx val="0"/>
              <c:layout>
                <c:manualLayout>
                  <c:x val="0.31798980255278375"/>
                  <c:y val="-1.43571620799747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78-4B07-A53C-03F4AE4F8CBD}"/>
                </c:ext>
              </c:extLst>
            </c:dLbl>
            <c:dLbl>
              <c:idx val="1"/>
              <c:layout>
                <c:manualLayout>
                  <c:x val="0.20595722547308626"/>
                  <c:y val="0.2373244241292498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C78-4B07-A53C-03F4AE4F8CBD}"/>
                </c:ext>
              </c:extLst>
            </c:dLbl>
            <c:dLbl>
              <c:idx val="2"/>
              <c:layout>
                <c:manualLayout>
                  <c:x val="-0.19665332101426963"/>
                  <c:y val="-0.1626910481921662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C78-4B07-A53C-03F4AE4F8CBD}"/>
                </c:ext>
              </c:extLst>
            </c:dLbl>
            <c:dLbl>
              <c:idx val="3"/>
              <c:layout>
                <c:manualLayout>
                  <c:x val="-0.30689853882216062"/>
                  <c:y val="-9.633577571059540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0C78-4B07-A53C-03F4AE4F8CB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S_Diagramm_Com!$F$4:$F$7</c:f>
              <c:strCache>
                <c:ptCount val="4"/>
                <c:pt idx="0">
                  <c:v>EDELMETALLE</c:v>
                </c:pt>
                <c:pt idx="1">
                  <c:v>RENTEN</c:v>
                </c:pt>
                <c:pt idx="2">
                  <c:v>AKTIEN </c:v>
                </c:pt>
                <c:pt idx="3">
                  <c:v>LIQUIDITÄT</c:v>
                </c:pt>
              </c:strCache>
            </c:strRef>
          </c:cat>
          <c:val>
            <c:numRef>
              <c:f>S_Diagramm_Com!$G$4:$G$7</c:f>
              <c:numCache>
                <c:formatCode>0.00%</c:formatCode>
                <c:ptCount val="4"/>
                <c:pt idx="0">
                  <c:v>0.12</c:v>
                </c:pt>
                <c:pt idx="1">
                  <c:v>0.17880000000000001</c:v>
                </c:pt>
                <c:pt idx="2">
                  <c:v>0.67080000000000006</c:v>
                </c:pt>
                <c:pt idx="3">
                  <c:v>3.04E-2</c:v>
                </c:pt>
              </c:numCache>
            </c:numRef>
          </c:val>
          <c:extLst>
            <c:ext xmlns:c16="http://schemas.microsoft.com/office/drawing/2014/chart" uri="{C3380CC4-5D6E-409C-BE32-E72D297353CC}">
              <c16:uniqueId val="{00000008-0C78-4B07-A53C-03F4AE4F8CB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4133791968009033"/>
          <c:w val="0.26075351606611236"/>
          <c:h val="0.2586620803199096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1.0163</c:v>
                </c:pt>
                <c:pt idx="4">
                  <c:v>0.98733545</c:v>
                </c:pt>
                <c:pt idx="5">
                  <c:v>1.0012568798450001</c:v>
                </c:pt>
                <c:pt idx="6">
                  <c:v>1.0168764871705822</c:v>
                </c:pt>
                <c:pt idx="7">
                  <c:v>1.0144032401784857</c:v>
                </c:pt>
                <c:pt idx="8">
                  <c:v>1.0331697001217877</c:v>
                </c:pt>
                <c:pt idx="9">
                  <c:v>1.0317232625416173</c:v>
                </c:pt>
                <c:pt idx="10">
                  <c:v>1.0461673882172</c:v>
                </c:pt>
                <c:pt idx="11">
                  <c:v>1.0956511056798734</c:v>
                </c:pt>
                <c:pt idx="12">
                  <c:v>1.082284162190579</c:v>
                </c:pt>
                <c:pt idx="13">
                  <c:v>1.1000712859393489</c:v>
                </c:pt>
                <c:pt idx="14">
                  <c:v>1.1382437595614443</c:v>
                </c:pt>
                <c:pt idx="15">
                  <c:v>1.1234465906871456</c:v>
                </c:pt>
                <c:pt idx="16">
                  <c:v>1.1223231440964585</c:v>
                </c:pt>
                <c:pt idx="17">
                  <c:v>1.1642980296856662</c:v>
                </c:pt>
                <c:pt idx="18">
                  <c:v>1.1552165050541179</c:v>
                </c:pt>
                <c:pt idx="19">
                  <c:v>1.1923269111057775</c:v>
                </c:pt>
                <c:pt idx="20">
                  <c:v>1.1670495805903349</c:v>
                </c:pt>
                <c:pt idx="21">
                  <c:v>1.1936583110277945</c:v>
                </c:pt>
                <c:pt idx="22">
                  <c:v>1.1965230909742612</c:v>
                </c:pt>
                <c:pt idx="23">
                  <c:v>1.1952069155741896</c:v>
                </c:pt>
                <c:pt idx="24">
                  <c:v>1.1968802052559935</c:v>
                </c:pt>
                <c:pt idx="25">
                  <c:v>1.1972574625285808</c:v>
                </c:pt>
                <c:pt idx="26">
                  <c:v>1.2284323239062878</c:v>
                </c:pt>
                <c:pt idx="27">
                  <c:v>1.1835738401681368</c:v>
                </c:pt>
                <c:pt idx="28">
                  <c:v>1.1921409776459799</c:v>
                </c:pt>
                <c:pt idx="29">
                  <c:v>1.1940447859743897</c:v>
                </c:pt>
                <c:pt idx="30">
                  <c:v>1.1650117089661434</c:v>
                </c:pt>
                <c:pt idx="31">
                  <c:v>1.1798852115318432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7.1499999999999994E-2</c:v>
                </c:pt>
                <c:pt idx="1">
                  <c:v>0.10249999999999999</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4.3700000000000003E-2</c:v>
                </c:pt>
                <c:pt idx="1">
                  <c:v>7.6999999999999999E-2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6D2-4D44-B8A5-1062D74E8B24}"/>
              </c:ext>
            </c:extLst>
          </c:dPt>
          <c:dPt>
            <c:idx val="1"/>
            <c:bubble3D val="0"/>
            <c:spPr>
              <a:solidFill>
                <a:srgbClr val="14355C"/>
              </a:solidFill>
              <a:ln w="19050">
                <a:solidFill>
                  <a:schemeClr val="lt1"/>
                </a:solidFill>
              </a:ln>
              <a:effectLst/>
            </c:spPr>
            <c:extLst>
              <c:ext xmlns:c16="http://schemas.microsoft.com/office/drawing/2014/chart" uri="{C3380CC4-5D6E-409C-BE32-E72D297353CC}">
                <c16:uniqueId val="{00000003-D6D2-4D44-B8A5-1062D74E8B24}"/>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D6D2-4D44-B8A5-1062D74E8B24}"/>
              </c:ext>
            </c:extLst>
          </c:dPt>
          <c:dLbls>
            <c:dLbl>
              <c:idx val="0"/>
              <c:layout>
                <c:manualLayout>
                  <c:x val="0.3355682476616173"/>
                  <c:y val="3.589784317485442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6D2-4D44-B8A5-1062D74E8B24}"/>
                </c:ext>
              </c:extLst>
            </c:dLbl>
            <c:dLbl>
              <c:idx val="1"/>
              <c:layout>
                <c:manualLayout>
                  <c:x val="0.23977374941367988"/>
                  <c:y val="9.103156765066695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6D2-4D44-B8A5-1062D74E8B24}"/>
                </c:ext>
              </c:extLst>
            </c:dLbl>
            <c:dLbl>
              <c:idx val="2"/>
              <c:layout>
                <c:manualLayout>
                  <c:x val="-0.27213420522583676"/>
                  <c:y val="-9.704026013251879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6D2-4D44-B8A5-1062D74E8B24}"/>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S_Diagramm_Com!$J$4:$J$6</c:f>
              <c:strCache>
                <c:ptCount val="3"/>
                <c:pt idx="0">
                  <c:v>EDELMETALLE</c:v>
                </c:pt>
                <c:pt idx="1">
                  <c:v>AKTIEN </c:v>
                </c:pt>
                <c:pt idx="2">
                  <c:v>LIQUIDITÄT</c:v>
                </c:pt>
              </c:strCache>
            </c:strRef>
          </c:cat>
          <c:val>
            <c:numRef>
              <c:f>S_Diagramm_Com!$K$4:$K$6</c:f>
              <c:numCache>
                <c:formatCode>0.00%</c:formatCode>
                <c:ptCount val="3"/>
                <c:pt idx="0">
                  <c:v>7.4300000000000005E-2</c:v>
                </c:pt>
                <c:pt idx="1">
                  <c:v>0.89419999999999988</c:v>
                </c:pt>
                <c:pt idx="2">
                  <c:v>3.15E-2</c:v>
                </c:pt>
              </c:numCache>
            </c:numRef>
          </c:val>
          <c:extLst>
            <c:ext xmlns:c16="http://schemas.microsoft.com/office/drawing/2014/chart" uri="{C3380CC4-5D6E-409C-BE32-E72D297353CC}">
              <c16:uniqueId val="{00000006-D6D2-4D44-B8A5-1062D74E8B24}"/>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563915995587597"/>
          <c:w val="0.2628093700852579"/>
          <c:h val="0.21436084004412401"/>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46203</c:v>
                </c:pt>
                <c:pt idx="31">
                  <c:v>46223</c:v>
                </c:pt>
              </c:numCache>
            </c:numRef>
          </c:cat>
          <c:val>
            <c:numRef>
              <c:f>Tabelle1!$B$2:$B$234</c:f>
              <c:numCache>
                <c:formatCode>General</c:formatCode>
                <c:ptCount val="233"/>
                <c:pt idx="0">
                  <c:v>1</c:v>
                </c:pt>
                <c:pt idx="1">
                  <c:v>1</c:v>
                </c:pt>
                <c:pt idx="2">
                  <c:v>1</c:v>
                </c:pt>
                <c:pt idx="3">
                  <c:v>1.0174000000000001</c:v>
                </c:pt>
                <c:pt idx="4">
                  <c:v>0.97700922000000012</c:v>
                </c:pt>
                <c:pt idx="5">
                  <c:v>1.0019229551100002</c:v>
                </c:pt>
                <c:pt idx="6">
                  <c:v>1.0164508379590951</c:v>
                </c:pt>
                <c:pt idx="7">
                  <c:v>1.0067059204854136</c:v>
                </c:pt>
                <c:pt idx="8">
                  <c:v>1.0213031563324522</c:v>
                </c:pt>
                <c:pt idx="9">
                  <c:v>1.0076176940375974</c:v>
                </c:pt>
                <c:pt idx="10">
                  <c:v>1.0182984415943959</c:v>
                </c:pt>
                <c:pt idx="11">
                  <c:v>1.0680932353883619</c:v>
                </c:pt>
                <c:pt idx="12">
                  <c:v>1.0486539385042937</c:v>
                </c:pt>
                <c:pt idx="13">
                  <c:v>1.0840598511608019</c:v>
                </c:pt>
                <c:pt idx="14">
                  <c:v>1.1157143988146971</c:v>
                </c:pt>
                <c:pt idx="15">
                  <c:v>1.0610443932727769</c:v>
                </c:pt>
                <c:pt idx="16">
                  <c:v>1.0432188474657942</c:v>
                </c:pt>
                <c:pt idx="17">
                  <c:v>1.0949625023000977</c:v>
                </c:pt>
                <c:pt idx="18">
                  <c:v>1.0852173360296269</c:v>
                </c:pt>
                <c:pt idx="19">
                  <c:v>1.1286399202527131</c:v>
                </c:pt>
                <c:pt idx="20">
                  <c:v>1.0999724662782941</c:v>
                </c:pt>
                <c:pt idx="21">
                  <c:v>1.1199919651645591</c:v>
                </c:pt>
                <c:pt idx="22">
                  <c:v>1.1185359756098452</c:v>
                </c:pt>
                <c:pt idx="23">
                  <c:v>1.1347547472561879</c:v>
                </c:pt>
                <c:pt idx="24">
                  <c:v>1.1287405470957301</c:v>
                </c:pt>
                <c:pt idx="25">
                  <c:v>1.1225337319710833</c:v>
                </c:pt>
                <c:pt idx="26">
                  <c:v>1.1404655807246151</c:v>
                </c:pt>
                <c:pt idx="27">
                  <c:v>1.0871183306828582</c:v>
                </c:pt>
                <c:pt idx="28">
                  <c:v>1.1204043249316014</c:v>
                </c:pt>
                <c:pt idx="29">
                  <c:v>1.1200681027674726</c:v>
                </c:pt>
                <c:pt idx="30">
                  <c:v>1.1091969194606441</c:v>
                </c:pt>
                <c:pt idx="31">
                  <c:v>1.131835878511978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3.8199999999999998E-2</c:v>
                </c:pt>
                <c:pt idx="1">
                  <c:v>7.4200000000000002E-2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4.8500000000000001E-2</c:v>
                </c:pt>
                <c:pt idx="1">
                  <c:v>0.1148</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20.07.2026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20.07.2026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20.07.2026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20.07.2026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image" Target="../media/image1.svg"/><Relationship Id="rId28"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20.07.2026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2.xml"/><Relationship Id="rId3"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8.xml"/><Relationship Id="rId3"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6.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klassische Portfolioverwaltung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Portfolioverwaltung </a:t>
            </a:r>
            <a:r>
              <a:rPr lang="de-DE" u="sng" dirty="0">
                <a:uFill>
                  <a:solidFill>
                    <a:schemeClr val="accent3"/>
                  </a:solidFill>
                </a:uFill>
              </a:rPr>
              <a:t>	</a:t>
            </a:r>
            <a:r>
              <a:rPr lang="de-DE" dirty="0"/>
              <a:t>3</a:t>
            </a:r>
          </a:p>
          <a:p>
            <a:r>
              <a:rPr lang="de-DE" dirty="0"/>
              <a:t>Unsere klassischen Portfolioverwaltungsstrategien</a:t>
            </a:r>
            <a:r>
              <a:rPr lang="de-DE" u="sng" dirty="0">
                <a:uFill>
                  <a:solidFill>
                    <a:schemeClr val="accent3"/>
                  </a:solidFill>
                </a:uFill>
              </a:rPr>
              <a:t>	</a:t>
            </a:r>
            <a:r>
              <a:rPr lang="de-DE" dirty="0">
                <a:uFill>
                  <a:solidFill>
                    <a:schemeClr val="accent3"/>
                  </a:solidFill>
                </a:uFill>
              </a:rPr>
              <a:t>5</a:t>
            </a:r>
            <a:endParaRPr lang="de-DE" dirty="0"/>
          </a:p>
          <a:p>
            <a:r>
              <a:rPr lang="de-DE" dirty="0"/>
              <a:t>Honorar </a:t>
            </a:r>
            <a:r>
              <a:rPr lang="de-DE" u="sng" dirty="0">
                <a:uFill>
                  <a:solidFill>
                    <a:schemeClr val="accent3"/>
                  </a:solidFill>
                </a:uFill>
              </a:rPr>
              <a:t>	</a:t>
            </a:r>
            <a:r>
              <a:rPr lang="de-DE" dirty="0">
                <a:uFill>
                  <a:solidFill>
                    <a:schemeClr val="accent3"/>
                  </a:solidFill>
                </a:uFill>
              </a:rPr>
              <a:t>12</a:t>
            </a:r>
            <a:endParaRPr lang="de-DE" dirty="0"/>
          </a:p>
          <a:p>
            <a:r>
              <a:rPr lang="de-DE" dirty="0"/>
              <a:t>Unsere Investmentphilosophie </a:t>
            </a:r>
            <a:r>
              <a:rPr lang="de-DE" u="sng" dirty="0">
                <a:uFill>
                  <a:solidFill>
                    <a:schemeClr val="accent3"/>
                  </a:solidFill>
                </a:uFill>
              </a:rPr>
              <a:t>	</a:t>
            </a:r>
            <a:r>
              <a:rPr lang="de-DE" dirty="0"/>
              <a:t>16</a:t>
            </a:r>
          </a:p>
          <a:p>
            <a:r>
              <a:rPr lang="de-DE" dirty="0"/>
              <a:t>Die Bank in Zahlen </a:t>
            </a:r>
            <a:r>
              <a:rPr lang="de-DE" u="sng" dirty="0">
                <a:uFill>
                  <a:solidFill>
                    <a:schemeClr val="accent3"/>
                  </a:solidFill>
                </a:uFill>
              </a:rPr>
              <a:t>	</a:t>
            </a:r>
            <a:r>
              <a:rPr lang="de-DE" dirty="0">
                <a:uFill>
                  <a:solidFill>
                    <a:schemeClr val="accent3"/>
                  </a:solidFill>
                </a:uFill>
              </a:rPr>
              <a:t>21</a:t>
            </a:r>
            <a:endParaRPr lang="de-DE" dirty="0"/>
          </a:p>
          <a:p>
            <a:r>
              <a:rPr lang="de-DE" dirty="0"/>
              <a:t>Unsere Tradition </a:t>
            </a:r>
            <a:r>
              <a:rPr lang="de-DE" u="sng" dirty="0">
                <a:uFill>
                  <a:solidFill>
                    <a:schemeClr val="accent3"/>
                  </a:solidFill>
                </a:uFill>
              </a:rPr>
              <a:t>	</a:t>
            </a:r>
            <a:r>
              <a:rPr lang="de-DE" dirty="0">
                <a:uFill>
                  <a:solidFill>
                    <a:schemeClr val="accent3"/>
                  </a:solidFill>
                </a:uFill>
              </a:rPr>
              <a:t>22</a:t>
            </a:r>
            <a:endParaRPr lang="de-DE" dirty="0"/>
          </a:p>
          <a:p>
            <a:r>
              <a:rPr lang="de-DE" dirty="0"/>
              <a:t>Rechtliche Hinweise und Impressum </a:t>
            </a:r>
            <a:r>
              <a:rPr lang="de-DE" u="sng">
                <a:uFill>
                  <a:solidFill>
                    <a:schemeClr val="accent3"/>
                  </a:solidFill>
                </a:uFill>
              </a:rPr>
              <a:t>	</a:t>
            </a:r>
            <a:r>
              <a:rPr lang="de-DE"/>
              <a:t>26</a:t>
            </a:r>
            <a:endParaRPr lang="de-DE" dirty="0"/>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fundierten Vorgesprächen</a:t>
            </a:r>
          </a:p>
          <a:p>
            <a:pPr lvl="2"/>
            <a:r>
              <a:rPr lang="de-DE" dirty="0"/>
              <a:t>Auf Grundlage persönlicher Gespräche ermitteln wir präzise Ihre individuellen Präferenzen sowie Anforderungen an das Rendite-Risiko-Profil und Ihren Anlagehorizont. </a:t>
            </a:r>
          </a:p>
          <a:p>
            <a:r>
              <a:rPr lang="de-DE" dirty="0"/>
              <a:t>Laufendes Monitoring und dynamische Reallokation</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4257688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Portfoliomanagern</a:t>
            </a:r>
          </a:p>
          <a:p>
            <a:pPr lvl="2"/>
            <a:r>
              <a:rPr lang="de-DE" dirty="0"/>
              <a:t>Unsere erfahrenen Portfoliomanager planen im so genannten Top-Down-Verfahren und setzen je nach Marktsituation die Anlageentscheidungen je Strategie verantwortungsvoll um. </a:t>
            </a:r>
          </a:p>
          <a:p>
            <a:r>
              <a:rPr lang="de-DE" dirty="0"/>
              <a:t>Ab einem Anlagevolumen von 50.000 Euro</a:t>
            </a:r>
          </a:p>
          <a:p>
            <a:pPr lvl="2"/>
            <a:r>
              <a:rPr lang="de-DE" dirty="0"/>
              <a:t>Unsere klassische Portfolioverwaltung kann ab einem Anlagevolumen von 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Portfolioverwaltung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2603188964"/>
              </p:ext>
            </p:extLst>
          </p:nvPr>
        </p:nvGraphicFramePr>
        <p:xfrm>
          <a:off x="575751" y="1041400"/>
          <a:ext cx="8932460" cy="3759107"/>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3761890794"/>
                    </a:ext>
                  </a:extLst>
                </a:gridCol>
                <a:gridCol w="68863">
                  <a:extLst>
                    <a:ext uri="{9D8B030D-6E8A-4147-A177-3AD203B41FA5}">
                      <a16:colId xmlns:a16="http://schemas.microsoft.com/office/drawing/2014/main" val="1578058522"/>
                    </a:ext>
                  </a:extLst>
                </a:gridCol>
                <a:gridCol w="68863">
                  <a:extLst>
                    <a:ext uri="{9D8B030D-6E8A-4147-A177-3AD203B41FA5}">
                      <a16:colId xmlns:a16="http://schemas.microsoft.com/office/drawing/2014/main" val="2072559993"/>
                    </a:ext>
                  </a:extLst>
                </a:gridCol>
                <a:gridCol w="2164252">
                  <a:extLst>
                    <a:ext uri="{9D8B030D-6E8A-4147-A177-3AD203B41FA5}">
                      <a16:colId xmlns:a16="http://schemas.microsoft.com/office/drawing/2014/main" val="2131862848"/>
                    </a:ext>
                  </a:extLst>
                </a:gridCol>
                <a:gridCol w="68863">
                  <a:extLst>
                    <a:ext uri="{9D8B030D-6E8A-4147-A177-3AD203B41FA5}">
                      <a16:colId xmlns:a16="http://schemas.microsoft.com/office/drawing/2014/main" val="1048734056"/>
                    </a:ext>
                  </a:extLst>
                </a:gridCol>
                <a:gridCol w="2164252">
                  <a:extLst>
                    <a:ext uri="{9D8B030D-6E8A-4147-A177-3AD203B41FA5}">
                      <a16:colId xmlns:a16="http://schemas.microsoft.com/office/drawing/2014/main" val="1963245952"/>
                    </a:ext>
                  </a:extLst>
                </a:gridCol>
                <a:gridCol w="68863">
                  <a:extLst>
                    <a:ext uri="{9D8B030D-6E8A-4147-A177-3AD203B41FA5}">
                      <a16:colId xmlns:a16="http://schemas.microsoft.com/office/drawing/2014/main" val="1182318350"/>
                    </a:ext>
                  </a:extLst>
                </a:gridCol>
                <a:gridCol w="2164252">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wieder.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0 %, max.30 %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70 %,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30 %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drei klassischen Portfolioverwaltungsstrategien</a:t>
            </a:r>
          </a:p>
        </p:txBody>
      </p:sp>
    </p:spTree>
    <p:extLst>
      <p:ext uri="{BB962C8B-B14F-4D97-AF65-F5344CB8AC3E}">
        <p14:creationId xmlns:p14="http://schemas.microsoft.com/office/powerpoint/2010/main" val="4254354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6</a:t>
            </a:fld>
            <a:endParaRPr lang="de-DE"/>
          </a:p>
        </p:txBody>
      </p:sp>
      <p:graphicFrame>
        <p:nvGraphicFramePr>
          <p:cNvPr id="5" name="C_Kennzahlen">
            <a:extLst>
              <a:ext uri="{FF2B5EF4-FFF2-40B4-BE49-F238E27FC236}">
                <a16:creationId xmlns:a16="http://schemas.microsoft.com/office/drawing/2014/main" id="{00000000-0008-0000-1D00-000002000000}"/>
              </a:ext>
            </a:extLst>
          </p:cNvPr>
          <p:cNvGraphicFramePr>
            <a:graphicFrameLocks noGrp="1" noDrilldown="1" noMove="1" noResize="1"/>
          </p:cNvGraphicFramePr>
          <p:nvPr>
            <p:extLst>
              <p:ext uri="{D42A27DB-BD31-4B8C-83A1-F6EECF244321}">
                <p14:modId xmlns:p14="http://schemas.microsoft.com/office/powerpoint/2010/main" val="2596528670"/>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F4833324-B064-82C0-8EF8-37B90D5F0B25}"/>
              </a:ext>
            </a:extLst>
          </p:cNvPr>
          <p:cNvGraphicFramePr>
            <a:graphicFrameLocks noGrp="1" noDrilldown="1" noMove="1" noResize="1"/>
          </p:cNvGraphicFramePr>
          <p:nvPr>
            <p:extLst>
              <p:ext uri="{D42A27DB-BD31-4B8C-83A1-F6EECF244321}">
                <p14:modId xmlns:p14="http://schemas.microsoft.com/office/powerpoint/2010/main" val="1228108349"/>
              </p:ext>
            </p:extLst>
          </p:nvPr>
        </p:nvGraphicFramePr>
        <p:xfrm>
          <a:off x="4508500" y="1040400"/>
          <a:ext cx="5613400" cy="4774152"/>
        </p:xfrm>
        <a:graphic>
          <a:graphicData uri="http://schemas.openxmlformats.org/drawingml/2006/table">
            <a:tbl>
              <a:tblPr/>
              <a:tblGrid>
                <a:gridCol w="2184400">
                  <a:extLst>
                    <a:ext uri="{9D8B030D-6E8A-4147-A177-3AD203B41FA5}">
                      <a16:colId xmlns:a16="http://schemas.microsoft.com/office/drawing/2014/main" val="4153112938"/>
                    </a:ext>
                  </a:extLst>
                </a:gridCol>
                <a:gridCol w="50800">
                  <a:extLst>
                    <a:ext uri="{9D8B030D-6E8A-4147-A177-3AD203B41FA5}">
                      <a16:colId xmlns:a16="http://schemas.microsoft.com/office/drawing/2014/main" val="1500571226"/>
                    </a:ext>
                  </a:extLst>
                </a:gridCol>
                <a:gridCol w="571500">
                  <a:extLst>
                    <a:ext uri="{9D8B030D-6E8A-4147-A177-3AD203B41FA5}">
                      <a16:colId xmlns:a16="http://schemas.microsoft.com/office/drawing/2014/main" val="722675435"/>
                    </a:ext>
                  </a:extLst>
                </a:gridCol>
                <a:gridCol w="50800">
                  <a:extLst>
                    <a:ext uri="{9D8B030D-6E8A-4147-A177-3AD203B41FA5}">
                      <a16:colId xmlns:a16="http://schemas.microsoft.com/office/drawing/2014/main" val="2099602808"/>
                    </a:ext>
                  </a:extLst>
                </a:gridCol>
                <a:gridCol w="571500">
                  <a:extLst>
                    <a:ext uri="{9D8B030D-6E8A-4147-A177-3AD203B41FA5}">
                      <a16:colId xmlns:a16="http://schemas.microsoft.com/office/drawing/2014/main" val="4196713188"/>
                    </a:ext>
                  </a:extLst>
                </a:gridCol>
                <a:gridCol w="50800">
                  <a:extLst>
                    <a:ext uri="{9D8B030D-6E8A-4147-A177-3AD203B41FA5}">
                      <a16:colId xmlns:a16="http://schemas.microsoft.com/office/drawing/2014/main" val="4148129269"/>
                    </a:ext>
                  </a:extLst>
                </a:gridCol>
                <a:gridCol w="571500">
                  <a:extLst>
                    <a:ext uri="{9D8B030D-6E8A-4147-A177-3AD203B41FA5}">
                      <a16:colId xmlns:a16="http://schemas.microsoft.com/office/drawing/2014/main" val="4034548364"/>
                    </a:ext>
                  </a:extLst>
                </a:gridCol>
                <a:gridCol w="50800">
                  <a:extLst>
                    <a:ext uri="{9D8B030D-6E8A-4147-A177-3AD203B41FA5}">
                      <a16:colId xmlns:a16="http://schemas.microsoft.com/office/drawing/2014/main" val="3910902470"/>
                    </a:ext>
                  </a:extLst>
                </a:gridCol>
                <a:gridCol w="571500">
                  <a:extLst>
                    <a:ext uri="{9D8B030D-6E8A-4147-A177-3AD203B41FA5}">
                      <a16:colId xmlns:a16="http://schemas.microsoft.com/office/drawing/2014/main" val="2924086657"/>
                    </a:ext>
                  </a:extLst>
                </a:gridCol>
                <a:gridCol w="50800">
                  <a:extLst>
                    <a:ext uri="{9D8B030D-6E8A-4147-A177-3AD203B41FA5}">
                      <a16:colId xmlns:a16="http://schemas.microsoft.com/office/drawing/2014/main" val="679987118"/>
                    </a:ext>
                  </a:extLst>
                </a:gridCol>
                <a:gridCol w="889000">
                  <a:extLst>
                    <a:ext uri="{9D8B030D-6E8A-4147-A177-3AD203B41FA5}">
                      <a16:colId xmlns:a16="http://schemas.microsoft.com/office/drawing/2014/main" val="119335413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485"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4777708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485"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254610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Allianz SE</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840400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0828664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2,97%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08042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41418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852566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3049806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3,01%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5066613"/>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985359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938842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8440258"/>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3574407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6,19%</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22380784"/>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90062898"/>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Dt. Pfandbriefbk.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05.02.27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A30WF8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143736"/>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EnBW Green Bond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23.05.34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A3LREF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5885989"/>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28571560"/>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Grenke Finance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06.07.29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A3LY39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245120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74287411"/>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Hochtief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A383EL</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74032682"/>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Porsche IHS </a:t>
                      </a:r>
                    </a:p>
                  </a:txBody>
                  <a:tcPr marL="68485"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27.09.30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A351SX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9614073"/>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77155215"/>
                  </a:ext>
                </a:extLst>
              </a:tr>
              <a:tr h="18992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485"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11,95%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94369209"/>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485"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5,56%</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54466784"/>
                  </a:ext>
                </a:extLst>
              </a:tr>
              <a:tr h="18992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485"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110460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42263030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FPFB Strategie 30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83001" rtl="0" eaLnBrk="1" fontAlgn="auto" latinLnBrk="0" hangingPunct="1">
                        <a:lnSpc>
                          <a:spcPct val="100000"/>
                        </a:lnSpc>
                        <a:spcBef>
                          <a:spcPts val="0"/>
                        </a:spcBef>
                        <a:spcAft>
                          <a:spcPts val="0"/>
                        </a:spcAft>
                        <a:buClrTx/>
                        <a:buSzTx/>
                        <a:buFontTx/>
                        <a:buNone/>
                        <a:tabLst/>
                        <a:defRPr/>
                      </a:pPr>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30</a:t>
            </a:r>
          </a:p>
        </p:txBody>
      </p:sp>
    </p:spTree>
    <p:extLst>
      <p:ext uri="{BB962C8B-B14F-4D97-AF65-F5344CB8AC3E}">
        <p14:creationId xmlns:p14="http://schemas.microsoft.com/office/powerpoint/2010/main" val="3986531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7,5% Euro </a:t>
            </a:r>
            <a:r>
              <a:rPr lang="de-DE" dirty="0" err="1">
                <a:latin typeface="Noto Sans (Textkörper)"/>
              </a:rPr>
              <a:t>Stoxx</a:t>
            </a:r>
            <a:r>
              <a:rPr lang="de-DE" dirty="0">
                <a:latin typeface="Noto Sans (Textkörper)"/>
              </a:rPr>
              <a:t> 50; 7,5% MSCI World ; 42,5% </a:t>
            </a:r>
            <a:r>
              <a:rPr lang="de-DE" dirty="0" err="1">
                <a:latin typeface="Noto Sans (Textkörper)"/>
              </a:rPr>
              <a:t>iBoxx</a:t>
            </a:r>
            <a:r>
              <a:rPr lang="de-DE" dirty="0">
                <a:latin typeface="Noto Sans (Textkörper)"/>
              </a:rPr>
              <a:t> Corp. OV. 3-5 RE; 42,5%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9664151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91508344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612043249"/>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14,78%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1,64%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3,31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30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8</a:t>
            </a:fld>
            <a:endParaRPr lang="de-DE"/>
          </a:p>
        </p:txBody>
      </p:sp>
      <p:graphicFrame>
        <p:nvGraphicFramePr>
          <p:cNvPr id="5" name="C_Kennzahlen">
            <a:extLst>
              <a:ext uri="{FF2B5EF4-FFF2-40B4-BE49-F238E27FC236}">
                <a16:creationId xmlns:a16="http://schemas.microsoft.com/office/drawing/2014/main" id="{00000000-0008-0000-1D00-000003000000}"/>
              </a:ext>
            </a:extLst>
          </p:cNvPr>
          <p:cNvGraphicFramePr>
            <a:graphicFrameLocks noGrp="1" noDrilldown="1" noMove="1" noResize="1"/>
          </p:cNvGraphicFramePr>
          <p:nvPr>
            <p:extLst>
              <p:ext uri="{D42A27DB-BD31-4B8C-83A1-F6EECF244321}">
                <p14:modId xmlns:p14="http://schemas.microsoft.com/office/powerpoint/2010/main" val="3812792983"/>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E0F2647C-3EB3-683F-BEA6-2C58994DC92F}"/>
              </a:ext>
            </a:extLst>
          </p:cNvPr>
          <p:cNvGraphicFramePr>
            <a:graphicFrameLocks noGrp="1" noDrilldown="1" noMove="1" noResize="1"/>
          </p:cNvGraphicFramePr>
          <p:nvPr>
            <p:extLst>
              <p:ext uri="{D42A27DB-BD31-4B8C-83A1-F6EECF244321}">
                <p14:modId xmlns:p14="http://schemas.microsoft.com/office/powerpoint/2010/main" val="131613901"/>
              </p:ext>
            </p:extLst>
          </p:nvPr>
        </p:nvGraphicFramePr>
        <p:xfrm>
          <a:off x="4508500" y="1040400"/>
          <a:ext cx="5613400" cy="4773411"/>
        </p:xfrm>
        <a:graphic>
          <a:graphicData uri="http://schemas.openxmlformats.org/drawingml/2006/table">
            <a:tbl>
              <a:tblPr/>
              <a:tblGrid>
                <a:gridCol w="2184400">
                  <a:extLst>
                    <a:ext uri="{9D8B030D-6E8A-4147-A177-3AD203B41FA5}">
                      <a16:colId xmlns:a16="http://schemas.microsoft.com/office/drawing/2014/main" val="930516035"/>
                    </a:ext>
                  </a:extLst>
                </a:gridCol>
                <a:gridCol w="50800">
                  <a:extLst>
                    <a:ext uri="{9D8B030D-6E8A-4147-A177-3AD203B41FA5}">
                      <a16:colId xmlns:a16="http://schemas.microsoft.com/office/drawing/2014/main" val="3569727738"/>
                    </a:ext>
                  </a:extLst>
                </a:gridCol>
                <a:gridCol w="571500">
                  <a:extLst>
                    <a:ext uri="{9D8B030D-6E8A-4147-A177-3AD203B41FA5}">
                      <a16:colId xmlns:a16="http://schemas.microsoft.com/office/drawing/2014/main" val="2641932948"/>
                    </a:ext>
                  </a:extLst>
                </a:gridCol>
                <a:gridCol w="50800">
                  <a:extLst>
                    <a:ext uri="{9D8B030D-6E8A-4147-A177-3AD203B41FA5}">
                      <a16:colId xmlns:a16="http://schemas.microsoft.com/office/drawing/2014/main" val="875571981"/>
                    </a:ext>
                  </a:extLst>
                </a:gridCol>
                <a:gridCol w="571500">
                  <a:extLst>
                    <a:ext uri="{9D8B030D-6E8A-4147-A177-3AD203B41FA5}">
                      <a16:colId xmlns:a16="http://schemas.microsoft.com/office/drawing/2014/main" val="2560234929"/>
                    </a:ext>
                  </a:extLst>
                </a:gridCol>
                <a:gridCol w="50800">
                  <a:extLst>
                    <a:ext uri="{9D8B030D-6E8A-4147-A177-3AD203B41FA5}">
                      <a16:colId xmlns:a16="http://schemas.microsoft.com/office/drawing/2014/main" val="1842181968"/>
                    </a:ext>
                  </a:extLst>
                </a:gridCol>
                <a:gridCol w="571500">
                  <a:extLst>
                    <a:ext uri="{9D8B030D-6E8A-4147-A177-3AD203B41FA5}">
                      <a16:colId xmlns:a16="http://schemas.microsoft.com/office/drawing/2014/main" val="2661903168"/>
                    </a:ext>
                  </a:extLst>
                </a:gridCol>
                <a:gridCol w="50800">
                  <a:extLst>
                    <a:ext uri="{9D8B030D-6E8A-4147-A177-3AD203B41FA5}">
                      <a16:colId xmlns:a16="http://schemas.microsoft.com/office/drawing/2014/main" val="3784987372"/>
                    </a:ext>
                  </a:extLst>
                </a:gridCol>
                <a:gridCol w="571500">
                  <a:extLst>
                    <a:ext uri="{9D8B030D-6E8A-4147-A177-3AD203B41FA5}">
                      <a16:colId xmlns:a16="http://schemas.microsoft.com/office/drawing/2014/main" val="941774286"/>
                    </a:ext>
                  </a:extLst>
                </a:gridCol>
                <a:gridCol w="50800">
                  <a:extLst>
                    <a:ext uri="{9D8B030D-6E8A-4147-A177-3AD203B41FA5}">
                      <a16:colId xmlns:a16="http://schemas.microsoft.com/office/drawing/2014/main" val="4214180977"/>
                    </a:ext>
                  </a:extLst>
                </a:gridCol>
                <a:gridCol w="889000">
                  <a:extLst>
                    <a:ext uri="{9D8B030D-6E8A-4147-A177-3AD203B41FA5}">
                      <a16:colId xmlns:a16="http://schemas.microsoft.com/office/drawing/2014/main" val="406558374"/>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706"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6533788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70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4623308"/>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5,63%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773554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Amazon.com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380373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38498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5438130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0981969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394970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Johnson &amp; Johnson</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326562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3,32%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1078354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4,54%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133742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7044028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1824296"/>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2,17%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1104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042318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90325778"/>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RENTEN</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KUPON</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FÄLLIGKEIT</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76646912"/>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Bayer IHS </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26.08.26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A351UZ</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2,64%</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62006834"/>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Belgien Staat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0,0 %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22.10.31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A287RJ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842289"/>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E.ON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12.01.35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A30V8B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1728241"/>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Fraport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31.03.28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A3E5F0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2,51%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0419497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Heidelberg Materials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31.05.32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A30V5U</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14524237"/>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RCI Banque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02.10.29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A3LNYD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2,09%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5650263"/>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VW Green Bond IHS </a:t>
                      </a:r>
                    </a:p>
                  </a:txBody>
                  <a:tcPr marL="6870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3,875 %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10.09.30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A383ET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17209604"/>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8659990"/>
                  </a:ext>
                </a:extLst>
              </a:tr>
              <a:tr h="168793">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70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12,00%</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75683885"/>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70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3,04%</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8811380"/>
                  </a:ext>
                </a:extLst>
              </a:tr>
              <a:tr h="168793">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70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9028151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95141994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70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70</a:t>
            </a:r>
          </a:p>
        </p:txBody>
      </p:sp>
    </p:spTree>
    <p:extLst>
      <p:ext uri="{BB962C8B-B14F-4D97-AF65-F5344CB8AC3E}">
        <p14:creationId xmlns:p14="http://schemas.microsoft.com/office/powerpoint/2010/main" val="3658980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des halbjährlichen Honorarsatzes</a:t>
            </a:r>
          </a:p>
          <a:p>
            <a:r>
              <a:rPr lang="de-DE" dirty="0">
                <a:latin typeface="Noto Sans (Textkörper)"/>
              </a:rPr>
              <a:t>*** 25% Euro </a:t>
            </a:r>
            <a:r>
              <a:rPr lang="de-DE" dirty="0" err="1">
                <a:latin typeface="Noto Sans (Textkörper)"/>
              </a:rPr>
              <a:t>Stoxx</a:t>
            </a:r>
            <a:r>
              <a:rPr lang="de-DE" dirty="0">
                <a:latin typeface="Noto Sans (Textkörper)"/>
              </a:rPr>
              <a:t> 50; 25% MSCI World ; 25% </a:t>
            </a:r>
            <a:r>
              <a:rPr lang="de-DE" dirty="0" err="1">
                <a:latin typeface="Noto Sans (Textkörper)"/>
              </a:rPr>
              <a:t>iBoxx</a:t>
            </a:r>
            <a:r>
              <a:rPr lang="de-DE" dirty="0">
                <a:latin typeface="Noto Sans (Textkörper)"/>
              </a:rPr>
              <a:t> Corp. OV. 3-5 RE; 25%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75893418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176091066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773752440"/>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17,99%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-0,84%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3,75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70 | </a:t>
            </a:r>
            <a:r>
              <a:rPr lang="de-DE" b="0" dirty="0"/>
              <a:t>Wertentwicklung</a:t>
            </a:r>
          </a:p>
        </p:txBody>
      </p:sp>
    </p:spTree>
    <p:extLst>
      <p:ext uri="{BB962C8B-B14F-4D97-AF65-F5344CB8AC3E}">
        <p14:creationId xmlns:p14="http://schemas.microsoft.com/office/powerpoint/2010/main" val="13057927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1D00-000004000000}"/>
              </a:ext>
            </a:extLst>
          </p:cNvPr>
          <p:cNvGraphicFramePr>
            <a:graphicFrameLocks noGrp="1" noDrilldown="1" noMove="1" noResize="1"/>
          </p:cNvGraphicFramePr>
          <p:nvPr>
            <p:extLst>
              <p:ext uri="{D42A27DB-BD31-4B8C-83A1-F6EECF244321}">
                <p14:modId xmlns:p14="http://schemas.microsoft.com/office/powerpoint/2010/main" val="1246286725"/>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86234CCC-AA28-9578-A267-5085A8C56A38}"/>
              </a:ext>
            </a:extLst>
          </p:cNvPr>
          <p:cNvGraphicFramePr>
            <a:graphicFrameLocks noGrp="1" noDrilldown="1" noMove="1" noResize="1"/>
          </p:cNvGraphicFramePr>
          <p:nvPr>
            <p:extLst>
              <p:ext uri="{D42A27DB-BD31-4B8C-83A1-F6EECF244321}">
                <p14:modId xmlns:p14="http://schemas.microsoft.com/office/powerpoint/2010/main" val="3017752438"/>
              </p:ext>
            </p:extLst>
          </p:nvPr>
        </p:nvGraphicFramePr>
        <p:xfrm>
          <a:off x="4508500" y="1040400"/>
          <a:ext cx="5613400" cy="4773000"/>
        </p:xfrm>
        <a:graphic>
          <a:graphicData uri="http://schemas.openxmlformats.org/drawingml/2006/table">
            <a:tbl>
              <a:tblPr/>
              <a:tblGrid>
                <a:gridCol w="2184400">
                  <a:extLst>
                    <a:ext uri="{9D8B030D-6E8A-4147-A177-3AD203B41FA5}">
                      <a16:colId xmlns:a16="http://schemas.microsoft.com/office/drawing/2014/main" val="4113767849"/>
                    </a:ext>
                  </a:extLst>
                </a:gridCol>
                <a:gridCol w="50800">
                  <a:extLst>
                    <a:ext uri="{9D8B030D-6E8A-4147-A177-3AD203B41FA5}">
                      <a16:colId xmlns:a16="http://schemas.microsoft.com/office/drawing/2014/main" val="2614557322"/>
                    </a:ext>
                  </a:extLst>
                </a:gridCol>
                <a:gridCol w="571500">
                  <a:extLst>
                    <a:ext uri="{9D8B030D-6E8A-4147-A177-3AD203B41FA5}">
                      <a16:colId xmlns:a16="http://schemas.microsoft.com/office/drawing/2014/main" val="879793447"/>
                    </a:ext>
                  </a:extLst>
                </a:gridCol>
                <a:gridCol w="50800">
                  <a:extLst>
                    <a:ext uri="{9D8B030D-6E8A-4147-A177-3AD203B41FA5}">
                      <a16:colId xmlns:a16="http://schemas.microsoft.com/office/drawing/2014/main" val="2343424295"/>
                    </a:ext>
                  </a:extLst>
                </a:gridCol>
                <a:gridCol w="571500">
                  <a:extLst>
                    <a:ext uri="{9D8B030D-6E8A-4147-A177-3AD203B41FA5}">
                      <a16:colId xmlns:a16="http://schemas.microsoft.com/office/drawing/2014/main" val="507502996"/>
                    </a:ext>
                  </a:extLst>
                </a:gridCol>
                <a:gridCol w="50800">
                  <a:extLst>
                    <a:ext uri="{9D8B030D-6E8A-4147-A177-3AD203B41FA5}">
                      <a16:colId xmlns:a16="http://schemas.microsoft.com/office/drawing/2014/main" val="3073352519"/>
                    </a:ext>
                  </a:extLst>
                </a:gridCol>
                <a:gridCol w="571500">
                  <a:extLst>
                    <a:ext uri="{9D8B030D-6E8A-4147-A177-3AD203B41FA5}">
                      <a16:colId xmlns:a16="http://schemas.microsoft.com/office/drawing/2014/main" val="2861307406"/>
                    </a:ext>
                  </a:extLst>
                </a:gridCol>
                <a:gridCol w="50800">
                  <a:extLst>
                    <a:ext uri="{9D8B030D-6E8A-4147-A177-3AD203B41FA5}">
                      <a16:colId xmlns:a16="http://schemas.microsoft.com/office/drawing/2014/main" val="1461447330"/>
                    </a:ext>
                  </a:extLst>
                </a:gridCol>
                <a:gridCol w="571500">
                  <a:extLst>
                    <a:ext uri="{9D8B030D-6E8A-4147-A177-3AD203B41FA5}">
                      <a16:colId xmlns:a16="http://schemas.microsoft.com/office/drawing/2014/main" val="2436453985"/>
                    </a:ext>
                  </a:extLst>
                </a:gridCol>
                <a:gridCol w="50800">
                  <a:extLst>
                    <a:ext uri="{9D8B030D-6E8A-4147-A177-3AD203B41FA5}">
                      <a16:colId xmlns:a16="http://schemas.microsoft.com/office/drawing/2014/main" val="3591455819"/>
                    </a:ext>
                  </a:extLst>
                </a:gridCol>
                <a:gridCol w="889000">
                  <a:extLst>
                    <a:ext uri="{9D8B030D-6E8A-4147-A177-3AD203B41FA5}">
                      <a16:colId xmlns:a16="http://schemas.microsoft.com/office/drawing/2014/main" val="4196437300"/>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829"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667394060"/>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AKTIEN</a:t>
                      </a:r>
                    </a:p>
                  </a:txBody>
                  <a:tcPr marL="6882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780593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3M Co.</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851745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3,78%</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5331710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Airbus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938914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5,45%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180712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Alphabet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1162248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Apple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865985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8636445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Berkshire Hathaway Inc. B</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A0YJQ2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6,06%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6292557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Deutsche Telekom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555750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3,67%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820539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Global Active ESG Equity ETF (Invesco)</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A2PHJT</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5009427"/>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Intuitive Surgical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888024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2,41%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660218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LVMH Moët Henn. L. Vuitton SE</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853292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3,21%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186661"/>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Mercadolibre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A0MYNP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446232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Meta Platforms Inc. A</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A1JWVX</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4,36%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8889544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Microsoft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4,16%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716695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Münchener Rückvers.-Ges.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5,86%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39819433"/>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NVIDIA Corp.</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90174764"/>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Philip Morris Internat.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A0NDBJ</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6,91%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558316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Rheinmetall AG</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703000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1,31%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4674126"/>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Shell PLC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A3C99G</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735868"/>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VISA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A0NC7B</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2,81%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28516075"/>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Walmart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860853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4,80%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9511850"/>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Waste Management Inc.</a:t>
                      </a:r>
                    </a:p>
                  </a:txBody>
                  <a:tcPr marL="6882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893579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4,42%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373293"/>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EDELMETALLE</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8455719"/>
                  </a:ext>
                </a:extLst>
              </a:tr>
              <a:tr h="182280">
                <a:tc>
                  <a:txBody>
                    <a:bodyPr/>
                    <a:lstStyle/>
                    <a:p>
                      <a:pPr algn="l" fontAlgn="ctr">
                        <a:buNone/>
                      </a:pPr>
                      <a:r>
                        <a:rPr lang="de-DE" sz="700" b="0" i="0" u="none" strike="noStrike">
                          <a:solidFill>
                            <a:srgbClr val="000000"/>
                          </a:solidFill>
                          <a:effectLst/>
                          <a:latin typeface="Noto Sans" panose="020B0502040504020204" pitchFamily="34" charset="0"/>
                        </a:rPr>
                        <a:t>XETRA Gold</a:t>
                      </a:r>
                    </a:p>
                  </a:txBody>
                  <a:tcPr marL="6882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A0S9GB</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7,43%</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5</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8131229"/>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LIQUIDITÄT</a:t>
                      </a:r>
                    </a:p>
                  </a:txBody>
                  <a:tcPr marL="6882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3,15%</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7246306"/>
                  </a:ext>
                </a:extLst>
              </a:tr>
              <a:tr h="182280">
                <a:tc>
                  <a:txBody>
                    <a:bodyPr/>
                    <a:lstStyle/>
                    <a:p>
                      <a:pPr algn="l" fontAlgn="ctr">
                        <a:buNone/>
                      </a:pPr>
                      <a:r>
                        <a:rPr lang="de-DE" sz="700" b="1" i="0" u="none" strike="noStrike">
                          <a:solidFill>
                            <a:srgbClr val="000000"/>
                          </a:solidFill>
                          <a:effectLst/>
                          <a:latin typeface="Noto Sans" panose="020B0502040504020204" pitchFamily="34" charset="0"/>
                        </a:rPr>
                        <a:t> </a:t>
                      </a:r>
                    </a:p>
                  </a:txBody>
                  <a:tcPr marL="6882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828614641"/>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32645078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FFPB Strategie 100</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70 %,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30 %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Portfolioverwaltung 100</a:t>
            </a:r>
          </a:p>
        </p:txBody>
      </p:sp>
    </p:spTree>
    <p:extLst>
      <p:ext uri="{BB962C8B-B14F-4D97-AF65-F5344CB8AC3E}">
        <p14:creationId xmlns:p14="http://schemas.microsoft.com/office/powerpoint/2010/main" val="35154200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latin typeface="Noto Sans (Textkörper)"/>
              </a:rPr>
              <a:t>* nach Kosten</a:t>
            </a:r>
          </a:p>
          <a:p>
            <a:r>
              <a:rPr lang="de-DE" dirty="0">
                <a:latin typeface="Noto Sans (Textkörper)"/>
              </a:rPr>
              <a:t>** ab 30.06. abzüglich halbjährigen Honorarsatz</a:t>
            </a:r>
          </a:p>
          <a:p>
            <a:r>
              <a:rPr lang="de-DE" dirty="0">
                <a:latin typeface="Noto Sans (Textkörper)"/>
              </a:rPr>
              <a:t>*** 42,5% Euro </a:t>
            </a:r>
            <a:r>
              <a:rPr lang="de-DE" dirty="0" err="1">
                <a:latin typeface="Noto Sans (Textkörper)"/>
              </a:rPr>
              <a:t>Stoxx</a:t>
            </a:r>
            <a:r>
              <a:rPr lang="de-DE" dirty="0">
                <a:latin typeface="Noto Sans (Textkörper)"/>
              </a:rPr>
              <a:t> 50; 42,5% MSCI World; 7,5% </a:t>
            </a:r>
            <a:r>
              <a:rPr lang="de-DE" dirty="0" err="1">
                <a:latin typeface="Noto Sans (Textkörper)"/>
              </a:rPr>
              <a:t>iBoxx</a:t>
            </a:r>
            <a:r>
              <a:rPr lang="de-DE" dirty="0">
                <a:latin typeface="Noto Sans (Textkörper)"/>
              </a:rPr>
              <a:t> Corp. OV. 3-5 RE; 7,5% </a:t>
            </a:r>
            <a:r>
              <a:rPr lang="de-DE" dirty="0" err="1">
                <a:latin typeface="Noto Sans (Textkörper)"/>
              </a:rPr>
              <a:t>iBoxx</a:t>
            </a:r>
            <a:r>
              <a:rPr lang="de-DE" dirty="0">
                <a:latin typeface="Noto Sans (Textkörper)"/>
              </a:rPr>
              <a:t> E Germany 5-7 TR</a:t>
            </a:r>
          </a:p>
          <a:p>
            <a:endParaRPr lang="de-DE" dirty="0">
              <a:latin typeface="Noto Sans (Textkörper)"/>
            </a:endParaRPr>
          </a:p>
          <a:p>
            <a:r>
              <a:rPr lang="de-DE" dirty="0">
                <a:latin typeface="Noto Sans (Textkörper)"/>
              </a:rPr>
              <a:t>Die aufgeführten Zahlen beziehen sich auf die Wertentwicklung in der Vergangenheit. Wert und Erträge einer Vermögensanlage können steigen oder fallen. Eine positive Entwicklung in der Vergangenheit ist keine Garantie für eine zukünftige Wertentwicklung. </a:t>
            </a:r>
          </a:p>
          <a:p>
            <a:pPr marL="0" indent="0" algn="l" rtl="0" latinLnBrk="0">
              <a:spcBef>
                <a:spcPts val="0"/>
              </a:spcBef>
              <a:spcAft>
                <a:spcPts val="0"/>
              </a:spcAft>
            </a:pPr>
            <a:r>
              <a:rPr lang="de-DE" b="0" i="0" dirty="0">
                <a:effectLst/>
                <a:latin typeface="Noto Sans (Textkörper)"/>
              </a:rPr>
              <a:t>Der unterjährige Performance</a:t>
            </a:r>
            <a:r>
              <a:rPr lang="de-DE" b="1" i="0" dirty="0">
                <a:effectLst/>
                <a:latin typeface="Noto Sans (Textkörper)"/>
              </a:rPr>
              <a:t>-</a:t>
            </a:r>
            <a:r>
              <a:rPr lang="de-DE" b="0" i="0" dirty="0">
                <a:effectLst/>
                <a:latin typeface="Noto Sans (Textkörper)"/>
              </a:rPr>
              <a:t>Ausweis erfolgt vor Kosten (ab 30.06. abzüglich des halbjährigen Honorarsatzes). Die weiteren Performance</a:t>
            </a:r>
            <a:r>
              <a:rPr lang="de-DE" b="1" i="0" dirty="0">
                <a:effectLst/>
                <a:latin typeface="Noto Sans (Textkörper)"/>
              </a:rPr>
              <a:t>-</a:t>
            </a:r>
            <a:r>
              <a:rPr lang="de-DE" b="0" i="0" dirty="0">
                <a:effectLst/>
                <a:latin typeface="Noto Sans (Textkörper)"/>
              </a:rPr>
              <a:t>Angaben wurden nach</a:t>
            </a:r>
            <a:r>
              <a:rPr lang="de-DE" dirty="0">
                <a:latin typeface="Noto Sans (Textkörper)"/>
              </a:rPr>
              <a:t> </a:t>
            </a:r>
            <a:r>
              <a:rPr lang="de-DE" b="0" i="0" dirty="0">
                <a:effectLst/>
                <a:latin typeface="Noto Sans (Textkörper)"/>
              </a:rPr>
              <a:t>Kosten berechnet. Sowohl das VV-Honorar als auch fremde Spesen und evtl. Produktkosten wurden berücksichtigt. Die Inflation kann negative Auswirkungen auf den Wert und die nominale Rendite Ihres Anlagevermögens haben. So kann insbesondere bei risikofreien Anlagen ein Wertverlust dadurch eintreten, dass die negative Auswirkung der Inflation die nominale Rendite übersteigt. Auch eine geringe Anlagedauer und die Gesamtkosten und Gebührenkönnen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20.07.2026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4139001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0727296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2664398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2024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13,18%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2024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0,99%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Comdirect 100 | </a:t>
            </a:r>
            <a:r>
              <a:rPr lang="de-DE" b="0" dirty="0"/>
              <a:t>Wertentwicklung</a:t>
            </a:r>
          </a:p>
        </p:txBody>
      </p:sp>
    </p:spTree>
    <p:extLst>
      <p:ext uri="{BB962C8B-B14F-4D97-AF65-F5344CB8AC3E}">
        <p14:creationId xmlns:p14="http://schemas.microsoft.com/office/powerpoint/2010/main" val="26771296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12</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Verwaltungsvergütung</a:t>
            </a:r>
          </a:p>
          <a:p>
            <a:pPr lvl="2"/>
            <a:r>
              <a:rPr lang="de-DE" dirty="0"/>
              <a:t>Die Honorargestaltung unserer Vermögensverwaltung ist fair, transparent und nachvollziehbar. Wir berechnen gegen-über unseren Kunden in unserer Vermögensverwaltung eine Verwaltungsvergütung, die sämtliche Gebühren für die Verwaltung umfasst. Ausgenommen davon sind die Transaktionskosten, die bei unserer Depotbank anfallen und fremde Spesen wie eventuell anfallende Courtagen, Transaktionssteuern (z. B. Frankreich) und fremde Spesen an in- und ausländischen Börsenplätzen. Investmentfonds werden ohne Ausgabeaufschläge zum Netto-Ausgabepreis abgerechnet.</a:t>
            </a:r>
          </a:p>
          <a:p>
            <a:r>
              <a:rPr lang="de-DE" dirty="0"/>
              <a:t>Halbjährliche Abrechnung</a:t>
            </a:r>
          </a:p>
          <a:p>
            <a:pPr lvl="2"/>
            <a:r>
              <a:rPr lang="de-DE" dirty="0"/>
              <a:t>Die Abrechnung für die Verwaltungsvergütung erfolgt halbjährlich. Als Berechnungsgrundlage dient das durchschnittlich verfügbare Kapital (Konto und Depot). </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13</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Transaktionskosten</a:t>
            </a:r>
          </a:p>
          <a:p>
            <a:pPr lvl="2"/>
            <a:r>
              <a:rPr lang="de-DE" dirty="0"/>
              <a:t>Die depotführende Bank vereinbart ihre Preise im Rahmen des Depotvertrages direkt mit Ihnen und stellt sie Ihnen genauso selbst in Rechnung.</a:t>
            </a:r>
          </a:p>
          <a:p>
            <a:pPr lvl="2"/>
            <a:r>
              <a:rPr lang="de-DE" dirty="0"/>
              <a:t>Sie haben dabei die Wahl zwischen zwei transparenten Preismodellen, die Ihnen Ihr Berater gerne erläutern wird.  Die anfallenden Transaktionskosen werden in den Verlustverrechnungstopf eingestellt und sind somit steuerlich anrechenbar.</a:t>
            </a:r>
          </a:p>
          <a:p>
            <a:pPr lvl="2"/>
            <a:endParaRPr lang="de-DE" dirty="0"/>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Transaktionskosten</a:t>
            </a:r>
          </a:p>
        </p:txBody>
      </p:sp>
    </p:spTree>
    <p:extLst>
      <p:ext uri="{BB962C8B-B14F-4D97-AF65-F5344CB8AC3E}">
        <p14:creationId xmlns:p14="http://schemas.microsoft.com/office/powerpoint/2010/main" val="16714436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graphicFrame>
        <p:nvGraphicFramePr>
          <p:cNvPr id="3" name="Tabelle 2">
            <a:extLst>
              <a:ext uri="{FF2B5EF4-FFF2-40B4-BE49-F238E27FC236}">
                <a16:creationId xmlns:a16="http://schemas.microsoft.com/office/drawing/2014/main" id="{A0A143F2-5FBD-00D7-FD86-630F82D438D3}"/>
              </a:ext>
            </a:extLst>
          </p:cNvPr>
          <p:cNvGraphicFramePr>
            <a:graphicFrameLocks noGrp="1"/>
          </p:cNvGraphicFramePr>
          <p:nvPr>
            <p:extLst>
              <p:ext uri="{D42A27DB-BD31-4B8C-83A1-F6EECF244321}">
                <p14:modId xmlns:p14="http://schemas.microsoft.com/office/powerpoint/2010/main" val="2666021158"/>
              </p:ext>
            </p:extLst>
          </p:nvPr>
        </p:nvGraphicFramePr>
        <p:xfrm>
          <a:off x="753470" y="1390270"/>
          <a:ext cx="8932460" cy="3825989"/>
        </p:xfrm>
        <a:graphic>
          <a:graphicData uri="http://schemas.openxmlformats.org/drawingml/2006/table">
            <a:tbl>
              <a:tblPr firstRow="1" bandRow="1">
                <a:tableStyleId>{2D5ABB26-0587-4C30-8999-92F81FD0307C}</a:tableStyleId>
              </a:tblPr>
              <a:tblGrid>
                <a:gridCol w="2164252">
                  <a:extLst>
                    <a:ext uri="{9D8B030D-6E8A-4147-A177-3AD203B41FA5}">
                      <a16:colId xmlns:a16="http://schemas.microsoft.com/office/drawing/2014/main" val="2740024814"/>
                    </a:ext>
                  </a:extLst>
                </a:gridCol>
                <a:gridCol w="68863">
                  <a:extLst>
                    <a:ext uri="{9D8B030D-6E8A-4147-A177-3AD203B41FA5}">
                      <a16:colId xmlns:a16="http://schemas.microsoft.com/office/drawing/2014/main" val="1463361124"/>
                    </a:ext>
                  </a:extLst>
                </a:gridCol>
                <a:gridCol w="68863">
                  <a:extLst>
                    <a:ext uri="{9D8B030D-6E8A-4147-A177-3AD203B41FA5}">
                      <a16:colId xmlns:a16="http://schemas.microsoft.com/office/drawing/2014/main" val="706605420"/>
                    </a:ext>
                  </a:extLst>
                </a:gridCol>
                <a:gridCol w="2164252">
                  <a:extLst>
                    <a:ext uri="{9D8B030D-6E8A-4147-A177-3AD203B41FA5}">
                      <a16:colId xmlns:a16="http://schemas.microsoft.com/office/drawing/2014/main" val="198262972"/>
                    </a:ext>
                  </a:extLst>
                </a:gridCol>
                <a:gridCol w="68863">
                  <a:extLst>
                    <a:ext uri="{9D8B030D-6E8A-4147-A177-3AD203B41FA5}">
                      <a16:colId xmlns:a16="http://schemas.microsoft.com/office/drawing/2014/main" val="772807978"/>
                    </a:ext>
                  </a:extLst>
                </a:gridCol>
                <a:gridCol w="2164252">
                  <a:extLst>
                    <a:ext uri="{9D8B030D-6E8A-4147-A177-3AD203B41FA5}">
                      <a16:colId xmlns:a16="http://schemas.microsoft.com/office/drawing/2014/main" val="4022111454"/>
                    </a:ext>
                  </a:extLst>
                </a:gridCol>
                <a:gridCol w="68863">
                  <a:extLst>
                    <a:ext uri="{9D8B030D-6E8A-4147-A177-3AD203B41FA5}">
                      <a16:colId xmlns:a16="http://schemas.microsoft.com/office/drawing/2014/main" val="4141636639"/>
                    </a:ext>
                  </a:extLst>
                </a:gridCol>
                <a:gridCol w="2164252">
                  <a:extLst>
                    <a:ext uri="{9D8B030D-6E8A-4147-A177-3AD203B41FA5}">
                      <a16:colId xmlns:a16="http://schemas.microsoft.com/office/drawing/2014/main" val="1200875104"/>
                    </a:ext>
                  </a:extLst>
                </a:gridCol>
              </a:tblGrid>
              <a:tr h="396000">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Unsere Verwaltungsvergütung</a:t>
                      </a: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30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783001" rtl="0" eaLnBrk="1" fontAlgn="auto" latinLnBrk="0" hangingPunct="1">
                        <a:lnSpc>
                          <a:spcPts val="1300"/>
                        </a:lnSpc>
                        <a:spcBef>
                          <a:spcPts val="0"/>
                        </a:spcBef>
                        <a:spcAft>
                          <a:spcPts val="0"/>
                        </a:spcAft>
                        <a:buClrTx/>
                        <a:buSzTx/>
                        <a:buFontTx/>
                        <a:buNone/>
                        <a:tabLst/>
                        <a:defRPr/>
                      </a:pPr>
                      <a:r>
                        <a:rPr lang="de-DE" sz="900" b="1" dirty="0">
                          <a:solidFill>
                            <a:schemeClr val="bg1"/>
                          </a:solidFill>
                        </a:rPr>
                        <a:t>FFPB Strategie 70</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FFPB Strategie 100</a:t>
                      </a:r>
                    </a:p>
                  </a:txBody>
                  <a:tcPr marL="0" marR="0" marT="0" marB="0" anchor="ctr">
                    <a:lnL>
                      <a:noFill/>
                    </a:lnL>
                    <a:solidFill>
                      <a:schemeClr val="accent1"/>
                    </a:solidFill>
                  </a:tcPr>
                </a:tc>
                <a:extLst>
                  <a:ext uri="{0D108BD9-81ED-4DB2-BD59-A6C34878D82A}">
                    <a16:rowId xmlns:a16="http://schemas.microsoft.com/office/drawing/2014/main" val="2906314418"/>
                  </a:ext>
                </a:extLst>
              </a:tr>
              <a:tr h="2034062">
                <a:tc>
                  <a:txBody>
                    <a:bodyPr/>
                    <a:lstStyle/>
                    <a:p>
                      <a:pPr>
                        <a:lnSpc>
                          <a:spcPts val="1300"/>
                        </a:lnSpc>
                      </a:pPr>
                      <a:endParaRPr lang="de-DE" sz="900" b="1" dirty="0"/>
                    </a:p>
                    <a:p>
                      <a:pPr>
                        <a:lnSpc>
                          <a:spcPts val="1300"/>
                        </a:lnSpc>
                      </a:pPr>
                      <a:r>
                        <a:rPr lang="de-DE" sz="900" b="1" dirty="0"/>
                        <a:t>Die Belastung unserer Honorars erfolgt halbjährlich</a:t>
                      </a:r>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endParaRPr lang="de-DE" sz="900" b="1" dirty="0"/>
                    </a:p>
                    <a:p>
                      <a:pPr>
                        <a:lnSpc>
                          <a:spcPts val="1300"/>
                        </a:lnSpc>
                      </a:pPr>
                      <a:r>
                        <a:rPr lang="de-DE" sz="900" b="1" dirty="0"/>
                        <a:t>Transaktionsgebühren Depotbank</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1,20 % netto des  </a:t>
                      </a:r>
                    </a:p>
                    <a:p>
                      <a:pPr algn="ctr">
                        <a:lnSpc>
                          <a:spcPts val="1300"/>
                        </a:lnSpc>
                      </a:pPr>
                      <a:r>
                        <a:rPr lang="de-DE" sz="900" dirty="0"/>
                        <a:t>verwalteten Vermögens  </a:t>
                      </a:r>
                    </a:p>
                    <a:p>
                      <a:pPr algn="ctr">
                        <a:lnSpc>
                          <a:spcPts val="1300"/>
                        </a:lnSpc>
                      </a:pPr>
                      <a:r>
                        <a:rPr lang="de-DE" sz="900" dirty="0"/>
                        <a:t>= 1,43 %*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2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1,40 % netto des  </a:t>
                      </a:r>
                    </a:p>
                    <a:p>
                      <a:pPr algn="ctr">
                        <a:lnSpc>
                          <a:spcPts val="1300"/>
                        </a:lnSpc>
                      </a:pPr>
                      <a:r>
                        <a:rPr lang="de-DE" sz="900" dirty="0"/>
                        <a:t>verwalteten Vermögens  </a:t>
                      </a:r>
                    </a:p>
                    <a:p>
                      <a:pPr algn="ctr">
                        <a:lnSpc>
                          <a:spcPts val="1300"/>
                        </a:lnSpc>
                      </a:pPr>
                      <a:r>
                        <a:rPr lang="de-DE" sz="900" dirty="0"/>
                        <a:t>= 1,67 %*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spcAft>
                          <a:spcPts val="700"/>
                        </a:spcAft>
                      </a:pPr>
                      <a:r>
                        <a:rPr lang="de-DE" sz="900" b="1" dirty="0"/>
                        <a:t>Jährlich</a:t>
                      </a:r>
                    </a:p>
                    <a:p>
                      <a:pPr algn="ctr">
                        <a:lnSpc>
                          <a:spcPts val="1300"/>
                        </a:lnSpc>
                      </a:pPr>
                      <a:r>
                        <a:rPr lang="de-DE" sz="900" dirty="0"/>
                        <a:t>1,60 % netto des  </a:t>
                      </a:r>
                    </a:p>
                    <a:p>
                      <a:pPr algn="ctr">
                        <a:lnSpc>
                          <a:spcPts val="1300"/>
                        </a:lnSpc>
                      </a:pPr>
                      <a:r>
                        <a:rPr lang="de-DE" sz="900" dirty="0"/>
                        <a:t>verwalteten Vermögens  </a:t>
                      </a:r>
                    </a:p>
                    <a:p>
                      <a:pPr algn="ctr">
                        <a:lnSpc>
                          <a:spcPts val="1300"/>
                        </a:lnSpc>
                      </a:pPr>
                      <a:r>
                        <a:rPr lang="de-DE" sz="900" dirty="0"/>
                        <a:t>= 1,90 %* brutto</a:t>
                      </a:r>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endParaRPr lang="de-DE" sz="900" dirty="0"/>
                    </a:p>
                    <a:p>
                      <a:pPr algn="ctr">
                        <a:lnSpc>
                          <a:spcPts val="1300"/>
                        </a:lnSpc>
                      </a:pPr>
                      <a:r>
                        <a:rPr lang="de-DE" sz="900" dirty="0"/>
                        <a:t>0,25% pro Einzelordervolumen (mindestens 10 Euro max. 90 Euro) - bei einem Depot-Volumen unter 280.000 Euro</a:t>
                      </a:r>
                    </a:p>
                    <a:p>
                      <a:pPr algn="ctr">
                        <a:lnSpc>
                          <a:spcPts val="1300"/>
                        </a:lnSpc>
                      </a:pPr>
                      <a:endParaRPr lang="de-DE" sz="900" dirty="0"/>
                    </a:p>
                    <a:p>
                      <a:pPr algn="ctr">
                        <a:lnSpc>
                          <a:spcPts val="1300"/>
                        </a:lnSpc>
                      </a:pPr>
                      <a:r>
                        <a:rPr lang="de-DE" sz="900" dirty="0"/>
                        <a:t>Alternativ: 0,10% pro Einzelordervolumen (mindestens 35 Euro max. 90 Euro) - bei einem Depot-Volumen über 280.000 Euro</a:t>
                      </a:r>
                    </a:p>
                    <a:p>
                      <a:pPr algn="ctr">
                        <a:lnSpc>
                          <a:spcPts val="1300"/>
                        </a:lnSpc>
                      </a:pPr>
                      <a:endParaRPr lang="de-DE" sz="900" dirty="0"/>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423514167"/>
                  </a:ext>
                </a:extLst>
              </a:tr>
            </a:tbl>
          </a:graphicData>
        </a:graphic>
      </p:graphicFrame>
      <p:sp>
        <p:nvSpPr>
          <p:cNvPr id="5" name="Quelle">
            <a:extLst>
              <a:ext uri="{FF2B5EF4-FFF2-40B4-BE49-F238E27FC236}">
                <a16:creationId xmlns:a16="http://schemas.microsoft.com/office/drawing/2014/main" id="{2055E749-4AB3-6A0F-3406-AB7D5FB190FC}"/>
              </a:ext>
            </a:extLst>
          </p:cNvPr>
          <p:cNvSpPr txBox="1"/>
          <p:nvPr/>
        </p:nvSpPr>
        <p:spPr>
          <a:xfrm>
            <a:off x="753470" y="5415601"/>
            <a:ext cx="596333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*inklusive 19 % gesetzliche Umsatzsteuer</a:t>
            </a:r>
          </a:p>
        </p:txBody>
      </p:sp>
    </p:spTree>
    <p:extLst>
      <p:ext uri="{BB962C8B-B14F-4D97-AF65-F5344CB8AC3E}">
        <p14:creationId xmlns:p14="http://schemas.microsoft.com/office/powerpoint/2010/main" val="3135286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Die anfallenden Transaktionskosten im Rahmen der Vermögensverwaltung werden in den allgemeinen Verlustverrechnungstopf eingestellt, damit erfolgt automatisch die Verrechnung mit Ihren abgeltungssteuerpflichtigen Erträgen und damit eine Steuerminderung. </a:t>
            </a:r>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Zusammenspiel aus Erfahrung und geprüften Analyseinstrumenten</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958680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4B23C-4952-B118-10C4-11038750BE1D}"/>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4507B016-EA07-C819-C973-1AD0148C4D5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17</a:t>
            </a:fld>
            <a:endParaRPr lang="de-DE" dirty="0"/>
          </a:p>
        </p:txBody>
      </p:sp>
      <p:sp>
        <p:nvSpPr>
          <p:cNvPr id="3" name="Text">
            <a:extLst>
              <a:ext uri="{FF2B5EF4-FFF2-40B4-BE49-F238E27FC236}">
                <a16:creationId xmlns:a16="http://schemas.microsoft.com/office/drawing/2014/main" id="{C062E8D2-57BE-4760-1DDE-D04E35D3BC15}"/>
              </a:ext>
            </a:extLst>
          </p:cNvPr>
          <p:cNvSpPr>
            <a:spLocks noGrp="1"/>
          </p:cNvSpPr>
          <p:nvPr>
            <p:ph idx="1"/>
          </p:nvPr>
        </p:nvSpPr>
        <p:spPr>
          <a:xfrm>
            <a:off x="1187448" y="1411638"/>
            <a:ext cx="4293128" cy="4420838"/>
          </a:xfrm>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Allokation Ihres gewünschten Anlagebetrages in die von Ihnen gewählte Anlagestrategie und laufende Steuerung und Überwachung.</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im Rahmen der vereinbarten Anlagerichtlinien.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und persönlicher Gespräche.</a:t>
            </a:r>
          </a:p>
        </p:txBody>
      </p:sp>
      <p:sp>
        <p:nvSpPr>
          <p:cNvPr id="4" name="Titel">
            <a:extLst>
              <a:ext uri="{FF2B5EF4-FFF2-40B4-BE49-F238E27FC236}">
                <a16:creationId xmlns:a16="http://schemas.microsoft.com/office/drawing/2014/main" id="{5B40CA86-9E97-426C-F695-509278588661}"/>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2889263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p:cNvGraphicFramePr>
          <p:nvPr>
            <p:ph idx="1"/>
            <p:extLst>
              <p:ext uri="{D42A27DB-BD31-4B8C-83A1-F6EECF244321}">
                <p14:modId xmlns:p14="http://schemas.microsoft.com/office/powerpoint/2010/main" val="280979355"/>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von unserer Depotbank, der comdirect*, eine Übersicht, wo neben unserem Vermögensverwaltungshonorar zusätzliche fremde Produktkosten 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durch unseren Dienstleister, die comdirect*,</a:t>
                      </a:r>
                    </a:p>
                    <a:p>
                      <a:pPr marL="0" algn="l" defTabSz="783001" rtl="0" eaLnBrk="1" latinLnBrk="0" hangingPunct="1">
                        <a:lnSpc>
                          <a:spcPts val="1600"/>
                        </a:lnSpc>
                      </a:pPr>
                      <a:r>
                        <a:rPr lang="de-DE" sz="1100" kern="1200" dirty="0">
                          <a:solidFill>
                            <a:schemeClr val="tx1"/>
                          </a:solidFill>
                          <a:latin typeface="+mn-lt"/>
                          <a:ea typeface="+mn-ea"/>
                          <a:cs typeface="+mn-cs"/>
                        </a:rPr>
                        <a:t>mit dem Ablauf des Kalender-jahres. </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in Ihr Postfach.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 und der Service unseres Depotführers der comdirect*</a:t>
            </a:r>
          </a:p>
        </p:txBody>
      </p:sp>
      <p:sp>
        <p:nvSpPr>
          <p:cNvPr id="8" name="Textfeld 7">
            <a:extLst>
              <a:ext uri="{FF2B5EF4-FFF2-40B4-BE49-F238E27FC236}">
                <a16:creationId xmlns:a16="http://schemas.microsoft.com/office/drawing/2014/main" id="{46ED3497-A73F-BC6C-7DAE-66B17C91A0A0}"/>
              </a:ext>
            </a:extLst>
          </p:cNvPr>
          <p:cNvSpPr txBox="1"/>
          <p:nvPr/>
        </p:nvSpPr>
        <p:spPr>
          <a:xfrm>
            <a:off x="628740" y="6336983"/>
            <a:ext cx="2755883" cy="230832"/>
          </a:xfrm>
          <a:prstGeom prst="rect">
            <a:avLst/>
          </a:prstGeom>
          <a:noFill/>
        </p:spPr>
        <p:txBody>
          <a:bodyPr wrap="none" rtlCol="0">
            <a:spAutoFit/>
          </a:bodyPr>
          <a:lstStyle/>
          <a:p>
            <a:r>
              <a:rPr lang="de-DE" sz="900" dirty="0"/>
              <a:t>* </a:t>
            </a:r>
            <a:r>
              <a:rPr lang="de-DE" sz="900" dirty="0">
                <a:solidFill>
                  <a:srgbClr val="000000"/>
                </a:solidFill>
              </a:rPr>
              <a:t>comdirect - eine Marke der Commerzbank AG</a:t>
            </a:r>
            <a:endParaRPr lang="de-DE" sz="900" dirty="0"/>
          </a:p>
        </p:txBody>
      </p:sp>
    </p:spTree>
    <p:extLst>
      <p:ext uri="{BB962C8B-B14F-4D97-AF65-F5344CB8AC3E}">
        <p14:creationId xmlns:p14="http://schemas.microsoft.com/office/powerpoint/2010/main" val="3593189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808557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24</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25</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a:t>
            </a:r>
            <a:r>
              <a:rPr lang="de-DE" sz="1000" b="0">
                <a:solidFill>
                  <a:srgbClr val="000000"/>
                </a:solidFill>
                <a:latin typeface="+mn-lt"/>
              </a:rPr>
              <a:t>0821 3201-271</a:t>
            </a:r>
            <a:endParaRPr lang="de-DE" sz="1000" b="0" dirty="0">
              <a:solidFill>
                <a:srgbClr val="FF0000"/>
              </a:solidFill>
              <a:latin typeface="+mn-lt"/>
            </a:endParaRP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20.07.2026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4016</Words>
  <Application>Microsoft Office PowerPoint</Application>
  <PresentationFormat>Benutzerdefiniert</PresentationFormat>
  <Paragraphs>1248</Paragraphs>
  <Slides>27</Slides>
  <Notes>0</Notes>
  <HiddenSlides>0</HiddenSlides>
  <MMClips>0</MMClips>
  <ScaleCrop>false</ScaleCrop>
  <HeadingPairs>
    <vt:vector size="6" baseType="variant">
      <vt:variant>
        <vt:lpstr>Verwendete Schriftarten</vt:lpstr>
      </vt:variant>
      <vt:variant>
        <vt:i4>8</vt:i4>
      </vt:variant>
      <vt:variant>
        <vt:lpstr>Design</vt:lpstr>
      </vt:variant>
      <vt:variant>
        <vt:i4>1</vt:i4>
      </vt:variant>
      <vt:variant>
        <vt:lpstr>Folientitel</vt:lpstr>
      </vt:variant>
      <vt:variant>
        <vt:i4>27</vt:i4>
      </vt:variant>
    </vt:vector>
  </HeadingPairs>
  <TitlesOfParts>
    <vt:vector size="36" baseType="lpstr">
      <vt:lpstr>Arial</vt:lpstr>
      <vt:lpstr>Calibri</vt:lpstr>
      <vt:lpstr>Noto Sans</vt:lpstr>
      <vt:lpstr>Noto Sans (Textkörper)</vt:lpstr>
      <vt:lpstr>Noto Serif</vt:lpstr>
      <vt:lpstr>Open Sans</vt:lpstr>
      <vt:lpstr>Symbol</vt:lpstr>
      <vt:lpstr>Wingdings 2</vt:lpstr>
      <vt:lpstr>Office</vt:lpstr>
      <vt:lpstr>Unsere   klassische Portfolioverwaltung</vt:lpstr>
      <vt:lpstr>Inhalt</vt:lpstr>
      <vt:lpstr>Unsere Vermögensverwaltung</vt:lpstr>
      <vt:lpstr>Unsere Portfolioverwaltung </vt:lpstr>
      <vt:lpstr>Unsere drei klassischen Portfolioverwaltungsstrategien</vt:lpstr>
      <vt:lpstr>Anlagestrategie Portfolioverwaltung 30</vt:lpstr>
      <vt:lpstr>Anlagestrategie Comdirect 30 | Wertentwicklung</vt:lpstr>
      <vt:lpstr>Anlagestrategie Portfolioverwaltung 70</vt:lpstr>
      <vt:lpstr>Anlagestrategie Comdirect 70 | Wertentwicklung</vt:lpstr>
      <vt:lpstr>Anlagestrategie Portfolioverwaltung 100</vt:lpstr>
      <vt:lpstr>Anlagestrategie Comdirect 100 | Wertentwicklung</vt:lpstr>
      <vt:lpstr>Unser Honorar</vt:lpstr>
      <vt:lpstr>Transaktionskosten</vt:lpstr>
      <vt:lpstr>Unser Honorar</vt:lpstr>
      <vt:lpstr>Steuerlicher Hinweis zum Honorar</vt:lpstr>
      <vt:lpstr>Unsere Investmentphilosophie</vt:lpstr>
      <vt:lpstr>Unser Investmentprozess</vt:lpstr>
      <vt:lpstr>Unser Risikomanagement</vt:lpstr>
      <vt:lpstr>Anlageklassen und Ausgestaltung</vt:lpstr>
      <vt:lpstr>Unser Service und der Service unseres Depotführers der comdirect*</vt:lpstr>
      <vt:lpstr>Unsere Bank in Zahlen</vt:lpstr>
      <vt:lpstr>Unsere Tradition</vt:lpstr>
      <vt:lpstr>Sehr geehrte Interessentin, sehr geehrter Interessent,</vt:lpstr>
      <vt:lpstr>Die Fugger</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195</cp:revision>
  <dcterms:created xsi:type="dcterms:W3CDTF">2023-08-14T05:18:02Z</dcterms:created>
  <dcterms:modified xsi:type="dcterms:W3CDTF">2026-07-20T09:07:39Z</dcterms:modified>
  <cp:category>Vorlagen;Design</cp:category>
</cp:coreProperties>
</file>