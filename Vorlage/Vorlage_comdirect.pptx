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2.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3.xml" ContentType="application/vnd.openxmlformats-officedocument.drawingml.chartshapes+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drawings/drawing4.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Default Extension="jpg" ContentType="image/jpeg"/>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9"/>
  </p:notesMasterIdLst>
  <p:sldIdLst>
    <p:sldId id="256" r:id="rId2"/>
    <p:sldId id="267" r:id="rId3"/>
    <p:sldId id="306" r:id="rId4"/>
    <p:sldId id="269" r:id="rId5"/>
    <p:sldId id="271" r:id="rId6"/>
    <p:sldId id="257" r:id="rId7"/>
    <p:sldId id="303" r:id="rId8"/>
    <p:sldId id="272" r:id="rId9"/>
    <p:sldId id="304" r:id="rId10"/>
    <p:sldId id="273" r:id="rId11"/>
    <p:sldId id="305" r:id="rId12"/>
    <p:sldId id="284" r:id="rId13"/>
    <p:sldId id="302" r:id="rId14"/>
    <p:sldId id="285" r:id="rId15"/>
    <p:sldId id="300" r:id="rId16"/>
    <p:sldId id="307" r:id="rId17"/>
    <p:sldId id="1594" r:id="rId18"/>
    <p:sldId id="288" r:id="rId19"/>
    <p:sldId id="289" r:id="rId20"/>
    <p:sldId id="290" r:id="rId21"/>
    <p:sldId id="291" r:id="rId22"/>
    <p:sldId id="295" r:id="rId23"/>
    <p:sldId id="296" r:id="rId24"/>
    <p:sldId id="297" r:id="rId25"/>
    <p:sldId id="312" r:id="rId26"/>
    <p:sldId id="311" r:id="rId27"/>
    <p:sldId id="299" r:id="rId28"/>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161" autoAdjust="0"/>
  </p:normalViewPr>
  <p:slideViewPr>
    <p:cSldViewPr snapToGrid="0" showGuides="1">
      <p:cViewPr varScale="1">
        <p:scale>
          <a:sx n="120" d="100"/>
          <a:sy n="120" d="100"/>
        </p:scale>
        <p:origin x="780" y="102"/>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Master_Excel\FFPB_PPT_Verm&#246;gensverwaltung.xlsm"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Master_Excel\FFPB_PPT_Verm&#246;gensverwaltung.xlsm"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Master_Excel\FFPB_PPT_Verm&#246;gensverwaltung.xlsm" TargetMode="Externa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7DD5-4331-A1F2-494FF211F11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DD5-4331-A1F2-494FF211F11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7DD5-4331-A1F2-494FF211F11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7DD5-4331-A1F2-494FF211F11D}"/>
              </c:ext>
            </c:extLst>
          </c:dPt>
          <c:dLbls>
            <c:dLbl>
              <c:idx val="0"/>
              <c:layout>
                <c:manualLayout>
                  <c:x val="0.36145315303382419"/>
                  <c:y val="4.754085960149247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DD5-4331-A1F2-494FF211F11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DD5-4331-A1F2-494FF211F11D}"/>
                </c:ext>
              </c:extLst>
            </c:dLbl>
            <c:dLbl>
              <c:idx val="2"/>
              <c:layout>
                <c:manualLayout>
                  <c:x val="-0.17922550806711762"/>
                  <c:y val="-6.50820194747763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DD5-4331-A1F2-494FF211F11D}"/>
                </c:ext>
              </c:extLst>
            </c:dLbl>
            <c:dLbl>
              <c:idx val="3"/>
              <c:layout>
                <c:manualLayout>
                  <c:x val="-0.367021084446157"/>
                  <c:y val="-4.69891583719633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DD5-4331-A1F2-494FF211F11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S_Diagramm_Com!$B$4:$B$7</c:f>
              <c:strCache>
                <c:ptCount val="4"/>
                <c:pt idx="0">
                  <c:v>EDELMETALLE</c:v>
                </c:pt>
                <c:pt idx="1">
                  <c:v>RENTEN</c:v>
                </c:pt>
                <c:pt idx="2">
                  <c:v>AKTIEN </c:v>
                </c:pt>
                <c:pt idx="3">
                  <c:v>LIQUIDITÄT</c:v>
                </c:pt>
              </c:strCache>
            </c:strRef>
          </c:cat>
          <c:val>
            <c:numRef>
              <c:f>S_Diagramm_Com!$C$4:$C$7</c:f>
              <c:numCache>
                <c:formatCode>0.00%</c:formatCode>
                <c:ptCount val="4"/>
                <c:pt idx="0">
                  <c:v>0.1195</c:v>
                </c:pt>
                <c:pt idx="1">
                  <c:v>0.53890000000000005</c:v>
                </c:pt>
                <c:pt idx="2">
                  <c:v>0.28599999999999992</c:v>
                </c:pt>
                <c:pt idx="3">
                  <c:v>5.5599999999999997E-2</c:v>
                </c:pt>
              </c:numCache>
            </c:numRef>
          </c:val>
          <c:extLst>
            <c:ext xmlns:c16="http://schemas.microsoft.com/office/drawing/2014/chart" uri="{C3380CC4-5D6E-409C-BE32-E72D297353CC}">
              <c16:uniqueId val="{00000008-7DD5-4331-A1F2-494FF211F11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4034242250801352"/>
          <c:w val="0.23952616820244227"/>
          <c:h val="0.25965757749198648"/>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1.0121</c:v>
                </c:pt>
                <c:pt idx="4">
                  <c:v>1.00116932</c:v>
                </c:pt>
                <c:pt idx="5">
                  <c:v>1.01168159786</c:v>
                </c:pt>
                <c:pt idx="6">
                  <c:v>1.0260474765496119</c:v>
                </c:pt>
                <c:pt idx="7">
                  <c:v>1.0344756357314857</c:v>
                </c:pt>
                <c:pt idx="8">
                  <c:v>1.0464755531059711</c:v>
                </c:pt>
                <c:pt idx="9">
                  <c:v>1.0568356610817202</c:v>
                </c:pt>
                <c:pt idx="10">
                  <c:v>1.0571527117800448</c:v>
                </c:pt>
                <c:pt idx="11">
                  <c:v>1.0756528842361956</c:v>
                </c:pt>
                <c:pt idx="12">
                  <c:v>1.064250963663292</c:v>
                </c:pt>
                <c:pt idx="13">
                  <c:v>1.0832542288704639</c:v>
                </c:pt>
                <c:pt idx="14">
                  <c:v>1.1006946219552782</c:v>
                </c:pt>
                <c:pt idx="15">
                  <c:v>1.0943105931479375</c:v>
                </c:pt>
                <c:pt idx="16">
                  <c:v>1.0931068514954749</c:v>
                </c:pt>
                <c:pt idx="17">
                  <c:v>1.1014144635668406</c:v>
                </c:pt>
                <c:pt idx="18">
                  <c:v>1.0921625820728791</c:v>
                </c:pt>
                <c:pt idx="19">
                  <c:v>1.1042820918136254</c:v>
                </c:pt>
                <c:pt idx="20">
                  <c:v>1.100527532701459</c:v>
                </c:pt>
                <c:pt idx="21">
                  <c:v>1.1149444433798481</c:v>
                </c:pt>
                <c:pt idx="22">
                  <c:v>1.1131605322704403</c:v>
                </c:pt>
                <c:pt idx="23">
                  <c:v>1.1316389971061296</c:v>
                </c:pt>
                <c:pt idx="24">
                  <c:v>1.1352602418968694</c:v>
                </c:pt>
                <c:pt idx="25">
                  <c:v>1.1544427452911696</c:v>
                </c:pt>
                <c:pt idx="26">
                  <c:v>1.1895627388141621</c:v>
                </c:pt>
                <c:pt idx="27">
                  <c:v>1.1578305260168602</c:v>
                </c:pt>
                <c:pt idx="28">
                  <c:v>1.1553461534846869</c:v>
                </c:pt>
                <c:pt idx="29">
                  <c:v>1.1554590795088768</c:v>
                </c:pt>
                <c:pt idx="30">
                  <c:v>1.1448440332350462</c:v>
                </c:pt>
                <c:pt idx="31">
                  <c:v>1.1477801098639779</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5.361273672671385E-2</c:v>
                </c:pt>
                <c:pt idx="1">
                  <c:v>6.2399999999999997E-2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3.78E-2</c:v>
                </c:pt>
                <c:pt idx="1">
                  <c:v>3.7900000000000003E-2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0C78-4B07-A53C-03F4AE4F8CB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0C78-4B07-A53C-03F4AE4F8CB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0C78-4B07-A53C-03F4AE4F8CB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0C78-4B07-A53C-03F4AE4F8CBD}"/>
              </c:ext>
            </c:extLst>
          </c:dPt>
          <c:dLbls>
            <c:dLbl>
              <c:idx val="0"/>
              <c:layout>
                <c:manualLayout>
                  <c:x val="0.31798980255278375"/>
                  <c:y val="-1.435716207997475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C78-4B07-A53C-03F4AE4F8CBD}"/>
                </c:ext>
              </c:extLst>
            </c:dLbl>
            <c:dLbl>
              <c:idx val="1"/>
              <c:layout>
                <c:manualLayout>
                  <c:x val="0.20595722547308626"/>
                  <c:y val="0.2373244241292498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C78-4B07-A53C-03F4AE4F8CBD}"/>
                </c:ext>
              </c:extLst>
            </c:dLbl>
            <c:dLbl>
              <c:idx val="2"/>
              <c:layout>
                <c:manualLayout>
                  <c:x val="-0.19665332101426963"/>
                  <c:y val="-0.1626910481921662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0C78-4B07-A53C-03F4AE4F8CBD}"/>
                </c:ext>
              </c:extLst>
            </c:dLbl>
            <c:dLbl>
              <c:idx val="3"/>
              <c:layout>
                <c:manualLayout>
                  <c:x val="-0.30689853882216062"/>
                  <c:y val="-9.633577571059540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0C78-4B07-A53C-03F4AE4F8CB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S_Diagramm_Com!$F$4:$F$7</c:f>
              <c:strCache>
                <c:ptCount val="4"/>
                <c:pt idx="0">
                  <c:v>EDELMETALLE</c:v>
                </c:pt>
                <c:pt idx="1">
                  <c:v>RENTEN</c:v>
                </c:pt>
                <c:pt idx="2">
                  <c:v>AKTIEN </c:v>
                </c:pt>
                <c:pt idx="3">
                  <c:v>LIQUIDITÄT</c:v>
                </c:pt>
              </c:strCache>
            </c:strRef>
          </c:cat>
          <c:val>
            <c:numRef>
              <c:f>S_Diagramm_Com!$G$4:$G$7</c:f>
              <c:numCache>
                <c:formatCode>0.00%</c:formatCode>
                <c:ptCount val="4"/>
                <c:pt idx="0">
                  <c:v>0.12</c:v>
                </c:pt>
                <c:pt idx="1">
                  <c:v>0.17880000000000001</c:v>
                </c:pt>
                <c:pt idx="2">
                  <c:v>0.67080000000000006</c:v>
                </c:pt>
                <c:pt idx="3">
                  <c:v>3.04E-2</c:v>
                </c:pt>
              </c:numCache>
            </c:numRef>
          </c:val>
          <c:extLst>
            <c:ext xmlns:c16="http://schemas.microsoft.com/office/drawing/2014/chart" uri="{C3380CC4-5D6E-409C-BE32-E72D297353CC}">
              <c16:uniqueId val="{00000008-0C78-4B07-A53C-03F4AE4F8CB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4133791968009033"/>
          <c:w val="0.26075351606611236"/>
          <c:h val="0.2586620803199096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1.0163</c:v>
                </c:pt>
                <c:pt idx="4">
                  <c:v>0.98733545</c:v>
                </c:pt>
                <c:pt idx="5">
                  <c:v>1.0012568798450001</c:v>
                </c:pt>
                <c:pt idx="6">
                  <c:v>1.0168764871705822</c:v>
                </c:pt>
                <c:pt idx="7">
                  <c:v>1.0144032401784857</c:v>
                </c:pt>
                <c:pt idx="8">
                  <c:v>1.0331697001217877</c:v>
                </c:pt>
                <c:pt idx="9">
                  <c:v>1.0317232625416173</c:v>
                </c:pt>
                <c:pt idx="10">
                  <c:v>1.0461673882172</c:v>
                </c:pt>
                <c:pt idx="11">
                  <c:v>1.0956511056798734</c:v>
                </c:pt>
                <c:pt idx="12">
                  <c:v>1.082284162190579</c:v>
                </c:pt>
                <c:pt idx="13">
                  <c:v>1.1000712859393489</c:v>
                </c:pt>
                <c:pt idx="14">
                  <c:v>1.1382437595614443</c:v>
                </c:pt>
                <c:pt idx="15">
                  <c:v>1.1234465906871456</c:v>
                </c:pt>
                <c:pt idx="16">
                  <c:v>1.1223231440964585</c:v>
                </c:pt>
                <c:pt idx="17">
                  <c:v>1.1642980296856662</c:v>
                </c:pt>
                <c:pt idx="18">
                  <c:v>1.1552165050541179</c:v>
                </c:pt>
                <c:pt idx="19">
                  <c:v>1.1923269111057775</c:v>
                </c:pt>
                <c:pt idx="20">
                  <c:v>1.1670495805903349</c:v>
                </c:pt>
                <c:pt idx="21">
                  <c:v>1.1936583110277945</c:v>
                </c:pt>
                <c:pt idx="22">
                  <c:v>1.1965230909742612</c:v>
                </c:pt>
                <c:pt idx="23">
                  <c:v>1.1952069155741896</c:v>
                </c:pt>
                <c:pt idx="24">
                  <c:v>1.1968802052559935</c:v>
                </c:pt>
                <c:pt idx="25">
                  <c:v>1.1972574625285808</c:v>
                </c:pt>
                <c:pt idx="26">
                  <c:v>1.2284323239062878</c:v>
                </c:pt>
                <c:pt idx="27">
                  <c:v>1.1835738401681368</c:v>
                </c:pt>
                <c:pt idx="28">
                  <c:v>1.1921409776459799</c:v>
                </c:pt>
                <c:pt idx="29">
                  <c:v>1.1940447859743897</c:v>
                </c:pt>
                <c:pt idx="30">
                  <c:v>1.1650117089661434</c:v>
                </c:pt>
                <c:pt idx="31">
                  <c:v>1.1798852115318432</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7.1499999999999994E-2</c:v>
                </c:pt>
                <c:pt idx="1">
                  <c:v>0.10249999999999999</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4.3700000000000003E-2</c:v>
                </c:pt>
                <c:pt idx="1">
                  <c:v>7.6999999999999999E-2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D6D2-4D44-B8A5-1062D74E8B24}"/>
              </c:ext>
            </c:extLst>
          </c:dPt>
          <c:dPt>
            <c:idx val="1"/>
            <c:bubble3D val="0"/>
            <c:spPr>
              <a:solidFill>
                <a:srgbClr val="14355C"/>
              </a:solidFill>
              <a:ln w="19050">
                <a:solidFill>
                  <a:schemeClr val="lt1"/>
                </a:solidFill>
              </a:ln>
              <a:effectLst/>
            </c:spPr>
            <c:extLst>
              <c:ext xmlns:c16="http://schemas.microsoft.com/office/drawing/2014/chart" uri="{C3380CC4-5D6E-409C-BE32-E72D297353CC}">
                <c16:uniqueId val="{00000003-D6D2-4D44-B8A5-1062D74E8B24}"/>
              </c:ext>
            </c:extLst>
          </c:dPt>
          <c:dPt>
            <c:idx val="2"/>
            <c:bubble3D val="0"/>
            <c:spPr>
              <a:solidFill>
                <a:srgbClr val="9FD0EF"/>
              </a:solidFill>
              <a:ln w="19050">
                <a:solidFill>
                  <a:schemeClr val="lt1"/>
                </a:solidFill>
              </a:ln>
              <a:effectLst/>
            </c:spPr>
            <c:extLst>
              <c:ext xmlns:c16="http://schemas.microsoft.com/office/drawing/2014/chart" uri="{C3380CC4-5D6E-409C-BE32-E72D297353CC}">
                <c16:uniqueId val="{00000005-D6D2-4D44-B8A5-1062D74E8B24}"/>
              </c:ext>
            </c:extLst>
          </c:dPt>
          <c:dLbls>
            <c:dLbl>
              <c:idx val="0"/>
              <c:layout>
                <c:manualLayout>
                  <c:x val="0.3355682476616173"/>
                  <c:y val="3.589784317485442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6D2-4D44-B8A5-1062D74E8B24}"/>
                </c:ext>
              </c:extLst>
            </c:dLbl>
            <c:dLbl>
              <c:idx val="1"/>
              <c:layout>
                <c:manualLayout>
                  <c:x val="0.23977374941367988"/>
                  <c:y val="9.103156765066695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6D2-4D44-B8A5-1062D74E8B24}"/>
                </c:ext>
              </c:extLst>
            </c:dLbl>
            <c:dLbl>
              <c:idx val="2"/>
              <c:layout>
                <c:manualLayout>
                  <c:x val="-0.27213420522583676"/>
                  <c:y val="-9.704026013251879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6D2-4D44-B8A5-1062D74E8B24}"/>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S_Diagramm_Com!$J$4:$J$6</c:f>
              <c:strCache>
                <c:ptCount val="3"/>
                <c:pt idx="0">
                  <c:v>EDELMETALLE</c:v>
                </c:pt>
                <c:pt idx="1">
                  <c:v>AKTIEN </c:v>
                </c:pt>
                <c:pt idx="2">
                  <c:v>LIQUIDITÄT</c:v>
                </c:pt>
              </c:strCache>
            </c:strRef>
          </c:cat>
          <c:val>
            <c:numRef>
              <c:f>S_Diagramm_Com!$K$4:$K$6</c:f>
              <c:numCache>
                <c:formatCode>0.00%</c:formatCode>
                <c:ptCount val="3"/>
                <c:pt idx="0">
                  <c:v>7.4300000000000005E-2</c:v>
                </c:pt>
                <c:pt idx="1">
                  <c:v>0.89419999999999988</c:v>
                </c:pt>
                <c:pt idx="2">
                  <c:v>3.15E-2</c:v>
                </c:pt>
              </c:numCache>
            </c:numRef>
          </c:val>
          <c:extLst>
            <c:ext xmlns:c16="http://schemas.microsoft.com/office/drawing/2014/chart" uri="{C3380CC4-5D6E-409C-BE32-E72D297353CC}">
              <c16:uniqueId val="{00000006-D6D2-4D44-B8A5-1062D74E8B24}"/>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563915995587597"/>
          <c:w val="0.2628093700852579"/>
          <c:h val="0.21436084004412401"/>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1.0174000000000001</c:v>
                </c:pt>
                <c:pt idx="4">
                  <c:v>0.97700922000000012</c:v>
                </c:pt>
                <c:pt idx="5">
                  <c:v>1.0019229551100002</c:v>
                </c:pt>
                <c:pt idx="6">
                  <c:v>1.0164508379590951</c:v>
                </c:pt>
                <c:pt idx="7">
                  <c:v>1.0067059204854136</c:v>
                </c:pt>
                <c:pt idx="8">
                  <c:v>1.0213031563324522</c:v>
                </c:pt>
                <c:pt idx="9">
                  <c:v>1.0076176940375974</c:v>
                </c:pt>
                <c:pt idx="10">
                  <c:v>1.0182984415943959</c:v>
                </c:pt>
                <c:pt idx="11">
                  <c:v>1.0680932353883619</c:v>
                </c:pt>
                <c:pt idx="12">
                  <c:v>1.0486539385042937</c:v>
                </c:pt>
                <c:pt idx="13">
                  <c:v>1.0840598511608019</c:v>
                </c:pt>
                <c:pt idx="14">
                  <c:v>1.1157143988146971</c:v>
                </c:pt>
                <c:pt idx="15">
                  <c:v>1.0610443932727769</c:v>
                </c:pt>
                <c:pt idx="16">
                  <c:v>1.0432188474657942</c:v>
                </c:pt>
                <c:pt idx="17">
                  <c:v>1.0949625023000977</c:v>
                </c:pt>
                <c:pt idx="18">
                  <c:v>1.0852173360296269</c:v>
                </c:pt>
                <c:pt idx="19">
                  <c:v>1.1286399202527131</c:v>
                </c:pt>
                <c:pt idx="20">
                  <c:v>1.0999724662782941</c:v>
                </c:pt>
                <c:pt idx="21">
                  <c:v>1.1199919651645591</c:v>
                </c:pt>
                <c:pt idx="22">
                  <c:v>1.1185359756098452</c:v>
                </c:pt>
                <c:pt idx="23">
                  <c:v>1.1347547472561879</c:v>
                </c:pt>
                <c:pt idx="24">
                  <c:v>1.1287405470957301</c:v>
                </c:pt>
                <c:pt idx="25">
                  <c:v>1.1225337319710833</c:v>
                </c:pt>
                <c:pt idx="26">
                  <c:v>1.1404655807246151</c:v>
                </c:pt>
                <c:pt idx="27">
                  <c:v>1.0871183306828582</c:v>
                </c:pt>
                <c:pt idx="28">
                  <c:v>1.1204043249316014</c:v>
                </c:pt>
                <c:pt idx="29">
                  <c:v>1.1200681027674726</c:v>
                </c:pt>
                <c:pt idx="30">
                  <c:v>1.1091969194606441</c:v>
                </c:pt>
                <c:pt idx="31">
                  <c:v>1.131835878511978</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3.8199999999999998E-2</c:v>
                </c:pt>
                <c:pt idx="1">
                  <c:v>7.4200000000000002E-2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4.8500000000000001E-2</c:v>
                </c:pt>
                <c:pt idx="1">
                  <c:v>0.1148</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20.07.2026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20.07.2026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20.07.2026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20.07.2026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chart" Target="../charts/chart8.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3" Type="http://schemas.openxmlformats.org/officeDocument/2006/relationships/hyperlink" Target="mailto:info@fuggerbank.de" TargetMode="External"/><Relationship Id="rId2" Type="http://schemas.openxmlformats.org/officeDocument/2006/relationships/image" Target="../media/image2.png"/><Relationship Id="rId1" Type="http://schemas.openxmlformats.org/officeDocument/2006/relationships/slideLayout" Target="../slideLayouts/slideLayout14.xml"/><Relationship Id="rId6" Type="http://schemas.openxmlformats.org/officeDocument/2006/relationships/hyperlink" Target="https://www.ecb.europa.eu/" TargetMode="External"/><Relationship Id="rId5" Type="http://schemas.openxmlformats.org/officeDocument/2006/relationships/hyperlink" Target="http://www.bafin.de/" TargetMode="External"/><Relationship Id="rId4" Type="http://schemas.openxmlformats.org/officeDocument/2006/relationships/hyperlink" Target="http://www.fuggerbank.d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klassische Portfolioverwaltung</a:t>
            </a:r>
          </a:p>
        </p:txBody>
      </p:sp>
    </p:spTree>
    <p:extLst>
      <p:ext uri="{BB962C8B-B14F-4D97-AF65-F5344CB8AC3E}">
        <p14:creationId xmlns:p14="http://schemas.microsoft.com/office/powerpoint/2010/main" val="4263361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r>
              <a:rPr lang="de-DE" dirty="0"/>
              <a:t>Unsere Portfolioverwaltung </a:t>
            </a:r>
            <a:r>
              <a:rPr lang="de-DE" u="sng" dirty="0">
                <a:uFill>
                  <a:solidFill>
                    <a:schemeClr val="accent3"/>
                  </a:solidFill>
                </a:uFill>
              </a:rPr>
              <a:t>	</a:t>
            </a:r>
            <a:r>
              <a:rPr lang="de-DE" dirty="0"/>
              <a:t>3</a:t>
            </a:r>
          </a:p>
          <a:p>
            <a:r>
              <a:rPr lang="de-DE" dirty="0"/>
              <a:t>Unsere klassischen Portfolioverwaltungsstrategien</a:t>
            </a:r>
            <a:r>
              <a:rPr lang="de-DE" u="sng" dirty="0">
                <a:uFill>
                  <a:solidFill>
                    <a:schemeClr val="accent3"/>
                  </a:solidFill>
                </a:uFill>
              </a:rPr>
              <a:t>	</a:t>
            </a:r>
            <a:r>
              <a:rPr lang="de-DE" dirty="0">
                <a:uFill>
                  <a:solidFill>
                    <a:schemeClr val="accent3"/>
                  </a:solidFill>
                </a:uFill>
              </a:rPr>
              <a:t>5</a:t>
            </a:r>
            <a:endParaRPr lang="de-DE" dirty="0"/>
          </a:p>
          <a:p>
            <a:r>
              <a:rPr lang="de-DE" dirty="0"/>
              <a:t>Honorar </a:t>
            </a:r>
            <a:r>
              <a:rPr lang="de-DE" u="sng" dirty="0">
                <a:uFill>
                  <a:solidFill>
                    <a:schemeClr val="accent3"/>
                  </a:solidFill>
                </a:uFill>
              </a:rPr>
              <a:t>	</a:t>
            </a:r>
            <a:r>
              <a:rPr lang="de-DE" dirty="0">
                <a:uFill>
                  <a:solidFill>
                    <a:schemeClr val="accent3"/>
                  </a:solidFill>
                </a:uFill>
              </a:rPr>
              <a:t>14</a:t>
            </a:r>
            <a:endParaRPr lang="de-DE" dirty="0"/>
          </a:p>
          <a:p>
            <a:r>
              <a:rPr lang="de-DE" dirty="0"/>
              <a:t>Unsere Investmentphilosophie </a:t>
            </a:r>
            <a:r>
              <a:rPr lang="de-DE" u="sng" dirty="0">
                <a:uFill>
                  <a:solidFill>
                    <a:schemeClr val="accent3"/>
                  </a:solidFill>
                </a:uFill>
              </a:rPr>
              <a:t>	</a:t>
            </a:r>
            <a:r>
              <a:rPr lang="de-DE" dirty="0"/>
              <a:t>16</a:t>
            </a:r>
          </a:p>
          <a:p>
            <a:r>
              <a:rPr lang="de-DE" dirty="0"/>
              <a:t>Die Bank in Zahlen </a:t>
            </a:r>
            <a:r>
              <a:rPr lang="de-DE" u="sng" dirty="0">
                <a:uFill>
                  <a:solidFill>
                    <a:schemeClr val="accent3"/>
                  </a:solidFill>
                </a:uFill>
              </a:rPr>
              <a:t>	</a:t>
            </a:r>
            <a:r>
              <a:rPr lang="de-DE" dirty="0">
                <a:uFill>
                  <a:solidFill>
                    <a:schemeClr val="accent3"/>
                  </a:solidFill>
                </a:uFill>
              </a:rPr>
              <a:t>21</a:t>
            </a:r>
            <a:endParaRPr lang="de-DE" dirty="0"/>
          </a:p>
          <a:p>
            <a:r>
              <a:rPr lang="de-DE" dirty="0"/>
              <a:t>Unsere Tradition </a:t>
            </a:r>
            <a:r>
              <a:rPr lang="de-DE" u="sng" dirty="0">
                <a:uFill>
                  <a:solidFill>
                    <a:schemeClr val="accent3"/>
                  </a:solidFill>
                </a:uFill>
              </a:rPr>
              <a:t>	</a:t>
            </a:r>
            <a:r>
              <a:rPr lang="de-DE" dirty="0">
                <a:uFill>
                  <a:solidFill>
                    <a:schemeClr val="accent3"/>
                  </a:solidFill>
                </a:uFill>
              </a:rPr>
              <a:t>22</a:t>
            </a:r>
            <a:endParaRPr lang="de-DE" dirty="0"/>
          </a:p>
          <a:p>
            <a:r>
              <a:rPr lang="de-DE" dirty="0"/>
              <a:t>Rechtliche Hinweise und Impressum </a:t>
            </a:r>
            <a:r>
              <a:rPr lang="de-DE" u="sng">
                <a:uFill>
                  <a:solidFill>
                    <a:schemeClr val="accent3"/>
                  </a:solidFill>
                </a:uFill>
              </a:rPr>
              <a:t>	</a:t>
            </a:r>
            <a:r>
              <a:rPr lang="de-DE"/>
              <a:t>25</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fundierten Vorgesprächen</a:t>
            </a:r>
          </a:p>
          <a:p>
            <a:pPr lvl="2"/>
            <a:r>
              <a:rPr lang="de-DE" dirty="0"/>
              <a:t>Auf Grundlage persönlicher Gespräche ermitteln wir präzise Ihre individuellen Präferenzen sowie Anforderungen an das Rendite-Risiko-Profil und Ihren Anlagehorizont. </a:t>
            </a:r>
          </a:p>
          <a:p>
            <a:r>
              <a:rPr lang="de-DE" dirty="0"/>
              <a:t>Laufendes Monitoring und dynamische Reallokation</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4257688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4</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Portfoliomanagern</a:t>
            </a:r>
          </a:p>
          <a:p>
            <a:pPr lvl="2"/>
            <a:r>
              <a:rPr lang="de-DE" dirty="0"/>
              <a:t>Unsere erfahrenen Portfoliomanager planen im so genannten Top-Down-Verfahren und setzen je nach Marktsituation die Anlageentscheidungen je Strategie verantwortungsvoll um. </a:t>
            </a:r>
          </a:p>
          <a:p>
            <a:r>
              <a:rPr lang="de-DE" dirty="0"/>
              <a:t>Ab einem Anlagevolumen von 50.000 Euro</a:t>
            </a:r>
          </a:p>
          <a:p>
            <a:pPr lvl="2"/>
            <a:r>
              <a:rPr lang="de-DE" dirty="0"/>
              <a:t>Unsere klassische Portfolioverwaltung kann ab einem Anlagevolumen von 50.000 Euro in Auftrag gegeben werden.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Portfolioverwaltung </a:t>
            </a:r>
          </a:p>
        </p:txBody>
      </p:sp>
    </p:spTree>
    <p:extLst>
      <p:ext uri="{BB962C8B-B14F-4D97-AF65-F5344CB8AC3E}">
        <p14:creationId xmlns:p14="http://schemas.microsoft.com/office/powerpoint/2010/main" val="126782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extLst>
              <p:ext uri="{D42A27DB-BD31-4B8C-83A1-F6EECF244321}">
                <p14:modId xmlns:p14="http://schemas.microsoft.com/office/powerpoint/2010/main" val="2603188964"/>
              </p:ext>
            </p:extLst>
          </p:nvPr>
        </p:nvGraphicFramePr>
        <p:xfrm>
          <a:off x="575751" y="1041400"/>
          <a:ext cx="8932460" cy="3759107"/>
        </p:xfrm>
        <a:graphic>
          <a:graphicData uri="http://schemas.openxmlformats.org/drawingml/2006/table">
            <a:tbl>
              <a:tblPr firstRow="1" bandRow="1">
                <a:tableStyleId>{2D5ABB26-0587-4C30-8999-92F81FD0307C}</a:tableStyleId>
              </a:tblPr>
              <a:tblGrid>
                <a:gridCol w="2164252">
                  <a:extLst>
                    <a:ext uri="{9D8B030D-6E8A-4147-A177-3AD203B41FA5}">
                      <a16:colId xmlns:a16="http://schemas.microsoft.com/office/drawing/2014/main" val="3761890794"/>
                    </a:ext>
                  </a:extLst>
                </a:gridCol>
                <a:gridCol w="68863">
                  <a:extLst>
                    <a:ext uri="{9D8B030D-6E8A-4147-A177-3AD203B41FA5}">
                      <a16:colId xmlns:a16="http://schemas.microsoft.com/office/drawing/2014/main" val="1578058522"/>
                    </a:ext>
                  </a:extLst>
                </a:gridCol>
                <a:gridCol w="68863">
                  <a:extLst>
                    <a:ext uri="{9D8B030D-6E8A-4147-A177-3AD203B41FA5}">
                      <a16:colId xmlns:a16="http://schemas.microsoft.com/office/drawing/2014/main" val="2072559993"/>
                    </a:ext>
                  </a:extLst>
                </a:gridCol>
                <a:gridCol w="2164252">
                  <a:extLst>
                    <a:ext uri="{9D8B030D-6E8A-4147-A177-3AD203B41FA5}">
                      <a16:colId xmlns:a16="http://schemas.microsoft.com/office/drawing/2014/main" val="2131862848"/>
                    </a:ext>
                  </a:extLst>
                </a:gridCol>
                <a:gridCol w="68863">
                  <a:extLst>
                    <a:ext uri="{9D8B030D-6E8A-4147-A177-3AD203B41FA5}">
                      <a16:colId xmlns:a16="http://schemas.microsoft.com/office/drawing/2014/main" val="1048734056"/>
                    </a:ext>
                  </a:extLst>
                </a:gridCol>
                <a:gridCol w="2164252">
                  <a:extLst>
                    <a:ext uri="{9D8B030D-6E8A-4147-A177-3AD203B41FA5}">
                      <a16:colId xmlns:a16="http://schemas.microsoft.com/office/drawing/2014/main" val="1963245952"/>
                    </a:ext>
                  </a:extLst>
                </a:gridCol>
                <a:gridCol w="68863">
                  <a:extLst>
                    <a:ext uri="{9D8B030D-6E8A-4147-A177-3AD203B41FA5}">
                      <a16:colId xmlns:a16="http://schemas.microsoft.com/office/drawing/2014/main" val="1182318350"/>
                    </a:ext>
                  </a:extLst>
                </a:gridCol>
                <a:gridCol w="2164252">
                  <a:extLst>
                    <a:ext uri="{9D8B030D-6E8A-4147-A177-3AD203B41FA5}">
                      <a16:colId xmlns:a16="http://schemas.microsoft.com/office/drawing/2014/main" val="3131425242"/>
                    </a:ext>
                  </a:extLst>
                </a:gridCol>
              </a:tblGrid>
              <a:tr h="396000">
                <a:tc>
                  <a:txBody>
                    <a:bodyPr/>
                    <a:lstStyle/>
                    <a:p>
                      <a:pPr algn="ctr">
                        <a:lnSpc>
                          <a:spcPts val="1300"/>
                        </a:lnSpc>
                      </a:pPr>
                      <a:endParaRPr lang="de-DE" sz="900" b="1" dirty="0">
                        <a:solidFill>
                          <a:schemeClr val="bg1"/>
                        </a:solidFill>
                      </a:endParaRP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30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70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100</a:t>
                      </a:r>
                    </a:p>
                  </a:txBody>
                  <a:tcPr marL="0" marR="0" marT="0" marB="0" anchor="ctr">
                    <a:lnL>
                      <a:noFill/>
                    </a:lnL>
                    <a:solidFill>
                      <a:schemeClr val="accent1"/>
                    </a:solidFill>
                  </a:tcPr>
                </a:tc>
                <a:extLst>
                  <a:ext uri="{0D108BD9-81ED-4DB2-BD59-A6C34878D82A}">
                    <a16:rowId xmlns:a16="http://schemas.microsoft.com/office/drawing/2014/main" val="2504883458"/>
                  </a:ext>
                </a:extLst>
              </a:tr>
              <a:tr h="1224000">
                <a:tc>
                  <a:txBody>
                    <a:bodyPr/>
                    <a:lstStyle/>
                    <a:p>
                      <a:pPr>
                        <a:lnSpc>
                          <a:spcPts val="1300"/>
                        </a:lnSpc>
                      </a:pPr>
                      <a:r>
                        <a:rPr lang="de-DE" sz="900" b="1" dirty="0"/>
                        <a:t>Verwaltungsgrundsätze</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Nominaler </a:t>
                      </a:r>
                      <a:r>
                        <a:rPr lang="de-DE" sz="900" dirty="0" err="1"/>
                        <a:t>Vermögenser</a:t>
                      </a:r>
                      <a:r>
                        <a:rPr lang="de-DE" sz="900" dirty="0"/>
                        <a:t>-</a:t>
                      </a:r>
                    </a:p>
                    <a:p>
                      <a:pPr algn="ctr">
                        <a:lnSpc>
                          <a:spcPts val="1300"/>
                        </a:lnSpc>
                      </a:pPr>
                      <a:r>
                        <a:rPr lang="de-DE" sz="900" dirty="0"/>
                        <a:t>halt ohne größere Wert-</a:t>
                      </a:r>
                    </a:p>
                    <a:p>
                      <a:pPr algn="ctr">
                        <a:lnSpc>
                          <a:spcPts val="1300"/>
                        </a:lnSpc>
                      </a:pPr>
                      <a:r>
                        <a:rPr lang="de-DE" sz="900" dirty="0" err="1"/>
                        <a:t>schwankungen</a:t>
                      </a:r>
                      <a:r>
                        <a:rPr lang="de-DE" sz="900" dirty="0"/>
                        <a:t> steht im </a:t>
                      </a:r>
                    </a:p>
                    <a:p>
                      <a:pPr algn="ctr">
                        <a:lnSpc>
                          <a:spcPts val="1300"/>
                        </a:lnSpc>
                      </a:pPr>
                      <a:r>
                        <a:rPr lang="de-DE" sz="900" dirty="0"/>
                        <a:t>Vordergrund. </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Ausgewogenes Verhältnis </a:t>
                      </a:r>
                    </a:p>
                    <a:p>
                      <a:pPr algn="ctr">
                        <a:lnSpc>
                          <a:spcPts val="1300"/>
                        </a:lnSpc>
                      </a:pPr>
                      <a:r>
                        <a:rPr lang="de-DE" sz="900" dirty="0"/>
                        <a:t>zwischen Ertragschancen </a:t>
                      </a:r>
                    </a:p>
                    <a:p>
                      <a:pPr algn="ctr">
                        <a:lnSpc>
                          <a:spcPts val="1300"/>
                        </a:lnSpc>
                      </a:pPr>
                      <a:r>
                        <a:rPr lang="de-DE" sz="900" dirty="0"/>
                        <a:t>und Risiken. Langfristig </a:t>
                      </a:r>
                      <a:r>
                        <a:rPr lang="de-DE" sz="900" dirty="0" err="1"/>
                        <a:t>be</a:t>
                      </a:r>
                      <a:r>
                        <a:rPr lang="de-DE" sz="900" dirty="0"/>
                        <a:t>-</a:t>
                      </a:r>
                    </a:p>
                    <a:p>
                      <a:pPr algn="ctr">
                        <a:lnSpc>
                          <a:spcPts val="1300"/>
                        </a:lnSpc>
                      </a:pPr>
                      <a:r>
                        <a:rPr lang="de-DE" sz="900" dirty="0"/>
                        <a:t>deutender, realer </a:t>
                      </a:r>
                      <a:r>
                        <a:rPr lang="de-DE" sz="900" dirty="0" err="1"/>
                        <a:t>Vermö</a:t>
                      </a:r>
                      <a:r>
                        <a:rPr lang="de-DE" sz="900" dirty="0"/>
                        <a:t>-</a:t>
                      </a:r>
                    </a:p>
                    <a:p>
                      <a:pPr algn="ctr">
                        <a:lnSpc>
                          <a:spcPts val="1300"/>
                        </a:lnSpc>
                      </a:pPr>
                      <a:r>
                        <a:rPr lang="de-DE" sz="900" dirty="0" err="1"/>
                        <a:t>genszuwachs</a:t>
                      </a:r>
                      <a:r>
                        <a:rPr lang="de-DE" sz="900" dirty="0"/>
                        <a:t>.</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Höhere Risiken spiegeln </a:t>
                      </a:r>
                    </a:p>
                    <a:p>
                      <a:pPr algn="ctr">
                        <a:lnSpc>
                          <a:spcPts val="1300"/>
                        </a:lnSpc>
                      </a:pPr>
                      <a:r>
                        <a:rPr lang="de-DE" sz="900" dirty="0"/>
                        <a:t>sich in höheren Ertrags-</a:t>
                      </a:r>
                    </a:p>
                    <a:p>
                      <a:pPr algn="ctr">
                        <a:lnSpc>
                          <a:spcPts val="1300"/>
                        </a:lnSpc>
                      </a:pPr>
                      <a:r>
                        <a:rPr lang="de-DE" sz="900" dirty="0" err="1"/>
                        <a:t>chancen</a:t>
                      </a:r>
                      <a:r>
                        <a:rPr lang="de-DE" sz="900" dirty="0"/>
                        <a:t> wieder. </a:t>
                      </a:r>
                      <a:r>
                        <a:rPr lang="de-DE" sz="900" dirty="0" err="1"/>
                        <a:t>Langfris</a:t>
                      </a:r>
                      <a:r>
                        <a:rPr lang="de-DE" sz="900" dirty="0"/>
                        <a:t>-</a:t>
                      </a:r>
                    </a:p>
                    <a:p>
                      <a:pPr algn="ctr">
                        <a:lnSpc>
                          <a:spcPts val="1300"/>
                        </a:lnSpc>
                      </a:pPr>
                      <a:r>
                        <a:rPr lang="de-DE" sz="900" dirty="0" err="1"/>
                        <a:t>tiger</a:t>
                      </a:r>
                      <a:r>
                        <a:rPr lang="de-DE" sz="900" dirty="0"/>
                        <a:t>, überdurchschnitt-</a:t>
                      </a:r>
                      <a:br>
                        <a:rPr lang="de-DE" sz="900" dirty="0"/>
                      </a:br>
                      <a:r>
                        <a:rPr lang="de-DE" sz="900" dirty="0" err="1"/>
                        <a:t>licher</a:t>
                      </a:r>
                      <a:r>
                        <a:rPr lang="de-DE" sz="900" dirty="0"/>
                        <a:t> Vermögenszuwachs.</a:t>
                      </a:r>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748731864"/>
                  </a:ext>
                </a:extLst>
              </a:tr>
              <a:tr h="370840">
                <a:tc>
                  <a:txBody>
                    <a:bodyPr/>
                    <a:lstStyle/>
                    <a:p>
                      <a:pPr>
                        <a:lnSpc>
                          <a:spcPts val="1300"/>
                        </a:lnSpc>
                      </a:pPr>
                      <a:r>
                        <a:rPr lang="de-DE" sz="900" b="1" dirty="0"/>
                        <a:t>Anlageregion</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85023547"/>
                  </a:ext>
                </a:extLst>
              </a:tr>
              <a:tr h="370840">
                <a:tc>
                  <a:txBody>
                    <a:bodyPr/>
                    <a:lstStyle/>
                    <a:p>
                      <a:pPr>
                        <a:lnSpc>
                          <a:spcPts val="1300"/>
                        </a:lnSpc>
                      </a:pPr>
                      <a:r>
                        <a:rPr lang="de-DE" sz="900" b="1" dirty="0"/>
                        <a:t>Aktienanteil</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mind. 0 %, max.30 %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30 %, 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70 %, </a:t>
                      </a:r>
                    </a:p>
                    <a:p>
                      <a:pPr algn="ctr">
                        <a:lnSpc>
                          <a:spcPts val="1300"/>
                        </a:lnSpc>
                      </a:pPr>
                      <a:r>
                        <a:rPr lang="de-DE" sz="900" dirty="0"/>
                        <a:t>max. 100 %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88615533"/>
                  </a:ext>
                </a:extLst>
              </a:tr>
              <a:tr h="370840">
                <a:tc>
                  <a:txBody>
                    <a:bodyPr/>
                    <a:lstStyle/>
                    <a:p>
                      <a:pPr>
                        <a:lnSpc>
                          <a:spcPts val="1300"/>
                        </a:lnSpc>
                      </a:pPr>
                      <a:r>
                        <a:rPr lang="de-DE" sz="900" b="1" dirty="0" err="1"/>
                        <a:t>Anleihenanteil</a:t>
                      </a:r>
                      <a:r>
                        <a:rPr lang="de-DE" sz="900" b="1" dirty="0"/>
                        <a:t> / </a:t>
                      </a:r>
                    </a:p>
                    <a:p>
                      <a:pPr>
                        <a:lnSpc>
                          <a:spcPts val="1300"/>
                        </a:lnSpc>
                      </a:pPr>
                      <a:r>
                        <a:rPr lang="de-DE" sz="900" b="1" dirty="0"/>
                        <a:t>Liquidität </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30 %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80682499"/>
                  </a:ext>
                </a:extLst>
              </a:tr>
              <a:tr h="370840">
                <a:tc>
                  <a:txBody>
                    <a:bodyPr/>
                    <a:lstStyle/>
                    <a:p>
                      <a:pPr>
                        <a:lnSpc>
                          <a:spcPts val="1300"/>
                        </a:lnSpc>
                      </a:pPr>
                      <a:r>
                        <a:rPr lang="de-DE" sz="900" b="1" dirty="0"/>
                        <a:t>Fremdwährungen</a:t>
                      </a:r>
                    </a:p>
                  </a:txBody>
                  <a:tcPr marL="72000" marR="72000" marT="108000" marB="108000">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Unsere drei klassischen Portfolioverwaltungsstrategien</a:t>
            </a:r>
          </a:p>
        </p:txBody>
      </p:sp>
    </p:spTree>
    <p:extLst>
      <p:ext uri="{BB962C8B-B14F-4D97-AF65-F5344CB8AC3E}">
        <p14:creationId xmlns:p14="http://schemas.microsoft.com/office/powerpoint/2010/main" val="42543544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graphicFrame>
        <p:nvGraphicFramePr>
          <p:cNvPr id="5" name="C_Kennzahlen">
            <a:extLst>
              <a:ext uri="{FF2B5EF4-FFF2-40B4-BE49-F238E27FC236}">
                <a16:creationId xmlns:a16="http://schemas.microsoft.com/office/drawing/2014/main" id="{00000000-0008-0000-1D00-000002000000}"/>
              </a:ext>
            </a:extLst>
          </p:cNvPr>
          <p:cNvGraphicFramePr>
            <a:graphicFrameLocks noGrp="1" noDrilldown="1" noMove="1" noResize="1"/>
          </p:cNvGraphicFramePr>
          <p:nvPr>
            <p:extLst>
              <p:ext uri="{D42A27DB-BD31-4B8C-83A1-F6EECF244321}">
                <p14:modId xmlns:p14="http://schemas.microsoft.com/office/powerpoint/2010/main" val="2596528670"/>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F4833324-B064-82C0-8EF8-37B90D5F0B25}"/>
              </a:ext>
            </a:extLst>
          </p:cNvPr>
          <p:cNvGraphicFramePr>
            <a:graphicFrameLocks noGrp="1" noDrilldown="1" noMove="1" noResize="1"/>
          </p:cNvGraphicFramePr>
          <p:nvPr>
            <p:extLst>
              <p:ext uri="{D42A27DB-BD31-4B8C-83A1-F6EECF244321}">
                <p14:modId xmlns:p14="http://schemas.microsoft.com/office/powerpoint/2010/main" val="1228108349"/>
              </p:ext>
            </p:extLst>
          </p:nvPr>
        </p:nvGraphicFramePr>
        <p:xfrm>
          <a:off x="4508500" y="1040400"/>
          <a:ext cx="5613400" cy="4774152"/>
        </p:xfrm>
        <a:graphic>
          <a:graphicData uri="http://schemas.openxmlformats.org/drawingml/2006/table">
            <a:tbl>
              <a:tblPr/>
              <a:tblGrid>
                <a:gridCol w="2184400">
                  <a:extLst>
                    <a:ext uri="{9D8B030D-6E8A-4147-A177-3AD203B41FA5}">
                      <a16:colId xmlns:a16="http://schemas.microsoft.com/office/drawing/2014/main" val="4153112938"/>
                    </a:ext>
                  </a:extLst>
                </a:gridCol>
                <a:gridCol w="50800">
                  <a:extLst>
                    <a:ext uri="{9D8B030D-6E8A-4147-A177-3AD203B41FA5}">
                      <a16:colId xmlns:a16="http://schemas.microsoft.com/office/drawing/2014/main" val="1500571226"/>
                    </a:ext>
                  </a:extLst>
                </a:gridCol>
                <a:gridCol w="571500">
                  <a:extLst>
                    <a:ext uri="{9D8B030D-6E8A-4147-A177-3AD203B41FA5}">
                      <a16:colId xmlns:a16="http://schemas.microsoft.com/office/drawing/2014/main" val="722675435"/>
                    </a:ext>
                  </a:extLst>
                </a:gridCol>
                <a:gridCol w="50800">
                  <a:extLst>
                    <a:ext uri="{9D8B030D-6E8A-4147-A177-3AD203B41FA5}">
                      <a16:colId xmlns:a16="http://schemas.microsoft.com/office/drawing/2014/main" val="2099602808"/>
                    </a:ext>
                  </a:extLst>
                </a:gridCol>
                <a:gridCol w="571500">
                  <a:extLst>
                    <a:ext uri="{9D8B030D-6E8A-4147-A177-3AD203B41FA5}">
                      <a16:colId xmlns:a16="http://schemas.microsoft.com/office/drawing/2014/main" val="4196713188"/>
                    </a:ext>
                  </a:extLst>
                </a:gridCol>
                <a:gridCol w="50800">
                  <a:extLst>
                    <a:ext uri="{9D8B030D-6E8A-4147-A177-3AD203B41FA5}">
                      <a16:colId xmlns:a16="http://schemas.microsoft.com/office/drawing/2014/main" val="4148129269"/>
                    </a:ext>
                  </a:extLst>
                </a:gridCol>
                <a:gridCol w="571500">
                  <a:extLst>
                    <a:ext uri="{9D8B030D-6E8A-4147-A177-3AD203B41FA5}">
                      <a16:colId xmlns:a16="http://schemas.microsoft.com/office/drawing/2014/main" val="4034548364"/>
                    </a:ext>
                  </a:extLst>
                </a:gridCol>
                <a:gridCol w="50800">
                  <a:extLst>
                    <a:ext uri="{9D8B030D-6E8A-4147-A177-3AD203B41FA5}">
                      <a16:colId xmlns:a16="http://schemas.microsoft.com/office/drawing/2014/main" val="3910902470"/>
                    </a:ext>
                  </a:extLst>
                </a:gridCol>
                <a:gridCol w="571500">
                  <a:extLst>
                    <a:ext uri="{9D8B030D-6E8A-4147-A177-3AD203B41FA5}">
                      <a16:colId xmlns:a16="http://schemas.microsoft.com/office/drawing/2014/main" val="2924086657"/>
                    </a:ext>
                  </a:extLst>
                </a:gridCol>
                <a:gridCol w="50800">
                  <a:extLst>
                    <a:ext uri="{9D8B030D-6E8A-4147-A177-3AD203B41FA5}">
                      <a16:colId xmlns:a16="http://schemas.microsoft.com/office/drawing/2014/main" val="679987118"/>
                    </a:ext>
                  </a:extLst>
                </a:gridCol>
                <a:gridCol w="889000">
                  <a:extLst>
                    <a:ext uri="{9D8B030D-6E8A-4147-A177-3AD203B41FA5}">
                      <a16:colId xmlns:a16="http://schemas.microsoft.com/office/drawing/2014/main" val="1193354134"/>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485"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447777089"/>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485"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254610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Allianz SE</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840400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08286643"/>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2,97%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08042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414180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Johnson &amp; Johnson</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6852566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2,41%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30498066"/>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Philip Morris Internat.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3,01%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35066613"/>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2985359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938842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Waste Management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893579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98440258"/>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35744075"/>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Bayer IHS </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26.08.26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A351UZ</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6,19%</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2238078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Belgien Staat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0,0 %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22.10.31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A287RJ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90062898"/>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Dt. Pfandbriefbk. Green Bond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05.02.27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A30WF8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143736"/>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EnBW Green Bond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23.05.34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A3LREF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45885989"/>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Fraport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31.03.28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A3E5F0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28571560"/>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Grenke Finance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06.07.29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245120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Heidelberg Materials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31.05.32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A30V5U</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7428741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Hochtief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A383EL</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7403268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Porsche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27.09.30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9614073"/>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77155215"/>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11,95%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94369209"/>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5,56%</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54466784"/>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485"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110460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42263030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FPFB Strategie 30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783001" rtl="0" eaLnBrk="1" fontAlgn="auto" latinLnBrk="0" hangingPunct="1">
                        <a:lnSpc>
                          <a:spcPct val="100000"/>
                        </a:lnSpc>
                        <a:spcBef>
                          <a:spcPts val="0"/>
                        </a:spcBef>
                        <a:spcAft>
                          <a:spcPts val="0"/>
                        </a:spcAft>
                        <a:buClrTx/>
                        <a:buSzTx/>
                        <a:buFontTx/>
                        <a:buNone/>
                        <a:tabLst/>
                        <a:defRPr/>
                      </a:pPr>
                      <a:r>
                        <a:rPr lang="de-DE" sz="900" b="0" dirty="0"/>
                        <a:t>max. 30 %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30</a:t>
            </a:r>
          </a:p>
        </p:txBody>
      </p:sp>
    </p:spTree>
    <p:extLst>
      <p:ext uri="{BB962C8B-B14F-4D97-AF65-F5344CB8AC3E}">
        <p14:creationId xmlns:p14="http://schemas.microsoft.com/office/powerpoint/2010/main" val="3986531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des halbjährlichen Honorarsatzes</a:t>
            </a:r>
          </a:p>
          <a:p>
            <a:r>
              <a:rPr lang="de-DE" dirty="0">
                <a:latin typeface="Noto Sans (Textkörper)"/>
              </a:rPr>
              <a:t>*** 7,5% Euro </a:t>
            </a:r>
            <a:r>
              <a:rPr lang="de-DE" dirty="0" err="1">
                <a:latin typeface="Noto Sans (Textkörper)"/>
              </a:rPr>
              <a:t>Stoxx</a:t>
            </a:r>
            <a:r>
              <a:rPr lang="de-DE" dirty="0">
                <a:latin typeface="Noto Sans (Textkörper)"/>
              </a:rPr>
              <a:t> 50; 7,5% MSCI World ; 42,5% </a:t>
            </a:r>
            <a:r>
              <a:rPr lang="de-DE" dirty="0" err="1">
                <a:latin typeface="Noto Sans (Textkörper)"/>
              </a:rPr>
              <a:t>iBoxx</a:t>
            </a:r>
            <a:r>
              <a:rPr lang="de-DE" dirty="0">
                <a:latin typeface="Noto Sans (Textkörper)"/>
              </a:rPr>
              <a:t> Corp. OV. 3-5 RE; 42,5%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196641515"/>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91508344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612043249"/>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14,78%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5,54%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1,64%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3,31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30 | </a:t>
            </a:r>
            <a:r>
              <a:rPr lang="de-DE" b="0" dirty="0"/>
              <a:t>Wertentwicklung</a:t>
            </a:r>
          </a:p>
        </p:txBody>
      </p:sp>
    </p:spTree>
    <p:extLst>
      <p:ext uri="{BB962C8B-B14F-4D97-AF65-F5344CB8AC3E}">
        <p14:creationId xmlns:p14="http://schemas.microsoft.com/office/powerpoint/2010/main" val="312681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8</a:t>
            </a:fld>
            <a:endParaRPr lang="de-DE"/>
          </a:p>
        </p:txBody>
      </p:sp>
      <p:graphicFrame>
        <p:nvGraphicFramePr>
          <p:cNvPr id="5" name="C_Kennzahlen">
            <a:extLst>
              <a:ext uri="{FF2B5EF4-FFF2-40B4-BE49-F238E27FC236}">
                <a16:creationId xmlns:a16="http://schemas.microsoft.com/office/drawing/2014/main" id="{00000000-0008-0000-1D00-000003000000}"/>
              </a:ext>
            </a:extLst>
          </p:cNvPr>
          <p:cNvGraphicFramePr>
            <a:graphicFrameLocks noGrp="1" noDrilldown="1" noMove="1" noResize="1"/>
          </p:cNvGraphicFramePr>
          <p:nvPr>
            <p:extLst>
              <p:ext uri="{D42A27DB-BD31-4B8C-83A1-F6EECF244321}">
                <p14:modId xmlns:p14="http://schemas.microsoft.com/office/powerpoint/2010/main" val="3812792983"/>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0F2647C-3EB3-683F-BEA6-2C58994DC92F}"/>
              </a:ext>
            </a:extLst>
          </p:cNvPr>
          <p:cNvGraphicFramePr>
            <a:graphicFrameLocks noGrp="1" noDrilldown="1" noMove="1" noResize="1"/>
          </p:cNvGraphicFramePr>
          <p:nvPr>
            <p:extLst>
              <p:ext uri="{D42A27DB-BD31-4B8C-83A1-F6EECF244321}">
                <p14:modId xmlns:p14="http://schemas.microsoft.com/office/powerpoint/2010/main" val="131613901"/>
              </p:ext>
            </p:extLst>
          </p:nvPr>
        </p:nvGraphicFramePr>
        <p:xfrm>
          <a:off x="4508500" y="1040400"/>
          <a:ext cx="5613400" cy="4773411"/>
        </p:xfrm>
        <a:graphic>
          <a:graphicData uri="http://schemas.openxmlformats.org/drawingml/2006/table">
            <a:tbl>
              <a:tblPr/>
              <a:tblGrid>
                <a:gridCol w="2184400">
                  <a:extLst>
                    <a:ext uri="{9D8B030D-6E8A-4147-A177-3AD203B41FA5}">
                      <a16:colId xmlns:a16="http://schemas.microsoft.com/office/drawing/2014/main" val="930516035"/>
                    </a:ext>
                  </a:extLst>
                </a:gridCol>
                <a:gridCol w="50800">
                  <a:extLst>
                    <a:ext uri="{9D8B030D-6E8A-4147-A177-3AD203B41FA5}">
                      <a16:colId xmlns:a16="http://schemas.microsoft.com/office/drawing/2014/main" val="3569727738"/>
                    </a:ext>
                  </a:extLst>
                </a:gridCol>
                <a:gridCol w="571500">
                  <a:extLst>
                    <a:ext uri="{9D8B030D-6E8A-4147-A177-3AD203B41FA5}">
                      <a16:colId xmlns:a16="http://schemas.microsoft.com/office/drawing/2014/main" val="2641932948"/>
                    </a:ext>
                  </a:extLst>
                </a:gridCol>
                <a:gridCol w="50800">
                  <a:extLst>
                    <a:ext uri="{9D8B030D-6E8A-4147-A177-3AD203B41FA5}">
                      <a16:colId xmlns:a16="http://schemas.microsoft.com/office/drawing/2014/main" val="875571981"/>
                    </a:ext>
                  </a:extLst>
                </a:gridCol>
                <a:gridCol w="571500">
                  <a:extLst>
                    <a:ext uri="{9D8B030D-6E8A-4147-A177-3AD203B41FA5}">
                      <a16:colId xmlns:a16="http://schemas.microsoft.com/office/drawing/2014/main" val="2560234929"/>
                    </a:ext>
                  </a:extLst>
                </a:gridCol>
                <a:gridCol w="50800">
                  <a:extLst>
                    <a:ext uri="{9D8B030D-6E8A-4147-A177-3AD203B41FA5}">
                      <a16:colId xmlns:a16="http://schemas.microsoft.com/office/drawing/2014/main" val="1842181968"/>
                    </a:ext>
                  </a:extLst>
                </a:gridCol>
                <a:gridCol w="571500">
                  <a:extLst>
                    <a:ext uri="{9D8B030D-6E8A-4147-A177-3AD203B41FA5}">
                      <a16:colId xmlns:a16="http://schemas.microsoft.com/office/drawing/2014/main" val="2661903168"/>
                    </a:ext>
                  </a:extLst>
                </a:gridCol>
                <a:gridCol w="50800">
                  <a:extLst>
                    <a:ext uri="{9D8B030D-6E8A-4147-A177-3AD203B41FA5}">
                      <a16:colId xmlns:a16="http://schemas.microsoft.com/office/drawing/2014/main" val="3784987372"/>
                    </a:ext>
                  </a:extLst>
                </a:gridCol>
                <a:gridCol w="571500">
                  <a:extLst>
                    <a:ext uri="{9D8B030D-6E8A-4147-A177-3AD203B41FA5}">
                      <a16:colId xmlns:a16="http://schemas.microsoft.com/office/drawing/2014/main" val="941774286"/>
                    </a:ext>
                  </a:extLst>
                </a:gridCol>
                <a:gridCol w="50800">
                  <a:extLst>
                    <a:ext uri="{9D8B030D-6E8A-4147-A177-3AD203B41FA5}">
                      <a16:colId xmlns:a16="http://schemas.microsoft.com/office/drawing/2014/main" val="4214180977"/>
                    </a:ext>
                  </a:extLst>
                </a:gridCol>
                <a:gridCol w="889000">
                  <a:extLst>
                    <a:ext uri="{9D8B030D-6E8A-4147-A177-3AD203B41FA5}">
                      <a16:colId xmlns:a16="http://schemas.microsoft.com/office/drawing/2014/main" val="406558374"/>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706"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2465337888"/>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70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4623308"/>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Airbus SE</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938914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5,63%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773554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Amazon.com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80373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Apple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865985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1338498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5438130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09819699"/>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3949704"/>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Johnson &amp; Johnson</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63265622"/>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LVMH Moët Henn. L. Vuitton SE</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10783540"/>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4,54%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1337427"/>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Münchener Rückvers.-Ges.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7044028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NVIDIA Corp.</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182429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Rheinmetall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703000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2,17%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8211044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0423186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0325778"/>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76646912"/>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Bayer IHS </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26.08.26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A351UZ</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62006834"/>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Belgien Staat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0,0 %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22.10.31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A287RJ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34842289"/>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E.ON Green Bond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12.01.35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A30V8B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2,09%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172824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Fraport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31.03.28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A3E5F0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2,51%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0419497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Heidelberg Materials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31.05.32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A30V5U</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14524237"/>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RCI Banque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02.10.29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A3LNYD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2,09%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565026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VW Green Bond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10.09.30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A383ET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17209604"/>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8659990"/>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5683885"/>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3,04%</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18811380"/>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70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29028151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95141994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FFPB Strategie 70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70</a:t>
            </a:r>
          </a:p>
        </p:txBody>
      </p:sp>
    </p:spTree>
    <p:extLst>
      <p:ext uri="{BB962C8B-B14F-4D97-AF65-F5344CB8AC3E}">
        <p14:creationId xmlns:p14="http://schemas.microsoft.com/office/powerpoint/2010/main" val="3658980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des halbjährlichen Honorarsatzes</a:t>
            </a:r>
          </a:p>
          <a:p>
            <a:r>
              <a:rPr lang="de-DE" dirty="0">
                <a:latin typeface="Noto Sans (Textkörper)"/>
              </a:rPr>
              <a:t>*** 25% Euro </a:t>
            </a:r>
            <a:r>
              <a:rPr lang="de-DE" dirty="0" err="1">
                <a:latin typeface="Noto Sans (Textkörper)"/>
              </a:rPr>
              <a:t>Stoxx</a:t>
            </a:r>
            <a:r>
              <a:rPr lang="de-DE" dirty="0">
                <a:latin typeface="Noto Sans (Textkörper)"/>
              </a:rPr>
              <a:t> 50; 25% MSCI World ; 25% </a:t>
            </a:r>
            <a:r>
              <a:rPr lang="de-DE" dirty="0" err="1">
                <a:latin typeface="Noto Sans (Textkörper)"/>
              </a:rPr>
              <a:t>iBoxx</a:t>
            </a:r>
            <a:r>
              <a:rPr lang="de-DE" dirty="0">
                <a:latin typeface="Noto Sans (Textkörper)"/>
              </a:rPr>
              <a:t> Corp. OV. 3-5 RE; 25%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758934180"/>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176091066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773752440"/>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17,99%</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6,69%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-0,84%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3,75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70 | </a:t>
            </a:r>
            <a:r>
              <a:rPr lang="de-DE" b="0" dirty="0"/>
              <a:t>Wertentwicklung</a:t>
            </a:r>
          </a:p>
        </p:txBody>
      </p:sp>
    </p:spTree>
    <p:extLst>
      <p:ext uri="{BB962C8B-B14F-4D97-AF65-F5344CB8AC3E}">
        <p14:creationId xmlns:p14="http://schemas.microsoft.com/office/powerpoint/2010/main" val="13057927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1D00-000004000000}"/>
              </a:ext>
            </a:extLst>
          </p:cNvPr>
          <p:cNvGraphicFramePr>
            <a:graphicFrameLocks noGrp="1" noDrilldown="1" noMove="1" noResize="1"/>
          </p:cNvGraphicFramePr>
          <p:nvPr>
            <p:extLst>
              <p:ext uri="{D42A27DB-BD31-4B8C-83A1-F6EECF244321}">
                <p14:modId xmlns:p14="http://schemas.microsoft.com/office/powerpoint/2010/main" val="1246286725"/>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86234CCC-AA28-9578-A267-5085A8C56A38}"/>
              </a:ext>
            </a:extLst>
          </p:cNvPr>
          <p:cNvGraphicFramePr>
            <a:graphicFrameLocks noGrp="1" noDrilldown="1" noMove="1" noResize="1"/>
          </p:cNvGraphicFramePr>
          <p:nvPr>
            <p:extLst>
              <p:ext uri="{D42A27DB-BD31-4B8C-83A1-F6EECF244321}">
                <p14:modId xmlns:p14="http://schemas.microsoft.com/office/powerpoint/2010/main" val="3017752438"/>
              </p:ext>
            </p:extLst>
          </p:nvPr>
        </p:nvGraphicFramePr>
        <p:xfrm>
          <a:off x="4508500" y="1040400"/>
          <a:ext cx="5613400" cy="4773000"/>
        </p:xfrm>
        <a:graphic>
          <a:graphicData uri="http://schemas.openxmlformats.org/drawingml/2006/table">
            <a:tbl>
              <a:tblPr/>
              <a:tblGrid>
                <a:gridCol w="2184400">
                  <a:extLst>
                    <a:ext uri="{9D8B030D-6E8A-4147-A177-3AD203B41FA5}">
                      <a16:colId xmlns:a16="http://schemas.microsoft.com/office/drawing/2014/main" val="4113767849"/>
                    </a:ext>
                  </a:extLst>
                </a:gridCol>
                <a:gridCol w="50800">
                  <a:extLst>
                    <a:ext uri="{9D8B030D-6E8A-4147-A177-3AD203B41FA5}">
                      <a16:colId xmlns:a16="http://schemas.microsoft.com/office/drawing/2014/main" val="2614557322"/>
                    </a:ext>
                  </a:extLst>
                </a:gridCol>
                <a:gridCol w="571500">
                  <a:extLst>
                    <a:ext uri="{9D8B030D-6E8A-4147-A177-3AD203B41FA5}">
                      <a16:colId xmlns:a16="http://schemas.microsoft.com/office/drawing/2014/main" val="879793447"/>
                    </a:ext>
                  </a:extLst>
                </a:gridCol>
                <a:gridCol w="50800">
                  <a:extLst>
                    <a:ext uri="{9D8B030D-6E8A-4147-A177-3AD203B41FA5}">
                      <a16:colId xmlns:a16="http://schemas.microsoft.com/office/drawing/2014/main" val="2343424295"/>
                    </a:ext>
                  </a:extLst>
                </a:gridCol>
                <a:gridCol w="571500">
                  <a:extLst>
                    <a:ext uri="{9D8B030D-6E8A-4147-A177-3AD203B41FA5}">
                      <a16:colId xmlns:a16="http://schemas.microsoft.com/office/drawing/2014/main" val="507502996"/>
                    </a:ext>
                  </a:extLst>
                </a:gridCol>
                <a:gridCol w="50800">
                  <a:extLst>
                    <a:ext uri="{9D8B030D-6E8A-4147-A177-3AD203B41FA5}">
                      <a16:colId xmlns:a16="http://schemas.microsoft.com/office/drawing/2014/main" val="3073352519"/>
                    </a:ext>
                  </a:extLst>
                </a:gridCol>
                <a:gridCol w="571500">
                  <a:extLst>
                    <a:ext uri="{9D8B030D-6E8A-4147-A177-3AD203B41FA5}">
                      <a16:colId xmlns:a16="http://schemas.microsoft.com/office/drawing/2014/main" val="2861307406"/>
                    </a:ext>
                  </a:extLst>
                </a:gridCol>
                <a:gridCol w="50800">
                  <a:extLst>
                    <a:ext uri="{9D8B030D-6E8A-4147-A177-3AD203B41FA5}">
                      <a16:colId xmlns:a16="http://schemas.microsoft.com/office/drawing/2014/main" val="1461447330"/>
                    </a:ext>
                  </a:extLst>
                </a:gridCol>
                <a:gridCol w="571500">
                  <a:extLst>
                    <a:ext uri="{9D8B030D-6E8A-4147-A177-3AD203B41FA5}">
                      <a16:colId xmlns:a16="http://schemas.microsoft.com/office/drawing/2014/main" val="2436453985"/>
                    </a:ext>
                  </a:extLst>
                </a:gridCol>
                <a:gridCol w="50800">
                  <a:extLst>
                    <a:ext uri="{9D8B030D-6E8A-4147-A177-3AD203B41FA5}">
                      <a16:colId xmlns:a16="http://schemas.microsoft.com/office/drawing/2014/main" val="3591455819"/>
                    </a:ext>
                  </a:extLst>
                </a:gridCol>
                <a:gridCol w="889000">
                  <a:extLst>
                    <a:ext uri="{9D8B030D-6E8A-4147-A177-3AD203B41FA5}">
                      <a16:colId xmlns:a16="http://schemas.microsoft.com/office/drawing/2014/main" val="4196437300"/>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829"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667394060"/>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82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87805937"/>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3M Co.</a:t>
                      </a:r>
                    </a:p>
                  </a:txBody>
                  <a:tcPr marL="6882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331710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Airbus SE</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938914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180712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Alphabet Inc. A</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4,44%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1162248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Apple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865985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86364451"/>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6,06%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6292557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4820539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10,24%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5009427"/>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Intuitive Surgical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888024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2,41%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660218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LVMH Moët Henn. L. Vuitton SE</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5186661"/>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Mercadolibre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446232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Meta Platforms Inc. A</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A1JWVX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88895446"/>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4,16%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7166953"/>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Münchener Rückvers.-Ges.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5,86%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39819433"/>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NVIDIA Corp.</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4,74%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9017476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Philip Morris Internat.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5558316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Rheinmetall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703000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4674126"/>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7073586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VISA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A0NC7B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8516075"/>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951185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Waste Management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893579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79373293"/>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82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8455719"/>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82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7,43%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38131229"/>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82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3,15%</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37246306"/>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82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828614641"/>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326450785"/>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FFPB Strategie 100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70 %, 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30 %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100</a:t>
            </a:r>
          </a:p>
        </p:txBody>
      </p:sp>
    </p:spTree>
    <p:extLst>
      <p:ext uri="{BB962C8B-B14F-4D97-AF65-F5344CB8AC3E}">
        <p14:creationId xmlns:p14="http://schemas.microsoft.com/office/powerpoint/2010/main" val="35154200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halbjährigen Honorarsatz</a:t>
            </a:r>
          </a:p>
          <a:p>
            <a:r>
              <a:rPr lang="de-DE" dirty="0">
                <a:latin typeface="Noto Sans (Textkörper)"/>
              </a:rPr>
              <a:t>*** 42,5% Euro </a:t>
            </a:r>
            <a:r>
              <a:rPr lang="de-DE" dirty="0" err="1">
                <a:latin typeface="Noto Sans (Textkörper)"/>
              </a:rPr>
              <a:t>Stoxx</a:t>
            </a:r>
            <a:r>
              <a:rPr lang="de-DE" dirty="0">
                <a:latin typeface="Noto Sans (Textkörper)"/>
              </a:rPr>
              <a:t> 50; 42,5% MSCI World; 7,5% </a:t>
            </a:r>
            <a:r>
              <a:rPr lang="de-DE" dirty="0" err="1">
                <a:latin typeface="Noto Sans (Textkörper)"/>
              </a:rPr>
              <a:t>iBoxx</a:t>
            </a:r>
            <a:r>
              <a:rPr lang="de-DE" dirty="0">
                <a:latin typeface="Noto Sans (Textkörper)"/>
              </a:rPr>
              <a:t> Corp. OV. 3-5 RE; 7,5%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44139001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307272969"/>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4266439858"/>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13,18%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4,97%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0,99%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100 | </a:t>
            </a:r>
            <a:r>
              <a:rPr lang="de-DE" b="0" dirty="0"/>
              <a:t>Wertentwicklung</a:t>
            </a:r>
          </a:p>
        </p:txBody>
      </p:sp>
    </p:spTree>
    <p:extLst>
      <p:ext uri="{BB962C8B-B14F-4D97-AF65-F5344CB8AC3E}">
        <p14:creationId xmlns:p14="http://schemas.microsoft.com/office/powerpoint/2010/main" val="26771296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12</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Verwaltungsvergütung</a:t>
            </a:r>
          </a:p>
          <a:p>
            <a:pPr lvl="2"/>
            <a:r>
              <a:rPr lang="de-DE" dirty="0"/>
              <a:t>Die Honorargestaltung unserer Vermögensverwaltung ist fair, transparent und nachvollziehbar. Wir berechnen gegen-über unseren Kunden in unserer Vermögensverwaltung eine Verwaltungsvergütung, die sämtliche Gebühren für die Verwaltung umfasst. Ausgenommen davon sind die Transaktionskosten, die bei unserer Depotbank anfallen und fremde Spesen wie eventuell anfallende Courtagen, Transaktionssteuern (z. B. Frankreich) und fremde Spesen an in- und ausländischen Börsenplätzen. Investmentfonds werden ohne Ausgabeaufschläge zum Netto-Ausgabepreis abgerechnet.</a:t>
            </a:r>
          </a:p>
          <a:p>
            <a:r>
              <a:rPr lang="de-DE" dirty="0"/>
              <a:t>Halbjährliche Abrechnung</a:t>
            </a:r>
          </a:p>
          <a:p>
            <a:pPr lvl="2"/>
            <a:r>
              <a:rPr lang="de-DE" dirty="0"/>
              <a:t>Die Abrechnung für die Verwaltungsvergütung erfolgt halbjährlich. Als Berechnungsgrundlage dient das durchschnittlich verfügbare Kapital (Konto und Depot). </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13</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Transaktionskosten</a:t>
            </a:r>
          </a:p>
          <a:p>
            <a:pPr lvl="2"/>
            <a:r>
              <a:rPr lang="de-DE" dirty="0"/>
              <a:t>Die depotführende Bank vereinbart ihre Preise im Rahmen des Depotvertrages direkt mit Ihnen und stellt sie Ihnen genauso selbst in Rechnung.</a:t>
            </a:r>
          </a:p>
          <a:p>
            <a:pPr lvl="2"/>
            <a:r>
              <a:rPr lang="de-DE" dirty="0"/>
              <a:t>Sie haben dabei die Wahl zwischen zwei transparenten Preismodellen, die Ihnen Ihr Berater gerne erläutern wird.  Die anfallenden Transaktionskosen werden in den Verlustverrechnungstopf eingestellt und sind somit steuerlich anrechenbar.</a:t>
            </a:r>
          </a:p>
          <a:p>
            <a:pPr lvl="2"/>
            <a:endParaRPr lang="de-DE" dirty="0"/>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Transaktionskosten</a:t>
            </a:r>
          </a:p>
        </p:txBody>
      </p:sp>
    </p:spTree>
    <p:extLst>
      <p:ext uri="{BB962C8B-B14F-4D97-AF65-F5344CB8AC3E}">
        <p14:creationId xmlns:p14="http://schemas.microsoft.com/office/powerpoint/2010/main" val="16714436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14</a:t>
            </a:fld>
            <a:endParaRPr lang="de-DE"/>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graphicFrame>
        <p:nvGraphicFramePr>
          <p:cNvPr id="3" name="Tabelle 2">
            <a:extLst>
              <a:ext uri="{FF2B5EF4-FFF2-40B4-BE49-F238E27FC236}">
                <a16:creationId xmlns:a16="http://schemas.microsoft.com/office/drawing/2014/main" id="{A0A143F2-5FBD-00D7-FD86-630F82D438D3}"/>
              </a:ext>
            </a:extLst>
          </p:cNvPr>
          <p:cNvGraphicFramePr>
            <a:graphicFrameLocks noGrp="1"/>
          </p:cNvGraphicFramePr>
          <p:nvPr>
            <p:extLst>
              <p:ext uri="{D42A27DB-BD31-4B8C-83A1-F6EECF244321}">
                <p14:modId xmlns:p14="http://schemas.microsoft.com/office/powerpoint/2010/main" val="2666021158"/>
              </p:ext>
            </p:extLst>
          </p:nvPr>
        </p:nvGraphicFramePr>
        <p:xfrm>
          <a:off x="753470" y="1390270"/>
          <a:ext cx="8932460" cy="3825989"/>
        </p:xfrm>
        <a:graphic>
          <a:graphicData uri="http://schemas.openxmlformats.org/drawingml/2006/table">
            <a:tbl>
              <a:tblPr firstRow="1" bandRow="1">
                <a:tableStyleId>{2D5ABB26-0587-4C30-8999-92F81FD0307C}</a:tableStyleId>
              </a:tblPr>
              <a:tblGrid>
                <a:gridCol w="2164252">
                  <a:extLst>
                    <a:ext uri="{9D8B030D-6E8A-4147-A177-3AD203B41FA5}">
                      <a16:colId xmlns:a16="http://schemas.microsoft.com/office/drawing/2014/main" val="2740024814"/>
                    </a:ext>
                  </a:extLst>
                </a:gridCol>
                <a:gridCol w="68863">
                  <a:extLst>
                    <a:ext uri="{9D8B030D-6E8A-4147-A177-3AD203B41FA5}">
                      <a16:colId xmlns:a16="http://schemas.microsoft.com/office/drawing/2014/main" val="1463361124"/>
                    </a:ext>
                  </a:extLst>
                </a:gridCol>
                <a:gridCol w="68863">
                  <a:extLst>
                    <a:ext uri="{9D8B030D-6E8A-4147-A177-3AD203B41FA5}">
                      <a16:colId xmlns:a16="http://schemas.microsoft.com/office/drawing/2014/main" val="706605420"/>
                    </a:ext>
                  </a:extLst>
                </a:gridCol>
                <a:gridCol w="2164252">
                  <a:extLst>
                    <a:ext uri="{9D8B030D-6E8A-4147-A177-3AD203B41FA5}">
                      <a16:colId xmlns:a16="http://schemas.microsoft.com/office/drawing/2014/main" val="198262972"/>
                    </a:ext>
                  </a:extLst>
                </a:gridCol>
                <a:gridCol w="68863">
                  <a:extLst>
                    <a:ext uri="{9D8B030D-6E8A-4147-A177-3AD203B41FA5}">
                      <a16:colId xmlns:a16="http://schemas.microsoft.com/office/drawing/2014/main" val="772807978"/>
                    </a:ext>
                  </a:extLst>
                </a:gridCol>
                <a:gridCol w="2164252">
                  <a:extLst>
                    <a:ext uri="{9D8B030D-6E8A-4147-A177-3AD203B41FA5}">
                      <a16:colId xmlns:a16="http://schemas.microsoft.com/office/drawing/2014/main" val="4022111454"/>
                    </a:ext>
                  </a:extLst>
                </a:gridCol>
                <a:gridCol w="68863">
                  <a:extLst>
                    <a:ext uri="{9D8B030D-6E8A-4147-A177-3AD203B41FA5}">
                      <a16:colId xmlns:a16="http://schemas.microsoft.com/office/drawing/2014/main" val="4141636639"/>
                    </a:ext>
                  </a:extLst>
                </a:gridCol>
                <a:gridCol w="2164252">
                  <a:extLst>
                    <a:ext uri="{9D8B030D-6E8A-4147-A177-3AD203B41FA5}">
                      <a16:colId xmlns:a16="http://schemas.microsoft.com/office/drawing/2014/main" val="1200875104"/>
                    </a:ext>
                  </a:extLst>
                </a:gridCol>
              </a:tblGrid>
              <a:tr h="396000">
                <a:tc>
                  <a:txBody>
                    <a:bodyPr/>
                    <a:lstStyle/>
                    <a:p>
                      <a:pPr marL="0" marR="0" lvl="0" indent="0" algn="ctr" defTabSz="783001" rtl="0" eaLnBrk="1" fontAlgn="auto" latinLnBrk="0" hangingPunct="1">
                        <a:lnSpc>
                          <a:spcPts val="1300"/>
                        </a:lnSpc>
                        <a:spcBef>
                          <a:spcPts val="0"/>
                        </a:spcBef>
                        <a:spcAft>
                          <a:spcPts val="0"/>
                        </a:spcAft>
                        <a:buClrTx/>
                        <a:buSzTx/>
                        <a:buFontTx/>
                        <a:buNone/>
                        <a:tabLst/>
                        <a:defRPr/>
                      </a:pPr>
                      <a:r>
                        <a:rPr lang="de-DE" sz="900" b="1" dirty="0">
                          <a:solidFill>
                            <a:schemeClr val="bg1"/>
                          </a:solidFill>
                        </a:rPr>
                        <a:t>Unsere Verwaltungsvergütung</a:t>
                      </a: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30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783001" rtl="0" eaLnBrk="1" fontAlgn="auto" latinLnBrk="0" hangingPunct="1">
                        <a:lnSpc>
                          <a:spcPts val="1300"/>
                        </a:lnSpc>
                        <a:spcBef>
                          <a:spcPts val="0"/>
                        </a:spcBef>
                        <a:spcAft>
                          <a:spcPts val="0"/>
                        </a:spcAft>
                        <a:buClrTx/>
                        <a:buSzTx/>
                        <a:buFontTx/>
                        <a:buNone/>
                        <a:tabLst/>
                        <a:defRPr/>
                      </a:pPr>
                      <a:r>
                        <a:rPr lang="de-DE" sz="900" b="1" dirty="0">
                          <a:solidFill>
                            <a:schemeClr val="bg1"/>
                          </a:solidFill>
                        </a:rPr>
                        <a:t>FFPB Strategie 70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100</a:t>
                      </a:r>
                    </a:p>
                  </a:txBody>
                  <a:tcPr marL="0" marR="0" marT="0" marB="0" anchor="ctr">
                    <a:lnL>
                      <a:noFill/>
                    </a:lnL>
                    <a:solidFill>
                      <a:schemeClr val="accent1"/>
                    </a:solidFill>
                  </a:tcPr>
                </a:tc>
                <a:extLst>
                  <a:ext uri="{0D108BD9-81ED-4DB2-BD59-A6C34878D82A}">
                    <a16:rowId xmlns:a16="http://schemas.microsoft.com/office/drawing/2014/main" val="2906314418"/>
                  </a:ext>
                </a:extLst>
              </a:tr>
              <a:tr h="2034062">
                <a:tc>
                  <a:txBody>
                    <a:bodyPr/>
                    <a:lstStyle/>
                    <a:p>
                      <a:pPr>
                        <a:lnSpc>
                          <a:spcPts val="1300"/>
                        </a:lnSpc>
                      </a:pPr>
                      <a:endParaRPr lang="de-DE" sz="900" b="1" dirty="0"/>
                    </a:p>
                    <a:p>
                      <a:pPr>
                        <a:lnSpc>
                          <a:spcPts val="1300"/>
                        </a:lnSpc>
                      </a:pPr>
                      <a:r>
                        <a:rPr lang="de-DE" sz="900" b="1" dirty="0"/>
                        <a:t>Die Belastung unserer Honorars erfolgt halbjährlich</a:t>
                      </a:r>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r>
                        <a:rPr lang="de-DE" sz="900" b="1" dirty="0"/>
                        <a:t>Transaktionsgebühren Depotbank</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1,20 % netto des  </a:t>
                      </a:r>
                    </a:p>
                    <a:p>
                      <a:pPr algn="ctr">
                        <a:lnSpc>
                          <a:spcPts val="1300"/>
                        </a:lnSpc>
                      </a:pPr>
                      <a:r>
                        <a:rPr lang="de-DE" sz="900" dirty="0"/>
                        <a:t>verwalteten Vermögens  </a:t>
                      </a:r>
                    </a:p>
                    <a:p>
                      <a:pPr algn="ctr">
                        <a:lnSpc>
                          <a:spcPts val="1300"/>
                        </a:lnSpc>
                      </a:pPr>
                      <a:r>
                        <a:rPr lang="de-DE" sz="900" dirty="0"/>
                        <a:t>= 1,43 %*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2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1,40 % netto des  </a:t>
                      </a:r>
                    </a:p>
                    <a:p>
                      <a:pPr algn="ctr">
                        <a:lnSpc>
                          <a:spcPts val="1300"/>
                        </a:lnSpc>
                      </a:pPr>
                      <a:r>
                        <a:rPr lang="de-DE" sz="900" dirty="0"/>
                        <a:t>verwalteten Vermögens  </a:t>
                      </a:r>
                    </a:p>
                    <a:p>
                      <a:pPr algn="ctr">
                        <a:lnSpc>
                          <a:spcPts val="1300"/>
                        </a:lnSpc>
                      </a:pPr>
                      <a:r>
                        <a:rPr lang="de-DE" sz="900" dirty="0"/>
                        <a:t>= 1,67 %*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p>
                      <a:pPr algn="ctr">
                        <a:lnSpc>
                          <a:spcPts val="1300"/>
                        </a:lnSpc>
                      </a:pPr>
                      <a:endParaRPr lang="de-DE" sz="900" dirty="0"/>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1,60 % netto des  </a:t>
                      </a:r>
                    </a:p>
                    <a:p>
                      <a:pPr algn="ctr">
                        <a:lnSpc>
                          <a:spcPts val="1300"/>
                        </a:lnSpc>
                      </a:pPr>
                      <a:r>
                        <a:rPr lang="de-DE" sz="900" dirty="0"/>
                        <a:t>verwalteten Vermögens  </a:t>
                      </a:r>
                    </a:p>
                    <a:p>
                      <a:pPr algn="ctr">
                        <a:lnSpc>
                          <a:spcPts val="1300"/>
                        </a:lnSpc>
                      </a:pPr>
                      <a:r>
                        <a:rPr lang="de-DE" sz="900" dirty="0"/>
                        <a:t>= 1,90 %*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p>
                      <a:pPr algn="ctr">
                        <a:lnSpc>
                          <a:spcPts val="1300"/>
                        </a:lnSpc>
                      </a:pPr>
                      <a:endParaRPr lang="de-DE" sz="900" dirty="0"/>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423514167"/>
                  </a:ext>
                </a:extLst>
              </a:tr>
            </a:tbl>
          </a:graphicData>
        </a:graphic>
      </p:graphicFrame>
      <p:sp>
        <p:nvSpPr>
          <p:cNvPr id="5" name="Quelle">
            <a:extLst>
              <a:ext uri="{FF2B5EF4-FFF2-40B4-BE49-F238E27FC236}">
                <a16:creationId xmlns:a16="http://schemas.microsoft.com/office/drawing/2014/main" id="{2055E749-4AB3-6A0F-3406-AB7D5FB190FC}"/>
              </a:ext>
            </a:extLst>
          </p:cNvPr>
          <p:cNvSpPr txBox="1"/>
          <p:nvPr/>
        </p:nvSpPr>
        <p:spPr>
          <a:xfrm>
            <a:off x="753470" y="5415601"/>
            <a:ext cx="596333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*inklusive 19 % gesetzliche Umsatzsteuer</a:t>
            </a:r>
          </a:p>
        </p:txBody>
      </p:sp>
    </p:spTree>
    <p:extLst>
      <p:ext uri="{BB962C8B-B14F-4D97-AF65-F5344CB8AC3E}">
        <p14:creationId xmlns:p14="http://schemas.microsoft.com/office/powerpoint/2010/main" val="31352868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15</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Die anfallenden Transaktionskosten im Rahmen der Vermögensverwaltung werden in den allgemeinen Verlustverrechnungstopf eingestellt, damit erfolgt automatisch die Verrechnung mit Ihren abgeltungssteuerpflichtigen Erträgen und damit eine Steuerminderung. </a:t>
            </a:r>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Zusammenspiel aus Erfahrung und geprüften Analyseinstrumenten</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9586801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17</a:t>
            </a:fld>
            <a:endParaRPr lang="de-DE" dirty="0"/>
          </a:p>
        </p:txBody>
      </p:sp>
      <p:sp>
        <p:nvSpPr>
          <p:cNvPr id="3" name="Text">
            <a:extLst>
              <a:ext uri="{FF2B5EF4-FFF2-40B4-BE49-F238E27FC236}">
                <a16:creationId xmlns:a16="http://schemas.microsoft.com/office/drawing/2014/main" id="{C062E8D2-57BE-4760-1DDE-D04E35D3BC15}"/>
              </a:ext>
            </a:extLst>
          </p:cNvPr>
          <p:cNvSpPr>
            <a:spLocks noGrp="1"/>
          </p:cNvSpPr>
          <p:nvPr>
            <p:ph idx="1"/>
          </p:nvPr>
        </p:nvSpPr>
        <p:spPr>
          <a:xfrm>
            <a:off x="1187448" y="1411638"/>
            <a:ext cx="4293128" cy="4420838"/>
          </a:xfrm>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Allokation Ihres gewünschten Anlagebetrages in die von Ihnen gewählte Anlagestrategie und laufende Steuerung und Überwachung.</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im Rahmen der vereinbarten Anlagerichtlinien.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p:cNvGraphicFramePr>
          <p:nvPr>
            <p:ph idx="1"/>
            <p:extLst>
              <p:ext uri="{D42A27DB-BD31-4B8C-83A1-F6EECF244321}">
                <p14:modId xmlns:p14="http://schemas.microsoft.com/office/powerpoint/2010/main" val="280979355"/>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von unserer Depotbank, der comdirect*, eine Übersicht, wo neben unserem Vermögensverwaltungshonorar zusätzliche fremde Produktkosten 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durch unseren Dienstleister, die comdirect*,</a:t>
                      </a:r>
                    </a:p>
                    <a:p>
                      <a:pPr marL="0" algn="l" defTabSz="783001" rtl="0" eaLnBrk="1" latinLnBrk="0" hangingPunct="1">
                        <a:lnSpc>
                          <a:spcPts val="1600"/>
                        </a:lnSpc>
                      </a:pPr>
                      <a:r>
                        <a:rPr lang="de-DE" sz="1100" kern="1200" dirty="0">
                          <a:solidFill>
                            <a:schemeClr val="tx1"/>
                          </a:solidFill>
                          <a:latin typeface="+mn-lt"/>
                          <a:ea typeface="+mn-ea"/>
                          <a:cs typeface="+mn-cs"/>
                        </a:rPr>
                        <a:t>mit dem Ablauf des Kalender-jahres. </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in Ihr Postfach.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 und der Service unseres Depotführers der comdirect*</a:t>
            </a:r>
          </a:p>
        </p:txBody>
      </p:sp>
      <p:sp>
        <p:nvSpPr>
          <p:cNvPr id="8" name="Textfeld 7">
            <a:extLst>
              <a:ext uri="{FF2B5EF4-FFF2-40B4-BE49-F238E27FC236}">
                <a16:creationId xmlns:a16="http://schemas.microsoft.com/office/drawing/2014/main" id="{46ED3497-A73F-BC6C-7DAE-66B17C91A0A0}"/>
              </a:ext>
            </a:extLst>
          </p:cNvPr>
          <p:cNvSpPr txBox="1"/>
          <p:nvPr/>
        </p:nvSpPr>
        <p:spPr>
          <a:xfrm>
            <a:off x="628740" y="6336983"/>
            <a:ext cx="2755883" cy="230832"/>
          </a:xfrm>
          <a:prstGeom prst="rect">
            <a:avLst/>
          </a:prstGeom>
          <a:noFill/>
        </p:spPr>
        <p:txBody>
          <a:bodyPr wrap="none" rtlCol="0">
            <a:spAutoFit/>
          </a:bodyPr>
          <a:lstStyle/>
          <a:p>
            <a:r>
              <a:rPr lang="de-DE" sz="900" dirty="0"/>
              <a:t>* </a:t>
            </a:r>
            <a:r>
              <a:rPr lang="de-DE" sz="900" dirty="0">
                <a:solidFill>
                  <a:srgbClr val="000000"/>
                </a:solidFill>
              </a:rPr>
              <a:t>comdirect - eine Marke der Commerzbank AG</a:t>
            </a:r>
            <a:endParaRPr lang="de-DE" sz="900" dirty="0"/>
          </a:p>
        </p:txBody>
      </p:sp>
    </p:spTree>
    <p:extLst>
      <p:ext uri="{BB962C8B-B14F-4D97-AF65-F5344CB8AC3E}">
        <p14:creationId xmlns:p14="http://schemas.microsoft.com/office/powerpoint/2010/main" val="35931892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3002271689"/>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25</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26</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a:t>
            </a:r>
            <a:r>
              <a:rPr lang="de-DE" sz="1000" b="0">
                <a:solidFill>
                  <a:srgbClr val="000000"/>
                </a:solidFill>
                <a:latin typeface="+mn-lt"/>
              </a:rPr>
              <a:t>0821 3201-271</a:t>
            </a:r>
            <a:endParaRPr lang="de-DE" sz="1000" b="0" dirty="0">
              <a:solidFill>
                <a:srgbClr val="FF0000"/>
              </a:solidFill>
              <a:latin typeface="+mn-lt"/>
            </a:endParaRP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20.07.2026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4016</Words>
  <Application>Microsoft Office PowerPoint</Application>
  <PresentationFormat>Benutzerdefiniert</PresentationFormat>
  <Paragraphs>1248</Paragraphs>
  <Slides>27</Slides>
  <Notes>0</Notes>
  <HiddenSlides>0</HiddenSlides>
  <MMClips>0</MMClips>
  <ScaleCrop>false</ScaleCrop>
  <HeadingPairs>
    <vt:vector size="6" baseType="variant">
      <vt:variant>
        <vt:lpstr>Verwendete Schriftarten</vt:lpstr>
      </vt:variant>
      <vt:variant>
        <vt:i4>8</vt:i4>
      </vt:variant>
      <vt:variant>
        <vt:lpstr>Design</vt:lpstr>
      </vt:variant>
      <vt:variant>
        <vt:i4>1</vt:i4>
      </vt:variant>
      <vt:variant>
        <vt:lpstr>Folientitel</vt:lpstr>
      </vt:variant>
      <vt:variant>
        <vt:i4>27</vt:i4>
      </vt:variant>
    </vt:vector>
  </HeadingPairs>
  <TitlesOfParts>
    <vt:vector size="36" baseType="lpstr">
      <vt:lpstr>Arial</vt:lpstr>
      <vt:lpstr>Calibri</vt:lpstr>
      <vt:lpstr>Noto Sans</vt:lpstr>
      <vt:lpstr>Noto Sans (Textkörper)</vt:lpstr>
      <vt:lpstr>Noto Serif</vt:lpstr>
      <vt:lpstr>Open Sans</vt:lpstr>
      <vt:lpstr>Symbol</vt:lpstr>
      <vt:lpstr>Wingdings 2</vt:lpstr>
      <vt:lpstr>Office</vt:lpstr>
      <vt:lpstr>Unsere   klassische Portfolioverwaltung</vt:lpstr>
      <vt:lpstr>Inhalt</vt:lpstr>
      <vt:lpstr>Unsere Vermögensverwaltung</vt:lpstr>
      <vt:lpstr>Unsere Portfolioverwaltung </vt:lpstr>
      <vt:lpstr>Unsere drei klassischen Portfolioverwaltungsstrategien</vt:lpstr>
      <vt:lpstr>Anlagestrategie Portfolioverwaltung 30</vt:lpstr>
      <vt:lpstr>Anlagestrategie Comdirect 30 | Wertentwicklung</vt:lpstr>
      <vt:lpstr>Anlagestrategie Portfolioverwaltung 70</vt:lpstr>
      <vt:lpstr>Anlagestrategie Comdirect 70 | Wertentwicklung</vt:lpstr>
      <vt:lpstr>Anlagestrategie Portfolioverwaltung 100</vt:lpstr>
      <vt:lpstr>Anlagestrategie Comdirect 100 | Wertentwicklung</vt:lpstr>
      <vt:lpstr>Unser Honorar</vt:lpstr>
      <vt:lpstr>Transaktionskosten</vt:lpstr>
      <vt:lpstr>Unser Honorar</vt:lpstr>
      <vt:lpstr>Steuerlicher Hinweis zum Honorar</vt:lpstr>
      <vt:lpstr>Unsere Investmentphilosophie</vt:lpstr>
      <vt:lpstr>Unser Investmentprozess</vt:lpstr>
      <vt:lpstr>Unser Risikomanagement</vt:lpstr>
      <vt:lpstr>Anlageklassen und Ausgestaltung</vt:lpstr>
      <vt:lpstr>Unser Service und der Service unseres Depotführers der comdirect*</vt:lpstr>
      <vt:lpstr>Unsere Bank in Zahlen</vt:lpstr>
      <vt:lpstr>Unsere Tradition</vt:lpstr>
      <vt:lpstr>Sehr geehrte Interessentin, sehr geehrter Interessent,</vt:lpstr>
      <vt:lpstr>Die Fugger</vt:lpstr>
      <vt:lpstr>Risikohinweise</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Tobias Mutsuddi</cp:lastModifiedBy>
  <cp:revision>195</cp:revision>
  <dcterms:created xsi:type="dcterms:W3CDTF">2023-08-14T05:18:02Z</dcterms:created>
  <dcterms:modified xsi:type="dcterms:W3CDTF">2026-07-20T09:07:39Z</dcterms:modified>
  <cp:category>Vorlagen;Design</cp:category>
</cp:coreProperties>
</file>