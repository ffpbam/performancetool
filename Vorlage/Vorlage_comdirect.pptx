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3.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drawings/drawing4.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9"/>
  </p:notesMasterIdLst>
  <p:sldIdLst>
    <p:sldId id="256" r:id="rId2"/>
    <p:sldId id="267" r:id="rId3"/>
    <p:sldId id="306" r:id="rId4"/>
    <p:sldId id="269" r:id="rId5"/>
    <p:sldId id="271" r:id="rId6"/>
    <p:sldId id="257" r:id="rId7"/>
    <p:sldId id="303" r:id="rId8"/>
    <p:sldId id="272" r:id="rId9"/>
    <p:sldId id="304" r:id="rId10"/>
    <p:sldId id="273" r:id="rId11"/>
    <p:sldId id="305" r:id="rId12"/>
    <p:sldId id="284" r:id="rId13"/>
    <p:sldId id="302" r:id="rId14"/>
    <p:sldId id="285" r:id="rId15"/>
    <p:sldId id="300" r:id="rId16"/>
    <p:sldId id="307" r:id="rId17"/>
    <p:sldId id="1594" r:id="rId18"/>
    <p:sldId id="288" r:id="rId19"/>
    <p:sldId id="289" r:id="rId20"/>
    <p:sldId id="290" r:id="rId21"/>
    <p:sldId id="291" r:id="rId22"/>
    <p:sldId id="295" r:id="rId23"/>
    <p:sldId id="296" r:id="rId24"/>
    <p:sldId id="297" r:id="rId25"/>
    <p:sldId id="312" r:id="rId26"/>
    <p:sldId id="311" r:id="rId27"/>
    <p:sldId id="299" r:id="rId28"/>
  </p:sldIdLst>
  <p:sldSz cx="10439400" cy="6659563"/>
  <p:notesSz cx="6858000" cy="9144000"/>
  <p:defaultTextStyle>
    <a:defPPr>
      <a:defRPr lang="de-DE"/>
    </a:defPPr>
    <a:lvl1pPr marL="0" algn="l" defTabSz="820674" rtl="0" eaLnBrk="1" latinLnBrk="0" hangingPunct="1">
      <a:defRPr sz="1616" kern="1200">
        <a:solidFill>
          <a:schemeClr val="tx1"/>
        </a:solidFill>
        <a:latin typeface="+mn-lt"/>
        <a:ea typeface="+mn-ea"/>
        <a:cs typeface="+mn-cs"/>
      </a:defRPr>
    </a:lvl1pPr>
    <a:lvl2pPr marL="410337" algn="l" defTabSz="820674" rtl="0" eaLnBrk="1" latinLnBrk="0" hangingPunct="1">
      <a:defRPr sz="1616" kern="1200">
        <a:solidFill>
          <a:schemeClr val="tx1"/>
        </a:solidFill>
        <a:latin typeface="+mn-lt"/>
        <a:ea typeface="+mn-ea"/>
        <a:cs typeface="+mn-cs"/>
      </a:defRPr>
    </a:lvl2pPr>
    <a:lvl3pPr marL="820674" algn="l" defTabSz="820674" rtl="0" eaLnBrk="1" latinLnBrk="0" hangingPunct="1">
      <a:defRPr sz="1616" kern="1200">
        <a:solidFill>
          <a:schemeClr val="tx1"/>
        </a:solidFill>
        <a:latin typeface="+mn-lt"/>
        <a:ea typeface="+mn-ea"/>
        <a:cs typeface="+mn-cs"/>
      </a:defRPr>
    </a:lvl3pPr>
    <a:lvl4pPr marL="1231011" algn="l" defTabSz="820674" rtl="0" eaLnBrk="1" latinLnBrk="0" hangingPunct="1">
      <a:defRPr sz="1616" kern="1200">
        <a:solidFill>
          <a:schemeClr val="tx1"/>
        </a:solidFill>
        <a:latin typeface="+mn-lt"/>
        <a:ea typeface="+mn-ea"/>
        <a:cs typeface="+mn-cs"/>
      </a:defRPr>
    </a:lvl4pPr>
    <a:lvl5pPr marL="1641348" algn="l" defTabSz="820674" rtl="0" eaLnBrk="1" latinLnBrk="0" hangingPunct="1">
      <a:defRPr sz="1616" kern="1200">
        <a:solidFill>
          <a:schemeClr val="tx1"/>
        </a:solidFill>
        <a:latin typeface="+mn-lt"/>
        <a:ea typeface="+mn-ea"/>
        <a:cs typeface="+mn-cs"/>
      </a:defRPr>
    </a:lvl5pPr>
    <a:lvl6pPr marL="2051685" algn="l" defTabSz="820674" rtl="0" eaLnBrk="1" latinLnBrk="0" hangingPunct="1">
      <a:defRPr sz="1616" kern="1200">
        <a:solidFill>
          <a:schemeClr val="tx1"/>
        </a:solidFill>
        <a:latin typeface="+mn-lt"/>
        <a:ea typeface="+mn-ea"/>
        <a:cs typeface="+mn-cs"/>
      </a:defRPr>
    </a:lvl6pPr>
    <a:lvl7pPr marL="2462022" algn="l" defTabSz="820674" rtl="0" eaLnBrk="1" latinLnBrk="0" hangingPunct="1">
      <a:defRPr sz="1616" kern="1200">
        <a:solidFill>
          <a:schemeClr val="tx1"/>
        </a:solidFill>
        <a:latin typeface="+mn-lt"/>
        <a:ea typeface="+mn-ea"/>
        <a:cs typeface="+mn-cs"/>
      </a:defRPr>
    </a:lvl7pPr>
    <a:lvl8pPr marL="2872359" algn="l" defTabSz="820674" rtl="0" eaLnBrk="1" latinLnBrk="0" hangingPunct="1">
      <a:defRPr sz="1616" kern="1200">
        <a:solidFill>
          <a:schemeClr val="tx1"/>
        </a:solidFill>
        <a:latin typeface="+mn-lt"/>
        <a:ea typeface="+mn-ea"/>
        <a:cs typeface="+mn-cs"/>
      </a:defRPr>
    </a:lvl8pPr>
    <a:lvl9pPr marL="3282696" algn="l" defTabSz="820674" rtl="0" eaLnBrk="1" latinLnBrk="0" hangingPunct="1">
      <a:defRPr sz="161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161" autoAdjust="0"/>
  </p:normalViewPr>
  <p:slideViewPr>
    <p:cSldViewPr snapToGrid="0" showGuides="1">
      <p:cViewPr varScale="1">
        <p:scale>
          <a:sx n="120" d="100"/>
          <a:sy n="120" d="100"/>
        </p:scale>
        <p:origin x="780" y="102"/>
      </p:cViewPr>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3.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BB9256"/>
              </a:solidFill>
              <a:ln w="19050">
                <a:solidFill>
                  <a:schemeClr val="lt1"/>
                </a:solidFill>
              </a:ln>
              <a:effectLst/>
            </c:spPr>
            <c:extLst>
              <c:ext xmlns:c16="http://schemas.microsoft.com/office/drawing/2014/chart" uri="{C3380CC4-5D6E-409C-BE32-E72D297353CC}">
                <c16:uniqueId val="{00000001-7DD5-4331-A1F2-494FF211F11D}"/>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7DD5-4331-A1F2-494FF211F11D}"/>
              </c:ext>
            </c:extLst>
          </c:dPt>
          <c:dPt>
            <c:idx val="2"/>
            <c:bubble3D val="0"/>
            <c:spPr>
              <a:solidFill>
                <a:srgbClr val="14355C"/>
              </a:solidFill>
              <a:ln w="19050">
                <a:solidFill>
                  <a:schemeClr val="lt1"/>
                </a:solidFill>
              </a:ln>
              <a:effectLst/>
            </c:spPr>
            <c:extLst>
              <c:ext xmlns:c16="http://schemas.microsoft.com/office/drawing/2014/chart" uri="{C3380CC4-5D6E-409C-BE32-E72D297353CC}">
                <c16:uniqueId val="{00000005-7DD5-4331-A1F2-494FF211F11D}"/>
              </c:ext>
            </c:extLst>
          </c:dPt>
          <c:dPt>
            <c:idx val="3"/>
            <c:bubble3D val="0"/>
            <c:spPr>
              <a:solidFill>
                <a:srgbClr val="9FD0EF"/>
              </a:solidFill>
              <a:ln w="19050">
                <a:solidFill>
                  <a:schemeClr val="lt1"/>
                </a:solidFill>
              </a:ln>
              <a:effectLst/>
            </c:spPr>
            <c:extLst>
              <c:ext xmlns:c16="http://schemas.microsoft.com/office/drawing/2014/chart" uri="{C3380CC4-5D6E-409C-BE32-E72D297353CC}">
                <c16:uniqueId val="{00000007-7DD5-4331-A1F2-494FF211F11D}"/>
              </c:ext>
            </c:extLst>
          </c:dPt>
          <c:dLbls>
            <c:dLbl>
              <c:idx val="0"/>
              <c:layout>
                <c:manualLayout>
                  <c:x val="0.36145315303382419"/>
                  <c:y val="4.754085960149247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DD5-4331-A1F2-494FF211F11D}"/>
                </c:ext>
              </c:extLst>
            </c:dLbl>
            <c:dLbl>
              <c:idx val="1"/>
              <c:layout>
                <c:manualLayout>
                  <c:x val="0.2735762010246543"/>
                  <c:y val="7.59159037093437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DD5-4331-A1F2-494FF211F11D}"/>
                </c:ext>
              </c:extLst>
            </c:dLbl>
            <c:dLbl>
              <c:idx val="2"/>
              <c:layout>
                <c:manualLayout>
                  <c:x val="-0.17922550806711762"/>
                  <c:y val="-6.50820194747763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DD5-4331-A1F2-494FF211F11D}"/>
                </c:ext>
              </c:extLst>
            </c:dLbl>
            <c:dLbl>
              <c:idx val="3"/>
              <c:layout>
                <c:manualLayout>
                  <c:x val="-0.367021084446157"/>
                  <c:y val="-4.6989158371963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DD5-4331-A1F2-494FF211F11D}"/>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S_Diagramm_Com!$B$4:$B$7</c:f>
              <c:strCache>
                <c:ptCount val="4"/>
                <c:pt idx="0">
                  <c:v>EDELMETALLE</c:v>
                </c:pt>
                <c:pt idx="1">
                  <c:v>RENTEN</c:v>
                </c:pt>
                <c:pt idx="2">
                  <c:v>AKTIEN </c:v>
                </c:pt>
                <c:pt idx="3">
                  <c:v>LIQUIDITÄT</c:v>
                </c:pt>
              </c:strCache>
            </c:strRef>
          </c:cat>
          <c:val>
            <c:numRef>
              <c:f>S_Diagramm_Com!$C$4:$C$7</c:f>
              <c:numCache>
                <c:formatCode>0.00%</c:formatCode>
                <c:ptCount val="4"/>
                <c:pt idx="0">
                  <c:v>0.1195</c:v>
                </c:pt>
                <c:pt idx="1">
                  <c:v>0.53890000000000005</c:v>
                </c:pt>
                <c:pt idx="2">
                  <c:v>0.28599999999999992</c:v>
                </c:pt>
                <c:pt idx="3">
                  <c:v>5.5599999999999997E-2</c:v>
                </c:pt>
              </c:numCache>
            </c:numRef>
          </c:val>
          <c:extLst>
            <c:ext xmlns:c16="http://schemas.microsoft.com/office/drawing/2014/chart" uri="{C3380CC4-5D6E-409C-BE32-E72D297353CC}">
              <c16:uniqueId val="{00000008-7DD5-4331-A1F2-494FF211F11D}"/>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4034242250801352"/>
          <c:w val="0.23952616820244227"/>
          <c:h val="0.25965757749198648"/>
        </c:manualLayout>
      </c:layout>
      <c:overlay val="0"/>
      <c:spPr>
        <a:noFill/>
        <a:ln>
          <a:noFill/>
        </a:ln>
        <a:effectLst/>
      </c:spPr>
      <c:txPr>
        <a:bodyPr rot="0" spcFirstLastPara="1" vertOverflow="ellipsis" vert="horz" wrap="square" anchor="t" anchorCtr="0"/>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Tabelle1!$A$2:$A$234</c:f>
              <c:numCache>
                <c:formatCode>m/d/yyyy</c:formatCode>
                <c:ptCount val="233"/>
                <c:pt idx="0">
                  <c:v>45291</c:v>
                </c:pt>
                <c:pt idx="1">
                  <c:v>45322</c:v>
                </c:pt>
                <c:pt idx="2">
                  <c:v>45351</c:v>
                </c:pt>
                <c:pt idx="3">
                  <c:v>45382</c:v>
                </c:pt>
                <c:pt idx="4">
                  <c:v>45412</c:v>
                </c:pt>
                <c:pt idx="5">
                  <c:v>45443</c:v>
                </c:pt>
                <c:pt idx="6">
                  <c:v>45473</c:v>
                </c:pt>
                <c:pt idx="7">
                  <c:v>45504</c:v>
                </c:pt>
                <c:pt idx="8">
                  <c:v>45535</c:v>
                </c:pt>
                <c:pt idx="9">
                  <c:v>45565</c:v>
                </c:pt>
                <c:pt idx="10">
                  <c:v>45596</c:v>
                </c:pt>
                <c:pt idx="11">
                  <c:v>45626</c:v>
                </c:pt>
                <c:pt idx="12">
                  <c:v>45657</c:v>
                </c:pt>
                <c:pt idx="13">
                  <c:v>45688</c:v>
                </c:pt>
                <c:pt idx="14">
                  <c:v>45716</c:v>
                </c:pt>
                <c:pt idx="15">
                  <c:v>45747</c:v>
                </c:pt>
                <c:pt idx="16">
                  <c:v>45777</c:v>
                </c:pt>
                <c:pt idx="17">
                  <c:v>45808</c:v>
                </c:pt>
                <c:pt idx="18">
                  <c:v>45838</c:v>
                </c:pt>
                <c:pt idx="19">
                  <c:v>45869</c:v>
                </c:pt>
                <c:pt idx="20">
                  <c:v>45900</c:v>
                </c:pt>
                <c:pt idx="21">
                  <c:v>45930</c:v>
                </c:pt>
                <c:pt idx="22">
                  <c:v>45961</c:v>
                </c:pt>
                <c:pt idx="23">
                  <c:v>45991</c:v>
                </c:pt>
                <c:pt idx="24">
                  <c:v>46022</c:v>
                </c:pt>
                <c:pt idx="25">
                  <c:v>46053</c:v>
                </c:pt>
                <c:pt idx="26">
                  <c:v>46081</c:v>
                </c:pt>
                <c:pt idx="27">
                  <c:v>46112</c:v>
                </c:pt>
                <c:pt idx="28">
                  <c:v>46142</c:v>
                </c:pt>
                <c:pt idx="29">
                  <c:v>46173</c:v>
                </c:pt>
                <c:pt idx="30">
                  <c:v>46203</c:v>
                </c:pt>
                <c:pt idx="31">
                  <c:v>46223</c:v>
                </c:pt>
              </c:numCache>
            </c:numRef>
          </c:cat>
          <c:val>
            <c:numRef>
              <c:f>Tabelle1!$B$2:$B$234</c:f>
              <c:numCache>
                <c:formatCode>General</c:formatCode>
                <c:ptCount val="233"/>
                <c:pt idx="0">
                  <c:v>1</c:v>
                </c:pt>
                <c:pt idx="1">
                  <c:v>1</c:v>
                </c:pt>
                <c:pt idx="2">
                  <c:v>1</c:v>
                </c:pt>
                <c:pt idx="3">
                  <c:v>1.0121</c:v>
                </c:pt>
                <c:pt idx="4">
                  <c:v>1.00116932</c:v>
                </c:pt>
                <c:pt idx="5">
                  <c:v>1.01168159786</c:v>
                </c:pt>
                <c:pt idx="6">
                  <c:v>1.0260474765496119</c:v>
                </c:pt>
                <c:pt idx="7">
                  <c:v>1.0344756357314857</c:v>
                </c:pt>
                <c:pt idx="8">
                  <c:v>1.0464755531059711</c:v>
                </c:pt>
                <c:pt idx="9">
                  <c:v>1.0568356610817202</c:v>
                </c:pt>
                <c:pt idx="10">
                  <c:v>1.0571527117800448</c:v>
                </c:pt>
                <c:pt idx="11">
                  <c:v>1.0756528842361956</c:v>
                </c:pt>
                <c:pt idx="12">
                  <c:v>1.064250963663292</c:v>
                </c:pt>
                <c:pt idx="13">
                  <c:v>1.0832542288704639</c:v>
                </c:pt>
                <c:pt idx="14">
                  <c:v>1.1006946219552782</c:v>
                </c:pt>
                <c:pt idx="15">
                  <c:v>1.0943105931479375</c:v>
                </c:pt>
                <c:pt idx="16">
                  <c:v>1.0931068514954749</c:v>
                </c:pt>
                <c:pt idx="17">
                  <c:v>1.1014144635668406</c:v>
                </c:pt>
                <c:pt idx="18">
                  <c:v>1.0921625820728791</c:v>
                </c:pt>
                <c:pt idx="19">
                  <c:v>1.1042820918136254</c:v>
                </c:pt>
                <c:pt idx="20">
                  <c:v>1.100527532701459</c:v>
                </c:pt>
                <c:pt idx="21">
                  <c:v>1.1149444433798481</c:v>
                </c:pt>
                <c:pt idx="22">
                  <c:v>1.1131605322704403</c:v>
                </c:pt>
                <c:pt idx="23">
                  <c:v>1.1316389971061296</c:v>
                </c:pt>
                <c:pt idx="24">
                  <c:v>1.1352602418968694</c:v>
                </c:pt>
                <c:pt idx="25">
                  <c:v>1.1544427452911696</c:v>
                </c:pt>
                <c:pt idx="26">
                  <c:v>1.1895627388141621</c:v>
                </c:pt>
                <c:pt idx="27">
                  <c:v>1.1578305260168602</c:v>
                </c:pt>
                <c:pt idx="28">
                  <c:v>1.1553461534846869</c:v>
                </c:pt>
                <c:pt idx="29">
                  <c:v>1.1554590795088768</c:v>
                </c:pt>
                <c:pt idx="30">
                  <c:v>1.1448440332350462</c:v>
                </c:pt>
                <c:pt idx="31">
                  <c:v>1.1477801098639779</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scaling>
        <c:delete val="0"/>
        <c:axPos val="b"/>
        <c:numFmt formatCode="mmm/yy" sourceLinked="0"/>
        <c:majorTickMark val="none"/>
        <c:minorTickMark val="none"/>
        <c:tickLblPos val="nextTo"/>
        <c:spPr>
          <a:noFill/>
          <a:ln w="3175" cap="flat" cmpd="sng" algn="ctr">
            <a:no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dateAx>
      <c:valAx>
        <c:axId val="111903199"/>
        <c:scaling>
          <c:orientation val="minMax"/>
          <c:min val="0.95000000000000007"/>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Tabelle1!$A$2:$A$3</c:f>
              <c:numCache>
                <c:formatCode>General</c:formatCode>
                <c:ptCount val="2"/>
                <c:pt idx="0">
                  <c:v>2024</c:v>
                </c:pt>
                <c:pt idx="1">
                  <c:v>2025</c:v>
                </c:pt>
              </c:numCache>
            </c:numRef>
          </c:cat>
          <c:val>
            <c:numRef>
              <c:f>Tabelle1!$B$2:$B$3</c:f>
              <c:numCache>
                <c:formatCode>0.00%</c:formatCode>
                <c:ptCount val="2"/>
                <c:pt idx="0">
                  <c:v>5.361273672671385E-2</c:v>
                </c:pt>
                <c:pt idx="1">
                  <c:v>6.2399999999999997E-2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Tabelle1!$A$2:$A$3</c:f>
              <c:numCache>
                <c:formatCode>General</c:formatCode>
                <c:ptCount val="2"/>
                <c:pt idx="0">
                  <c:v>2024</c:v>
                </c:pt>
                <c:pt idx="1">
                  <c:v>2025</c:v>
                </c:pt>
              </c:numCache>
            </c:numRef>
          </c:cat>
          <c:val>
            <c:numRef>
              <c:f>Tabelle1!$C$2:$C$3</c:f>
              <c:numCache>
                <c:formatCode>0.00%</c:formatCode>
                <c:ptCount val="2"/>
                <c:pt idx="0">
                  <c:v>3.78E-2</c:v>
                </c:pt>
                <c:pt idx="1">
                  <c:v>3.7900000000000003E-2</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BB9256"/>
              </a:solidFill>
              <a:ln w="19050">
                <a:solidFill>
                  <a:schemeClr val="lt1"/>
                </a:solidFill>
              </a:ln>
              <a:effectLst/>
            </c:spPr>
            <c:extLst>
              <c:ext xmlns:c16="http://schemas.microsoft.com/office/drawing/2014/chart" uri="{C3380CC4-5D6E-409C-BE32-E72D297353CC}">
                <c16:uniqueId val="{00000001-0C78-4B07-A53C-03F4AE4F8CBD}"/>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0C78-4B07-A53C-03F4AE4F8CBD}"/>
              </c:ext>
            </c:extLst>
          </c:dPt>
          <c:dPt>
            <c:idx val="2"/>
            <c:bubble3D val="0"/>
            <c:spPr>
              <a:solidFill>
                <a:srgbClr val="14355C"/>
              </a:solidFill>
              <a:ln w="19050">
                <a:solidFill>
                  <a:schemeClr val="lt1"/>
                </a:solidFill>
              </a:ln>
              <a:effectLst/>
            </c:spPr>
            <c:extLst>
              <c:ext xmlns:c16="http://schemas.microsoft.com/office/drawing/2014/chart" uri="{C3380CC4-5D6E-409C-BE32-E72D297353CC}">
                <c16:uniqueId val="{00000005-0C78-4B07-A53C-03F4AE4F8CBD}"/>
              </c:ext>
            </c:extLst>
          </c:dPt>
          <c:dPt>
            <c:idx val="3"/>
            <c:bubble3D val="0"/>
            <c:spPr>
              <a:solidFill>
                <a:srgbClr val="9FD0EF"/>
              </a:solidFill>
              <a:ln w="19050">
                <a:solidFill>
                  <a:schemeClr val="lt1"/>
                </a:solidFill>
              </a:ln>
              <a:effectLst/>
            </c:spPr>
            <c:extLst>
              <c:ext xmlns:c16="http://schemas.microsoft.com/office/drawing/2014/chart" uri="{C3380CC4-5D6E-409C-BE32-E72D297353CC}">
                <c16:uniqueId val="{00000007-0C78-4B07-A53C-03F4AE4F8CBD}"/>
              </c:ext>
            </c:extLst>
          </c:dPt>
          <c:dLbls>
            <c:dLbl>
              <c:idx val="0"/>
              <c:layout>
                <c:manualLayout>
                  <c:x val="0.31798980255278375"/>
                  <c:y val="-1.43571620799747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C78-4B07-A53C-03F4AE4F8CBD}"/>
                </c:ext>
              </c:extLst>
            </c:dLbl>
            <c:dLbl>
              <c:idx val="1"/>
              <c:layout>
                <c:manualLayout>
                  <c:x val="0.20595722547308626"/>
                  <c:y val="0.2373244241292498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C78-4B07-A53C-03F4AE4F8CBD}"/>
                </c:ext>
              </c:extLst>
            </c:dLbl>
            <c:dLbl>
              <c:idx val="2"/>
              <c:layout>
                <c:manualLayout>
                  <c:x val="-0.19665332101426963"/>
                  <c:y val="-0.1626910481921662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C78-4B07-A53C-03F4AE4F8CBD}"/>
                </c:ext>
              </c:extLst>
            </c:dLbl>
            <c:dLbl>
              <c:idx val="3"/>
              <c:layout>
                <c:manualLayout>
                  <c:x val="-0.30689853882216062"/>
                  <c:y val="-9.633577571059540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C78-4B07-A53C-03F4AE4F8CBD}"/>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S_Diagramm_Com!$F$4:$F$7</c:f>
              <c:strCache>
                <c:ptCount val="4"/>
                <c:pt idx="0">
                  <c:v>EDELMETALLE</c:v>
                </c:pt>
                <c:pt idx="1">
                  <c:v>RENTEN</c:v>
                </c:pt>
                <c:pt idx="2">
                  <c:v>AKTIEN </c:v>
                </c:pt>
                <c:pt idx="3">
                  <c:v>LIQUIDITÄT</c:v>
                </c:pt>
              </c:strCache>
            </c:strRef>
          </c:cat>
          <c:val>
            <c:numRef>
              <c:f>S_Diagramm_Com!$G$4:$G$7</c:f>
              <c:numCache>
                <c:formatCode>0.00%</c:formatCode>
                <c:ptCount val="4"/>
                <c:pt idx="0">
                  <c:v>0.12</c:v>
                </c:pt>
                <c:pt idx="1">
                  <c:v>0.17880000000000001</c:v>
                </c:pt>
                <c:pt idx="2">
                  <c:v>0.67080000000000006</c:v>
                </c:pt>
                <c:pt idx="3">
                  <c:v>3.04E-2</c:v>
                </c:pt>
              </c:numCache>
            </c:numRef>
          </c:val>
          <c:extLst>
            <c:ext xmlns:c16="http://schemas.microsoft.com/office/drawing/2014/chart" uri="{C3380CC4-5D6E-409C-BE32-E72D297353CC}">
              <c16:uniqueId val="{00000008-0C78-4B07-A53C-03F4AE4F8CBD}"/>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4133791968009033"/>
          <c:w val="0.26075351606611236"/>
          <c:h val="0.25866208031990962"/>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Tabelle1!$A$2:$A$234</c:f>
              <c:numCache>
                <c:formatCode>m/d/yyyy</c:formatCode>
                <c:ptCount val="233"/>
                <c:pt idx="0">
                  <c:v>45291</c:v>
                </c:pt>
                <c:pt idx="1">
                  <c:v>45322</c:v>
                </c:pt>
                <c:pt idx="2">
                  <c:v>45351</c:v>
                </c:pt>
                <c:pt idx="3">
                  <c:v>45382</c:v>
                </c:pt>
                <c:pt idx="4">
                  <c:v>45412</c:v>
                </c:pt>
                <c:pt idx="5">
                  <c:v>45443</c:v>
                </c:pt>
                <c:pt idx="6">
                  <c:v>45473</c:v>
                </c:pt>
                <c:pt idx="7">
                  <c:v>45504</c:v>
                </c:pt>
                <c:pt idx="8">
                  <c:v>45535</c:v>
                </c:pt>
                <c:pt idx="9">
                  <c:v>45565</c:v>
                </c:pt>
                <c:pt idx="10">
                  <c:v>45596</c:v>
                </c:pt>
                <c:pt idx="11">
                  <c:v>45626</c:v>
                </c:pt>
                <c:pt idx="12">
                  <c:v>45657</c:v>
                </c:pt>
                <c:pt idx="13">
                  <c:v>45688</c:v>
                </c:pt>
                <c:pt idx="14">
                  <c:v>45716</c:v>
                </c:pt>
                <c:pt idx="15">
                  <c:v>45747</c:v>
                </c:pt>
                <c:pt idx="16">
                  <c:v>45777</c:v>
                </c:pt>
                <c:pt idx="17">
                  <c:v>45808</c:v>
                </c:pt>
                <c:pt idx="18">
                  <c:v>45838</c:v>
                </c:pt>
                <c:pt idx="19">
                  <c:v>45869</c:v>
                </c:pt>
                <c:pt idx="20">
                  <c:v>45900</c:v>
                </c:pt>
                <c:pt idx="21">
                  <c:v>45930</c:v>
                </c:pt>
                <c:pt idx="22">
                  <c:v>45961</c:v>
                </c:pt>
                <c:pt idx="23">
                  <c:v>45991</c:v>
                </c:pt>
                <c:pt idx="24">
                  <c:v>46022</c:v>
                </c:pt>
                <c:pt idx="25">
                  <c:v>46053</c:v>
                </c:pt>
                <c:pt idx="26">
                  <c:v>46081</c:v>
                </c:pt>
                <c:pt idx="27">
                  <c:v>46112</c:v>
                </c:pt>
                <c:pt idx="28">
                  <c:v>46142</c:v>
                </c:pt>
                <c:pt idx="29">
                  <c:v>46173</c:v>
                </c:pt>
                <c:pt idx="30">
                  <c:v>46203</c:v>
                </c:pt>
                <c:pt idx="31">
                  <c:v>46223</c:v>
                </c:pt>
              </c:numCache>
            </c:numRef>
          </c:cat>
          <c:val>
            <c:numRef>
              <c:f>Tabelle1!$B$2:$B$234</c:f>
              <c:numCache>
                <c:formatCode>General</c:formatCode>
                <c:ptCount val="233"/>
                <c:pt idx="0">
                  <c:v>1</c:v>
                </c:pt>
                <c:pt idx="1">
                  <c:v>1</c:v>
                </c:pt>
                <c:pt idx="2">
                  <c:v>1</c:v>
                </c:pt>
                <c:pt idx="3">
                  <c:v>1.0163</c:v>
                </c:pt>
                <c:pt idx="4">
                  <c:v>0.98733545</c:v>
                </c:pt>
                <c:pt idx="5">
                  <c:v>1.0012568798450001</c:v>
                </c:pt>
                <c:pt idx="6">
                  <c:v>1.0168764871705822</c:v>
                </c:pt>
                <c:pt idx="7">
                  <c:v>1.0144032401784857</c:v>
                </c:pt>
                <c:pt idx="8">
                  <c:v>1.0331697001217877</c:v>
                </c:pt>
                <c:pt idx="9">
                  <c:v>1.0317232625416173</c:v>
                </c:pt>
                <c:pt idx="10">
                  <c:v>1.0461673882172</c:v>
                </c:pt>
                <c:pt idx="11">
                  <c:v>1.0956511056798734</c:v>
                </c:pt>
                <c:pt idx="12">
                  <c:v>1.082284162190579</c:v>
                </c:pt>
                <c:pt idx="13">
                  <c:v>1.1000712859393489</c:v>
                </c:pt>
                <c:pt idx="14">
                  <c:v>1.1382437595614443</c:v>
                </c:pt>
                <c:pt idx="15">
                  <c:v>1.1234465906871456</c:v>
                </c:pt>
                <c:pt idx="16">
                  <c:v>1.1223231440964585</c:v>
                </c:pt>
                <c:pt idx="17">
                  <c:v>1.1642980296856662</c:v>
                </c:pt>
                <c:pt idx="18">
                  <c:v>1.1552165050541179</c:v>
                </c:pt>
                <c:pt idx="19">
                  <c:v>1.1923269111057775</c:v>
                </c:pt>
                <c:pt idx="20">
                  <c:v>1.1670495805903349</c:v>
                </c:pt>
                <c:pt idx="21">
                  <c:v>1.1936583110277945</c:v>
                </c:pt>
                <c:pt idx="22">
                  <c:v>1.1965230909742612</c:v>
                </c:pt>
                <c:pt idx="23">
                  <c:v>1.1952069155741896</c:v>
                </c:pt>
                <c:pt idx="24">
                  <c:v>1.1968802052559935</c:v>
                </c:pt>
                <c:pt idx="25">
                  <c:v>1.1972574625285808</c:v>
                </c:pt>
                <c:pt idx="26">
                  <c:v>1.2284323239062878</c:v>
                </c:pt>
                <c:pt idx="27">
                  <c:v>1.1835738401681368</c:v>
                </c:pt>
                <c:pt idx="28">
                  <c:v>1.1921409776459799</c:v>
                </c:pt>
                <c:pt idx="29">
                  <c:v>1.1940447859743897</c:v>
                </c:pt>
                <c:pt idx="30">
                  <c:v>1.1650117089661434</c:v>
                </c:pt>
                <c:pt idx="31">
                  <c:v>1.1798852115318432</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scaling>
        <c:delete val="0"/>
        <c:axPos val="b"/>
        <c:numFmt formatCode="mmm/yy" sourceLinked="0"/>
        <c:majorTickMark val="none"/>
        <c:minorTickMark val="none"/>
        <c:tickLblPos val="nextTo"/>
        <c:spPr>
          <a:noFill/>
          <a:ln w="3175" cap="flat" cmpd="sng" algn="ctr">
            <a:no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dateAx>
      <c:valAx>
        <c:axId val="111903199"/>
        <c:scaling>
          <c:orientation val="minMax"/>
          <c:min val="0.9"/>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noFill/>
    </a:ln>
    <a:effectLst/>
  </c:spPr>
  <c:txPr>
    <a:bodyPr/>
    <a:lstStyle/>
    <a:p>
      <a:pPr>
        <a:defRPr/>
      </a:pPr>
      <a:endParaRPr lang="de-D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Tabelle1!$A$2:$A$3</c:f>
              <c:numCache>
                <c:formatCode>General</c:formatCode>
                <c:ptCount val="2"/>
                <c:pt idx="0">
                  <c:v>2024</c:v>
                </c:pt>
                <c:pt idx="1">
                  <c:v>2025</c:v>
                </c:pt>
              </c:numCache>
            </c:numRef>
          </c:cat>
          <c:val>
            <c:numRef>
              <c:f>Tabelle1!$B$2:$B$3</c:f>
              <c:numCache>
                <c:formatCode>0.00%</c:formatCode>
                <c:ptCount val="2"/>
                <c:pt idx="0">
                  <c:v>7.1499999999999994E-2</c:v>
                </c:pt>
                <c:pt idx="1">
                  <c:v>0.10249999999999999</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Tabelle1!$A$2:$A$3</c:f>
              <c:numCache>
                <c:formatCode>General</c:formatCode>
                <c:ptCount val="2"/>
                <c:pt idx="0">
                  <c:v>2024</c:v>
                </c:pt>
                <c:pt idx="1">
                  <c:v>2025</c:v>
                </c:pt>
              </c:numCache>
            </c:numRef>
          </c:cat>
          <c:val>
            <c:numRef>
              <c:f>Tabelle1!$C$2:$C$3</c:f>
              <c:numCache>
                <c:formatCode>0.00%</c:formatCode>
                <c:ptCount val="2"/>
                <c:pt idx="0">
                  <c:v>4.3700000000000003E-2</c:v>
                </c:pt>
                <c:pt idx="1">
                  <c:v>7.6999999999999999E-2</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BB9256"/>
              </a:solidFill>
              <a:ln w="19050">
                <a:solidFill>
                  <a:schemeClr val="lt1"/>
                </a:solidFill>
              </a:ln>
              <a:effectLst/>
            </c:spPr>
            <c:extLst>
              <c:ext xmlns:c16="http://schemas.microsoft.com/office/drawing/2014/chart" uri="{C3380CC4-5D6E-409C-BE32-E72D297353CC}">
                <c16:uniqueId val="{00000001-D6D2-4D44-B8A5-1062D74E8B24}"/>
              </c:ext>
            </c:extLst>
          </c:dPt>
          <c:dPt>
            <c:idx val="1"/>
            <c:bubble3D val="0"/>
            <c:spPr>
              <a:solidFill>
                <a:srgbClr val="14355C"/>
              </a:solidFill>
              <a:ln w="19050">
                <a:solidFill>
                  <a:schemeClr val="lt1"/>
                </a:solidFill>
              </a:ln>
              <a:effectLst/>
            </c:spPr>
            <c:extLst>
              <c:ext xmlns:c16="http://schemas.microsoft.com/office/drawing/2014/chart" uri="{C3380CC4-5D6E-409C-BE32-E72D297353CC}">
                <c16:uniqueId val="{00000003-D6D2-4D44-B8A5-1062D74E8B24}"/>
              </c:ext>
            </c:extLst>
          </c:dPt>
          <c:dPt>
            <c:idx val="2"/>
            <c:bubble3D val="0"/>
            <c:spPr>
              <a:solidFill>
                <a:srgbClr val="9FD0EF"/>
              </a:solidFill>
              <a:ln w="19050">
                <a:solidFill>
                  <a:schemeClr val="lt1"/>
                </a:solidFill>
              </a:ln>
              <a:effectLst/>
            </c:spPr>
            <c:extLst>
              <c:ext xmlns:c16="http://schemas.microsoft.com/office/drawing/2014/chart" uri="{C3380CC4-5D6E-409C-BE32-E72D297353CC}">
                <c16:uniqueId val="{00000005-D6D2-4D44-B8A5-1062D74E8B24}"/>
              </c:ext>
            </c:extLst>
          </c:dPt>
          <c:dLbls>
            <c:dLbl>
              <c:idx val="0"/>
              <c:layout>
                <c:manualLayout>
                  <c:x val="0.3355682476616173"/>
                  <c:y val="3.58978431748544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6D2-4D44-B8A5-1062D74E8B24}"/>
                </c:ext>
              </c:extLst>
            </c:dLbl>
            <c:dLbl>
              <c:idx val="1"/>
              <c:layout>
                <c:manualLayout>
                  <c:x val="0.23977374941367988"/>
                  <c:y val="9.103156765066695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6D2-4D44-B8A5-1062D74E8B24}"/>
                </c:ext>
              </c:extLst>
            </c:dLbl>
            <c:dLbl>
              <c:idx val="2"/>
              <c:layout>
                <c:manualLayout>
                  <c:x val="-0.27213420522583676"/>
                  <c:y val="-9.70402601325187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6D2-4D44-B8A5-1062D74E8B24}"/>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S_Diagramm_Com!$J$4:$J$6</c:f>
              <c:strCache>
                <c:ptCount val="3"/>
                <c:pt idx="0">
                  <c:v>EDELMETALLE</c:v>
                </c:pt>
                <c:pt idx="1">
                  <c:v>AKTIEN </c:v>
                </c:pt>
                <c:pt idx="2">
                  <c:v>LIQUIDITÄT</c:v>
                </c:pt>
              </c:strCache>
            </c:strRef>
          </c:cat>
          <c:val>
            <c:numRef>
              <c:f>S_Diagramm_Com!$K$4:$K$6</c:f>
              <c:numCache>
                <c:formatCode>0.00%</c:formatCode>
                <c:ptCount val="3"/>
                <c:pt idx="0">
                  <c:v>7.4300000000000005E-2</c:v>
                </c:pt>
                <c:pt idx="1">
                  <c:v>0.89419999999999988</c:v>
                </c:pt>
                <c:pt idx="2">
                  <c:v>3.15E-2</c:v>
                </c:pt>
              </c:numCache>
            </c:numRef>
          </c:val>
          <c:extLst>
            <c:ext xmlns:c16="http://schemas.microsoft.com/office/drawing/2014/chart" uri="{C3380CC4-5D6E-409C-BE32-E72D297353CC}">
              <c16:uniqueId val="{00000006-D6D2-4D44-B8A5-1062D74E8B24}"/>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8563915995587597"/>
          <c:w val="0.2628093700852579"/>
          <c:h val="0.21436084004412401"/>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Tabelle1!$A$2:$A$234</c:f>
              <c:numCache>
                <c:formatCode>m/d/yyyy</c:formatCode>
                <c:ptCount val="233"/>
                <c:pt idx="0">
                  <c:v>45291</c:v>
                </c:pt>
                <c:pt idx="1">
                  <c:v>45322</c:v>
                </c:pt>
                <c:pt idx="2">
                  <c:v>45351</c:v>
                </c:pt>
                <c:pt idx="3">
                  <c:v>45382</c:v>
                </c:pt>
                <c:pt idx="4">
                  <c:v>45412</c:v>
                </c:pt>
                <c:pt idx="5">
                  <c:v>45443</c:v>
                </c:pt>
                <c:pt idx="6">
                  <c:v>45473</c:v>
                </c:pt>
                <c:pt idx="7">
                  <c:v>45504</c:v>
                </c:pt>
                <c:pt idx="8">
                  <c:v>45535</c:v>
                </c:pt>
                <c:pt idx="9">
                  <c:v>45565</c:v>
                </c:pt>
                <c:pt idx="10">
                  <c:v>45596</c:v>
                </c:pt>
                <c:pt idx="11">
                  <c:v>45626</c:v>
                </c:pt>
                <c:pt idx="12">
                  <c:v>45657</c:v>
                </c:pt>
                <c:pt idx="13">
                  <c:v>45688</c:v>
                </c:pt>
                <c:pt idx="14">
                  <c:v>45716</c:v>
                </c:pt>
                <c:pt idx="15">
                  <c:v>45747</c:v>
                </c:pt>
                <c:pt idx="16">
                  <c:v>45777</c:v>
                </c:pt>
                <c:pt idx="17">
                  <c:v>45808</c:v>
                </c:pt>
                <c:pt idx="18">
                  <c:v>45838</c:v>
                </c:pt>
                <c:pt idx="19">
                  <c:v>45869</c:v>
                </c:pt>
                <c:pt idx="20">
                  <c:v>45900</c:v>
                </c:pt>
                <c:pt idx="21">
                  <c:v>45930</c:v>
                </c:pt>
                <c:pt idx="22">
                  <c:v>45961</c:v>
                </c:pt>
                <c:pt idx="23">
                  <c:v>45991</c:v>
                </c:pt>
                <c:pt idx="24">
                  <c:v>46022</c:v>
                </c:pt>
                <c:pt idx="25">
                  <c:v>46053</c:v>
                </c:pt>
                <c:pt idx="26">
                  <c:v>46081</c:v>
                </c:pt>
                <c:pt idx="27">
                  <c:v>46112</c:v>
                </c:pt>
                <c:pt idx="28">
                  <c:v>46142</c:v>
                </c:pt>
                <c:pt idx="29">
                  <c:v>46173</c:v>
                </c:pt>
                <c:pt idx="30">
                  <c:v>46203</c:v>
                </c:pt>
                <c:pt idx="31">
                  <c:v>46223</c:v>
                </c:pt>
              </c:numCache>
            </c:numRef>
          </c:cat>
          <c:val>
            <c:numRef>
              <c:f>Tabelle1!$B$2:$B$234</c:f>
              <c:numCache>
                <c:formatCode>General</c:formatCode>
                <c:ptCount val="233"/>
                <c:pt idx="0">
                  <c:v>1</c:v>
                </c:pt>
                <c:pt idx="1">
                  <c:v>1</c:v>
                </c:pt>
                <c:pt idx="2">
                  <c:v>1</c:v>
                </c:pt>
                <c:pt idx="3">
                  <c:v>1.0174000000000001</c:v>
                </c:pt>
                <c:pt idx="4">
                  <c:v>0.97700922000000012</c:v>
                </c:pt>
                <c:pt idx="5">
                  <c:v>1.0019229551100002</c:v>
                </c:pt>
                <c:pt idx="6">
                  <c:v>1.0164508379590951</c:v>
                </c:pt>
                <c:pt idx="7">
                  <c:v>1.0067059204854136</c:v>
                </c:pt>
                <c:pt idx="8">
                  <c:v>1.0213031563324522</c:v>
                </c:pt>
                <c:pt idx="9">
                  <c:v>1.0076176940375974</c:v>
                </c:pt>
                <c:pt idx="10">
                  <c:v>1.0182984415943959</c:v>
                </c:pt>
                <c:pt idx="11">
                  <c:v>1.0680932353883619</c:v>
                </c:pt>
                <c:pt idx="12">
                  <c:v>1.0486539385042937</c:v>
                </c:pt>
                <c:pt idx="13">
                  <c:v>1.0840598511608019</c:v>
                </c:pt>
                <c:pt idx="14">
                  <c:v>1.1157143988146971</c:v>
                </c:pt>
                <c:pt idx="15">
                  <c:v>1.0610443932727769</c:v>
                </c:pt>
                <c:pt idx="16">
                  <c:v>1.0432188474657942</c:v>
                </c:pt>
                <c:pt idx="17">
                  <c:v>1.0949625023000977</c:v>
                </c:pt>
                <c:pt idx="18">
                  <c:v>1.0852173360296269</c:v>
                </c:pt>
                <c:pt idx="19">
                  <c:v>1.1286399202527131</c:v>
                </c:pt>
                <c:pt idx="20">
                  <c:v>1.0999724662782941</c:v>
                </c:pt>
                <c:pt idx="21">
                  <c:v>1.1199919651645591</c:v>
                </c:pt>
                <c:pt idx="22">
                  <c:v>1.1185359756098452</c:v>
                </c:pt>
                <c:pt idx="23">
                  <c:v>1.1347547472561879</c:v>
                </c:pt>
                <c:pt idx="24">
                  <c:v>1.1287405470957301</c:v>
                </c:pt>
                <c:pt idx="25">
                  <c:v>1.1225337319710833</c:v>
                </c:pt>
                <c:pt idx="26">
                  <c:v>1.1404655807246151</c:v>
                </c:pt>
                <c:pt idx="27">
                  <c:v>1.0871183306828582</c:v>
                </c:pt>
                <c:pt idx="28">
                  <c:v>1.1204043249316014</c:v>
                </c:pt>
                <c:pt idx="29">
                  <c:v>1.1200681027674726</c:v>
                </c:pt>
                <c:pt idx="30">
                  <c:v>1.1091969194606441</c:v>
                </c:pt>
                <c:pt idx="31">
                  <c:v>1.131835878511978</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scaling>
        <c:delete val="0"/>
        <c:axPos val="b"/>
        <c:numFmt formatCode="mmm/yy" sourceLinked="0"/>
        <c:majorTickMark val="none"/>
        <c:minorTickMark val="none"/>
        <c:tickLblPos val="nextTo"/>
        <c:spPr>
          <a:noFill/>
          <a:ln w="3175" cap="flat" cmpd="sng" algn="ctr">
            <a:no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dateAx>
      <c:valAx>
        <c:axId val="111903199"/>
        <c:scaling>
          <c:orientation val="minMax"/>
          <c:min val="0.9"/>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noFill/>
    </a:ln>
    <a:effectLst/>
  </c:spPr>
  <c:txPr>
    <a:bodyPr/>
    <a:lstStyle/>
    <a:p>
      <a:pPr>
        <a:defRPr/>
      </a:pPr>
      <a:endParaRPr lang="de-DE"/>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Tabelle1!$A$2:$A$3</c:f>
              <c:numCache>
                <c:formatCode>General</c:formatCode>
                <c:ptCount val="2"/>
                <c:pt idx="0">
                  <c:v>2024</c:v>
                </c:pt>
                <c:pt idx="1">
                  <c:v>2025</c:v>
                </c:pt>
              </c:numCache>
            </c:numRef>
          </c:cat>
          <c:val>
            <c:numRef>
              <c:f>Tabelle1!$B$2:$B$3</c:f>
              <c:numCache>
                <c:formatCode>0.00%</c:formatCode>
                <c:ptCount val="2"/>
                <c:pt idx="0">
                  <c:v>3.8199999999999998E-2</c:v>
                </c:pt>
                <c:pt idx="1">
                  <c:v>7.4200000000000002E-2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Tabelle1!$A$2:$A$3</c:f>
              <c:numCache>
                <c:formatCode>General</c:formatCode>
                <c:ptCount val="2"/>
                <c:pt idx="0">
                  <c:v>2024</c:v>
                </c:pt>
                <c:pt idx="1">
                  <c:v>2025</c:v>
                </c:pt>
              </c:numCache>
            </c:numRef>
          </c:cat>
          <c:val>
            <c:numRef>
              <c:f>Tabelle1!$C$2:$C$3</c:f>
              <c:numCache>
                <c:formatCode>0.00%</c:formatCode>
                <c:ptCount val="2"/>
                <c:pt idx="0">
                  <c:v>4.8500000000000001E-2</c:v>
                </c:pt>
                <c:pt idx="1">
                  <c:v>0.1148</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9.4822364711042416E-4"/>
          <c:y val="0.10514786418400876"/>
        </c:manualLayout>
      </c:layout>
      <c:overlay val="0"/>
      <c:spPr>
        <a:noFill/>
        <a:ln>
          <a:noFill/>
        </a:ln>
        <a:effectLst/>
      </c:spPr>
      <c:txPr>
        <a:bodyPr rot="0" spcFirstLastPara="1" vertOverflow="ellipsis" vert="horz" wrap="square" anchor="ctr" anchorCtr="1"/>
        <a:lstStyle/>
        <a:p>
          <a:pPr algn="l">
            <a:defRPr sz="600" b="0" i="0" u="none" strike="noStrike" kern="1200" spc="0" baseline="0">
              <a:solidFill>
                <a:schemeClr val="bg2"/>
              </a:solidFill>
              <a:latin typeface="+mn-lt"/>
              <a:ea typeface="+mn-ea"/>
              <a:cs typeface="+mn-cs"/>
            </a:defRPr>
          </a:pPr>
          <a:endParaRPr lang="de-DE"/>
        </a:p>
      </c:txPr>
    </c:title>
    <c:autoTitleDeleted val="0"/>
    <c:plotArea>
      <c:layout>
        <c:manualLayout>
          <c:layoutTarget val="inner"/>
          <c:xMode val="edge"/>
          <c:yMode val="edge"/>
          <c:x val="0"/>
          <c:y val="0.10591473984700434"/>
          <c:w val="1"/>
          <c:h val="0.79791118662193516"/>
        </c:manualLayout>
      </c:layout>
      <c:barChart>
        <c:barDir val="col"/>
        <c:grouping val="clustered"/>
        <c:varyColors val="0"/>
        <c:ser>
          <c:idx val="0"/>
          <c:order val="0"/>
          <c:tx>
            <c:strRef>
              <c:f>Tabelle1!$B$1</c:f>
              <c:strCache>
                <c:ptCount val="1"/>
                <c:pt idx="0">
                  <c:v>Jährliches Wachstum in Mio. EUR</c:v>
                </c:pt>
              </c:strCache>
            </c:strRef>
          </c:tx>
          <c:spPr>
            <a:solidFill>
              <a:schemeClr val="accent3"/>
            </a:solidFill>
            <a:ln>
              <a:noFill/>
            </a:ln>
            <a:effectLst/>
          </c:spPr>
          <c:invertIfNegative val="0"/>
          <c:dLbls>
            <c:numFmt formatCode="#,##0" sourceLinked="0"/>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Tabelle1!$A$2:$A$13</c:f>
              <c:numCache>
                <c:formatCode>General</c:formatCode>
                <c:ptCount val="12"/>
                <c:pt idx="0">
                  <c:v>2013</c:v>
                </c:pt>
                <c:pt idx="1">
                  <c:v>2014</c:v>
                </c:pt>
                <c:pt idx="2">
                  <c:v>2015</c:v>
                </c:pt>
                <c:pt idx="3">
                  <c:v>2016</c:v>
                </c:pt>
                <c:pt idx="4">
                  <c:v>2017</c:v>
                </c:pt>
                <c:pt idx="5">
                  <c:v>2018</c:v>
                </c:pt>
                <c:pt idx="6">
                  <c:v>2019</c:v>
                </c:pt>
                <c:pt idx="7">
                  <c:v>2020</c:v>
                </c:pt>
                <c:pt idx="8">
                  <c:v>2021</c:v>
                </c:pt>
                <c:pt idx="9">
                  <c:v>2022</c:v>
                </c:pt>
                <c:pt idx="10">
                  <c:v>2023</c:v>
                </c:pt>
                <c:pt idx="11">
                  <c:v>2024</c:v>
                </c:pt>
              </c:numCache>
            </c:numRef>
          </c:cat>
          <c:val>
            <c:numRef>
              <c:f>Tabelle1!$B$2:$B$13</c:f>
              <c:numCache>
                <c:formatCode>General</c:formatCode>
                <c:ptCount val="12"/>
                <c:pt idx="0">
                  <c:v>3318</c:v>
                </c:pt>
                <c:pt idx="1">
                  <c:v>3677</c:v>
                </c:pt>
                <c:pt idx="2">
                  <c:v>3942</c:v>
                </c:pt>
                <c:pt idx="3">
                  <c:v>4266</c:v>
                </c:pt>
                <c:pt idx="4">
                  <c:v>4692</c:v>
                </c:pt>
                <c:pt idx="5">
                  <c:v>4444</c:v>
                </c:pt>
                <c:pt idx="6">
                  <c:v>4963</c:v>
                </c:pt>
                <c:pt idx="7">
                  <c:v>5246</c:v>
                </c:pt>
                <c:pt idx="8">
                  <c:v>6626</c:v>
                </c:pt>
                <c:pt idx="9">
                  <c:v>5789</c:v>
                </c:pt>
                <c:pt idx="10">
                  <c:v>6204</c:v>
                </c:pt>
                <c:pt idx="11">
                  <c:v>6780</c:v>
                </c:pt>
              </c:numCache>
            </c:numRef>
          </c:val>
          <c:extLst>
            <c:ext xmlns:c16="http://schemas.microsoft.com/office/drawing/2014/chart" uri="{C3380CC4-5D6E-409C-BE32-E72D297353CC}">
              <c16:uniqueId val="{00000000-FCED-41A9-920E-B9B1600F4171}"/>
            </c:ext>
          </c:extLst>
        </c:ser>
        <c:dLbls>
          <c:dLblPos val="outEnd"/>
          <c:showLegendKey val="0"/>
          <c:showVal val="1"/>
          <c:showCatName val="0"/>
          <c:showSerName val="0"/>
          <c:showPercent val="0"/>
          <c:showBubbleSize val="0"/>
        </c:dLbls>
        <c:gapWidth val="219"/>
        <c:overlap val="-27"/>
        <c:axId val="1339092176"/>
        <c:axId val="1561065551"/>
      </c:barChart>
      <c:catAx>
        <c:axId val="1339092176"/>
        <c:scaling>
          <c:orientation val="minMax"/>
        </c:scaling>
        <c:delete val="0"/>
        <c:axPos val="b"/>
        <c:numFmt formatCode="General" sourceLinked="1"/>
        <c:majorTickMark val="none"/>
        <c:minorTickMark val="none"/>
        <c:tickLblPos val="nextTo"/>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561065551"/>
        <c:crosses val="autoZero"/>
        <c:auto val="1"/>
        <c:lblAlgn val="ctr"/>
        <c:lblOffset val="100"/>
        <c:noMultiLvlLbl val="0"/>
      </c:catAx>
      <c:valAx>
        <c:axId val="1561065551"/>
        <c:scaling>
          <c:orientation val="minMax"/>
        </c:scaling>
        <c:delete val="1"/>
        <c:axPos val="l"/>
        <c:majorGridlines>
          <c:spPr>
            <a:ln w="3175" cap="flat" cmpd="sng" algn="ctr">
              <a:solidFill>
                <a:schemeClr val="bg1">
                  <a:lumMod val="65000"/>
                </a:schemeClr>
              </a:solidFill>
              <a:round/>
            </a:ln>
            <a:effectLst/>
          </c:spPr>
        </c:majorGridlines>
        <c:numFmt formatCode="General" sourceLinked="1"/>
        <c:majorTickMark val="out"/>
        <c:minorTickMark val="none"/>
        <c:tickLblPos val="nextTo"/>
        <c:crossAx val="1339092176"/>
        <c:crosses val="autoZero"/>
        <c:crossBetween val="between"/>
        <c:majorUnit val="5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0.42396</cdr:x>
      <cdr:y>0.92383</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24784" y="2619668"/>
          <a:ext cx="1800000"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20.07.2026</a:t>
          </a:fld>
          <a:endParaRPr lang="de-DE" sz="600" b="0">
            <a:solidFill>
              <a:schemeClr val="bg1">
                <a:lumMod val="50000"/>
              </a:schemeClr>
            </a:solidFill>
          </a:endParaRPr>
        </a:p>
      </cdr:txBody>
    </cdr:sp>
  </cdr:relSizeAnchor>
  <cdr:relSizeAnchor xmlns:cdr="http://schemas.openxmlformats.org/drawingml/2006/chartDrawing">
    <cdr:from>
      <cdr:x>0</cdr:x>
      <cdr:y>0.00534</cdr:y>
    </cdr:from>
    <cdr:to>
      <cdr:x>0.99737</cdr:x>
      <cdr:y>0.07503</cdr:y>
    </cdr:to>
    <cdr:sp macro="" textlink="">
      <cdr:nvSpPr>
        <cdr:cNvPr id="4" name="Rechteck 3">
          <a:extLst xmlns:a="http://schemas.openxmlformats.org/drawingml/2006/main">
            <a:ext uri="{FF2B5EF4-FFF2-40B4-BE49-F238E27FC236}">
              <a16:creationId xmlns:a16="http://schemas.microsoft.com/office/drawing/2014/main" id="{CA353F3C-C16C-48DD-C632-28129586271A}"/>
            </a:ext>
          </a:extLst>
        </cdr:cNvPr>
        <cdr:cNvSpPr/>
      </cdr:nvSpPr>
      <cdr:spPr>
        <a:xfrm xmlns:a="http://schemas.openxmlformats.org/drawingml/2006/main">
          <a:off x="0" y="16555"/>
          <a:ext cx="3955285"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nchorCtr="0"/>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de-DE" sz="1000" b="1"/>
            <a:t>AKTUELLE STRUKTUR</a:t>
          </a:r>
        </a:p>
      </cdr:txBody>
    </cdr:sp>
  </cdr:relSizeAnchor>
</c:userShapes>
</file>

<file path=ppt/drawings/drawing2.xml><?xml version="1.0" encoding="utf-8"?>
<c:userShapes xmlns:c="http://schemas.openxmlformats.org/drawingml/2006/chart">
  <cdr:relSizeAnchor xmlns:cdr="http://schemas.openxmlformats.org/drawingml/2006/chartDrawing">
    <cdr:from>
      <cdr:x>0.00175</cdr:x>
      <cdr:y>0</cdr:y>
    </cdr:from>
    <cdr:to>
      <cdr:x>0.99912</cdr:x>
      <cdr:y>0.06971</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6940" y="0"/>
          <a:ext cx="3955500"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AKTUELLE STRUKTUR</a:t>
          </a:r>
        </a:p>
      </cdr:txBody>
    </cdr:sp>
  </cdr:relSizeAnchor>
  <cdr:relSizeAnchor xmlns:cdr="http://schemas.openxmlformats.org/drawingml/2006/chartDrawing">
    <cdr:from>
      <cdr:x>0.42302</cdr:x>
      <cdr:y>0.9239</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19704" y="2622208"/>
          <a:ext cx="1800000"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20.07.2026</a:t>
          </a:fld>
          <a:endParaRPr lang="de-DE" sz="600" b="0">
            <a:solidFill>
              <a:schemeClr val="bg1">
                <a:lumMod val="50000"/>
              </a:schemeClr>
            </a:solidFill>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0.00175</cdr:x>
      <cdr:y>0</cdr:y>
    </cdr:from>
    <cdr:to>
      <cdr:x>0.99912</cdr:x>
      <cdr:y>0.06971</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6940" y="0"/>
          <a:ext cx="3955500"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AKTUELLE STRUKTUR</a:t>
          </a:r>
        </a:p>
      </cdr:txBody>
    </cdr:sp>
  </cdr:relSizeAnchor>
  <cdr:relSizeAnchor xmlns:cdr="http://schemas.openxmlformats.org/drawingml/2006/chartDrawing">
    <cdr:from>
      <cdr:x>0.42064</cdr:x>
      <cdr:y>0.9239</cdr:y>
    </cdr:from>
    <cdr:to>
      <cdr:x>0.99737</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12284" y="2629645"/>
          <a:ext cx="1799216"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20.07.2026</a:t>
          </a:fld>
          <a:endParaRPr lang="de-DE" sz="600" b="0">
            <a:solidFill>
              <a:schemeClr val="bg1">
                <a:lumMod val="50000"/>
              </a:schemeClr>
            </a:solidFill>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cdr:x>
      <cdr:y>0</cdr:y>
    </cdr:from>
    <cdr:to>
      <cdr:x>1</cdr:x>
      <cdr:y>0.07884</cdr:y>
    </cdr:to>
    <cdr:sp macro="" textlink="">
      <cdr:nvSpPr>
        <cdr:cNvPr id="2" name="Textfeld 1">
          <a:extLst xmlns:a="http://schemas.openxmlformats.org/drawingml/2006/main">
            <a:ext uri="{FF2B5EF4-FFF2-40B4-BE49-F238E27FC236}">
              <a16:creationId xmlns:a16="http://schemas.microsoft.com/office/drawing/2014/main" id="{5124338B-8963-446A-4106-0A96A0A882CC}"/>
            </a:ext>
          </a:extLst>
        </cdr:cNvPr>
        <cdr:cNvSpPr txBox="1"/>
      </cdr:nvSpPr>
      <cdr:spPr>
        <a:xfrm xmlns:a="http://schemas.openxmlformats.org/drawingml/2006/main">
          <a:off x="0" y="0"/>
          <a:ext cx="4787900" cy="228536"/>
        </a:xfrm>
        <a:prstGeom xmlns:a="http://schemas.openxmlformats.org/drawingml/2006/main" prst="rect">
          <a:avLst/>
        </a:prstGeom>
        <a:solidFill xmlns:a="http://schemas.openxmlformats.org/drawingml/2006/main">
          <a:schemeClr val="accent1"/>
        </a:solidFill>
        <a:ln xmlns:a="http://schemas.openxmlformats.org/drawingml/2006/main">
          <a:noFill/>
        </a:ln>
      </cdr:spPr>
      <cdr:txBody>
        <a:bodyPr xmlns:a="http://schemas.openxmlformats.org/drawingml/2006/main" vertOverflow="clip" wrap="square" lIns="0" tIns="0" rIns="0" bIns="0" rtlCol="0" anchor="ctr" anchorCtr="1"/>
        <a:lstStyle xmlns:a="http://schemas.openxmlformats.org/drawingml/2006/main"/>
        <a:p xmlns:a="http://schemas.openxmlformats.org/drawingml/2006/main">
          <a:r>
            <a:rPr lang="de-DE" sz="900" b="1" cap="all" baseline="0" dirty="0">
              <a:solidFill>
                <a:schemeClr val="bg1"/>
              </a:solidFill>
            </a:rPr>
            <a:t>ASSETS UNDER CONTROL DEZEMBER 2024 (OHNE INSTITUTIONELLES GESCHÄFT)</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87CD71-7110-4B19-8EA5-90FE5CA1B0D6}" type="datetimeFigureOut">
              <a:rPr lang="de-DE" smtClean="0"/>
              <a:t>20.07.2026</a:t>
            </a:fld>
            <a:endParaRPr lang="de-DE"/>
          </a:p>
        </p:txBody>
      </p:sp>
      <p:sp>
        <p:nvSpPr>
          <p:cNvPr id="4" name="Folienbildplatzhalter 3"/>
          <p:cNvSpPr>
            <a:spLocks noGrp="1" noRot="1" noChangeAspect="1"/>
          </p:cNvSpPr>
          <p:nvPr>
            <p:ph type="sldImg" idx="2"/>
          </p:nvPr>
        </p:nvSpPr>
        <p:spPr>
          <a:xfrm>
            <a:off x="1009650" y="1143000"/>
            <a:ext cx="48387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190148-D400-40F3-B43F-3D48F1E65470}" type="slidenum">
              <a:rPr lang="de-DE" smtClean="0"/>
              <a:t>‹Nr.›</a:t>
            </a:fld>
            <a:endParaRPr lang="de-DE"/>
          </a:p>
        </p:txBody>
      </p:sp>
    </p:spTree>
    <p:extLst>
      <p:ext uri="{BB962C8B-B14F-4D97-AF65-F5344CB8AC3E}">
        <p14:creationId xmlns:p14="http://schemas.microsoft.com/office/powerpoint/2010/main" val="2529310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Logo">
            <a:extLst>
              <a:ext uri="{FF2B5EF4-FFF2-40B4-BE49-F238E27FC236}">
                <a16:creationId xmlns:a16="http://schemas.microsoft.com/office/drawing/2014/main" id="{AD26BE29-3DD0-DD2F-4205-A4E8DAEB2E21}"/>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1882"/>
            <a:ext cx="82867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lvl1pPr marL="0" indent="0" algn="l">
              <a:buNone/>
              <a:defRPr sz="1400" b="0" cap="all" baseline="0">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1400"/>
            <a:ext cx="6626225" cy="931775"/>
          </a:xfrm>
        </p:spPr>
        <p:txBody>
          <a:bodyPr tIns="0" anchor="t" anchorCtr="0"/>
          <a:lstStyle>
            <a:lvl1pPr algn="l">
              <a:lnSpc>
                <a:spcPts val="3450"/>
              </a:lnSpc>
              <a:defRPr sz="2770"/>
            </a:lvl1pPr>
          </a:lstStyle>
          <a:p>
            <a:r>
              <a:rPr lang="de-DE" dirty="0"/>
              <a:t>Mastertitelformat bearbeiten</a:t>
            </a:r>
          </a:p>
        </p:txBody>
      </p:sp>
    </p:spTree>
    <p:extLst>
      <p:ext uri="{BB962C8B-B14F-4D97-AF65-F5344CB8AC3E}">
        <p14:creationId xmlns:p14="http://schemas.microsoft.com/office/powerpoint/2010/main" val="1802536731"/>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altsverzeichnis">
    <p:bg>
      <p:bgPr>
        <a:solidFill>
          <a:schemeClr val="bg1"/>
        </a:solidFill>
        <a:effectLst/>
      </p:bgPr>
    </p:bg>
    <p:spTree>
      <p:nvGrpSpPr>
        <p:cNvPr id="1" name=""/>
        <p:cNvGrpSpPr/>
        <p:nvPr/>
      </p:nvGrpSpPr>
      <p:grpSpPr>
        <a:xfrm>
          <a:off x="0" y="0"/>
          <a:ext cx="0" cy="0"/>
          <a:chOff x="0" y="0"/>
          <a:chExt cx="0" cy="0"/>
        </a:xfrm>
      </p:grpSpPr>
      <p:pic>
        <p:nvPicPr>
          <p:cNvPr id="8" name="Bild" descr="Ein Bild, das Kunst, Bild, Braun, draußen enthält.&#10;&#10;Automatisch generierte Beschreibung">
            <a:extLst>
              <a:ext uri="{FF2B5EF4-FFF2-40B4-BE49-F238E27FC236}">
                <a16:creationId xmlns:a16="http://schemas.microsoft.com/office/drawing/2014/main" id="{9264BB79-86C2-7714-48D1-D0D8AA044F3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0439400" cy="2882900"/>
          </a:xfrm>
          <a:custGeom>
            <a:avLst/>
            <a:gdLst>
              <a:gd name="connsiteX0" fmla="*/ 0 w 10439400"/>
              <a:gd name="connsiteY0" fmla="*/ 0 h 2882900"/>
              <a:gd name="connsiteX1" fmla="*/ 10439400 w 10439400"/>
              <a:gd name="connsiteY1" fmla="*/ 0 h 2882900"/>
              <a:gd name="connsiteX2" fmla="*/ 10439400 w 10439400"/>
              <a:gd name="connsiteY2" fmla="*/ 2882900 h 2882900"/>
              <a:gd name="connsiteX3" fmla="*/ 10439399 w 10439400"/>
              <a:gd name="connsiteY3" fmla="*/ 2882900 h 2882900"/>
              <a:gd name="connsiteX4" fmla="*/ 10439399 w 10439400"/>
              <a:gd name="connsiteY4" fmla="*/ 1354710 h 2882900"/>
              <a:gd name="connsiteX5" fmla="*/ 1511298 w 10439400"/>
              <a:gd name="connsiteY5" fmla="*/ 1354710 h 2882900"/>
              <a:gd name="connsiteX6" fmla="*/ 1511298 w 10439400"/>
              <a:gd name="connsiteY6" fmla="*/ 2882900 h 2882900"/>
              <a:gd name="connsiteX7" fmla="*/ 0 w 10439400"/>
              <a:gd name="connsiteY7" fmla="*/ 2882900 h 288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39400" h="2882900">
                <a:moveTo>
                  <a:pt x="0" y="0"/>
                </a:moveTo>
                <a:lnTo>
                  <a:pt x="10439400" y="0"/>
                </a:lnTo>
                <a:lnTo>
                  <a:pt x="10439400" y="2882900"/>
                </a:lnTo>
                <a:lnTo>
                  <a:pt x="10439399" y="2882900"/>
                </a:lnTo>
                <a:lnTo>
                  <a:pt x="10439399" y="1354710"/>
                </a:lnTo>
                <a:lnTo>
                  <a:pt x="1511298" y="1354710"/>
                </a:lnTo>
                <a:lnTo>
                  <a:pt x="1511298" y="2882900"/>
                </a:lnTo>
                <a:lnTo>
                  <a:pt x="0" y="2882900"/>
                </a:lnTo>
                <a:close/>
              </a:path>
            </a:pathLst>
          </a:cu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2147233"/>
            <a:ext cx="7272338" cy="3685241"/>
          </a:xfrm>
        </p:spPr>
        <p:txBody>
          <a:bodyPr/>
          <a:lstStyle>
            <a:lvl1pPr>
              <a:spcBef>
                <a:spcPts val="0"/>
              </a:spcBef>
              <a:spcAft>
                <a:spcPts val="900"/>
              </a:spcAft>
              <a:tabLst>
                <a:tab pos="7264400" algn="r"/>
              </a:tabLst>
              <a:defRPr sz="13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2016000" y="1620000"/>
            <a:ext cx="7272337" cy="360000"/>
          </a:xfrm>
        </p:spPr>
        <p:txBody>
          <a:bodyPr/>
          <a:lstStyle/>
          <a:p>
            <a:r>
              <a:rPr lang="de-DE" dirty="0"/>
              <a:t>Mastertitelformat bearbeiten</a:t>
            </a:r>
          </a:p>
        </p:txBody>
      </p:sp>
    </p:spTree>
    <p:extLst>
      <p:ext uri="{BB962C8B-B14F-4D97-AF65-F5344CB8AC3E}">
        <p14:creationId xmlns:p14="http://schemas.microsoft.com/office/powerpoint/2010/main" val="3623430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ild links Inhalt 1">
    <p:bg>
      <p:bgPr>
        <a:solidFill>
          <a:schemeClr val="bg1"/>
        </a:solidFill>
        <a:effectLst/>
      </p:bgPr>
    </p:bg>
    <p:spTree>
      <p:nvGrpSpPr>
        <p:cNvPr id="1" name=""/>
        <p:cNvGrpSpPr/>
        <p:nvPr/>
      </p:nvGrpSpPr>
      <p:grpSpPr>
        <a:xfrm>
          <a:off x="0" y="0"/>
          <a:ext cx="0" cy="0"/>
          <a:chOff x="0" y="0"/>
          <a:chExt cx="0" cy="0"/>
        </a:xfrm>
      </p:grpSpPr>
      <p:pic>
        <p:nvPicPr>
          <p:cNvPr id="5" name="Grafik 4" descr="Ein Bild, das Kleidung, Person, Schuhwerk, Mann enthält.&#10;&#10;Automatisch generierte Beschreibung">
            <a:extLst>
              <a:ext uri="{FF2B5EF4-FFF2-40B4-BE49-F238E27FC236}">
                <a16:creationId xmlns:a16="http://schemas.microsoft.com/office/drawing/2014/main" id="{A6D42F99-B026-35AD-FBC7-BE938A526564}"/>
              </a:ext>
            </a:extLst>
          </p:cNvPr>
          <p:cNvPicPr>
            <a:picLocks noChangeAspect="1"/>
          </p:cNvPicPr>
          <p:nvPr userDrawn="1"/>
        </p:nvPicPr>
        <p:blipFill>
          <a:blip r:embed="rId2">
            <a:extLst>
              <a:ext uri="{28A0092B-C50C-407E-A947-70E740481C1C}">
                <a14:useLocalDpi xmlns:a14="http://schemas.microsoft.com/office/drawing/2010/main" val="0"/>
              </a:ext>
            </a:extLst>
          </a:blip>
          <a:srcRect r="7411"/>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4462 h 6659563"/>
              <a:gd name="connsiteX3" fmla="*/ 4498975 w 5631108"/>
              <a:gd name="connsiteY3" fmla="*/ 584462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4462"/>
                </a:lnTo>
                <a:lnTo>
                  <a:pt x="4498975" y="584462"/>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88992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1">
    <p:bg>
      <p:bgPr>
        <a:solidFill>
          <a:schemeClr val="bg1"/>
        </a:solidFill>
        <a:effectLst/>
      </p:bgPr>
    </p:bg>
    <p:spTree>
      <p:nvGrpSpPr>
        <p:cNvPr id="1" name=""/>
        <p:cNvGrpSpPr/>
        <p:nvPr/>
      </p:nvGrpSpPr>
      <p:grpSpPr>
        <a:xfrm>
          <a:off x="0" y="0"/>
          <a:ext cx="0" cy="0"/>
          <a:chOff x="0" y="0"/>
          <a:chExt cx="0" cy="0"/>
        </a:xfrm>
      </p:grpSpPr>
      <p:pic>
        <p:nvPicPr>
          <p:cNvPr id="9" name="Bild" descr="Ein Bild, das hölzern, Metall, Hartholz, Holz enthält.&#10;&#10;Automatisch generierte Beschreibung">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4808292" y="0"/>
            <a:ext cx="5631108"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495396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ild links Inhalt 2">
    <p:bg>
      <p:bgPr>
        <a:solidFill>
          <a:schemeClr val="bg1"/>
        </a:solidFill>
        <a:effectLst/>
      </p:bgPr>
    </p:bg>
    <p:spTree>
      <p:nvGrpSpPr>
        <p:cNvPr id="1" name=""/>
        <p:cNvGrpSpPr/>
        <p:nvPr/>
      </p:nvGrpSpPr>
      <p:grpSpPr>
        <a:xfrm>
          <a:off x="0" y="0"/>
          <a:ext cx="0" cy="0"/>
          <a:chOff x="0" y="0"/>
          <a:chExt cx="0" cy="0"/>
        </a:xfrm>
      </p:grpSpPr>
      <p:pic>
        <p:nvPicPr>
          <p:cNvPr id="8" name="Bild" descr="Ein Bild, das Person, Kleidung, Menschliches Gesicht, Im Haus enthält.&#10;&#10;Automatisch generierte Beschreibung">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4224448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2">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54622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ild links Inhalt 3">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5631107"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0404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3">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7"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687416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ild links Inhalt 4">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Linie unten">
            <a:extLst>
              <a:ext uri="{FF2B5EF4-FFF2-40B4-BE49-F238E27FC236}">
                <a16:creationId xmlns:a16="http://schemas.microsoft.com/office/drawing/2014/main" id="{551D5771-5F33-1B94-F572-1D3F5C78F789}"/>
              </a:ext>
            </a:extLst>
          </p:cNvPr>
          <p:cNvCxnSpPr>
            <a:cxnSpLocks noGrp="1" noRot="1" noMove="1" noResize="1" noEditPoints="1" noAdjustHandles="1" noChangeArrowheads="1" noChangeShapeType="1"/>
          </p:cNvCxnSpPr>
          <p:nvPr userDrawn="1"/>
        </p:nvCxnSpPr>
        <p:spPr>
          <a:xfrm>
            <a:off x="5327650" y="4289818"/>
            <a:ext cx="478789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2">
            <a:extLst>
              <a:ext uri="{FF2B5EF4-FFF2-40B4-BE49-F238E27FC236}">
                <a16:creationId xmlns:a16="http://schemas.microsoft.com/office/drawing/2014/main" id="{2334F1FD-34A0-6C6F-61E6-A156D657FC55}"/>
              </a:ext>
            </a:extLst>
          </p:cNvPr>
          <p:cNvSpPr>
            <a:spLocks noGrp="1" noRot="1" noMove="1" noResize="1" noEditPoints="1" noAdjustHandles="1" noChangeArrowheads="1" noChangeShapeType="1"/>
          </p:cNvSpPr>
          <p:nvPr>
            <p:ph sz="quarter" idx="13"/>
          </p:nvPr>
        </p:nvSpPr>
        <p:spPr>
          <a:xfrm>
            <a:off x="5327650" y="4759325"/>
            <a:ext cx="4787900" cy="1304925"/>
          </a:xfrm>
        </p:spPr>
        <p:txBody>
          <a:bodyPr/>
          <a:lstStyle>
            <a:lvl2pPr>
              <a:tabLst>
                <a:tab pos="1798638" algn="l"/>
              </a:tabLs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9"/>
            <a:ext cx="4787900" cy="2878180"/>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42874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 links Inhalt 5">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676400"/>
            <a:ext cx="3960813" cy="4156076"/>
          </a:xfrm>
        </p:spPr>
        <p:txBody>
          <a:bodyPr/>
          <a:lstStyle>
            <a:lvl1pPr>
              <a:spcBef>
                <a:spcPts val="16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583680"/>
          </a:xfrm>
        </p:spPr>
        <p:txBody>
          <a:bodyPr/>
          <a:lstStyle/>
          <a:p>
            <a:r>
              <a:rPr lang="de-DE" dirty="0"/>
              <a:t>Mastertitelformat bearbeiten</a:t>
            </a:r>
          </a:p>
        </p:txBody>
      </p:sp>
    </p:spTree>
    <p:extLst>
      <p:ext uri="{BB962C8B-B14F-4D97-AF65-F5344CB8AC3E}">
        <p14:creationId xmlns:p14="http://schemas.microsoft.com/office/powerpoint/2010/main" val="3892848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5">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6"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b="0">
                <a:solidFill>
                  <a:schemeClr val="tx1"/>
                </a:solidFill>
                <a:latin typeface="+mn-lt"/>
              </a:defRPr>
            </a:lvl1pPr>
            <a:lvl2pPr>
              <a:lnSpc>
                <a:spcPts val="1900"/>
              </a:lnSpc>
              <a:spcBef>
                <a:spcPts val="1800"/>
              </a:spcBef>
              <a:defRPr sz="1500" b="1">
                <a:solidFill>
                  <a:schemeClr val="accent3"/>
                </a:solidFill>
                <a:latin typeface="+mj-l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772826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1 Inhalt">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9756775"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358364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2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6443662"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lvl3pPr marL="108000" indent="-108000">
              <a:buFontTx/>
              <a:buBlip>
                <a:blip r:embed="rId2"/>
              </a:buBlip>
              <a:defRPr/>
            </a:lvl3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903287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3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 3">
            <a:extLst>
              <a:ext uri="{FF2B5EF4-FFF2-40B4-BE49-F238E27FC236}">
                <a16:creationId xmlns:a16="http://schemas.microsoft.com/office/drawing/2014/main" id="{9506A371-2FE5-4393-8549-089825558FB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440000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inks Inhalt">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1" name="Linie unten">
            <a:extLst>
              <a:ext uri="{FF2B5EF4-FFF2-40B4-BE49-F238E27FC236}">
                <a16:creationId xmlns:a16="http://schemas.microsoft.com/office/drawing/2014/main" id="{B5CA13E5-1FAD-76FC-E7DE-8A3F9AF9CBBD}"/>
              </a:ext>
            </a:extLst>
          </p:cNvPr>
          <p:cNvCxnSpPr>
            <a:cxnSpLocks noGrp="1" noRot="1" noMove="1" noResize="1" noEditPoints="1" noAdjustHandles="1" noChangeArrowheads="1" noChangeShapeType="1"/>
          </p:cNvCxnSpPr>
          <p:nvPr userDrawn="1"/>
        </p:nvCxnSpPr>
        <p:spPr>
          <a:xfrm>
            <a:off x="3671888" y="4706378"/>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Linie oben">
            <a:extLst>
              <a:ext uri="{FF2B5EF4-FFF2-40B4-BE49-F238E27FC236}">
                <a16:creationId xmlns:a16="http://schemas.microsoft.com/office/drawing/2014/main" id="{2491C51B-9AD5-C5E7-D799-FB1EF1A23302}"/>
              </a:ext>
            </a:extLst>
          </p:cNvPr>
          <p:cNvCxnSpPr>
            <a:cxnSpLocks noGrp="1" noRot="1" noMove="1" noResize="1" noEditPoints="1" noAdjustHandles="1" noChangeArrowheads="1" noChangeShapeType="1"/>
          </p:cNvCxnSpPr>
          <p:nvPr userDrawn="1"/>
        </p:nvCxnSpPr>
        <p:spPr>
          <a:xfrm>
            <a:off x="3671888" y="1041400"/>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671888" y="1041401"/>
            <a:ext cx="6443661" cy="3656012"/>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
            <a:extLst>
              <a:ext uri="{FF2B5EF4-FFF2-40B4-BE49-F238E27FC236}">
                <a16:creationId xmlns:a16="http://schemas.microsoft.com/office/drawing/2014/main" id="{860E9E8B-F7A7-A548-BBFA-F5137E763ED8}"/>
              </a:ext>
            </a:extLst>
          </p:cNvPr>
          <p:cNvSpPr>
            <a:spLocks noGrp="1" noRot="1" noMove="1" noResize="1" noEditPoints="1" noAdjustHandles="1" noChangeArrowheads="1" noChangeShapeType="1"/>
          </p:cNvSpPr>
          <p:nvPr>
            <p:ph type="body" sz="quarter" idx="13"/>
          </p:nvPr>
        </p:nvSpPr>
        <p:spPr>
          <a:xfrm>
            <a:off x="358775" y="1041400"/>
            <a:ext cx="3132138" cy="3656013"/>
          </a:xfrm>
        </p:spPr>
        <p:txBody>
          <a:bodyPr/>
          <a:lstStyle>
            <a:lvl1pPr marL="144000" indent="-144000">
              <a:buFontTx/>
              <a:buBlip>
                <a:blip r:embed="rId2"/>
              </a:buBlip>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874320146"/>
      </p:ext>
    </p:extLst>
  </p:cSld>
  <p:clrMapOvr>
    <a:masterClrMapping/>
  </p:clrMapOvr>
  <p:extLst>
    <p:ext uri="{DCECCB84-F9BA-43D5-87BE-67443E8EF086}">
      <p15:sldGuideLst xmlns:p15="http://schemas.microsoft.com/office/powerpoint/2012/main">
        <p15:guide id="1" orient="horz" pos="2959"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nlagestrategie">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4504801" y="5832475"/>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832475"/>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abelle">
            <a:extLst>
              <a:ext uri="{FF2B5EF4-FFF2-40B4-BE49-F238E27FC236}">
                <a16:creationId xmlns:a16="http://schemas.microsoft.com/office/drawing/2014/main" id="{9E812005-7793-D92F-6E15-643D1E827060}"/>
              </a:ext>
            </a:extLst>
          </p:cNvPr>
          <p:cNvSpPr>
            <a:spLocks noGrp="1" noRot="1" noMove="1" noResize="1" noEditPoints="1" noAdjustHandles="1" noChangeArrowheads="1" noChangeShapeType="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9112825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nlagestrategie Wertentwicklung">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04801" y="3857371"/>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4989784"/>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Fußnote">
            <a:extLst>
              <a:ext uri="{FF2B5EF4-FFF2-40B4-BE49-F238E27FC236}">
                <a16:creationId xmlns:a16="http://schemas.microsoft.com/office/drawing/2014/main" id="{ACF591ED-F264-96FA-8DD9-A565806966B6}"/>
              </a:ext>
            </a:extLst>
          </p:cNvPr>
          <p:cNvSpPr>
            <a:spLocks noGrp="1"/>
          </p:cNvSpPr>
          <p:nvPr>
            <p:ph type="body" sz="quarter" idx="16"/>
          </p:nvPr>
        </p:nvSpPr>
        <p:spPr>
          <a:xfrm>
            <a:off x="4498975" y="4016375"/>
            <a:ext cx="5616575" cy="1816100"/>
          </a:xfrm>
        </p:spPr>
        <p:txBody>
          <a:bodyPr/>
          <a:lstStyle>
            <a:lvl1pPr>
              <a:lnSpc>
                <a:spcPct val="100000"/>
              </a:lnSpc>
              <a:spcBef>
                <a:spcPts val="0"/>
              </a:spcBef>
              <a:spcAft>
                <a:spcPts val="0"/>
              </a:spcAft>
              <a:defRPr sz="600" b="0">
                <a:solidFill>
                  <a:schemeClr val="tx1"/>
                </a:solidFill>
                <a:latin typeface="+mn-lt"/>
              </a:defRPr>
            </a:lvl1pPr>
          </a:lstStyle>
          <a:p>
            <a:pPr lvl="0"/>
            <a:r>
              <a:rPr lang="de-DE" dirty="0"/>
              <a:t>Mastertextformat bearbeiten</a:t>
            </a:r>
          </a:p>
        </p:txBody>
      </p:sp>
      <p:sp>
        <p:nvSpPr>
          <p:cNvPr id="10" name="Diagramm rechts">
            <a:extLst>
              <a:ext uri="{FF2B5EF4-FFF2-40B4-BE49-F238E27FC236}">
                <a16:creationId xmlns:a16="http://schemas.microsoft.com/office/drawing/2014/main" id="{3A021442-F816-3F0A-E1A7-279CBD5A07BC}"/>
              </a:ext>
            </a:extLst>
          </p:cNvPr>
          <p:cNvSpPr>
            <a:spLocks noGrp="1"/>
          </p:cNvSpPr>
          <p:nvPr>
            <p:ph type="chart" sz="quarter" idx="15"/>
          </p:nvPr>
        </p:nvSpPr>
        <p:spPr>
          <a:xfrm>
            <a:off x="4505325" y="1041400"/>
            <a:ext cx="5584825" cy="2813050"/>
          </a:xfrm>
        </p:spPr>
        <p:txBody>
          <a:bodyPr/>
          <a:lstStyle/>
          <a:p>
            <a:endParaRPr lang="de-DE"/>
          </a:p>
        </p:txBody>
      </p:sp>
      <p:sp>
        <p:nvSpPr>
          <p:cNvPr id="4" name="Diagramm links">
            <a:extLst>
              <a:ext uri="{FF2B5EF4-FFF2-40B4-BE49-F238E27FC236}">
                <a16:creationId xmlns:a16="http://schemas.microsoft.com/office/drawing/2014/main" id="{C7B8DD6E-6ABD-EE02-4560-317478A589CC}"/>
              </a:ext>
            </a:extLst>
          </p:cNvPr>
          <p:cNvSpPr>
            <a:spLocks noGrp="1"/>
          </p:cNvSpPr>
          <p:nvPr>
            <p:ph type="chart" sz="quarter" idx="14"/>
          </p:nvPr>
        </p:nvSpPr>
        <p:spPr>
          <a:xfrm>
            <a:off x="349250" y="2679700"/>
            <a:ext cx="3959225" cy="2286000"/>
          </a:xfrm>
        </p:spPr>
        <p:txBody>
          <a:bodyPr/>
          <a:lstStyle/>
          <a:p>
            <a:endParaRPr lang="de-DE"/>
          </a:p>
        </p:txBody>
      </p:sp>
      <p:sp>
        <p:nvSpPr>
          <p:cNvPr id="8" name="Tabelle">
            <a:extLst>
              <a:ext uri="{FF2B5EF4-FFF2-40B4-BE49-F238E27FC236}">
                <a16:creationId xmlns:a16="http://schemas.microsoft.com/office/drawing/2014/main" id="{9E812005-7793-D92F-6E15-643D1E827060}"/>
              </a:ext>
            </a:extLst>
          </p:cNvPr>
          <p:cNvSpPr>
            <a:spLocks noGrp="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2837470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nlagrstrategie schmal">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260C15E9-224A-AC2C-0CDE-881556E09104}"/>
              </a:ext>
            </a:extLst>
          </p:cNvPr>
          <p:cNvSpPr>
            <a:spLocks noGrp="1"/>
          </p:cNvSpPr>
          <p:nvPr>
            <p:ph idx="1"/>
          </p:nvPr>
        </p:nvSpPr>
        <p:spPr>
          <a:xfrm>
            <a:off x="358775" y="1041401"/>
            <a:ext cx="2305050"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sp>
        <p:nvSpPr>
          <p:cNvPr id="8" name="Tabellenplatzhalter 7">
            <a:extLst>
              <a:ext uri="{FF2B5EF4-FFF2-40B4-BE49-F238E27FC236}">
                <a16:creationId xmlns:a16="http://schemas.microsoft.com/office/drawing/2014/main" id="{9E812005-7793-D92F-6E15-643D1E827060}"/>
              </a:ext>
            </a:extLst>
          </p:cNvPr>
          <p:cNvSpPr>
            <a:spLocks noGrp="1"/>
          </p:cNvSpPr>
          <p:nvPr>
            <p:ph type="tbl" sz="quarter" idx="13"/>
          </p:nvPr>
        </p:nvSpPr>
        <p:spPr>
          <a:xfrm>
            <a:off x="2843212" y="1041400"/>
            <a:ext cx="3132137" cy="1419225"/>
          </a:xfrm>
        </p:spPr>
        <p:txBody>
          <a:bodyPr/>
          <a:lstStyle>
            <a:lvl1pPr>
              <a:defRPr sz="900"/>
            </a:lvl1pPr>
          </a:lstStyle>
          <a:p>
            <a:endParaRPr lang="de-DE" dirty="0"/>
          </a:p>
        </p:txBody>
      </p:sp>
      <p:cxnSp>
        <p:nvCxnSpPr>
          <p:cNvPr id="9" name="Gerader Verbinder 8">
            <a:extLst>
              <a:ext uri="{FF2B5EF4-FFF2-40B4-BE49-F238E27FC236}">
                <a16:creationId xmlns:a16="http://schemas.microsoft.com/office/drawing/2014/main" id="{6389BD36-56F5-8350-55A9-F82383A5CD68}"/>
              </a:ext>
            </a:extLst>
          </p:cNvPr>
          <p:cNvCxnSpPr>
            <a:cxnSpLocks/>
          </p:cNvCxnSpPr>
          <p:nvPr userDrawn="1"/>
        </p:nvCxnSpPr>
        <p:spPr>
          <a:xfrm>
            <a:off x="2843212" y="5832475"/>
            <a:ext cx="3132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24B2DBBF-D7FF-5445-B224-D356DA219899}"/>
              </a:ext>
            </a:extLst>
          </p:cNvPr>
          <p:cNvCxnSpPr>
            <a:cxnSpLocks/>
          </p:cNvCxnSpPr>
          <p:nvPr userDrawn="1"/>
        </p:nvCxnSpPr>
        <p:spPr>
          <a:xfrm>
            <a:off x="6156325" y="5832475"/>
            <a:ext cx="395922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4313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11859439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DD6015A-9BBE-CDE6-A152-9855AC75DFB9}"/>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Tree>
    <p:extLst>
      <p:ext uri="{BB962C8B-B14F-4D97-AF65-F5344CB8AC3E}">
        <p14:creationId xmlns:p14="http://schemas.microsoft.com/office/powerpoint/2010/main" val="41347713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nsprechpartner">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3" name="Linie rechts">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rechts">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9" name="Name rechts">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68839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688398"/>
            <a:ext cx="3132138" cy="225425"/>
          </a:xfrm>
        </p:spPr>
        <p:txBody>
          <a:bodyPr/>
          <a:lstStyle/>
          <a:p>
            <a:pPr lvl="0"/>
            <a:r>
              <a:rPr lang="de-DE" dirty="0"/>
              <a:t>Mastertextformat bearbeiten</a:t>
            </a:r>
          </a:p>
        </p:txBody>
      </p:sp>
      <p:sp>
        <p:nvSpPr>
          <p:cNvPr id="6" name="Bild rechts">
            <a:extLst>
              <a:ext uri="{FF2B5EF4-FFF2-40B4-BE49-F238E27FC236}">
                <a16:creationId xmlns:a16="http://schemas.microsoft.com/office/drawing/2014/main" id="{E021AD21-0793-2C29-9088-4167DE0263DC}"/>
              </a:ext>
            </a:extLst>
          </p:cNvPr>
          <p:cNvSpPr>
            <a:spLocks noGrp="1" noRot="1" noMove="1" noResize="1" noEditPoints="1" noAdjustHandles="1" noChangeArrowheads="1" noChangeShapeType="1"/>
          </p:cNvSpPr>
          <p:nvPr>
            <p:ph type="pic" sz="quarter" idx="14"/>
          </p:nvPr>
        </p:nvSpPr>
        <p:spPr>
          <a:xfrm>
            <a:off x="3671888" y="1646238"/>
            <a:ext cx="3132138" cy="1792287"/>
          </a:xfr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358775" y="1646238"/>
            <a:ext cx="3132138" cy="1792287"/>
          </a:xfrm>
        </p:spPr>
        <p:txBody>
          <a:bodyPr/>
          <a:lstStyle/>
          <a:p>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a:xfrm>
            <a:off x="358775" y="324000"/>
            <a:ext cx="5616575" cy="685800"/>
          </a:xfrm>
        </p:spPr>
        <p:txBody>
          <a:bodyPr/>
          <a:lstStyle/>
          <a:p>
            <a:r>
              <a:rPr lang="de-DE" dirty="0"/>
              <a:t>Mastertitelformat bearbeiten</a:t>
            </a:r>
          </a:p>
        </p:txBody>
      </p:sp>
    </p:spTree>
    <p:extLst>
      <p:ext uri="{BB962C8B-B14F-4D97-AF65-F5344CB8AC3E}">
        <p14:creationId xmlns:p14="http://schemas.microsoft.com/office/powerpoint/2010/main" val="514979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orte">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2" name="Linie rechts">
            <a:extLst>
              <a:ext uri="{FF2B5EF4-FFF2-40B4-BE49-F238E27FC236}">
                <a16:creationId xmlns:a16="http://schemas.microsoft.com/office/drawing/2014/main" id="{9578FC62-C673-CCCF-BE41-330AA9A6E201}"/>
              </a:ext>
            </a:extLst>
          </p:cNvPr>
          <p:cNvCxnSpPr>
            <a:cxnSpLocks noGrp="1" noRot="1" noMove="1" noResize="1" noEditPoints="1" noAdjustHandles="1" noChangeArrowheads="1" noChangeShapeType="1"/>
          </p:cNvCxnSpPr>
          <p:nvPr userDrawn="1"/>
        </p:nvCxnSpPr>
        <p:spPr>
          <a:xfrm>
            <a:off x="6976437"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Linie mitte">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 rechts">
            <a:extLst>
              <a:ext uri="{FF2B5EF4-FFF2-40B4-BE49-F238E27FC236}">
                <a16:creationId xmlns:a16="http://schemas.microsoft.com/office/drawing/2014/main" id="{4888ADCE-7FA3-531D-D5E7-E9A8A00D5834}"/>
              </a:ext>
            </a:extLst>
          </p:cNvPr>
          <p:cNvSpPr>
            <a:spLocks noGrp="1" noRot="1" noMove="1" noResize="1" noEditPoints="1" noAdjustHandles="1" noChangeArrowheads="1" noChangeShapeType="1"/>
          </p:cNvSpPr>
          <p:nvPr>
            <p:ph type="body" sz="quarter" idx="21"/>
          </p:nvPr>
        </p:nvSpPr>
        <p:spPr>
          <a:xfrm>
            <a:off x="6976436"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5" name="Text mitte">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7" name="Name rechts">
            <a:extLst>
              <a:ext uri="{FF2B5EF4-FFF2-40B4-BE49-F238E27FC236}">
                <a16:creationId xmlns:a16="http://schemas.microsoft.com/office/drawing/2014/main" id="{CB48EDFE-72D8-1DDE-9F47-0C88F0D1F64F}"/>
              </a:ext>
            </a:extLst>
          </p:cNvPr>
          <p:cNvSpPr>
            <a:spLocks noGrp="1" noRot="1" noMove="1" noResize="1" noEditPoints="1" noAdjustHandles="1" noChangeArrowheads="1" noChangeShapeType="1"/>
          </p:cNvSpPr>
          <p:nvPr>
            <p:ph type="body" sz="quarter" idx="22"/>
          </p:nvPr>
        </p:nvSpPr>
        <p:spPr>
          <a:xfrm>
            <a:off x="6976436" y="3490278"/>
            <a:ext cx="3132138" cy="225425"/>
          </a:xfrm>
        </p:spPr>
        <p:txBody>
          <a:bodyPr/>
          <a:lstStyle/>
          <a:p>
            <a:pPr lvl="0"/>
            <a:r>
              <a:rPr lang="de-DE" dirty="0"/>
              <a:t>Mastertextformat bearbeiten</a:t>
            </a:r>
          </a:p>
        </p:txBody>
      </p:sp>
      <p:sp>
        <p:nvSpPr>
          <p:cNvPr id="9" name="Name mitte">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49027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490278"/>
            <a:ext cx="3132138" cy="225425"/>
          </a:xfrm>
        </p:spPr>
        <p:txBody>
          <a:bodyPr/>
          <a:lstStyle/>
          <a:p>
            <a:pPr lvl="0"/>
            <a:r>
              <a:rPr lang="de-DE" dirty="0"/>
              <a:t>Mastertextformat bearbeiten</a:t>
            </a:r>
          </a:p>
        </p:txBody>
      </p:sp>
      <p:sp>
        <p:nvSpPr>
          <p:cNvPr id="10" name="Bild rechts">
            <a:extLst>
              <a:ext uri="{FF2B5EF4-FFF2-40B4-BE49-F238E27FC236}">
                <a16:creationId xmlns:a16="http://schemas.microsoft.com/office/drawing/2014/main" id="{4BA8BEE0-583F-4067-18E1-4041C7CBE94E}"/>
              </a:ext>
            </a:extLst>
          </p:cNvPr>
          <p:cNvSpPr>
            <a:spLocks noGrp="1" noRot="1" noMove="1" noResize="1" noEditPoints="1" noAdjustHandles="1" noChangeArrowheads="1" noChangeShapeType="1"/>
          </p:cNvSpPr>
          <p:nvPr>
            <p:ph type="pic" sz="quarter" idx="20"/>
          </p:nvPr>
        </p:nvSpPr>
        <p:spPr>
          <a:xfrm>
            <a:off x="6886505" y="1564477"/>
            <a:ext cx="1656000" cy="1656000"/>
          </a:xfrm>
          <a:prstGeom prst="ellipse">
            <a:avLst/>
          </a:prstGeom>
        </p:spPr>
        <p:txBody>
          <a:bodyPr/>
          <a:lstStyle/>
          <a:p>
            <a:endParaRPr lang="de-DE" dirty="0"/>
          </a:p>
        </p:txBody>
      </p:sp>
      <p:sp>
        <p:nvSpPr>
          <p:cNvPr id="7" name="Bild mitte">
            <a:extLst>
              <a:ext uri="{FF2B5EF4-FFF2-40B4-BE49-F238E27FC236}">
                <a16:creationId xmlns:a16="http://schemas.microsoft.com/office/drawing/2014/main" id="{EEB43F9A-30D9-8B0B-CCD4-657C0E474967}"/>
              </a:ext>
            </a:extLst>
          </p:cNvPr>
          <p:cNvSpPr>
            <a:spLocks noGrp="1" noRot="1" noMove="1" noResize="1" noEditPoints="1" noAdjustHandles="1" noChangeArrowheads="1" noChangeShapeType="1"/>
          </p:cNvSpPr>
          <p:nvPr>
            <p:ph type="pic" sz="quarter" idx="19"/>
          </p:nvPr>
        </p:nvSpPr>
        <p:spPr>
          <a:xfrm>
            <a:off x="3590493" y="1564477"/>
            <a:ext cx="1656000" cy="1656000"/>
          </a:xfrm>
          <a:prstGeom prst="ellipse">
            <a:avLst/>
          </a:prstGeo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294481" y="1564477"/>
            <a:ext cx="1656000" cy="1656000"/>
          </a:xfrm>
          <a:prstGeom prst="ellipse">
            <a:avLst/>
          </a:prstGeom>
        </p:spPr>
        <p:txBody>
          <a:bodyPr/>
          <a:lstStyle/>
          <a:p>
            <a:endParaRPr lang="de-DE"/>
          </a:p>
        </p:txBody>
      </p:sp>
      <p:sp>
        <p:nvSpPr>
          <p:cNvPr id="3" name="Titel">
            <a:extLst>
              <a:ext uri="{FF2B5EF4-FFF2-40B4-BE49-F238E27FC236}">
                <a16:creationId xmlns:a16="http://schemas.microsoft.com/office/drawing/2014/main" id="{EFDA7145-AF61-F28D-FFDF-3C770ED41015}"/>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33030153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End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4133280"/>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4386233"/>
            <a:ext cx="6626225" cy="303222"/>
          </a:xfrm>
        </p:spPr>
        <p:txBody>
          <a:bodyPr/>
          <a:lstStyle>
            <a:lvl1pPr marL="0" indent="0" algn="l">
              <a:buNone/>
              <a:defRPr sz="1400" b="0" cap="all"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3486031"/>
            <a:ext cx="6626225" cy="49814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2759790798"/>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pressum">
    <p:bg>
      <p:bgPr>
        <a:solidFill>
          <a:schemeClr val="bg1"/>
        </a:solidFill>
        <a:effectLst/>
      </p:bgPr>
    </p:bg>
    <p:spTree>
      <p:nvGrpSpPr>
        <p:cNvPr id="1" name=""/>
        <p:cNvGrpSpPr/>
        <p:nvPr/>
      </p:nvGrpSpPr>
      <p:grpSpPr>
        <a:xfrm>
          <a:off x="0" y="0"/>
          <a:ext cx="0" cy="0"/>
          <a:chOff x="0" y="0"/>
          <a:chExt cx="0" cy="0"/>
        </a:xfrm>
      </p:grpSpPr>
      <p:sp>
        <p:nvSpPr>
          <p:cNvPr id="5" name="Datum">
            <a:extLst>
              <a:ext uri="{FF2B5EF4-FFF2-40B4-BE49-F238E27FC236}">
                <a16:creationId xmlns:a16="http://schemas.microsoft.com/office/drawing/2014/main" id="{EDAEF2B9-72B9-AC0D-2D72-82D271794187}"/>
              </a:ext>
            </a:extLst>
          </p:cNvPr>
          <p:cNvSpPr>
            <a:spLocks noGrp="1" noRot="1" noMove="1" noResize="1" noEditPoints="1" noAdjustHandles="1" noChangeArrowheads="1" noChangeShapeType="1"/>
          </p:cNvSpPr>
          <p:nvPr>
            <p:ph type="dt" sz="half" idx="11"/>
          </p:nvPr>
        </p:nvSpPr>
        <p:spPr>
          <a:xfrm>
            <a:off x="6137275" y="5800454"/>
            <a:ext cx="2340000" cy="108000"/>
          </a:xfrm>
          <a:prstGeom prst="rect">
            <a:avLst/>
          </a:prstGeom>
        </p:spPr>
        <p:txBody>
          <a:bodyPr/>
          <a:lstStyle/>
          <a:p>
            <a:r>
              <a:rPr lang="de-DE" dirty="0"/>
              <a:t>Stand. </a:t>
            </a:r>
            <a:fld id="{D2EEA022-D032-4EEB-B3BB-451FF23CBEEB}" type="datetimeFigureOut">
              <a:rPr lang="de-DE" smtClean="0"/>
              <a:pPr/>
              <a:t>20.07.2026</a:t>
            </a:fld>
            <a:endParaRPr lang="de-DE" dirty="0"/>
          </a:p>
        </p:txBody>
      </p:sp>
      <p:sp>
        <p:nvSpPr>
          <p:cNvPr id="7" name="Foliennummer">
            <a:extLst>
              <a:ext uri="{FF2B5EF4-FFF2-40B4-BE49-F238E27FC236}">
                <a16:creationId xmlns:a16="http://schemas.microsoft.com/office/drawing/2014/main" id="{83A09B95-C0A4-D314-1D39-F12826109A3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1041401"/>
            <a:ext cx="8099424" cy="4791074"/>
          </a:xfrm>
        </p:spPr>
        <p:txBody>
          <a:bodyPr numCol="2" spcCol="180000"/>
          <a:lstStyle>
            <a:lvl1pPr>
              <a:spcBef>
                <a:spcPts val="14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579887855"/>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Grußfolie">
    <p:bg>
      <p:bgPr>
        <a:solidFill>
          <a:schemeClr val="accent1"/>
        </a:solidFill>
        <a:effectLst/>
      </p:bgPr>
    </p:bg>
    <p:spTree>
      <p:nvGrpSpPr>
        <p:cNvPr id="1" name=""/>
        <p:cNvGrpSpPr/>
        <p:nvPr/>
      </p:nvGrpSpPr>
      <p:grpSpPr>
        <a:xfrm>
          <a:off x="0" y="0"/>
          <a:ext cx="0" cy="0"/>
          <a:chOff x="0" y="0"/>
          <a:chExt cx="0" cy="0"/>
        </a:xfrm>
      </p:grpSpPr>
      <p:sp>
        <p:nvSpPr>
          <p:cNvPr id="6" name="Datum">
            <a:extLst>
              <a:ext uri="{FF2B5EF4-FFF2-40B4-BE49-F238E27FC236}">
                <a16:creationId xmlns:a16="http://schemas.microsoft.com/office/drawing/2014/main" id="{ECBFCEA1-E801-45A2-8E72-9E393E4A1B67}"/>
              </a:ext>
            </a:extLst>
          </p:cNvPr>
          <p:cNvSpPr>
            <a:spLocks noGrp="1" noRot="1" noMove="1" noResize="1" noEditPoints="1" noAdjustHandles="1" noChangeArrowheads="1" noChangeShapeType="1"/>
          </p:cNvSpPr>
          <p:nvPr>
            <p:ph type="dt" sz="half" idx="10"/>
          </p:nvPr>
        </p:nvSpPr>
        <p:spPr>
          <a:xfrm>
            <a:off x="1006475" y="6223766"/>
            <a:ext cx="2340000" cy="108000"/>
          </a:xfrm>
          <a:prstGeom prst="rect">
            <a:avLst/>
          </a:prstGeom>
        </p:spPr>
        <p:txBody>
          <a:bodyPr/>
          <a:lstStyle>
            <a:lvl1pPr>
              <a:defRPr>
                <a:solidFill>
                  <a:schemeClr val="bg1"/>
                </a:solidFill>
              </a:defRPr>
            </a:lvl1pPr>
          </a:lstStyle>
          <a:p>
            <a:r>
              <a:rPr lang="de-DE"/>
              <a:t>Stand: </a:t>
            </a:r>
            <a:fld id="{D2EEA022-D032-4EEB-B3BB-451FF23CBEEB}" type="datetimeFigureOut">
              <a:rPr lang="de-DE" smtClean="0"/>
              <a:pPr/>
              <a:t>20.07.2026</a:t>
            </a:fld>
            <a:endParaRPr lang="de-DE" dirty="0"/>
          </a:p>
        </p:txBody>
      </p:sp>
      <p:pic>
        <p:nvPicPr>
          <p:cNvPr id="4" name="Logo">
            <a:extLst>
              <a:ext uri="{FF2B5EF4-FFF2-40B4-BE49-F238E27FC236}">
                <a16:creationId xmlns:a16="http://schemas.microsoft.com/office/drawing/2014/main" id="{73B6AEAD-FB17-E7F3-790A-F01A246915FD}"/>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4569"/>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Herausgeber">
            <a:extLst>
              <a:ext uri="{FF2B5EF4-FFF2-40B4-BE49-F238E27FC236}">
                <a16:creationId xmlns:a16="http://schemas.microsoft.com/office/drawing/2014/main" id="{D75E9C45-CFC0-4A11-8779-BF1E36B119AB}"/>
              </a:ext>
            </a:extLst>
          </p:cNvPr>
          <p:cNvSpPr txBox="1">
            <a:spLocks noGrp="1" noRot="1" noMove="1" noResize="1" noEditPoints="1" noAdjustHandles="1" noChangeArrowheads="1" noChangeShapeType="1"/>
          </p:cNvSpPr>
          <p:nvPr userDrawn="1"/>
        </p:nvSpPr>
        <p:spPr>
          <a:xfrm>
            <a:off x="1006475" y="6099437"/>
            <a:ext cx="2484438" cy="124329"/>
          </a:xfrm>
          <a:prstGeom prst="rect">
            <a:avLst/>
          </a:prstGeom>
          <a:noFill/>
        </p:spPr>
        <p:txBody>
          <a:bodyPr wrap="square" lIns="0" tIns="0" rIns="0" bIns="0" rtlCol="0">
            <a:noAutofit/>
          </a:bodyPr>
          <a:lstStyle/>
          <a:p>
            <a:pPr>
              <a:lnSpc>
                <a:spcPts val="900"/>
              </a:lnSpc>
            </a:pPr>
            <a:r>
              <a:rPr lang="de-DE" sz="600" dirty="0">
                <a:solidFill>
                  <a:schemeClr val="bg1"/>
                </a:solidFill>
              </a:rPr>
              <a:t>Herausgeber: Fürst Fugger Privatbank Aktiengesellschaft</a:t>
            </a:r>
          </a:p>
        </p:txBody>
      </p: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7362"/>
            <a:ext cx="6626225" cy="303222"/>
          </a:xfrm>
        </p:spPr>
        <p:txBody>
          <a:bodyPr/>
          <a:lstStyle>
            <a:lvl1pPr marL="0" indent="0" algn="l">
              <a:buNone/>
              <a:defRPr sz="1400" b="0" cap="none"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6481"/>
            <a:ext cx="6626225" cy="85852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1650700648"/>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441D935-D4CE-8629-989D-CCFB95BFBF88}"/>
              </a:ext>
            </a:extLst>
          </p:cNvPr>
          <p:cNvSpPr>
            <a:spLocks noGrp="1" noRot="1" noMove="1" noResize="1" noEditPoints="1" noAdjustHandles="1" noChangeArrowheads="1" noChangeShapeType="1"/>
          </p:cNvSpPr>
          <p:nvPr>
            <p:ph type="dt" sz="half" idx="2"/>
          </p:nvPr>
        </p:nvSpPr>
        <p:spPr>
          <a:xfrm>
            <a:off x="7740763" y="6804958"/>
            <a:ext cx="2340000" cy="108000"/>
          </a:xfrm>
          <a:prstGeom prst="rect">
            <a:avLst/>
          </a:prstGeom>
        </p:spPr>
        <p:txBody>
          <a:bodyPr vert="horz" wrap="none" lIns="0" tIns="0" rIns="0" bIns="0" rtlCol="0" anchor="ctr"/>
          <a:lstStyle>
            <a:lvl1pPr algn="l">
              <a:defRPr sz="600">
                <a:solidFill>
                  <a:schemeClr val="tx1">
                    <a:lumMod val="50000"/>
                    <a:lumOff val="50000"/>
                  </a:schemeClr>
                </a:solidFill>
              </a:defRPr>
            </a:lvl1pPr>
          </a:lstStyle>
          <a:p>
            <a:fld id="{D2EEA022-D032-4EEB-B3BB-451FF23CBEEB}" type="datetimeFigureOut">
              <a:rPr lang="de-DE" smtClean="0"/>
              <a:pPr/>
              <a:t>20.07.2026</a:t>
            </a:fld>
            <a:endParaRPr lang="de-DE" dirty="0"/>
          </a:p>
        </p:txBody>
      </p:sp>
      <p:sp>
        <p:nvSpPr>
          <p:cNvPr id="6" name="Foliennummer">
            <a:extLst>
              <a:ext uri="{FF2B5EF4-FFF2-40B4-BE49-F238E27FC236}">
                <a16:creationId xmlns:a16="http://schemas.microsoft.com/office/drawing/2014/main" id="{D677F6CD-9908-3B49-0E21-DF1BF9A27F4A}"/>
              </a:ext>
            </a:extLst>
          </p:cNvPr>
          <p:cNvSpPr>
            <a:spLocks noGrp="1" noRot="1" noMove="1" noResize="1" noEditPoints="1" noAdjustHandles="1" noChangeArrowheads="1" noChangeShapeType="1"/>
          </p:cNvSpPr>
          <p:nvPr>
            <p:ph type="sldNum" sz="quarter" idx="4"/>
          </p:nvPr>
        </p:nvSpPr>
        <p:spPr>
          <a:xfrm>
            <a:off x="7866000" y="6182738"/>
            <a:ext cx="2224263" cy="157725"/>
          </a:xfrm>
          <a:prstGeom prst="rect">
            <a:avLst/>
          </a:prstGeom>
        </p:spPr>
        <p:txBody>
          <a:bodyPr vert="horz" lIns="0" tIns="0" rIns="0" bIns="0" rtlCol="0" anchor="t" anchorCtr="0">
            <a:noAutofit/>
          </a:bodyPr>
          <a:lstStyle>
            <a:lvl1pPr algn="r">
              <a:defRPr sz="1000" b="1">
                <a:solidFill>
                  <a:schemeClr val="accent1"/>
                </a:solidFill>
                <a:latin typeface="+mj-lt"/>
              </a:defRPr>
            </a:lvl1pPr>
          </a:lstStyle>
          <a:p>
            <a:fld id="{3AE71D6B-ACB6-4F4C-A895-DCAEF1760EAA}" type="slidenum">
              <a:rPr lang="de-DE" smtClean="0"/>
              <a:pPr/>
              <a:t>‹Nr.›</a:t>
            </a:fld>
            <a:endParaRPr lang="de-DE" dirty="0"/>
          </a:p>
        </p:txBody>
      </p:sp>
      <p:pic>
        <p:nvPicPr>
          <p:cNvPr id="8" name="Logo">
            <a:extLst>
              <a:ext uri="{FF2B5EF4-FFF2-40B4-BE49-F238E27FC236}">
                <a16:creationId xmlns:a16="http://schemas.microsoft.com/office/drawing/2014/main" id="{3D23323B-A958-3EE3-70B5-D03430E8261D}"/>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Lst>
          </a:blip>
          <a:srcRect/>
          <a:stretch/>
        </p:blipFill>
        <p:spPr>
          <a:xfrm>
            <a:off x="394863" y="6149482"/>
            <a:ext cx="1577376" cy="205348"/>
          </a:xfrm>
          <a:prstGeom prst="rect">
            <a:avLst/>
          </a:prstGeom>
        </p:spPr>
      </p:pic>
      <p:cxnSp>
        <p:nvCxnSpPr>
          <p:cNvPr id="10" name="Linie">
            <a:extLst>
              <a:ext uri="{FF2B5EF4-FFF2-40B4-BE49-F238E27FC236}">
                <a16:creationId xmlns:a16="http://schemas.microsoft.com/office/drawing/2014/main" id="{30C87199-9CC3-886E-3A4B-0FA6C63EFFD7}"/>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platzhalter">
            <a:extLst>
              <a:ext uri="{FF2B5EF4-FFF2-40B4-BE49-F238E27FC236}">
                <a16:creationId xmlns:a16="http://schemas.microsoft.com/office/drawing/2014/main" id="{23733324-201D-2B98-A6E9-A9E03DE47618}"/>
              </a:ext>
            </a:extLst>
          </p:cNvPr>
          <p:cNvSpPr>
            <a:spLocks noGrp="1" noRot="1" noMove="1" noResize="1" noEditPoints="1" noAdjustHandles="1" noChangeArrowheads="1" noChangeShapeType="1"/>
          </p:cNvSpPr>
          <p:nvPr>
            <p:ph type="body" idx="1"/>
          </p:nvPr>
        </p:nvSpPr>
        <p:spPr>
          <a:xfrm>
            <a:off x="358774" y="1041401"/>
            <a:ext cx="9756775" cy="4791074"/>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Siebente Ebene</a:t>
            </a:r>
          </a:p>
          <a:p>
            <a:pPr lvl="7"/>
            <a:r>
              <a:rPr lang="de-DE" dirty="0"/>
              <a:t>Achte Ebene</a:t>
            </a:r>
          </a:p>
          <a:p>
            <a:pPr lvl="8"/>
            <a:r>
              <a:rPr lang="de-DE" dirty="0"/>
              <a:t>Neunte Ebene</a:t>
            </a:r>
          </a:p>
        </p:txBody>
      </p:sp>
      <p:sp>
        <p:nvSpPr>
          <p:cNvPr id="2" name="Titelplatzhalter">
            <a:extLst>
              <a:ext uri="{FF2B5EF4-FFF2-40B4-BE49-F238E27FC236}">
                <a16:creationId xmlns:a16="http://schemas.microsoft.com/office/drawing/2014/main" id="{25F389A5-5A88-033D-BB4F-AD00957B388F}"/>
              </a:ext>
            </a:extLst>
          </p:cNvPr>
          <p:cNvSpPr>
            <a:spLocks noGrp="1" noRot="1" noMove="1" noResize="1" noEditPoints="1" noAdjustHandles="1" noChangeArrowheads="1" noChangeShapeType="1"/>
          </p:cNvSpPr>
          <p:nvPr>
            <p:ph type="title"/>
          </p:nvPr>
        </p:nvSpPr>
        <p:spPr>
          <a:xfrm>
            <a:off x="358775" y="322580"/>
            <a:ext cx="9756774" cy="360000"/>
          </a:xfrm>
          <a:prstGeom prst="rect">
            <a:avLst/>
          </a:prstGeom>
        </p:spPr>
        <p:txBody>
          <a:bodyPr vert="horz" wrap="none" lIns="0" tIns="36000" rIns="0" bIns="0" rtlCol="0" anchor="t" anchorCtr="0">
            <a:noAutofit/>
          </a:bodyPr>
          <a:lstStyle/>
          <a:p>
            <a:r>
              <a:rPr lang="de-DE" dirty="0"/>
              <a:t>Mastertitelformat bearbeiten</a:t>
            </a:r>
          </a:p>
        </p:txBody>
      </p:sp>
    </p:spTree>
    <p:extLst>
      <p:ext uri="{BB962C8B-B14F-4D97-AF65-F5344CB8AC3E}">
        <p14:creationId xmlns:p14="http://schemas.microsoft.com/office/powerpoint/2010/main" val="2613421600"/>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64" r:id="rId4"/>
    <p:sldLayoutId id="2147483667" r:id="rId5"/>
    <p:sldLayoutId id="2147483668" r:id="rId6"/>
    <p:sldLayoutId id="2147483669" r:id="rId7"/>
    <p:sldLayoutId id="2147483670" r:id="rId8"/>
    <p:sldLayoutId id="2147483673" r:id="rId9"/>
    <p:sldLayoutId id="2147483677" r:id="rId10"/>
    <p:sldLayoutId id="2147483678" r:id="rId11"/>
    <p:sldLayoutId id="2147483650" r:id="rId12"/>
    <p:sldLayoutId id="2147483672" r:id="rId13"/>
    <p:sldLayoutId id="2147483671" r:id="rId14"/>
    <p:sldLayoutId id="2147483665" r:id="rId15"/>
    <p:sldLayoutId id="2147483660" r:id="rId16"/>
    <p:sldLayoutId id="2147483666" r:id="rId17"/>
    <p:sldLayoutId id="2147483661" r:id="rId18"/>
    <p:sldLayoutId id="2147483654" r:id="rId19"/>
    <p:sldLayoutId id="2147483655" r:id="rId20"/>
    <p:sldLayoutId id="2147483674" r:id="rId21"/>
    <p:sldLayoutId id="2147483675" r:id="rId22"/>
    <p:sldLayoutId id="2147483676" r:id="rId23"/>
    <p:sldLayoutId id="2147483679" r:id="rId24"/>
    <p:sldLayoutId id="2147483680" r:id="rId25"/>
  </p:sldLayoutIdLst>
  <p:hf hdr="0" ftr="0" dt="0"/>
  <p:txStyles>
    <p:title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p:titleStyle>
    <p:body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9pPr>
    </p:bodyStyle>
    <p:otherStyle>
      <a:defPPr>
        <a:defRPr lang="de-DE"/>
      </a:defPPr>
      <a:lvl1pPr marL="0" algn="l" defTabSz="783001" rtl="0" eaLnBrk="1" latinLnBrk="0" hangingPunct="1">
        <a:defRPr sz="1541" kern="1200">
          <a:solidFill>
            <a:schemeClr val="tx1"/>
          </a:solidFill>
          <a:latin typeface="+mn-lt"/>
          <a:ea typeface="+mn-ea"/>
          <a:cs typeface="+mn-cs"/>
        </a:defRPr>
      </a:lvl1pPr>
      <a:lvl2pPr marL="391500" algn="l" defTabSz="783001" rtl="0" eaLnBrk="1" latinLnBrk="0" hangingPunct="1">
        <a:defRPr sz="1541" kern="1200">
          <a:solidFill>
            <a:schemeClr val="tx1"/>
          </a:solidFill>
          <a:latin typeface="+mn-lt"/>
          <a:ea typeface="+mn-ea"/>
          <a:cs typeface="+mn-cs"/>
        </a:defRPr>
      </a:lvl2pPr>
      <a:lvl3pPr marL="783001" algn="l" defTabSz="783001" rtl="0" eaLnBrk="1" latinLnBrk="0" hangingPunct="1">
        <a:defRPr sz="1541" kern="1200">
          <a:solidFill>
            <a:schemeClr val="tx1"/>
          </a:solidFill>
          <a:latin typeface="+mn-lt"/>
          <a:ea typeface="+mn-ea"/>
          <a:cs typeface="+mn-cs"/>
        </a:defRPr>
      </a:lvl3pPr>
      <a:lvl4pPr marL="1174501" algn="l" defTabSz="783001" rtl="0" eaLnBrk="1" latinLnBrk="0" hangingPunct="1">
        <a:defRPr sz="1541" kern="1200">
          <a:solidFill>
            <a:schemeClr val="tx1"/>
          </a:solidFill>
          <a:latin typeface="+mn-lt"/>
          <a:ea typeface="+mn-ea"/>
          <a:cs typeface="+mn-cs"/>
        </a:defRPr>
      </a:lvl4pPr>
      <a:lvl5pPr marL="1566001" algn="l" defTabSz="783001" rtl="0" eaLnBrk="1" latinLnBrk="0" hangingPunct="1">
        <a:defRPr sz="1541" kern="1200">
          <a:solidFill>
            <a:schemeClr val="tx1"/>
          </a:solidFill>
          <a:latin typeface="+mn-lt"/>
          <a:ea typeface="+mn-ea"/>
          <a:cs typeface="+mn-cs"/>
        </a:defRPr>
      </a:lvl5pPr>
      <a:lvl6pPr marL="1957502" algn="l" defTabSz="783001" rtl="0" eaLnBrk="1" latinLnBrk="0" hangingPunct="1">
        <a:defRPr sz="1541" kern="1200">
          <a:solidFill>
            <a:schemeClr val="tx1"/>
          </a:solidFill>
          <a:latin typeface="+mn-lt"/>
          <a:ea typeface="+mn-ea"/>
          <a:cs typeface="+mn-cs"/>
        </a:defRPr>
      </a:lvl6pPr>
      <a:lvl7pPr marL="2349002" algn="l" defTabSz="783001" rtl="0" eaLnBrk="1" latinLnBrk="0" hangingPunct="1">
        <a:defRPr sz="1541" kern="1200">
          <a:solidFill>
            <a:schemeClr val="tx1"/>
          </a:solidFill>
          <a:latin typeface="+mn-lt"/>
          <a:ea typeface="+mn-ea"/>
          <a:cs typeface="+mn-cs"/>
        </a:defRPr>
      </a:lvl7pPr>
      <a:lvl8pPr marL="2740503" algn="l" defTabSz="783001" rtl="0" eaLnBrk="1" latinLnBrk="0" hangingPunct="1">
        <a:defRPr sz="1541" kern="1200">
          <a:solidFill>
            <a:schemeClr val="tx1"/>
          </a:solidFill>
          <a:latin typeface="+mn-lt"/>
          <a:ea typeface="+mn-ea"/>
          <a:cs typeface="+mn-cs"/>
        </a:defRPr>
      </a:lvl8pPr>
      <a:lvl9pPr marL="3132003" algn="l" defTabSz="783001" rtl="0" eaLnBrk="1" latinLnBrk="0" hangingPunct="1">
        <a:defRPr sz="154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7" userDrawn="1">
          <p15:clr>
            <a:srgbClr val="F26B43"/>
          </p15:clr>
        </p15:guide>
        <p15:guide id="3" pos="226" userDrawn="1">
          <p15:clr>
            <a:srgbClr val="F26B43"/>
          </p15:clr>
        </p15:guide>
        <p15:guide id="15" pos="634" userDrawn="1">
          <p15:clr>
            <a:srgbClr val="F26B43"/>
          </p15:clr>
        </p15:guide>
        <p15:guide id="16" pos="748" userDrawn="1">
          <p15:clr>
            <a:srgbClr val="F26B43"/>
          </p15:clr>
        </p15:guide>
        <p15:guide id="17" pos="1156" userDrawn="1">
          <p15:clr>
            <a:srgbClr val="F26B43"/>
          </p15:clr>
        </p15:guide>
        <p15:guide id="18" pos="1270" userDrawn="1">
          <p15:clr>
            <a:srgbClr val="F26B43"/>
          </p15:clr>
        </p15:guide>
        <p15:guide id="19" pos="1678" userDrawn="1">
          <p15:clr>
            <a:srgbClr val="F26B43"/>
          </p15:clr>
        </p15:guide>
        <p15:guide id="20" pos="1791" userDrawn="1">
          <p15:clr>
            <a:srgbClr val="F26B43"/>
          </p15:clr>
        </p15:guide>
        <p15:guide id="21" pos="2199" userDrawn="1">
          <p15:clr>
            <a:srgbClr val="F26B43"/>
          </p15:clr>
        </p15:guide>
        <p15:guide id="22" pos="2313" userDrawn="1">
          <p15:clr>
            <a:srgbClr val="F26B43"/>
          </p15:clr>
        </p15:guide>
        <p15:guide id="23" pos="2721" userDrawn="1">
          <p15:clr>
            <a:srgbClr val="F26B43"/>
          </p15:clr>
        </p15:guide>
        <p15:guide id="24" pos="2834" userDrawn="1">
          <p15:clr>
            <a:srgbClr val="F26B43"/>
          </p15:clr>
        </p15:guide>
        <p15:guide id="25" pos="3243" userDrawn="1">
          <p15:clr>
            <a:srgbClr val="F26B43"/>
          </p15:clr>
        </p15:guide>
        <p15:guide id="26" pos="3356" userDrawn="1">
          <p15:clr>
            <a:srgbClr val="F26B43"/>
          </p15:clr>
        </p15:guide>
        <p15:guide id="27" pos="3764" userDrawn="1">
          <p15:clr>
            <a:srgbClr val="F26B43"/>
          </p15:clr>
        </p15:guide>
        <p15:guide id="28" pos="3878" userDrawn="1">
          <p15:clr>
            <a:srgbClr val="F26B43"/>
          </p15:clr>
        </p15:guide>
        <p15:guide id="29" pos="4286" userDrawn="1">
          <p15:clr>
            <a:srgbClr val="F26B43"/>
          </p15:clr>
        </p15:guide>
        <p15:guide id="30" pos="4399" userDrawn="1">
          <p15:clr>
            <a:srgbClr val="F26B43"/>
          </p15:clr>
        </p15:guide>
        <p15:guide id="31" pos="4808" userDrawn="1">
          <p15:clr>
            <a:srgbClr val="F26B43"/>
          </p15:clr>
        </p15:guide>
        <p15:guide id="32" pos="4921" userDrawn="1">
          <p15:clr>
            <a:srgbClr val="F26B43"/>
          </p15:clr>
        </p15:guide>
        <p15:guide id="33" pos="5329" userDrawn="1">
          <p15:clr>
            <a:srgbClr val="F26B43"/>
          </p15:clr>
        </p15:guide>
        <p15:guide id="34" pos="5443" userDrawn="1">
          <p15:clr>
            <a:srgbClr val="F26B43"/>
          </p15:clr>
        </p15:guide>
        <p15:guide id="35" pos="5851" userDrawn="1">
          <p15:clr>
            <a:srgbClr val="F26B43"/>
          </p15:clr>
        </p15:guide>
        <p15:guide id="36" pos="5964" userDrawn="1">
          <p15:clr>
            <a:srgbClr val="F26B43"/>
          </p15:clr>
        </p15:guide>
        <p15:guide id="37" pos="6372" userDrawn="1">
          <p15:clr>
            <a:srgbClr val="F26B43"/>
          </p15:clr>
        </p15:guide>
        <p15:guide id="38" orient="horz" pos="4002" userDrawn="1">
          <p15:clr>
            <a:srgbClr val="F26B43"/>
          </p15:clr>
        </p15:guide>
        <p15:guide id="39" orient="horz" userDrawn="1">
          <p15:clr>
            <a:srgbClr val="F26B43"/>
          </p15:clr>
        </p15:guide>
        <p15:guide id="40" orient="horz" pos="656" userDrawn="1">
          <p15:clr>
            <a:srgbClr val="F26B43"/>
          </p15:clr>
        </p15:guide>
        <p15:guide id="41" orient="horz" pos="4195" userDrawn="1">
          <p15:clr>
            <a:srgbClr val="F26B43"/>
          </p15:clr>
        </p15:guide>
        <p15:guide id="42" orient="horz" pos="36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hyperlink" Target="mailto:info@fuggerbank.de" TargetMode="External"/><Relationship Id="rId2" Type="http://schemas.openxmlformats.org/officeDocument/2006/relationships/image" Target="../media/image2.png"/><Relationship Id="rId1" Type="http://schemas.openxmlformats.org/officeDocument/2006/relationships/slideLayout" Target="../slideLayouts/slideLayout14.xml"/><Relationship Id="rId6" Type="http://schemas.openxmlformats.org/officeDocument/2006/relationships/hyperlink" Target="https://www.ecb.europa.eu/" TargetMode="External"/><Relationship Id="rId5" Type="http://schemas.openxmlformats.org/officeDocument/2006/relationships/hyperlink" Target="http://www.bafin.de/" TargetMode="External"/><Relationship Id="rId4" Type="http://schemas.openxmlformats.org/officeDocument/2006/relationships/hyperlink" Target="http://www.fuggerbank.de/"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tertitel">
            <a:extLst>
              <a:ext uri="{FF2B5EF4-FFF2-40B4-BE49-F238E27FC236}">
                <a16:creationId xmlns:a16="http://schemas.microsoft.com/office/drawing/2014/main" id="{E21E42E6-26DD-05A3-DFCF-CD476BFD417D}"/>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p>
            <a:r>
              <a:rPr lang="de-DE" dirty="0"/>
              <a:t>UNABHÄNGIG. WERTEORIENTIERT. PERSÖNLICH.</a:t>
            </a:r>
          </a:p>
        </p:txBody>
      </p:sp>
      <p:sp>
        <p:nvSpPr>
          <p:cNvPr id="2" name="Titel">
            <a:extLst>
              <a:ext uri="{FF2B5EF4-FFF2-40B4-BE49-F238E27FC236}">
                <a16:creationId xmlns:a16="http://schemas.microsoft.com/office/drawing/2014/main" id="{C392FFA6-DF5F-DE1D-D172-069B9790B85A}"/>
              </a:ext>
            </a:extLst>
          </p:cNvPr>
          <p:cNvSpPr>
            <a:spLocks noGrp="1" noRot="1" noMove="1" noResize="1" noEditPoints="1" noAdjustHandles="1" noChangeArrowheads="1" noChangeShapeType="1"/>
          </p:cNvSpPr>
          <p:nvPr>
            <p:ph type="ctrTitle"/>
          </p:nvPr>
        </p:nvSpPr>
        <p:spPr>
          <a:xfrm>
            <a:off x="1006475" y="1041400"/>
            <a:ext cx="6626225" cy="931775"/>
          </a:xfrm>
        </p:spPr>
        <p:txBody>
          <a:bodyPr/>
          <a:lstStyle/>
          <a:p>
            <a:r>
              <a:rPr lang="de-DE" dirty="0"/>
              <a:t>Unsere  </a:t>
            </a:r>
            <a:br>
              <a:rPr lang="de-DE" dirty="0"/>
            </a:br>
            <a:r>
              <a:rPr lang="de-DE" dirty="0"/>
              <a:t>klassische Portfolioverwaltung</a:t>
            </a:r>
          </a:p>
        </p:txBody>
      </p:sp>
    </p:spTree>
    <p:extLst>
      <p:ext uri="{BB962C8B-B14F-4D97-AF65-F5344CB8AC3E}">
        <p14:creationId xmlns:p14="http://schemas.microsoft.com/office/powerpoint/2010/main" val="4263361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77DF082C-7F14-96A3-2286-2DE7F88EE07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a:t>
            </a:fld>
            <a:endParaRPr lang="de-DE"/>
          </a:p>
        </p:txBody>
      </p:sp>
      <p:sp>
        <p:nvSpPr>
          <p:cNvPr id="3" name="Inhalt">
            <a:extLst>
              <a:ext uri="{FF2B5EF4-FFF2-40B4-BE49-F238E27FC236}">
                <a16:creationId xmlns:a16="http://schemas.microsoft.com/office/drawing/2014/main" id="{7F2936BA-F0A5-9AB3-89AF-95CC696DBA02}"/>
              </a:ext>
            </a:extLst>
          </p:cNvPr>
          <p:cNvSpPr>
            <a:spLocks noGrp="1" noRot="1" noMove="1" noResize="1" noEditPoints="1" noAdjustHandles="1" noChangeArrowheads="1" noChangeShapeType="1"/>
          </p:cNvSpPr>
          <p:nvPr>
            <p:ph idx="1"/>
          </p:nvPr>
        </p:nvSpPr>
        <p:spPr>
          <a:xfrm>
            <a:off x="2016125" y="2147233"/>
            <a:ext cx="7272338" cy="3685241"/>
          </a:xfrm>
        </p:spPr>
        <p:txBody>
          <a:bodyPr/>
          <a:lstStyle/>
          <a:p>
            <a:r>
              <a:rPr lang="de-DE" dirty="0"/>
              <a:t>Unsere Portfolioverwaltung </a:t>
            </a:r>
            <a:r>
              <a:rPr lang="de-DE" u="sng" dirty="0">
                <a:uFill>
                  <a:solidFill>
                    <a:schemeClr val="accent3"/>
                  </a:solidFill>
                </a:uFill>
              </a:rPr>
              <a:t>	</a:t>
            </a:r>
            <a:r>
              <a:rPr lang="de-DE" dirty="0"/>
              <a:t>3</a:t>
            </a:r>
          </a:p>
          <a:p>
            <a:r>
              <a:rPr lang="de-DE" dirty="0"/>
              <a:t>Unsere klassischen Portfolioverwaltungsstrategien</a:t>
            </a:r>
            <a:r>
              <a:rPr lang="de-DE" u="sng" dirty="0">
                <a:uFill>
                  <a:solidFill>
                    <a:schemeClr val="accent3"/>
                  </a:solidFill>
                </a:uFill>
              </a:rPr>
              <a:t>	</a:t>
            </a:r>
            <a:r>
              <a:rPr lang="de-DE" dirty="0">
                <a:uFill>
                  <a:solidFill>
                    <a:schemeClr val="accent3"/>
                  </a:solidFill>
                </a:uFill>
              </a:rPr>
              <a:t>5</a:t>
            </a:r>
            <a:endParaRPr lang="de-DE" dirty="0"/>
          </a:p>
          <a:p>
            <a:r>
              <a:rPr lang="de-DE" dirty="0"/>
              <a:t>Honorar </a:t>
            </a:r>
            <a:r>
              <a:rPr lang="de-DE" u="sng" dirty="0">
                <a:uFill>
                  <a:solidFill>
                    <a:schemeClr val="accent3"/>
                  </a:solidFill>
                </a:uFill>
              </a:rPr>
              <a:t>	</a:t>
            </a:r>
            <a:r>
              <a:rPr lang="de-DE" dirty="0">
                <a:uFill>
                  <a:solidFill>
                    <a:schemeClr val="accent3"/>
                  </a:solidFill>
                </a:uFill>
              </a:rPr>
              <a:t>14</a:t>
            </a:r>
            <a:endParaRPr lang="de-DE" dirty="0"/>
          </a:p>
          <a:p>
            <a:r>
              <a:rPr lang="de-DE" dirty="0"/>
              <a:t>Unsere Investmentphilosophie </a:t>
            </a:r>
            <a:r>
              <a:rPr lang="de-DE" u="sng" dirty="0">
                <a:uFill>
                  <a:solidFill>
                    <a:schemeClr val="accent3"/>
                  </a:solidFill>
                </a:uFill>
              </a:rPr>
              <a:t>	</a:t>
            </a:r>
            <a:r>
              <a:rPr lang="de-DE" dirty="0"/>
              <a:t>16</a:t>
            </a:r>
          </a:p>
          <a:p>
            <a:r>
              <a:rPr lang="de-DE" dirty="0"/>
              <a:t>Die Bank in Zahlen </a:t>
            </a:r>
            <a:r>
              <a:rPr lang="de-DE" u="sng" dirty="0">
                <a:uFill>
                  <a:solidFill>
                    <a:schemeClr val="accent3"/>
                  </a:solidFill>
                </a:uFill>
              </a:rPr>
              <a:t>	</a:t>
            </a:r>
            <a:r>
              <a:rPr lang="de-DE" dirty="0">
                <a:uFill>
                  <a:solidFill>
                    <a:schemeClr val="accent3"/>
                  </a:solidFill>
                </a:uFill>
              </a:rPr>
              <a:t>21</a:t>
            </a:r>
            <a:endParaRPr lang="de-DE" dirty="0"/>
          </a:p>
          <a:p>
            <a:r>
              <a:rPr lang="de-DE" dirty="0"/>
              <a:t>Unsere Tradition </a:t>
            </a:r>
            <a:r>
              <a:rPr lang="de-DE" u="sng" dirty="0">
                <a:uFill>
                  <a:solidFill>
                    <a:schemeClr val="accent3"/>
                  </a:solidFill>
                </a:uFill>
              </a:rPr>
              <a:t>	</a:t>
            </a:r>
            <a:r>
              <a:rPr lang="de-DE" dirty="0">
                <a:uFill>
                  <a:solidFill>
                    <a:schemeClr val="accent3"/>
                  </a:solidFill>
                </a:uFill>
              </a:rPr>
              <a:t>22</a:t>
            </a:r>
            <a:endParaRPr lang="de-DE" dirty="0"/>
          </a:p>
          <a:p>
            <a:r>
              <a:rPr lang="de-DE" dirty="0"/>
              <a:t>Rechtliche Hinweise und Impressum </a:t>
            </a:r>
            <a:r>
              <a:rPr lang="de-DE" u="sng">
                <a:uFill>
                  <a:solidFill>
                    <a:schemeClr val="accent3"/>
                  </a:solidFill>
                </a:uFill>
              </a:rPr>
              <a:t>	</a:t>
            </a:r>
            <a:r>
              <a:rPr lang="de-DE"/>
              <a:t>25</a:t>
            </a:r>
            <a:endParaRPr lang="de-DE" dirty="0"/>
          </a:p>
        </p:txBody>
      </p:sp>
      <p:sp>
        <p:nvSpPr>
          <p:cNvPr id="2" name="Titel">
            <a:extLst>
              <a:ext uri="{FF2B5EF4-FFF2-40B4-BE49-F238E27FC236}">
                <a16:creationId xmlns:a16="http://schemas.microsoft.com/office/drawing/2014/main" id="{B04F1B54-07E4-4DBF-DC92-6DA02727FBAA}"/>
              </a:ext>
            </a:extLst>
          </p:cNvPr>
          <p:cNvSpPr>
            <a:spLocks noGrp="1" noRot="1" noMove="1" noResize="1" noEditPoints="1" noAdjustHandles="1" noChangeArrowheads="1" noChangeShapeType="1"/>
          </p:cNvSpPr>
          <p:nvPr>
            <p:ph type="title"/>
          </p:nvPr>
        </p:nvSpPr>
        <p:spPr>
          <a:xfrm>
            <a:off x="2016124" y="1656652"/>
            <a:ext cx="7272337" cy="360000"/>
          </a:xfrm>
        </p:spPr>
        <p:txBody>
          <a:bodyPr/>
          <a:lstStyle/>
          <a:p>
            <a:r>
              <a:rPr lang="de-DE" dirty="0"/>
              <a:t>Inhalt</a:t>
            </a:r>
          </a:p>
        </p:txBody>
      </p:sp>
    </p:spTree>
    <p:extLst>
      <p:ext uri="{BB962C8B-B14F-4D97-AF65-F5344CB8AC3E}">
        <p14:creationId xmlns:p14="http://schemas.microsoft.com/office/powerpoint/2010/main" val="739230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2726207-F190-D2FF-DCF9-A3BD0AFCAC6F}"/>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3</a:t>
            </a:fld>
            <a:endParaRPr lang="de-DE"/>
          </a:p>
        </p:txBody>
      </p:sp>
      <p:sp>
        <p:nvSpPr>
          <p:cNvPr id="3" name="Text">
            <a:extLst>
              <a:ext uri="{FF2B5EF4-FFF2-40B4-BE49-F238E27FC236}">
                <a16:creationId xmlns:a16="http://schemas.microsoft.com/office/drawing/2014/main" id="{09F416ED-28F0-4097-3F6C-AA3AA8BF0016}"/>
              </a:ext>
            </a:extLst>
          </p:cNvPr>
          <p:cNvSpPr>
            <a:spLocks noGrp="1" noRot="1" noMove="1" noResize="1" noEditPoints="1" noAdjustHandles="1" noChangeArrowheads="1" noChangeShapeType="1"/>
          </p:cNvSpPr>
          <p:nvPr>
            <p:ph idx="1"/>
          </p:nvPr>
        </p:nvSpPr>
        <p:spPr>
          <a:xfrm>
            <a:off x="5327650" y="1411638"/>
            <a:ext cx="3960813" cy="4420838"/>
          </a:xfrm>
        </p:spPr>
        <p:txBody>
          <a:bodyPr/>
          <a:lstStyle/>
          <a:p>
            <a:r>
              <a:rPr lang="de-DE" dirty="0"/>
              <a:t>Vermögenserhalt und langfristiges Wachstum</a:t>
            </a:r>
          </a:p>
          <a:p>
            <a:pPr lvl="2"/>
            <a:r>
              <a:rPr lang="de-DE" dirty="0"/>
              <a:t>Unsere Vermögensverwaltung ist auf Sicherheit und langfristige Wertentwicklung ausgerichtet.</a:t>
            </a:r>
          </a:p>
          <a:p>
            <a:r>
              <a:rPr lang="de-DE" dirty="0"/>
              <a:t>Basierend auf fundierten Vorgesprächen</a:t>
            </a:r>
          </a:p>
          <a:p>
            <a:pPr lvl="2"/>
            <a:r>
              <a:rPr lang="de-DE" dirty="0"/>
              <a:t>Auf Grundlage persönlicher Gespräche ermitteln wir präzise Ihre individuellen Präferenzen sowie Anforderungen an das Rendite-Risiko-Profil und Ihren Anlagehorizont. </a:t>
            </a:r>
          </a:p>
          <a:p>
            <a:r>
              <a:rPr lang="de-DE" dirty="0"/>
              <a:t>Laufendes Monitoring und dynamische Reallokation</a:t>
            </a:r>
          </a:p>
          <a:p>
            <a:pPr lvl="2"/>
            <a:r>
              <a:rPr lang="de-DE" dirty="0"/>
              <a:t>Realisiert wird eine Anlagestrategie, die mit ihren einzelnen Positionen ständig überwacht und bei Marktveränderungen gegebenenfalls angepasst wird. Wertschwankungen des Portfolios können nicht ausgeschlossen werden. </a:t>
            </a:r>
          </a:p>
          <a:p>
            <a:r>
              <a:rPr lang="de-DE" dirty="0"/>
              <a:t>Breite Vermögensstreuung</a:t>
            </a:r>
          </a:p>
          <a:p>
            <a:pPr lvl="2"/>
            <a:r>
              <a:rPr lang="de-DE" dirty="0"/>
              <a:t>Wir bieten eine breite und transparente Streuung Ihres Vermögens, beispielsweise in Aktien, Anleihen, ETFʹs  </a:t>
            </a:r>
            <a:br>
              <a:rPr lang="de-DE" dirty="0"/>
            </a:br>
            <a:r>
              <a:rPr lang="de-DE" dirty="0"/>
              <a:t>und Fonds, Edelmetalle, risikoadjustierte Produkte wie Discountzertifikate und Aktienanleihen sowie Liquidität. </a:t>
            </a:r>
          </a:p>
        </p:txBody>
      </p:sp>
      <p:sp>
        <p:nvSpPr>
          <p:cNvPr id="2" name="Titel">
            <a:extLst>
              <a:ext uri="{FF2B5EF4-FFF2-40B4-BE49-F238E27FC236}">
                <a16:creationId xmlns:a16="http://schemas.microsoft.com/office/drawing/2014/main" id="{A045C7CC-A895-8F75-74B5-37B4A5A91499}"/>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a:t>Unsere Vermögensverwaltung</a:t>
            </a:r>
            <a:endParaRPr lang="de-DE" dirty="0"/>
          </a:p>
        </p:txBody>
      </p:sp>
    </p:spTree>
    <p:extLst>
      <p:ext uri="{BB962C8B-B14F-4D97-AF65-F5344CB8AC3E}">
        <p14:creationId xmlns:p14="http://schemas.microsoft.com/office/powerpoint/2010/main" val="4257688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A29DC1F0-E085-7711-FFB6-0AE5ACDA858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4</a:t>
            </a:fld>
            <a:endParaRPr lang="de-DE"/>
          </a:p>
        </p:txBody>
      </p:sp>
      <p:sp>
        <p:nvSpPr>
          <p:cNvPr id="3" name="Text">
            <a:extLst>
              <a:ext uri="{FF2B5EF4-FFF2-40B4-BE49-F238E27FC236}">
                <a16:creationId xmlns:a16="http://schemas.microsoft.com/office/drawing/2014/main" id="{694BBE29-D879-8CF9-FF94-DBAA530E7B02}"/>
              </a:ext>
            </a:extLst>
          </p:cNvPr>
          <p:cNvSpPr>
            <a:spLocks noGrp="1" noRot="1" noMove="1" noResize="1" noEditPoints="1" noAdjustHandles="1" noChangeArrowheads="1" noChangeShapeType="1"/>
          </p:cNvSpPr>
          <p:nvPr>
            <p:ph idx="1"/>
          </p:nvPr>
        </p:nvSpPr>
        <p:spPr>
          <a:xfrm>
            <a:off x="1187448" y="1411638"/>
            <a:ext cx="4140201" cy="4420838"/>
          </a:xfrm>
        </p:spPr>
        <p:txBody>
          <a:bodyPr/>
          <a:lstStyle/>
          <a:p>
            <a:r>
              <a:rPr lang="de-DE" dirty="0"/>
              <a:t>Aufteilung zur Begrenzung von Risiken</a:t>
            </a:r>
          </a:p>
          <a:p>
            <a:pPr lvl="2"/>
            <a:r>
              <a:rPr lang="de-DE" dirty="0"/>
              <a:t>Durch die Aufteilung in verschiedene Assetklassen werden Risiken begrenzt. Trotz breiter Diversifizierung und Risiko-streuung können Wertschwankungen bis hin zu einem Total-verlust einzelner Positionen nicht ausgeschlossen werden. </a:t>
            </a:r>
          </a:p>
          <a:p>
            <a:r>
              <a:rPr lang="de-DE" dirty="0"/>
              <a:t>Anbieterunabhängige Produktauswahl</a:t>
            </a:r>
          </a:p>
          <a:p>
            <a:pPr lvl="2"/>
            <a:r>
              <a:rPr lang="de-DE" dirty="0"/>
              <a:t>Unsere Einzelauswahl in den zuvor genannten Assetklassen ist an keinen Anbieter gebunden, somit können wir uns unabhängig in der Produktauswahl am Markt bewegen.</a:t>
            </a:r>
          </a:p>
          <a:p>
            <a:r>
              <a:rPr lang="de-DE" dirty="0"/>
              <a:t>Planung von erfahrenen Portfoliomanagern</a:t>
            </a:r>
          </a:p>
          <a:p>
            <a:pPr lvl="2"/>
            <a:r>
              <a:rPr lang="de-DE" dirty="0"/>
              <a:t>Unsere erfahrenen Portfoliomanager planen im so genannten Top-Down-Verfahren und setzen je nach Marktsituation die Anlageentscheidungen je Strategie verantwortungsvoll um. </a:t>
            </a:r>
          </a:p>
          <a:p>
            <a:r>
              <a:rPr lang="de-DE" dirty="0"/>
              <a:t>Ab einem Anlagevolumen von 50.000 Euro</a:t>
            </a:r>
          </a:p>
          <a:p>
            <a:pPr lvl="2"/>
            <a:r>
              <a:rPr lang="de-DE" dirty="0"/>
              <a:t>Unsere klassische Portfolioverwaltung kann ab einem Anlagevolumen von 50.000 Euro in Auftrag gegeben werden. </a:t>
            </a:r>
          </a:p>
        </p:txBody>
      </p:sp>
      <p:sp>
        <p:nvSpPr>
          <p:cNvPr id="2" name="Titel">
            <a:extLst>
              <a:ext uri="{FF2B5EF4-FFF2-40B4-BE49-F238E27FC236}">
                <a16:creationId xmlns:a16="http://schemas.microsoft.com/office/drawing/2014/main" id="{C2B7D173-C063-D0B2-4ED2-450BB23700E5}"/>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Unsere Portfolioverwaltung </a:t>
            </a:r>
          </a:p>
        </p:txBody>
      </p:sp>
    </p:spTree>
    <p:extLst>
      <p:ext uri="{BB962C8B-B14F-4D97-AF65-F5344CB8AC3E}">
        <p14:creationId xmlns:p14="http://schemas.microsoft.com/office/powerpoint/2010/main" val="126782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081DADAC-023D-6904-0920-7F79CEBD967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5</a:t>
            </a:fld>
            <a:endParaRPr lang="de-DE"/>
          </a:p>
        </p:txBody>
      </p:sp>
      <p:graphicFrame>
        <p:nvGraphicFramePr>
          <p:cNvPr id="5" name="Tabelle">
            <a:extLst>
              <a:ext uri="{FF2B5EF4-FFF2-40B4-BE49-F238E27FC236}">
                <a16:creationId xmlns:a16="http://schemas.microsoft.com/office/drawing/2014/main" id="{EC80708B-0902-3AEC-CC9D-5DD4BA0EF575}"/>
              </a:ext>
            </a:extLst>
          </p:cNvPr>
          <p:cNvGraphicFramePr>
            <a:graphicFrameLocks noGrp="1"/>
          </p:cNvGraphicFramePr>
          <p:nvPr>
            <p:ph idx="1"/>
            <p:extLst>
              <p:ext uri="{D42A27DB-BD31-4B8C-83A1-F6EECF244321}">
                <p14:modId xmlns:p14="http://schemas.microsoft.com/office/powerpoint/2010/main" val="2603188964"/>
              </p:ext>
            </p:extLst>
          </p:nvPr>
        </p:nvGraphicFramePr>
        <p:xfrm>
          <a:off x="575751" y="1041400"/>
          <a:ext cx="8932460" cy="3759107"/>
        </p:xfrm>
        <a:graphic>
          <a:graphicData uri="http://schemas.openxmlformats.org/drawingml/2006/table">
            <a:tbl>
              <a:tblPr firstRow="1" bandRow="1">
                <a:tableStyleId>{2D5ABB26-0587-4C30-8999-92F81FD0307C}</a:tableStyleId>
              </a:tblPr>
              <a:tblGrid>
                <a:gridCol w="2164252">
                  <a:extLst>
                    <a:ext uri="{9D8B030D-6E8A-4147-A177-3AD203B41FA5}">
                      <a16:colId xmlns:a16="http://schemas.microsoft.com/office/drawing/2014/main" val="3761890794"/>
                    </a:ext>
                  </a:extLst>
                </a:gridCol>
                <a:gridCol w="68863">
                  <a:extLst>
                    <a:ext uri="{9D8B030D-6E8A-4147-A177-3AD203B41FA5}">
                      <a16:colId xmlns:a16="http://schemas.microsoft.com/office/drawing/2014/main" val="1578058522"/>
                    </a:ext>
                  </a:extLst>
                </a:gridCol>
                <a:gridCol w="68863">
                  <a:extLst>
                    <a:ext uri="{9D8B030D-6E8A-4147-A177-3AD203B41FA5}">
                      <a16:colId xmlns:a16="http://schemas.microsoft.com/office/drawing/2014/main" val="2072559993"/>
                    </a:ext>
                  </a:extLst>
                </a:gridCol>
                <a:gridCol w="2164252">
                  <a:extLst>
                    <a:ext uri="{9D8B030D-6E8A-4147-A177-3AD203B41FA5}">
                      <a16:colId xmlns:a16="http://schemas.microsoft.com/office/drawing/2014/main" val="2131862848"/>
                    </a:ext>
                  </a:extLst>
                </a:gridCol>
                <a:gridCol w="68863">
                  <a:extLst>
                    <a:ext uri="{9D8B030D-6E8A-4147-A177-3AD203B41FA5}">
                      <a16:colId xmlns:a16="http://schemas.microsoft.com/office/drawing/2014/main" val="1048734056"/>
                    </a:ext>
                  </a:extLst>
                </a:gridCol>
                <a:gridCol w="2164252">
                  <a:extLst>
                    <a:ext uri="{9D8B030D-6E8A-4147-A177-3AD203B41FA5}">
                      <a16:colId xmlns:a16="http://schemas.microsoft.com/office/drawing/2014/main" val="1963245952"/>
                    </a:ext>
                  </a:extLst>
                </a:gridCol>
                <a:gridCol w="68863">
                  <a:extLst>
                    <a:ext uri="{9D8B030D-6E8A-4147-A177-3AD203B41FA5}">
                      <a16:colId xmlns:a16="http://schemas.microsoft.com/office/drawing/2014/main" val="1182318350"/>
                    </a:ext>
                  </a:extLst>
                </a:gridCol>
                <a:gridCol w="2164252">
                  <a:extLst>
                    <a:ext uri="{9D8B030D-6E8A-4147-A177-3AD203B41FA5}">
                      <a16:colId xmlns:a16="http://schemas.microsoft.com/office/drawing/2014/main" val="3131425242"/>
                    </a:ext>
                  </a:extLst>
                </a:gridCol>
              </a:tblGrid>
              <a:tr h="396000">
                <a:tc>
                  <a:txBody>
                    <a:bodyPr/>
                    <a:lstStyle/>
                    <a:p>
                      <a:pPr algn="ctr">
                        <a:lnSpc>
                          <a:spcPts val="1300"/>
                        </a:lnSpc>
                      </a:pPr>
                      <a:endParaRPr lang="de-DE" sz="900" b="1" dirty="0">
                        <a:solidFill>
                          <a:schemeClr val="bg1"/>
                        </a:solidFill>
                      </a:endParaRPr>
                    </a:p>
                  </a:txBody>
                  <a:tcPr marL="0" marR="0" marT="0" marB="0" anchor="ctr">
                    <a:lnR>
                      <a:noFill/>
                    </a:ln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FFPB Strategie 30</a:t>
                      </a:r>
                    </a:p>
                  </a:txBody>
                  <a:tcPr marL="0" marR="0" marT="0" marB="0" anchor="ctr">
                    <a:lnL>
                      <a:noFill/>
                    </a:lnL>
                    <a:lnR>
                      <a:noFill/>
                    </a:ln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FFPB Strategie 70</a:t>
                      </a:r>
                    </a:p>
                  </a:txBody>
                  <a:tcPr marL="0" marR="0" marT="0" marB="0" anchor="ctr">
                    <a:lnL>
                      <a:noFill/>
                    </a:lnL>
                    <a:lnR>
                      <a:noFill/>
                    </a:ln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FFPB Strategie 100</a:t>
                      </a:r>
                    </a:p>
                  </a:txBody>
                  <a:tcPr marL="0" marR="0" marT="0" marB="0" anchor="ctr">
                    <a:lnL>
                      <a:noFill/>
                    </a:lnL>
                    <a:solidFill>
                      <a:schemeClr val="accent1"/>
                    </a:solidFill>
                  </a:tcPr>
                </a:tc>
                <a:extLst>
                  <a:ext uri="{0D108BD9-81ED-4DB2-BD59-A6C34878D82A}">
                    <a16:rowId xmlns:a16="http://schemas.microsoft.com/office/drawing/2014/main" val="2504883458"/>
                  </a:ext>
                </a:extLst>
              </a:tr>
              <a:tr h="1224000">
                <a:tc>
                  <a:txBody>
                    <a:bodyPr/>
                    <a:lstStyle/>
                    <a:p>
                      <a:pPr>
                        <a:lnSpc>
                          <a:spcPts val="1300"/>
                        </a:lnSpc>
                      </a:pPr>
                      <a:r>
                        <a:rPr lang="de-DE" sz="900" b="1" dirty="0"/>
                        <a:t>Verwaltungsgrundsätze</a:t>
                      </a:r>
                    </a:p>
                  </a:txBody>
                  <a:tcPr marL="72000" marR="72000" marT="108000" marB="108000">
                    <a:lnR>
                      <a:noFill/>
                    </a:lnR>
                    <a:lnB w="3175" cap="flat" cmpd="sng" algn="ctr">
                      <a:solidFill>
                        <a:schemeClr val="accent1"/>
                      </a:solidFill>
                      <a:prstDash val="solid"/>
                      <a:round/>
                      <a:headEnd type="none" w="med" len="med"/>
                      <a:tailEnd type="none" w="med" len="med"/>
                    </a:lnB>
                  </a:tcPr>
                </a:tc>
                <a:tc>
                  <a:txBody>
                    <a:bodyPr/>
                    <a:lstStyle/>
                    <a:p>
                      <a:pPr>
                        <a:lnSpc>
                          <a:spcPts val="1300"/>
                        </a:lnSpc>
                      </a:pPr>
                      <a:endParaRPr lang="de-DE" sz="90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endParaRPr lang="de-DE" sz="900" dirty="0"/>
                    </a:p>
                  </a:txBody>
                  <a:tcPr marL="0" marR="0" marT="108000" marB="10800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Nominaler </a:t>
                      </a:r>
                      <a:r>
                        <a:rPr lang="de-DE" sz="900" dirty="0" err="1"/>
                        <a:t>Vermögenser</a:t>
                      </a:r>
                      <a:r>
                        <a:rPr lang="de-DE" sz="900" dirty="0"/>
                        <a:t>-</a:t>
                      </a:r>
                    </a:p>
                    <a:p>
                      <a:pPr algn="ctr">
                        <a:lnSpc>
                          <a:spcPts val="1300"/>
                        </a:lnSpc>
                      </a:pPr>
                      <a:r>
                        <a:rPr lang="de-DE" sz="900" dirty="0"/>
                        <a:t>halt ohne größere Wert-</a:t>
                      </a:r>
                    </a:p>
                    <a:p>
                      <a:pPr algn="ctr">
                        <a:lnSpc>
                          <a:spcPts val="1300"/>
                        </a:lnSpc>
                      </a:pPr>
                      <a:r>
                        <a:rPr lang="de-DE" sz="900" dirty="0" err="1"/>
                        <a:t>schwankungen</a:t>
                      </a:r>
                      <a:r>
                        <a:rPr lang="de-DE" sz="900" dirty="0"/>
                        <a:t> steht im </a:t>
                      </a:r>
                    </a:p>
                    <a:p>
                      <a:pPr algn="ctr">
                        <a:lnSpc>
                          <a:spcPts val="1300"/>
                        </a:lnSpc>
                      </a:pPr>
                      <a:r>
                        <a:rPr lang="de-DE" sz="900" dirty="0"/>
                        <a:t>Vordergrund. </a:t>
                      </a:r>
                    </a:p>
                  </a:txBody>
                  <a:tcPr marL="0" marR="0" marT="108000" marB="108000">
                    <a:lnL>
                      <a:noFill/>
                    </a:lnL>
                    <a:lnR>
                      <a:noFill/>
                    </a:lnR>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Ausgewogenes Verhältnis </a:t>
                      </a:r>
                    </a:p>
                    <a:p>
                      <a:pPr algn="ctr">
                        <a:lnSpc>
                          <a:spcPts val="1300"/>
                        </a:lnSpc>
                      </a:pPr>
                      <a:r>
                        <a:rPr lang="de-DE" sz="900" dirty="0"/>
                        <a:t>zwischen Ertragschancen </a:t>
                      </a:r>
                    </a:p>
                    <a:p>
                      <a:pPr algn="ctr">
                        <a:lnSpc>
                          <a:spcPts val="1300"/>
                        </a:lnSpc>
                      </a:pPr>
                      <a:r>
                        <a:rPr lang="de-DE" sz="900" dirty="0"/>
                        <a:t>und Risiken. Langfristig </a:t>
                      </a:r>
                      <a:r>
                        <a:rPr lang="de-DE" sz="900" dirty="0" err="1"/>
                        <a:t>be</a:t>
                      </a:r>
                      <a:r>
                        <a:rPr lang="de-DE" sz="900" dirty="0"/>
                        <a:t>-</a:t>
                      </a:r>
                    </a:p>
                    <a:p>
                      <a:pPr algn="ctr">
                        <a:lnSpc>
                          <a:spcPts val="1300"/>
                        </a:lnSpc>
                      </a:pPr>
                      <a:r>
                        <a:rPr lang="de-DE" sz="900" dirty="0"/>
                        <a:t>deutender, realer </a:t>
                      </a:r>
                      <a:r>
                        <a:rPr lang="de-DE" sz="900" dirty="0" err="1"/>
                        <a:t>Vermö</a:t>
                      </a:r>
                      <a:r>
                        <a:rPr lang="de-DE" sz="900" dirty="0"/>
                        <a:t>-</a:t>
                      </a:r>
                    </a:p>
                    <a:p>
                      <a:pPr algn="ctr">
                        <a:lnSpc>
                          <a:spcPts val="1300"/>
                        </a:lnSpc>
                      </a:pPr>
                      <a:r>
                        <a:rPr lang="de-DE" sz="900" dirty="0" err="1"/>
                        <a:t>genszuwachs</a:t>
                      </a:r>
                      <a:r>
                        <a:rPr lang="de-DE" sz="900" dirty="0"/>
                        <a:t>.</a:t>
                      </a:r>
                    </a:p>
                  </a:txBody>
                  <a:tcPr marL="0" marR="0" marT="108000" marB="108000">
                    <a:lnL>
                      <a:noFill/>
                    </a:lnL>
                    <a:lnR>
                      <a:noFill/>
                    </a:lnR>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108000" marB="10800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Höhere Risiken spiegeln </a:t>
                      </a:r>
                    </a:p>
                    <a:p>
                      <a:pPr algn="ctr">
                        <a:lnSpc>
                          <a:spcPts val="1300"/>
                        </a:lnSpc>
                      </a:pPr>
                      <a:r>
                        <a:rPr lang="de-DE" sz="900" dirty="0"/>
                        <a:t>sich in höheren Ertrags-</a:t>
                      </a:r>
                    </a:p>
                    <a:p>
                      <a:pPr algn="ctr">
                        <a:lnSpc>
                          <a:spcPts val="1300"/>
                        </a:lnSpc>
                      </a:pPr>
                      <a:r>
                        <a:rPr lang="de-DE" sz="900" dirty="0" err="1"/>
                        <a:t>chancen</a:t>
                      </a:r>
                      <a:r>
                        <a:rPr lang="de-DE" sz="900" dirty="0"/>
                        <a:t> wieder. </a:t>
                      </a:r>
                      <a:r>
                        <a:rPr lang="de-DE" sz="900" dirty="0" err="1"/>
                        <a:t>Langfris</a:t>
                      </a:r>
                      <a:r>
                        <a:rPr lang="de-DE" sz="900" dirty="0"/>
                        <a:t>-</a:t>
                      </a:r>
                    </a:p>
                    <a:p>
                      <a:pPr algn="ctr">
                        <a:lnSpc>
                          <a:spcPts val="1300"/>
                        </a:lnSpc>
                      </a:pPr>
                      <a:r>
                        <a:rPr lang="de-DE" sz="900" dirty="0" err="1"/>
                        <a:t>tiger</a:t>
                      </a:r>
                      <a:r>
                        <a:rPr lang="de-DE" sz="900" dirty="0"/>
                        <a:t>, überdurchschnitt-</a:t>
                      </a:r>
                      <a:br>
                        <a:rPr lang="de-DE" sz="900" dirty="0"/>
                      </a:br>
                      <a:r>
                        <a:rPr lang="de-DE" sz="900" dirty="0" err="1"/>
                        <a:t>licher</a:t>
                      </a:r>
                      <a:r>
                        <a:rPr lang="de-DE" sz="900" dirty="0"/>
                        <a:t> Vermögenszuwachs.</a:t>
                      </a:r>
                    </a:p>
                  </a:txBody>
                  <a:tcPr marL="0" marR="0" marT="108000" marB="108000">
                    <a:lnL>
                      <a:noFill/>
                    </a:lnL>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48731864"/>
                  </a:ext>
                </a:extLst>
              </a:tr>
              <a:tr h="370840">
                <a:tc>
                  <a:txBody>
                    <a:bodyPr/>
                    <a:lstStyle/>
                    <a:p>
                      <a:pPr>
                        <a:lnSpc>
                          <a:spcPts val="1300"/>
                        </a:lnSpc>
                      </a:pPr>
                      <a:r>
                        <a:rPr lang="de-DE" sz="900" b="1" dirty="0"/>
                        <a:t>Anlageregion</a:t>
                      </a:r>
                    </a:p>
                  </a:txBody>
                  <a:tcPr marL="72000" marR="72000" marT="108000" marB="108000">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ts val="13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Weltweit</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Weltweit</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Weltweit</a:t>
                      </a:r>
                    </a:p>
                  </a:txBody>
                  <a:tcPr marL="0" marR="0" marT="108000" marB="108000">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985023547"/>
                  </a:ext>
                </a:extLst>
              </a:tr>
              <a:tr h="370840">
                <a:tc>
                  <a:txBody>
                    <a:bodyPr/>
                    <a:lstStyle/>
                    <a:p>
                      <a:pPr>
                        <a:lnSpc>
                          <a:spcPts val="1300"/>
                        </a:lnSpc>
                      </a:pPr>
                      <a:r>
                        <a:rPr lang="de-DE" sz="900" b="1" dirty="0"/>
                        <a:t>Aktienanteil</a:t>
                      </a:r>
                    </a:p>
                  </a:txBody>
                  <a:tcPr marL="72000" marR="72000" marT="108000" marB="108000">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ts val="1300"/>
                        </a:lnSpc>
                      </a:pPr>
                      <a:endParaRPr lang="de-DE" sz="90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mind. 0 %, max.30 % </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 mind. 30 %, max. 70 % </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 mind. 70 %, </a:t>
                      </a:r>
                    </a:p>
                    <a:p>
                      <a:pPr algn="ctr">
                        <a:lnSpc>
                          <a:spcPts val="1300"/>
                        </a:lnSpc>
                      </a:pPr>
                      <a:r>
                        <a:rPr lang="de-DE" sz="900" dirty="0"/>
                        <a:t>max. 100 %</a:t>
                      </a:r>
                    </a:p>
                  </a:txBody>
                  <a:tcPr marL="0" marR="0" marT="108000" marB="108000">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88615533"/>
                  </a:ext>
                </a:extLst>
              </a:tr>
              <a:tr h="370840">
                <a:tc>
                  <a:txBody>
                    <a:bodyPr/>
                    <a:lstStyle/>
                    <a:p>
                      <a:pPr>
                        <a:lnSpc>
                          <a:spcPts val="1300"/>
                        </a:lnSpc>
                      </a:pPr>
                      <a:r>
                        <a:rPr lang="de-DE" sz="900" b="1" dirty="0" err="1"/>
                        <a:t>Anleihenanteil</a:t>
                      </a:r>
                      <a:r>
                        <a:rPr lang="de-DE" sz="900" b="1" dirty="0"/>
                        <a:t> / </a:t>
                      </a:r>
                    </a:p>
                    <a:p>
                      <a:pPr>
                        <a:lnSpc>
                          <a:spcPts val="1300"/>
                        </a:lnSpc>
                      </a:pPr>
                      <a:r>
                        <a:rPr lang="de-DE" sz="900" b="1" dirty="0"/>
                        <a:t>Liquidität </a:t>
                      </a:r>
                    </a:p>
                  </a:txBody>
                  <a:tcPr marL="72000" marR="72000" marT="108000" marB="108000">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ts val="1300"/>
                        </a:lnSpc>
                      </a:pPr>
                      <a:endParaRPr lang="de-DE" sz="90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endParaRPr lang="de-DE" sz="90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max. 100 % </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max. 70 % </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max. 30 %</a:t>
                      </a:r>
                    </a:p>
                  </a:txBody>
                  <a:tcPr marL="0" marR="0" marT="108000" marB="108000">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80682499"/>
                  </a:ext>
                </a:extLst>
              </a:tr>
              <a:tr h="370840">
                <a:tc>
                  <a:txBody>
                    <a:bodyPr/>
                    <a:lstStyle/>
                    <a:p>
                      <a:pPr>
                        <a:lnSpc>
                          <a:spcPts val="1300"/>
                        </a:lnSpc>
                      </a:pPr>
                      <a:r>
                        <a:rPr lang="de-DE" sz="900" b="1" dirty="0"/>
                        <a:t>Fremdwährungen</a:t>
                      </a:r>
                    </a:p>
                  </a:txBody>
                  <a:tcPr marL="72000" marR="72000" marT="108000" marB="108000">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tc>
                  <a:txBody>
                    <a:bodyPr/>
                    <a:lstStyle/>
                    <a:p>
                      <a:pPr>
                        <a:lnSpc>
                          <a:spcPts val="1300"/>
                        </a:lnSpc>
                      </a:pPr>
                      <a:endParaRPr lang="de-DE" sz="900" dirty="0"/>
                    </a:p>
                  </a:txBody>
                  <a:tcPr marL="0" marR="0" marT="0" marB="0">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Keine Limitierung </a:t>
                      </a:r>
                    </a:p>
                    <a:p>
                      <a:pPr algn="ctr">
                        <a:lnSpc>
                          <a:spcPts val="1300"/>
                        </a:lnSpc>
                      </a:pPr>
                      <a:r>
                        <a:rPr lang="de-DE" sz="900" dirty="0"/>
                        <a:t>aufgrund des  </a:t>
                      </a:r>
                    </a:p>
                    <a:p>
                      <a:pPr algn="ctr">
                        <a:lnSpc>
                          <a:spcPts val="1300"/>
                        </a:lnSpc>
                      </a:pPr>
                      <a:r>
                        <a:rPr lang="de-DE" sz="900" dirty="0"/>
                        <a:t>weltweiten Ansatzes.</a:t>
                      </a:r>
                    </a:p>
                  </a:txBody>
                  <a:tcPr marL="0" marR="0" marT="108000" marB="108000">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Keine Limitierung </a:t>
                      </a:r>
                    </a:p>
                    <a:p>
                      <a:pPr algn="ctr">
                        <a:lnSpc>
                          <a:spcPts val="1300"/>
                        </a:lnSpc>
                      </a:pPr>
                      <a:r>
                        <a:rPr lang="de-DE" sz="900" dirty="0"/>
                        <a:t>aufgrund des  </a:t>
                      </a:r>
                    </a:p>
                    <a:p>
                      <a:pPr algn="ctr">
                        <a:lnSpc>
                          <a:spcPts val="1300"/>
                        </a:lnSpc>
                      </a:pPr>
                      <a:r>
                        <a:rPr lang="de-DE" sz="900" dirty="0"/>
                        <a:t>weltweiten Ansatzes.</a:t>
                      </a:r>
                    </a:p>
                  </a:txBody>
                  <a:tcPr marL="0" marR="0" marT="108000" marB="108000">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Keine Limitierung </a:t>
                      </a:r>
                    </a:p>
                    <a:p>
                      <a:pPr algn="ctr">
                        <a:lnSpc>
                          <a:spcPts val="1300"/>
                        </a:lnSpc>
                      </a:pPr>
                      <a:r>
                        <a:rPr lang="de-DE" sz="900" dirty="0"/>
                        <a:t>aufgrund des  </a:t>
                      </a:r>
                    </a:p>
                    <a:p>
                      <a:pPr algn="ctr">
                        <a:lnSpc>
                          <a:spcPts val="1300"/>
                        </a:lnSpc>
                      </a:pPr>
                      <a:r>
                        <a:rPr lang="de-DE" sz="900" dirty="0"/>
                        <a:t>weltweiten Ansatzes.</a:t>
                      </a:r>
                    </a:p>
                  </a:txBody>
                  <a:tcPr marL="0" marR="0" marT="108000" marB="108000">
                    <a:lnL>
                      <a:noFill/>
                    </a:lnL>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46866869"/>
                  </a:ext>
                </a:extLst>
              </a:tr>
            </a:tbl>
          </a:graphicData>
        </a:graphic>
      </p:graphicFrame>
      <p:sp>
        <p:nvSpPr>
          <p:cNvPr id="2" name="Titel">
            <a:extLst>
              <a:ext uri="{FF2B5EF4-FFF2-40B4-BE49-F238E27FC236}">
                <a16:creationId xmlns:a16="http://schemas.microsoft.com/office/drawing/2014/main" id="{F401EBA1-E5FC-9FBC-793D-EB26966EC660}"/>
              </a:ext>
            </a:extLst>
          </p:cNvPr>
          <p:cNvSpPr>
            <a:spLocks noGrp="1" noRot="1" noMove="1" noResize="1" noEditPoints="1" noAdjustHandles="1" noChangeArrowheads="1" noChangeShapeType="1"/>
          </p:cNvSpPr>
          <p:nvPr>
            <p:ph type="title"/>
          </p:nvPr>
        </p:nvSpPr>
        <p:spPr/>
        <p:txBody>
          <a:bodyPr/>
          <a:lstStyle/>
          <a:p>
            <a:r>
              <a:rPr lang="de-DE" dirty="0"/>
              <a:t>Unsere drei klassischen Portfolioverwaltungsstrategien</a:t>
            </a:r>
          </a:p>
        </p:txBody>
      </p:sp>
    </p:spTree>
    <p:extLst>
      <p:ext uri="{BB962C8B-B14F-4D97-AF65-F5344CB8AC3E}">
        <p14:creationId xmlns:p14="http://schemas.microsoft.com/office/powerpoint/2010/main" val="4254354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6</a:t>
            </a:fld>
            <a:endParaRPr lang="de-DE"/>
          </a:p>
        </p:txBody>
      </p:sp>
      <p:graphicFrame>
        <p:nvGraphicFramePr>
          <p:cNvPr id="5" name="C_Kennzahlen">
            <a:extLst>
              <a:ext uri="{FF2B5EF4-FFF2-40B4-BE49-F238E27FC236}">
                <a16:creationId xmlns:a16="http://schemas.microsoft.com/office/drawing/2014/main" id="{00000000-0008-0000-1D00-000002000000}"/>
              </a:ext>
            </a:extLst>
          </p:cNvPr>
          <p:cNvGraphicFramePr>
            <a:graphicFrameLocks noGrp="1" noDrilldown="1" noMove="1" noResize="1"/>
          </p:cNvGraphicFramePr>
          <p:nvPr>
            <p:extLst>
              <p:ext uri="{D42A27DB-BD31-4B8C-83A1-F6EECF244321}">
                <p14:modId xmlns:p14="http://schemas.microsoft.com/office/powerpoint/2010/main" val="2596528670"/>
              </p:ext>
            </p:extLst>
          </p:nvPr>
        </p:nvGraphicFramePr>
        <p:xfrm>
          <a:off x="355600" y="2666999"/>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F4833324-B064-82C0-8EF8-37B90D5F0B25}"/>
              </a:ext>
            </a:extLst>
          </p:cNvPr>
          <p:cNvGraphicFramePr>
            <a:graphicFrameLocks noGrp="1" noDrilldown="1" noMove="1" noResize="1"/>
          </p:cNvGraphicFramePr>
          <p:nvPr>
            <p:extLst>
              <p:ext uri="{D42A27DB-BD31-4B8C-83A1-F6EECF244321}">
                <p14:modId xmlns:p14="http://schemas.microsoft.com/office/powerpoint/2010/main" val="1228108349"/>
              </p:ext>
            </p:extLst>
          </p:nvPr>
        </p:nvGraphicFramePr>
        <p:xfrm>
          <a:off x="4508500" y="1040400"/>
          <a:ext cx="5613400" cy="4774152"/>
        </p:xfrm>
        <a:graphic>
          <a:graphicData uri="http://schemas.openxmlformats.org/drawingml/2006/table">
            <a:tbl>
              <a:tblPr/>
              <a:tblGrid>
                <a:gridCol w="2184400">
                  <a:extLst>
                    <a:ext uri="{9D8B030D-6E8A-4147-A177-3AD203B41FA5}">
                      <a16:colId xmlns:a16="http://schemas.microsoft.com/office/drawing/2014/main" val="4153112938"/>
                    </a:ext>
                  </a:extLst>
                </a:gridCol>
                <a:gridCol w="50800">
                  <a:extLst>
                    <a:ext uri="{9D8B030D-6E8A-4147-A177-3AD203B41FA5}">
                      <a16:colId xmlns:a16="http://schemas.microsoft.com/office/drawing/2014/main" val="1500571226"/>
                    </a:ext>
                  </a:extLst>
                </a:gridCol>
                <a:gridCol w="571500">
                  <a:extLst>
                    <a:ext uri="{9D8B030D-6E8A-4147-A177-3AD203B41FA5}">
                      <a16:colId xmlns:a16="http://schemas.microsoft.com/office/drawing/2014/main" val="722675435"/>
                    </a:ext>
                  </a:extLst>
                </a:gridCol>
                <a:gridCol w="50800">
                  <a:extLst>
                    <a:ext uri="{9D8B030D-6E8A-4147-A177-3AD203B41FA5}">
                      <a16:colId xmlns:a16="http://schemas.microsoft.com/office/drawing/2014/main" val="2099602808"/>
                    </a:ext>
                  </a:extLst>
                </a:gridCol>
                <a:gridCol w="571500">
                  <a:extLst>
                    <a:ext uri="{9D8B030D-6E8A-4147-A177-3AD203B41FA5}">
                      <a16:colId xmlns:a16="http://schemas.microsoft.com/office/drawing/2014/main" val="4196713188"/>
                    </a:ext>
                  </a:extLst>
                </a:gridCol>
                <a:gridCol w="50800">
                  <a:extLst>
                    <a:ext uri="{9D8B030D-6E8A-4147-A177-3AD203B41FA5}">
                      <a16:colId xmlns:a16="http://schemas.microsoft.com/office/drawing/2014/main" val="4148129269"/>
                    </a:ext>
                  </a:extLst>
                </a:gridCol>
                <a:gridCol w="571500">
                  <a:extLst>
                    <a:ext uri="{9D8B030D-6E8A-4147-A177-3AD203B41FA5}">
                      <a16:colId xmlns:a16="http://schemas.microsoft.com/office/drawing/2014/main" val="4034548364"/>
                    </a:ext>
                  </a:extLst>
                </a:gridCol>
                <a:gridCol w="50800">
                  <a:extLst>
                    <a:ext uri="{9D8B030D-6E8A-4147-A177-3AD203B41FA5}">
                      <a16:colId xmlns:a16="http://schemas.microsoft.com/office/drawing/2014/main" val="3910902470"/>
                    </a:ext>
                  </a:extLst>
                </a:gridCol>
                <a:gridCol w="571500">
                  <a:extLst>
                    <a:ext uri="{9D8B030D-6E8A-4147-A177-3AD203B41FA5}">
                      <a16:colId xmlns:a16="http://schemas.microsoft.com/office/drawing/2014/main" val="2924086657"/>
                    </a:ext>
                  </a:extLst>
                </a:gridCol>
                <a:gridCol w="50800">
                  <a:extLst>
                    <a:ext uri="{9D8B030D-6E8A-4147-A177-3AD203B41FA5}">
                      <a16:colId xmlns:a16="http://schemas.microsoft.com/office/drawing/2014/main" val="679987118"/>
                    </a:ext>
                  </a:extLst>
                </a:gridCol>
                <a:gridCol w="889000">
                  <a:extLst>
                    <a:ext uri="{9D8B030D-6E8A-4147-A177-3AD203B41FA5}">
                      <a16:colId xmlns:a16="http://schemas.microsoft.com/office/drawing/2014/main" val="1193354134"/>
                    </a:ext>
                  </a:extLst>
                </a:gridCol>
              </a:tblGrid>
              <a:tr h="216000">
                <a:tc>
                  <a:txBody>
                    <a:bodyPr/>
                    <a:lstStyle/>
                    <a:p>
                      <a:pPr algn="l" fontAlgn="ctr">
                        <a:buNone/>
                      </a:pPr>
                      <a:r>
                        <a:rPr lang="de-DE" sz="700" b="0" i="0" u="none" strike="noStrike">
                          <a:solidFill>
                            <a:srgbClr val="FFFFFF"/>
                          </a:solidFill>
                          <a:effectLst/>
                          <a:latin typeface="Noto Sans" panose="020B0502040504020204" pitchFamily="34" charset="0"/>
                        </a:rPr>
                        <a:t>WERTPAPIER</a:t>
                      </a:r>
                    </a:p>
                  </a:txBody>
                  <a:tcPr marL="68485"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3447777089"/>
                  </a:ext>
                </a:extLst>
              </a:tr>
              <a:tr h="189923">
                <a:tc>
                  <a:txBody>
                    <a:bodyPr/>
                    <a:lstStyle/>
                    <a:p>
                      <a:pPr algn="l" fontAlgn="ctr">
                        <a:buNone/>
                      </a:pPr>
                      <a:r>
                        <a:rPr lang="de-DE" sz="700" b="1" i="0" u="none" strike="noStrike">
                          <a:solidFill>
                            <a:srgbClr val="000000"/>
                          </a:solidFill>
                          <a:effectLst/>
                          <a:latin typeface="Noto Sans" panose="020B0502040504020204" pitchFamily="34" charset="0"/>
                        </a:rPr>
                        <a:t>AKTIEN</a:t>
                      </a:r>
                    </a:p>
                  </a:txBody>
                  <a:tcPr marL="68485"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92546104"/>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Allianz SE</a:t>
                      </a:r>
                    </a:p>
                  </a:txBody>
                  <a:tcPr marL="68485"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840400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3,00%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708286643"/>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Berkshire Hathaway Inc. B</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A0YJQ2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2,97%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5080424"/>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Deutsche Telekom AG</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555750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2,84%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14141802"/>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Johnson &amp; Johnson</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853260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4,21%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68525661"/>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Microsoft Corp.</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870747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2,41%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30498066"/>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Philip Morris Internat. Inc.</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A0NDBJ</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3,01%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535066613"/>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Shell PLC</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A3C99G</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3,53%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29853594"/>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Walmart Inc.</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860853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3,87%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39388421"/>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Waste Management Inc.</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893579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2,75%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98440258"/>
                  </a:ext>
                </a:extLst>
              </a:tr>
              <a:tr h="189923">
                <a:tc>
                  <a:txBody>
                    <a:bodyPr/>
                    <a:lstStyle/>
                    <a:p>
                      <a:pPr algn="l" fontAlgn="ctr">
                        <a:buNone/>
                      </a:pPr>
                      <a:r>
                        <a:rPr lang="de-DE" sz="700" b="1" i="0" u="none" strike="noStrike">
                          <a:solidFill>
                            <a:srgbClr val="000000"/>
                          </a:solidFill>
                          <a:effectLst/>
                          <a:latin typeface="Noto Sans" panose="020B0502040504020204" pitchFamily="34" charset="0"/>
                        </a:rPr>
                        <a:t>RENTEN</a:t>
                      </a:r>
                    </a:p>
                  </a:txBody>
                  <a:tcPr marL="68485"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KUPON</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FÄLLIGKEIT</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35744075"/>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Bayer IHS </a:t>
                      </a:r>
                    </a:p>
                  </a:txBody>
                  <a:tcPr marL="68485"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26.08.26</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A351UZ</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6,19%</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22380784"/>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Belgien Staat </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0,0 %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22.10.31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A287RJ</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6,13%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90062898"/>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Dt. Pfandbriefbk. Green Bond IHS </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05.02.27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A30WF8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5,42%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2143736"/>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EnBW Green Bond IHS </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4,3 %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23.05.34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A3LREF</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6,00%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45885989"/>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Fraport IHS </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1,875 %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31.03.28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A3E5F0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7,19%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28571560"/>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Grenke Finance IHS </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5,75 %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06.07.29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A3LY39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5,54%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92451202"/>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Heidelberg Materials IHS </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3,75 %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31.05.32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A30V5U</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5,52%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574287411"/>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Hochtief IHS </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4,25 %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31.05.30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A383EL</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5,78%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974032682"/>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Porsche IHS </a:t>
                      </a:r>
                    </a:p>
                  </a:txBody>
                  <a:tcPr marL="68485"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4,25 %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27.09.30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A351SX</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6,12%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19614073"/>
                  </a:ext>
                </a:extLst>
              </a:tr>
              <a:tr h="189923">
                <a:tc>
                  <a:txBody>
                    <a:bodyPr/>
                    <a:lstStyle/>
                    <a:p>
                      <a:pPr algn="l" fontAlgn="ctr">
                        <a:buNone/>
                      </a:pPr>
                      <a:r>
                        <a:rPr lang="de-DE" sz="700" b="1" i="0" u="none" strike="noStrike">
                          <a:solidFill>
                            <a:srgbClr val="000000"/>
                          </a:solidFill>
                          <a:effectLst/>
                          <a:latin typeface="Noto Sans" panose="020B0502040504020204" pitchFamily="34" charset="0"/>
                        </a:rPr>
                        <a:t>EDELMETALLE</a:t>
                      </a:r>
                    </a:p>
                  </a:txBody>
                  <a:tcPr marL="68485"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177155215"/>
                  </a:ext>
                </a:extLst>
              </a:tr>
              <a:tr h="189923">
                <a:tc>
                  <a:txBody>
                    <a:bodyPr/>
                    <a:lstStyle/>
                    <a:p>
                      <a:pPr algn="l" fontAlgn="ctr">
                        <a:buNone/>
                      </a:pPr>
                      <a:r>
                        <a:rPr lang="de-DE" sz="700" b="0" i="0" u="none" strike="noStrike">
                          <a:solidFill>
                            <a:srgbClr val="000000"/>
                          </a:solidFill>
                          <a:effectLst/>
                          <a:latin typeface="Noto Sans" panose="020B0502040504020204" pitchFamily="34" charset="0"/>
                        </a:rPr>
                        <a:t>XETRA Gold</a:t>
                      </a:r>
                    </a:p>
                  </a:txBody>
                  <a:tcPr marL="68485"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A0S9GB</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11,95%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494369209"/>
                  </a:ext>
                </a:extLst>
              </a:tr>
              <a:tr h="189923">
                <a:tc>
                  <a:txBody>
                    <a:bodyPr/>
                    <a:lstStyle/>
                    <a:p>
                      <a:pPr algn="l" fontAlgn="ctr">
                        <a:buNone/>
                      </a:pPr>
                      <a:r>
                        <a:rPr lang="de-DE" sz="700" b="1" i="0" u="none" strike="noStrike">
                          <a:solidFill>
                            <a:srgbClr val="000000"/>
                          </a:solidFill>
                          <a:effectLst/>
                          <a:latin typeface="Noto Sans" panose="020B0502040504020204" pitchFamily="34" charset="0"/>
                        </a:rPr>
                        <a:t>LIQUIDITÄT</a:t>
                      </a:r>
                    </a:p>
                  </a:txBody>
                  <a:tcPr marL="68485"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5,56%</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54466784"/>
                  </a:ext>
                </a:extLst>
              </a:tr>
              <a:tr h="189923">
                <a:tc>
                  <a:txBody>
                    <a:bodyPr/>
                    <a:lstStyle/>
                    <a:p>
                      <a:pPr algn="l" fontAlgn="ctr">
                        <a:buNone/>
                      </a:pPr>
                      <a:r>
                        <a:rPr lang="de-DE" sz="700" b="1" i="0" u="none" strike="noStrike">
                          <a:solidFill>
                            <a:srgbClr val="000000"/>
                          </a:solidFill>
                          <a:effectLst/>
                          <a:latin typeface="Noto Sans" panose="020B0502040504020204" pitchFamily="34" charset="0"/>
                        </a:rPr>
                        <a:t> </a:t>
                      </a:r>
                    </a:p>
                  </a:txBody>
                  <a:tcPr marL="68485"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100,00%</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dirty="0">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11104608"/>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p:cNvGraphicFramePr>
          <p:nvPr>
            <p:ph type="tbl" sz="quarter" idx="13"/>
            <p:extLst>
              <p:ext uri="{D42A27DB-BD31-4B8C-83A1-F6EECF244321}">
                <p14:modId xmlns:p14="http://schemas.microsoft.com/office/powerpoint/2010/main" val="2422630300"/>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a:solidFill>
                            <a:schemeClr val="bg1"/>
                          </a:solidFill>
                        </a:rPr>
                        <a:t>FPFB Strategie 30</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Schwerpunkt Europa</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783001" rtl="0" eaLnBrk="1" fontAlgn="auto" latinLnBrk="0" hangingPunct="1">
                        <a:lnSpc>
                          <a:spcPct val="100000"/>
                        </a:lnSpc>
                        <a:spcBef>
                          <a:spcPts val="0"/>
                        </a:spcBef>
                        <a:spcAft>
                          <a:spcPts val="0"/>
                        </a:spcAft>
                        <a:buClrTx/>
                        <a:buSzTx/>
                        <a:buFontTx/>
                        <a:buNone/>
                        <a:tabLst/>
                        <a:defRPr/>
                      </a:pPr>
                      <a:r>
                        <a:rPr lang="de-DE" sz="900" b="0" dirty="0"/>
                        <a:t>max. 30 %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err="1"/>
                        <a:t>Anleihenanteil</a:t>
                      </a:r>
                      <a:r>
                        <a:rPr lang="de-DE" sz="900" b="0" dirty="0"/>
                        <a:t> / 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100%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Unbegrenzt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Portfolioverwaltung 30</a:t>
            </a:r>
          </a:p>
        </p:txBody>
      </p:sp>
    </p:spTree>
    <p:extLst>
      <p:ext uri="{BB962C8B-B14F-4D97-AF65-F5344CB8AC3E}">
        <p14:creationId xmlns:p14="http://schemas.microsoft.com/office/powerpoint/2010/main" val="3986531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latin typeface="Noto Sans (Textkörper)"/>
              </a:rPr>
              <a:t>* nach Kosten</a:t>
            </a:r>
          </a:p>
          <a:p>
            <a:r>
              <a:rPr lang="de-DE" dirty="0">
                <a:latin typeface="Noto Sans (Textkörper)"/>
              </a:rPr>
              <a:t>** ab 30.06. abzüglich des halbjährlichen Honorarsatzes</a:t>
            </a:r>
          </a:p>
          <a:p>
            <a:r>
              <a:rPr lang="de-DE" dirty="0">
                <a:latin typeface="Noto Sans (Textkörper)"/>
              </a:rPr>
              <a:t>*** 7,5% Euro </a:t>
            </a:r>
            <a:r>
              <a:rPr lang="de-DE" dirty="0" err="1">
                <a:latin typeface="Noto Sans (Textkörper)"/>
              </a:rPr>
              <a:t>Stoxx</a:t>
            </a:r>
            <a:r>
              <a:rPr lang="de-DE" dirty="0">
                <a:latin typeface="Noto Sans (Textkörper)"/>
              </a:rPr>
              <a:t> 50; 7,5% MSCI World ; 42,5% </a:t>
            </a:r>
            <a:r>
              <a:rPr lang="de-DE" dirty="0" err="1">
                <a:latin typeface="Noto Sans (Textkörper)"/>
              </a:rPr>
              <a:t>iBoxx</a:t>
            </a:r>
            <a:r>
              <a:rPr lang="de-DE" dirty="0">
                <a:latin typeface="Noto Sans (Textkörper)"/>
              </a:rPr>
              <a:t> Corp. OV. 3-5 RE; 42,5% </a:t>
            </a:r>
            <a:r>
              <a:rPr lang="de-DE" dirty="0" err="1">
                <a:latin typeface="Noto Sans (Textkörper)"/>
              </a:rPr>
              <a:t>iBoxx</a:t>
            </a:r>
            <a:r>
              <a:rPr lang="de-DE" dirty="0">
                <a:latin typeface="Noto Sans (Textkörper)"/>
              </a:rPr>
              <a:t> E Germany 5-7 TR</a:t>
            </a:r>
          </a:p>
          <a:p>
            <a:endParaRPr lang="de-DE" dirty="0">
              <a:latin typeface="Noto Sans (Textkörper)"/>
            </a:endParaRPr>
          </a:p>
          <a:p>
            <a:r>
              <a:rPr lang="de-DE" dirty="0">
                <a:latin typeface="Noto Sans (Textkörper)"/>
              </a:rPr>
              <a:t>Die aufgeführten Zahlen beziehen sich auf die Wertentwicklung in der Vergangenheit. Wert und Erträge einer Vermögensanlage können steigen oder fallen. Eine positive Entwicklung in der Vergangenheit ist keine Garantie für eine zukünftige Wertentwicklung. </a:t>
            </a:r>
          </a:p>
          <a:p>
            <a:pPr marL="0" indent="0" algn="l" rtl="0" latinLnBrk="0">
              <a:spcBef>
                <a:spcPts val="0"/>
              </a:spcBef>
              <a:spcAft>
                <a:spcPts val="0"/>
              </a:spcAft>
            </a:pPr>
            <a:r>
              <a:rPr lang="de-DE" b="0" i="0" dirty="0">
                <a:effectLst/>
                <a:latin typeface="Noto Sans (Textkörper)"/>
              </a:rPr>
              <a:t>Der unterjährige Performance</a:t>
            </a:r>
            <a:r>
              <a:rPr lang="de-DE" b="1" i="0" dirty="0">
                <a:effectLst/>
                <a:latin typeface="Noto Sans (Textkörper)"/>
              </a:rPr>
              <a:t>-</a:t>
            </a:r>
            <a:r>
              <a:rPr lang="de-DE" b="0" i="0" dirty="0">
                <a:effectLst/>
                <a:latin typeface="Noto Sans (Textkörper)"/>
              </a:rPr>
              <a:t>Ausweis erfolgt vor Kosten (ab 30.06. abzüglich des halbjährigen Honorarsatzes). Die weiteren Performance</a:t>
            </a:r>
            <a:r>
              <a:rPr lang="de-DE" b="1" i="0" dirty="0">
                <a:effectLst/>
                <a:latin typeface="Noto Sans (Textkörper)"/>
              </a:rPr>
              <a:t>-</a:t>
            </a:r>
            <a:r>
              <a:rPr lang="de-DE" b="0" i="0" dirty="0">
                <a:effectLst/>
                <a:latin typeface="Noto Sans (Textkörper)"/>
              </a:rPr>
              <a:t>Angaben wurden nach</a:t>
            </a:r>
            <a:r>
              <a:rPr lang="de-DE" dirty="0">
                <a:latin typeface="Noto Sans (Textkörper)"/>
              </a:rPr>
              <a:t> </a:t>
            </a:r>
            <a:r>
              <a:rPr lang="de-DE" b="0" i="0" dirty="0">
                <a:effectLst/>
                <a:latin typeface="Noto Sans (Textkörper)"/>
              </a:rPr>
              <a:t>Kosten berechnet. Sowohl das VV-Honorar als auch fremde Spesen und evtl. Produktkosten wurden berücksichtigt. Die Inflation kann negative Auswirkungen auf den Wert und die nominale Rendite Ihres Anlagevermögens haben. So kann insbesondere bei risikofreien Anlagen ein Wertverlust dadurch eintreten, dass die negative Auswirkung der Inflation die nominale Rendite übersteigt. Auch eine geringe Anlagedauer und die Gesamtkosten und Gebührenkönnen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7</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ADD23963-F39D-4AE6-A44C-7B1B634AA4B6}" type="datetime1">
              <a:rPr lang="de-DE" sz="600" smtClean="0">
                <a:solidFill>
                  <a:schemeClr val="bg2"/>
                </a:solidFill>
              </a:rPr>
              <a:t>20.07.2026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2196641515"/>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915083446"/>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solidFill>
              <a:schemeClr val="accent1"/>
            </a:solid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3612043249"/>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4828366"/>
                  </a:ext>
                </a:extLst>
              </a:tr>
              <a:tr h="288000">
                <a:tc>
                  <a:txBody>
                    <a:bodyPr/>
                    <a:lstStyle/>
                    <a:p>
                      <a:r>
                        <a:rPr lang="de-DE" sz="900" b="0" dirty="0"/>
                        <a:t>Wertentwicklung seit 2024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14,78%</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2024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5,54%</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1,64%</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3,31</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3747350"/>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Comdirect 30 | </a:t>
            </a:r>
            <a:r>
              <a:rPr lang="de-DE" b="0" dirty="0"/>
              <a:t>Wertentwicklung</a:t>
            </a:r>
          </a:p>
        </p:txBody>
      </p:sp>
    </p:spTree>
    <p:extLst>
      <p:ext uri="{BB962C8B-B14F-4D97-AF65-F5344CB8AC3E}">
        <p14:creationId xmlns:p14="http://schemas.microsoft.com/office/powerpoint/2010/main" val="312681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8</a:t>
            </a:fld>
            <a:endParaRPr lang="de-DE"/>
          </a:p>
        </p:txBody>
      </p:sp>
      <p:graphicFrame>
        <p:nvGraphicFramePr>
          <p:cNvPr id="5" name="C_Kennzahlen">
            <a:extLst>
              <a:ext uri="{FF2B5EF4-FFF2-40B4-BE49-F238E27FC236}">
                <a16:creationId xmlns:a16="http://schemas.microsoft.com/office/drawing/2014/main" id="{00000000-0008-0000-1D00-000003000000}"/>
              </a:ext>
            </a:extLst>
          </p:cNvPr>
          <p:cNvGraphicFramePr>
            <a:graphicFrameLocks noGrp="1" noDrilldown="1" noMove="1" noResize="1"/>
          </p:cNvGraphicFramePr>
          <p:nvPr>
            <p:extLst>
              <p:ext uri="{D42A27DB-BD31-4B8C-83A1-F6EECF244321}">
                <p14:modId xmlns:p14="http://schemas.microsoft.com/office/powerpoint/2010/main" val="3812792983"/>
              </p:ext>
            </p:extLst>
          </p:nvPr>
        </p:nvGraphicFramePr>
        <p:xfrm>
          <a:off x="355600" y="2666999"/>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E0F2647C-3EB3-683F-BEA6-2C58994DC92F}"/>
              </a:ext>
            </a:extLst>
          </p:cNvPr>
          <p:cNvGraphicFramePr>
            <a:graphicFrameLocks noGrp="1" noDrilldown="1" noMove="1" noResize="1"/>
          </p:cNvGraphicFramePr>
          <p:nvPr>
            <p:extLst>
              <p:ext uri="{D42A27DB-BD31-4B8C-83A1-F6EECF244321}">
                <p14:modId xmlns:p14="http://schemas.microsoft.com/office/powerpoint/2010/main" val="131613901"/>
              </p:ext>
            </p:extLst>
          </p:nvPr>
        </p:nvGraphicFramePr>
        <p:xfrm>
          <a:off x="4508500" y="1040400"/>
          <a:ext cx="5613400" cy="4773411"/>
        </p:xfrm>
        <a:graphic>
          <a:graphicData uri="http://schemas.openxmlformats.org/drawingml/2006/table">
            <a:tbl>
              <a:tblPr/>
              <a:tblGrid>
                <a:gridCol w="2184400">
                  <a:extLst>
                    <a:ext uri="{9D8B030D-6E8A-4147-A177-3AD203B41FA5}">
                      <a16:colId xmlns:a16="http://schemas.microsoft.com/office/drawing/2014/main" val="930516035"/>
                    </a:ext>
                  </a:extLst>
                </a:gridCol>
                <a:gridCol w="50800">
                  <a:extLst>
                    <a:ext uri="{9D8B030D-6E8A-4147-A177-3AD203B41FA5}">
                      <a16:colId xmlns:a16="http://schemas.microsoft.com/office/drawing/2014/main" val="3569727738"/>
                    </a:ext>
                  </a:extLst>
                </a:gridCol>
                <a:gridCol w="571500">
                  <a:extLst>
                    <a:ext uri="{9D8B030D-6E8A-4147-A177-3AD203B41FA5}">
                      <a16:colId xmlns:a16="http://schemas.microsoft.com/office/drawing/2014/main" val="2641932948"/>
                    </a:ext>
                  </a:extLst>
                </a:gridCol>
                <a:gridCol w="50800">
                  <a:extLst>
                    <a:ext uri="{9D8B030D-6E8A-4147-A177-3AD203B41FA5}">
                      <a16:colId xmlns:a16="http://schemas.microsoft.com/office/drawing/2014/main" val="875571981"/>
                    </a:ext>
                  </a:extLst>
                </a:gridCol>
                <a:gridCol w="571500">
                  <a:extLst>
                    <a:ext uri="{9D8B030D-6E8A-4147-A177-3AD203B41FA5}">
                      <a16:colId xmlns:a16="http://schemas.microsoft.com/office/drawing/2014/main" val="2560234929"/>
                    </a:ext>
                  </a:extLst>
                </a:gridCol>
                <a:gridCol w="50800">
                  <a:extLst>
                    <a:ext uri="{9D8B030D-6E8A-4147-A177-3AD203B41FA5}">
                      <a16:colId xmlns:a16="http://schemas.microsoft.com/office/drawing/2014/main" val="1842181968"/>
                    </a:ext>
                  </a:extLst>
                </a:gridCol>
                <a:gridCol w="571500">
                  <a:extLst>
                    <a:ext uri="{9D8B030D-6E8A-4147-A177-3AD203B41FA5}">
                      <a16:colId xmlns:a16="http://schemas.microsoft.com/office/drawing/2014/main" val="2661903168"/>
                    </a:ext>
                  </a:extLst>
                </a:gridCol>
                <a:gridCol w="50800">
                  <a:extLst>
                    <a:ext uri="{9D8B030D-6E8A-4147-A177-3AD203B41FA5}">
                      <a16:colId xmlns:a16="http://schemas.microsoft.com/office/drawing/2014/main" val="3784987372"/>
                    </a:ext>
                  </a:extLst>
                </a:gridCol>
                <a:gridCol w="571500">
                  <a:extLst>
                    <a:ext uri="{9D8B030D-6E8A-4147-A177-3AD203B41FA5}">
                      <a16:colId xmlns:a16="http://schemas.microsoft.com/office/drawing/2014/main" val="941774286"/>
                    </a:ext>
                  </a:extLst>
                </a:gridCol>
                <a:gridCol w="50800">
                  <a:extLst>
                    <a:ext uri="{9D8B030D-6E8A-4147-A177-3AD203B41FA5}">
                      <a16:colId xmlns:a16="http://schemas.microsoft.com/office/drawing/2014/main" val="4214180977"/>
                    </a:ext>
                  </a:extLst>
                </a:gridCol>
                <a:gridCol w="889000">
                  <a:extLst>
                    <a:ext uri="{9D8B030D-6E8A-4147-A177-3AD203B41FA5}">
                      <a16:colId xmlns:a16="http://schemas.microsoft.com/office/drawing/2014/main" val="406558374"/>
                    </a:ext>
                  </a:extLst>
                </a:gridCol>
              </a:tblGrid>
              <a:tr h="216000">
                <a:tc>
                  <a:txBody>
                    <a:bodyPr/>
                    <a:lstStyle/>
                    <a:p>
                      <a:pPr algn="l" fontAlgn="ctr">
                        <a:buNone/>
                      </a:pPr>
                      <a:r>
                        <a:rPr lang="de-DE" sz="700" b="0" i="0" u="none" strike="noStrike">
                          <a:solidFill>
                            <a:srgbClr val="FFFFFF"/>
                          </a:solidFill>
                          <a:effectLst/>
                          <a:latin typeface="Noto Sans" panose="020B0502040504020204" pitchFamily="34" charset="0"/>
                        </a:rPr>
                        <a:t>WERTPAPIER</a:t>
                      </a:r>
                    </a:p>
                  </a:txBody>
                  <a:tcPr marL="68706"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2465337888"/>
                  </a:ext>
                </a:extLst>
              </a:tr>
              <a:tr h="168793">
                <a:tc>
                  <a:txBody>
                    <a:bodyPr/>
                    <a:lstStyle/>
                    <a:p>
                      <a:pPr algn="l" fontAlgn="ctr">
                        <a:buNone/>
                      </a:pPr>
                      <a:r>
                        <a:rPr lang="de-DE" sz="700" b="1" i="0" u="none" strike="noStrike">
                          <a:solidFill>
                            <a:srgbClr val="000000"/>
                          </a:solidFill>
                          <a:effectLst/>
                          <a:latin typeface="Noto Sans" panose="020B0502040504020204" pitchFamily="34" charset="0"/>
                        </a:rPr>
                        <a:t>AKTIEN</a:t>
                      </a:r>
                    </a:p>
                  </a:txBody>
                  <a:tcPr marL="68706"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74623308"/>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Airbus SE</a:t>
                      </a:r>
                    </a:p>
                  </a:txBody>
                  <a:tcPr marL="68706"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938914</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5,63%</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57735546"/>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Amazon.com Inc.</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906866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4,32%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3803736"/>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Apple Inc.</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865985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3,27%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13384986"/>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Berkshire Hathaway Inc. B</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A0YJQ2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6,93%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54381301"/>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Deutsche Telekom AG</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555750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5,42%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509819699"/>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Global Active ESG Equity ETF (Invesco)</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A2PHJT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7,32%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443949704"/>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Johnson &amp; Johnson</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853260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4,23%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63265622"/>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LVMH Moët Henn. L. Vuitton SE</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853292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3,32%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510783540"/>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Microsoft Corp.</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870747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4,54%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31337427"/>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Münchener Rückvers.-Ges. AG</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843002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5,39%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70440281"/>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NVIDIA Corp.</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918422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4,84%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61824296"/>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Rheinmetall AG</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703000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2,17%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82110441"/>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Shell PLC</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A3C99G</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4,84%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104231863"/>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Walmart Inc.</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860853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4,89%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90325778"/>
                  </a:ext>
                </a:extLst>
              </a:tr>
              <a:tr h="168793">
                <a:tc>
                  <a:txBody>
                    <a:bodyPr/>
                    <a:lstStyle/>
                    <a:p>
                      <a:pPr algn="l" fontAlgn="ctr">
                        <a:buNone/>
                      </a:pPr>
                      <a:r>
                        <a:rPr lang="de-DE" sz="700" b="1" i="0" u="none" strike="noStrike">
                          <a:solidFill>
                            <a:srgbClr val="000000"/>
                          </a:solidFill>
                          <a:effectLst/>
                          <a:latin typeface="Noto Sans" panose="020B0502040504020204" pitchFamily="34" charset="0"/>
                        </a:rPr>
                        <a:t>RENTEN</a:t>
                      </a:r>
                    </a:p>
                  </a:txBody>
                  <a:tcPr marL="68706"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KUPON</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FÄLLIGKEIT</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476646912"/>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Bayer IHS </a:t>
                      </a:r>
                    </a:p>
                  </a:txBody>
                  <a:tcPr marL="68706"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26.08.26</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A351UZ</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2,64%</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62006834"/>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Belgien Staat </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0,0 %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22.10.31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A287RJ</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2,89%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34842289"/>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E.ON Green Bond IHS </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3,875 %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12.01.35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A30V8B</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2,09%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941728241"/>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Fraport IHS </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1,875 %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31.03.28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A3E5F0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2,51%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904194973"/>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Heidelberg Materials IHS </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3,75 %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31.05.32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A30V5U</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2,84%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14524237"/>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RCI Banque IHS </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4,875 %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02.10.29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A3LNYD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2,09%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65650263"/>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VW Green Bond IHS </a:t>
                      </a:r>
                    </a:p>
                  </a:txBody>
                  <a:tcPr marL="6870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3,875 %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10.09.30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A383ET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2,82%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417209604"/>
                  </a:ext>
                </a:extLst>
              </a:tr>
              <a:tr h="168793">
                <a:tc>
                  <a:txBody>
                    <a:bodyPr/>
                    <a:lstStyle/>
                    <a:p>
                      <a:pPr algn="l" fontAlgn="ctr">
                        <a:buNone/>
                      </a:pPr>
                      <a:r>
                        <a:rPr lang="de-DE" sz="700" b="1" i="0" u="none" strike="noStrike">
                          <a:solidFill>
                            <a:srgbClr val="000000"/>
                          </a:solidFill>
                          <a:effectLst/>
                          <a:latin typeface="Noto Sans" panose="020B0502040504020204" pitchFamily="34" charset="0"/>
                        </a:rPr>
                        <a:t>EDELMETALLE</a:t>
                      </a:r>
                    </a:p>
                  </a:txBody>
                  <a:tcPr marL="68706"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08659990"/>
                  </a:ext>
                </a:extLst>
              </a:tr>
              <a:tr h="168793">
                <a:tc>
                  <a:txBody>
                    <a:bodyPr/>
                    <a:lstStyle/>
                    <a:p>
                      <a:pPr algn="l" fontAlgn="ctr">
                        <a:buNone/>
                      </a:pPr>
                      <a:r>
                        <a:rPr lang="de-DE" sz="700" b="0" i="0" u="none" strike="noStrike">
                          <a:solidFill>
                            <a:srgbClr val="000000"/>
                          </a:solidFill>
                          <a:effectLst/>
                          <a:latin typeface="Noto Sans" panose="020B0502040504020204" pitchFamily="34" charset="0"/>
                        </a:rPr>
                        <a:t>XETRA Gold</a:t>
                      </a:r>
                    </a:p>
                  </a:txBody>
                  <a:tcPr marL="68706"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A0S9GB</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12,00%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75683885"/>
                  </a:ext>
                </a:extLst>
              </a:tr>
              <a:tr h="168793">
                <a:tc>
                  <a:txBody>
                    <a:bodyPr/>
                    <a:lstStyle/>
                    <a:p>
                      <a:pPr algn="l" fontAlgn="ctr">
                        <a:buNone/>
                      </a:pPr>
                      <a:r>
                        <a:rPr lang="de-DE" sz="700" b="1" i="0" u="none" strike="noStrike">
                          <a:solidFill>
                            <a:srgbClr val="000000"/>
                          </a:solidFill>
                          <a:effectLst/>
                          <a:latin typeface="Noto Sans" panose="020B0502040504020204" pitchFamily="34" charset="0"/>
                        </a:rPr>
                        <a:t>LIQUIDITÄT</a:t>
                      </a:r>
                    </a:p>
                  </a:txBody>
                  <a:tcPr marL="68706"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3,04%</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18811380"/>
                  </a:ext>
                </a:extLst>
              </a:tr>
              <a:tr h="168793">
                <a:tc>
                  <a:txBody>
                    <a:bodyPr/>
                    <a:lstStyle/>
                    <a:p>
                      <a:pPr algn="l" fontAlgn="ctr">
                        <a:buNone/>
                      </a:pPr>
                      <a:r>
                        <a:rPr lang="de-DE" sz="700" b="1" i="0" u="none" strike="noStrike">
                          <a:solidFill>
                            <a:srgbClr val="000000"/>
                          </a:solidFill>
                          <a:effectLst/>
                          <a:latin typeface="Noto Sans" panose="020B0502040504020204" pitchFamily="34" charset="0"/>
                        </a:rPr>
                        <a:t> </a:t>
                      </a:r>
                    </a:p>
                  </a:txBody>
                  <a:tcPr marL="68706"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100,00%</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dirty="0">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3290281517"/>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p:cNvGraphicFramePr>
          <p:nvPr>
            <p:ph type="tbl" sz="quarter" idx="13"/>
            <p:extLst>
              <p:ext uri="{D42A27DB-BD31-4B8C-83A1-F6EECF244321}">
                <p14:modId xmlns:p14="http://schemas.microsoft.com/office/powerpoint/2010/main" val="2951419940"/>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a:solidFill>
                            <a:schemeClr val="bg1"/>
                          </a:solidFill>
                        </a:rPr>
                        <a:t>FFPB Strategie 70</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Weltweit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mind. 30%, max. 70 %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err="1"/>
                        <a:t>Anleihenanteil</a:t>
                      </a:r>
                      <a:r>
                        <a:rPr lang="de-DE" sz="900" b="0" dirty="0"/>
                        <a:t> / 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70%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Unbegrenzt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Portfolioverwaltung 70</a:t>
            </a:r>
          </a:p>
        </p:txBody>
      </p:sp>
    </p:spTree>
    <p:extLst>
      <p:ext uri="{BB962C8B-B14F-4D97-AF65-F5344CB8AC3E}">
        <p14:creationId xmlns:p14="http://schemas.microsoft.com/office/powerpoint/2010/main" val="3658980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latin typeface="Noto Sans (Textkörper)"/>
              </a:rPr>
              <a:t>* nach Kosten</a:t>
            </a:r>
          </a:p>
          <a:p>
            <a:r>
              <a:rPr lang="de-DE" dirty="0">
                <a:latin typeface="Noto Sans (Textkörper)"/>
              </a:rPr>
              <a:t>** ab 30.06. abzüglich des halbjährlichen Honorarsatzes</a:t>
            </a:r>
          </a:p>
          <a:p>
            <a:r>
              <a:rPr lang="de-DE" dirty="0">
                <a:latin typeface="Noto Sans (Textkörper)"/>
              </a:rPr>
              <a:t>*** 25% Euro </a:t>
            </a:r>
            <a:r>
              <a:rPr lang="de-DE" dirty="0" err="1">
                <a:latin typeface="Noto Sans (Textkörper)"/>
              </a:rPr>
              <a:t>Stoxx</a:t>
            </a:r>
            <a:r>
              <a:rPr lang="de-DE" dirty="0">
                <a:latin typeface="Noto Sans (Textkörper)"/>
              </a:rPr>
              <a:t> 50; 25% MSCI World ; 25% </a:t>
            </a:r>
            <a:r>
              <a:rPr lang="de-DE" dirty="0" err="1">
                <a:latin typeface="Noto Sans (Textkörper)"/>
              </a:rPr>
              <a:t>iBoxx</a:t>
            </a:r>
            <a:r>
              <a:rPr lang="de-DE" dirty="0">
                <a:latin typeface="Noto Sans (Textkörper)"/>
              </a:rPr>
              <a:t> Corp. OV. 3-5 RE; 25% </a:t>
            </a:r>
            <a:r>
              <a:rPr lang="de-DE" dirty="0" err="1">
                <a:latin typeface="Noto Sans (Textkörper)"/>
              </a:rPr>
              <a:t>iBoxx</a:t>
            </a:r>
            <a:r>
              <a:rPr lang="de-DE" dirty="0">
                <a:latin typeface="Noto Sans (Textkörper)"/>
              </a:rPr>
              <a:t> E Germany 5-7 TR</a:t>
            </a:r>
          </a:p>
          <a:p>
            <a:endParaRPr lang="de-DE" dirty="0">
              <a:latin typeface="Noto Sans (Textkörper)"/>
            </a:endParaRPr>
          </a:p>
          <a:p>
            <a:r>
              <a:rPr lang="de-DE" dirty="0">
                <a:latin typeface="Noto Sans (Textkörper)"/>
              </a:rPr>
              <a:t>Die aufgeführten Zahlen beziehen sich auf die Wertentwicklung in der Vergangenheit. Wert und Erträge einer Vermögensanlage können steigen oder fallen. Eine positive Entwicklung in der Vergangenheit ist keine Garantie für eine zukünftige Wertentwicklung. </a:t>
            </a:r>
          </a:p>
          <a:p>
            <a:pPr marL="0" indent="0" algn="l" rtl="0" latinLnBrk="0">
              <a:spcBef>
                <a:spcPts val="0"/>
              </a:spcBef>
              <a:spcAft>
                <a:spcPts val="0"/>
              </a:spcAft>
            </a:pPr>
            <a:r>
              <a:rPr lang="de-DE" b="0" i="0" dirty="0">
                <a:effectLst/>
                <a:latin typeface="Noto Sans (Textkörper)"/>
              </a:rPr>
              <a:t>Der unterjährige Performance</a:t>
            </a:r>
            <a:r>
              <a:rPr lang="de-DE" b="1" i="0" dirty="0">
                <a:effectLst/>
                <a:latin typeface="Noto Sans (Textkörper)"/>
              </a:rPr>
              <a:t>-</a:t>
            </a:r>
            <a:r>
              <a:rPr lang="de-DE" b="0" i="0" dirty="0">
                <a:effectLst/>
                <a:latin typeface="Noto Sans (Textkörper)"/>
              </a:rPr>
              <a:t>Ausweis erfolgt vor Kosten (ab 30.06. abzüglich des halbjährigen Honorarsatzes). Die weiteren Performance</a:t>
            </a:r>
            <a:r>
              <a:rPr lang="de-DE" b="1" i="0" dirty="0">
                <a:effectLst/>
                <a:latin typeface="Noto Sans (Textkörper)"/>
              </a:rPr>
              <a:t>-</a:t>
            </a:r>
            <a:r>
              <a:rPr lang="de-DE" b="0" i="0" dirty="0">
                <a:effectLst/>
                <a:latin typeface="Noto Sans (Textkörper)"/>
              </a:rPr>
              <a:t>Angaben wurden nach</a:t>
            </a:r>
            <a:r>
              <a:rPr lang="de-DE" dirty="0">
                <a:latin typeface="Noto Sans (Textkörper)"/>
              </a:rPr>
              <a:t> </a:t>
            </a:r>
            <a:r>
              <a:rPr lang="de-DE" b="0" i="0" dirty="0">
                <a:effectLst/>
                <a:latin typeface="Noto Sans (Textkörper)"/>
              </a:rPr>
              <a:t>Kosten berechnet. Sowohl das VV-Honorar als auch fremde Spesen und evtl. Produktkosten wurden berücksichtigt. Die Inflation kann negative Auswirkungen auf den Wert und die nominale Rendite Ihres Anlagevermögens haben. So kann insbesondere bei risikofreien Anlagen ein Wertverlust dadurch eintreten, dass die negative Auswirkung der Inflation die nominale Rendite übersteigt. Auch eine geringe Anlagedauer und die Gesamtkosten und Gebührenkönnen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9</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ADD23963-F39D-4AE6-A44C-7B1B634AA4B6}" type="datetime1">
              <a:rPr lang="de-DE" sz="600" smtClean="0">
                <a:solidFill>
                  <a:schemeClr val="bg2"/>
                </a:solidFill>
              </a:rPr>
              <a:t>20.07.2026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1758934180"/>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1760910666"/>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solidFill>
              <a:schemeClr val="accent1"/>
            </a:solid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2773752440"/>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4828366"/>
                  </a:ext>
                </a:extLst>
              </a:tr>
              <a:tr h="288000">
                <a:tc>
                  <a:txBody>
                    <a:bodyPr/>
                    <a:lstStyle/>
                    <a:p>
                      <a:r>
                        <a:rPr lang="de-DE" sz="900" b="0" dirty="0"/>
                        <a:t>Wertentwicklung seit 2024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17,99%</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2024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6,69%</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-0,84%</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3,75</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3747350"/>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Comdirect 70 | </a:t>
            </a:r>
            <a:r>
              <a:rPr lang="de-DE" b="0" dirty="0"/>
              <a:t>Wertentwicklung</a:t>
            </a:r>
          </a:p>
        </p:txBody>
      </p:sp>
    </p:spTree>
    <p:extLst>
      <p:ext uri="{BB962C8B-B14F-4D97-AF65-F5344CB8AC3E}">
        <p14:creationId xmlns:p14="http://schemas.microsoft.com/office/powerpoint/2010/main" val="1305792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10</a:t>
            </a:fld>
            <a:endParaRPr lang="de-DE"/>
          </a:p>
        </p:txBody>
      </p:sp>
      <p:graphicFrame>
        <p:nvGraphicFramePr>
          <p:cNvPr id="5" name="C_Kennzahlen">
            <a:extLst>
              <a:ext uri="{FF2B5EF4-FFF2-40B4-BE49-F238E27FC236}">
                <a16:creationId xmlns:a16="http://schemas.microsoft.com/office/drawing/2014/main" id="{00000000-0008-0000-1D00-000004000000}"/>
              </a:ext>
            </a:extLst>
          </p:cNvPr>
          <p:cNvGraphicFramePr>
            <a:graphicFrameLocks noGrp="1" noDrilldown="1" noMove="1" noResize="1"/>
          </p:cNvGraphicFramePr>
          <p:nvPr>
            <p:extLst>
              <p:ext uri="{D42A27DB-BD31-4B8C-83A1-F6EECF244321}">
                <p14:modId xmlns:p14="http://schemas.microsoft.com/office/powerpoint/2010/main" val="1246286725"/>
              </p:ext>
            </p:extLst>
          </p:nvPr>
        </p:nvGraphicFramePr>
        <p:xfrm>
          <a:off x="355600" y="2666999"/>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86234CCC-AA28-9578-A267-5085A8C56A38}"/>
              </a:ext>
            </a:extLst>
          </p:cNvPr>
          <p:cNvGraphicFramePr>
            <a:graphicFrameLocks noGrp="1" noDrilldown="1" noMove="1" noResize="1"/>
          </p:cNvGraphicFramePr>
          <p:nvPr>
            <p:extLst>
              <p:ext uri="{D42A27DB-BD31-4B8C-83A1-F6EECF244321}">
                <p14:modId xmlns:p14="http://schemas.microsoft.com/office/powerpoint/2010/main" val="3017752438"/>
              </p:ext>
            </p:extLst>
          </p:nvPr>
        </p:nvGraphicFramePr>
        <p:xfrm>
          <a:off x="4508500" y="1040400"/>
          <a:ext cx="5613400" cy="4773000"/>
        </p:xfrm>
        <a:graphic>
          <a:graphicData uri="http://schemas.openxmlformats.org/drawingml/2006/table">
            <a:tbl>
              <a:tblPr/>
              <a:tblGrid>
                <a:gridCol w="2184400">
                  <a:extLst>
                    <a:ext uri="{9D8B030D-6E8A-4147-A177-3AD203B41FA5}">
                      <a16:colId xmlns:a16="http://schemas.microsoft.com/office/drawing/2014/main" val="4113767849"/>
                    </a:ext>
                  </a:extLst>
                </a:gridCol>
                <a:gridCol w="50800">
                  <a:extLst>
                    <a:ext uri="{9D8B030D-6E8A-4147-A177-3AD203B41FA5}">
                      <a16:colId xmlns:a16="http://schemas.microsoft.com/office/drawing/2014/main" val="2614557322"/>
                    </a:ext>
                  </a:extLst>
                </a:gridCol>
                <a:gridCol w="571500">
                  <a:extLst>
                    <a:ext uri="{9D8B030D-6E8A-4147-A177-3AD203B41FA5}">
                      <a16:colId xmlns:a16="http://schemas.microsoft.com/office/drawing/2014/main" val="879793447"/>
                    </a:ext>
                  </a:extLst>
                </a:gridCol>
                <a:gridCol w="50800">
                  <a:extLst>
                    <a:ext uri="{9D8B030D-6E8A-4147-A177-3AD203B41FA5}">
                      <a16:colId xmlns:a16="http://schemas.microsoft.com/office/drawing/2014/main" val="2343424295"/>
                    </a:ext>
                  </a:extLst>
                </a:gridCol>
                <a:gridCol w="571500">
                  <a:extLst>
                    <a:ext uri="{9D8B030D-6E8A-4147-A177-3AD203B41FA5}">
                      <a16:colId xmlns:a16="http://schemas.microsoft.com/office/drawing/2014/main" val="507502996"/>
                    </a:ext>
                  </a:extLst>
                </a:gridCol>
                <a:gridCol w="50800">
                  <a:extLst>
                    <a:ext uri="{9D8B030D-6E8A-4147-A177-3AD203B41FA5}">
                      <a16:colId xmlns:a16="http://schemas.microsoft.com/office/drawing/2014/main" val="3073352519"/>
                    </a:ext>
                  </a:extLst>
                </a:gridCol>
                <a:gridCol w="571500">
                  <a:extLst>
                    <a:ext uri="{9D8B030D-6E8A-4147-A177-3AD203B41FA5}">
                      <a16:colId xmlns:a16="http://schemas.microsoft.com/office/drawing/2014/main" val="2861307406"/>
                    </a:ext>
                  </a:extLst>
                </a:gridCol>
                <a:gridCol w="50800">
                  <a:extLst>
                    <a:ext uri="{9D8B030D-6E8A-4147-A177-3AD203B41FA5}">
                      <a16:colId xmlns:a16="http://schemas.microsoft.com/office/drawing/2014/main" val="1461447330"/>
                    </a:ext>
                  </a:extLst>
                </a:gridCol>
                <a:gridCol w="571500">
                  <a:extLst>
                    <a:ext uri="{9D8B030D-6E8A-4147-A177-3AD203B41FA5}">
                      <a16:colId xmlns:a16="http://schemas.microsoft.com/office/drawing/2014/main" val="2436453985"/>
                    </a:ext>
                  </a:extLst>
                </a:gridCol>
                <a:gridCol w="50800">
                  <a:extLst>
                    <a:ext uri="{9D8B030D-6E8A-4147-A177-3AD203B41FA5}">
                      <a16:colId xmlns:a16="http://schemas.microsoft.com/office/drawing/2014/main" val="3591455819"/>
                    </a:ext>
                  </a:extLst>
                </a:gridCol>
                <a:gridCol w="889000">
                  <a:extLst>
                    <a:ext uri="{9D8B030D-6E8A-4147-A177-3AD203B41FA5}">
                      <a16:colId xmlns:a16="http://schemas.microsoft.com/office/drawing/2014/main" val="4196437300"/>
                    </a:ext>
                  </a:extLst>
                </a:gridCol>
              </a:tblGrid>
              <a:tr h="216000">
                <a:tc>
                  <a:txBody>
                    <a:bodyPr/>
                    <a:lstStyle/>
                    <a:p>
                      <a:pPr algn="l" fontAlgn="ctr">
                        <a:buNone/>
                      </a:pPr>
                      <a:r>
                        <a:rPr lang="de-DE" sz="700" b="0" i="0" u="none" strike="noStrike">
                          <a:solidFill>
                            <a:srgbClr val="FFFFFF"/>
                          </a:solidFill>
                          <a:effectLst/>
                          <a:latin typeface="Noto Sans" panose="020B0502040504020204" pitchFamily="34" charset="0"/>
                        </a:rPr>
                        <a:t>WERTPAPIER</a:t>
                      </a:r>
                    </a:p>
                  </a:txBody>
                  <a:tcPr marL="68829"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1667394060"/>
                  </a:ext>
                </a:extLst>
              </a:tr>
              <a:tr h="182280">
                <a:tc>
                  <a:txBody>
                    <a:bodyPr/>
                    <a:lstStyle/>
                    <a:p>
                      <a:pPr algn="l" fontAlgn="ctr">
                        <a:buNone/>
                      </a:pPr>
                      <a:r>
                        <a:rPr lang="de-DE" sz="700" b="1" i="0" u="none" strike="noStrike">
                          <a:solidFill>
                            <a:srgbClr val="000000"/>
                          </a:solidFill>
                          <a:effectLst/>
                          <a:latin typeface="Noto Sans" panose="020B0502040504020204" pitchFamily="34" charset="0"/>
                        </a:rPr>
                        <a:t>AKTIEN</a:t>
                      </a:r>
                    </a:p>
                  </a:txBody>
                  <a:tcPr marL="68829"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487805937"/>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3M Co.</a:t>
                      </a:r>
                    </a:p>
                  </a:txBody>
                  <a:tcPr marL="68829"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851745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3,78%</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53317108"/>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Airbus SE</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938914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5,45%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61807124"/>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Alphabet Inc. A</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A14Y6F</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4,44%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511622488"/>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Apple Inc.</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865985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3,21%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686364451"/>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Berkshire Hathaway Inc. B</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A0YJQ2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6,06%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862925574"/>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Deutsche Telekom AG</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555750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3,67%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448205398"/>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Global Active ESG Equity ETF (Invesco)</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A2PHJT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10,24%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25009427"/>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Intuitive Surgical Inc.</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888024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2,41%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06602180"/>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LVMH Moët Henn. L. Vuitton SE</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853292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3,21%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75186661"/>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Mercadolibre Inc.</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A0MYNP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2,82%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64462320"/>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Meta Platforms Inc. A</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A1JWVX</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4,36%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988895446"/>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Microsoft Corp.</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870747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4,16%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97166953"/>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Münchener Rückvers.-Ges. AG</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843002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5,86%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639819433"/>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NVIDIA Corp.</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918422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4,74%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390174764"/>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Philip Morris Internat. Inc.</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A0NDBJ</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6,91%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455583160"/>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Rheinmetall AG</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703000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1,31%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34674126"/>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Shell PLC</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A3C99G</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4,77%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870735868"/>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VISA Inc.</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A0NC7B</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2,81%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28516075"/>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Walmart Inc.</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860853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4,80%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69511850"/>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Waste Management Inc.</a:t>
                      </a:r>
                    </a:p>
                  </a:txBody>
                  <a:tcPr marL="6882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893579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4,42%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979373293"/>
                  </a:ext>
                </a:extLst>
              </a:tr>
              <a:tr h="182280">
                <a:tc>
                  <a:txBody>
                    <a:bodyPr/>
                    <a:lstStyle/>
                    <a:p>
                      <a:pPr algn="l" fontAlgn="ctr">
                        <a:buNone/>
                      </a:pPr>
                      <a:r>
                        <a:rPr lang="de-DE" sz="700" b="1" i="0" u="none" strike="noStrike">
                          <a:solidFill>
                            <a:srgbClr val="000000"/>
                          </a:solidFill>
                          <a:effectLst/>
                          <a:latin typeface="Noto Sans" panose="020B0502040504020204" pitchFamily="34" charset="0"/>
                        </a:rPr>
                        <a:t>EDELMETALLE</a:t>
                      </a:r>
                    </a:p>
                  </a:txBody>
                  <a:tcPr marL="68829"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778455719"/>
                  </a:ext>
                </a:extLst>
              </a:tr>
              <a:tr h="182280">
                <a:tc>
                  <a:txBody>
                    <a:bodyPr/>
                    <a:lstStyle/>
                    <a:p>
                      <a:pPr algn="l" fontAlgn="ctr">
                        <a:buNone/>
                      </a:pPr>
                      <a:r>
                        <a:rPr lang="de-DE" sz="700" b="0" i="0" u="none" strike="noStrike">
                          <a:solidFill>
                            <a:srgbClr val="000000"/>
                          </a:solidFill>
                          <a:effectLst/>
                          <a:latin typeface="Noto Sans" panose="020B0502040504020204" pitchFamily="34" charset="0"/>
                        </a:rPr>
                        <a:t>XETRA Gold</a:t>
                      </a:r>
                    </a:p>
                  </a:txBody>
                  <a:tcPr marL="68829"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A0S9GB</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7,43%</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138131229"/>
                  </a:ext>
                </a:extLst>
              </a:tr>
              <a:tr h="182280">
                <a:tc>
                  <a:txBody>
                    <a:bodyPr/>
                    <a:lstStyle/>
                    <a:p>
                      <a:pPr algn="l" fontAlgn="ctr">
                        <a:buNone/>
                      </a:pPr>
                      <a:r>
                        <a:rPr lang="de-DE" sz="700" b="1" i="0" u="none" strike="noStrike">
                          <a:solidFill>
                            <a:srgbClr val="000000"/>
                          </a:solidFill>
                          <a:effectLst/>
                          <a:latin typeface="Noto Sans" panose="020B0502040504020204" pitchFamily="34" charset="0"/>
                        </a:rPr>
                        <a:t>LIQUIDITÄT</a:t>
                      </a:r>
                    </a:p>
                  </a:txBody>
                  <a:tcPr marL="68829"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3,15%</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337246306"/>
                  </a:ext>
                </a:extLst>
              </a:tr>
              <a:tr h="182280">
                <a:tc>
                  <a:txBody>
                    <a:bodyPr/>
                    <a:lstStyle/>
                    <a:p>
                      <a:pPr algn="l" fontAlgn="ctr">
                        <a:buNone/>
                      </a:pPr>
                      <a:r>
                        <a:rPr lang="de-DE" sz="700" b="1" i="0" u="none" strike="noStrike">
                          <a:solidFill>
                            <a:srgbClr val="000000"/>
                          </a:solidFill>
                          <a:effectLst/>
                          <a:latin typeface="Noto Sans" panose="020B0502040504020204" pitchFamily="34" charset="0"/>
                        </a:rPr>
                        <a:t> </a:t>
                      </a:r>
                    </a:p>
                  </a:txBody>
                  <a:tcPr marL="68829"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100,00%</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dirty="0">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828614641"/>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p:cNvGraphicFramePr>
          <p:nvPr>
            <p:ph type="tbl" sz="quarter" idx="13"/>
            <p:extLst>
              <p:ext uri="{D42A27DB-BD31-4B8C-83A1-F6EECF244321}">
                <p14:modId xmlns:p14="http://schemas.microsoft.com/office/powerpoint/2010/main" val="2326450785"/>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a:solidFill>
                            <a:schemeClr val="bg1"/>
                          </a:solidFill>
                        </a:rPr>
                        <a:t>FFPB Strategie 100</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Weltweit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mind. 70 %, max. 100 %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err="1"/>
                        <a:t>Anleihenanteil</a:t>
                      </a:r>
                      <a:r>
                        <a:rPr lang="de-DE" sz="900" b="0" dirty="0"/>
                        <a:t> / 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30 %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Unbegrenzt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Portfolioverwaltung 100</a:t>
            </a:r>
          </a:p>
        </p:txBody>
      </p:sp>
    </p:spTree>
    <p:extLst>
      <p:ext uri="{BB962C8B-B14F-4D97-AF65-F5344CB8AC3E}">
        <p14:creationId xmlns:p14="http://schemas.microsoft.com/office/powerpoint/2010/main" val="3515420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latin typeface="Noto Sans (Textkörper)"/>
              </a:rPr>
              <a:t>* nach Kosten</a:t>
            </a:r>
          </a:p>
          <a:p>
            <a:r>
              <a:rPr lang="de-DE" dirty="0">
                <a:latin typeface="Noto Sans (Textkörper)"/>
              </a:rPr>
              <a:t>** ab 30.06. abzüglich halbjährigen Honorarsatz</a:t>
            </a:r>
          </a:p>
          <a:p>
            <a:r>
              <a:rPr lang="de-DE" dirty="0">
                <a:latin typeface="Noto Sans (Textkörper)"/>
              </a:rPr>
              <a:t>*** 42,5% Euro </a:t>
            </a:r>
            <a:r>
              <a:rPr lang="de-DE" dirty="0" err="1">
                <a:latin typeface="Noto Sans (Textkörper)"/>
              </a:rPr>
              <a:t>Stoxx</a:t>
            </a:r>
            <a:r>
              <a:rPr lang="de-DE" dirty="0">
                <a:latin typeface="Noto Sans (Textkörper)"/>
              </a:rPr>
              <a:t> 50; 42,5% MSCI World; 7,5% </a:t>
            </a:r>
            <a:r>
              <a:rPr lang="de-DE" dirty="0" err="1">
                <a:latin typeface="Noto Sans (Textkörper)"/>
              </a:rPr>
              <a:t>iBoxx</a:t>
            </a:r>
            <a:r>
              <a:rPr lang="de-DE" dirty="0">
                <a:latin typeface="Noto Sans (Textkörper)"/>
              </a:rPr>
              <a:t> Corp. OV. 3-5 RE; 7,5% </a:t>
            </a:r>
            <a:r>
              <a:rPr lang="de-DE" dirty="0" err="1">
                <a:latin typeface="Noto Sans (Textkörper)"/>
              </a:rPr>
              <a:t>iBoxx</a:t>
            </a:r>
            <a:r>
              <a:rPr lang="de-DE" dirty="0">
                <a:latin typeface="Noto Sans (Textkörper)"/>
              </a:rPr>
              <a:t> E Germany 5-7 TR</a:t>
            </a:r>
          </a:p>
          <a:p>
            <a:endParaRPr lang="de-DE" dirty="0">
              <a:latin typeface="Noto Sans (Textkörper)"/>
            </a:endParaRPr>
          </a:p>
          <a:p>
            <a:r>
              <a:rPr lang="de-DE" dirty="0">
                <a:latin typeface="Noto Sans (Textkörper)"/>
              </a:rPr>
              <a:t>Die aufgeführten Zahlen beziehen sich auf die Wertentwicklung in der Vergangenheit. Wert und Erträge einer Vermögensanlage können steigen oder fallen. Eine positive Entwicklung in der Vergangenheit ist keine Garantie für eine zukünftige Wertentwicklung. </a:t>
            </a:r>
          </a:p>
          <a:p>
            <a:pPr marL="0" indent="0" algn="l" rtl="0" latinLnBrk="0">
              <a:spcBef>
                <a:spcPts val="0"/>
              </a:spcBef>
              <a:spcAft>
                <a:spcPts val="0"/>
              </a:spcAft>
            </a:pPr>
            <a:r>
              <a:rPr lang="de-DE" b="0" i="0" dirty="0">
                <a:effectLst/>
                <a:latin typeface="Noto Sans (Textkörper)"/>
              </a:rPr>
              <a:t>Der unterjährige Performance</a:t>
            </a:r>
            <a:r>
              <a:rPr lang="de-DE" b="1" i="0" dirty="0">
                <a:effectLst/>
                <a:latin typeface="Noto Sans (Textkörper)"/>
              </a:rPr>
              <a:t>-</a:t>
            </a:r>
            <a:r>
              <a:rPr lang="de-DE" b="0" i="0" dirty="0">
                <a:effectLst/>
                <a:latin typeface="Noto Sans (Textkörper)"/>
              </a:rPr>
              <a:t>Ausweis erfolgt vor Kosten (ab 30.06. abzüglich des halbjährigen Honorarsatzes). Die weiteren Performance</a:t>
            </a:r>
            <a:r>
              <a:rPr lang="de-DE" b="1" i="0" dirty="0">
                <a:effectLst/>
                <a:latin typeface="Noto Sans (Textkörper)"/>
              </a:rPr>
              <a:t>-</a:t>
            </a:r>
            <a:r>
              <a:rPr lang="de-DE" b="0" i="0" dirty="0">
                <a:effectLst/>
                <a:latin typeface="Noto Sans (Textkörper)"/>
              </a:rPr>
              <a:t>Angaben wurden nach</a:t>
            </a:r>
            <a:r>
              <a:rPr lang="de-DE" dirty="0">
                <a:latin typeface="Noto Sans (Textkörper)"/>
              </a:rPr>
              <a:t> </a:t>
            </a:r>
            <a:r>
              <a:rPr lang="de-DE" b="0" i="0" dirty="0">
                <a:effectLst/>
                <a:latin typeface="Noto Sans (Textkörper)"/>
              </a:rPr>
              <a:t>Kosten berechnet. Sowohl das VV-Honorar als auch fremde Spesen und evtl. Produktkosten wurden berücksichtigt. Die Inflation kann negative Auswirkungen auf den Wert und die nominale Rendite Ihres Anlagevermögens haben. So kann insbesondere bei risikofreien Anlagen ein Wertverlust dadurch eintreten, dass die negative Auswirkung der Inflation die nominale Rendite übersteigt. Auch eine geringe Anlagedauer und die Gesamtkosten und Gebührenkönnen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11</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ADD23963-F39D-4AE6-A44C-7B1B634AA4B6}" type="datetime1">
              <a:rPr lang="de-DE" sz="600" smtClean="0">
                <a:solidFill>
                  <a:schemeClr val="bg2"/>
                </a:solidFill>
              </a:rPr>
              <a:t>20.07.2026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1441390019"/>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2307272969"/>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solidFill>
              <a:schemeClr val="accent1"/>
            </a:solid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4266439858"/>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4828366"/>
                  </a:ext>
                </a:extLst>
              </a:tr>
              <a:tr h="288000">
                <a:tc>
                  <a:txBody>
                    <a:bodyPr/>
                    <a:lstStyle/>
                    <a:p>
                      <a:r>
                        <a:rPr lang="de-DE" sz="900" b="0" dirty="0"/>
                        <a:t>Wertentwicklung seit 2024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13,18%</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2024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4,97%</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0,99%</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0,00</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3747350"/>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Comdirect 100 | </a:t>
            </a:r>
            <a:r>
              <a:rPr lang="de-DE" b="0" dirty="0"/>
              <a:t>Wertentwicklung</a:t>
            </a:r>
          </a:p>
        </p:txBody>
      </p:sp>
    </p:spTree>
    <p:extLst>
      <p:ext uri="{BB962C8B-B14F-4D97-AF65-F5344CB8AC3E}">
        <p14:creationId xmlns:p14="http://schemas.microsoft.com/office/powerpoint/2010/main" val="2677129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4C2BF4D1-4B2C-9B2E-31AE-AD42CE7AF9D2}"/>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12</a:t>
            </a:fld>
            <a:endParaRPr lang="de-DE"/>
          </a:p>
        </p:txBody>
      </p:sp>
      <p:sp>
        <p:nvSpPr>
          <p:cNvPr id="3" name="Text">
            <a:extLst>
              <a:ext uri="{FF2B5EF4-FFF2-40B4-BE49-F238E27FC236}">
                <a16:creationId xmlns:a16="http://schemas.microsoft.com/office/drawing/2014/main" id="{FC14C7F1-73B2-E2F2-67EB-A1D8EE45D2C2}"/>
              </a:ext>
            </a:extLst>
          </p:cNvPr>
          <p:cNvSpPr>
            <a:spLocks noGrp="1" noRot="1" noMove="1" noResize="1" noEditPoints="1" noAdjustHandles="1" noChangeArrowheads="1" noChangeShapeType="1"/>
          </p:cNvSpPr>
          <p:nvPr>
            <p:ph idx="1"/>
          </p:nvPr>
        </p:nvSpPr>
        <p:spPr/>
        <p:txBody>
          <a:bodyPr/>
          <a:lstStyle/>
          <a:p>
            <a:r>
              <a:rPr lang="de-DE" dirty="0"/>
              <a:t>Verwaltungsvergütung</a:t>
            </a:r>
          </a:p>
          <a:p>
            <a:pPr lvl="2"/>
            <a:r>
              <a:rPr lang="de-DE" dirty="0"/>
              <a:t>Die Honorargestaltung unserer Vermögensverwaltung ist fair, transparent und nachvollziehbar. Wir berechnen gegen-über unseren Kunden in unserer Vermögensverwaltung eine Verwaltungsvergütung, die sämtliche Gebühren für die Verwaltung umfasst. Ausgenommen davon sind die Transaktionskosten, die bei unserer Depotbank anfallen und fremde Spesen wie eventuell anfallende Courtagen, Transaktionssteuern (z. B. Frankreich) und fremde Spesen an in- und ausländischen Börsenplätzen. Investmentfonds werden ohne Ausgabeaufschläge zum Netto-Ausgabepreis abgerechnet.</a:t>
            </a:r>
          </a:p>
          <a:p>
            <a:r>
              <a:rPr lang="de-DE" dirty="0"/>
              <a:t>Halbjährliche Abrechnung</a:t>
            </a:r>
          </a:p>
          <a:p>
            <a:pPr lvl="2"/>
            <a:r>
              <a:rPr lang="de-DE" dirty="0"/>
              <a:t>Die Abrechnung für die Verwaltungsvergütung erfolgt halbjährlich. Als Berechnungsgrundlage dient das durchschnittlich verfügbare Kapital (Konto und Depot). </a:t>
            </a:r>
          </a:p>
        </p:txBody>
      </p:sp>
      <p:sp>
        <p:nvSpPr>
          <p:cNvPr id="4" name="Titel">
            <a:extLst>
              <a:ext uri="{FF2B5EF4-FFF2-40B4-BE49-F238E27FC236}">
                <a16:creationId xmlns:a16="http://schemas.microsoft.com/office/drawing/2014/main" id="{127C1E86-2975-F5B5-8FF1-D9AF10EB60B2}"/>
              </a:ext>
            </a:extLst>
          </p:cNvPr>
          <p:cNvSpPr>
            <a:spLocks noGrp="1" noRot="1" noMove="1" noResize="1" noEditPoints="1" noAdjustHandles="1" noChangeArrowheads="1" noChangeShapeType="1"/>
          </p:cNvSpPr>
          <p:nvPr>
            <p:ph type="title"/>
          </p:nvPr>
        </p:nvSpPr>
        <p:spPr/>
        <p:txBody>
          <a:bodyPr/>
          <a:lstStyle/>
          <a:p>
            <a:r>
              <a:rPr lang="de-DE" dirty="0"/>
              <a:t>Unser Honorar</a:t>
            </a:r>
          </a:p>
        </p:txBody>
      </p:sp>
    </p:spTree>
    <p:extLst>
      <p:ext uri="{BB962C8B-B14F-4D97-AF65-F5344CB8AC3E}">
        <p14:creationId xmlns:p14="http://schemas.microsoft.com/office/powerpoint/2010/main" val="575916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4C2BF4D1-4B2C-9B2E-31AE-AD42CE7AF9D2}"/>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13</a:t>
            </a:fld>
            <a:endParaRPr lang="de-DE"/>
          </a:p>
        </p:txBody>
      </p:sp>
      <p:sp>
        <p:nvSpPr>
          <p:cNvPr id="3" name="Text">
            <a:extLst>
              <a:ext uri="{FF2B5EF4-FFF2-40B4-BE49-F238E27FC236}">
                <a16:creationId xmlns:a16="http://schemas.microsoft.com/office/drawing/2014/main" id="{FC14C7F1-73B2-E2F2-67EB-A1D8EE45D2C2}"/>
              </a:ext>
            </a:extLst>
          </p:cNvPr>
          <p:cNvSpPr>
            <a:spLocks noGrp="1" noRot="1" noMove="1" noResize="1" noEditPoints="1" noAdjustHandles="1" noChangeArrowheads="1" noChangeShapeType="1"/>
          </p:cNvSpPr>
          <p:nvPr>
            <p:ph idx="1"/>
          </p:nvPr>
        </p:nvSpPr>
        <p:spPr/>
        <p:txBody>
          <a:bodyPr/>
          <a:lstStyle/>
          <a:p>
            <a:r>
              <a:rPr lang="de-DE" dirty="0"/>
              <a:t>Transaktionskosten</a:t>
            </a:r>
          </a:p>
          <a:p>
            <a:pPr lvl="2"/>
            <a:r>
              <a:rPr lang="de-DE" dirty="0"/>
              <a:t>Die depotführende Bank vereinbart ihre Preise im Rahmen des Depotvertrages direkt mit Ihnen und stellt sie Ihnen genauso selbst in Rechnung.</a:t>
            </a:r>
          </a:p>
          <a:p>
            <a:pPr lvl="2"/>
            <a:r>
              <a:rPr lang="de-DE" dirty="0"/>
              <a:t>Sie haben dabei die Wahl zwischen zwei transparenten Preismodellen, die Ihnen Ihr Berater gerne erläutern wird.  Die anfallenden Transaktionskosen werden in den Verlustverrechnungstopf eingestellt und sind somit steuerlich anrechenbar.</a:t>
            </a:r>
          </a:p>
          <a:p>
            <a:pPr lvl="2"/>
            <a:endParaRPr lang="de-DE" dirty="0"/>
          </a:p>
        </p:txBody>
      </p:sp>
      <p:sp>
        <p:nvSpPr>
          <p:cNvPr id="4" name="Titel">
            <a:extLst>
              <a:ext uri="{FF2B5EF4-FFF2-40B4-BE49-F238E27FC236}">
                <a16:creationId xmlns:a16="http://schemas.microsoft.com/office/drawing/2014/main" id="{127C1E86-2975-F5B5-8FF1-D9AF10EB60B2}"/>
              </a:ext>
            </a:extLst>
          </p:cNvPr>
          <p:cNvSpPr>
            <a:spLocks noGrp="1" noRot="1" noMove="1" noResize="1" noEditPoints="1" noAdjustHandles="1" noChangeArrowheads="1" noChangeShapeType="1"/>
          </p:cNvSpPr>
          <p:nvPr>
            <p:ph type="title"/>
          </p:nvPr>
        </p:nvSpPr>
        <p:spPr/>
        <p:txBody>
          <a:bodyPr/>
          <a:lstStyle/>
          <a:p>
            <a:r>
              <a:rPr lang="de-DE" dirty="0"/>
              <a:t>Transaktionskosten</a:t>
            </a:r>
          </a:p>
        </p:txBody>
      </p:sp>
    </p:spTree>
    <p:extLst>
      <p:ext uri="{BB962C8B-B14F-4D97-AF65-F5344CB8AC3E}">
        <p14:creationId xmlns:p14="http://schemas.microsoft.com/office/powerpoint/2010/main" val="1671443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14</a:t>
            </a:fld>
            <a:endParaRPr lang="de-DE"/>
          </a:p>
        </p:txBody>
      </p:sp>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dirty="0"/>
              <a:t>Unser Honorar</a:t>
            </a:r>
          </a:p>
        </p:txBody>
      </p:sp>
      <p:graphicFrame>
        <p:nvGraphicFramePr>
          <p:cNvPr id="3" name="Tabelle 2">
            <a:extLst>
              <a:ext uri="{FF2B5EF4-FFF2-40B4-BE49-F238E27FC236}">
                <a16:creationId xmlns:a16="http://schemas.microsoft.com/office/drawing/2014/main" id="{A0A143F2-5FBD-00D7-FD86-630F82D438D3}"/>
              </a:ext>
            </a:extLst>
          </p:cNvPr>
          <p:cNvGraphicFramePr>
            <a:graphicFrameLocks noGrp="1"/>
          </p:cNvGraphicFramePr>
          <p:nvPr>
            <p:extLst>
              <p:ext uri="{D42A27DB-BD31-4B8C-83A1-F6EECF244321}">
                <p14:modId xmlns:p14="http://schemas.microsoft.com/office/powerpoint/2010/main" val="2666021158"/>
              </p:ext>
            </p:extLst>
          </p:nvPr>
        </p:nvGraphicFramePr>
        <p:xfrm>
          <a:off x="753470" y="1390270"/>
          <a:ext cx="8932460" cy="3825989"/>
        </p:xfrm>
        <a:graphic>
          <a:graphicData uri="http://schemas.openxmlformats.org/drawingml/2006/table">
            <a:tbl>
              <a:tblPr firstRow="1" bandRow="1">
                <a:tableStyleId>{2D5ABB26-0587-4C30-8999-92F81FD0307C}</a:tableStyleId>
              </a:tblPr>
              <a:tblGrid>
                <a:gridCol w="2164252">
                  <a:extLst>
                    <a:ext uri="{9D8B030D-6E8A-4147-A177-3AD203B41FA5}">
                      <a16:colId xmlns:a16="http://schemas.microsoft.com/office/drawing/2014/main" val="2740024814"/>
                    </a:ext>
                  </a:extLst>
                </a:gridCol>
                <a:gridCol w="68863">
                  <a:extLst>
                    <a:ext uri="{9D8B030D-6E8A-4147-A177-3AD203B41FA5}">
                      <a16:colId xmlns:a16="http://schemas.microsoft.com/office/drawing/2014/main" val="1463361124"/>
                    </a:ext>
                  </a:extLst>
                </a:gridCol>
                <a:gridCol w="68863">
                  <a:extLst>
                    <a:ext uri="{9D8B030D-6E8A-4147-A177-3AD203B41FA5}">
                      <a16:colId xmlns:a16="http://schemas.microsoft.com/office/drawing/2014/main" val="706605420"/>
                    </a:ext>
                  </a:extLst>
                </a:gridCol>
                <a:gridCol w="2164252">
                  <a:extLst>
                    <a:ext uri="{9D8B030D-6E8A-4147-A177-3AD203B41FA5}">
                      <a16:colId xmlns:a16="http://schemas.microsoft.com/office/drawing/2014/main" val="198262972"/>
                    </a:ext>
                  </a:extLst>
                </a:gridCol>
                <a:gridCol w="68863">
                  <a:extLst>
                    <a:ext uri="{9D8B030D-6E8A-4147-A177-3AD203B41FA5}">
                      <a16:colId xmlns:a16="http://schemas.microsoft.com/office/drawing/2014/main" val="772807978"/>
                    </a:ext>
                  </a:extLst>
                </a:gridCol>
                <a:gridCol w="2164252">
                  <a:extLst>
                    <a:ext uri="{9D8B030D-6E8A-4147-A177-3AD203B41FA5}">
                      <a16:colId xmlns:a16="http://schemas.microsoft.com/office/drawing/2014/main" val="4022111454"/>
                    </a:ext>
                  </a:extLst>
                </a:gridCol>
                <a:gridCol w="68863">
                  <a:extLst>
                    <a:ext uri="{9D8B030D-6E8A-4147-A177-3AD203B41FA5}">
                      <a16:colId xmlns:a16="http://schemas.microsoft.com/office/drawing/2014/main" val="4141636639"/>
                    </a:ext>
                  </a:extLst>
                </a:gridCol>
                <a:gridCol w="2164252">
                  <a:extLst>
                    <a:ext uri="{9D8B030D-6E8A-4147-A177-3AD203B41FA5}">
                      <a16:colId xmlns:a16="http://schemas.microsoft.com/office/drawing/2014/main" val="1200875104"/>
                    </a:ext>
                  </a:extLst>
                </a:gridCol>
              </a:tblGrid>
              <a:tr h="396000">
                <a:tc>
                  <a:txBody>
                    <a:bodyPr/>
                    <a:lstStyle/>
                    <a:p>
                      <a:pPr marL="0" marR="0" lvl="0" indent="0" algn="ctr" defTabSz="783001" rtl="0" eaLnBrk="1" fontAlgn="auto" latinLnBrk="0" hangingPunct="1">
                        <a:lnSpc>
                          <a:spcPts val="1300"/>
                        </a:lnSpc>
                        <a:spcBef>
                          <a:spcPts val="0"/>
                        </a:spcBef>
                        <a:spcAft>
                          <a:spcPts val="0"/>
                        </a:spcAft>
                        <a:buClrTx/>
                        <a:buSzTx/>
                        <a:buFontTx/>
                        <a:buNone/>
                        <a:tabLst/>
                        <a:defRPr/>
                      </a:pPr>
                      <a:r>
                        <a:rPr lang="de-DE" sz="900" b="1" dirty="0">
                          <a:solidFill>
                            <a:schemeClr val="bg1"/>
                          </a:solidFill>
                        </a:rPr>
                        <a:t>Unsere Verwaltungsvergütung</a:t>
                      </a:r>
                    </a:p>
                  </a:txBody>
                  <a:tcPr marL="0" marR="0" marT="0" marB="0" anchor="ctr">
                    <a:lnR>
                      <a:noFill/>
                    </a:ln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FFPB Strategie 30</a:t>
                      </a:r>
                    </a:p>
                  </a:txBody>
                  <a:tcPr marL="0" marR="0" marT="0" marB="0" anchor="ctr">
                    <a:lnL>
                      <a:noFill/>
                    </a:lnL>
                    <a:lnR>
                      <a:noFill/>
                    </a:ln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783001" rtl="0" eaLnBrk="1" fontAlgn="auto" latinLnBrk="0" hangingPunct="1">
                        <a:lnSpc>
                          <a:spcPts val="1300"/>
                        </a:lnSpc>
                        <a:spcBef>
                          <a:spcPts val="0"/>
                        </a:spcBef>
                        <a:spcAft>
                          <a:spcPts val="0"/>
                        </a:spcAft>
                        <a:buClrTx/>
                        <a:buSzTx/>
                        <a:buFontTx/>
                        <a:buNone/>
                        <a:tabLst/>
                        <a:defRPr/>
                      </a:pPr>
                      <a:r>
                        <a:rPr lang="de-DE" sz="900" b="1" dirty="0">
                          <a:solidFill>
                            <a:schemeClr val="bg1"/>
                          </a:solidFill>
                        </a:rPr>
                        <a:t>FFPB Strategie 70</a:t>
                      </a:r>
                    </a:p>
                  </a:txBody>
                  <a:tcPr marL="0" marR="0" marT="0" marB="0" anchor="ctr">
                    <a:lnL>
                      <a:noFill/>
                    </a:lnL>
                    <a:lnR>
                      <a:noFill/>
                    </a:ln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FFPB Strategie 100</a:t>
                      </a:r>
                    </a:p>
                  </a:txBody>
                  <a:tcPr marL="0" marR="0" marT="0" marB="0" anchor="ctr">
                    <a:lnL>
                      <a:noFill/>
                    </a:lnL>
                    <a:solidFill>
                      <a:schemeClr val="accent1"/>
                    </a:solidFill>
                  </a:tcPr>
                </a:tc>
                <a:extLst>
                  <a:ext uri="{0D108BD9-81ED-4DB2-BD59-A6C34878D82A}">
                    <a16:rowId xmlns:a16="http://schemas.microsoft.com/office/drawing/2014/main" val="2906314418"/>
                  </a:ext>
                </a:extLst>
              </a:tr>
              <a:tr h="2034062">
                <a:tc>
                  <a:txBody>
                    <a:bodyPr/>
                    <a:lstStyle/>
                    <a:p>
                      <a:pPr>
                        <a:lnSpc>
                          <a:spcPts val="1300"/>
                        </a:lnSpc>
                      </a:pPr>
                      <a:endParaRPr lang="de-DE" sz="900" b="1" dirty="0"/>
                    </a:p>
                    <a:p>
                      <a:pPr>
                        <a:lnSpc>
                          <a:spcPts val="1300"/>
                        </a:lnSpc>
                      </a:pPr>
                      <a:r>
                        <a:rPr lang="de-DE" sz="900" b="1" dirty="0"/>
                        <a:t>Die Belastung unserer Honorars erfolgt halbjährlich</a:t>
                      </a:r>
                    </a:p>
                    <a:p>
                      <a:pPr>
                        <a:lnSpc>
                          <a:spcPts val="1300"/>
                        </a:lnSpc>
                      </a:pPr>
                      <a:endParaRPr lang="de-DE" sz="900" b="1" dirty="0"/>
                    </a:p>
                    <a:p>
                      <a:pPr>
                        <a:lnSpc>
                          <a:spcPts val="1300"/>
                        </a:lnSpc>
                      </a:pPr>
                      <a:endParaRPr lang="de-DE" sz="900" b="1" dirty="0"/>
                    </a:p>
                    <a:p>
                      <a:pPr>
                        <a:lnSpc>
                          <a:spcPts val="1300"/>
                        </a:lnSpc>
                      </a:pPr>
                      <a:endParaRPr lang="de-DE" sz="900" b="1" dirty="0"/>
                    </a:p>
                    <a:p>
                      <a:pPr>
                        <a:lnSpc>
                          <a:spcPts val="1300"/>
                        </a:lnSpc>
                      </a:pPr>
                      <a:endParaRPr lang="de-DE" sz="900" b="1" dirty="0"/>
                    </a:p>
                    <a:p>
                      <a:pPr>
                        <a:lnSpc>
                          <a:spcPts val="1300"/>
                        </a:lnSpc>
                      </a:pPr>
                      <a:endParaRPr lang="de-DE" sz="900" b="1" dirty="0"/>
                    </a:p>
                    <a:p>
                      <a:pPr>
                        <a:lnSpc>
                          <a:spcPts val="1300"/>
                        </a:lnSpc>
                      </a:pPr>
                      <a:endParaRPr lang="de-DE" sz="900" b="1" dirty="0"/>
                    </a:p>
                    <a:p>
                      <a:pPr>
                        <a:lnSpc>
                          <a:spcPts val="1300"/>
                        </a:lnSpc>
                      </a:pPr>
                      <a:endParaRPr lang="de-DE" sz="900" b="1" dirty="0"/>
                    </a:p>
                    <a:p>
                      <a:pPr>
                        <a:lnSpc>
                          <a:spcPts val="1300"/>
                        </a:lnSpc>
                      </a:pPr>
                      <a:r>
                        <a:rPr lang="de-DE" sz="900" b="1" dirty="0"/>
                        <a:t>Transaktionsgebühren Depotbank</a:t>
                      </a:r>
                    </a:p>
                  </a:txBody>
                  <a:tcPr marL="72000" marR="72000" marT="108000" marB="108000">
                    <a:lnR>
                      <a:noFill/>
                    </a:lnR>
                    <a:lnB w="3175" cap="flat" cmpd="sng" algn="ctr">
                      <a:solidFill>
                        <a:schemeClr val="accent1"/>
                      </a:solidFill>
                      <a:prstDash val="solid"/>
                      <a:round/>
                      <a:headEnd type="none" w="med" len="med"/>
                      <a:tailEnd type="none" w="med" len="med"/>
                    </a:lnB>
                  </a:tcPr>
                </a:tc>
                <a:tc>
                  <a:txBody>
                    <a:bodyPr/>
                    <a:lstStyle/>
                    <a:p>
                      <a:pPr>
                        <a:lnSpc>
                          <a:spcPts val="1300"/>
                        </a:lnSpc>
                      </a:pPr>
                      <a:endParaRPr lang="de-DE" sz="9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endParaRPr lang="de-DE" sz="900" dirty="0"/>
                    </a:p>
                  </a:txBody>
                  <a:tcPr marL="0" marR="0" marT="108000" marB="10800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spcAft>
                          <a:spcPts val="700"/>
                        </a:spcAft>
                      </a:pPr>
                      <a:r>
                        <a:rPr lang="de-DE" sz="900" b="1" dirty="0"/>
                        <a:t>Jährlich</a:t>
                      </a:r>
                    </a:p>
                    <a:p>
                      <a:pPr algn="ctr">
                        <a:lnSpc>
                          <a:spcPts val="1300"/>
                        </a:lnSpc>
                      </a:pPr>
                      <a:r>
                        <a:rPr lang="de-DE" sz="900" dirty="0"/>
                        <a:t>1,20 % netto des  </a:t>
                      </a:r>
                    </a:p>
                    <a:p>
                      <a:pPr algn="ctr">
                        <a:lnSpc>
                          <a:spcPts val="1300"/>
                        </a:lnSpc>
                      </a:pPr>
                      <a:r>
                        <a:rPr lang="de-DE" sz="900" dirty="0"/>
                        <a:t>verwalteten Vermögens  </a:t>
                      </a:r>
                    </a:p>
                    <a:p>
                      <a:pPr algn="ctr">
                        <a:lnSpc>
                          <a:spcPts val="1300"/>
                        </a:lnSpc>
                      </a:pPr>
                      <a:r>
                        <a:rPr lang="de-DE" sz="900" dirty="0"/>
                        <a:t>= 1,43 %* brutto</a:t>
                      </a:r>
                    </a:p>
                    <a:p>
                      <a:pPr algn="ctr">
                        <a:lnSpc>
                          <a:spcPts val="1300"/>
                        </a:lnSpc>
                      </a:pPr>
                      <a:endParaRPr lang="de-DE" sz="900" dirty="0"/>
                    </a:p>
                    <a:p>
                      <a:pPr algn="ctr">
                        <a:lnSpc>
                          <a:spcPts val="1300"/>
                        </a:lnSpc>
                      </a:pPr>
                      <a:endParaRPr lang="de-DE" sz="900" dirty="0"/>
                    </a:p>
                    <a:p>
                      <a:pPr algn="ctr">
                        <a:lnSpc>
                          <a:spcPts val="1300"/>
                        </a:lnSpc>
                      </a:pPr>
                      <a:endParaRPr lang="de-DE" sz="900" dirty="0"/>
                    </a:p>
                    <a:p>
                      <a:pPr algn="ctr">
                        <a:lnSpc>
                          <a:spcPts val="1300"/>
                        </a:lnSpc>
                      </a:pPr>
                      <a:endParaRPr lang="de-DE" sz="900" dirty="0"/>
                    </a:p>
                    <a:p>
                      <a:pPr algn="ctr">
                        <a:lnSpc>
                          <a:spcPts val="1300"/>
                        </a:lnSpc>
                      </a:pPr>
                      <a:endParaRPr lang="de-DE" sz="200" dirty="0"/>
                    </a:p>
                    <a:p>
                      <a:pPr algn="ctr">
                        <a:lnSpc>
                          <a:spcPts val="1300"/>
                        </a:lnSpc>
                      </a:pPr>
                      <a:r>
                        <a:rPr lang="de-DE" sz="900" dirty="0"/>
                        <a:t>0,25% pro Einzelordervolumen (mindestens 10 Euro max. 90 Euro) - bei einem Depot-Volumen unter 280.000 Euro</a:t>
                      </a:r>
                    </a:p>
                    <a:p>
                      <a:pPr algn="ctr">
                        <a:lnSpc>
                          <a:spcPts val="1300"/>
                        </a:lnSpc>
                      </a:pPr>
                      <a:endParaRPr lang="de-DE" sz="900" dirty="0"/>
                    </a:p>
                    <a:p>
                      <a:pPr algn="ctr">
                        <a:lnSpc>
                          <a:spcPts val="1300"/>
                        </a:lnSpc>
                      </a:pPr>
                      <a:r>
                        <a:rPr lang="de-DE" sz="900" dirty="0"/>
                        <a:t>Alternativ: 0,10% pro Einzelordervolumen (mindestens 35 Euro max. 90 Euro) - bei einem Depot-Volumen über 280.000 Euro</a:t>
                      </a:r>
                    </a:p>
                  </a:txBody>
                  <a:tcPr marL="0" marR="0" marT="108000" marB="108000">
                    <a:lnL>
                      <a:noFill/>
                    </a:lnL>
                    <a:lnR>
                      <a:noFill/>
                    </a:lnR>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spcAft>
                          <a:spcPts val="700"/>
                        </a:spcAft>
                      </a:pPr>
                      <a:r>
                        <a:rPr lang="de-DE" sz="900" b="1" dirty="0"/>
                        <a:t>Jährlich</a:t>
                      </a:r>
                    </a:p>
                    <a:p>
                      <a:pPr algn="ctr">
                        <a:lnSpc>
                          <a:spcPts val="1300"/>
                        </a:lnSpc>
                      </a:pPr>
                      <a:r>
                        <a:rPr lang="de-DE" sz="900" dirty="0"/>
                        <a:t>1,40 % netto des  </a:t>
                      </a:r>
                    </a:p>
                    <a:p>
                      <a:pPr algn="ctr">
                        <a:lnSpc>
                          <a:spcPts val="1300"/>
                        </a:lnSpc>
                      </a:pPr>
                      <a:r>
                        <a:rPr lang="de-DE" sz="900" dirty="0"/>
                        <a:t>verwalteten Vermögens  </a:t>
                      </a:r>
                    </a:p>
                    <a:p>
                      <a:pPr algn="ctr">
                        <a:lnSpc>
                          <a:spcPts val="1300"/>
                        </a:lnSpc>
                      </a:pPr>
                      <a:r>
                        <a:rPr lang="de-DE" sz="900" dirty="0"/>
                        <a:t>= 1,67 %* brutto</a:t>
                      </a:r>
                    </a:p>
                    <a:p>
                      <a:pPr algn="ctr">
                        <a:lnSpc>
                          <a:spcPts val="1300"/>
                        </a:lnSpc>
                      </a:pPr>
                      <a:endParaRPr lang="de-DE" sz="900" dirty="0"/>
                    </a:p>
                    <a:p>
                      <a:pPr algn="ctr">
                        <a:lnSpc>
                          <a:spcPts val="1300"/>
                        </a:lnSpc>
                      </a:pPr>
                      <a:endParaRPr lang="de-DE" sz="900" dirty="0"/>
                    </a:p>
                    <a:p>
                      <a:pPr algn="ctr">
                        <a:lnSpc>
                          <a:spcPts val="1300"/>
                        </a:lnSpc>
                      </a:pPr>
                      <a:endParaRPr lang="de-DE" sz="900" dirty="0"/>
                    </a:p>
                    <a:p>
                      <a:pPr algn="ctr">
                        <a:lnSpc>
                          <a:spcPts val="1300"/>
                        </a:lnSpc>
                      </a:pPr>
                      <a:endParaRPr lang="de-DE" sz="900" dirty="0"/>
                    </a:p>
                    <a:p>
                      <a:pPr algn="ctr">
                        <a:lnSpc>
                          <a:spcPts val="1300"/>
                        </a:lnSpc>
                      </a:pPr>
                      <a:endParaRPr lang="de-DE" sz="900" dirty="0"/>
                    </a:p>
                    <a:p>
                      <a:pPr algn="ctr">
                        <a:lnSpc>
                          <a:spcPts val="1300"/>
                        </a:lnSpc>
                      </a:pPr>
                      <a:r>
                        <a:rPr lang="de-DE" sz="900" dirty="0"/>
                        <a:t>0,25% pro Einzelordervolumen (mindestens 10 Euro max. 90 Euro) - bei einem Depot-Volumen unter 280.000 Euro</a:t>
                      </a:r>
                    </a:p>
                    <a:p>
                      <a:pPr algn="ctr">
                        <a:lnSpc>
                          <a:spcPts val="1300"/>
                        </a:lnSpc>
                      </a:pPr>
                      <a:endParaRPr lang="de-DE" sz="900" dirty="0"/>
                    </a:p>
                    <a:p>
                      <a:pPr algn="ctr">
                        <a:lnSpc>
                          <a:spcPts val="1300"/>
                        </a:lnSpc>
                      </a:pPr>
                      <a:r>
                        <a:rPr lang="de-DE" sz="900" dirty="0"/>
                        <a:t>Alternativ: 0,10% pro Einzelordervolumen (mindestens 35 Euro max. 90 Euro) - bei einem Depot-Volumen über 280.000 Euro</a:t>
                      </a:r>
                    </a:p>
                    <a:p>
                      <a:pPr algn="ctr">
                        <a:lnSpc>
                          <a:spcPts val="1300"/>
                        </a:lnSpc>
                      </a:pPr>
                      <a:endParaRPr lang="de-DE" sz="900" dirty="0"/>
                    </a:p>
                  </a:txBody>
                  <a:tcPr marL="0" marR="0" marT="108000" marB="108000">
                    <a:lnL>
                      <a:noFill/>
                    </a:lnL>
                    <a:lnR>
                      <a:noFill/>
                    </a:lnR>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108000" marB="10800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spcAft>
                          <a:spcPts val="700"/>
                        </a:spcAft>
                      </a:pPr>
                      <a:r>
                        <a:rPr lang="de-DE" sz="900" b="1" dirty="0"/>
                        <a:t>Jährlich</a:t>
                      </a:r>
                    </a:p>
                    <a:p>
                      <a:pPr algn="ctr">
                        <a:lnSpc>
                          <a:spcPts val="1300"/>
                        </a:lnSpc>
                      </a:pPr>
                      <a:r>
                        <a:rPr lang="de-DE" sz="900" dirty="0"/>
                        <a:t>1,60 % netto des  </a:t>
                      </a:r>
                    </a:p>
                    <a:p>
                      <a:pPr algn="ctr">
                        <a:lnSpc>
                          <a:spcPts val="1300"/>
                        </a:lnSpc>
                      </a:pPr>
                      <a:r>
                        <a:rPr lang="de-DE" sz="900" dirty="0"/>
                        <a:t>verwalteten Vermögens  </a:t>
                      </a:r>
                    </a:p>
                    <a:p>
                      <a:pPr algn="ctr">
                        <a:lnSpc>
                          <a:spcPts val="1300"/>
                        </a:lnSpc>
                      </a:pPr>
                      <a:r>
                        <a:rPr lang="de-DE" sz="900" dirty="0"/>
                        <a:t>= 1,90 %* brutto</a:t>
                      </a:r>
                    </a:p>
                    <a:p>
                      <a:pPr algn="ctr">
                        <a:lnSpc>
                          <a:spcPts val="1300"/>
                        </a:lnSpc>
                      </a:pPr>
                      <a:endParaRPr lang="de-DE" sz="900" dirty="0"/>
                    </a:p>
                    <a:p>
                      <a:pPr algn="ctr">
                        <a:lnSpc>
                          <a:spcPts val="1300"/>
                        </a:lnSpc>
                      </a:pPr>
                      <a:endParaRPr lang="de-DE" sz="900" dirty="0"/>
                    </a:p>
                    <a:p>
                      <a:pPr algn="ctr">
                        <a:lnSpc>
                          <a:spcPts val="1300"/>
                        </a:lnSpc>
                      </a:pPr>
                      <a:endParaRPr lang="de-DE" sz="900" dirty="0"/>
                    </a:p>
                    <a:p>
                      <a:pPr algn="ctr">
                        <a:lnSpc>
                          <a:spcPts val="1300"/>
                        </a:lnSpc>
                      </a:pPr>
                      <a:endParaRPr lang="de-DE" sz="900" dirty="0"/>
                    </a:p>
                    <a:p>
                      <a:pPr algn="ctr">
                        <a:lnSpc>
                          <a:spcPts val="1300"/>
                        </a:lnSpc>
                      </a:pPr>
                      <a:endParaRPr lang="de-DE" sz="900" dirty="0"/>
                    </a:p>
                    <a:p>
                      <a:pPr algn="ctr">
                        <a:lnSpc>
                          <a:spcPts val="1300"/>
                        </a:lnSpc>
                      </a:pPr>
                      <a:r>
                        <a:rPr lang="de-DE" sz="900" dirty="0"/>
                        <a:t>0,25% pro Einzelordervolumen (mindestens 10 Euro max. 90 Euro) - bei einem Depot-Volumen unter 280.000 Euro</a:t>
                      </a:r>
                    </a:p>
                    <a:p>
                      <a:pPr algn="ctr">
                        <a:lnSpc>
                          <a:spcPts val="1300"/>
                        </a:lnSpc>
                      </a:pPr>
                      <a:endParaRPr lang="de-DE" sz="900" dirty="0"/>
                    </a:p>
                    <a:p>
                      <a:pPr algn="ctr">
                        <a:lnSpc>
                          <a:spcPts val="1300"/>
                        </a:lnSpc>
                      </a:pPr>
                      <a:r>
                        <a:rPr lang="de-DE" sz="900" dirty="0"/>
                        <a:t>Alternativ: 0,10% pro Einzelordervolumen (mindestens 35 Euro max. 90 Euro) - bei einem Depot-Volumen über 280.000 Euro</a:t>
                      </a:r>
                    </a:p>
                    <a:p>
                      <a:pPr algn="ctr">
                        <a:lnSpc>
                          <a:spcPts val="1300"/>
                        </a:lnSpc>
                      </a:pPr>
                      <a:endParaRPr lang="de-DE" sz="900" dirty="0"/>
                    </a:p>
                  </a:txBody>
                  <a:tcPr marL="0" marR="0" marT="108000" marB="108000">
                    <a:lnL>
                      <a:noFill/>
                    </a:lnL>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423514167"/>
                  </a:ext>
                </a:extLst>
              </a:tr>
            </a:tbl>
          </a:graphicData>
        </a:graphic>
      </p:graphicFrame>
      <p:sp>
        <p:nvSpPr>
          <p:cNvPr id="5" name="Quelle">
            <a:extLst>
              <a:ext uri="{FF2B5EF4-FFF2-40B4-BE49-F238E27FC236}">
                <a16:creationId xmlns:a16="http://schemas.microsoft.com/office/drawing/2014/main" id="{2055E749-4AB3-6A0F-3406-AB7D5FB190FC}"/>
              </a:ext>
            </a:extLst>
          </p:cNvPr>
          <p:cNvSpPr txBox="1"/>
          <p:nvPr/>
        </p:nvSpPr>
        <p:spPr>
          <a:xfrm>
            <a:off x="753470" y="5415601"/>
            <a:ext cx="5963335" cy="116057"/>
          </a:xfrm>
          <a:prstGeom prst="rect">
            <a:avLst/>
          </a:prstGeom>
          <a:noFill/>
        </p:spPr>
        <p:txBody>
          <a:bodyPr wrap="square" lIns="0" tIns="0" rIns="0" bIns="0" rtlCol="0">
            <a:spAutoFit/>
          </a:bodyPr>
          <a:lstStyle/>
          <a:p>
            <a:pPr>
              <a:lnSpc>
                <a:spcPts val="1000"/>
              </a:lnSpc>
            </a:pPr>
            <a:r>
              <a:rPr lang="de-DE" sz="600" dirty="0">
                <a:solidFill>
                  <a:schemeClr val="tx1">
                    <a:lumMod val="50000"/>
                    <a:lumOff val="50000"/>
                  </a:schemeClr>
                </a:solidFill>
              </a:rPr>
              <a:t>*inklusive 19 % gesetzliche Umsatzsteuer</a:t>
            </a:r>
          </a:p>
        </p:txBody>
      </p:sp>
    </p:spTree>
    <p:extLst>
      <p:ext uri="{BB962C8B-B14F-4D97-AF65-F5344CB8AC3E}">
        <p14:creationId xmlns:p14="http://schemas.microsoft.com/office/powerpoint/2010/main" val="3135286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81D1C97D-0B85-13EC-24EC-F99812756CF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15</a:t>
            </a:fld>
            <a:endParaRPr lang="de-DE"/>
          </a:p>
        </p:txBody>
      </p:sp>
      <p:sp>
        <p:nvSpPr>
          <p:cNvPr id="6" name="Titel">
            <a:extLst>
              <a:ext uri="{FF2B5EF4-FFF2-40B4-BE49-F238E27FC236}">
                <a16:creationId xmlns:a16="http://schemas.microsoft.com/office/drawing/2014/main" id="{8A593740-F4A8-2A26-ED51-81863F08E08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Steuerlicher Hinweis zum Honorar</a:t>
            </a:r>
          </a:p>
        </p:txBody>
      </p:sp>
      <p:sp>
        <p:nvSpPr>
          <p:cNvPr id="8" name="Text 1">
            <a:extLst>
              <a:ext uri="{FF2B5EF4-FFF2-40B4-BE49-F238E27FC236}">
                <a16:creationId xmlns:a16="http://schemas.microsoft.com/office/drawing/2014/main" id="{3202C050-C091-696A-2180-76024B7BC3C0}"/>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dirty="0"/>
              <a:t>Die anfallenden Transaktionskosten im Rahmen der Vermögensverwaltung werden in den allgemeinen Verlustverrechnungstopf eingestellt, damit erfolgt automatisch die Verrechnung mit Ihren abgeltungssteuerpflichtigen Erträgen und damit eine Steuerminderung. </a:t>
            </a:r>
          </a:p>
        </p:txBody>
      </p:sp>
      <p:sp>
        <p:nvSpPr>
          <p:cNvPr id="14" name="Text 1">
            <a:extLst>
              <a:ext uri="{FF2B5EF4-FFF2-40B4-BE49-F238E27FC236}">
                <a16:creationId xmlns:a16="http://schemas.microsoft.com/office/drawing/2014/main" id="{C794E5D2-FEC0-5D64-F611-5B08C6B01664}"/>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dirty="0"/>
              <a:t>Mit der Einführung der Abgeltungssteuer zum 1.Januar 2009 sind Werbungskosten bei der Ermittlung von Einkünften aus Kapitalvermögen grundsätzlich nicht mehr abzugsfähig. Hingegen wirken sich Anschaffungsnebenkosten und Veräußerungskosten steuermindernd aus.</a:t>
            </a:r>
            <a:br>
              <a:rPr lang="de-DE" dirty="0"/>
            </a:br>
            <a:endParaRPr lang="de-DE" dirty="0"/>
          </a:p>
          <a:p>
            <a:pPr lvl="2"/>
            <a:endParaRPr lang="de-DE" dirty="0"/>
          </a:p>
        </p:txBody>
      </p:sp>
    </p:spTree>
    <p:extLst>
      <p:ext uri="{BB962C8B-B14F-4D97-AF65-F5344CB8AC3E}">
        <p14:creationId xmlns:p14="http://schemas.microsoft.com/office/powerpoint/2010/main" val="2396361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E5AB73C8-63DD-B360-5A7F-E1758BA253F8}"/>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16</a:t>
            </a:fld>
            <a:endParaRPr lang="de-DE"/>
          </a:p>
        </p:txBody>
      </p:sp>
      <p:sp>
        <p:nvSpPr>
          <p:cNvPr id="3" name="Text">
            <a:extLst>
              <a:ext uri="{FF2B5EF4-FFF2-40B4-BE49-F238E27FC236}">
                <a16:creationId xmlns:a16="http://schemas.microsoft.com/office/drawing/2014/main" id="{24FD612B-4314-DFD5-B833-7F27A3B852EB}"/>
              </a:ext>
            </a:extLst>
          </p:cNvPr>
          <p:cNvSpPr>
            <a:spLocks noGrp="1" noRot="1" noMove="1" noResize="1" noEditPoints="1" noAdjustHandles="1" noChangeArrowheads="1" noChangeShapeType="1"/>
          </p:cNvSpPr>
          <p:nvPr>
            <p:ph idx="1"/>
          </p:nvPr>
        </p:nvSpPr>
        <p:spPr/>
        <p:txBody>
          <a:bodyPr/>
          <a:lstStyle/>
          <a:p>
            <a:r>
              <a:rPr lang="de-DE" dirty="0"/>
              <a:t>Langfristiger Vermögenserhalt</a:t>
            </a:r>
          </a:p>
          <a:p>
            <a:pPr lvl="2"/>
            <a:r>
              <a:rPr lang="de-DE" dirty="0"/>
              <a:t>Langfristiger Vermögenserhalt durch ein realistisches Rendite-Risiko-Verhältnis mit einem konservativen Investmentansatz und dem Verzicht auf Aktionismus.</a:t>
            </a:r>
          </a:p>
          <a:p>
            <a:r>
              <a:rPr lang="de-DE" dirty="0"/>
              <a:t>Regelmäßiger Kundendialog</a:t>
            </a:r>
          </a:p>
          <a:p>
            <a:pPr lvl="2"/>
            <a:r>
              <a:rPr lang="de-DE" dirty="0"/>
              <a:t>Transparenz durch weitgehende Fokussierung auf Einzel-titel, aussagekräftige Portfolioberichte und den regel-mäßigen partnerschaftlichen Dialog mit unseren Kunden.</a:t>
            </a:r>
          </a:p>
          <a:p>
            <a:r>
              <a:rPr lang="de-DE" dirty="0"/>
              <a:t>Unabhängiges Investment</a:t>
            </a:r>
          </a:p>
          <a:p>
            <a:pPr lvl="2"/>
            <a:r>
              <a:rPr lang="de-DE" dirty="0"/>
              <a:t>Unabhängigkeit durch den Verzicht auf den Einsatz eigener Produkte.</a:t>
            </a:r>
          </a:p>
          <a:p>
            <a:r>
              <a:rPr lang="de-DE" dirty="0"/>
              <a:t>Breite Risikostreuung</a:t>
            </a:r>
          </a:p>
          <a:p>
            <a:pPr lvl="2"/>
            <a:r>
              <a:rPr lang="de-DE" dirty="0"/>
              <a:t>Risikostreuung durch Diversifizierung von Anlageklassen, Branchen, Regionen und Währungen.</a:t>
            </a:r>
          </a:p>
          <a:p>
            <a:r>
              <a:rPr lang="de-DE" dirty="0"/>
              <a:t>Zusammenspiel aus Erfahrung und geprüften Analyseinstrumenten</a:t>
            </a:r>
          </a:p>
          <a:p>
            <a:pPr lvl="2"/>
            <a:r>
              <a:rPr lang="de-DE" dirty="0"/>
              <a:t>Professionalität durch den Einsatz moderner fundamentaler und quantitativer Analyseinstrumente und erfahrener Mitarbeiter als Entscheidungsträger.</a:t>
            </a:r>
          </a:p>
        </p:txBody>
      </p:sp>
      <p:sp>
        <p:nvSpPr>
          <p:cNvPr id="4" name="Titel">
            <a:extLst>
              <a:ext uri="{FF2B5EF4-FFF2-40B4-BE49-F238E27FC236}">
                <a16:creationId xmlns:a16="http://schemas.microsoft.com/office/drawing/2014/main" id="{E12E245F-B51F-131E-6109-E14B015469E8}"/>
              </a:ext>
            </a:extLst>
          </p:cNvPr>
          <p:cNvSpPr>
            <a:spLocks noGrp="1" noRot="1" noMove="1" noResize="1" noEditPoints="1" noAdjustHandles="1" noChangeArrowheads="1" noChangeShapeType="1"/>
          </p:cNvSpPr>
          <p:nvPr>
            <p:ph type="title"/>
          </p:nvPr>
        </p:nvSpPr>
        <p:spPr/>
        <p:txBody>
          <a:bodyPr/>
          <a:lstStyle/>
          <a:p>
            <a:r>
              <a:rPr lang="de-DE" dirty="0"/>
              <a:t>Unsere Investmentphilosophie</a:t>
            </a:r>
          </a:p>
        </p:txBody>
      </p:sp>
    </p:spTree>
    <p:extLst>
      <p:ext uri="{BB962C8B-B14F-4D97-AF65-F5344CB8AC3E}">
        <p14:creationId xmlns:p14="http://schemas.microsoft.com/office/powerpoint/2010/main" val="3958680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4B23C-4952-B118-10C4-11038750BE1D}"/>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4507B016-EA07-C819-C973-1AD0148C4D56}"/>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17</a:t>
            </a:fld>
            <a:endParaRPr lang="de-DE" dirty="0"/>
          </a:p>
        </p:txBody>
      </p:sp>
      <p:sp>
        <p:nvSpPr>
          <p:cNvPr id="3" name="Text">
            <a:extLst>
              <a:ext uri="{FF2B5EF4-FFF2-40B4-BE49-F238E27FC236}">
                <a16:creationId xmlns:a16="http://schemas.microsoft.com/office/drawing/2014/main" id="{C062E8D2-57BE-4760-1DDE-D04E35D3BC15}"/>
              </a:ext>
            </a:extLst>
          </p:cNvPr>
          <p:cNvSpPr>
            <a:spLocks noGrp="1"/>
          </p:cNvSpPr>
          <p:nvPr>
            <p:ph idx="1"/>
          </p:nvPr>
        </p:nvSpPr>
        <p:spPr>
          <a:xfrm>
            <a:off x="1187448" y="1411638"/>
            <a:ext cx="4293128" cy="4420838"/>
          </a:xfrm>
        </p:spPr>
        <p:txBody>
          <a:bodyPr/>
          <a:lstStyle/>
          <a:p>
            <a:r>
              <a:rPr lang="de-DE" dirty="0"/>
              <a:t>Die optimale Vermögensverwaltungsstrategie</a:t>
            </a:r>
          </a:p>
          <a:p>
            <a:pPr lvl="2"/>
            <a:r>
              <a:rPr lang="de-DE" dirty="0"/>
              <a:t>Gemeinsame Festlegung der für Sie optimalen Vermögens-</a:t>
            </a:r>
            <a:r>
              <a:rPr lang="de-DE" dirty="0" err="1"/>
              <a:t>verwaltungsstrategie</a:t>
            </a:r>
            <a:r>
              <a:rPr lang="de-DE" dirty="0"/>
              <a:t> auf Basis einer Analyse Ihrer aktuellen Vermögensstruktur, Ihren individuellen Rendite-Risiko-präferenzen, Ihrem angestrebten Anlagehorizont und Ihren Anlagezielen.</a:t>
            </a:r>
          </a:p>
          <a:p>
            <a:pPr lvl="2"/>
            <a:r>
              <a:rPr lang="de-DE" dirty="0"/>
              <a:t>Allokation Ihres gewünschten Anlagebetrages in die von Ihnen gewählte Anlagestrategie und laufende Steuerung und Überwachung.</a:t>
            </a:r>
          </a:p>
          <a:p>
            <a:r>
              <a:rPr lang="de-DE" dirty="0"/>
              <a:t>Ganzheitliches Risikomanagement</a:t>
            </a:r>
          </a:p>
          <a:p>
            <a:pPr lvl="2"/>
            <a:r>
              <a:rPr lang="de-DE" dirty="0"/>
              <a:t>Laufende strategische und taktische Anpassung der Asset-Allokation Ihres Vermögensverwaltungsportfolios auf Basis makroökonomischer und betriebswirtschaftlicher Daten im Rahmen der vereinbarten Anlagerichtlinien. Unsere Anlageentscheidungen treffen wir vor allem auf der Basis fundamentaler Einschätzungen unserer erfahrenen Mitarbeiter in den Vermögensverwaltungsgremien und flankieren diese durch quantitative Analyseinstrumente. Besonderen Wert legen wir hierbei auf unser ganzheitliches Risikomanagement.</a:t>
            </a:r>
          </a:p>
          <a:p>
            <a:pPr lvl="2"/>
            <a:r>
              <a:rPr lang="de-DE" dirty="0"/>
              <a:t>Kontinuierliche Informationen über die Wertentwicklung Ihres Portfolios auf Basis regelmäßiger Berichte und persönlicher Gespräche.</a:t>
            </a:r>
          </a:p>
        </p:txBody>
      </p:sp>
      <p:sp>
        <p:nvSpPr>
          <p:cNvPr id="4" name="Titel">
            <a:extLst>
              <a:ext uri="{FF2B5EF4-FFF2-40B4-BE49-F238E27FC236}">
                <a16:creationId xmlns:a16="http://schemas.microsoft.com/office/drawing/2014/main" id="{5B40CA86-9E97-426C-F695-509278588661}"/>
              </a:ext>
            </a:extLst>
          </p:cNvPr>
          <p:cNvSpPr>
            <a:spLocks noGrp="1" noRot="1" noMove="1" noResize="1" noEditPoints="1" noAdjustHandles="1" noChangeArrowheads="1" noChangeShapeType="1"/>
          </p:cNvSpPr>
          <p:nvPr>
            <p:ph type="title"/>
          </p:nvPr>
        </p:nvSpPr>
        <p:spPr/>
        <p:txBody>
          <a:bodyPr/>
          <a:lstStyle/>
          <a:p>
            <a:r>
              <a:rPr lang="de-DE" dirty="0"/>
              <a:t>Unser Investmentprozess</a:t>
            </a:r>
          </a:p>
        </p:txBody>
      </p:sp>
    </p:spTree>
    <p:extLst>
      <p:ext uri="{BB962C8B-B14F-4D97-AF65-F5344CB8AC3E}">
        <p14:creationId xmlns:p14="http://schemas.microsoft.com/office/powerpoint/2010/main" val="2889263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81D1C97D-0B85-13EC-24EC-F99812756CF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18</a:t>
            </a:fld>
            <a:endParaRPr lang="de-DE"/>
          </a:p>
        </p:txBody>
      </p:sp>
      <p:sp>
        <p:nvSpPr>
          <p:cNvPr id="11" name="Text 3">
            <a:extLst>
              <a:ext uri="{FF2B5EF4-FFF2-40B4-BE49-F238E27FC236}">
                <a16:creationId xmlns:a16="http://schemas.microsoft.com/office/drawing/2014/main" id="{E721D5B7-2B6D-2367-6C3B-B7F2BC41399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r>
              <a:rPr lang="de-DE" dirty="0"/>
              <a:t>Zinsänderungsrisiko</a:t>
            </a:r>
          </a:p>
          <a:p>
            <a:pPr lvl="1"/>
            <a:r>
              <a:rPr lang="de-DE" dirty="0"/>
              <a:t>Stark steigende Zinsen können den Wert eines bestehenden Anleiheportfolios temporär stark reduzieren. Durch ein professionelles und </a:t>
            </a:r>
            <a:r>
              <a:rPr lang="de-DE" dirty="0" err="1"/>
              <a:t>ak-tives</a:t>
            </a:r>
            <a:r>
              <a:rPr lang="de-DE" dirty="0"/>
              <a:t> Laufzeitenmanagement streben wir eine deutliche Verringerung dieses Risikos an. </a:t>
            </a:r>
          </a:p>
          <a:p>
            <a:r>
              <a:rPr lang="de-DE" dirty="0"/>
              <a:t>Liquiditätsrisiko</a:t>
            </a:r>
          </a:p>
          <a:p>
            <a:pPr lvl="1"/>
            <a:r>
              <a:rPr lang="de-DE" dirty="0"/>
              <a:t>Das Liquiditätsrisiko schließen wir aus, indem wir ausschließlich in liquide Anlagen </a:t>
            </a:r>
            <a:r>
              <a:rPr lang="de-DE" dirty="0" err="1"/>
              <a:t>investie-ren</a:t>
            </a:r>
            <a:r>
              <a:rPr lang="de-DE" dirty="0"/>
              <a:t>. Geschlossene oder beschränkt verfügbare Produkte werden nicht erworben. </a:t>
            </a:r>
          </a:p>
        </p:txBody>
      </p:sp>
      <p:sp>
        <p:nvSpPr>
          <p:cNvPr id="4" name="Text 2">
            <a:extLst>
              <a:ext uri="{FF2B5EF4-FFF2-40B4-BE49-F238E27FC236}">
                <a16:creationId xmlns:a16="http://schemas.microsoft.com/office/drawing/2014/main" id="{3043CE18-576B-2D06-5DFA-D88278972F54}"/>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r>
              <a:rPr lang="de-DE" dirty="0"/>
              <a:t>Bonitäts-/Emittentenrisiko</a:t>
            </a:r>
          </a:p>
          <a:p>
            <a:pPr lvl="1"/>
            <a:r>
              <a:rPr lang="de-DE" dirty="0"/>
              <a:t>Bei Anleihen guter Bonität kann mit hoher Wahrscheinlichkeit davon ausgegangen wer-den, dass diese bei Laufzeitende vollständig zu-rückgezahlt werden. Daher achten wir auf gute Ratingeinstufungen der Anleiheemittenten. Weil es aber immer wieder vorkommt, dass die Bonität eines Emittenten sich verschlechtert, ohne dass dies rechtzeitig von den Rating-agenturen erkannt und bekanntgegeben wird, bilden wir uns auch ein eigens Urteil im Rah-</a:t>
            </a:r>
            <a:r>
              <a:rPr lang="de-DE" dirty="0" err="1"/>
              <a:t>men</a:t>
            </a:r>
            <a:r>
              <a:rPr lang="de-DE" dirty="0"/>
              <a:t> einer kontinuierlichen Überwachung der Emittenten durch unsere Anleihespezialisten. </a:t>
            </a:r>
          </a:p>
          <a:p>
            <a:r>
              <a:rPr lang="de-DE" dirty="0"/>
              <a:t>Währungsrisiko</a:t>
            </a:r>
          </a:p>
          <a:p>
            <a:pPr lvl="1"/>
            <a:r>
              <a:rPr lang="de-DE" dirty="0"/>
              <a:t>Das Einzelwährungsrisiko reduzieren wir durch eine breite und global orientierte </a:t>
            </a:r>
            <a:r>
              <a:rPr lang="de-DE" dirty="0" err="1"/>
              <a:t>Diversifizie-rung</a:t>
            </a:r>
            <a:r>
              <a:rPr lang="de-DE" dirty="0"/>
              <a:t>. </a:t>
            </a:r>
          </a:p>
        </p:txBody>
      </p:sp>
      <p:sp>
        <p:nvSpPr>
          <p:cNvPr id="5" name="Text 1">
            <a:extLst>
              <a:ext uri="{FF2B5EF4-FFF2-40B4-BE49-F238E27FC236}">
                <a16:creationId xmlns:a16="http://schemas.microsoft.com/office/drawing/2014/main" id="{E998F134-05AB-FCF7-7224-9CAA4D134CE5}"/>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r>
              <a:rPr lang="de-DE" dirty="0"/>
              <a:t>Kursänderungsrisiko</a:t>
            </a:r>
          </a:p>
          <a:p>
            <a:pPr lvl="1"/>
            <a:r>
              <a:rPr lang="de-DE" dirty="0"/>
              <a:t>Wertschwankungen eines Portfolios können niemals ausgeschlossen werden, weil Wertpapiermärkte typischerweise durch ihre Volatilität geprägt sind. Die Schwankungen können aber gemildert werden durch eine sorgfältige Einzeltitelauswahl und einer breiten Streuung. In turbulenten Marktphasen ist es wichtig, einen kühlen Kopf zu bewahren. Absicherungsmaßnahmen und vor allem eine aktive Steuerung der Investitionsquoten können Schwankungen reduzieren, Chancen können aber nur wahrgenommen werden, wenn man in einer Erholungsphase entsprechend investiert ist. Für eine sorgfältige Steuerung sind weder übertriebene Furcht noch Gier hilfreich, vielmehr braucht es Augen-maß und vor allem sehr viel Erfahrung und die professionelle Anwendung einer breiten Palette moderner Risikomanagement-instrumente.</a:t>
            </a:r>
          </a:p>
        </p:txBody>
      </p:sp>
      <p:sp>
        <p:nvSpPr>
          <p:cNvPr id="6" name="Titel">
            <a:extLst>
              <a:ext uri="{FF2B5EF4-FFF2-40B4-BE49-F238E27FC236}">
                <a16:creationId xmlns:a16="http://schemas.microsoft.com/office/drawing/2014/main" id="{8A593740-F4A8-2A26-ED51-81863F08E08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Unser Risikomanagement</a:t>
            </a:r>
          </a:p>
        </p:txBody>
      </p:sp>
    </p:spTree>
    <p:extLst>
      <p:ext uri="{BB962C8B-B14F-4D97-AF65-F5344CB8AC3E}">
        <p14:creationId xmlns:p14="http://schemas.microsoft.com/office/powerpoint/2010/main" val="3089789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2E1F6443-B286-D081-D271-BC363530CE57}"/>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19</a:t>
            </a:fld>
            <a:endParaRPr lang="de-DE"/>
          </a:p>
        </p:txBody>
      </p:sp>
      <p:graphicFrame>
        <p:nvGraphicFramePr>
          <p:cNvPr id="6" name="Tabelle">
            <a:extLst>
              <a:ext uri="{FF2B5EF4-FFF2-40B4-BE49-F238E27FC236}">
                <a16:creationId xmlns:a16="http://schemas.microsoft.com/office/drawing/2014/main" id="{254E7761-68C2-F358-6C12-E31D307F6055}"/>
              </a:ext>
            </a:extLst>
          </p:cNvPr>
          <p:cNvGraphicFramePr>
            <a:graphicFrameLocks noGrp="1"/>
          </p:cNvGraphicFramePr>
          <p:nvPr>
            <p:ph idx="13"/>
            <p:extLst>
              <p:ext uri="{D42A27DB-BD31-4B8C-83A1-F6EECF244321}">
                <p14:modId xmlns:p14="http://schemas.microsoft.com/office/powerpoint/2010/main" val="3851782016"/>
              </p:ext>
            </p:extLst>
          </p:nvPr>
        </p:nvGraphicFramePr>
        <p:xfrm>
          <a:off x="3671888" y="1041400"/>
          <a:ext cx="6458309" cy="3708000"/>
        </p:xfrm>
        <a:graphic>
          <a:graphicData uri="http://schemas.openxmlformats.org/drawingml/2006/table">
            <a:tbl>
              <a:tblPr firstRow="1" bandRow="1">
                <a:tableStyleId>{69012ECD-51FC-41F1-AA8D-1B2483CD663E}</a:tableStyleId>
              </a:tblPr>
              <a:tblGrid>
                <a:gridCol w="246600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39420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anlageklasse</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err="1">
                          <a:solidFill>
                            <a:schemeClr val="bg1"/>
                          </a:solidFill>
                        </a:rPr>
                        <a:t>anlagelösungen</a:t>
                      </a:r>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360000">
                <a:tc>
                  <a:txBody>
                    <a:bodyPr/>
                    <a:lstStyle/>
                    <a:p>
                      <a:r>
                        <a:rPr lang="de-DE" sz="900" b="0" dirty="0"/>
                        <a:t>Liquidität</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a:spcAft>
                          <a:spcPts val="600"/>
                        </a:spcAft>
                        <a:buFontTx/>
                        <a:buBlip>
                          <a:blip r:embed="rId2"/>
                        </a:buBlip>
                      </a:pPr>
                      <a:r>
                        <a:rPr lang="de-DE" sz="900" b="0" dirty="0"/>
                        <a:t>Kontoguthaben</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0595349"/>
                  </a:ext>
                </a:extLst>
              </a:tr>
              <a:tr h="1404000">
                <a:tc>
                  <a:txBody>
                    <a:bodyPr/>
                    <a:lstStyle/>
                    <a:p>
                      <a:r>
                        <a:rPr lang="de-DE" sz="900" b="0" dirty="0"/>
                        <a:t>Anleihen</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Staatsanleihen</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Pfandbriefe</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Unternehmensanleihen/ Bankenanleihen</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Strukturierte Anleihen</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Investmentfonds</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ETFs</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5848646"/>
                  </a:ext>
                </a:extLst>
              </a:tr>
              <a:tr h="756000">
                <a:tc>
                  <a:txBody>
                    <a:bodyPr/>
                    <a:lstStyle/>
                    <a:p>
                      <a:r>
                        <a:rPr lang="de-DE" sz="900" b="0" dirty="0"/>
                        <a:t>Aktien</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Einzeltitel</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ETFs</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Investmentfonds</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2306334"/>
                  </a:ext>
                </a:extLst>
              </a:tr>
              <a:tr h="576000">
                <a:tc>
                  <a:txBody>
                    <a:bodyPr/>
                    <a:lstStyle/>
                    <a:p>
                      <a:r>
                        <a:rPr lang="de-DE" sz="900" b="0" dirty="0"/>
                        <a:t>Risikoadjustierte Produkte </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Discountzertifikate</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Aktienanleihen </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3228351"/>
                  </a:ext>
                </a:extLst>
              </a:tr>
              <a:tr h="396000">
                <a:tc>
                  <a:txBody>
                    <a:bodyPr/>
                    <a:lstStyle/>
                    <a:p>
                      <a:r>
                        <a:rPr lang="de-DE" sz="900" b="0" dirty="0"/>
                        <a:t>Edelmetalle</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ETCs auf Edelmetalle</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914861"/>
                  </a:ext>
                </a:extLst>
              </a:tr>
            </a:tbl>
          </a:graphicData>
        </a:graphic>
      </p:graphicFrame>
      <p:sp>
        <p:nvSpPr>
          <p:cNvPr id="4" name="Text">
            <a:extLst>
              <a:ext uri="{FF2B5EF4-FFF2-40B4-BE49-F238E27FC236}">
                <a16:creationId xmlns:a16="http://schemas.microsoft.com/office/drawing/2014/main" id="{163A3452-6B15-0579-2A3C-DEE1D79CEEDF}"/>
              </a:ext>
            </a:extLst>
          </p:cNvPr>
          <p:cNvSpPr>
            <a:spLocks noGrp="1" noRot="1" noMove="1" noResize="1" noEditPoints="1" noAdjustHandles="1" noChangeArrowheads="1" noChangeShapeType="1"/>
          </p:cNvSpPr>
          <p:nvPr>
            <p:ph idx="1"/>
          </p:nvPr>
        </p:nvSpPr>
        <p:spPr/>
        <p:txBody>
          <a:bodyPr/>
          <a:lstStyle/>
          <a:p>
            <a:pPr lvl="2"/>
            <a:r>
              <a:rPr lang="de-DE" dirty="0"/>
              <a:t>Die Kombination verschiedener </a:t>
            </a:r>
            <a:r>
              <a:rPr lang="de-DE" dirty="0" err="1"/>
              <a:t>Anlageklas-sen</a:t>
            </a:r>
            <a:r>
              <a:rPr lang="de-DE" dirty="0"/>
              <a:t> – je nach individueller Risikobereitschaft –ermöglicht eine valide Portfoliodiversifikation, mit dem Ziel, auftretenden Marktvolatilitäten entgegenzuwirken. Dies kann durch unter-schiedliche Finanzinstrumente erfolgen.</a:t>
            </a:r>
          </a:p>
        </p:txBody>
      </p:sp>
      <p:sp>
        <p:nvSpPr>
          <p:cNvPr id="5" name="Titel">
            <a:extLst>
              <a:ext uri="{FF2B5EF4-FFF2-40B4-BE49-F238E27FC236}">
                <a16:creationId xmlns:a16="http://schemas.microsoft.com/office/drawing/2014/main" id="{A2638D9C-D791-60AF-4096-C955640E52F4}"/>
              </a:ext>
            </a:extLst>
          </p:cNvPr>
          <p:cNvSpPr>
            <a:spLocks noGrp="1" noRot="1" noMove="1" noResize="1" noEditPoints="1" noAdjustHandles="1" noChangeArrowheads="1" noChangeShapeType="1"/>
          </p:cNvSpPr>
          <p:nvPr>
            <p:ph type="title"/>
          </p:nvPr>
        </p:nvSpPr>
        <p:spPr/>
        <p:txBody>
          <a:bodyPr/>
          <a:lstStyle/>
          <a:p>
            <a:r>
              <a:rPr lang="de-DE" dirty="0"/>
              <a:t>Anlageklassen und Ausgestaltung</a:t>
            </a:r>
          </a:p>
        </p:txBody>
      </p:sp>
    </p:spTree>
    <p:extLst>
      <p:ext uri="{BB962C8B-B14F-4D97-AF65-F5344CB8AC3E}">
        <p14:creationId xmlns:p14="http://schemas.microsoft.com/office/powerpoint/2010/main" val="3318152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71BDD082-AD9A-6DD8-3348-F165CD10DD2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20</a:t>
            </a:fld>
            <a:endParaRPr lang="de-DE"/>
          </a:p>
        </p:txBody>
      </p:sp>
      <p:sp>
        <p:nvSpPr>
          <p:cNvPr id="6" name="Text">
            <a:extLst>
              <a:ext uri="{FF2B5EF4-FFF2-40B4-BE49-F238E27FC236}">
                <a16:creationId xmlns:a16="http://schemas.microsoft.com/office/drawing/2014/main" id="{D1C6F36B-B5D5-FA42-8AB2-64B475944977}"/>
              </a:ext>
            </a:extLst>
          </p:cNvPr>
          <p:cNvSpPr txBox="1">
            <a:spLocks noGrp="1" noRot="1" noMove="1" noResize="1" noEditPoints="1" noAdjustHandles="1" noChangeArrowheads="1" noChangeShapeType="1"/>
          </p:cNvSpPr>
          <p:nvPr/>
        </p:nvSpPr>
        <p:spPr>
          <a:xfrm>
            <a:off x="358775" y="4697839"/>
            <a:ext cx="4789488" cy="719684"/>
          </a:xfrm>
          <a:prstGeom prst="rect">
            <a:avLst/>
          </a:prstGeom>
          <a:noFill/>
        </p:spPr>
        <p:txBody>
          <a:bodyPr wrap="square" lIns="0" tIns="0" rIns="0" bIns="0" rtlCol="0">
            <a:spAutoFit/>
          </a:bodyPr>
          <a:lstStyle/>
          <a:p>
            <a:pPr marL="198000" indent="-198000">
              <a:lnSpc>
                <a:spcPts val="1900"/>
              </a:lnSpc>
              <a:buBlip>
                <a:blip r:embed="rId2"/>
              </a:buBlip>
            </a:pPr>
            <a:r>
              <a:rPr lang="de-DE" sz="1500" b="1" dirty="0">
                <a:solidFill>
                  <a:schemeClr val="accent1"/>
                </a:solidFill>
                <a:latin typeface="+mj-lt"/>
              </a:rPr>
              <a:t>Gerne stellen wir Ihnen in regelmäßigen  Abständen oder auf Wunsch einen aktuellen Bericht zur Verfügung.</a:t>
            </a:r>
          </a:p>
        </p:txBody>
      </p:sp>
      <p:graphicFrame>
        <p:nvGraphicFramePr>
          <p:cNvPr id="5" name="Tabelle">
            <a:extLst>
              <a:ext uri="{FF2B5EF4-FFF2-40B4-BE49-F238E27FC236}">
                <a16:creationId xmlns:a16="http://schemas.microsoft.com/office/drawing/2014/main" id="{1CF60558-7248-3322-4596-B33D91F44A2E}"/>
              </a:ext>
            </a:extLst>
          </p:cNvPr>
          <p:cNvGraphicFramePr>
            <a:graphicFrameLocks noGrp="1"/>
          </p:cNvGraphicFramePr>
          <p:nvPr>
            <p:ph idx="1"/>
            <p:extLst>
              <p:ext uri="{D42A27DB-BD31-4B8C-83A1-F6EECF244321}">
                <p14:modId xmlns:p14="http://schemas.microsoft.com/office/powerpoint/2010/main" val="280979355"/>
              </p:ext>
            </p:extLst>
          </p:nvPr>
        </p:nvGraphicFramePr>
        <p:xfrm>
          <a:off x="358775" y="1041400"/>
          <a:ext cx="9756000" cy="2866168"/>
        </p:xfrm>
        <a:graphic>
          <a:graphicData uri="http://schemas.openxmlformats.org/drawingml/2006/table">
            <a:tbl>
              <a:tblPr firstRow="1" bandRow="1">
                <a:tableStyleId>{2D5ABB26-0587-4C30-8999-92F81FD0307C}</a:tableStyleId>
              </a:tblPr>
              <a:tblGrid>
                <a:gridCol w="2304000">
                  <a:extLst>
                    <a:ext uri="{9D8B030D-6E8A-4147-A177-3AD203B41FA5}">
                      <a16:colId xmlns:a16="http://schemas.microsoft.com/office/drawing/2014/main" val="2960144582"/>
                    </a:ext>
                  </a:extLst>
                </a:gridCol>
                <a:gridCol w="180000">
                  <a:extLst>
                    <a:ext uri="{9D8B030D-6E8A-4147-A177-3AD203B41FA5}">
                      <a16:colId xmlns:a16="http://schemas.microsoft.com/office/drawing/2014/main" val="3719935177"/>
                    </a:ext>
                  </a:extLst>
                </a:gridCol>
                <a:gridCol w="2304000">
                  <a:extLst>
                    <a:ext uri="{9D8B030D-6E8A-4147-A177-3AD203B41FA5}">
                      <a16:colId xmlns:a16="http://schemas.microsoft.com/office/drawing/2014/main" val="1099370210"/>
                    </a:ext>
                  </a:extLst>
                </a:gridCol>
                <a:gridCol w="180000">
                  <a:extLst>
                    <a:ext uri="{9D8B030D-6E8A-4147-A177-3AD203B41FA5}">
                      <a16:colId xmlns:a16="http://schemas.microsoft.com/office/drawing/2014/main" val="1043823165"/>
                    </a:ext>
                  </a:extLst>
                </a:gridCol>
                <a:gridCol w="2304000">
                  <a:extLst>
                    <a:ext uri="{9D8B030D-6E8A-4147-A177-3AD203B41FA5}">
                      <a16:colId xmlns:a16="http://schemas.microsoft.com/office/drawing/2014/main" val="2181555188"/>
                    </a:ext>
                  </a:extLst>
                </a:gridCol>
                <a:gridCol w="180000">
                  <a:extLst>
                    <a:ext uri="{9D8B030D-6E8A-4147-A177-3AD203B41FA5}">
                      <a16:colId xmlns:a16="http://schemas.microsoft.com/office/drawing/2014/main" val="1222754153"/>
                    </a:ext>
                  </a:extLst>
                </a:gridCol>
                <a:gridCol w="2304000">
                  <a:extLst>
                    <a:ext uri="{9D8B030D-6E8A-4147-A177-3AD203B41FA5}">
                      <a16:colId xmlns:a16="http://schemas.microsoft.com/office/drawing/2014/main" val="1006042721"/>
                    </a:ext>
                  </a:extLst>
                </a:gridCol>
              </a:tblGrid>
              <a:tr h="370840">
                <a:tc>
                  <a:txBody>
                    <a:bodyPr/>
                    <a:lstStyle/>
                    <a:p>
                      <a: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pPr>
                      <a:r>
                        <a:rPr lang="de-DE" sz="1100" b="1" kern="1200" dirty="0">
                          <a:solidFill>
                            <a:schemeClr val="accent1"/>
                          </a:solidFill>
                          <a:latin typeface="+mj-lt"/>
                          <a:ea typeface="+mn-ea"/>
                          <a:cs typeface="+mn-cs"/>
                        </a:rPr>
                        <a:t>Vermögensverwaltungsbericht</a:t>
                      </a:r>
                    </a:p>
                    <a:p>
                      <a:pPr>
                        <a:lnSpc>
                          <a:spcPts val="1600"/>
                        </a:lnSpc>
                      </a:pPr>
                      <a:r>
                        <a:rPr lang="de-DE" sz="1100" kern="1200" dirty="0">
                          <a:solidFill>
                            <a:schemeClr val="tx1"/>
                          </a:solidFill>
                          <a:latin typeface="+mn-lt"/>
                          <a:ea typeface="+mn-ea"/>
                          <a:cs typeface="+mn-cs"/>
                        </a:rPr>
                        <a:t>Wir stellen Ihnen gemäß den </a:t>
                      </a:r>
                    </a:p>
                    <a:p>
                      <a:pPr>
                        <a:lnSpc>
                          <a:spcPts val="1600"/>
                        </a:lnSpc>
                      </a:pPr>
                      <a:r>
                        <a:rPr lang="de-DE" sz="1100" kern="1200" dirty="0">
                          <a:solidFill>
                            <a:schemeClr val="tx1"/>
                          </a:solidFill>
                          <a:latin typeface="+mn-lt"/>
                          <a:ea typeface="+mn-ea"/>
                          <a:cs typeface="+mn-cs"/>
                        </a:rPr>
                        <a:t>gesetzlichen Anforderungen </a:t>
                      </a:r>
                    </a:p>
                    <a:p>
                      <a:pPr>
                        <a:lnSpc>
                          <a:spcPts val="1600"/>
                        </a:lnSpc>
                      </a:pPr>
                      <a:r>
                        <a:rPr lang="de-DE" sz="1100" kern="1200" dirty="0">
                          <a:solidFill>
                            <a:schemeClr val="tx1"/>
                          </a:solidFill>
                          <a:latin typeface="+mn-lt"/>
                          <a:ea typeface="+mn-ea"/>
                          <a:cs typeface="+mn-cs"/>
                        </a:rPr>
                        <a:t>quartalsweise einen detaillierten </a:t>
                      </a:r>
                    </a:p>
                    <a:p>
                      <a:pPr>
                        <a:lnSpc>
                          <a:spcPts val="1600"/>
                        </a:lnSpc>
                      </a:pPr>
                      <a:r>
                        <a:rPr lang="de-DE" sz="1100" kern="1200" dirty="0">
                          <a:solidFill>
                            <a:schemeClr val="tx1"/>
                          </a:solidFill>
                          <a:latin typeface="+mn-lt"/>
                          <a:ea typeface="+mn-ea"/>
                          <a:cs typeface="+mn-cs"/>
                        </a:rPr>
                        <a:t>Bericht zur Verfügung. Folgende Bestandteile sind in diesem Be-</a:t>
                      </a:r>
                      <a:r>
                        <a:rPr lang="de-DE" sz="1100" kern="1200" dirty="0" err="1">
                          <a:solidFill>
                            <a:schemeClr val="tx1"/>
                          </a:solidFill>
                          <a:latin typeface="+mn-lt"/>
                          <a:ea typeface="+mn-ea"/>
                          <a:cs typeface="+mn-cs"/>
                        </a:rPr>
                        <a:t>richt</a:t>
                      </a:r>
                      <a:r>
                        <a:rPr lang="de-DE" sz="1100" kern="1200" dirty="0">
                          <a:solidFill>
                            <a:schemeClr val="tx1"/>
                          </a:solidFill>
                          <a:latin typeface="+mn-lt"/>
                          <a:ea typeface="+mn-ea"/>
                          <a:cs typeface="+mn-cs"/>
                        </a:rPr>
                        <a:t> enthalten:</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Wertentwicklung</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Vermögensübersicht</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Transaktionsliste</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Risikokennzahlen, fortlaufende Geeignetheitserklärung </a:t>
                      </a:r>
                    </a:p>
                  </a:txBody>
                  <a:tcPr marL="0" marR="0" marT="0" marB="252000">
                    <a:lnR>
                      <a:noFill/>
                    </a:lnR>
                    <a:lnB w="38100" cap="flat" cmpd="sng" algn="ctr">
                      <a:solidFill>
                        <a:schemeClr val="accent1"/>
                      </a:solidFill>
                      <a:prstDash val="solid"/>
                      <a:round/>
                      <a:headEnd type="none" w="med" len="med"/>
                      <a:tailEnd type="none" w="med" len="med"/>
                    </a:lnB>
                  </a:tcPr>
                </a:tc>
                <a:tc>
                  <a:txBody>
                    <a:bodyPr/>
                    <a:lstStyle/>
                    <a:p>
                      <a:endParaRPr lang="de-DE" dirty="0"/>
                    </a:p>
                  </a:txBody>
                  <a:tcPr marL="0" marR="0" marT="0" marB="252000">
                    <a:lnL>
                      <a:noFill/>
                    </a:lnL>
                    <a:lnR>
                      <a:noFill/>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600"/>
                        </a:lnSpc>
                        <a:spcBef>
                          <a:spcPts val="1600"/>
                        </a:spcBef>
                        <a:spcAft>
                          <a:spcPts val="300"/>
                        </a:spcAft>
                      </a:pPr>
                      <a:r>
                        <a:rPr lang="de-DE" sz="1100" b="1" kern="1200" dirty="0" err="1">
                          <a:solidFill>
                            <a:schemeClr val="accent1"/>
                          </a:solidFill>
                          <a:latin typeface="+mj-lt"/>
                          <a:ea typeface="+mn-ea"/>
                          <a:cs typeface="+mn-cs"/>
                        </a:rPr>
                        <a:t>ExPostReporting</a:t>
                      </a:r>
                      <a:endParaRPr lang="de-DE" sz="1100" b="1" kern="1200" dirty="0">
                        <a:solidFill>
                          <a:schemeClr val="accent1"/>
                        </a:solidFill>
                        <a:latin typeface="+mj-lt"/>
                        <a:ea typeface="+mn-ea"/>
                        <a:cs typeface="+mn-cs"/>
                      </a:endParaRPr>
                    </a:p>
                    <a:p>
                      <a:pPr marL="0" algn="l" defTabSz="783001" rtl="0" eaLnBrk="1" latinLnBrk="0" hangingPunct="1">
                        <a:lnSpc>
                          <a:spcPts val="1600"/>
                        </a:lnSpc>
                      </a:pPr>
                      <a:r>
                        <a:rPr lang="de-DE" sz="1100" kern="1200" dirty="0">
                          <a:solidFill>
                            <a:schemeClr val="tx1"/>
                          </a:solidFill>
                          <a:latin typeface="+mn-lt"/>
                          <a:ea typeface="+mn-ea"/>
                          <a:cs typeface="+mn-cs"/>
                        </a:rPr>
                        <a:t>Einmal pro Jahr erhalten Sie von unserer Depotbank, der comdirect*, eine Übersicht, wo neben unserem Vermögensverwaltungshonorar zusätzliche fremde Produktkosten aufgeführt sind.</a:t>
                      </a:r>
                    </a:p>
                  </a:txBody>
                  <a:tcPr marL="0" marR="0" marT="0" marB="252000">
                    <a:lnL>
                      <a:noFill/>
                    </a:lnL>
                    <a:lnR>
                      <a:noFill/>
                    </a:lnR>
                    <a:lnB w="38100" cap="flat" cmpd="sng" algn="ctr">
                      <a:solidFill>
                        <a:schemeClr val="accent1"/>
                      </a:solidFill>
                      <a:prstDash val="solid"/>
                      <a:round/>
                      <a:headEnd type="none" w="med" len="med"/>
                      <a:tailEnd type="none" w="med" len="med"/>
                    </a:lnB>
                  </a:tcPr>
                </a:tc>
                <a:tc>
                  <a:txBody>
                    <a:bodyPr/>
                    <a:lstStyle/>
                    <a:p>
                      <a:endParaRPr lang="de-DE" dirty="0"/>
                    </a:p>
                  </a:txBody>
                  <a:tcPr marL="0" marR="0" marT="0" marB="252000">
                    <a:lnL>
                      <a:noFill/>
                    </a:lnL>
                    <a:lnR>
                      <a:noFill/>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600"/>
                        </a:lnSpc>
                        <a:spcBef>
                          <a:spcPts val="1600"/>
                        </a:spcBef>
                        <a:spcAft>
                          <a:spcPts val="300"/>
                        </a:spcAft>
                      </a:pPr>
                      <a:r>
                        <a:rPr lang="de-DE" sz="1100" b="1" kern="1200" dirty="0">
                          <a:solidFill>
                            <a:schemeClr val="accent1"/>
                          </a:solidFill>
                          <a:latin typeface="+mj-lt"/>
                          <a:ea typeface="+mn-ea"/>
                          <a:cs typeface="+mn-cs"/>
                        </a:rPr>
                        <a:t>Steuerservice</a:t>
                      </a:r>
                    </a:p>
                    <a:p>
                      <a:pPr marL="0" algn="l" defTabSz="783001" rtl="0" eaLnBrk="1" latinLnBrk="0" hangingPunct="1">
                        <a:lnSpc>
                          <a:spcPts val="1600"/>
                        </a:lnSpc>
                      </a:pPr>
                      <a:r>
                        <a:rPr lang="de-DE" sz="1100" kern="1200" dirty="0">
                          <a:solidFill>
                            <a:schemeClr val="tx1"/>
                          </a:solidFill>
                          <a:latin typeface="+mn-lt"/>
                          <a:ea typeface="+mn-ea"/>
                          <a:cs typeface="+mn-cs"/>
                        </a:rPr>
                        <a:t>Die Erstellung aller steuerlich </a:t>
                      </a:r>
                      <a:r>
                        <a:rPr lang="de-DE" sz="1100" kern="1200" dirty="0" err="1">
                          <a:solidFill>
                            <a:schemeClr val="tx1"/>
                          </a:solidFill>
                          <a:latin typeface="+mn-lt"/>
                          <a:ea typeface="+mn-ea"/>
                          <a:cs typeface="+mn-cs"/>
                        </a:rPr>
                        <a:t>rele</a:t>
                      </a:r>
                      <a:r>
                        <a:rPr lang="de-DE" sz="1100" kern="1200" dirty="0">
                          <a:solidFill>
                            <a:schemeClr val="tx1"/>
                          </a:solidFill>
                          <a:latin typeface="+mn-lt"/>
                          <a:ea typeface="+mn-ea"/>
                          <a:cs typeface="+mn-cs"/>
                        </a:rPr>
                        <a:t>-</a:t>
                      </a:r>
                    </a:p>
                    <a:p>
                      <a:pPr marL="0" algn="l" defTabSz="783001" rtl="0" eaLnBrk="1" latinLnBrk="0" hangingPunct="1">
                        <a:lnSpc>
                          <a:spcPts val="1600"/>
                        </a:lnSpc>
                      </a:pPr>
                      <a:r>
                        <a:rPr lang="de-DE" sz="1100" kern="1200" dirty="0" err="1">
                          <a:solidFill>
                            <a:schemeClr val="tx1"/>
                          </a:solidFill>
                          <a:latin typeface="+mn-lt"/>
                          <a:ea typeface="+mn-ea"/>
                          <a:cs typeface="+mn-cs"/>
                        </a:rPr>
                        <a:t>vanten</a:t>
                      </a:r>
                      <a:r>
                        <a:rPr lang="de-DE" sz="1100" kern="1200" dirty="0">
                          <a:solidFill>
                            <a:schemeClr val="tx1"/>
                          </a:solidFill>
                          <a:latin typeface="+mn-lt"/>
                          <a:ea typeface="+mn-ea"/>
                          <a:cs typeface="+mn-cs"/>
                        </a:rPr>
                        <a:t> und benötigten Unterlagen</a:t>
                      </a:r>
                    </a:p>
                    <a:p>
                      <a:pPr marL="0" algn="l" defTabSz="783001" rtl="0" eaLnBrk="1" latinLnBrk="0" hangingPunct="1">
                        <a:lnSpc>
                          <a:spcPts val="1600"/>
                        </a:lnSpc>
                      </a:pPr>
                      <a:r>
                        <a:rPr lang="de-DE" sz="1100" kern="1200" dirty="0">
                          <a:solidFill>
                            <a:schemeClr val="tx1"/>
                          </a:solidFill>
                          <a:latin typeface="+mn-lt"/>
                          <a:ea typeface="+mn-ea"/>
                          <a:cs typeface="+mn-cs"/>
                        </a:rPr>
                        <a:t>erfolgt automatisch und zeitnah durch unseren Dienstleister, die comdirect*,</a:t>
                      </a:r>
                    </a:p>
                    <a:p>
                      <a:pPr marL="0" algn="l" defTabSz="783001" rtl="0" eaLnBrk="1" latinLnBrk="0" hangingPunct="1">
                        <a:lnSpc>
                          <a:spcPts val="1600"/>
                        </a:lnSpc>
                      </a:pPr>
                      <a:r>
                        <a:rPr lang="de-DE" sz="1100" kern="1200" dirty="0">
                          <a:solidFill>
                            <a:schemeClr val="tx1"/>
                          </a:solidFill>
                          <a:latin typeface="+mn-lt"/>
                          <a:ea typeface="+mn-ea"/>
                          <a:cs typeface="+mn-cs"/>
                        </a:rPr>
                        <a:t>mit dem Ablauf des Kalender-jahres. </a:t>
                      </a:r>
                    </a:p>
                  </a:txBody>
                  <a:tcPr marL="0" marR="0" marT="0" marB="252000">
                    <a:lnL>
                      <a:noFill/>
                    </a:lnL>
                    <a:lnR>
                      <a:noFill/>
                    </a:lnR>
                    <a:lnB w="38100" cap="flat" cmpd="sng" algn="ctr">
                      <a:solidFill>
                        <a:schemeClr val="accent1"/>
                      </a:solidFill>
                      <a:prstDash val="solid"/>
                      <a:round/>
                      <a:headEnd type="none" w="med" len="med"/>
                      <a:tailEnd type="none" w="med" len="med"/>
                    </a:lnB>
                  </a:tcPr>
                </a:tc>
                <a:tc>
                  <a:txBody>
                    <a:bodyPr/>
                    <a:lstStyle/>
                    <a:p>
                      <a:endParaRPr lang="de-DE" dirty="0"/>
                    </a:p>
                  </a:txBody>
                  <a:tcPr marL="0" marR="0" marT="0" marB="252000">
                    <a:lnL>
                      <a:noFill/>
                    </a:lnL>
                    <a:lnR>
                      <a:noFill/>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600"/>
                        </a:lnSpc>
                        <a:spcBef>
                          <a:spcPts val="1600"/>
                        </a:spcBef>
                        <a:spcAft>
                          <a:spcPts val="300"/>
                        </a:spcAft>
                      </a:pPr>
                      <a:r>
                        <a:rPr lang="de-DE" sz="1100" b="1" kern="1200" dirty="0">
                          <a:solidFill>
                            <a:schemeClr val="accent1"/>
                          </a:solidFill>
                          <a:latin typeface="+mj-lt"/>
                          <a:ea typeface="+mn-ea"/>
                          <a:cs typeface="+mn-cs"/>
                        </a:rPr>
                        <a:t>Laufende Unterlagen</a:t>
                      </a:r>
                    </a:p>
                    <a:p>
                      <a:pPr marL="0" algn="l" defTabSz="783001" rtl="0" eaLnBrk="1" latinLnBrk="0" hangingPunct="1">
                        <a:lnSpc>
                          <a:spcPts val="1600"/>
                        </a:lnSpc>
                      </a:pPr>
                      <a:r>
                        <a:rPr lang="de-DE" sz="1100" kern="1200" dirty="0">
                          <a:solidFill>
                            <a:schemeClr val="tx1"/>
                          </a:solidFill>
                          <a:latin typeface="+mn-lt"/>
                          <a:ea typeface="+mn-ea"/>
                          <a:cs typeface="+mn-cs"/>
                        </a:rPr>
                        <a:t>Nach jeder Wertpapiertransaktion </a:t>
                      </a:r>
                    </a:p>
                    <a:p>
                      <a:pPr marL="0" algn="l" defTabSz="783001" rtl="0" eaLnBrk="1" latinLnBrk="0" hangingPunct="1">
                        <a:lnSpc>
                          <a:spcPts val="1600"/>
                        </a:lnSpc>
                      </a:pPr>
                      <a:r>
                        <a:rPr lang="de-DE" sz="1100" kern="1200" dirty="0">
                          <a:solidFill>
                            <a:schemeClr val="tx1"/>
                          </a:solidFill>
                          <a:latin typeface="+mn-lt"/>
                          <a:ea typeface="+mn-ea"/>
                          <a:cs typeface="+mn-cs"/>
                        </a:rPr>
                        <a:t>und Ertragsausschüttung erhalten </a:t>
                      </a:r>
                    </a:p>
                    <a:p>
                      <a:pPr marL="0" algn="l" defTabSz="783001" rtl="0" eaLnBrk="1" latinLnBrk="0" hangingPunct="1">
                        <a:lnSpc>
                          <a:spcPts val="1600"/>
                        </a:lnSpc>
                      </a:pPr>
                      <a:r>
                        <a:rPr lang="de-DE" sz="1100" kern="1200" dirty="0">
                          <a:solidFill>
                            <a:schemeClr val="tx1"/>
                          </a:solidFill>
                          <a:latin typeface="+mn-lt"/>
                          <a:ea typeface="+mn-ea"/>
                          <a:cs typeface="+mn-cs"/>
                        </a:rPr>
                        <a:t>Sie eine entsprechende </a:t>
                      </a:r>
                      <a:r>
                        <a:rPr lang="de-DE" sz="1100" kern="1200" dirty="0" err="1">
                          <a:solidFill>
                            <a:schemeClr val="tx1"/>
                          </a:solidFill>
                          <a:latin typeface="+mn-lt"/>
                          <a:ea typeface="+mn-ea"/>
                          <a:cs typeface="+mn-cs"/>
                        </a:rPr>
                        <a:t>Dokumen</a:t>
                      </a:r>
                      <a:r>
                        <a:rPr lang="de-DE" sz="1100" kern="1200" dirty="0">
                          <a:solidFill>
                            <a:schemeClr val="tx1"/>
                          </a:solidFill>
                          <a:latin typeface="+mn-lt"/>
                          <a:ea typeface="+mn-ea"/>
                          <a:cs typeface="+mn-cs"/>
                        </a:rPr>
                        <a:t>-</a:t>
                      </a:r>
                    </a:p>
                    <a:p>
                      <a:pPr marL="0" algn="l" defTabSz="783001" rtl="0" eaLnBrk="1" latinLnBrk="0" hangingPunct="1">
                        <a:lnSpc>
                          <a:spcPts val="1600"/>
                        </a:lnSpc>
                      </a:pPr>
                      <a:r>
                        <a:rPr lang="de-DE" sz="1100" kern="1200" dirty="0" err="1">
                          <a:solidFill>
                            <a:schemeClr val="tx1"/>
                          </a:solidFill>
                          <a:latin typeface="+mn-lt"/>
                          <a:ea typeface="+mn-ea"/>
                          <a:cs typeface="+mn-cs"/>
                        </a:rPr>
                        <a:t>tation</a:t>
                      </a:r>
                      <a:r>
                        <a:rPr lang="de-DE" sz="1100" kern="1200" dirty="0">
                          <a:solidFill>
                            <a:schemeClr val="tx1"/>
                          </a:solidFill>
                          <a:latin typeface="+mn-lt"/>
                          <a:ea typeface="+mn-ea"/>
                          <a:cs typeface="+mn-cs"/>
                        </a:rPr>
                        <a:t> in Ihr Postfach. Somit </a:t>
                      </a:r>
                    </a:p>
                    <a:p>
                      <a:pPr marL="0" algn="l" defTabSz="783001" rtl="0" eaLnBrk="1" latinLnBrk="0" hangingPunct="1">
                        <a:lnSpc>
                          <a:spcPts val="1600"/>
                        </a:lnSpc>
                      </a:pPr>
                      <a:r>
                        <a:rPr lang="de-DE" sz="1100" kern="1200" dirty="0">
                          <a:solidFill>
                            <a:schemeClr val="tx1"/>
                          </a:solidFill>
                          <a:latin typeface="+mn-lt"/>
                          <a:ea typeface="+mn-ea"/>
                          <a:cs typeface="+mn-cs"/>
                        </a:rPr>
                        <a:t>ist für Sie ein hohes Maß an Trans-</a:t>
                      </a:r>
                    </a:p>
                    <a:p>
                      <a:pPr marL="0" algn="l" defTabSz="783001" rtl="0" eaLnBrk="1" latinLnBrk="0" hangingPunct="1">
                        <a:lnSpc>
                          <a:spcPts val="1600"/>
                        </a:lnSpc>
                      </a:pPr>
                      <a:r>
                        <a:rPr lang="de-DE" sz="1100" kern="1200" dirty="0" err="1">
                          <a:solidFill>
                            <a:schemeClr val="tx1"/>
                          </a:solidFill>
                          <a:latin typeface="+mn-lt"/>
                          <a:ea typeface="+mn-ea"/>
                          <a:cs typeface="+mn-cs"/>
                        </a:rPr>
                        <a:t>parenz</a:t>
                      </a:r>
                      <a:r>
                        <a:rPr lang="de-DE" sz="1100" kern="1200" dirty="0">
                          <a:solidFill>
                            <a:schemeClr val="tx1"/>
                          </a:solidFill>
                          <a:latin typeface="+mn-lt"/>
                          <a:ea typeface="+mn-ea"/>
                          <a:cs typeface="+mn-cs"/>
                        </a:rPr>
                        <a:t> gewährleistet.</a:t>
                      </a:r>
                    </a:p>
                  </a:txBody>
                  <a:tcPr marL="0" marR="0" marT="0" marB="252000">
                    <a:lnL>
                      <a:noFill/>
                    </a:lnL>
                    <a:lnB w="381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368564331"/>
                  </a:ext>
                </a:extLst>
              </a:tr>
            </a:tbl>
          </a:graphicData>
        </a:graphic>
      </p:graphicFrame>
      <p:sp>
        <p:nvSpPr>
          <p:cNvPr id="4" name="Titel">
            <a:extLst>
              <a:ext uri="{FF2B5EF4-FFF2-40B4-BE49-F238E27FC236}">
                <a16:creationId xmlns:a16="http://schemas.microsoft.com/office/drawing/2014/main" id="{963F2082-086E-D3BA-BA43-2CBC2A491BF6}"/>
              </a:ext>
            </a:extLst>
          </p:cNvPr>
          <p:cNvSpPr>
            <a:spLocks noGrp="1" noRot="1" noMove="1" noResize="1" noEditPoints="1" noAdjustHandles="1" noChangeArrowheads="1" noChangeShapeType="1"/>
          </p:cNvSpPr>
          <p:nvPr>
            <p:ph type="title"/>
          </p:nvPr>
        </p:nvSpPr>
        <p:spPr/>
        <p:txBody>
          <a:bodyPr/>
          <a:lstStyle/>
          <a:p>
            <a:r>
              <a:rPr lang="de-DE" dirty="0"/>
              <a:t>Unser Service und der Service unseres Depotführers der comdirect*</a:t>
            </a:r>
          </a:p>
        </p:txBody>
      </p:sp>
      <p:sp>
        <p:nvSpPr>
          <p:cNvPr id="8" name="Textfeld 7">
            <a:extLst>
              <a:ext uri="{FF2B5EF4-FFF2-40B4-BE49-F238E27FC236}">
                <a16:creationId xmlns:a16="http://schemas.microsoft.com/office/drawing/2014/main" id="{46ED3497-A73F-BC6C-7DAE-66B17C91A0A0}"/>
              </a:ext>
            </a:extLst>
          </p:cNvPr>
          <p:cNvSpPr txBox="1"/>
          <p:nvPr/>
        </p:nvSpPr>
        <p:spPr>
          <a:xfrm>
            <a:off x="628740" y="6336983"/>
            <a:ext cx="2755883" cy="230832"/>
          </a:xfrm>
          <a:prstGeom prst="rect">
            <a:avLst/>
          </a:prstGeom>
          <a:noFill/>
        </p:spPr>
        <p:txBody>
          <a:bodyPr wrap="none" rtlCol="0">
            <a:spAutoFit/>
          </a:bodyPr>
          <a:lstStyle/>
          <a:p>
            <a:r>
              <a:rPr lang="de-DE" sz="900" dirty="0"/>
              <a:t>* </a:t>
            </a:r>
            <a:r>
              <a:rPr lang="de-DE" sz="900" dirty="0">
                <a:solidFill>
                  <a:srgbClr val="000000"/>
                </a:solidFill>
              </a:rPr>
              <a:t>comdirect - eine Marke der Commerzbank AG</a:t>
            </a:r>
            <a:endParaRPr lang="de-DE" sz="900" dirty="0"/>
          </a:p>
        </p:txBody>
      </p:sp>
    </p:spTree>
    <p:extLst>
      <p:ext uri="{BB962C8B-B14F-4D97-AF65-F5344CB8AC3E}">
        <p14:creationId xmlns:p14="http://schemas.microsoft.com/office/powerpoint/2010/main" val="3593189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61E7A324-9C97-4CF9-6D1E-8FF8558C8AC4}"/>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21</a:t>
            </a:fld>
            <a:endParaRPr lang="de-DE"/>
          </a:p>
        </p:txBody>
      </p:sp>
      <p:sp>
        <p:nvSpPr>
          <p:cNvPr id="5" name="Text">
            <a:extLst>
              <a:ext uri="{FF2B5EF4-FFF2-40B4-BE49-F238E27FC236}">
                <a16:creationId xmlns:a16="http://schemas.microsoft.com/office/drawing/2014/main" id="{409D5D81-50B2-B91D-3250-6938778F228B}"/>
              </a:ext>
            </a:extLst>
          </p:cNvPr>
          <p:cNvSpPr>
            <a:spLocks noGrp="1" noRot="1" noMove="1" noResize="1" noEditPoints="1" noAdjustHandles="1" noChangeArrowheads="1" noChangeShapeType="1"/>
          </p:cNvSpPr>
          <p:nvPr>
            <p:ph sz="quarter" idx="13"/>
          </p:nvPr>
        </p:nvSpPr>
        <p:spPr/>
        <p:txBody>
          <a:bodyPr/>
          <a:lstStyle/>
          <a:p>
            <a:r>
              <a:rPr lang="de-DE" dirty="0"/>
              <a:t>Wesentliche Finanzkennzahlen auf einen Blick (Dezember 2024)</a:t>
            </a:r>
          </a:p>
          <a:p>
            <a:pPr lvl="1"/>
            <a:r>
              <a:rPr lang="de-DE" dirty="0"/>
              <a:t>Bilanzsumme 	</a:t>
            </a:r>
            <a:r>
              <a:rPr lang="de-DE" b="1" dirty="0"/>
              <a:t>636,1 Mio. EUR</a:t>
            </a:r>
          </a:p>
          <a:p>
            <a:pPr lvl="1"/>
            <a:r>
              <a:rPr lang="de-DE" dirty="0"/>
              <a:t>Assets </a:t>
            </a:r>
            <a:r>
              <a:rPr lang="de-DE" dirty="0" err="1"/>
              <a:t>under</a:t>
            </a:r>
            <a:r>
              <a:rPr lang="de-DE" dirty="0"/>
              <a:t> Control 	</a:t>
            </a:r>
            <a:r>
              <a:rPr lang="de-DE" b="1" dirty="0"/>
              <a:t>6.780 Mio. EUR</a:t>
            </a:r>
          </a:p>
          <a:p>
            <a:pPr lvl="1"/>
            <a:r>
              <a:rPr lang="de-DE" dirty="0"/>
              <a:t>EK-Rendite (vor Steuern) 	</a:t>
            </a:r>
            <a:r>
              <a:rPr lang="de-DE" b="1" dirty="0"/>
              <a:t>40,1 %</a:t>
            </a:r>
          </a:p>
          <a:p>
            <a:pPr lvl="1"/>
            <a:r>
              <a:rPr lang="de-DE" dirty="0"/>
              <a:t>Mitarbeiter 	</a:t>
            </a:r>
            <a:r>
              <a:rPr lang="de-DE" b="1" dirty="0"/>
              <a:t>144</a:t>
            </a:r>
          </a:p>
        </p:txBody>
      </p:sp>
      <p:graphicFrame>
        <p:nvGraphicFramePr>
          <p:cNvPr id="8" name="Diagramm">
            <a:extLst>
              <a:ext uri="{FF2B5EF4-FFF2-40B4-BE49-F238E27FC236}">
                <a16:creationId xmlns:a16="http://schemas.microsoft.com/office/drawing/2014/main" id="{2269D18A-084D-CF8E-2840-F21732DB7395}"/>
              </a:ext>
            </a:extLst>
          </p:cNvPr>
          <p:cNvGraphicFramePr>
            <a:graphicFrameLocks noGrp="1" noDrilldown="1" noMove="1" noResize="1"/>
          </p:cNvGraphicFramePr>
          <p:nvPr>
            <p:ph idx="1"/>
            <p:extLst>
              <p:ext uri="{D42A27DB-BD31-4B8C-83A1-F6EECF244321}">
                <p14:modId xmlns:p14="http://schemas.microsoft.com/office/powerpoint/2010/main" val="3002271689"/>
              </p:ext>
            </p:extLst>
          </p:nvPr>
        </p:nvGraphicFramePr>
        <p:xfrm>
          <a:off x="5327650" y="1411288"/>
          <a:ext cx="4787900" cy="2898775"/>
        </p:xfrm>
        <a:graphic>
          <a:graphicData uri="http://schemas.openxmlformats.org/drawingml/2006/chart">
            <c:chart xmlns:c="http://schemas.openxmlformats.org/drawingml/2006/chart" xmlns:r="http://schemas.openxmlformats.org/officeDocument/2006/relationships" r:id="rId2"/>
          </a:graphicData>
        </a:graphic>
      </p:graphicFrame>
      <p:sp>
        <p:nvSpPr>
          <p:cNvPr id="4" name="Titel">
            <a:extLst>
              <a:ext uri="{FF2B5EF4-FFF2-40B4-BE49-F238E27FC236}">
                <a16:creationId xmlns:a16="http://schemas.microsoft.com/office/drawing/2014/main" id="{43EB0369-5EB3-7532-2044-CF944BBC884F}"/>
              </a:ext>
            </a:extLst>
          </p:cNvPr>
          <p:cNvSpPr>
            <a:spLocks noGrp="1" noRot="1" noMove="1" noResize="1" noEditPoints="1" noAdjustHandles="1" noChangeArrowheads="1" noChangeShapeType="1"/>
          </p:cNvSpPr>
          <p:nvPr>
            <p:ph type="title"/>
          </p:nvPr>
        </p:nvSpPr>
        <p:spPr/>
        <p:txBody>
          <a:bodyPr/>
          <a:lstStyle/>
          <a:p>
            <a:r>
              <a:rPr lang="de-DE" dirty="0"/>
              <a:t>Unsere Bank in Zahlen</a:t>
            </a:r>
          </a:p>
        </p:txBody>
      </p:sp>
    </p:spTree>
    <p:extLst>
      <p:ext uri="{BB962C8B-B14F-4D97-AF65-F5344CB8AC3E}">
        <p14:creationId xmlns:p14="http://schemas.microsoft.com/office/powerpoint/2010/main" val="908851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a:extLst>
              <a:ext uri="{FF2B5EF4-FFF2-40B4-BE49-F238E27FC236}">
                <a16:creationId xmlns:a16="http://schemas.microsoft.com/office/drawing/2014/main" id="{25DE5420-5BAD-2473-43B5-9D481D3DE200}"/>
              </a:ext>
            </a:extLst>
          </p:cNvPr>
          <p:cNvSpPr>
            <a:spLocks noGrp="1" noRot="1" noMove="1" noResize="1" noEditPoints="1" noAdjustHandles="1" noChangeArrowheads="1" noChangeShapeType="1"/>
          </p:cNvSpPr>
          <p:nvPr>
            <p:ph type="subTitle" idx="1"/>
          </p:nvPr>
        </p:nvSpPr>
        <p:spPr/>
        <p:txBody>
          <a:bodyPr/>
          <a:lstStyle/>
          <a:p>
            <a:r>
              <a:rPr lang="de-DE" dirty="0"/>
              <a:t>INDIVIDUELL. UNABHÄNGIG. VERTRAUENSVOLL.</a:t>
            </a:r>
          </a:p>
        </p:txBody>
      </p:sp>
      <p:sp>
        <p:nvSpPr>
          <p:cNvPr id="3" name="Titel">
            <a:extLst>
              <a:ext uri="{FF2B5EF4-FFF2-40B4-BE49-F238E27FC236}">
                <a16:creationId xmlns:a16="http://schemas.microsoft.com/office/drawing/2014/main" id="{D82547BE-5B8D-6490-3DCD-C4B040A4C085}"/>
              </a:ext>
            </a:extLst>
          </p:cNvPr>
          <p:cNvSpPr>
            <a:spLocks noGrp="1" noRot="1" noMove="1" noResize="1" noEditPoints="1" noAdjustHandles="1" noChangeArrowheads="1" noChangeShapeType="1"/>
          </p:cNvSpPr>
          <p:nvPr>
            <p:ph type="ctrTitle"/>
          </p:nvPr>
        </p:nvSpPr>
        <p:spPr/>
        <p:txBody>
          <a:bodyPr/>
          <a:lstStyle/>
          <a:p>
            <a:r>
              <a:rPr lang="de-DE" dirty="0"/>
              <a:t>Unsere Tradition</a:t>
            </a:r>
          </a:p>
        </p:txBody>
      </p:sp>
    </p:spTree>
    <p:extLst>
      <p:ext uri="{BB962C8B-B14F-4D97-AF65-F5344CB8AC3E}">
        <p14:creationId xmlns:p14="http://schemas.microsoft.com/office/powerpoint/2010/main" val="2704317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B92230C9-01C7-F4FE-82CC-6ECE520E2001}"/>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23</a:t>
            </a:fld>
            <a:endParaRPr lang="de-DE"/>
          </a:p>
        </p:txBody>
      </p:sp>
      <p:sp>
        <p:nvSpPr>
          <p:cNvPr id="3" name="Text">
            <a:extLst>
              <a:ext uri="{FF2B5EF4-FFF2-40B4-BE49-F238E27FC236}">
                <a16:creationId xmlns:a16="http://schemas.microsoft.com/office/drawing/2014/main" id="{91440A74-D9D2-B4F0-F449-0359F5947835}"/>
              </a:ext>
            </a:extLst>
          </p:cNvPr>
          <p:cNvSpPr>
            <a:spLocks noGrp="1" noRot="1" noMove="1" noResize="1" noEditPoints="1" noAdjustHandles="1" noChangeArrowheads="1" noChangeShapeType="1"/>
          </p:cNvSpPr>
          <p:nvPr>
            <p:ph idx="1"/>
          </p:nvPr>
        </p:nvSpPr>
        <p:spPr/>
        <p:txBody>
          <a:bodyPr/>
          <a:lstStyle/>
          <a:p>
            <a:r>
              <a:rPr lang="de-DE" dirty="0"/>
              <a:t>wir freuen uns, dass Sie auf unsere Vermögensverwaltung aufmerksam geworden sind. Unser Haus trägt einen geschichtsträchtigen Namen, der uns mit Stolz erfüllt und dem wir uns verpflichtet fühlen.</a:t>
            </a:r>
          </a:p>
          <a:p>
            <a:r>
              <a:rPr lang="de-DE" dirty="0"/>
              <a:t>Jakob Fugger gilt als der erfolgreichste Bankier seiner Zeit. Zu Beginn des 16. Jahrhunderts entwickelte er das Familien-unternehmen der Gebrüder Fugger vom Textilhandel zum führenden Finanzierer europäischer Adelsdynastien. Schürf-rechte für Silber und Kupfer als Gegenleistung für Darlehen an die Habsburger legten den Grundstein für enormen Reichtum, der noch höhere Kreditvergaben ermöglichte.  Seine Rolle als Kreditgeber der maßgeblichen politischen Akteure machten ihn zu einer der einflussreichsten Persönlichkeiten seiner Epoche. </a:t>
            </a:r>
          </a:p>
        </p:txBody>
      </p:sp>
      <p:sp>
        <p:nvSpPr>
          <p:cNvPr id="4" name="Titel">
            <a:extLst>
              <a:ext uri="{FF2B5EF4-FFF2-40B4-BE49-F238E27FC236}">
                <a16:creationId xmlns:a16="http://schemas.microsoft.com/office/drawing/2014/main" id="{323D42A3-160A-D4DE-FE4A-9BFA9ECD8662}"/>
              </a:ext>
            </a:extLst>
          </p:cNvPr>
          <p:cNvSpPr>
            <a:spLocks noGrp="1" noRot="1" noMove="1" noResize="1" noEditPoints="1" noAdjustHandles="1" noChangeArrowheads="1" noChangeShapeType="1"/>
          </p:cNvSpPr>
          <p:nvPr>
            <p:ph type="title"/>
          </p:nvPr>
        </p:nvSpPr>
        <p:spPr/>
        <p:txBody>
          <a:bodyPr/>
          <a:lstStyle/>
          <a:p>
            <a:r>
              <a:rPr lang="de-DE" dirty="0"/>
              <a:t>Sehr geehrte Interessentin,</a:t>
            </a:r>
            <a:br>
              <a:rPr lang="de-DE" dirty="0"/>
            </a:br>
            <a:r>
              <a:rPr lang="de-DE" dirty="0"/>
              <a:t>sehr geehrter Interessent,</a:t>
            </a:r>
          </a:p>
        </p:txBody>
      </p:sp>
    </p:spTree>
    <p:extLst>
      <p:ext uri="{BB962C8B-B14F-4D97-AF65-F5344CB8AC3E}">
        <p14:creationId xmlns:p14="http://schemas.microsoft.com/office/powerpoint/2010/main" val="2990020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5F897033-8FC2-1E7E-0C1F-C1B3B83042DF}"/>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24</a:t>
            </a:fld>
            <a:endParaRPr lang="de-DE" dirty="0"/>
          </a:p>
        </p:txBody>
      </p:sp>
      <p:sp>
        <p:nvSpPr>
          <p:cNvPr id="3" name="Text">
            <a:extLst>
              <a:ext uri="{FF2B5EF4-FFF2-40B4-BE49-F238E27FC236}">
                <a16:creationId xmlns:a16="http://schemas.microsoft.com/office/drawing/2014/main" id="{2CB82111-1751-7169-9828-A98AEBE30540}"/>
              </a:ext>
            </a:extLst>
          </p:cNvPr>
          <p:cNvSpPr>
            <a:spLocks noGrp="1" noRot="1" noMove="1" noResize="1" noEditPoints="1" noAdjustHandles="1" noChangeArrowheads="1" noChangeShapeType="1"/>
          </p:cNvSpPr>
          <p:nvPr>
            <p:ph idx="1"/>
          </p:nvPr>
        </p:nvSpPr>
        <p:spPr/>
        <p:txBody>
          <a:bodyPr/>
          <a:lstStyle/>
          <a:p>
            <a:r>
              <a:rPr lang="de-DE" dirty="0"/>
              <a:t>Kluge Investitionen in ländlichen Grundbesitz bildeten die Basis für den Kapitalerhalt des Familienvermögens in den kommenden schwierigen Zeiten. Als gläubiger Katholik </a:t>
            </a:r>
            <a:br>
              <a:rPr lang="de-DE" dirty="0"/>
            </a:br>
            <a:r>
              <a:rPr lang="de-DE" dirty="0"/>
              <a:t>fühlte sich Jakob Fugger immer auch dem Gemeinwohl verpflichtet und gründete mit der </a:t>
            </a:r>
            <a:r>
              <a:rPr lang="de-DE" dirty="0" err="1"/>
              <a:t>Fuggerei</a:t>
            </a:r>
            <a:r>
              <a:rPr lang="de-DE" dirty="0"/>
              <a:t> eine bis heute existierende Stiftung, die als die älteste erhaltene Sozial-siedlung der Welt gilt. Sie feierte 2021 ihr 500-jähriges Jubiläum.</a:t>
            </a:r>
          </a:p>
          <a:p>
            <a:pPr lvl="1"/>
            <a:r>
              <a:rPr lang="de-DE" dirty="0"/>
              <a:t>Auch wir investieren aus langjähriger  Tradition heraus breit aufgestellt am  Kapitalmarkt, um mit Sorgfalt und Weitsicht Ihr Vermögen zu erhalten und zu vermehren. </a:t>
            </a:r>
          </a:p>
          <a:p>
            <a:pPr lvl="1">
              <a:spcBef>
                <a:spcPts val="800"/>
              </a:spcBef>
            </a:pPr>
            <a:r>
              <a:rPr lang="de-DE" dirty="0"/>
              <a:t>Wir freuen uns auf eine erfolgreiche  Zusammenarbeit. </a:t>
            </a:r>
          </a:p>
        </p:txBody>
      </p:sp>
      <p:sp>
        <p:nvSpPr>
          <p:cNvPr id="4" name="Titel">
            <a:extLst>
              <a:ext uri="{FF2B5EF4-FFF2-40B4-BE49-F238E27FC236}">
                <a16:creationId xmlns:a16="http://schemas.microsoft.com/office/drawing/2014/main" id="{D17F4A2E-22EE-C9A9-9C76-55ABEAEDC660}"/>
              </a:ext>
            </a:extLst>
          </p:cNvPr>
          <p:cNvSpPr>
            <a:spLocks noGrp="1" noRot="1" noMove="1" noResize="1" noEditPoints="1" noAdjustHandles="1" noChangeArrowheads="1" noChangeShapeType="1"/>
          </p:cNvSpPr>
          <p:nvPr>
            <p:ph type="title"/>
          </p:nvPr>
        </p:nvSpPr>
        <p:spPr/>
        <p:txBody>
          <a:bodyPr/>
          <a:lstStyle/>
          <a:p>
            <a:r>
              <a:rPr lang="de-DE" dirty="0"/>
              <a:t>Die Fugger</a:t>
            </a:r>
          </a:p>
        </p:txBody>
      </p:sp>
    </p:spTree>
    <p:extLst>
      <p:ext uri="{BB962C8B-B14F-4D97-AF65-F5344CB8AC3E}">
        <p14:creationId xmlns:p14="http://schemas.microsoft.com/office/powerpoint/2010/main" val="2471133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ABEEE-A04E-6DAC-BC1B-672E88405F5C}"/>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D086986D-FF02-10E6-714C-4BC3C095FB32}"/>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25</a:t>
            </a:fld>
            <a:endParaRPr lang="de-DE"/>
          </a:p>
        </p:txBody>
      </p:sp>
      <p:sp>
        <p:nvSpPr>
          <p:cNvPr id="6" name="Titel">
            <a:extLst>
              <a:ext uri="{FF2B5EF4-FFF2-40B4-BE49-F238E27FC236}">
                <a16:creationId xmlns:a16="http://schemas.microsoft.com/office/drawing/2014/main" id="{9A4A8219-EDFE-2E10-CAD7-8EE453B1C94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Risikohinweise</a:t>
            </a:r>
            <a:endParaRPr lang="de-DE" dirty="0">
              <a:solidFill>
                <a:srgbClr val="FF0000"/>
              </a:solidFill>
            </a:endParaRPr>
          </a:p>
        </p:txBody>
      </p:sp>
      <p:sp>
        <p:nvSpPr>
          <p:cNvPr id="8" name="Text 1">
            <a:extLst>
              <a:ext uri="{FF2B5EF4-FFF2-40B4-BE49-F238E27FC236}">
                <a16:creationId xmlns:a16="http://schemas.microsoft.com/office/drawing/2014/main" id="{2CA92FC6-4022-9D35-AA38-EEFAC8D0B3FD}"/>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b="1" dirty="0"/>
              <a:t>Währungsrisiko:</a:t>
            </a:r>
            <a:r>
              <a:rPr lang="de-DE" dirty="0"/>
              <a:t> Bei Anlagen in Fremdwährungen hängt die Rendite nicht nur von der Kursentwicklung des Wertpapiers ab, sondern auch von der Entwicklung des Wechselkurses zum Euro. Ungünstige Wechselkursänderungen können Gewinne schmälern oder zu Verlusten führen.</a:t>
            </a:r>
            <a:endParaRPr lang="de-DE" b="1" dirty="0"/>
          </a:p>
          <a:p>
            <a:pPr lvl="2"/>
            <a:endParaRPr lang="de-DE" b="1" dirty="0"/>
          </a:p>
          <a:p>
            <a:pPr lvl="2"/>
            <a:r>
              <a:rPr lang="de-DE" b="1" dirty="0"/>
              <a:t>Meinungsvorbehalt</a:t>
            </a:r>
            <a:r>
              <a:rPr lang="de-DE" dirty="0"/>
              <a:t>: Die dargestellten Meinungsäußerungen geben die aktuelle Einschätzung des Erstellers wieder und können sich ohne vorherige Ankündigung ändern.</a:t>
            </a:r>
          </a:p>
          <a:p>
            <a:pPr lvl="2"/>
            <a:endParaRPr lang="de-DE" dirty="0"/>
          </a:p>
          <a:p>
            <a:pPr lvl="2"/>
            <a:r>
              <a:rPr lang="de-DE" b="1" dirty="0"/>
              <a:t>Steuerliche Hinweise:</a:t>
            </a:r>
            <a:r>
              <a:rPr lang="de-DE" dirty="0"/>
              <a:t> Die steuerliche Behandlung der Erträge hängt von den persönlichen Verhältnissen des Kunden ab und kann künftigen Änderungen unterworfen sein. Diese Information ersetzt keine individuelle Steuerberatung.</a:t>
            </a:r>
          </a:p>
        </p:txBody>
      </p:sp>
      <p:sp>
        <p:nvSpPr>
          <p:cNvPr id="14" name="Text 1">
            <a:extLst>
              <a:ext uri="{FF2B5EF4-FFF2-40B4-BE49-F238E27FC236}">
                <a16:creationId xmlns:a16="http://schemas.microsoft.com/office/drawing/2014/main" id="{262685F1-866B-40B7-CD4A-5027053E814A}"/>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b="1" dirty="0"/>
              <a:t>Markt- und Kursrisiken</a:t>
            </a:r>
            <a:r>
              <a:rPr lang="de-DE" dirty="0"/>
              <a:t>: Anlagen an den Kapitalmärkten sind mit Risiken verbunden. Die Kurse, Erträge und Werte einer Investmentanlage, auch der beschriebenen Investitionsmöglichkeiten können schwanken. Ein Kapitalverlust ist nicht auszuschließen.</a:t>
            </a:r>
            <a:br>
              <a:rPr lang="de-DE" dirty="0">
                <a:solidFill>
                  <a:srgbClr val="FF0000"/>
                </a:solidFill>
              </a:rPr>
            </a:br>
            <a:endParaRPr lang="de-DE" dirty="0">
              <a:solidFill>
                <a:srgbClr val="FF0000"/>
              </a:solidFill>
            </a:endParaRPr>
          </a:p>
          <a:p>
            <a:pPr lvl="2"/>
            <a:r>
              <a:rPr lang="de-DE" b="1" dirty="0"/>
              <a:t>Frühere Entwicklungen</a:t>
            </a:r>
            <a:r>
              <a:rPr lang="de-DE" dirty="0"/>
              <a:t>, Simulationen oder Prognosen sind kein verlässlicher Indikator für die zukünftige Wertentwicklung. Eine positive Entwicklung in der Vergangenheit ist insbesondere keine Garantie für die zukünftige Wertentwicklung. </a:t>
            </a:r>
          </a:p>
          <a:p>
            <a:pPr lvl="2"/>
            <a:endParaRPr lang="de-DE" dirty="0"/>
          </a:p>
          <a:p>
            <a:pPr lvl="2"/>
            <a:r>
              <a:rPr lang="de-DE" dirty="0"/>
              <a:t>Insbesondere bei Anlagen mit geringer Nominalverzinsung kann die </a:t>
            </a:r>
            <a:r>
              <a:rPr lang="de-DE" b="1" dirty="0"/>
              <a:t>Inflation</a:t>
            </a:r>
            <a:r>
              <a:rPr lang="de-DE" dirty="0"/>
              <a:t> zu einem realen Wertverlust führen.</a:t>
            </a:r>
          </a:p>
          <a:p>
            <a:pPr lvl="2"/>
            <a:endParaRPr lang="de-DE" dirty="0"/>
          </a:p>
          <a:p>
            <a:pPr lvl="2"/>
            <a:r>
              <a:rPr lang="de-DE" dirty="0"/>
              <a:t>Eine kurze Anlagedauer sowie anfallende </a:t>
            </a:r>
            <a:r>
              <a:rPr lang="de-DE" b="1" dirty="0"/>
              <a:t>Kosten</a:t>
            </a:r>
            <a:r>
              <a:rPr lang="de-DE" dirty="0"/>
              <a:t> und Gebühren können das Risiko-Rendite-Verhältnis sowie die tatsächliche Netto-Rendite erheblich beeinträchtigen.</a:t>
            </a:r>
          </a:p>
          <a:p>
            <a:pPr marL="0" lvl="2" indent="0">
              <a:buNone/>
            </a:pPr>
            <a:endParaRPr lang="de-DE" dirty="0"/>
          </a:p>
          <a:p>
            <a:pPr lvl="2"/>
            <a:endParaRPr lang="de-DE" dirty="0"/>
          </a:p>
          <a:p>
            <a:pPr lvl="2"/>
            <a:endParaRPr lang="de-DE" dirty="0"/>
          </a:p>
        </p:txBody>
      </p:sp>
    </p:spTree>
    <p:extLst>
      <p:ext uri="{BB962C8B-B14F-4D97-AF65-F5344CB8AC3E}">
        <p14:creationId xmlns:p14="http://schemas.microsoft.com/office/powerpoint/2010/main" val="2681415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116CC-F0AE-71CB-1251-609EEDFB115A}"/>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DB47530D-88A6-A760-B34A-D1BE097ED3C6}"/>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26</a:t>
            </a:fld>
            <a:endParaRPr lang="de-DE"/>
          </a:p>
        </p:txBody>
      </p:sp>
      <p:sp>
        <p:nvSpPr>
          <p:cNvPr id="6" name="Titel">
            <a:extLst>
              <a:ext uri="{FF2B5EF4-FFF2-40B4-BE49-F238E27FC236}">
                <a16:creationId xmlns:a16="http://schemas.microsoft.com/office/drawing/2014/main" id="{2811FDDA-3594-45DD-834F-5736DCC6EF3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Rechtliche Hinweise und Impressum</a:t>
            </a:r>
          </a:p>
        </p:txBody>
      </p:sp>
      <p:sp>
        <p:nvSpPr>
          <p:cNvPr id="8" name="Text 1">
            <a:extLst>
              <a:ext uri="{FF2B5EF4-FFF2-40B4-BE49-F238E27FC236}">
                <a16:creationId xmlns:a16="http://schemas.microsoft.com/office/drawing/2014/main" id="{6055C3FA-5170-362F-1D1E-FE305637A52B}"/>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a:lnSpc>
                <a:spcPct val="100000"/>
              </a:lnSpc>
              <a:spcBef>
                <a:spcPts val="600"/>
              </a:spcBef>
            </a:pPr>
            <a:r>
              <a:rPr lang="de-DE" sz="1000" dirty="0">
                <a:solidFill>
                  <a:srgbClr val="000000"/>
                </a:solidFill>
                <a:latin typeface="+mn-lt"/>
              </a:rPr>
              <a:t>Verantwortlich für die Inhalte</a:t>
            </a:r>
          </a:p>
          <a:p>
            <a:pPr>
              <a:lnSpc>
                <a:spcPct val="100000"/>
              </a:lnSpc>
              <a:spcBef>
                <a:spcPts val="600"/>
              </a:spcBef>
            </a:pPr>
            <a:r>
              <a:rPr lang="de-DE" sz="1000" b="0" dirty="0">
                <a:solidFill>
                  <a:srgbClr val="000000"/>
                </a:solidFill>
                <a:latin typeface="+mn-lt"/>
              </a:rPr>
              <a:t>Fürst Fugger Privatbank Aktiengesellschaft</a:t>
            </a:r>
            <a:br>
              <a:rPr lang="de-DE" sz="1000" b="0" dirty="0">
                <a:solidFill>
                  <a:srgbClr val="000000"/>
                </a:solidFill>
                <a:latin typeface="+mn-lt"/>
              </a:rPr>
            </a:br>
            <a:r>
              <a:rPr lang="de-DE" sz="1000" b="0" dirty="0">
                <a:solidFill>
                  <a:srgbClr val="000000"/>
                </a:solidFill>
                <a:latin typeface="+mn-lt"/>
              </a:rPr>
              <a:t>Maximilianstraße 38</a:t>
            </a:r>
            <a:br>
              <a:rPr lang="de-DE" sz="1000" b="0" dirty="0">
                <a:solidFill>
                  <a:srgbClr val="000000"/>
                </a:solidFill>
                <a:latin typeface="+mn-lt"/>
              </a:rPr>
            </a:br>
            <a:r>
              <a:rPr lang="de-DE" sz="1000" b="0" dirty="0">
                <a:solidFill>
                  <a:srgbClr val="000000"/>
                </a:solidFill>
                <a:latin typeface="+mn-lt"/>
              </a:rPr>
              <a:t>86150 Augsburg</a:t>
            </a:r>
            <a:br>
              <a:rPr lang="de-DE" sz="1000" b="0" dirty="0">
                <a:solidFill>
                  <a:srgbClr val="000000"/>
                </a:solidFill>
                <a:latin typeface="+mn-lt"/>
              </a:rPr>
            </a:br>
            <a:r>
              <a:rPr lang="de-DE" sz="1000" b="0" dirty="0">
                <a:solidFill>
                  <a:srgbClr val="000000"/>
                </a:solidFill>
                <a:latin typeface="+mn-lt"/>
              </a:rPr>
              <a:t>Telefon 0821 3201-0</a:t>
            </a:r>
            <a:br>
              <a:rPr lang="de-DE" sz="1000" b="0" dirty="0">
                <a:solidFill>
                  <a:srgbClr val="000000"/>
                </a:solidFill>
                <a:latin typeface="+mn-lt"/>
              </a:rPr>
            </a:br>
            <a:r>
              <a:rPr lang="de-DE" sz="1000" b="0" dirty="0">
                <a:solidFill>
                  <a:srgbClr val="000000"/>
                </a:solidFill>
                <a:latin typeface="+mn-lt"/>
              </a:rPr>
              <a:t>Telefax </a:t>
            </a:r>
            <a:r>
              <a:rPr lang="de-DE" sz="1000" b="0">
                <a:solidFill>
                  <a:srgbClr val="000000"/>
                </a:solidFill>
                <a:latin typeface="+mn-lt"/>
              </a:rPr>
              <a:t>0821 3201-271</a:t>
            </a:r>
            <a:endParaRPr lang="de-DE" sz="1000" b="0" dirty="0">
              <a:solidFill>
                <a:srgbClr val="FF0000"/>
              </a:solidFill>
              <a:latin typeface="+mn-lt"/>
            </a:endParaRPr>
          </a:p>
          <a:p>
            <a:pPr>
              <a:lnSpc>
                <a:spcPct val="100000"/>
              </a:lnSpc>
            </a:pPr>
            <a:r>
              <a:rPr lang="de-DE" sz="1000" dirty="0">
                <a:solidFill>
                  <a:srgbClr val="000000"/>
                </a:solidFill>
                <a:latin typeface="+mn-lt"/>
              </a:rPr>
              <a:t>E-Mail </a:t>
            </a:r>
            <a:r>
              <a:rPr lang="de-DE" sz="1000" u="sng" dirty="0">
                <a:solidFill>
                  <a:schemeClr val="accent3"/>
                </a:solidFill>
                <a:latin typeface="+mn-lt"/>
                <a:hlinkClick r:id="rId3">
                  <a:extLst>
                    <a:ext uri="{A12FA001-AC4F-418D-AE19-62706E023703}">
                      <ahyp:hlinkClr xmlns:ahyp="http://schemas.microsoft.com/office/drawing/2018/hyperlinkcolor" val="tx"/>
                    </a:ext>
                  </a:extLst>
                </a:hlinkClick>
              </a:rPr>
              <a:t>info@fuggerbank.de</a:t>
            </a:r>
            <a:r>
              <a:rPr lang="de-DE" sz="1000" dirty="0">
                <a:solidFill>
                  <a:schemeClr val="accent3"/>
                </a:solidFill>
                <a:latin typeface="+mn-lt"/>
              </a:rPr>
              <a:t>     </a:t>
            </a:r>
          </a:p>
          <a:p>
            <a:pPr>
              <a:lnSpc>
                <a:spcPct val="100000"/>
              </a:lnSpc>
            </a:pPr>
            <a:r>
              <a:rPr lang="de-DE" sz="1000" dirty="0">
                <a:solidFill>
                  <a:srgbClr val="000000"/>
                </a:solidFill>
                <a:latin typeface="+mn-lt"/>
              </a:rPr>
              <a:t>Homepage </a:t>
            </a:r>
            <a:r>
              <a:rPr lang="de-DE" sz="1000" dirty="0">
                <a:solidFill>
                  <a:schemeClr val="accent3"/>
                </a:solidFill>
                <a:latin typeface="+mn-lt"/>
                <a:hlinkClick r:id="rId4">
                  <a:extLst>
                    <a:ext uri="{A12FA001-AC4F-418D-AE19-62706E023703}">
                      <ahyp:hlinkClr xmlns:ahyp="http://schemas.microsoft.com/office/drawing/2018/hyperlinkcolor" val="tx"/>
                    </a:ext>
                  </a:extLst>
                </a:hlinkClick>
              </a:rPr>
              <a:t>www.fuggerbank.de</a:t>
            </a:r>
            <a:r>
              <a:rPr lang="de-DE" sz="1000" dirty="0">
                <a:solidFill>
                  <a:schemeClr val="accent3"/>
                </a:solidFill>
                <a:latin typeface="+mn-lt"/>
              </a:rPr>
              <a:t> </a:t>
            </a:r>
          </a:p>
          <a:p>
            <a:pPr>
              <a:lnSpc>
                <a:spcPts val="1100"/>
              </a:lnSpc>
            </a:pPr>
            <a:r>
              <a:rPr lang="de-DE" sz="1000" dirty="0">
                <a:solidFill>
                  <a:srgbClr val="000000"/>
                </a:solidFill>
                <a:latin typeface="+mn-lt"/>
              </a:rPr>
              <a:t>Vorstand </a:t>
            </a:r>
            <a:r>
              <a:rPr lang="de-DE" sz="1000" b="0" dirty="0">
                <a:solidFill>
                  <a:srgbClr val="000000"/>
                </a:solidFill>
                <a:latin typeface="+mn-lt"/>
              </a:rPr>
              <a:t>Dr. Martin Fritz (Vorsitzender)</a:t>
            </a:r>
            <a:br>
              <a:rPr lang="de-DE" sz="1000" b="0" dirty="0">
                <a:solidFill>
                  <a:srgbClr val="000000"/>
                </a:solidFill>
                <a:latin typeface="+mn-lt"/>
              </a:rPr>
            </a:br>
            <a:r>
              <a:rPr lang="de-DE" sz="1000" b="0" dirty="0">
                <a:solidFill>
                  <a:srgbClr val="000000"/>
                </a:solidFill>
                <a:latin typeface="+mn-lt"/>
              </a:rPr>
              <a:t>                   Jochen Hagen</a:t>
            </a:r>
          </a:p>
          <a:p>
            <a:pPr>
              <a:lnSpc>
                <a:spcPts val="600"/>
              </a:lnSpc>
            </a:pPr>
            <a:r>
              <a:rPr lang="de-DE" sz="1000" dirty="0">
                <a:solidFill>
                  <a:srgbClr val="000000"/>
                </a:solidFill>
                <a:latin typeface="+mn-lt"/>
              </a:rPr>
              <a:t>Vorsitzender des Aufsichtsrats </a:t>
            </a:r>
            <a:r>
              <a:rPr lang="de-DE" sz="1000" b="0" dirty="0">
                <a:solidFill>
                  <a:srgbClr val="000000"/>
                </a:solidFill>
                <a:latin typeface="+mn-lt"/>
              </a:rPr>
              <a:t>Dr. Jürgen Voß</a:t>
            </a:r>
          </a:p>
          <a:p>
            <a:pPr>
              <a:lnSpc>
                <a:spcPts val="600"/>
              </a:lnSpc>
            </a:pPr>
            <a:r>
              <a:rPr lang="en-US" sz="1000" b="0" dirty="0">
                <a:solidFill>
                  <a:srgbClr val="000000"/>
                </a:solidFill>
                <a:latin typeface="+mn-lt"/>
              </a:rPr>
              <a:t>BLZ 720 300 14 	BIC FUBKDE71</a:t>
            </a:r>
            <a:endParaRPr lang="de-DE" sz="1000" b="0" dirty="0">
              <a:solidFill>
                <a:srgbClr val="000000"/>
              </a:solidFill>
              <a:latin typeface="+mn-lt"/>
            </a:endParaRPr>
          </a:p>
          <a:p>
            <a:pPr>
              <a:lnSpc>
                <a:spcPts val="600"/>
              </a:lnSpc>
            </a:pPr>
            <a:r>
              <a:rPr lang="en-US" sz="1000" b="0" dirty="0" err="1">
                <a:solidFill>
                  <a:srgbClr val="000000"/>
                </a:solidFill>
                <a:latin typeface="+mn-lt"/>
              </a:rPr>
              <a:t>USt</a:t>
            </a:r>
            <a:r>
              <a:rPr lang="en-US" sz="1000" b="0" dirty="0">
                <a:solidFill>
                  <a:srgbClr val="000000"/>
                </a:solidFill>
                <a:latin typeface="+mn-lt"/>
              </a:rPr>
              <a:t>.-</a:t>
            </a:r>
            <a:r>
              <a:rPr lang="en-US" sz="1000" b="0" dirty="0" err="1">
                <a:solidFill>
                  <a:srgbClr val="000000"/>
                </a:solidFill>
                <a:latin typeface="+mn-lt"/>
              </a:rPr>
              <a:t>IdNr</a:t>
            </a:r>
            <a:r>
              <a:rPr lang="en-US" sz="1000" b="0" dirty="0">
                <a:solidFill>
                  <a:srgbClr val="000000"/>
                </a:solidFill>
                <a:latin typeface="+mn-lt"/>
              </a:rPr>
              <a:t>. </a:t>
            </a:r>
            <a:r>
              <a:rPr lang="de-DE" sz="1000" b="0" dirty="0">
                <a:solidFill>
                  <a:srgbClr val="000000"/>
                </a:solidFill>
                <a:latin typeface="+mn-lt"/>
              </a:rPr>
              <a:t>DE127460248 St.-Nr. 103/120/20616</a:t>
            </a:r>
          </a:p>
          <a:p>
            <a:pPr>
              <a:lnSpc>
                <a:spcPts val="600"/>
              </a:lnSpc>
            </a:pPr>
            <a:r>
              <a:rPr lang="de-DE" sz="1000" dirty="0">
                <a:solidFill>
                  <a:srgbClr val="000000"/>
                </a:solidFill>
                <a:latin typeface="+mn-lt"/>
              </a:rPr>
              <a:t>Handelsregister </a:t>
            </a:r>
            <a:r>
              <a:rPr lang="de-DE" sz="1000" b="0" dirty="0">
                <a:solidFill>
                  <a:srgbClr val="000000"/>
                </a:solidFill>
                <a:latin typeface="+mn-lt"/>
              </a:rPr>
              <a:t>Amtsgericht Augsburg HRB 30002</a:t>
            </a:r>
          </a:p>
          <a:p>
            <a:pPr>
              <a:lnSpc>
                <a:spcPts val="600"/>
              </a:lnSpc>
            </a:pPr>
            <a:r>
              <a:rPr lang="de-DE" sz="1000" dirty="0">
                <a:solidFill>
                  <a:srgbClr val="000000"/>
                </a:solidFill>
                <a:latin typeface="+mn-lt"/>
              </a:rPr>
              <a:t>Zuständige Aufsichtsbehörden</a:t>
            </a:r>
          </a:p>
          <a:p>
            <a:pPr>
              <a:lnSpc>
                <a:spcPts val="600"/>
              </a:lnSpc>
            </a:pPr>
            <a:r>
              <a:rPr lang="de-DE" sz="1000" b="0" dirty="0">
                <a:solidFill>
                  <a:srgbClr val="000000"/>
                </a:solidFill>
                <a:latin typeface="+mn-lt"/>
              </a:rPr>
              <a:t>Bundesanstalt für Finanzdienstleistungsaufsicht (BaFin)</a:t>
            </a:r>
            <a:br>
              <a:rPr lang="de-DE" sz="1000" b="0" dirty="0">
                <a:solidFill>
                  <a:srgbClr val="000000"/>
                </a:solidFill>
                <a:latin typeface="+mn-lt"/>
              </a:rPr>
            </a:br>
            <a:br>
              <a:rPr lang="de-DE" sz="1000" b="0" dirty="0">
                <a:solidFill>
                  <a:schemeClr val="accent3"/>
                </a:solidFill>
                <a:latin typeface="+mn-lt"/>
              </a:rPr>
            </a:br>
            <a:r>
              <a:rPr lang="de-DE" sz="1000" b="0" u="sng" dirty="0">
                <a:solidFill>
                  <a:schemeClr val="accent3"/>
                </a:solidFill>
                <a:latin typeface="+mn-lt"/>
                <a:hlinkClick r:id="rId5">
                  <a:extLst>
                    <a:ext uri="{A12FA001-AC4F-418D-AE19-62706E023703}">
                      <ahyp:hlinkClr xmlns:ahyp="http://schemas.microsoft.com/office/drawing/2018/hyperlinkcolor" val="tx"/>
                    </a:ext>
                  </a:extLst>
                </a:hlinkClick>
              </a:rPr>
              <a:t>www.bafin.de</a:t>
            </a:r>
            <a:endParaRPr lang="de-DE" sz="1000" b="0" dirty="0">
              <a:solidFill>
                <a:schemeClr val="accent3"/>
              </a:solidFill>
              <a:latin typeface="+mn-lt"/>
            </a:endParaRPr>
          </a:p>
          <a:p>
            <a:pPr>
              <a:lnSpc>
                <a:spcPts val="600"/>
              </a:lnSpc>
            </a:pPr>
            <a:r>
              <a:rPr lang="de-DE" sz="1000" b="0" dirty="0">
                <a:solidFill>
                  <a:srgbClr val="000000"/>
                </a:solidFill>
                <a:latin typeface="+mn-lt"/>
              </a:rPr>
              <a:t>Europäische Zentralbank </a:t>
            </a:r>
            <a:r>
              <a:rPr lang="de-DE" sz="1000" b="0" dirty="0">
                <a:solidFill>
                  <a:schemeClr val="accent3"/>
                </a:solidFill>
                <a:latin typeface="+mn-lt"/>
                <a:hlinkClick r:id="rId6">
                  <a:extLst>
                    <a:ext uri="{A12FA001-AC4F-418D-AE19-62706E023703}">
                      <ahyp:hlinkClr xmlns:ahyp="http://schemas.microsoft.com/office/drawing/2018/hyperlinkcolor" val="tx"/>
                    </a:ext>
                  </a:extLst>
                </a:hlinkClick>
              </a:rPr>
              <a:t>https://www.ecb.europa.eu/</a:t>
            </a:r>
            <a:r>
              <a:rPr lang="de-DE" sz="1000" b="0" dirty="0">
                <a:solidFill>
                  <a:schemeClr val="accent3"/>
                </a:solidFill>
                <a:latin typeface="+mn-lt"/>
              </a:rPr>
              <a:t> </a:t>
            </a:r>
          </a:p>
          <a:p>
            <a:pPr>
              <a:lnSpc>
                <a:spcPts val="600"/>
              </a:lnSpc>
            </a:pPr>
            <a:br>
              <a:rPr lang="de-DE" dirty="0">
                <a:solidFill>
                  <a:srgbClr val="000000"/>
                </a:solidFill>
                <a:latin typeface="+mn-lt"/>
              </a:rPr>
            </a:br>
            <a:endParaRPr lang="de-DE" dirty="0">
              <a:solidFill>
                <a:srgbClr val="000000"/>
              </a:solidFill>
              <a:latin typeface="+mn-lt"/>
            </a:endParaRPr>
          </a:p>
          <a:p>
            <a:pPr lvl="2"/>
            <a:endParaRPr lang="de-DE" dirty="0"/>
          </a:p>
        </p:txBody>
      </p:sp>
      <p:sp>
        <p:nvSpPr>
          <p:cNvPr id="14" name="Text 1">
            <a:extLst>
              <a:ext uri="{FF2B5EF4-FFF2-40B4-BE49-F238E27FC236}">
                <a16:creationId xmlns:a16="http://schemas.microsoft.com/office/drawing/2014/main" id="{8CCE4820-0FDA-9A4D-5A63-CD644FE440C8}"/>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r>
              <a:rPr lang="de-DE" b="0" dirty="0">
                <a:solidFill>
                  <a:srgbClr val="000000"/>
                </a:solidFill>
                <a:latin typeface="+mn-lt"/>
              </a:rPr>
              <a:t>Die vorliegenden Inhalte sind als reine Kundeninformation der Fürst Fugger Privatbank zu verstehen. Sie stellen weder ein verbindliches Angebot noch eine Anlageberatung dar. Da jeder Anlageerfolg eine individuelle Analyse Ihrer Ziele und Vermögensverhältnisse voraussetzt, ersetzt dieses Dokument kein persönliches Beratungsgespräch.</a:t>
            </a:r>
          </a:p>
          <a:p>
            <a:r>
              <a:rPr lang="de-DE" b="0" dirty="0">
                <a:solidFill>
                  <a:srgbClr val="000000"/>
                </a:solidFill>
                <a:latin typeface="+mn-lt"/>
              </a:rPr>
              <a:t>Wir haben die Informationen mit gebotener Sorgfalt zusammengestellt. Bitte haben Sie Verständnis, dass wir für die Richtigkeit der genutzten Quellen keine Gewähr übernehmen können und unsere Haftung auf Vorsatz sowie grobe Fahrlässigkeit beschränkt ist. Die Vertraulichkeit bleibt gewahrt: Eine Weitergabe an Dritte oder eine Vervielfältigung ist nur nach unserer ausdrücklichen Zustimmung zulässig.</a:t>
            </a:r>
          </a:p>
          <a:p>
            <a:pPr lvl="2"/>
            <a:endParaRPr lang="de-DE" dirty="0"/>
          </a:p>
        </p:txBody>
      </p:sp>
    </p:spTree>
    <p:extLst>
      <p:ext uri="{BB962C8B-B14F-4D97-AF65-F5344CB8AC3E}">
        <p14:creationId xmlns:p14="http://schemas.microsoft.com/office/powerpoint/2010/main" val="14092415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31D9782-D197-C72F-4BC2-70181ADDE9E7}"/>
              </a:ext>
            </a:extLst>
          </p:cNvPr>
          <p:cNvSpPr>
            <a:spLocks noGrp="1" noRot="1" noMove="1" noResize="1" noEditPoints="1" noAdjustHandles="1" noChangeArrowheads="1" noChangeShapeType="1"/>
          </p:cNvSpPr>
          <p:nvPr>
            <p:ph type="dt" sz="half" idx="10"/>
          </p:nvPr>
        </p:nvSpPr>
        <p:spPr/>
        <p:txBody>
          <a:bodyPr/>
          <a:lstStyle/>
          <a:p>
            <a:r>
              <a:rPr lang="de-DE"/>
              <a:t>Stand: </a:t>
            </a:r>
            <a:fld id="{831F5BE7-170E-4DE1-8FA0-231C67CFB96A}" type="datetime1">
              <a:rPr lang="de-DE" smtClean="0"/>
              <a:t>20.07.2026</a:t>
            </a:fld>
            <a:endParaRPr lang="de-DE" dirty="0"/>
          </a:p>
        </p:txBody>
      </p:sp>
      <p:sp>
        <p:nvSpPr>
          <p:cNvPr id="2" name="Untertitel">
            <a:extLst>
              <a:ext uri="{FF2B5EF4-FFF2-40B4-BE49-F238E27FC236}">
                <a16:creationId xmlns:a16="http://schemas.microsoft.com/office/drawing/2014/main" id="{BCA2869B-4C55-EBBA-720E-2A9070E7D7A3}"/>
              </a:ext>
            </a:extLst>
          </p:cNvPr>
          <p:cNvSpPr>
            <a:spLocks noGrp="1" noRot="1" noMove="1" noResize="1" noEditPoints="1" noAdjustHandles="1" noChangeArrowheads="1" noChangeShapeType="1"/>
          </p:cNvSpPr>
          <p:nvPr>
            <p:ph type="subTitle" idx="1"/>
          </p:nvPr>
        </p:nvSpPr>
        <p:spPr/>
        <p:txBody>
          <a:bodyPr/>
          <a:lstStyle/>
          <a:p>
            <a:r>
              <a:rPr lang="de-DE" dirty="0"/>
              <a:t>www.fuggerbank.de</a:t>
            </a:r>
          </a:p>
        </p:txBody>
      </p:sp>
      <p:sp>
        <p:nvSpPr>
          <p:cNvPr id="3" name="Titel">
            <a:extLst>
              <a:ext uri="{FF2B5EF4-FFF2-40B4-BE49-F238E27FC236}">
                <a16:creationId xmlns:a16="http://schemas.microsoft.com/office/drawing/2014/main" id="{EE0F3635-6E60-B93E-3B76-11C66486EF51}"/>
              </a:ext>
            </a:extLst>
          </p:cNvPr>
          <p:cNvSpPr>
            <a:spLocks noGrp="1" noRot="1" noMove="1" noResize="1" noEditPoints="1" noAdjustHandles="1" noChangeArrowheads="1" noChangeShapeType="1"/>
          </p:cNvSpPr>
          <p:nvPr>
            <p:ph type="ctrTitle"/>
          </p:nvPr>
        </p:nvSpPr>
        <p:spPr/>
        <p:txBody>
          <a:bodyPr/>
          <a:lstStyle/>
          <a:p>
            <a:r>
              <a:rPr lang="de-DE" dirty="0"/>
              <a:t>Vielen Dank </a:t>
            </a:r>
            <a:br>
              <a:rPr lang="de-DE" dirty="0"/>
            </a:br>
            <a:r>
              <a:rPr lang="de-DE" dirty="0"/>
              <a:t>für Ihr Interesse</a:t>
            </a:r>
          </a:p>
        </p:txBody>
      </p:sp>
    </p:spTree>
    <p:extLst>
      <p:ext uri="{BB962C8B-B14F-4D97-AF65-F5344CB8AC3E}">
        <p14:creationId xmlns:p14="http://schemas.microsoft.com/office/powerpoint/2010/main" val="2773834134"/>
      </p:ext>
    </p:extLst>
  </p:cSld>
  <p:clrMapOvr>
    <a:masterClrMapping/>
  </p:clrMapOvr>
</p:sld>
</file>

<file path=ppt/theme/theme1.xml><?xml version="1.0" encoding="utf-8"?>
<a:theme xmlns:a="http://schemas.openxmlformats.org/drawingml/2006/main" name="Office">
  <a:themeElements>
    <a:clrScheme name="Fürst Fugger Privatbank">
      <a:dk1>
        <a:sysClr val="windowText" lastClr="000000"/>
      </a:dk1>
      <a:lt1>
        <a:sysClr val="window" lastClr="FFFFFF"/>
      </a:lt1>
      <a:dk2>
        <a:srgbClr val="386FA7"/>
      </a:dk2>
      <a:lt2>
        <a:srgbClr val="9D9D9D"/>
      </a:lt2>
      <a:accent1>
        <a:srgbClr val="14355C"/>
      </a:accent1>
      <a:accent2>
        <a:srgbClr val="66A4CE"/>
      </a:accent2>
      <a:accent3>
        <a:srgbClr val="BB9256"/>
      </a:accent3>
      <a:accent4>
        <a:srgbClr val="98D0EF"/>
      </a:accent4>
      <a:accent5>
        <a:srgbClr val="D1E9F8"/>
      </a:accent5>
      <a:accent6>
        <a:srgbClr val="E6F4FC"/>
      </a:accent6>
      <a:hlink>
        <a:srgbClr val="BB9256"/>
      </a:hlink>
      <a:folHlink>
        <a:srgbClr val="9D9D9D"/>
      </a:folHlink>
    </a:clrScheme>
    <a:fontScheme name="Fürst Fugger Privatbank">
      <a:majorFont>
        <a:latin typeface="Noto Serif"/>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4016</Words>
  <Application>Microsoft Office PowerPoint</Application>
  <PresentationFormat>Benutzerdefiniert</PresentationFormat>
  <Paragraphs>1248</Paragraphs>
  <Slides>27</Slides>
  <Notes>0</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27</vt:i4>
      </vt:variant>
    </vt:vector>
  </HeadingPairs>
  <TitlesOfParts>
    <vt:vector size="36" baseType="lpstr">
      <vt:lpstr>Arial</vt:lpstr>
      <vt:lpstr>Calibri</vt:lpstr>
      <vt:lpstr>Noto Sans</vt:lpstr>
      <vt:lpstr>Noto Sans (Textkörper)</vt:lpstr>
      <vt:lpstr>Noto Serif</vt:lpstr>
      <vt:lpstr>Open Sans</vt:lpstr>
      <vt:lpstr>Symbol</vt:lpstr>
      <vt:lpstr>Wingdings 2</vt:lpstr>
      <vt:lpstr>Office</vt:lpstr>
      <vt:lpstr>Unsere   klassische Portfolioverwaltung</vt:lpstr>
      <vt:lpstr>Inhalt</vt:lpstr>
      <vt:lpstr>Unsere Vermögensverwaltung</vt:lpstr>
      <vt:lpstr>Unsere Portfolioverwaltung </vt:lpstr>
      <vt:lpstr>Unsere drei klassischen Portfolioverwaltungsstrategien</vt:lpstr>
      <vt:lpstr>Anlagestrategie Portfolioverwaltung 30</vt:lpstr>
      <vt:lpstr>Anlagestrategie Comdirect 30 | Wertentwicklung</vt:lpstr>
      <vt:lpstr>Anlagestrategie Portfolioverwaltung 70</vt:lpstr>
      <vt:lpstr>Anlagestrategie Comdirect 70 | Wertentwicklung</vt:lpstr>
      <vt:lpstr>Anlagestrategie Portfolioverwaltung 100</vt:lpstr>
      <vt:lpstr>Anlagestrategie Comdirect 100 | Wertentwicklung</vt:lpstr>
      <vt:lpstr>Unser Honorar</vt:lpstr>
      <vt:lpstr>Transaktionskosten</vt:lpstr>
      <vt:lpstr>Unser Honorar</vt:lpstr>
      <vt:lpstr>Steuerlicher Hinweis zum Honorar</vt:lpstr>
      <vt:lpstr>Unsere Investmentphilosophie</vt:lpstr>
      <vt:lpstr>Unser Investmentprozess</vt:lpstr>
      <vt:lpstr>Unser Risikomanagement</vt:lpstr>
      <vt:lpstr>Anlageklassen und Ausgestaltung</vt:lpstr>
      <vt:lpstr>Unser Service und der Service unseres Depotführers der comdirect*</vt:lpstr>
      <vt:lpstr>Unsere Bank in Zahlen</vt:lpstr>
      <vt:lpstr>Unsere Tradition</vt:lpstr>
      <vt:lpstr>Sehr geehrte Interessentin, sehr geehrter Interessent,</vt:lpstr>
      <vt:lpstr>Die Fugger</vt:lpstr>
      <vt:lpstr>Risikohinweise</vt:lpstr>
      <vt:lpstr>Rechtliche Hinweise und Impressum</vt:lpstr>
      <vt:lpstr>Vielen Dank  für Ihr Interesse</vt:lpstr>
    </vt:vector>
  </TitlesOfParts>
  <Company>Fürst Fugger Privatbank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 zur Vermögensverwaltung</dc:title>
  <dc:creator>Fürst Fugger Privatbank</dc:creator>
  <cp:keywords>Vorlagen;Vermögensverwaltung</cp:keywords>
  <cp:lastModifiedBy>Fürst Fugger Privatbank</cp:lastModifiedBy>
  <cp:revision>195</cp:revision>
  <dcterms:created xsi:type="dcterms:W3CDTF">2023-08-14T05:18:02Z</dcterms:created>
  <dcterms:modified xsi:type="dcterms:W3CDTF">2026-07-20T09:07:39Z</dcterms:modified>
  <cp:category>Vorlagen;Design</cp:category>
</cp:coreProperties>
</file>