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2.xml" ContentType="application/vnd.openxmlformats-officedocument.drawingml.chartshapes+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drawings/drawing3.xml" ContentType="application/vnd.openxmlformats-officedocument.drawingml.chartshapes+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4.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drawings/drawing5.xml" ContentType="application/vnd.openxmlformats-officedocument.drawingml.chartshapes+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drawings/drawing6.xml" ContentType="application/vnd.openxmlformats-officedocument.drawingml.chartshape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7"/>
  </p:notesMasterIdLst>
  <p:sldIdLst>
    <p:sldId id="1587" r:id="rId2"/>
    <p:sldId id="267" r:id="rId3"/>
    <p:sldId id="296" r:id="rId4"/>
    <p:sldId id="297" r:id="rId5"/>
    <p:sldId id="268" r:id="rId6"/>
    <p:sldId id="269" r:id="rId7"/>
    <p:sldId id="327" r:id="rId8"/>
    <p:sldId id="332" r:id="rId9"/>
    <p:sldId id="1598" r:id="rId10"/>
    <p:sldId id="1599" r:id="rId11"/>
    <p:sldId id="328" r:id="rId12"/>
    <p:sldId id="284" r:id="rId13"/>
    <p:sldId id="300" r:id="rId14"/>
    <p:sldId id="286" r:id="rId15"/>
    <p:sldId id="1594" r:id="rId16"/>
    <p:sldId id="288" r:id="rId17"/>
    <p:sldId id="289" r:id="rId18"/>
    <p:sldId id="290" r:id="rId19"/>
    <p:sldId id="291" r:id="rId20"/>
    <p:sldId id="292" r:id="rId21"/>
    <p:sldId id="293" r:id="rId22"/>
    <p:sldId id="294" r:id="rId23"/>
    <p:sldId id="295" r:id="rId24"/>
    <p:sldId id="298" r:id="rId25"/>
    <p:sldId id="299" r:id="rId26"/>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ndreas Pischetsrieder" initials="AP" userId="S::YH428EO@fuggerbank.de::2de2f04b-e8ac-43ac-92b7-e216de85df3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346" autoAdjust="0"/>
    <p:restoredTop sz="94161" autoAdjust="0"/>
  </p:normalViewPr>
  <p:slideViewPr>
    <p:cSldViewPr snapToGrid="0" showGuides="1">
      <p:cViewPr varScale="1">
        <p:scale>
          <a:sx n="114" d="100"/>
          <a:sy n="114" d="100"/>
        </p:scale>
        <p:origin x="966" y="9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harts/_rels/chart1.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chartUserShapes" Target="../drawings/drawing3.xml"/></Relationships>
</file>

<file path=ppt/charts/_rels/chart4.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2" Type="http://schemas.microsoft.com/office/2011/relationships/chartColorStyle" Target="colors7.xml"/><Relationship Id="rId1" Type="http://schemas.microsoft.com/office/2011/relationships/chartStyle" Target="style7.xml"/><Relationship Id="rId4" Type="http://schemas.openxmlformats.org/officeDocument/2006/relationships/chartUserShapes" Target="../drawings/drawing5.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8.xml"/><Relationship Id="rId1" Type="http://schemas.microsoft.com/office/2011/relationships/chartStyle" Target="style8.xml"/><Relationship Id="rId4" Type="http://schemas.openxmlformats.org/officeDocument/2006/relationships/chartUserShapes" Target="../drawings/drawing6.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925-425E-BE52-24228E36E840}"/>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925-425E-BE52-24228E36E840}"/>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925-425E-BE52-24228E36E840}"/>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1925-425E-BE52-24228E36E840}"/>
              </c:ext>
            </c:extLst>
          </c:dPt>
          <c:dLbls>
            <c:dLbl>
              <c:idx val="0"/>
              <c:layout>
                <c:manualLayout>
                  <c:x val="0.12431454562134395"/>
                  <c:y val="4.433953728026980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925-425E-BE52-24228E36E840}"/>
                </c:ext>
              </c:extLst>
            </c:dLbl>
            <c:dLbl>
              <c:idx val="1"/>
              <c:layout>
                <c:manualLayout>
                  <c:x val="-0.16608432400636575"/>
                  <c:y val="-4.38185331549744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925-425E-BE52-24228E36E840}"/>
                </c:ext>
              </c:extLst>
            </c:dLbl>
            <c:dLbl>
              <c:idx val="2"/>
              <c:layout>
                <c:manualLayout>
                  <c:x val="-0.11648483286847469"/>
                  <c:y val="-8.1088717122223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925-425E-BE52-24228E36E840}"/>
                </c:ext>
              </c:extLst>
            </c:dLbl>
            <c:dLbl>
              <c:idx val="3"/>
              <c:layout>
                <c:manualLayout>
                  <c:x val="4.8761092828663845E-2"/>
                  <c:y val="-9.46035033092603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925-425E-BE52-24228E36E840}"/>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1925-425E-BE52-24228E36E84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7CF-4E50-A6D9-362ECCC49EF8}"/>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77CF-4E50-A6D9-362ECCC49EF8}"/>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77CF-4E50-A6D9-362ECCC49EF8}"/>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77CF-4E50-A6D9-362ECCC49EF8}"/>
              </c:ext>
            </c:extLst>
          </c:dPt>
          <c:dLbls>
            <c:dLbl>
              <c:idx val="0"/>
              <c:layout>
                <c:manualLayout>
                  <c:x val="0.12431454562134395"/>
                  <c:y val="4.433953728026980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7CF-4E50-A6D9-362ECCC49EF8}"/>
                </c:ext>
              </c:extLst>
            </c:dLbl>
            <c:dLbl>
              <c:idx val="1"/>
              <c:layout>
                <c:manualLayout>
                  <c:x val="-0.16608432400636575"/>
                  <c:y val="-4.38185331549744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7CF-4E50-A6D9-362ECCC49EF8}"/>
                </c:ext>
              </c:extLst>
            </c:dLbl>
            <c:dLbl>
              <c:idx val="2"/>
              <c:layout>
                <c:manualLayout>
                  <c:x val="-0.11648483286847469"/>
                  <c:y val="-8.1088717122223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7CF-4E50-A6D9-362ECCC49EF8}"/>
                </c:ext>
              </c:extLst>
            </c:dLbl>
            <c:dLbl>
              <c:idx val="3"/>
              <c:layout>
                <c:manualLayout>
                  <c:x val="4.8761092828663845E-2"/>
                  <c:y val="-9.46035033092603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7CF-4E50-A6D9-362ECCC49EF8}"/>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77CF-4E50-A6D9-362ECCC49EF8}"/>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241459557162226"/>
          <c:y val="0.22124636125023478"/>
          <c:w val="0.34923629128441663"/>
          <c:h val="0.4489772367894781"/>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85B-4416-9C47-BBFA370507CB}"/>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785B-4416-9C47-BBFA370507CB}"/>
              </c:ext>
            </c:extLst>
          </c:dPt>
          <c:dPt>
            <c:idx val="2"/>
            <c:bubble3D val="0"/>
            <c:spPr>
              <a:solidFill>
                <a:srgbClr val="66A4CE"/>
              </a:solidFill>
              <a:ln w="19050">
                <a:solidFill>
                  <a:schemeClr val="lt1"/>
                </a:solidFill>
              </a:ln>
              <a:effectLst/>
            </c:spPr>
            <c:extLst>
              <c:ext xmlns:c16="http://schemas.microsoft.com/office/drawing/2014/chart" uri="{C3380CC4-5D6E-409C-BE32-E72D297353CC}">
                <c16:uniqueId val="{00000005-785B-4416-9C47-BBFA370507CB}"/>
              </c:ext>
            </c:extLst>
          </c:dPt>
          <c:dPt>
            <c:idx val="3"/>
            <c:bubble3D val="0"/>
            <c:spPr>
              <a:solidFill>
                <a:srgbClr val="386FA7"/>
              </a:solidFill>
              <a:ln w="19050">
                <a:solidFill>
                  <a:schemeClr val="lt1"/>
                </a:solidFill>
              </a:ln>
              <a:effectLst/>
            </c:spPr>
            <c:extLst>
              <c:ext xmlns:c16="http://schemas.microsoft.com/office/drawing/2014/chart" uri="{C3380CC4-5D6E-409C-BE32-E72D297353CC}">
                <c16:uniqueId val="{00000007-785B-4416-9C47-BBFA370507CB}"/>
              </c:ext>
            </c:extLst>
          </c:dPt>
          <c:dPt>
            <c:idx val="4"/>
            <c:bubble3D val="0"/>
            <c:spPr>
              <a:solidFill>
                <a:srgbClr val="BB9256"/>
              </a:solidFill>
              <a:ln w="19050">
                <a:solidFill>
                  <a:schemeClr val="lt1"/>
                </a:solidFill>
              </a:ln>
              <a:effectLst/>
            </c:spPr>
            <c:extLst>
              <c:ext xmlns:c16="http://schemas.microsoft.com/office/drawing/2014/chart" uri="{C3380CC4-5D6E-409C-BE32-E72D297353CC}">
                <c16:uniqueId val="{00000009-785B-4416-9C47-BBFA370507CB}"/>
              </c:ext>
            </c:extLst>
          </c:dPt>
          <c:dPt>
            <c:idx val="5"/>
            <c:bubble3D val="0"/>
            <c:spPr>
              <a:solidFill>
                <a:srgbClr val="808080"/>
              </a:solidFill>
              <a:ln w="19050">
                <a:solidFill>
                  <a:schemeClr val="lt1"/>
                </a:solidFill>
              </a:ln>
              <a:effectLst/>
            </c:spPr>
            <c:extLst>
              <c:ext xmlns:c16="http://schemas.microsoft.com/office/drawing/2014/chart" uri="{C3380CC4-5D6E-409C-BE32-E72D297353CC}">
                <c16:uniqueId val="{0000000B-785B-4416-9C47-BBFA370507CB}"/>
              </c:ext>
            </c:extLst>
          </c:dPt>
          <c:dPt>
            <c:idx val="6"/>
            <c:bubble3D val="0"/>
            <c:spPr>
              <a:solidFill>
                <a:srgbClr val="5F8CA1"/>
              </a:solidFill>
              <a:ln w="19050">
                <a:solidFill>
                  <a:schemeClr val="lt1"/>
                </a:solidFill>
              </a:ln>
              <a:effectLst/>
            </c:spPr>
            <c:extLst>
              <c:ext xmlns:c16="http://schemas.microsoft.com/office/drawing/2014/chart" uri="{C3380CC4-5D6E-409C-BE32-E72D297353CC}">
                <c16:uniqueId val="{0000000D-785B-4416-9C47-BBFA370507CB}"/>
              </c:ext>
            </c:extLst>
          </c:dPt>
          <c:dPt>
            <c:idx val="7"/>
            <c:bubble3D val="0"/>
            <c:spPr>
              <a:solidFill>
                <a:srgbClr val="66A4CE"/>
              </a:solidFill>
              <a:ln w="19050">
                <a:solidFill>
                  <a:schemeClr val="lt1"/>
                </a:solidFill>
              </a:ln>
              <a:effectLst/>
            </c:spPr>
            <c:extLst>
              <c:ext xmlns:c16="http://schemas.microsoft.com/office/drawing/2014/chart" uri="{C3380CC4-5D6E-409C-BE32-E72D297353CC}">
                <c16:uniqueId val="{0000000F-785B-4416-9C47-BBFA370507CB}"/>
              </c:ext>
            </c:extLst>
          </c:dPt>
          <c:dPt>
            <c:idx val="8"/>
            <c:bubble3D val="0"/>
            <c:spPr>
              <a:solidFill>
                <a:srgbClr val="72BA86"/>
              </a:solidFill>
              <a:ln w="19050">
                <a:solidFill>
                  <a:schemeClr val="lt1"/>
                </a:solidFill>
              </a:ln>
              <a:effectLst/>
            </c:spPr>
            <c:extLst>
              <c:ext xmlns:c16="http://schemas.microsoft.com/office/drawing/2014/chart" uri="{C3380CC4-5D6E-409C-BE32-E72D297353CC}">
                <c16:uniqueId val="{00000011-785B-4416-9C47-BBFA370507CB}"/>
              </c:ext>
            </c:extLst>
          </c:dPt>
          <c:dPt>
            <c:idx val="9"/>
            <c:bubble3D val="0"/>
            <c:spPr>
              <a:solidFill>
                <a:srgbClr val="66A4CE"/>
              </a:solidFill>
              <a:ln w="19050">
                <a:solidFill>
                  <a:schemeClr val="lt1"/>
                </a:solidFill>
              </a:ln>
              <a:effectLst/>
            </c:spPr>
            <c:extLst>
              <c:ext xmlns:c16="http://schemas.microsoft.com/office/drawing/2014/chart" uri="{C3380CC4-5D6E-409C-BE32-E72D297353CC}">
                <c16:uniqueId val="{00000013-785B-4416-9C47-BBFA370507CB}"/>
              </c:ext>
            </c:extLst>
          </c:dPt>
          <c:dPt>
            <c:idx val="10"/>
            <c:bubble3D val="0"/>
            <c:spPr>
              <a:solidFill>
                <a:srgbClr val="D1E4C6"/>
              </a:solidFill>
              <a:ln w="19050">
                <a:solidFill>
                  <a:schemeClr val="lt1"/>
                </a:solidFill>
              </a:ln>
              <a:effectLst/>
            </c:spPr>
            <c:extLst>
              <c:ext xmlns:c16="http://schemas.microsoft.com/office/drawing/2014/chart" uri="{C3380CC4-5D6E-409C-BE32-E72D297353CC}">
                <c16:uniqueId val="{00000015-785B-4416-9C47-BBFA370507CB}"/>
              </c:ext>
            </c:extLst>
          </c:dPt>
          <c:dLbls>
            <c:dLbl>
              <c:idx val="0"/>
              <c:layout>
                <c:manualLayout>
                  <c:x val="0.11213059526433887"/>
                  <c:y val="-0.1214555293045233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85B-4416-9C47-BBFA370507CB}"/>
                </c:ext>
              </c:extLst>
            </c:dLbl>
            <c:dLbl>
              <c:idx val="1"/>
              <c:layout>
                <c:manualLayout>
                  <c:x val="0.15263366739583864"/>
                  <c:y val="0.1354671469365355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85B-4416-9C47-BBFA370507CB}"/>
                </c:ext>
              </c:extLst>
            </c:dLbl>
            <c:dLbl>
              <c:idx val="2"/>
              <c:layout>
                <c:manualLayout>
                  <c:x val="9.8721744586322088E-2"/>
                  <c:y val="0.1431064233658650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85B-4416-9C47-BBFA370507CB}"/>
                </c:ext>
              </c:extLst>
            </c:dLbl>
            <c:dLbl>
              <c:idx val="3"/>
              <c:layout>
                <c:manualLayout>
                  <c:x val="-4.3407139629462266E-3"/>
                  <c:y val="0.1707433611273247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85B-4416-9C47-BBFA370507CB}"/>
                </c:ext>
              </c:extLst>
            </c:dLbl>
            <c:dLbl>
              <c:idx val="4"/>
              <c:layout>
                <c:manualLayout>
                  <c:x val="-0.15391105567063842"/>
                  <c:y val="1.603632728259618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785B-4416-9C47-BBFA370507CB}"/>
                </c:ext>
              </c:extLst>
            </c:dLbl>
            <c:dLbl>
              <c:idx val="5"/>
              <c:layout>
                <c:manualLayout>
                  <c:x val="-0.20148266889432004"/>
                  <c:y val="4.9359107777441347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785B-4416-9C47-BBFA370507CB}"/>
                </c:ext>
              </c:extLst>
            </c:dLbl>
            <c:dLbl>
              <c:idx val="6"/>
              <c:layout>
                <c:manualLayout>
                  <c:x val="-0.1177301837626404"/>
                  <c:y val="-1.425403919671834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785B-4416-9C47-BBFA370507CB}"/>
                </c:ext>
              </c:extLst>
            </c:dLbl>
            <c:dLbl>
              <c:idx val="7"/>
              <c:layout>
                <c:manualLayout>
                  <c:x val="-0.22397449593868171"/>
                  <c:y val="-4.032627500953408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785B-4416-9C47-BBFA370507CB}"/>
                </c:ext>
              </c:extLst>
            </c:dLbl>
            <c:dLbl>
              <c:idx val="8"/>
              <c:layout>
                <c:manualLayout>
                  <c:x val="-0.13476550373376536"/>
                  <c:y val="-0.1012753517324863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1-785B-4416-9C47-BBFA370507CB}"/>
                </c:ext>
              </c:extLst>
            </c:dLbl>
            <c:dLbl>
              <c:idx val="9"/>
              <c:layout>
                <c:manualLayout>
                  <c:x val="-4.5877618292345643E-2"/>
                  <c:y val="-0.135033802309981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3-785B-4416-9C47-BBFA370507CB}"/>
                </c:ext>
              </c:extLst>
            </c:dLbl>
            <c:dLbl>
              <c:idx val="10"/>
              <c:layout>
                <c:manualLayout>
                  <c:x val="6.8816427438518457E-2"/>
                  <c:y val="-0.1114028869057349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5-785B-4416-9C47-BBFA370507CB}"/>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S_DiagrammPortfolio!$J$4:$J$14</c:f>
              <c:strCache>
                <c:ptCount val="11"/>
                <c:pt idx="0">
                  <c:v>Informationstechnologie</c:v>
                </c:pt>
                <c:pt idx="1">
                  <c:v>Handel,Konsum</c:v>
                </c:pt>
                <c:pt idx="2">
                  <c:v>Banken,Versicherer,Finanzdienstl.</c:v>
                </c:pt>
                <c:pt idx="3">
                  <c:v>Corporates</c:v>
                </c:pt>
                <c:pt idx="4">
                  <c:v>Chemie,Pharma</c:v>
                </c:pt>
                <c:pt idx="5">
                  <c:v>Eisen,Stahl,Rohstoffe</c:v>
                </c:pt>
                <c:pt idx="6">
                  <c:v>Prod. Gew. &amp; Industrie</c:v>
                </c:pt>
                <c:pt idx="7">
                  <c:v>Financials</c:v>
                </c:pt>
                <c:pt idx="8">
                  <c:v>Versorger</c:v>
                </c:pt>
                <c:pt idx="9">
                  <c:v>staatsgarantiert</c:v>
                </c:pt>
                <c:pt idx="10">
                  <c:v>Bau,Baustoffe</c:v>
                </c:pt>
              </c:strCache>
            </c:strRef>
          </c:cat>
          <c:val>
            <c:numRef>
              <c:f>S_DiagrammPortfolio!$K$4:$K$14</c:f>
              <c:numCache>
                <c:formatCode>0.00%</c:formatCode>
                <c:ptCount val="11"/>
                <c:pt idx="0">
                  <c:v>0.2165</c:v>
                </c:pt>
                <c:pt idx="1">
                  <c:v>0.1598</c:v>
                </c:pt>
                <c:pt idx="2">
                  <c:v>0.15459999999999999</c:v>
                </c:pt>
                <c:pt idx="3">
                  <c:v>0.1031</c:v>
                </c:pt>
                <c:pt idx="4">
                  <c:v>0.1031</c:v>
                </c:pt>
                <c:pt idx="5">
                  <c:v>8.7599999999999997E-2</c:v>
                </c:pt>
                <c:pt idx="6">
                  <c:v>5.1499999999999997E-2</c:v>
                </c:pt>
                <c:pt idx="7">
                  <c:v>4.6399999999999997E-2</c:v>
                </c:pt>
                <c:pt idx="8">
                  <c:v>3.09E-2</c:v>
                </c:pt>
                <c:pt idx="9">
                  <c:v>2.58E-2</c:v>
                </c:pt>
                <c:pt idx="10">
                  <c:v>2.06E-2</c:v>
                </c:pt>
              </c:numCache>
            </c:numRef>
          </c:val>
          <c:extLst>
            <c:ext xmlns:c16="http://schemas.microsoft.com/office/drawing/2014/chart" uri="{C3380CC4-5D6E-409C-BE32-E72D297353CC}">
              <c16:uniqueId val="{00000016-785B-4416-9C47-BBFA370507CB}"/>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44697711354398234"/>
          <c:w val="0.49970741075463171"/>
          <c:h val="0.553022886456017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31174596445554"/>
          <c:y val="0.17508252835308752"/>
          <c:w val="0.42581960372958788"/>
          <c:h val="0.5641944866679429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4B4-4881-A081-C22B855485BC}"/>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4B4-4881-A081-C22B855485BC}"/>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4B4-4881-A081-C22B855485BC}"/>
              </c:ext>
            </c:extLst>
          </c:dPt>
          <c:dPt>
            <c:idx val="3"/>
            <c:bubble3D val="0"/>
            <c:spPr>
              <a:solidFill>
                <a:srgbClr val="B9B9B9"/>
              </a:solidFill>
              <a:ln w="19050">
                <a:solidFill>
                  <a:schemeClr val="lt1"/>
                </a:solidFill>
              </a:ln>
              <a:effectLst/>
            </c:spPr>
            <c:extLst>
              <c:ext xmlns:c16="http://schemas.microsoft.com/office/drawing/2014/chart" uri="{C3380CC4-5D6E-409C-BE32-E72D297353CC}">
                <c16:uniqueId val="{00000007-14B4-4881-A081-C22B855485BC}"/>
              </c:ext>
            </c:extLst>
          </c:dPt>
          <c:dPt>
            <c:idx val="4"/>
            <c:bubble3D val="0"/>
            <c:spPr>
              <a:solidFill>
                <a:srgbClr val="D1E4C6"/>
              </a:solidFill>
              <a:ln w="19050">
                <a:solidFill>
                  <a:schemeClr val="lt1"/>
                </a:solidFill>
              </a:ln>
              <a:effectLst/>
            </c:spPr>
            <c:extLst>
              <c:ext xmlns:c16="http://schemas.microsoft.com/office/drawing/2014/chart" uri="{C3380CC4-5D6E-409C-BE32-E72D297353CC}">
                <c16:uniqueId val="{00000009-14B4-4881-A081-C22B855485BC}"/>
              </c:ext>
            </c:extLst>
          </c:dPt>
          <c:dLbls>
            <c:dLbl>
              <c:idx val="0"/>
              <c:layout>
                <c:manualLayout>
                  <c:x val="0.16611383828441076"/>
                  <c:y val="-0.1521362162427401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4B4-4881-A081-C22B855485BC}"/>
                </c:ext>
              </c:extLst>
            </c:dLbl>
            <c:dLbl>
              <c:idx val="1"/>
              <c:layout>
                <c:manualLayout>
                  <c:x val="8.0820494843203639E-2"/>
                  <c:y val="0.2020799965434407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4B4-4881-A081-C22B855485BC}"/>
                </c:ext>
              </c:extLst>
            </c:dLbl>
            <c:dLbl>
              <c:idx val="2"/>
              <c:layout>
                <c:manualLayout>
                  <c:x val="-0.13545153417607544"/>
                  <c:y val="-6.6697791702697495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4B4-4881-A081-C22B855485BC}"/>
                </c:ext>
              </c:extLst>
            </c:dLbl>
            <c:dLbl>
              <c:idx val="3"/>
              <c:layout>
                <c:manualLayout>
                  <c:x val="-0.17586574461884003"/>
                  <c:y val="1.057461097205531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4B4-4881-A081-C22B855485BC}"/>
                </c:ext>
              </c:extLst>
            </c:dLbl>
            <c:dLbl>
              <c:idx val="4"/>
              <c:layout>
                <c:manualLayout>
                  <c:x val="-0.12942094825811637"/>
                  <c:y val="-9.5265413943976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14B4-4881-A081-C22B855485BC}"/>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S_DiagrammPortfolio!$F$4:$F$8</c:f>
              <c:strCache>
                <c:ptCount val="5"/>
                <c:pt idx="0">
                  <c:v>NORDAMERIKA</c:v>
                </c:pt>
                <c:pt idx="1">
                  <c:v>EUROPA OHNE DEUTSCHLAND</c:v>
                </c:pt>
                <c:pt idx="2">
                  <c:v>DEUTSCHLAND</c:v>
                </c:pt>
                <c:pt idx="3">
                  <c:v>SONSTIGE REGIONEN</c:v>
                </c:pt>
                <c:pt idx="4">
                  <c:v>EMERGING MARKETS</c:v>
                </c:pt>
              </c:strCache>
            </c:strRef>
          </c:cat>
          <c:val>
            <c:numRef>
              <c:f>S_DiagrammPortfolio!$G$4:$G$8</c:f>
              <c:numCache>
                <c:formatCode>0.00%</c:formatCode>
                <c:ptCount val="5"/>
                <c:pt idx="0">
                  <c:v>0.41749999999999998</c:v>
                </c:pt>
                <c:pt idx="1">
                  <c:v>0.26290000000000002</c:v>
                </c:pt>
                <c:pt idx="2">
                  <c:v>0.25259999999999999</c:v>
                </c:pt>
                <c:pt idx="3">
                  <c:v>5.1499999999999997E-2</c:v>
                </c:pt>
                <c:pt idx="4">
                  <c:v>1.55E-2</c:v>
                </c:pt>
              </c:numCache>
            </c:numRef>
          </c:val>
          <c:extLst>
            <c:ext xmlns:c16="http://schemas.microsoft.com/office/drawing/2014/chart" uri="{C3380CC4-5D6E-409C-BE32-E72D297353CC}">
              <c16:uniqueId val="{0000000A-14B4-4881-A081-C22B855485BC}"/>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52367293028011941"/>
          <c:w val="0.48029551909123169"/>
          <c:h val="0.4763270697198807"/>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19050" cap="rnd">
              <a:solidFill>
                <a:schemeClr val="accent3"/>
              </a:solidFill>
              <a:round/>
            </a:ln>
            <a:effectLst/>
          </c:spPr>
          <c:marker>
            <c:symbol val="none"/>
          </c:marker>
          <c:cat>
            <c:numRef>
              <c:f>Tabelle1!$A$2:$A$8000</c:f>
              <c:numCache>
                <c:formatCode>m/d/yyyy</c:formatCode>
                <c:ptCount val="7999"/>
                <c:pt idx="0">
                  <c:v>42004</c:v>
                </c:pt>
                <c:pt idx="1">
                  <c:v>42005</c:v>
                </c:pt>
                <c:pt idx="2">
                  <c:v>42006</c:v>
                </c:pt>
                <c:pt idx="3">
                  <c:v>42007</c:v>
                </c:pt>
                <c:pt idx="4">
                  <c:v>42008</c:v>
                </c:pt>
                <c:pt idx="5">
                  <c:v>42009</c:v>
                </c:pt>
                <c:pt idx="6">
                  <c:v>42010</c:v>
                </c:pt>
                <c:pt idx="7">
                  <c:v>42011</c:v>
                </c:pt>
                <c:pt idx="8">
                  <c:v>42012</c:v>
                </c:pt>
                <c:pt idx="9">
                  <c:v>42013</c:v>
                </c:pt>
                <c:pt idx="10">
                  <c:v>42014</c:v>
                </c:pt>
                <c:pt idx="11">
                  <c:v>42015</c:v>
                </c:pt>
                <c:pt idx="12">
                  <c:v>42016</c:v>
                </c:pt>
                <c:pt idx="13">
                  <c:v>42017</c:v>
                </c:pt>
                <c:pt idx="14">
                  <c:v>42018</c:v>
                </c:pt>
                <c:pt idx="15">
                  <c:v>42019</c:v>
                </c:pt>
                <c:pt idx="16">
                  <c:v>42020</c:v>
                </c:pt>
                <c:pt idx="17">
                  <c:v>42021</c:v>
                </c:pt>
                <c:pt idx="18">
                  <c:v>42022</c:v>
                </c:pt>
                <c:pt idx="19">
                  <c:v>42023</c:v>
                </c:pt>
                <c:pt idx="20">
                  <c:v>42024</c:v>
                </c:pt>
                <c:pt idx="21">
                  <c:v>42025</c:v>
                </c:pt>
                <c:pt idx="22">
                  <c:v>42026</c:v>
                </c:pt>
                <c:pt idx="23">
                  <c:v>42027</c:v>
                </c:pt>
                <c:pt idx="24">
                  <c:v>42028</c:v>
                </c:pt>
                <c:pt idx="25">
                  <c:v>42029</c:v>
                </c:pt>
                <c:pt idx="26">
                  <c:v>42030</c:v>
                </c:pt>
                <c:pt idx="27">
                  <c:v>42031</c:v>
                </c:pt>
                <c:pt idx="28">
                  <c:v>42032</c:v>
                </c:pt>
                <c:pt idx="29">
                  <c:v>42033</c:v>
                </c:pt>
                <c:pt idx="30">
                  <c:v>42034</c:v>
                </c:pt>
                <c:pt idx="31">
                  <c:v>42035</c:v>
                </c:pt>
                <c:pt idx="32">
                  <c:v>42036</c:v>
                </c:pt>
                <c:pt idx="33">
                  <c:v>42037</c:v>
                </c:pt>
                <c:pt idx="34">
                  <c:v>42038</c:v>
                </c:pt>
                <c:pt idx="35">
                  <c:v>42039</c:v>
                </c:pt>
                <c:pt idx="36">
                  <c:v>42040</c:v>
                </c:pt>
                <c:pt idx="37">
                  <c:v>42041</c:v>
                </c:pt>
                <c:pt idx="38">
                  <c:v>42042</c:v>
                </c:pt>
                <c:pt idx="39">
                  <c:v>42043</c:v>
                </c:pt>
                <c:pt idx="40">
                  <c:v>42044</c:v>
                </c:pt>
                <c:pt idx="41">
                  <c:v>42045</c:v>
                </c:pt>
                <c:pt idx="42">
                  <c:v>42046</c:v>
                </c:pt>
                <c:pt idx="43">
                  <c:v>42047</c:v>
                </c:pt>
                <c:pt idx="44">
                  <c:v>42048</c:v>
                </c:pt>
                <c:pt idx="45">
                  <c:v>42049</c:v>
                </c:pt>
                <c:pt idx="46">
                  <c:v>42050</c:v>
                </c:pt>
                <c:pt idx="47">
                  <c:v>42051</c:v>
                </c:pt>
                <c:pt idx="48">
                  <c:v>42052</c:v>
                </c:pt>
                <c:pt idx="49">
                  <c:v>42053</c:v>
                </c:pt>
                <c:pt idx="50">
                  <c:v>42054</c:v>
                </c:pt>
                <c:pt idx="51">
                  <c:v>42055</c:v>
                </c:pt>
                <c:pt idx="52">
                  <c:v>42056</c:v>
                </c:pt>
                <c:pt idx="53">
                  <c:v>42057</c:v>
                </c:pt>
                <c:pt idx="54">
                  <c:v>42058</c:v>
                </c:pt>
                <c:pt idx="55">
                  <c:v>42059</c:v>
                </c:pt>
                <c:pt idx="56">
                  <c:v>42060</c:v>
                </c:pt>
                <c:pt idx="57">
                  <c:v>42061</c:v>
                </c:pt>
                <c:pt idx="58">
                  <c:v>42062</c:v>
                </c:pt>
                <c:pt idx="59">
                  <c:v>42063</c:v>
                </c:pt>
                <c:pt idx="60">
                  <c:v>42064</c:v>
                </c:pt>
                <c:pt idx="61">
                  <c:v>42065</c:v>
                </c:pt>
                <c:pt idx="62">
                  <c:v>42066</c:v>
                </c:pt>
                <c:pt idx="63">
                  <c:v>42067</c:v>
                </c:pt>
                <c:pt idx="64">
                  <c:v>42068</c:v>
                </c:pt>
                <c:pt idx="65">
                  <c:v>42069</c:v>
                </c:pt>
                <c:pt idx="66">
                  <c:v>42070</c:v>
                </c:pt>
                <c:pt idx="67">
                  <c:v>42071</c:v>
                </c:pt>
                <c:pt idx="68">
                  <c:v>42072</c:v>
                </c:pt>
                <c:pt idx="69">
                  <c:v>42073</c:v>
                </c:pt>
                <c:pt idx="70">
                  <c:v>42074</c:v>
                </c:pt>
                <c:pt idx="71">
                  <c:v>42075</c:v>
                </c:pt>
                <c:pt idx="72">
                  <c:v>42076</c:v>
                </c:pt>
                <c:pt idx="73">
                  <c:v>42077</c:v>
                </c:pt>
                <c:pt idx="74">
                  <c:v>42078</c:v>
                </c:pt>
                <c:pt idx="75">
                  <c:v>42079</c:v>
                </c:pt>
                <c:pt idx="76">
                  <c:v>42080</c:v>
                </c:pt>
                <c:pt idx="77">
                  <c:v>42081</c:v>
                </c:pt>
                <c:pt idx="78">
                  <c:v>42082</c:v>
                </c:pt>
                <c:pt idx="79">
                  <c:v>42083</c:v>
                </c:pt>
                <c:pt idx="80">
                  <c:v>42084</c:v>
                </c:pt>
                <c:pt idx="81">
                  <c:v>42085</c:v>
                </c:pt>
                <c:pt idx="82">
                  <c:v>42086</c:v>
                </c:pt>
                <c:pt idx="83">
                  <c:v>42087</c:v>
                </c:pt>
                <c:pt idx="84">
                  <c:v>42088</c:v>
                </c:pt>
                <c:pt idx="85">
                  <c:v>42089</c:v>
                </c:pt>
                <c:pt idx="86">
                  <c:v>42090</c:v>
                </c:pt>
                <c:pt idx="87">
                  <c:v>42091</c:v>
                </c:pt>
                <c:pt idx="88">
                  <c:v>42092</c:v>
                </c:pt>
                <c:pt idx="89">
                  <c:v>42093</c:v>
                </c:pt>
                <c:pt idx="90">
                  <c:v>42094</c:v>
                </c:pt>
                <c:pt idx="91">
                  <c:v>42095</c:v>
                </c:pt>
                <c:pt idx="92">
                  <c:v>42096</c:v>
                </c:pt>
                <c:pt idx="93">
                  <c:v>42097</c:v>
                </c:pt>
                <c:pt idx="94">
                  <c:v>42098</c:v>
                </c:pt>
                <c:pt idx="95">
                  <c:v>42099</c:v>
                </c:pt>
                <c:pt idx="96">
                  <c:v>42100</c:v>
                </c:pt>
                <c:pt idx="97">
                  <c:v>42101</c:v>
                </c:pt>
                <c:pt idx="98">
                  <c:v>42102</c:v>
                </c:pt>
                <c:pt idx="99">
                  <c:v>42103</c:v>
                </c:pt>
                <c:pt idx="100">
                  <c:v>42104</c:v>
                </c:pt>
                <c:pt idx="101">
                  <c:v>42105</c:v>
                </c:pt>
                <c:pt idx="102">
                  <c:v>42106</c:v>
                </c:pt>
                <c:pt idx="103">
                  <c:v>42107</c:v>
                </c:pt>
                <c:pt idx="104">
                  <c:v>42108</c:v>
                </c:pt>
                <c:pt idx="105">
                  <c:v>42109</c:v>
                </c:pt>
                <c:pt idx="106">
                  <c:v>42110</c:v>
                </c:pt>
                <c:pt idx="107">
                  <c:v>42111</c:v>
                </c:pt>
                <c:pt idx="108">
                  <c:v>42112</c:v>
                </c:pt>
                <c:pt idx="109">
                  <c:v>42113</c:v>
                </c:pt>
                <c:pt idx="110">
                  <c:v>42114</c:v>
                </c:pt>
                <c:pt idx="111">
                  <c:v>42115</c:v>
                </c:pt>
                <c:pt idx="112">
                  <c:v>42116</c:v>
                </c:pt>
                <c:pt idx="113">
                  <c:v>42117</c:v>
                </c:pt>
                <c:pt idx="114">
                  <c:v>42118</c:v>
                </c:pt>
                <c:pt idx="115">
                  <c:v>42119</c:v>
                </c:pt>
                <c:pt idx="116">
                  <c:v>42120</c:v>
                </c:pt>
                <c:pt idx="117">
                  <c:v>42121</c:v>
                </c:pt>
                <c:pt idx="118">
                  <c:v>42122</c:v>
                </c:pt>
                <c:pt idx="119">
                  <c:v>42123</c:v>
                </c:pt>
                <c:pt idx="120">
                  <c:v>42124</c:v>
                </c:pt>
                <c:pt idx="121">
                  <c:v>42125</c:v>
                </c:pt>
                <c:pt idx="122">
                  <c:v>42126</c:v>
                </c:pt>
                <c:pt idx="123">
                  <c:v>42127</c:v>
                </c:pt>
                <c:pt idx="124">
                  <c:v>42128</c:v>
                </c:pt>
                <c:pt idx="125">
                  <c:v>42129</c:v>
                </c:pt>
                <c:pt idx="126">
                  <c:v>42130</c:v>
                </c:pt>
                <c:pt idx="127">
                  <c:v>42131</c:v>
                </c:pt>
                <c:pt idx="128">
                  <c:v>42132</c:v>
                </c:pt>
                <c:pt idx="129">
                  <c:v>42133</c:v>
                </c:pt>
                <c:pt idx="130">
                  <c:v>42134</c:v>
                </c:pt>
                <c:pt idx="131">
                  <c:v>42135</c:v>
                </c:pt>
                <c:pt idx="132">
                  <c:v>42136</c:v>
                </c:pt>
                <c:pt idx="133">
                  <c:v>42137</c:v>
                </c:pt>
                <c:pt idx="134">
                  <c:v>42138</c:v>
                </c:pt>
                <c:pt idx="135">
                  <c:v>42139</c:v>
                </c:pt>
                <c:pt idx="136">
                  <c:v>42140</c:v>
                </c:pt>
                <c:pt idx="137">
                  <c:v>42141</c:v>
                </c:pt>
                <c:pt idx="138">
                  <c:v>42142</c:v>
                </c:pt>
                <c:pt idx="139">
                  <c:v>42143</c:v>
                </c:pt>
                <c:pt idx="140">
                  <c:v>42144</c:v>
                </c:pt>
                <c:pt idx="141">
                  <c:v>42145</c:v>
                </c:pt>
                <c:pt idx="142">
                  <c:v>42146</c:v>
                </c:pt>
                <c:pt idx="143">
                  <c:v>42147</c:v>
                </c:pt>
                <c:pt idx="144">
                  <c:v>42148</c:v>
                </c:pt>
                <c:pt idx="145">
                  <c:v>42149</c:v>
                </c:pt>
                <c:pt idx="146">
                  <c:v>42150</c:v>
                </c:pt>
                <c:pt idx="147">
                  <c:v>42151</c:v>
                </c:pt>
                <c:pt idx="148">
                  <c:v>42152</c:v>
                </c:pt>
                <c:pt idx="149">
                  <c:v>42153</c:v>
                </c:pt>
                <c:pt idx="150">
                  <c:v>42154</c:v>
                </c:pt>
                <c:pt idx="151">
                  <c:v>42155</c:v>
                </c:pt>
                <c:pt idx="152">
                  <c:v>42156</c:v>
                </c:pt>
                <c:pt idx="153">
                  <c:v>42157</c:v>
                </c:pt>
                <c:pt idx="154">
                  <c:v>42158</c:v>
                </c:pt>
                <c:pt idx="155">
                  <c:v>42159</c:v>
                </c:pt>
                <c:pt idx="156">
                  <c:v>42160</c:v>
                </c:pt>
                <c:pt idx="157">
                  <c:v>42161</c:v>
                </c:pt>
                <c:pt idx="158">
                  <c:v>42162</c:v>
                </c:pt>
                <c:pt idx="159">
                  <c:v>42163</c:v>
                </c:pt>
                <c:pt idx="160">
                  <c:v>42164</c:v>
                </c:pt>
                <c:pt idx="161">
                  <c:v>42165</c:v>
                </c:pt>
                <c:pt idx="162">
                  <c:v>42166</c:v>
                </c:pt>
                <c:pt idx="163">
                  <c:v>42167</c:v>
                </c:pt>
                <c:pt idx="164">
                  <c:v>42168</c:v>
                </c:pt>
                <c:pt idx="165">
                  <c:v>42169</c:v>
                </c:pt>
                <c:pt idx="166">
                  <c:v>42170</c:v>
                </c:pt>
                <c:pt idx="167">
                  <c:v>42171</c:v>
                </c:pt>
                <c:pt idx="168">
                  <c:v>42172</c:v>
                </c:pt>
                <c:pt idx="169">
                  <c:v>42173</c:v>
                </c:pt>
                <c:pt idx="170">
                  <c:v>42174</c:v>
                </c:pt>
                <c:pt idx="171">
                  <c:v>42175</c:v>
                </c:pt>
                <c:pt idx="172">
                  <c:v>42176</c:v>
                </c:pt>
                <c:pt idx="173">
                  <c:v>42177</c:v>
                </c:pt>
                <c:pt idx="174">
                  <c:v>42178</c:v>
                </c:pt>
                <c:pt idx="175">
                  <c:v>42179</c:v>
                </c:pt>
                <c:pt idx="176">
                  <c:v>42180</c:v>
                </c:pt>
                <c:pt idx="177">
                  <c:v>42181</c:v>
                </c:pt>
                <c:pt idx="178">
                  <c:v>42182</c:v>
                </c:pt>
                <c:pt idx="179">
                  <c:v>42183</c:v>
                </c:pt>
                <c:pt idx="180">
                  <c:v>42184</c:v>
                </c:pt>
                <c:pt idx="181">
                  <c:v>42185</c:v>
                </c:pt>
                <c:pt idx="182">
                  <c:v>42186</c:v>
                </c:pt>
                <c:pt idx="183">
                  <c:v>42187</c:v>
                </c:pt>
                <c:pt idx="184">
                  <c:v>42188</c:v>
                </c:pt>
                <c:pt idx="185">
                  <c:v>42189</c:v>
                </c:pt>
                <c:pt idx="186">
                  <c:v>42190</c:v>
                </c:pt>
                <c:pt idx="187">
                  <c:v>42191</c:v>
                </c:pt>
                <c:pt idx="188">
                  <c:v>42192</c:v>
                </c:pt>
                <c:pt idx="189">
                  <c:v>42193</c:v>
                </c:pt>
                <c:pt idx="190">
                  <c:v>42194</c:v>
                </c:pt>
                <c:pt idx="191">
                  <c:v>42195</c:v>
                </c:pt>
                <c:pt idx="192">
                  <c:v>42196</c:v>
                </c:pt>
                <c:pt idx="193">
                  <c:v>42197</c:v>
                </c:pt>
                <c:pt idx="194">
                  <c:v>42198</c:v>
                </c:pt>
                <c:pt idx="195">
                  <c:v>42199</c:v>
                </c:pt>
                <c:pt idx="196">
                  <c:v>42200</c:v>
                </c:pt>
                <c:pt idx="197">
                  <c:v>42201</c:v>
                </c:pt>
                <c:pt idx="198">
                  <c:v>42202</c:v>
                </c:pt>
                <c:pt idx="199">
                  <c:v>42203</c:v>
                </c:pt>
                <c:pt idx="200">
                  <c:v>42204</c:v>
                </c:pt>
                <c:pt idx="201">
                  <c:v>42205</c:v>
                </c:pt>
                <c:pt idx="202">
                  <c:v>42206</c:v>
                </c:pt>
                <c:pt idx="203">
                  <c:v>42207</c:v>
                </c:pt>
                <c:pt idx="204">
                  <c:v>42208</c:v>
                </c:pt>
                <c:pt idx="205">
                  <c:v>42209</c:v>
                </c:pt>
                <c:pt idx="206">
                  <c:v>42210</c:v>
                </c:pt>
                <c:pt idx="207">
                  <c:v>42211</c:v>
                </c:pt>
                <c:pt idx="208">
                  <c:v>42212</c:v>
                </c:pt>
                <c:pt idx="209">
                  <c:v>42213</c:v>
                </c:pt>
                <c:pt idx="210">
                  <c:v>42214</c:v>
                </c:pt>
                <c:pt idx="211">
                  <c:v>42215</c:v>
                </c:pt>
                <c:pt idx="212">
                  <c:v>42216</c:v>
                </c:pt>
                <c:pt idx="213">
                  <c:v>42217</c:v>
                </c:pt>
                <c:pt idx="214">
                  <c:v>42218</c:v>
                </c:pt>
                <c:pt idx="215">
                  <c:v>42219</c:v>
                </c:pt>
                <c:pt idx="216">
                  <c:v>42220</c:v>
                </c:pt>
                <c:pt idx="217">
                  <c:v>42221</c:v>
                </c:pt>
                <c:pt idx="218">
                  <c:v>42222</c:v>
                </c:pt>
                <c:pt idx="219">
                  <c:v>42223</c:v>
                </c:pt>
                <c:pt idx="220">
                  <c:v>42224</c:v>
                </c:pt>
                <c:pt idx="221">
                  <c:v>42225</c:v>
                </c:pt>
                <c:pt idx="222">
                  <c:v>42226</c:v>
                </c:pt>
                <c:pt idx="223">
                  <c:v>42227</c:v>
                </c:pt>
                <c:pt idx="224">
                  <c:v>42228</c:v>
                </c:pt>
                <c:pt idx="225">
                  <c:v>42229</c:v>
                </c:pt>
                <c:pt idx="226">
                  <c:v>42230</c:v>
                </c:pt>
                <c:pt idx="227">
                  <c:v>42231</c:v>
                </c:pt>
                <c:pt idx="228">
                  <c:v>42232</c:v>
                </c:pt>
                <c:pt idx="229">
                  <c:v>42233</c:v>
                </c:pt>
                <c:pt idx="230">
                  <c:v>42234</c:v>
                </c:pt>
                <c:pt idx="231">
                  <c:v>42235</c:v>
                </c:pt>
                <c:pt idx="232">
                  <c:v>42236</c:v>
                </c:pt>
                <c:pt idx="233">
                  <c:v>42237</c:v>
                </c:pt>
                <c:pt idx="234">
                  <c:v>42238</c:v>
                </c:pt>
                <c:pt idx="235">
                  <c:v>42239</c:v>
                </c:pt>
                <c:pt idx="236">
                  <c:v>42240</c:v>
                </c:pt>
                <c:pt idx="237">
                  <c:v>42241</c:v>
                </c:pt>
                <c:pt idx="238">
                  <c:v>42242</c:v>
                </c:pt>
                <c:pt idx="239">
                  <c:v>42243</c:v>
                </c:pt>
                <c:pt idx="240">
                  <c:v>42244</c:v>
                </c:pt>
                <c:pt idx="241">
                  <c:v>42245</c:v>
                </c:pt>
                <c:pt idx="242">
                  <c:v>42246</c:v>
                </c:pt>
                <c:pt idx="243">
                  <c:v>42247</c:v>
                </c:pt>
                <c:pt idx="244">
                  <c:v>42248</c:v>
                </c:pt>
                <c:pt idx="245">
                  <c:v>42249</c:v>
                </c:pt>
                <c:pt idx="246">
                  <c:v>42250</c:v>
                </c:pt>
                <c:pt idx="247">
                  <c:v>42251</c:v>
                </c:pt>
                <c:pt idx="248">
                  <c:v>42252</c:v>
                </c:pt>
                <c:pt idx="249">
                  <c:v>42253</c:v>
                </c:pt>
                <c:pt idx="250">
                  <c:v>42254</c:v>
                </c:pt>
                <c:pt idx="251">
                  <c:v>42255</c:v>
                </c:pt>
                <c:pt idx="252">
                  <c:v>42256</c:v>
                </c:pt>
                <c:pt idx="253">
                  <c:v>42257</c:v>
                </c:pt>
                <c:pt idx="254">
                  <c:v>42258</c:v>
                </c:pt>
                <c:pt idx="255">
                  <c:v>42259</c:v>
                </c:pt>
                <c:pt idx="256">
                  <c:v>42260</c:v>
                </c:pt>
                <c:pt idx="257">
                  <c:v>42261</c:v>
                </c:pt>
                <c:pt idx="258">
                  <c:v>42262</c:v>
                </c:pt>
                <c:pt idx="259">
                  <c:v>42263</c:v>
                </c:pt>
                <c:pt idx="260">
                  <c:v>42264</c:v>
                </c:pt>
                <c:pt idx="261">
                  <c:v>42265</c:v>
                </c:pt>
                <c:pt idx="262">
                  <c:v>42266</c:v>
                </c:pt>
                <c:pt idx="263">
                  <c:v>42267</c:v>
                </c:pt>
                <c:pt idx="264">
                  <c:v>42268</c:v>
                </c:pt>
                <c:pt idx="265">
                  <c:v>42269</c:v>
                </c:pt>
                <c:pt idx="266">
                  <c:v>42270</c:v>
                </c:pt>
                <c:pt idx="267">
                  <c:v>42271</c:v>
                </c:pt>
                <c:pt idx="268">
                  <c:v>42272</c:v>
                </c:pt>
                <c:pt idx="269">
                  <c:v>42273</c:v>
                </c:pt>
                <c:pt idx="270">
                  <c:v>42274</c:v>
                </c:pt>
                <c:pt idx="271">
                  <c:v>42275</c:v>
                </c:pt>
                <c:pt idx="272">
                  <c:v>42276</c:v>
                </c:pt>
                <c:pt idx="273">
                  <c:v>42277</c:v>
                </c:pt>
                <c:pt idx="274">
                  <c:v>42278</c:v>
                </c:pt>
                <c:pt idx="275">
                  <c:v>42279</c:v>
                </c:pt>
                <c:pt idx="276">
                  <c:v>42280</c:v>
                </c:pt>
                <c:pt idx="277">
                  <c:v>42281</c:v>
                </c:pt>
                <c:pt idx="278">
                  <c:v>42282</c:v>
                </c:pt>
                <c:pt idx="279">
                  <c:v>42283</c:v>
                </c:pt>
                <c:pt idx="280">
                  <c:v>42284</c:v>
                </c:pt>
                <c:pt idx="281">
                  <c:v>42285</c:v>
                </c:pt>
                <c:pt idx="282">
                  <c:v>42286</c:v>
                </c:pt>
                <c:pt idx="283">
                  <c:v>42287</c:v>
                </c:pt>
                <c:pt idx="284">
                  <c:v>42288</c:v>
                </c:pt>
                <c:pt idx="285">
                  <c:v>42289</c:v>
                </c:pt>
                <c:pt idx="286">
                  <c:v>42290</c:v>
                </c:pt>
                <c:pt idx="287">
                  <c:v>42291</c:v>
                </c:pt>
                <c:pt idx="288">
                  <c:v>42292</c:v>
                </c:pt>
                <c:pt idx="289">
                  <c:v>42293</c:v>
                </c:pt>
                <c:pt idx="290">
                  <c:v>42294</c:v>
                </c:pt>
                <c:pt idx="291">
                  <c:v>42295</c:v>
                </c:pt>
                <c:pt idx="292">
                  <c:v>42296</c:v>
                </c:pt>
                <c:pt idx="293">
                  <c:v>42297</c:v>
                </c:pt>
                <c:pt idx="294">
                  <c:v>42298</c:v>
                </c:pt>
                <c:pt idx="295">
                  <c:v>42299</c:v>
                </c:pt>
                <c:pt idx="296">
                  <c:v>42300</c:v>
                </c:pt>
                <c:pt idx="297">
                  <c:v>42301</c:v>
                </c:pt>
                <c:pt idx="298">
                  <c:v>42302</c:v>
                </c:pt>
                <c:pt idx="299">
                  <c:v>42303</c:v>
                </c:pt>
                <c:pt idx="300">
                  <c:v>42304</c:v>
                </c:pt>
                <c:pt idx="301">
                  <c:v>42305</c:v>
                </c:pt>
                <c:pt idx="302">
                  <c:v>42306</c:v>
                </c:pt>
                <c:pt idx="303">
                  <c:v>42307</c:v>
                </c:pt>
                <c:pt idx="304">
                  <c:v>42308</c:v>
                </c:pt>
                <c:pt idx="305">
                  <c:v>42309</c:v>
                </c:pt>
                <c:pt idx="306">
                  <c:v>42310</c:v>
                </c:pt>
                <c:pt idx="307">
                  <c:v>42311</c:v>
                </c:pt>
                <c:pt idx="308">
                  <c:v>42312</c:v>
                </c:pt>
                <c:pt idx="309">
                  <c:v>42313</c:v>
                </c:pt>
                <c:pt idx="310">
                  <c:v>42314</c:v>
                </c:pt>
                <c:pt idx="311">
                  <c:v>42315</c:v>
                </c:pt>
                <c:pt idx="312">
                  <c:v>42316</c:v>
                </c:pt>
                <c:pt idx="313">
                  <c:v>42317</c:v>
                </c:pt>
                <c:pt idx="314">
                  <c:v>42318</c:v>
                </c:pt>
                <c:pt idx="315">
                  <c:v>42319</c:v>
                </c:pt>
                <c:pt idx="316">
                  <c:v>42320</c:v>
                </c:pt>
                <c:pt idx="317">
                  <c:v>42321</c:v>
                </c:pt>
                <c:pt idx="318">
                  <c:v>42322</c:v>
                </c:pt>
                <c:pt idx="319">
                  <c:v>42323</c:v>
                </c:pt>
                <c:pt idx="320">
                  <c:v>42324</c:v>
                </c:pt>
                <c:pt idx="321">
                  <c:v>42325</c:v>
                </c:pt>
                <c:pt idx="322">
                  <c:v>42326</c:v>
                </c:pt>
                <c:pt idx="323">
                  <c:v>42327</c:v>
                </c:pt>
                <c:pt idx="324">
                  <c:v>42328</c:v>
                </c:pt>
                <c:pt idx="325">
                  <c:v>42329</c:v>
                </c:pt>
                <c:pt idx="326">
                  <c:v>42330</c:v>
                </c:pt>
                <c:pt idx="327">
                  <c:v>42331</c:v>
                </c:pt>
                <c:pt idx="328">
                  <c:v>42332</c:v>
                </c:pt>
                <c:pt idx="329">
                  <c:v>42333</c:v>
                </c:pt>
                <c:pt idx="330">
                  <c:v>42334</c:v>
                </c:pt>
                <c:pt idx="331">
                  <c:v>42335</c:v>
                </c:pt>
                <c:pt idx="332">
                  <c:v>42336</c:v>
                </c:pt>
                <c:pt idx="333">
                  <c:v>42337</c:v>
                </c:pt>
                <c:pt idx="334">
                  <c:v>42338</c:v>
                </c:pt>
                <c:pt idx="335">
                  <c:v>42339</c:v>
                </c:pt>
                <c:pt idx="336">
                  <c:v>42340</c:v>
                </c:pt>
                <c:pt idx="337">
                  <c:v>42341</c:v>
                </c:pt>
                <c:pt idx="338">
                  <c:v>42342</c:v>
                </c:pt>
                <c:pt idx="339">
                  <c:v>42343</c:v>
                </c:pt>
                <c:pt idx="340">
                  <c:v>42344</c:v>
                </c:pt>
                <c:pt idx="341">
                  <c:v>42345</c:v>
                </c:pt>
                <c:pt idx="342">
                  <c:v>42346</c:v>
                </c:pt>
                <c:pt idx="343">
                  <c:v>42347</c:v>
                </c:pt>
                <c:pt idx="344">
                  <c:v>42348</c:v>
                </c:pt>
                <c:pt idx="345">
                  <c:v>42349</c:v>
                </c:pt>
                <c:pt idx="346">
                  <c:v>42350</c:v>
                </c:pt>
                <c:pt idx="347">
                  <c:v>42351</c:v>
                </c:pt>
                <c:pt idx="348">
                  <c:v>42352</c:v>
                </c:pt>
                <c:pt idx="349">
                  <c:v>42353</c:v>
                </c:pt>
                <c:pt idx="350">
                  <c:v>42354</c:v>
                </c:pt>
                <c:pt idx="351">
                  <c:v>42355</c:v>
                </c:pt>
                <c:pt idx="352">
                  <c:v>42356</c:v>
                </c:pt>
                <c:pt idx="353">
                  <c:v>42357</c:v>
                </c:pt>
                <c:pt idx="354">
                  <c:v>42358</c:v>
                </c:pt>
              </c:numCache>
            </c:numRef>
          </c:cat>
          <c:val>
            <c:numRef>
              <c:f>Tabelle1!$B$2:$B$8000</c:f>
              <c:numCache>
                <c:formatCode>General</c:formatCode>
                <c:ptCount val="7999"/>
                <c:pt idx="0">
                  <c:v>1</c:v>
                </c:pt>
                <c:pt idx="1">
                  <c:v>1</c:v>
                </c:pt>
                <c:pt idx="2">
                  <c:v>0.99980000000000002</c:v>
                </c:pt>
                <c:pt idx="3">
                  <c:v>0.99980000000000002</c:v>
                </c:pt>
                <c:pt idx="4">
                  <c:v>0.99980000000000002</c:v>
                </c:pt>
                <c:pt idx="5">
                  <c:v>0.99980000000000002</c:v>
                </c:pt>
                <c:pt idx="6">
                  <c:v>1.0001</c:v>
                </c:pt>
                <c:pt idx="7">
                  <c:v>0.99990000000000001</c:v>
                </c:pt>
                <c:pt idx="8">
                  <c:v>1.0004</c:v>
                </c:pt>
                <c:pt idx="9">
                  <c:v>1.0001</c:v>
                </c:pt>
                <c:pt idx="10">
                  <c:v>1.0001</c:v>
                </c:pt>
                <c:pt idx="11">
                  <c:v>1.0001</c:v>
                </c:pt>
                <c:pt idx="12">
                  <c:v>1.0003</c:v>
                </c:pt>
                <c:pt idx="13">
                  <c:v>1.0005999999999999</c:v>
                </c:pt>
                <c:pt idx="14">
                  <c:v>1.0007999999999999</c:v>
                </c:pt>
                <c:pt idx="15">
                  <c:v>1.0021</c:v>
                </c:pt>
                <c:pt idx="16">
                  <c:v>1.0014000000000001</c:v>
                </c:pt>
                <c:pt idx="17">
                  <c:v>1.0014000000000001</c:v>
                </c:pt>
                <c:pt idx="18">
                  <c:v>1.0014000000000001</c:v>
                </c:pt>
                <c:pt idx="19">
                  <c:v>1.0013000000000001</c:v>
                </c:pt>
                <c:pt idx="20">
                  <c:v>1.0015000000000001</c:v>
                </c:pt>
                <c:pt idx="21">
                  <c:v>1.0004</c:v>
                </c:pt>
                <c:pt idx="22">
                  <c:v>1.002</c:v>
                </c:pt>
                <c:pt idx="23">
                  <c:v>1.0039</c:v>
                </c:pt>
                <c:pt idx="24">
                  <c:v>1.0039</c:v>
                </c:pt>
                <c:pt idx="25">
                  <c:v>1.004</c:v>
                </c:pt>
                <c:pt idx="26">
                  <c:v>1.0038</c:v>
                </c:pt>
                <c:pt idx="27">
                  <c:v>1.0032000000000001</c:v>
                </c:pt>
                <c:pt idx="28">
                  <c:v>1.0034000000000001</c:v>
                </c:pt>
                <c:pt idx="29">
                  <c:v>1.0036</c:v>
                </c:pt>
                <c:pt idx="30">
                  <c:v>1.0039</c:v>
                </c:pt>
                <c:pt idx="31">
                  <c:v>1.0039</c:v>
                </c:pt>
                <c:pt idx="32">
                  <c:v>1.0039</c:v>
                </c:pt>
                <c:pt idx="33">
                  <c:v>1.0042</c:v>
                </c:pt>
                <c:pt idx="34">
                  <c:v>1.0038</c:v>
                </c:pt>
                <c:pt idx="35">
                  <c:v>1.0038</c:v>
                </c:pt>
                <c:pt idx="36">
                  <c:v>1.0036</c:v>
                </c:pt>
                <c:pt idx="37">
                  <c:v>1.0039</c:v>
                </c:pt>
                <c:pt idx="38">
                  <c:v>1</c:v>
                </c:pt>
                <c:pt idx="39">
                  <c:v>1</c:v>
                </c:pt>
                <c:pt idx="40">
                  <c:v>0.8</c:v>
                </c:pt>
                <c:pt idx="41">
                  <c:v>1.0033000000000001</c:v>
                </c:pt>
                <c:pt idx="42">
                  <c:v>1.0035000000000001</c:v>
                </c:pt>
                <c:pt idx="43">
                  <c:v>1.0046999999999999</c:v>
                </c:pt>
                <c:pt idx="44">
                  <c:v>1.0047999999999999</c:v>
                </c:pt>
                <c:pt idx="45">
                  <c:v>1.0048999999999999</c:v>
                </c:pt>
                <c:pt idx="46">
                  <c:v>1.0048999999999999</c:v>
                </c:pt>
                <c:pt idx="47">
                  <c:v>1.0046999999999999</c:v>
                </c:pt>
                <c:pt idx="48">
                  <c:v>1.0042</c:v>
                </c:pt>
                <c:pt idx="49">
                  <c:v>1.0044</c:v>
                </c:pt>
                <c:pt idx="50">
                  <c:v>1.0047999999999999</c:v>
                </c:pt>
                <c:pt idx="51">
                  <c:v>1.0051000000000001</c:v>
                </c:pt>
                <c:pt idx="52">
                  <c:v>1.0051000000000001</c:v>
                </c:pt>
                <c:pt idx="53">
                  <c:v>1.0052000000000001</c:v>
                </c:pt>
                <c:pt idx="54">
                  <c:v>1.0059</c:v>
                </c:pt>
                <c:pt idx="55">
                  <c:v>1.0066999999999999</c:v>
                </c:pt>
                <c:pt idx="56">
                  <c:v>1.0078</c:v>
                </c:pt>
                <c:pt idx="57">
                  <c:v>1.0099</c:v>
                </c:pt>
                <c:pt idx="58">
                  <c:v>1.0098</c:v>
                </c:pt>
                <c:pt idx="59">
                  <c:v>1.0099</c:v>
                </c:pt>
                <c:pt idx="60">
                  <c:v>1.0099</c:v>
                </c:pt>
                <c:pt idx="61">
                  <c:v>1.0093000000000001</c:v>
                </c:pt>
                <c:pt idx="62">
                  <c:v>1.008</c:v>
                </c:pt>
                <c:pt idx="63">
                  <c:v>1.0086999999999999</c:v>
                </c:pt>
                <c:pt idx="64">
                  <c:v>1.0104</c:v>
                </c:pt>
                <c:pt idx="65">
                  <c:v>1.0106999999999999</c:v>
                </c:pt>
                <c:pt idx="66">
                  <c:v>1.0106999999999999</c:v>
                </c:pt>
                <c:pt idx="67">
                  <c:v>1.0107999999999999</c:v>
                </c:pt>
                <c:pt idx="68">
                  <c:v>1.0122</c:v>
                </c:pt>
                <c:pt idx="69">
                  <c:v>1.0148999999999999</c:v>
                </c:pt>
                <c:pt idx="70">
                  <c:v>1.0181</c:v>
                </c:pt>
                <c:pt idx="71">
                  <c:v>1.0168999999999999</c:v>
                </c:pt>
                <c:pt idx="72">
                  <c:v>1.0175000000000001</c:v>
                </c:pt>
                <c:pt idx="73">
                  <c:v>1.0175000000000001</c:v>
                </c:pt>
                <c:pt idx="74">
                  <c:v>1.0176000000000001</c:v>
                </c:pt>
                <c:pt idx="75">
                  <c:v>1.0175000000000001</c:v>
                </c:pt>
                <c:pt idx="76">
                  <c:v>1.0157</c:v>
                </c:pt>
                <c:pt idx="77">
                  <c:v>1.0149999999999999</c:v>
                </c:pt>
                <c:pt idx="78">
                  <c:v>1.0158</c:v>
                </c:pt>
                <c:pt idx="79">
                  <c:v>1.016</c:v>
                </c:pt>
                <c:pt idx="80">
                  <c:v>1.016</c:v>
                </c:pt>
                <c:pt idx="81">
                  <c:v>1.0161</c:v>
                </c:pt>
                <c:pt idx="82">
                  <c:v>1.0139</c:v>
                </c:pt>
                <c:pt idx="83">
                  <c:v>1.0143</c:v>
                </c:pt>
                <c:pt idx="84">
                  <c:v>1.0136000000000001</c:v>
                </c:pt>
                <c:pt idx="85">
                  <c:v>1.0136000000000001</c:v>
                </c:pt>
                <c:pt idx="86">
                  <c:v>1.0142</c:v>
                </c:pt>
                <c:pt idx="87">
                  <c:v>1.0142</c:v>
                </c:pt>
                <c:pt idx="88">
                  <c:v>1.0143</c:v>
                </c:pt>
                <c:pt idx="89">
                  <c:v>1.016</c:v>
                </c:pt>
                <c:pt idx="90">
                  <c:v>1.0170999999999999</c:v>
                </c:pt>
                <c:pt idx="91">
                  <c:v>1.0176000000000001</c:v>
                </c:pt>
                <c:pt idx="92">
                  <c:v>1.0166999999999999</c:v>
                </c:pt>
                <c:pt idx="93">
                  <c:v>1.0163</c:v>
                </c:pt>
                <c:pt idx="94">
                  <c:v>1.0164</c:v>
                </c:pt>
                <c:pt idx="95">
                  <c:v>1.0164</c:v>
                </c:pt>
                <c:pt idx="96">
                  <c:v>1.0166999999999999</c:v>
                </c:pt>
                <c:pt idx="97">
                  <c:v>1.0185</c:v>
                </c:pt>
                <c:pt idx="98">
                  <c:v>1.0190999999999999</c:v>
                </c:pt>
                <c:pt idx="99">
                  <c:v>1.0204</c:v>
                </c:pt>
                <c:pt idx="100">
                  <c:v>1.0221</c:v>
                </c:pt>
                <c:pt idx="101">
                  <c:v>1.0221</c:v>
                </c:pt>
                <c:pt idx="102">
                  <c:v>1.0222</c:v>
                </c:pt>
                <c:pt idx="103">
                  <c:v>1.0226999999999999</c:v>
                </c:pt>
                <c:pt idx="104">
                  <c:v>1.0221</c:v>
                </c:pt>
                <c:pt idx="105">
                  <c:v>1.0233000000000001</c:v>
                </c:pt>
                <c:pt idx="106">
                  <c:v>1.0214000000000001</c:v>
                </c:pt>
                <c:pt idx="107">
                  <c:v>1.0188999999999999</c:v>
                </c:pt>
                <c:pt idx="108">
                  <c:v>1.0188999999999999</c:v>
                </c:pt>
                <c:pt idx="109">
                  <c:v>1.0189999999999999</c:v>
                </c:pt>
                <c:pt idx="110">
                  <c:v>1.0199</c:v>
                </c:pt>
                <c:pt idx="111">
                  <c:v>1.0190999999999999</c:v>
                </c:pt>
                <c:pt idx="112">
                  <c:v>1.0181</c:v>
                </c:pt>
                <c:pt idx="113">
                  <c:v>1.0170999999999999</c:v>
                </c:pt>
                <c:pt idx="114">
                  <c:v>1.0170999999999999</c:v>
                </c:pt>
                <c:pt idx="115">
                  <c:v>1.0172000000000001</c:v>
                </c:pt>
                <c:pt idx="116">
                  <c:v>1.0172000000000001</c:v>
                </c:pt>
                <c:pt idx="117">
                  <c:v>1.0182</c:v>
                </c:pt>
                <c:pt idx="118">
                  <c:v>1.0166999999999999</c:v>
                </c:pt>
                <c:pt idx="119">
                  <c:v>1.0105</c:v>
                </c:pt>
                <c:pt idx="120">
                  <c:v>1.0069999999999999</c:v>
                </c:pt>
                <c:pt idx="121">
                  <c:v>1.0068999999999999</c:v>
                </c:pt>
                <c:pt idx="122">
                  <c:v>1.0068999999999999</c:v>
                </c:pt>
                <c:pt idx="123">
                  <c:v>1.0068999999999999</c:v>
                </c:pt>
                <c:pt idx="124">
                  <c:v>1.0068999999999999</c:v>
                </c:pt>
                <c:pt idx="125">
                  <c:v>1.0027999999999999</c:v>
                </c:pt>
                <c:pt idx="126">
                  <c:v>0.99919999999999998</c:v>
                </c:pt>
                <c:pt idx="127">
                  <c:v>0.99909999999999999</c:v>
                </c:pt>
                <c:pt idx="128">
                  <c:v>1.0025999999999999</c:v>
                </c:pt>
                <c:pt idx="129">
                  <c:v>1.0026999999999999</c:v>
                </c:pt>
                <c:pt idx="130">
                  <c:v>1.0026999999999999</c:v>
                </c:pt>
                <c:pt idx="131">
                  <c:v>1.0024</c:v>
                </c:pt>
                <c:pt idx="132">
                  <c:v>0.99970000000000003</c:v>
                </c:pt>
                <c:pt idx="133">
                  <c:v>0.99850000000000005</c:v>
                </c:pt>
                <c:pt idx="134">
                  <c:v>0.99850000000000005</c:v>
                </c:pt>
                <c:pt idx="135">
                  <c:v>0.99880000000000002</c:v>
                </c:pt>
                <c:pt idx="136">
                  <c:v>0.99880000000000002</c:v>
                </c:pt>
                <c:pt idx="137">
                  <c:v>0.99890000000000001</c:v>
                </c:pt>
                <c:pt idx="138">
                  <c:v>1.0002</c:v>
                </c:pt>
                <c:pt idx="139">
                  <c:v>1.0034000000000001</c:v>
                </c:pt>
                <c:pt idx="140">
                  <c:v>1.0035000000000001</c:v>
                </c:pt>
                <c:pt idx="141">
                  <c:v>1.0041</c:v>
                </c:pt>
                <c:pt idx="142">
                  <c:v>1.0048999999999999</c:v>
                </c:pt>
                <c:pt idx="143">
                  <c:v>1.0049999999999999</c:v>
                </c:pt>
                <c:pt idx="144">
                  <c:v>1.0049999999999999</c:v>
                </c:pt>
                <c:pt idx="145">
                  <c:v>1.0047999999999999</c:v>
                </c:pt>
                <c:pt idx="146">
                  <c:v>1.0051000000000001</c:v>
                </c:pt>
                <c:pt idx="147">
                  <c:v>1.0056</c:v>
                </c:pt>
                <c:pt idx="148">
                  <c:v>1.0041</c:v>
                </c:pt>
                <c:pt idx="149">
                  <c:v>1.0029999999999999</c:v>
                </c:pt>
                <c:pt idx="150">
                  <c:v>1.0031000000000001</c:v>
                </c:pt>
                <c:pt idx="151">
                  <c:v>1.0031000000000001</c:v>
                </c:pt>
                <c:pt idx="152">
                  <c:v>1.0031000000000001</c:v>
                </c:pt>
                <c:pt idx="153">
                  <c:v>0.99839999999999995</c:v>
                </c:pt>
                <c:pt idx="154">
                  <c:v>0.99509999999999998</c:v>
                </c:pt>
                <c:pt idx="155">
                  <c:v>0.99409999999999998</c:v>
                </c:pt>
                <c:pt idx="156">
                  <c:v>0.99450000000000005</c:v>
                </c:pt>
                <c:pt idx="157">
                  <c:v>0.99460000000000004</c:v>
                </c:pt>
                <c:pt idx="158">
                  <c:v>0.99460000000000004</c:v>
                </c:pt>
                <c:pt idx="159">
                  <c:v>0.99270000000000003</c:v>
                </c:pt>
                <c:pt idx="160">
                  <c:v>0.99050000000000005</c:v>
                </c:pt>
                <c:pt idx="161">
                  <c:v>0.99060000000000004</c:v>
                </c:pt>
                <c:pt idx="162">
                  <c:v>0.99309999999999998</c:v>
                </c:pt>
                <c:pt idx="163">
                  <c:v>0.99209999999999998</c:v>
                </c:pt>
                <c:pt idx="164">
                  <c:v>0.99219999999999997</c:v>
                </c:pt>
                <c:pt idx="165">
                  <c:v>0.99219999999999997</c:v>
                </c:pt>
                <c:pt idx="166">
                  <c:v>0.99060000000000004</c:v>
                </c:pt>
                <c:pt idx="167">
                  <c:v>0.99009999999999998</c:v>
                </c:pt>
                <c:pt idx="168">
                  <c:v>0.98950000000000005</c:v>
                </c:pt>
                <c:pt idx="169">
                  <c:v>0.98870000000000002</c:v>
                </c:pt>
                <c:pt idx="170">
                  <c:v>0.98919999999999997</c:v>
                </c:pt>
                <c:pt idx="171">
                  <c:v>0.98929999999999996</c:v>
                </c:pt>
                <c:pt idx="172">
                  <c:v>0.98929999999999996</c:v>
                </c:pt>
                <c:pt idx="173">
                  <c:v>0.99180000000000001</c:v>
                </c:pt>
                <c:pt idx="174">
                  <c:v>0.99419999999999997</c:v>
                </c:pt>
                <c:pt idx="175">
                  <c:v>0.99360000000000004</c:v>
                </c:pt>
                <c:pt idx="176">
                  <c:v>0.99280000000000002</c:v>
                </c:pt>
                <c:pt idx="177">
                  <c:v>0.99229999999999996</c:v>
                </c:pt>
                <c:pt idx="178">
                  <c:v>0.99239999999999995</c:v>
                </c:pt>
                <c:pt idx="179">
                  <c:v>0.99239999999999995</c:v>
                </c:pt>
                <c:pt idx="180">
                  <c:v>0.98799999999999999</c:v>
                </c:pt>
                <c:pt idx="181">
                  <c:v>0.98870000000000002</c:v>
                </c:pt>
                <c:pt idx="182">
                  <c:v>0.99039999999999995</c:v>
                </c:pt>
                <c:pt idx="183">
                  <c:v>0.99029999999999996</c:v>
                </c:pt>
                <c:pt idx="184">
                  <c:v>0.99070000000000003</c:v>
                </c:pt>
                <c:pt idx="185">
                  <c:v>0.99070000000000003</c:v>
                </c:pt>
                <c:pt idx="186">
                  <c:v>0.99080000000000001</c:v>
                </c:pt>
                <c:pt idx="187">
                  <c:v>0.98919999999999997</c:v>
                </c:pt>
                <c:pt idx="188">
                  <c:v>0.99</c:v>
                </c:pt>
                <c:pt idx="189">
                  <c:v>0.98839999999999995</c:v>
                </c:pt>
                <c:pt idx="190">
                  <c:v>0.98939999999999995</c:v>
                </c:pt>
                <c:pt idx="191">
                  <c:v>0.98909999999999998</c:v>
                </c:pt>
                <c:pt idx="192">
                  <c:v>0.98909999999999998</c:v>
                </c:pt>
                <c:pt idx="193">
                  <c:v>0.98909999999999998</c:v>
                </c:pt>
                <c:pt idx="194">
                  <c:v>0.9919</c:v>
                </c:pt>
                <c:pt idx="195">
                  <c:v>0.99299999999999999</c:v>
                </c:pt>
                <c:pt idx="196">
                  <c:v>0.99519999999999997</c:v>
                </c:pt>
                <c:pt idx="197">
                  <c:v>0.99739999999999995</c:v>
                </c:pt>
                <c:pt idx="198">
                  <c:v>0.99890000000000001</c:v>
                </c:pt>
                <c:pt idx="199">
                  <c:v>0.99890000000000001</c:v>
                </c:pt>
                <c:pt idx="200">
                  <c:v>0.999</c:v>
                </c:pt>
                <c:pt idx="201">
                  <c:v>0.99990000000000001</c:v>
                </c:pt>
                <c:pt idx="202">
                  <c:v>0.99850000000000005</c:v>
                </c:pt>
                <c:pt idx="203">
                  <c:v>0.99839999999999995</c:v>
                </c:pt>
                <c:pt idx="204">
                  <c:v>0.998</c:v>
                </c:pt>
                <c:pt idx="205">
                  <c:v>0.99750000000000005</c:v>
                </c:pt>
                <c:pt idx="206">
                  <c:v>0.99760000000000004</c:v>
                </c:pt>
                <c:pt idx="207">
                  <c:v>0.99760000000000004</c:v>
                </c:pt>
                <c:pt idx="208">
                  <c:v>0.99450000000000005</c:v>
                </c:pt>
                <c:pt idx="209">
                  <c:v>0.99560000000000004</c:v>
                </c:pt>
                <c:pt idx="210">
                  <c:v>0.99660000000000004</c:v>
                </c:pt>
                <c:pt idx="211">
                  <c:v>0.99829999999999997</c:v>
                </c:pt>
                <c:pt idx="212">
                  <c:v>0.99850000000000005</c:v>
                </c:pt>
                <c:pt idx="213">
                  <c:v>0.99850000000000005</c:v>
                </c:pt>
                <c:pt idx="214">
                  <c:v>0.99850000000000005</c:v>
                </c:pt>
                <c:pt idx="215">
                  <c:v>1.0008999999999999</c:v>
                </c:pt>
                <c:pt idx="216">
                  <c:v>1.0012000000000001</c:v>
                </c:pt>
                <c:pt idx="217">
                  <c:v>1.0019</c:v>
                </c:pt>
                <c:pt idx="218">
                  <c:v>1.0019</c:v>
                </c:pt>
                <c:pt idx="219">
                  <c:v>1.0011000000000001</c:v>
                </c:pt>
                <c:pt idx="220">
                  <c:v>1.0012000000000001</c:v>
                </c:pt>
                <c:pt idx="221">
                  <c:v>1.0012000000000001</c:v>
                </c:pt>
                <c:pt idx="222">
                  <c:v>1.0024</c:v>
                </c:pt>
                <c:pt idx="223">
                  <c:v>0.99870000000000003</c:v>
                </c:pt>
                <c:pt idx="224">
                  <c:v>0.99329999999999996</c:v>
                </c:pt>
                <c:pt idx="225">
                  <c:v>0.99199999999999999</c:v>
                </c:pt>
                <c:pt idx="226">
                  <c:v>0.99119999999999997</c:v>
                </c:pt>
                <c:pt idx="227">
                  <c:v>0.99119999999999997</c:v>
                </c:pt>
                <c:pt idx="228">
                  <c:v>0.99129999999999996</c:v>
                </c:pt>
                <c:pt idx="229">
                  <c:v>0.99150000000000005</c:v>
                </c:pt>
                <c:pt idx="230">
                  <c:v>0.99119999999999997</c:v>
                </c:pt>
                <c:pt idx="231">
                  <c:v>0.98650000000000004</c:v>
                </c:pt>
                <c:pt idx="232">
                  <c:v>0.98160000000000003</c:v>
                </c:pt>
                <c:pt idx="233">
                  <c:v>0.9748</c:v>
                </c:pt>
                <c:pt idx="234">
                  <c:v>0.97489999999999999</c:v>
                </c:pt>
                <c:pt idx="235">
                  <c:v>0.97489999999999999</c:v>
                </c:pt>
                <c:pt idx="236">
                  <c:v>0.96419999999999995</c:v>
                </c:pt>
                <c:pt idx="237">
                  <c:v>0.97060000000000002</c:v>
                </c:pt>
                <c:pt idx="238">
                  <c:v>0.96940000000000004</c:v>
                </c:pt>
                <c:pt idx="239">
                  <c:v>0.97599999999999998</c:v>
                </c:pt>
                <c:pt idx="240">
                  <c:v>0.9768</c:v>
                </c:pt>
                <c:pt idx="241">
                  <c:v>0.9768</c:v>
                </c:pt>
                <c:pt idx="242">
                  <c:v>0.9768</c:v>
                </c:pt>
                <c:pt idx="243">
                  <c:v>0.97499999999999998</c:v>
                </c:pt>
                <c:pt idx="244">
                  <c:v>0.97009999999999996</c:v>
                </c:pt>
                <c:pt idx="245">
                  <c:v>0.97070000000000001</c:v>
                </c:pt>
                <c:pt idx="246">
                  <c:v>0.97599999999999998</c:v>
                </c:pt>
                <c:pt idx="247">
                  <c:v>0.97160000000000002</c:v>
                </c:pt>
                <c:pt idx="248">
                  <c:v>0.97170000000000001</c:v>
                </c:pt>
                <c:pt idx="249">
                  <c:v>0.97170000000000001</c:v>
                </c:pt>
                <c:pt idx="250">
                  <c:v>0.9728</c:v>
                </c:pt>
                <c:pt idx="251">
                  <c:v>0.97519999999999996</c:v>
                </c:pt>
                <c:pt idx="252">
                  <c:v>0.97640000000000005</c:v>
                </c:pt>
                <c:pt idx="253">
                  <c:v>0.97419999999999995</c:v>
                </c:pt>
                <c:pt idx="254">
                  <c:v>0.97270000000000001</c:v>
                </c:pt>
                <c:pt idx="255">
                  <c:v>0.97270000000000001</c:v>
                </c:pt>
                <c:pt idx="256">
                  <c:v>0.9728</c:v>
                </c:pt>
                <c:pt idx="257">
                  <c:v>0.97289999999999999</c:v>
                </c:pt>
                <c:pt idx="258">
                  <c:v>0.97299999999999998</c:v>
                </c:pt>
                <c:pt idx="259">
                  <c:v>0.9738</c:v>
                </c:pt>
                <c:pt idx="260">
                  <c:v>0.97299999999999998</c:v>
                </c:pt>
                <c:pt idx="261">
                  <c:v>0.96789999999999998</c:v>
                </c:pt>
                <c:pt idx="262">
                  <c:v>0.96799999999999997</c:v>
                </c:pt>
                <c:pt idx="263">
                  <c:v>0.96799999999999997</c:v>
                </c:pt>
                <c:pt idx="264">
                  <c:v>0.96930000000000005</c:v>
                </c:pt>
                <c:pt idx="265">
                  <c:v>0.96089999999999998</c:v>
                </c:pt>
                <c:pt idx="266">
                  <c:v>0.96099999999999997</c:v>
                </c:pt>
                <c:pt idx="267">
                  <c:v>0.95609999999999995</c:v>
                </c:pt>
                <c:pt idx="268">
                  <c:v>0.96009999999999995</c:v>
                </c:pt>
                <c:pt idx="269">
                  <c:v>0.96020000000000005</c:v>
                </c:pt>
                <c:pt idx="270">
                  <c:v>0.96020000000000005</c:v>
                </c:pt>
                <c:pt idx="271">
                  <c:v>0.95389999999999997</c:v>
                </c:pt>
                <c:pt idx="272">
                  <c:v>0.95099999999999996</c:v>
                </c:pt>
                <c:pt idx="273">
                  <c:v>0.95640000000000003</c:v>
                </c:pt>
                <c:pt idx="274">
                  <c:v>0.95509999999999995</c:v>
                </c:pt>
                <c:pt idx="275">
                  <c:v>0.95660000000000001</c:v>
                </c:pt>
                <c:pt idx="276">
                  <c:v>0.95660000000000001</c:v>
                </c:pt>
                <c:pt idx="277" formatCode="0%">
                  <c:v>0.95660000000000001</c:v>
                </c:pt>
                <c:pt idx="278" formatCode="0%">
                  <c:v>0.96319999999999995</c:v>
                </c:pt>
                <c:pt idx="279" formatCode="0%">
                  <c:v>0.96579999999999999</c:v>
                </c:pt>
                <c:pt idx="280" formatCode="0%">
                  <c:v>0.96840000000000004</c:v>
                </c:pt>
                <c:pt idx="281" formatCode="0%">
                  <c:v>0.96830000000000005</c:v>
                </c:pt>
                <c:pt idx="282" formatCode="0%">
                  <c:v>0.97050000000000003</c:v>
                </c:pt>
                <c:pt idx="283" formatCode="0%">
                  <c:v>0.97050000000000003</c:v>
                </c:pt>
                <c:pt idx="284" formatCode="0%">
                  <c:v>0.97060000000000002</c:v>
                </c:pt>
                <c:pt idx="285" formatCode="0%">
                  <c:v>0.97119999999999995</c:v>
                </c:pt>
                <c:pt idx="286" formatCode="0%">
                  <c:v>0.96850000000000003</c:v>
                </c:pt>
                <c:pt idx="287" formatCode="0%">
                  <c:v>0.96619999999999995</c:v>
                </c:pt>
                <c:pt idx="288" formatCode="0%">
                  <c:v>0.96960000000000002</c:v>
                </c:pt>
                <c:pt idx="289" formatCode="0%">
                  <c:v>0.97089999999999999</c:v>
                </c:pt>
                <c:pt idx="290" formatCode="0%">
                  <c:v>0.97089999999999999</c:v>
                </c:pt>
                <c:pt idx="291" formatCode="0%">
                  <c:v>0.97099999999999997</c:v>
                </c:pt>
                <c:pt idx="292" formatCode="0%">
                  <c:v>0.97170000000000001</c:v>
                </c:pt>
                <c:pt idx="293" formatCode="0%">
                  <c:v>0.97030000000000005</c:v>
                </c:pt>
                <c:pt idx="294" formatCode="0%">
                  <c:v>0.97250000000000003</c:v>
                </c:pt>
                <c:pt idx="295" formatCode="0%">
                  <c:v>0.98229999999999995</c:v>
                </c:pt>
                <c:pt idx="296" formatCode="0%">
                  <c:v>0.99109999999999998</c:v>
                </c:pt>
                <c:pt idx="297" formatCode="0%">
                  <c:v>0.99109999999999998</c:v>
                </c:pt>
                <c:pt idx="298" formatCode="0%">
                  <c:v>0.99119999999999997</c:v>
                </c:pt>
                <c:pt idx="299" formatCode="0%">
                  <c:v>0.99109999999999998</c:v>
                </c:pt>
                <c:pt idx="300" formatCode="0%">
                  <c:v>0.98899999999999999</c:v>
                </c:pt>
                <c:pt idx="301" formatCode="0%">
                  <c:v>0.99380000000000002</c:v>
                </c:pt>
                <c:pt idx="302" formatCode="0%">
                  <c:v>0.99260000000000004</c:v>
                </c:pt>
                <c:pt idx="303" formatCode="0%">
                  <c:v>0.9919</c:v>
                </c:pt>
                <c:pt idx="304" formatCode="0%">
                  <c:v>0.99199999999999999</c:v>
                </c:pt>
                <c:pt idx="305" formatCode="0%">
                  <c:v>0.99199999999999999</c:v>
                </c:pt>
                <c:pt idx="306" formatCode="0%">
                  <c:v>0.99370000000000003</c:v>
                </c:pt>
                <c:pt idx="307" formatCode="0%">
                  <c:v>0.99529999999999996</c:v>
                </c:pt>
                <c:pt idx="308" formatCode="0%">
                  <c:v>0.99470000000000003</c:v>
                </c:pt>
                <c:pt idx="309" formatCode="0%">
                  <c:v>0.99480000000000002</c:v>
                </c:pt>
                <c:pt idx="310" formatCode="0%">
                  <c:v>0.99639999999999995</c:v>
                </c:pt>
                <c:pt idx="311" formatCode="0%">
                  <c:v>0.99639999999999995</c:v>
                </c:pt>
                <c:pt idx="312" formatCode="0%">
                  <c:v>0.99639999999999995</c:v>
                </c:pt>
                <c:pt idx="313" formatCode="0%">
                  <c:v>0.99250000000000005</c:v>
                </c:pt>
                <c:pt idx="314" formatCode="0%">
                  <c:v>0.99370000000000003</c:v>
                </c:pt>
                <c:pt idx="315" formatCode="0%">
                  <c:v>0.99429999999999996</c:v>
                </c:pt>
                <c:pt idx="316" formatCode="0%">
                  <c:v>0.9899</c:v>
                </c:pt>
                <c:pt idx="317" formatCode="0%">
                  <c:v>0.9879</c:v>
                </c:pt>
                <c:pt idx="318" formatCode="0%">
                  <c:v>0.9879</c:v>
                </c:pt>
                <c:pt idx="319" formatCode="0%">
                  <c:v>0.98799999999999999</c:v>
                </c:pt>
                <c:pt idx="320" formatCode="0%">
                  <c:v>0.9899</c:v>
                </c:pt>
                <c:pt idx="321" formatCode="0%">
                  <c:v>0.99629999999999996</c:v>
                </c:pt>
                <c:pt idx="322" formatCode="0%">
                  <c:v>0.99719999999999998</c:v>
                </c:pt>
                <c:pt idx="323" formatCode="0%">
                  <c:v>0.99909999999999999</c:v>
                </c:pt>
                <c:pt idx="324" formatCode="0%">
                  <c:v>1.0003</c:v>
                </c:pt>
                <c:pt idx="325" formatCode="0%">
                  <c:v>1.0004</c:v>
                </c:pt>
                <c:pt idx="326" formatCode="0%">
                  <c:v>1.0004</c:v>
                </c:pt>
                <c:pt idx="327" formatCode="0%">
                  <c:v>1.0003</c:v>
                </c:pt>
                <c:pt idx="328" formatCode="0%">
                  <c:v>0.99770000000000003</c:v>
                </c:pt>
                <c:pt idx="329" formatCode="0%">
                  <c:v>1.0029999999999999</c:v>
                </c:pt>
                <c:pt idx="330" formatCode="0%">
                  <c:v>1.0057</c:v>
                </c:pt>
                <c:pt idx="331" formatCode="0%">
                  <c:v>1.0057</c:v>
                </c:pt>
                <c:pt idx="332" formatCode="0%">
                  <c:v>1.0058</c:v>
                </c:pt>
                <c:pt idx="333" formatCode="0%">
                  <c:v>1.0058</c:v>
                </c:pt>
                <c:pt idx="334" formatCode="0%">
                  <c:v>1.0076000000000001</c:v>
                </c:pt>
                <c:pt idx="335" formatCode="0%">
                  <c:v>1.0039</c:v>
                </c:pt>
                <c:pt idx="336" formatCode="0%">
                  <c:v>1.0029999999999999</c:v>
                </c:pt>
                <c:pt idx="337" formatCode="0%">
                  <c:v>0.99129999999999996</c:v>
                </c:pt>
                <c:pt idx="338" formatCode="0%">
                  <c:v>0.9889</c:v>
                </c:pt>
                <c:pt idx="339" formatCode="0%">
                  <c:v>0.9889</c:v>
                </c:pt>
                <c:pt idx="340" formatCode="0%">
                  <c:v>0.9889</c:v>
                </c:pt>
                <c:pt idx="341" formatCode="0%">
                  <c:v>0.99170000000000003</c:v>
                </c:pt>
                <c:pt idx="342" formatCode="0%">
                  <c:v>0.98680000000000001</c:v>
                </c:pt>
                <c:pt idx="343" formatCode="0%">
                  <c:v>0.98429999999999995</c:v>
                </c:pt>
                <c:pt idx="344" formatCode="0%">
                  <c:v>0.9849</c:v>
                </c:pt>
                <c:pt idx="345" formatCode="0%">
                  <c:v>0.97799999999999998</c:v>
                </c:pt>
                <c:pt idx="346" formatCode="0%">
                  <c:v>0.97799999999999998</c:v>
                </c:pt>
                <c:pt idx="347" formatCode="0%">
                  <c:v>0.97809999999999997</c:v>
                </c:pt>
                <c:pt idx="348" formatCode="0%">
                  <c:v>0.97270000000000001</c:v>
                </c:pt>
                <c:pt idx="349" formatCode="0%">
                  <c:v>0.97870000000000001</c:v>
                </c:pt>
                <c:pt idx="350" formatCode="0%">
                  <c:v>0.98050000000000004</c:v>
                </c:pt>
                <c:pt idx="351" formatCode="0%">
                  <c:v>0.98619999999999997</c:v>
                </c:pt>
                <c:pt idx="352" formatCode="0%">
                  <c:v>0.98350000000000004</c:v>
                </c:pt>
                <c:pt idx="353" formatCode="0%">
                  <c:v>0.98360000000000003</c:v>
                </c:pt>
                <c:pt idx="354" formatCode="0%">
                  <c:v>0.98360000000000003</c:v>
                </c:pt>
              </c:numCache>
            </c:numRef>
          </c:val>
          <c:smooth val="0"/>
          <c:extLst>
            <c:ext xmlns:c16="http://schemas.microsoft.com/office/drawing/2014/chart" uri="{C3380CC4-5D6E-409C-BE32-E72D297353CC}">
              <c16:uniqueId val="{00000000-667D-4B47-A104-311D517F7B75}"/>
            </c:ext>
          </c:extLst>
        </c:ser>
        <c:ser>
          <c:idx val="1"/>
          <c:order val="1"/>
          <c:tx>
            <c:strRef>
              <c:f>Tabelle1!$C$1</c:f>
              <c:strCache>
                <c:ptCount val="1"/>
                <c:pt idx="0">
                  <c:v>Benchmark</c:v>
                </c:pt>
              </c:strCache>
            </c:strRef>
          </c:tx>
          <c:spPr>
            <a:ln w="19050" cap="rnd">
              <a:solidFill>
                <a:schemeClr val="accent5"/>
              </a:solidFill>
              <a:round/>
            </a:ln>
            <a:effectLst/>
          </c:spPr>
          <c:marker>
            <c:symbol val="none"/>
          </c:marker>
          <c:cat>
            <c:numRef>
              <c:f>Tabelle1!$A$2:$A$8000</c:f>
              <c:numCache>
                <c:formatCode>m/d/yyyy</c:formatCode>
                <c:ptCount val="7999"/>
                <c:pt idx="0">
                  <c:v>42004</c:v>
                </c:pt>
                <c:pt idx="1">
                  <c:v>42005</c:v>
                </c:pt>
                <c:pt idx="2">
                  <c:v>42006</c:v>
                </c:pt>
                <c:pt idx="3">
                  <c:v>42007</c:v>
                </c:pt>
                <c:pt idx="4">
                  <c:v>42008</c:v>
                </c:pt>
                <c:pt idx="5">
                  <c:v>42009</c:v>
                </c:pt>
                <c:pt idx="6">
                  <c:v>42010</c:v>
                </c:pt>
                <c:pt idx="7">
                  <c:v>42011</c:v>
                </c:pt>
                <c:pt idx="8">
                  <c:v>42012</c:v>
                </c:pt>
                <c:pt idx="9">
                  <c:v>42013</c:v>
                </c:pt>
                <c:pt idx="10">
                  <c:v>42014</c:v>
                </c:pt>
                <c:pt idx="11">
                  <c:v>42015</c:v>
                </c:pt>
                <c:pt idx="12">
                  <c:v>42016</c:v>
                </c:pt>
                <c:pt idx="13">
                  <c:v>42017</c:v>
                </c:pt>
                <c:pt idx="14">
                  <c:v>42018</c:v>
                </c:pt>
                <c:pt idx="15">
                  <c:v>42019</c:v>
                </c:pt>
                <c:pt idx="16">
                  <c:v>42020</c:v>
                </c:pt>
                <c:pt idx="17">
                  <c:v>42021</c:v>
                </c:pt>
                <c:pt idx="18">
                  <c:v>42022</c:v>
                </c:pt>
                <c:pt idx="19">
                  <c:v>42023</c:v>
                </c:pt>
                <c:pt idx="20">
                  <c:v>42024</c:v>
                </c:pt>
                <c:pt idx="21">
                  <c:v>42025</c:v>
                </c:pt>
                <c:pt idx="22">
                  <c:v>42026</c:v>
                </c:pt>
                <c:pt idx="23">
                  <c:v>42027</c:v>
                </c:pt>
                <c:pt idx="24">
                  <c:v>42028</c:v>
                </c:pt>
                <c:pt idx="25">
                  <c:v>42029</c:v>
                </c:pt>
                <c:pt idx="26">
                  <c:v>42030</c:v>
                </c:pt>
                <c:pt idx="27">
                  <c:v>42031</c:v>
                </c:pt>
                <c:pt idx="28">
                  <c:v>42032</c:v>
                </c:pt>
                <c:pt idx="29">
                  <c:v>42033</c:v>
                </c:pt>
                <c:pt idx="30">
                  <c:v>42034</c:v>
                </c:pt>
                <c:pt idx="31">
                  <c:v>42035</c:v>
                </c:pt>
                <c:pt idx="32">
                  <c:v>42036</c:v>
                </c:pt>
                <c:pt idx="33">
                  <c:v>42037</c:v>
                </c:pt>
                <c:pt idx="34">
                  <c:v>42038</c:v>
                </c:pt>
                <c:pt idx="35">
                  <c:v>42039</c:v>
                </c:pt>
                <c:pt idx="36">
                  <c:v>42040</c:v>
                </c:pt>
                <c:pt idx="37">
                  <c:v>42041</c:v>
                </c:pt>
                <c:pt idx="38">
                  <c:v>42042</c:v>
                </c:pt>
                <c:pt idx="39">
                  <c:v>42043</c:v>
                </c:pt>
                <c:pt idx="40">
                  <c:v>42044</c:v>
                </c:pt>
                <c:pt idx="41">
                  <c:v>42045</c:v>
                </c:pt>
                <c:pt idx="42">
                  <c:v>42046</c:v>
                </c:pt>
                <c:pt idx="43">
                  <c:v>42047</c:v>
                </c:pt>
                <c:pt idx="44">
                  <c:v>42048</c:v>
                </c:pt>
                <c:pt idx="45">
                  <c:v>42049</c:v>
                </c:pt>
                <c:pt idx="46">
                  <c:v>42050</c:v>
                </c:pt>
                <c:pt idx="47">
                  <c:v>42051</c:v>
                </c:pt>
                <c:pt idx="48">
                  <c:v>42052</c:v>
                </c:pt>
                <c:pt idx="49">
                  <c:v>42053</c:v>
                </c:pt>
                <c:pt idx="50">
                  <c:v>42054</c:v>
                </c:pt>
                <c:pt idx="51">
                  <c:v>42055</c:v>
                </c:pt>
                <c:pt idx="52">
                  <c:v>42056</c:v>
                </c:pt>
                <c:pt idx="53">
                  <c:v>42057</c:v>
                </c:pt>
                <c:pt idx="54">
                  <c:v>42058</c:v>
                </c:pt>
                <c:pt idx="55">
                  <c:v>42059</c:v>
                </c:pt>
                <c:pt idx="56">
                  <c:v>42060</c:v>
                </c:pt>
                <c:pt idx="57">
                  <c:v>42061</c:v>
                </c:pt>
                <c:pt idx="58">
                  <c:v>42062</c:v>
                </c:pt>
                <c:pt idx="59">
                  <c:v>42063</c:v>
                </c:pt>
                <c:pt idx="60">
                  <c:v>42064</c:v>
                </c:pt>
                <c:pt idx="61">
                  <c:v>42065</c:v>
                </c:pt>
                <c:pt idx="62">
                  <c:v>42066</c:v>
                </c:pt>
                <c:pt idx="63">
                  <c:v>42067</c:v>
                </c:pt>
                <c:pt idx="64">
                  <c:v>42068</c:v>
                </c:pt>
                <c:pt idx="65">
                  <c:v>42069</c:v>
                </c:pt>
                <c:pt idx="66">
                  <c:v>42070</c:v>
                </c:pt>
                <c:pt idx="67">
                  <c:v>42071</c:v>
                </c:pt>
                <c:pt idx="68">
                  <c:v>42072</c:v>
                </c:pt>
                <c:pt idx="69">
                  <c:v>42073</c:v>
                </c:pt>
                <c:pt idx="70">
                  <c:v>42074</c:v>
                </c:pt>
                <c:pt idx="71">
                  <c:v>42075</c:v>
                </c:pt>
                <c:pt idx="72">
                  <c:v>42076</c:v>
                </c:pt>
                <c:pt idx="73">
                  <c:v>42077</c:v>
                </c:pt>
                <c:pt idx="74">
                  <c:v>42078</c:v>
                </c:pt>
                <c:pt idx="75">
                  <c:v>42079</c:v>
                </c:pt>
                <c:pt idx="76">
                  <c:v>42080</c:v>
                </c:pt>
                <c:pt idx="77">
                  <c:v>42081</c:v>
                </c:pt>
                <c:pt idx="78">
                  <c:v>42082</c:v>
                </c:pt>
                <c:pt idx="79">
                  <c:v>42083</c:v>
                </c:pt>
                <c:pt idx="80">
                  <c:v>42084</c:v>
                </c:pt>
                <c:pt idx="81">
                  <c:v>42085</c:v>
                </c:pt>
                <c:pt idx="82">
                  <c:v>42086</c:v>
                </c:pt>
                <c:pt idx="83">
                  <c:v>42087</c:v>
                </c:pt>
                <c:pt idx="84">
                  <c:v>42088</c:v>
                </c:pt>
                <c:pt idx="85">
                  <c:v>42089</c:v>
                </c:pt>
                <c:pt idx="86">
                  <c:v>42090</c:v>
                </c:pt>
                <c:pt idx="87">
                  <c:v>42091</c:v>
                </c:pt>
                <c:pt idx="88">
                  <c:v>42092</c:v>
                </c:pt>
                <c:pt idx="89">
                  <c:v>42093</c:v>
                </c:pt>
                <c:pt idx="90">
                  <c:v>42094</c:v>
                </c:pt>
                <c:pt idx="91">
                  <c:v>42095</c:v>
                </c:pt>
                <c:pt idx="92">
                  <c:v>42096</c:v>
                </c:pt>
                <c:pt idx="93">
                  <c:v>42097</c:v>
                </c:pt>
                <c:pt idx="94">
                  <c:v>42098</c:v>
                </c:pt>
                <c:pt idx="95">
                  <c:v>42099</c:v>
                </c:pt>
                <c:pt idx="96">
                  <c:v>42100</c:v>
                </c:pt>
                <c:pt idx="97">
                  <c:v>42101</c:v>
                </c:pt>
                <c:pt idx="98">
                  <c:v>42102</c:v>
                </c:pt>
                <c:pt idx="99">
                  <c:v>42103</c:v>
                </c:pt>
                <c:pt idx="100">
                  <c:v>42104</c:v>
                </c:pt>
                <c:pt idx="101">
                  <c:v>42105</c:v>
                </c:pt>
                <c:pt idx="102">
                  <c:v>42106</c:v>
                </c:pt>
                <c:pt idx="103">
                  <c:v>42107</c:v>
                </c:pt>
                <c:pt idx="104">
                  <c:v>42108</c:v>
                </c:pt>
                <c:pt idx="105">
                  <c:v>42109</c:v>
                </c:pt>
                <c:pt idx="106">
                  <c:v>42110</c:v>
                </c:pt>
                <c:pt idx="107">
                  <c:v>42111</c:v>
                </c:pt>
                <c:pt idx="108">
                  <c:v>42112</c:v>
                </c:pt>
                <c:pt idx="109">
                  <c:v>42113</c:v>
                </c:pt>
                <c:pt idx="110">
                  <c:v>42114</c:v>
                </c:pt>
                <c:pt idx="111">
                  <c:v>42115</c:v>
                </c:pt>
                <c:pt idx="112">
                  <c:v>42116</c:v>
                </c:pt>
                <c:pt idx="113">
                  <c:v>42117</c:v>
                </c:pt>
                <c:pt idx="114">
                  <c:v>42118</c:v>
                </c:pt>
                <c:pt idx="115">
                  <c:v>42119</c:v>
                </c:pt>
                <c:pt idx="116">
                  <c:v>42120</c:v>
                </c:pt>
                <c:pt idx="117">
                  <c:v>42121</c:v>
                </c:pt>
                <c:pt idx="118">
                  <c:v>42122</c:v>
                </c:pt>
                <c:pt idx="119">
                  <c:v>42123</c:v>
                </c:pt>
                <c:pt idx="120">
                  <c:v>42124</c:v>
                </c:pt>
                <c:pt idx="121">
                  <c:v>42125</c:v>
                </c:pt>
                <c:pt idx="122">
                  <c:v>42126</c:v>
                </c:pt>
                <c:pt idx="123">
                  <c:v>42127</c:v>
                </c:pt>
                <c:pt idx="124">
                  <c:v>42128</c:v>
                </c:pt>
                <c:pt idx="125">
                  <c:v>42129</c:v>
                </c:pt>
                <c:pt idx="126">
                  <c:v>42130</c:v>
                </c:pt>
                <c:pt idx="127">
                  <c:v>42131</c:v>
                </c:pt>
                <c:pt idx="128">
                  <c:v>42132</c:v>
                </c:pt>
                <c:pt idx="129">
                  <c:v>42133</c:v>
                </c:pt>
                <c:pt idx="130">
                  <c:v>42134</c:v>
                </c:pt>
                <c:pt idx="131">
                  <c:v>42135</c:v>
                </c:pt>
                <c:pt idx="132">
                  <c:v>42136</c:v>
                </c:pt>
                <c:pt idx="133">
                  <c:v>42137</c:v>
                </c:pt>
                <c:pt idx="134">
                  <c:v>42138</c:v>
                </c:pt>
                <c:pt idx="135">
                  <c:v>42139</c:v>
                </c:pt>
                <c:pt idx="136">
                  <c:v>42140</c:v>
                </c:pt>
                <c:pt idx="137">
                  <c:v>42141</c:v>
                </c:pt>
                <c:pt idx="138">
                  <c:v>42142</c:v>
                </c:pt>
                <c:pt idx="139">
                  <c:v>42143</c:v>
                </c:pt>
                <c:pt idx="140">
                  <c:v>42144</c:v>
                </c:pt>
                <c:pt idx="141">
                  <c:v>42145</c:v>
                </c:pt>
                <c:pt idx="142">
                  <c:v>42146</c:v>
                </c:pt>
                <c:pt idx="143">
                  <c:v>42147</c:v>
                </c:pt>
                <c:pt idx="144">
                  <c:v>42148</c:v>
                </c:pt>
                <c:pt idx="145">
                  <c:v>42149</c:v>
                </c:pt>
                <c:pt idx="146">
                  <c:v>42150</c:v>
                </c:pt>
                <c:pt idx="147">
                  <c:v>42151</c:v>
                </c:pt>
                <c:pt idx="148">
                  <c:v>42152</c:v>
                </c:pt>
                <c:pt idx="149">
                  <c:v>42153</c:v>
                </c:pt>
                <c:pt idx="150">
                  <c:v>42154</c:v>
                </c:pt>
                <c:pt idx="151">
                  <c:v>42155</c:v>
                </c:pt>
                <c:pt idx="152">
                  <c:v>42156</c:v>
                </c:pt>
                <c:pt idx="153">
                  <c:v>42157</c:v>
                </c:pt>
                <c:pt idx="154">
                  <c:v>42158</c:v>
                </c:pt>
                <c:pt idx="155">
                  <c:v>42159</c:v>
                </c:pt>
                <c:pt idx="156">
                  <c:v>42160</c:v>
                </c:pt>
                <c:pt idx="157">
                  <c:v>42161</c:v>
                </c:pt>
                <c:pt idx="158">
                  <c:v>42162</c:v>
                </c:pt>
                <c:pt idx="159">
                  <c:v>42163</c:v>
                </c:pt>
                <c:pt idx="160">
                  <c:v>42164</c:v>
                </c:pt>
                <c:pt idx="161">
                  <c:v>42165</c:v>
                </c:pt>
                <c:pt idx="162">
                  <c:v>42166</c:v>
                </c:pt>
                <c:pt idx="163">
                  <c:v>42167</c:v>
                </c:pt>
                <c:pt idx="164">
                  <c:v>42168</c:v>
                </c:pt>
                <c:pt idx="165">
                  <c:v>42169</c:v>
                </c:pt>
                <c:pt idx="166">
                  <c:v>42170</c:v>
                </c:pt>
                <c:pt idx="167">
                  <c:v>42171</c:v>
                </c:pt>
                <c:pt idx="168">
                  <c:v>42172</c:v>
                </c:pt>
                <c:pt idx="169">
                  <c:v>42173</c:v>
                </c:pt>
                <c:pt idx="170">
                  <c:v>42174</c:v>
                </c:pt>
                <c:pt idx="171">
                  <c:v>42175</c:v>
                </c:pt>
                <c:pt idx="172">
                  <c:v>42176</c:v>
                </c:pt>
                <c:pt idx="173">
                  <c:v>42177</c:v>
                </c:pt>
                <c:pt idx="174">
                  <c:v>42178</c:v>
                </c:pt>
                <c:pt idx="175">
                  <c:v>42179</c:v>
                </c:pt>
                <c:pt idx="176">
                  <c:v>42180</c:v>
                </c:pt>
                <c:pt idx="177">
                  <c:v>42181</c:v>
                </c:pt>
                <c:pt idx="178">
                  <c:v>42182</c:v>
                </c:pt>
                <c:pt idx="179">
                  <c:v>42183</c:v>
                </c:pt>
                <c:pt idx="180">
                  <c:v>42184</c:v>
                </c:pt>
                <c:pt idx="181">
                  <c:v>42185</c:v>
                </c:pt>
                <c:pt idx="182">
                  <c:v>42186</c:v>
                </c:pt>
                <c:pt idx="183">
                  <c:v>42187</c:v>
                </c:pt>
                <c:pt idx="184">
                  <c:v>42188</c:v>
                </c:pt>
                <c:pt idx="185">
                  <c:v>42189</c:v>
                </c:pt>
                <c:pt idx="186">
                  <c:v>42190</c:v>
                </c:pt>
                <c:pt idx="187">
                  <c:v>42191</c:v>
                </c:pt>
                <c:pt idx="188">
                  <c:v>42192</c:v>
                </c:pt>
                <c:pt idx="189">
                  <c:v>42193</c:v>
                </c:pt>
                <c:pt idx="190">
                  <c:v>42194</c:v>
                </c:pt>
                <c:pt idx="191">
                  <c:v>42195</c:v>
                </c:pt>
                <c:pt idx="192">
                  <c:v>42196</c:v>
                </c:pt>
                <c:pt idx="193">
                  <c:v>42197</c:v>
                </c:pt>
                <c:pt idx="194">
                  <c:v>42198</c:v>
                </c:pt>
                <c:pt idx="195">
                  <c:v>42199</c:v>
                </c:pt>
                <c:pt idx="196">
                  <c:v>42200</c:v>
                </c:pt>
                <c:pt idx="197">
                  <c:v>42201</c:v>
                </c:pt>
                <c:pt idx="198">
                  <c:v>42202</c:v>
                </c:pt>
                <c:pt idx="199">
                  <c:v>42203</c:v>
                </c:pt>
                <c:pt idx="200">
                  <c:v>42204</c:v>
                </c:pt>
                <c:pt idx="201">
                  <c:v>42205</c:v>
                </c:pt>
                <c:pt idx="202">
                  <c:v>42206</c:v>
                </c:pt>
                <c:pt idx="203">
                  <c:v>42207</c:v>
                </c:pt>
                <c:pt idx="204">
                  <c:v>42208</c:v>
                </c:pt>
                <c:pt idx="205">
                  <c:v>42209</c:v>
                </c:pt>
                <c:pt idx="206">
                  <c:v>42210</c:v>
                </c:pt>
                <c:pt idx="207">
                  <c:v>42211</c:v>
                </c:pt>
                <c:pt idx="208">
                  <c:v>42212</c:v>
                </c:pt>
                <c:pt idx="209">
                  <c:v>42213</c:v>
                </c:pt>
                <c:pt idx="210">
                  <c:v>42214</c:v>
                </c:pt>
                <c:pt idx="211">
                  <c:v>42215</c:v>
                </c:pt>
                <c:pt idx="212">
                  <c:v>42216</c:v>
                </c:pt>
                <c:pt idx="213">
                  <c:v>42217</c:v>
                </c:pt>
                <c:pt idx="214">
                  <c:v>42218</c:v>
                </c:pt>
                <c:pt idx="215">
                  <c:v>42219</c:v>
                </c:pt>
                <c:pt idx="216">
                  <c:v>42220</c:v>
                </c:pt>
                <c:pt idx="217">
                  <c:v>42221</c:v>
                </c:pt>
                <c:pt idx="218">
                  <c:v>42222</c:v>
                </c:pt>
                <c:pt idx="219">
                  <c:v>42223</c:v>
                </c:pt>
                <c:pt idx="220">
                  <c:v>42224</c:v>
                </c:pt>
                <c:pt idx="221">
                  <c:v>42225</c:v>
                </c:pt>
                <c:pt idx="222">
                  <c:v>42226</c:v>
                </c:pt>
                <c:pt idx="223">
                  <c:v>42227</c:v>
                </c:pt>
                <c:pt idx="224">
                  <c:v>42228</c:v>
                </c:pt>
                <c:pt idx="225">
                  <c:v>42229</c:v>
                </c:pt>
                <c:pt idx="226">
                  <c:v>42230</c:v>
                </c:pt>
                <c:pt idx="227">
                  <c:v>42231</c:v>
                </c:pt>
                <c:pt idx="228">
                  <c:v>42232</c:v>
                </c:pt>
                <c:pt idx="229">
                  <c:v>42233</c:v>
                </c:pt>
                <c:pt idx="230">
                  <c:v>42234</c:v>
                </c:pt>
                <c:pt idx="231">
                  <c:v>42235</c:v>
                </c:pt>
                <c:pt idx="232">
                  <c:v>42236</c:v>
                </c:pt>
                <c:pt idx="233">
                  <c:v>42237</c:v>
                </c:pt>
                <c:pt idx="234">
                  <c:v>42238</c:v>
                </c:pt>
                <c:pt idx="235">
                  <c:v>42239</c:v>
                </c:pt>
                <c:pt idx="236">
                  <c:v>42240</c:v>
                </c:pt>
                <c:pt idx="237">
                  <c:v>42241</c:v>
                </c:pt>
                <c:pt idx="238">
                  <c:v>42242</c:v>
                </c:pt>
                <c:pt idx="239">
                  <c:v>42243</c:v>
                </c:pt>
                <c:pt idx="240">
                  <c:v>42244</c:v>
                </c:pt>
                <c:pt idx="241">
                  <c:v>42245</c:v>
                </c:pt>
                <c:pt idx="242">
                  <c:v>42246</c:v>
                </c:pt>
                <c:pt idx="243">
                  <c:v>42247</c:v>
                </c:pt>
                <c:pt idx="244">
                  <c:v>42248</c:v>
                </c:pt>
                <c:pt idx="245">
                  <c:v>42249</c:v>
                </c:pt>
                <c:pt idx="246">
                  <c:v>42250</c:v>
                </c:pt>
                <c:pt idx="247">
                  <c:v>42251</c:v>
                </c:pt>
                <c:pt idx="248">
                  <c:v>42252</c:v>
                </c:pt>
                <c:pt idx="249">
                  <c:v>42253</c:v>
                </c:pt>
                <c:pt idx="250">
                  <c:v>42254</c:v>
                </c:pt>
                <c:pt idx="251">
                  <c:v>42255</c:v>
                </c:pt>
                <c:pt idx="252">
                  <c:v>42256</c:v>
                </c:pt>
                <c:pt idx="253">
                  <c:v>42257</c:v>
                </c:pt>
                <c:pt idx="254">
                  <c:v>42258</c:v>
                </c:pt>
                <c:pt idx="255">
                  <c:v>42259</c:v>
                </c:pt>
                <c:pt idx="256">
                  <c:v>42260</c:v>
                </c:pt>
                <c:pt idx="257">
                  <c:v>42261</c:v>
                </c:pt>
                <c:pt idx="258">
                  <c:v>42262</c:v>
                </c:pt>
                <c:pt idx="259">
                  <c:v>42263</c:v>
                </c:pt>
                <c:pt idx="260">
                  <c:v>42264</c:v>
                </c:pt>
                <c:pt idx="261">
                  <c:v>42265</c:v>
                </c:pt>
                <c:pt idx="262">
                  <c:v>42266</c:v>
                </c:pt>
                <c:pt idx="263">
                  <c:v>42267</c:v>
                </c:pt>
                <c:pt idx="264">
                  <c:v>42268</c:v>
                </c:pt>
                <c:pt idx="265">
                  <c:v>42269</c:v>
                </c:pt>
                <c:pt idx="266">
                  <c:v>42270</c:v>
                </c:pt>
                <c:pt idx="267">
                  <c:v>42271</c:v>
                </c:pt>
                <c:pt idx="268">
                  <c:v>42272</c:v>
                </c:pt>
                <c:pt idx="269">
                  <c:v>42273</c:v>
                </c:pt>
                <c:pt idx="270">
                  <c:v>42274</c:v>
                </c:pt>
                <c:pt idx="271">
                  <c:v>42275</c:v>
                </c:pt>
                <c:pt idx="272">
                  <c:v>42276</c:v>
                </c:pt>
                <c:pt idx="273">
                  <c:v>42277</c:v>
                </c:pt>
                <c:pt idx="274">
                  <c:v>42278</c:v>
                </c:pt>
                <c:pt idx="275">
                  <c:v>42279</c:v>
                </c:pt>
                <c:pt idx="276">
                  <c:v>42280</c:v>
                </c:pt>
                <c:pt idx="277">
                  <c:v>42281</c:v>
                </c:pt>
                <c:pt idx="278">
                  <c:v>42282</c:v>
                </c:pt>
                <c:pt idx="279">
                  <c:v>42283</c:v>
                </c:pt>
                <c:pt idx="280">
                  <c:v>42284</c:v>
                </c:pt>
                <c:pt idx="281">
                  <c:v>42285</c:v>
                </c:pt>
                <c:pt idx="282">
                  <c:v>42286</c:v>
                </c:pt>
                <c:pt idx="283">
                  <c:v>42287</c:v>
                </c:pt>
                <c:pt idx="284">
                  <c:v>42288</c:v>
                </c:pt>
                <c:pt idx="285">
                  <c:v>42289</c:v>
                </c:pt>
                <c:pt idx="286">
                  <c:v>42290</c:v>
                </c:pt>
                <c:pt idx="287">
                  <c:v>42291</c:v>
                </c:pt>
                <c:pt idx="288">
                  <c:v>42292</c:v>
                </c:pt>
                <c:pt idx="289">
                  <c:v>42293</c:v>
                </c:pt>
                <c:pt idx="290">
                  <c:v>42294</c:v>
                </c:pt>
                <c:pt idx="291">
                  <c:v>42295</c:v>
                </c:pt>
                <c:pt idx="292">
                  <c:v>42296</c:v>
                </c:pt>
                <c:pt idx="293">
                  <c:v>42297</c:v>
                </c:pt>
                <c:pt idx="294">
                  <c:v>42298</c:v>
                </c:pt>
                <c:pt idx="295">
                  <c:v>42299</c:v>
                </c:pt>
                <c:pt idx="296">
                  <c:v>42300</c:v>
                </c:pt>
                <c:pt idx="297">
                  <c:v>42301</c:v>
                </c:pt>
                <c:pt idx="298">
                  <c:v>42302</c:v>
                </c:pt>
                <c:pt idx="299">
                  <c:v>42303</c:v>
                </c:pt>
                <c:pt idx="300">
                  <c:v>42304</c:v>
                </c:pt>
                <c:pt idx="301">
                  <c:v>42305</c:v>
                </c:pt>
                <c:pt idx="302">
                  <c:v>42306</c:v>
                </c:pt>
                <c:pt idx="303">
                  <c:v>42307</c:v>
                </c:pt>
                <c:pt idx="304">
                  <c:v>42308</c:v>
                </c:pt>
                <c:pt idx="305">
                  <c:v>42309</c:v>
                </c:pt>
                <c:pt idx="306">
                  <c:v>42310</c:v>
                </c:pt>
                <c:pt idx="307">
                  <c:v>42311</c:v>
                </c:pt>
                <c:pt idx="308">
                  <c:v>42312</c:v>
                </c:pt>
                <c:pt idx="309">
                  <c:v>42313</c:v>
                </c:pt>
                <c:pt idx="310">
                  <c:v>42314</c:v>
                </c:pt>
                <c:pt idx="311">
                  <c:v>42315</c:v>
                </c:pt>
                <c:pt idx="312">
                  <c:v>42316</c:v>
                </c:pt>
                <c:pt idx="313">
                  <c:v>42317</c:v>
                </c:pt>
                <c:pt idx="314">
                  <c:v>42318</c:v>
                </c:pt>
                <c:pt idx="315">
                  <c:v>42319</c:v>
                </c:pt>
                <c:pt idx="316">
                  <c:v>42320</c:v>
                </c:pt>
                <c:pt idx="317">
                  <c:v>42321</c:v>
                </c:pt>
                <c:pt idx="318">
                  <c:v>42322</c:v>
                </c:pt>
                <c:pt idx="319">
                  <c:v>42323</c:v>
                </c:pt>
                <c:pt idx="320">
                  <c:v>42324</c:v>
                </c:pt>
                <c:pt idx="321">
                  <c:v>42325</c:v>
                </c:pt>
                <c:pt idx="322">
                  <c:v>42326</c:v>
                </c:pt>
                <c:pt idx="323">
                  <c:v>42327</c:v>
                </c:pt>
                <c:pt idx="324">
                  <c:v>42328</c:v>
                </c:pt>
                <c:pt idx="325">
                  <c:v>42329</c:v>
                </c:pt>
                <c:pt idx="326">
                  <c:v>42330</c:v>
                </c:pt>
                <c:pt idx="327">
                  <c:v>42331</c:v>
                </c:pt>
                <c:pt idx="328">
                  <c:v>42332</c:v>
                </c:pt>
                <c:pt idx="329">
                  <c:v>42333</c:v>
                </c:pt>
                <c:pt idx="330">
                  <c:v>42334</c:v>
                </c:pt>
                <c:pt idx="331">
                  <c:v>42335</c:v>
                </c:pt>
                <c:pt idx="332">
                  <c:v>42336</c:v>
                </c:pt>
                <c:pt idx="333">
                  <c:v>42337</c:v>
                </c:pt>
                <c:pt idx="334">
                  <c:v>42338</c:v>
                </c:pt>
                <c:pt idx="335">
                  <c:v>42339</c:v>
                </c:pt>
                <c:pt idx="336">
                  <c:v>42340</c:v>
                </c:pt>
                <c:pt idx="337">
                  <c:v>42341</c:v>
                </c:pt>
                <c:pt idx="338">
                  <c:v>42342</c:v>
                </c:pt>
                <c:pt idx="339">
                  <c:v>42343</c:v>
                </c:pt>
                <c:pt idx="340">
                  <c:v>42344</c:v>
                </c:pt>
                <c:pt idx="341">
                  <c:v>42345</c:v>
                </c:pt>
                <c:pt idx="342">
                  <c:v>42346</c:v>
                </c:pt>
                <c:pt idx="343">
                  <c:v>42347</c:v>
                </c:pt>
                <c:pt idx="344">
                  <c:v>42348</c:v>
                </c:pt>
                <c:pt idx="345">
                  <c:v>42349</c:v>
                </c:pt>
                <c:pt idx="346">
                  <c:v>42350</c:v>
                </c:pt>
                <c:pt idx="347">
                  <c:v>42351</c:v>
                </c:pt>
                <c:pt idx="348">
                  <c:v>42352</c:v>
                </c:pt>
                <c:pt idx="349">
                  <c:v>42353</c:v>
                </c:pt>
                <c:pt idx="350">
                  <c:v>42354</c:v>
                </c:pt>
                <c:pt idx="351">
                  <c:v>42355</c:v>
                </c:pt>
                <c:pt idx="352">
                  <c:v>42356</c:v>
                </c:pt>
                <c:pt idx="353">
                  <c:v>42357</c:v>
                </c:pt>
                <c:pt idx="354">
                  <c:v>42358</c:v>
                </c:pt>
              </c:numCache>
            </c:numRef>
          </c:cat>
          <c:val>
            <c:numRef>
              <c:f>Tabelle1!$C$2:$C$8000</c:f>
              <c:numCache>
                <c:formatCode>General</c:formatCode>
                <c:ptCount val="7999"/>
                <c:pt idx="0">
                  <c:v>1</c:v>
                </c:pt>
                <c:pt idx="1">
                  <c:v>1</c:v>
                </c:pt>
                <c:pt idx="2">
                  <c:v>0.99980000000000002</c:v>
                </c:pt>
                <c:pt idx="3">
                  <c:v>0.99980000000000002</c:v>
                </c:pt>
                <c:pt idx="4">
                  <c:v>0.99980000000000002</c:v>
                </c:pt>
                <c:pt idx="5">
                  <c:v>0.99980000000000002</c:v>
                </c:pt>
                <c:pt idx="6">
                  <c:v>1.0001</c:v>
                </c:pt>
                <c:pt idx="7">
                  <c:v>0.99990000000000001</c:v>
                </c:pt>
                <c:pt idx="8">
                  <c:v>1.0004</c:v>
                </c:pt>
                <c:pt idx="9">
                  <c:v>1.0001</c:v>
                </c:pt>
                <c:pt idx="10">
                  <c:v>1.0001</c:v>
                </c:pt>
                <c:pt idx="11">
                  <c:v>1.0001</c:v>
                </c:pt>
                <c:pt idx="12">
                  <c:v>1.0003</c:v>
                </c:pt>
                <c:pt idx="13">
                  <c:v>1.0005999999999999</c:v>
                </c:pt>
                <c:pt idx="14">
                  <c:v>1.0007999999999999</c:v>
                </c:pt>
                <c:pt idx="15">
                  <c:v>1.0021</c:v>
                </c:pt>
                <c:pt idx="16">
                  <c:v>1.0014000000000001</c:v>
                </c:pt>
                <c:pt idx="17">
                  <c:v>1.0014000000000001</c:v>
                </c:pt>
                <c:pt idx="18">
                  <c:v>1.0014000000000001</c:v>
                </c:pt>
                <c:pt idx="19">
                  <c:v>1.0013000000000001</c:v>
                </c:pt>
                <c:pt idx="20">
                  <c:v>1.0015000000000001</c:v>
                </c:pt>
                <c:pt idx="21">
                  <c:v>1.0004</c:v>
                </c:pt>
                <c:pt idx="22">
                  <c:v>1.002</c:v>
                </c:pt>
                <c:pt idx="23">
                  <c:v>1.0039</c:v>
                </c:pt>
                <c:pt idx="24">
                  <c:v>1.0039</c:v>
                </c:pt>
                <c:pt idx="25">
                  <c:v>1.004</c:v>
                </c:pt>
                <c:pt idx="26">
                  <c:v>1.0038</c:v>
                </c:pt>
                <c:pt idx="27">
                  <c:v>1.0032000000000001</c:v>
                </c:pt>
                <c:pt idx="28">
                  <c:v>1.0034000000000001</c:v>
                </c:pt>
                <c:pt idx="29">
                  <c:v>1.0036</c:v>
                </c:pt>
                <c:pt idx="30">
                  <c:v>1.0039</c:v>
                </c:pt>
                <c:pt idx="31">
                  <c:v>1.3</c:v>
                </c:pt>
                <c:pt idx="32">
                  <c:v>1.0039</c:v>
                </c:pt>
                <c:pt idx="33">
                  <c:v>1.0042</c:v>
                </c:pt>
                <c:pt idx="34">
                  <c:v>1.0038</c:v>
                </c:pt>
                <c:pt idx="35">
                  <c:v>1.0038</c:v>
                </c:pt>
                <c:pt idx="36">
                  <c:v>1.0036</c:v>
                </c:pt>
                <c:pt idx="37">
                  <c:v>1.0039</c:v>
                </c:pt>
                <c:pt idx="38">
                  <c:v>1.0039</c:v>
                </c:pt>
                <c:pt idx="39">
                  <c:v>1.004</c:v>
                </c:pt>
                <c:pt idx="40">
                  <c:v>1.0033000000000001</c:v>
                </c:pt>
                <c:pt idx="41">
                  <c:v>1.0033000000000001</c:v>
                </c:pt>
                <c:pt idx="42">
                  <c:v>1.0035000000000001</c:v>
                </c:pt>
                <c:pt idx="43">
                  <c:v>1.0046999999999999</c:v>
                </c:pt>
                <c:pt idx="44">
                  <c:v>1.0047999999999999</c:v>
                </c:pt>
                <c:pt idx="45">
                  <c:v>1.0048999999999999</c:v>
                </c:pt>
                <c:pt idx="46">
                  <c:v>1.0048999999999999</c:v>
                </c:pt>
                <c:pt idx="47">
                  <c:v>1.0046999999999999</c:v>
                </c:pt>
                <c:pt idx="48">
                  <c:v>1.0042</c:v>
                </c:pt>
                <c:pt idx="49">
                  <c:v>1.0044</c:v>
                </c:pt>
                <c:pt idx="50">
                  <c:v>1.0047999999999999</c:v>
                </c:pt>
                <c:pt idx="51">
                  <c:v>1.0051000000000001</c:v>
                </c:pt>
                <c:pt idx="52">
                  <c:v>1.0051000000000001</c:v>
                </c:pt>
                <c:pt idx="53">
                  <c:v>1.0052000000000001</c:v>
                </c:pt>
                <c:pt idx="54">
                  <c:v>1.0059</c:v>
                </c:pt>
                <c:pt idx="55">
                  <c:v>1.0066999999999999</c:v>
                </c:pt>
                <c:pt idx="56">
                  <c:v>1.0078</c:v>
                </c:pt>
                <c:pt idx="57">
                  <c:v>1.0099</c:v>
                </c:pt>
                <c:pt idx="58">
                  <c:v>1.0098</c:v>
                </c:pt>
                <c:pt idx="59">
                  <c:v>1.0099</c:v>
                </c:pt>
                <c:pt idx="60">
                  <c:v>1.0099</c:v>
                </c:pt>
                <c:pt idx="61">
                  <c:v>1.0093000000000001</c:v>
                </c:pt>
                <c:pt idx="62">
                  <c:v>1.008</c:v>
                </c:pt>
                <c:pt idx="63">
                  <c:v>1.0086999999999999</c:v>
                </c:pt>
                <c:pt idx="64">
                  <c:v>1.0104</c:v>
                </c:pt>
                <c:pt idx="65">
                  <c:v>1.0106999999999999</c:v>
                </c:pt>
                <c:pt idx="66">
                  <c:v>1.0106999999999999</c:v>
                </c:pt>
                <c:pt idx="67">
                  <c:v>1.0107999999999999</c:v>
                </c:pt>
                <c:pt idx="68">
                  <c:v>1.0122</c:v>
                </c:pt>
                <c:pt idx="69">
                  <c:v>1.0148999999999999</c:v>
                </c:pt>
                <c:pt idx="70">
                  <c:v>1.0181</c:v>
                </c:pt>
                <c:pt idx="71">
                  <c:v>1.0168999999999999</c:v>
                </c:pt>
                <c:pt idx="72">
                  <c:v>1.0175000000000001</c:v>
                </c:pt>
                <c:pt idx="73">
                  <c:v>1.0175000000000001</c:v>
                </c:pt>
                <c:pt idx="74">
                  <c:v>1.0176000000000001</c:v>
                </c:pt>
                <c:pt idx="75">
                  <c:v>1.0175000000000001</c:v>
                </c:pt>
                <c:pt idx="76">
                  <c:v>1.0157</c:v>
                </c:pt>
                <c:pt idx="77">
                  <c:v>1.0149999999999999</c:v>
                </c:pt>
                <c:pt idx="78">
                  <c:v>1.0158</c:v>
                </c:pt>
                <c:pt idx="79">
                  <c:v>1.016</c:v>
                </c:pt>
                <c:pt idx="80">
                  <c:v>1.016</c:v>
                </c:pt>
                <c:pt idx="81">
                  <c:v>1.0161</c:v>
                </c:pt>
                <c:pt idx="82">
                  <c:v>1.0139</c:v>
                </c:pt>
                <c:pt idx="83">
                  <c:v>1.0143</c:v>
                </c:pt>
                <c:pt idx="84">
                  <c:v>1.0136000000000001</c:v>
                </c:pt>
                <c:pt idx="85">
                  <c:v>1.0136000000000001</c:v>
                </c:pt>
                <c:pt idx="86">
                  <c:v>1.0142</c:v>
                </c:pt>
                <c:pt idx="87">
                  <c:v>1.0142</c:v>
                </c:pt>
                <c:pt idx="88">
                  <c:v>1.0143</c:v>
                </c:pt>
                <c:pt idx="89">
                  <c:v>1.016</c:v>
                </c:pt>
                <c:pt idx="90">
                  <c:v>1.0170999999999999</c:v>
                </c:pt>
                <c:pt idx="91">
                  <c:v>1.0176000000000001</c:v>
                </c:pt>
                <c:pt idx="92">
                  <c:v>1.0166999999999999</c:v>
                </c:pt>
                <c:pt idx="93">
                  <c:v>1.0163</c:v>
                </c:pt>
                <c:pt idx="94">
                  <c:v>1.0164</c:v>
                </c:pt>
                <c:pt idx="95">
                  <c:v>1.0164</c:v>
                </c:pt>
                <c:pt idx="96">
                  <c:v>1.0166999999999999</c:v>
                </c:pt>
                <c:pt idx="97">
                  <c:v>1.0185</c:v>
                </c:pt>
                <c:pt idx="98">
                  <c:v>1.0190999999999999</c:v>
                </c:pt>
                <c:pt idx="99">
                  <c:v>1.0204</c:v>
                </c:pt>
                <c:pt idx="100">
                  <c:v>1.0221</c:v>
                </c:pt>
                <c:pt idx="101">
                  <c:v>1.0221</c:v>
                </c:pt>
                <c:pt idx="102">
                  <c:v>1.0222</c:v>
                </c:pt>
                <c:pt idx="103">
                  <c:v>1.0226999999999999</c:v>
                </c:pt>
                <c:pt idx="104">
                  <c:v>1.0221</c:v>
                </c:pt>
                <c:pt idx="105">
                  <c:v>1.0233000000000001</c:v>
                </c:pt>
                <c:pt idx="106">
                  <c:v>1.0214000000000001</c:v>
                </c:pt>
                <c:pt idx="107">
                  <c:v>1.0188999999999999</c:v>
                </c:pt>
                <c:pt idx="108">
                  <c:v>1.0188999999999999</c:v>
                </c:pt>
                <c:pt idx="109">
                  <c:v>1.0189999999999999</c:v>
                </c:pt>
                <c:pt idx="110">
                  <c:v>1.0199</c:v>
                </c:pt>
                <c:pt idx="111">
                  <c:v>1.0190999999999999</c:v>
                </c:pt>
                <c:pt idx="112">
                  <c:v>1.0181</c:v>
                </c:pt>
                <c:pt idx="113">
                  <c:v>1.0170999999999999</c:v>
                </c:pt>
                <c:pt idx="114">
                  <c:v>1.0170999999999999</c:v>
                </c:pt>
                <c:pt idx="115">
                  <c:v>1.0172000000000001</c:v>
                </c:pt>
                <c:pt idx="116">
                  <c:v>1.0172000000000001</c:v>
                </c:pt>
                <c:pt idx="117">
                  <c:v>1.0182</c:v>
                </c:pt>
                <c:pt idx="118">
                  <c:v>1.0166999999999999</c:v>
                </c:pt>
                <c:pt idx="119">
                  <c:v>1.0105</c:v>
                </c:pt>
                <c:pt idx="120">
                  <c:v>1.0069999999999999</c:v>
                </c:pt>
                <c:pt idx="121">
                  <c:v>1.0068999999999999</c:v>
                </c:pt>
                <c:pt idx="122">
                  <c:v>1.0068999999999999</c:v>
                </c:pt>
                <c:pt idx="123">
                  <c:v>1.0068999999999999</c:v>
                </c:pt>
                <c:pt idx="124">
                  <c:v>1.0068999999999999</c:v>
                </c:pt>
                <c:pt idx="125">
                  <c:v>1.0027999999999999</c:v>
                </c:pt>
                <c:pt idx="126">
                  <c:v>0.99919999999999998</c:v>
                </c:pt>
                <c:pt idx="127">
                  <c:v>0.99909999999999999</c:v>
                </c:pt>
                <c:pt idx="128">
                  <c:v>1.0025999999999999</c:v>
                </c:pt>
                <c:pt idx="129">
                  <c:v>1.0026999999999999</c:v>
                </c:pt>
                <c:pt idx="130">
                  <c:v>1.0026999999999999</c:v>
                </c:pt>
                <c:pt idx="131">
                  <c:v>1.0024</c:v>
                </c:pt>
                <c:pt idx="132">
                  <c:v>0.99970000000000003</c:v>
                </c:pt>
                <c:pt idx="133">
                  <c:v>0.99850000000000005</c:v>
                </c:pt>
                <c:pt idx="134">
                  <c:v>0.99850000000000005</c:v>
                </c:pt>
                <c:pt idx="135">
                  <c:v>0.99880000000000002</c:v>
                </c:pt>
                <c:pt idx="136">
                  <c:v>0.99880000000000002</c:v>
                </c:pt>
                <c:pt idx="137">
                  <c:v>0.99890000000000001</c:v>
                </c:pt>
                <c:pt idx="138">
                  <c:v>1.0002</c:v>
                </c:pt>
                <c:pt idx="139">
                  <c:v>1.0034000000000001</c:v>
                </c:pt>
                <c:pt idx="140">
                  <c:v>1.0035000000000001</c:v>
                </c:pt>
                <c:pt idx="141">
                  <c:v>1.0041</c:v>
                </c:pt>
                <c:pt idx="142">
                  <c:v>1.0048999999999999</c:v>
                </c:pt>
                <c:pt idx="143">
                  <c:v>1.0049999999999999</c:v>
                </c:pt>
                <c:pt idx="144">
                  <c:v>1.0049999999999999</c:v>
                </c:pt>
                <c:pt idx="145">
                  <c:v>1.0047999999999999</c:v>
                </c:pt>
                <c:pt idx="146">
                  <c:v>1.0051000000000001</c:v>
                </c:pt>
                <c:pt idx="147">
                  <c:v>1.0056</c:v>
                </c:pt>
                <c:pt idx="148">
                  <c:v>1.0041</c:v>
                </c:pt>
                <c:pt idx="149">
                  <c:v>1.0029999999999999</c:v>
                </c:pt>
                <c:pt idx="150">
                  <c:v>1.0031000000000001</c:v>
                </c:pt>
                <c:pt idx="151">
                  <c:v>1.0031000000000001</c:v>
                </c:pt>
                <c:pt idx="152">
                  <c:v>1.0031000000000001</c:v>
                </c:pt>
                <c:pt idx="153">
                  <c:v>0.99839999999999995</c:v>
                </c:pt>
                <c:pt idx="154">
                  <c:v>0.99509999999999998</c:v>
                </c:pt>
                <c:pt idx="155">
                  <c:v>0.99409999999999998</c:v>
                </c:pt>
                <c:pt idx="156">
                  <c:v>0.99450000000000005</c:v>
                </c:pt>
                <c:pt idx="157">
                  <c:v>0.99460000000000004</c:v>
                </c:pt>
                <c:pt idx="158">
                  <c:v>0.99460000000000004</c:v>
                </c:pt>
                <c:pt idx="159">
                  <c:v>0.99270000000000003</c:v>
                </c:pt>
                <c:pt idx="160">
                  <c:v>0.99050000000000005</c:v>
                </c:pt>
                <c:pt idx="161">
                  <c:v>0.99060000000000004</c:v>
                </c:pt>
                <c:pt idx="162">
                  <c:v>0.99309999999999998</c:v>
                </c:pt>
                <c:pt idx="163">
                  <c:v>0.99209999999999998</c:v>
                </c:pt>
                <c:pt idx="164">
                  <c:v>0.99219999999999997</c:v>
                </c:pt>
                <c:pt idx="165">
                  <c:v>0.99219999999999997</c:v>
                </c:pt>
                <c:pt idx="166">
                  <c:v>0.99060000000000004</c:v>
                </c:pt>
                <c:pt idx="167">
                  <c:v>0.99009999999999998</c:v>
                </c:pt>
                <c:pt idx="168">
                  <c:v>0.98950000000000005</c:v>
                </c:pt>
                <c:pt idx="169">
                  <c:v>0.98870000000000002</c:v>
                </c:pt>
                <c:pt idx="170">
                  <c:v>0.98919999999999997</c:v>
                </c:pt>
                <c:pt idx="171">
                  <c:v>0.98929999999999996</c:v>
                </c:pt>
                <c:pt idx="172">
                  <c:v>0.98929999999999996</c:v>
                </c:pt>
                <c:pt idx="173">
                  <c:v>0.99180000000000001</c:v>
                </c:pt>
                <c:pt idx="174">
                  <c:v>0.99419999999999997</c:v>
                </c:pt>
                <c:pt idx="175">
                  <c:v>0.99360000000000004</c:v>
                </c:pt>
                <c:pt idx="176">
                  <c:v>0.99280000000000002</c:v>
                </c:pt>
                <c:pt idx="177">
                  <c:v>0.99229999999999996</c:v>
                </c:pt>
                <c:pt idx="178">
                  <c:v>0.99239999999999995</c:v>
                </c:pt>
                <c:pt idx="179">
                  <c:v>0.99239999999999995</c:v>
                </c:pt>
                <c:pt idx="180">
                  <c:v>0.98799999999999999</c:v>
                </c:pt>
                <c:pt idx="181">
                  <c:v>0.98870000000000002</c:v>
                </c:pt>
                <c:pt idx="182">
                  <c:v>0.99039999999999995</c:v>
                </c:pt>
                <c:pt idx="183">
                  <c:v>0.99029999999999996</c:v>
                </c:pt>
                <c:pt idx="184">
                  <c:v>0.99070000000000003</c:v>
                </c:pt>
                <c:pt idx="185">
                  <c:v>0.99070000000000003</c:v>
                </c:pt>
                <c:pt idx="186">
                  <c:v>0.99080000000000001</c:v>
                </c:pt>
                <c:pt idx="187">
                  <c:v>0.98919999999999997</c:v>
                </c:pt>
                <c:pt idx="188">
                  <c:v>0.99</c:v>
                </c:pt>
                <c:pt idx="189">
                  <c:v>0.98839999999999995</c:v>
                </c:pt>
                <c:pt idx="190">
                  <c:v>0.98939999999999995</c:v>
                </c:pt>
                <c:pt idx="191">
                  <c:v>0.98909999999999998</c:v>
                </c:pt>
                <c:pt idx="192">
                  <c:v>0.98909999999999998</c:v>
                </c:pt>
                <c:pt idx="193">
                  <c:v>0.98909999999999998</c:v>
                </c:pt>
                <c:pt idx="194">
                  <c:v>0.9919</c:v>
                </c:pt>
                <c:pt idx="195">
                  <c:v>0.99299999999999999</c:v>
                </c:pt>
                <c:pt idx="196">
                  <c:v>0.99519999999999997</c:v>
                </c:pt>
                <c:pt idx="197">
                  <c:v>0.99739999999999995</c:v>
                </c:pt>
                <c:pt idx="198">
                  <c:v>0.99890000000000001</c:v>
                </c:pt>
                <c:pt idx="199">
                  <c:v>0.99890000000000001</c:v>
                </c:pt>
                <c:pt idx="200">
                  <c:v>0.999</c:v>
                </c:pt>
                <c:pt idx="201">
                  <c:v>0.99990000000000001</c:v>
                </c:pt>
                <c:pt idx="202">
                  <c:v>0.99850000000000005</c:v>
                </c:pt>
                <c:pt idx="203">
                  <c:v>0.99839999999999995</c:v>
                </c:pt>
                <c:pt idx="204">
                  <c:v>0.998</c:v>
                </c:pt>
                <c:pt idx="205">
                  <c:v>0.99750000000000005</c:v>
                </c:pt>
                <c:pt idx="206">
                  <c:v>0.99760000000000004</c:v>
                </c:pt>
                <c:pt idx="207">
                  <c:v>0.99760000000000004</c:v>
                </c:pt>
                <c:pt idx="208">
                  <c:v>0.99450000000000005</c:v>
                </c:pt>
                <c:pt idx="209">
                  <c:v>0.99560000000000004</c:v>
                </c:pt>
                <c:pt idx="210">
                  <c:v>0.99660000000000004</c:v>
                </c:pt>
                <c:pt idx="211">
                  <c:v>0.99829999999999997</c:v>
                </c:pt>
                <c:pt idx="212">
                  <c:v>0.99850000000000005</c:v>
                </c:pt>
                <c:pt idx="213">
                  <c:v>0.99850000000000005</c:v>
                </c:pt>
                <c:pt idx="214">
                  <c:v>0.99850000000000005</c:v>
                </c:pt>
                <c:pt idx="215">
                  <c:v>1.0008999999999999</c:v>
                </c:pt>
                <c:pt idx="216">
                  <c:v>1.0012000000000001</c:v>
                </c:pt>
                <c:pt idx="217">
                  <c:v>1.0019</c:v>
                </c:pt>
                <c:pt idx="218">
                  <c:v>1.0019</c:v>
                </c:pt>
                <c:pt idx="219">
                  <c:v>1.0011000000000001</c:v>
                </c:pt>
                <c:pt idx="220">
                  <c:v>1.0012000000000001</c:v>
                </c:pt>
                <c:pt idx="221">
                  <c:v>1.0012000000000001</c:v>
                </c:pt>
                <c:pt idx="222">
                  <c:v>1.0024</c:v>
                </c:pt>
                <c:pt idx="223">
                  <c:v>0.99870000000000003</c:v>
                </c:pt>
                <c:pt idx="224">
                  <c:v>0.99329999999999996</c:v>
                </c:pt>
                <c:pt idx="225">
                  <c:v>0.99199999999999999</c:v>
                </c:pt>
                <c:pt idx="226">
                  <c:v>0.99119999999999997</c:v>
                </c:pt>
                <c:pt idx="227">
                  <c:v>0.99119999999999997</c:v>
                </c:pt>
                <c:pt idx="228">
                  <c:v>0.99129999999999996</c:v>
                </c:pt>
                <c:pt idx="229">
                  <c:v>0.99150000000000005</c:v>
                </c:pt>
                <c:pt idx="230">
                  <c:v>0.99119999999999997</c:v>
                </c:pt>
                <c:pt idx="231">
                  <c:v>0.98650000000000004</c:v>
                </c:pt>
                <c:pt idx="232">
                  <c:v>0.98160000000000003</c:v>
                </c:pt>
                <c:pt idx="233">
                  <c:v>0.9748</c:v>
                </c:pt>
                <c:pt idx="234">
                  <c:v>0.97489999999999999</c:v>
                </c:pt>
                <c:pt idx="235">
                  <c:v>0.97489999999999999</c:v>
                </c:pt>
                <c:pt idx="236">
                  <c:v>0.96419999999999995</c:v>
                </c:pt>
                <c:pt idx="237">
                  <c:v>0.97060000000000002</c:v>
                </c:pt>
                <c:pt idx="238">
                  <c:v>0.96940000000000004</c:v>
                </c:pt>
                <c:pt idx="239">
                  <c:v>0.97599999999999998</c:v>
                </c:pt>
                <c:pt idx="240">
                  <c:v>0.9768</c:v>
                </c:pt>
                <c:pt idx="241">
                  <c:v>0.9768</c:v>
                </c:pt>
                <c:pt idx="242">
                  <c:v>0.9768</c:v>
                </c:pt>
                <c:pt idx="243">
                  <c:v>0.97499999999999998</c:v>
                </c:pt>
                <c:pt idx="244">
                  <c:v>0.97009999999999996</c:v>
                </c:pt>
                <c:pt idx="245">
                  <c:v>0.97070000000000001</c:v>
                </c:pt>
                <c:pt idx="246">
                  <c:v>0.97599999999999998</c:v>
                </c:pt>
                <c:pt idx="247">
                  <c:v>0.97160000000000002</c:v>
                </c:pt>
                <c:pt idx="248">
                  <c:v>0.97170000000000001</c:v>
                </c:pt>
                <c:pt idx="249">
                  <c:v>0.97170000000000001</c:v>
                </c:pt>
                <c:pt idx="250">
                  <c:v>0.9728</c:v>
                </c:pt>
                <c:pt idx="251">
                  <c:v>0.97519999999999996</c:v>
                </c:pt>
                <c:pt idx="252">
                  <c:v>0.97640000000000005</c:v>
                </c:pt>
                <c:pt idx="253">
                  <c:v>0.97419999999999995</c:v>
                </c:pt>
                <c:pt idx="254">
                  <c:v>0.97270000000000001</c:v>
                </c:pt>
                <c:pt idx="255">
                  <c:v>0.97270000000000001</c:v>
                </c:pt>
                <c:pt idx="256">
                  <c:v>0.9728</c:v>
                </c:pt>
                <c:pt idx="257">
                  <c:v>0.97289999999999999</c:v>
                </c:pt>
                <c:pt idx="258">
                  <c:v>0.97299999999999998</c:v>
                </c:pt>
                <c:pt idx="259">
                  <c:v>0.9738</c:v>
                </c:pt>
                <c:pt idx="260">
                  <c:v>0.97299999999999998</c:v>
                </c:pt>
                <c:pt idx="261">
                  <c:v>0.96789999999999998</c:v>
                </c:pt>
                <c:pt idx="262">
                  <c:v>0.96799999999999997</c:v>
                </c:pt>
                <c:pt idx="263">
                  <c:v>0.96799999999999997</c:v>
                </c:pt>
                <c:pt idx="264">
                  <c:v>0.96930000000000005</c:v>
                </c:pt>
                <c:pt idx="265">
                  <c:v>0.96089999999999998</c:v>
                </c:pt>
                <c:pt idx="266">
                  <c:v>0.96099999999999997</c:v>
                </c:pt>
                <c:pt idx="267">
                  <c:v>0.95609999999999995</c:v>
                </c:pt>
                <c:pt idx="268">
                  <c:v>0.96009999999999995</c:v>
                </c:pt>
                <c:pt idx="269">
                  <c:v>0.96020000000000005</c:v>
                </c:pt>
                <c:pt idx="270">
                  <c:v>0.96020000000000005</c:v>
                </c:pt>
                <c:pt idx="271">
                  <c:v>0.95389999999999997</c:v>
                </c:pt>
                <c:pt idx="272">
                  <c:v>0.95099999999999996</c:v>
                </c:pt>
                <c:pt idx="273">
                  <c:v>0.95640000000000003</c:v>
                </c:pt>
                <c:pt idx="274">
                  <c:v>0.95509999999999995</c:v>
                </c:pt>
                <c:pt idx="275">
                  <c:v>0.95660000000000001</c:v>
                </c:pt>
                <c:pt idx="276">
                  <c:v>0.95660000000000001</c:v>
                </c:pt>
                <c:pt idx="277" formatCode="0%">
                  <c:v>0.95660000000000001</c:v>
                </c:pt>
                <c:pt idx="278" formatCode="0%">
                  <c:v>0.96319999999999995</c:v>
                </c:pt>
                <c:pt idx="279" formatCode="0%">
                  <c:v>0.96579999999999999</c:v>
                </c:pt>
                <c:pt idx="280" formatCode="0%">
                  <c:v>0.96840000000000004</c:v>
                </c:pt>
                <c:pt idx="281" formatCode="0%">
                  <c:v>0.96830000000000005</c:v>
                </c:pt>
                <c:pt idx="282" formatCode="0%">
                  <c:v>0.97050000000000003</c:v>
                </c:pt>
                <c:pt idx="283" formatCode="0%">
                  <c:v>0.97050000000000003</c:v>
                </c:pt>
                <c:pt idx="284" formatCode="0%">
                  <c:v>0.97060000000000002</c:v>
                </c:pt>
                <c:pt idx="285" formatCode="0%">
                  <c:v>0.97119999999999995</c:v>
                </c:pt>
                <c:pt idx="286" formatCode="0%">
                  <c:v>0.96850000000000003</c:v>
                </c:pt>
                <c:pt idx="287" formatCode="0%">
                  <c:v>0.96619999999999995</c:v>
                </c:pt>
                <c:pt idx="288" formatCode="0%">
                  <c:v>0.96960000000000002</c:v>
                </c:pt>
                <c:pt idx="289" formatCode="0%">
                  <c:v>0.97089999999999999</c:v>
                </c:pt>
                <c:pt idx="290" formatCode="0%">
                  <c:v>0.97089999999999999</c:v>
                </c:pt>
                <c:pt idx="291" formatCode="0%">
                  <c:v>0.97099999999999997</c:v>
                </c:pt>
                <c:pt idx="292" formatCode="0%">
                  <c:v>0.97170000000000001</c:v>
                </c:pt>
                <c:pt idx="293" formatCode="0%">
                  <c:v>0.97030000000000005</c:v>
                </c:pt>
                <c:pt idx="294" formatCode="0%">
                  <c:v>0.97250000000000003</c:v>
                </c:pt>
                <c:pt idx="295" formatCode="0%">
                  <c:v>0.98229999999999995</c:v>
                </c:pt>
                <c:pt idx="296" formatCode="0%">
                  <c:v>0.99109999999999998</c:v>
                </c:pt>
                <c:pt idx="297" formatCode="0%">
                  <c:v>0.99109999999999998</c:v>
                </c:pt>
                <c:pt idx="298" formatCode="0%">
                  <c:v>0.99119999999999997</c:v>
                </c:pt>
                <c:pt idx="299" formatCode="0%">
                  <c:v>0.99109999999999998</c:v>
                </c:pt>
                <c:pt idx="300" formatCode="0%">
                  <c:v>0.98899999999999999</c:v>
                </c:pt>
                <c:pt idx="301" formatCode="0%">
                  <c:v>0.99380000000000002</c:v>
                </c:pt>
                <c:pt idx="302" formatCode="0%">
                  <c:v>0.99260000000000004</c:v>
                </c:pt>
                <c:pt idx="303" formatCode="0%">
                  <c:v>0.9919</c:v>
                </c:pt>
                <c:pt idx="304" formatCode="0%">
                  <c:v>0.99199999999999999</c:v>
                </c:pt>
                <c:pt idx="305" formatCode="0%">
                  <c:v>0.99199999999999999</c:v>
                </c:pt>
                <c:pt idx="306" formatCode="0%">
                  <c:v>0.99370000000000003</c:v>
                </c:pt>
                <c:pt idx="307" formatCode="0%">
                  <c:v>0.99529999999999996</c:v>
                </c:pt>
                <c:pt idx="308" formatCode="0%">
                  <c:v>0.99470000000000003</c:v>
                </c:pt>
                <c:pt idx="309" formatCode="0%">
                  <c:v>0.99480000000000002</c:v>
                </c:pt>
                <c:pt idx="310" formatCode="0%">
                  <c:v>0.99639999999999995</c:v>
                </c:pt>
                <c:pt idx="311" formatCode="0%">
                  <c:v>0.99639999999999995</c:v>
                </c:pt>
                <c:pt idx="312" formatCode="0%">
                  <c:v>0.99639999999999995</c:v>
                </c:pt>
                <c:pt idx="313" formatCode="0%">
                  <c:v>0.99250000000000005</c:v>
                </c:pt>
                <c:pt idx="314" formatCode="0%">
                  <c:v>0.99370000000000003</c:v>
                </c:pt>
                <c:pt idx="315" formatCode="0%">
                  <c:v>0.99429999999999996</c:v>
                </c:pt>
                <c:pt idx="316" formatCode="0%">
                  <c:v>0.9899</c:v>
                </c:pt>
                <c:pt idx="317" formatCode="0%">
                  <c:v>0.9879</c:v>
                </c:pt>
                <c:pt idx="318" formatCode="0%">
                  <c:v>0.9879</c:v>
                </c:pt>
                <c:pt idx="319" formatCode="0%">
                  <c:v>0.98799999999999999</c:v>
                </c:pt>
                <c:pt idx="320" formatCode="0%">
                  <c:v>0.9899</c:v>
                </c:pt>
                <c:pt idx="321" formatCode="0%">
                  <c:v>0.99629999999999996</c:v>
                </c:pt>
                <c:pt idx="322" formatCode="0%">
                  <c:v>0.99719999999999998</c:v>
                </c:pt>
                <c:pt idx="323" formatCode="0%">
                  <c:v>0.99909999999999999</c:v>
                </c:pt>
                <c:pt idx="324" formatCode="0%">
                  <c:v>1.0003</c:v>
                </c:pt>
                <c:pt idx="325" formatCode="0%">
                  <c:v>1.0004</c:v>
                </c:pt>
                <c:pt idx="326" formatCode="0%">
                  <c:v>1.0004</c:v>
                </c:pt>
                <c:pt idx="327" formatCode="0%">
                  <c:v>1.0003</c:v>
                </c:pt>
                <c:pt idx="328" formatCode="0%">
                  <c:v>0.99770000000000003</c:v>
                </c:pt>
                <c:pt idx="329" formatCode="0%">
                  <c:v>1.0029999999999999</c:v>
                </c:pt>
                <c:pt idx="330" formatCode="0%">
                  <c:v>1.0057</c:v>
                </c:pt>
                <c:pt idx="331" formatCode="0%">
                  <c:v>1.0057</c:v>
                </c:pt>
                <c:pt idx="332" formatCode="0%">
                  <c:v>1.0058</c:v>
                </c:pt>
                <c:pt idx="333" formatCode="0%">
                  <c:v>1.0058</c:v>
                </c:pt>
                <c:pt idx="334" formatCode="0%">
                  <c:v>1.0076000000000001</c:v>
                </c:pt>
                <c:pt idx="335" formatCode="0%">
                  <c:v>1.0039</c:v>
                </c:pt>
                <c:pt idx="336" formatCode="0%">
                  <c:v>1.0029999999999999</c:v>
                </c:pt>
                <c:pt idx="337" formatCode="0%">
                  <c:v>0.99129999999999996</c:v>
                </c:pt>
                <c:pt idx="338" formatCode="0%">
                  <c:v>0.9889</c:v>
                </c:pt>
                <c:pt idx="339" formatCode="0%">
                  <c:v>0.9889</c:v>
                </c:pt>
                <c:pt idx="340" formatCode="0%">
                  <c:v>0.9889</c:v>
                </c:pt>
                <c:pt idx="341" formatCode="0%">
                  <c:v>0.99170000000000003</c:v>
                </c:pt>
                <c:pt idx="342" formatCode="0%">
                  <c:v>0.98680000000000001</c:v>
                </c:pt>
                <c:pt idx="343" formatCode="0%">
                  <c:v>0.98429999999999995</c:v>
                </c:pt>
                <c:pt idx="344" formatCode="0%">
                  <c:v>0.9849</c:v>
                </c:pt>
                <c:pt idx="345" formatCode="0%">
                  <c:v>0.97799999999999998</c:v>
                </c:pt>
                <c:pt idx="346" formatCode="0%">
                  <c:v>0.97799999999999998</c:v>
                </c:pt>
                <c:pt idx="347" formatCode="0%">
                  <c:v>0.97809999999999997</c:v>
                </c:pt>
                <c:pt idx="348" formatCode="0%">
                  <c:v>0.97270000000000001</c:v>
                </c:pt>
                <c:pt idx="349" formatCode="0%">
                  <c:v>0.97870000000000001</c:v>
                </c:pt>
                <c:pt idx="350" formatCode="0%">
                  <c:v>0.98050000000000004</c:v>
                </c:pt>
                <c:pt idx="351" formatCode="0%">
                  <c:v>0.98619999999999997</c:v>
                </c:pt>
                <c:pt idx="352" formatCode="0%">
                  <c:v>0.98350000000000004</c:v>
                </c:pt>
                <c:pt idx="353" formatCode="0%">
                  <c:v>0.98360000000000003</c:v>
                </c:pt>
                <c:pt idx="354" formatCode="0%">
                  <c:v>0.98360000000000003</c:v>
                </c:pt>
              </c:numCache>
            </c:numRef>
          </c:val>
          <c:smooth val="0"/>
          <c:extLst>
            <c:ext xmlns:c16="http://schemas.microsoft.com/office/drawing/2014/chart" uri="{C3380CC4-5D6E-409C-BE32-E72D297353CC}">
              <c16:uniqueId val="{00000000-6BFA-46ED-A210-E9F01A7553A4}"/>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day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Tabelle1!$A$2:$A$6</c:f>
              <c:numCache>
                <c:formatCode>General</c:formatCode>
                <c:ptCount val="5"/>
                <c:pt idx="0">
                  <c:v>2021</c:v>
                </c:pt>
                <c:pt idx="1">
                  <c:v>2022</c:v>
                </c:pt>
                <c:pt idx="2">
                  <c:v>2023</c:v>
                </c:pt>
                <c:pt idx="3">
                  <c:v>2024</c:v>
                </c:pt>
                <c:pt idx="4">
                  <c:v>2025</c:v>
                </c:pt>
              </c:numCache>
            </c:numRef>
          </c:cat>
          <c:val>
            <c:numRef>
              <c:f>Tabelle1!$B$2:$B$6</c:f>
              <c:numCache>
                <c:formatCode>0.00%</c:formatCode>
                <c:ptCount val="5"/>
                <c:pt idx="0">
                  <c:v>0.01</c:v>
                </c:pt>
                <c:pt idx="1">
                  <c:v>0.01</c:v>
                </c:pt>
                <c:pt idx="2">
                  <c:v>-0.05</c:v>
                </c:pt>
                <c:pt idx="3">
                  <c:v>0.01</c:v>
                </c:pt>
                <c:pt idx="4">
                  <c:v>0.01</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Spalte1</c:v>
                </c:pt>
              </c:strCache>
            </c:strRef>
          </c:tx>
          <c:spPr>
            <a:solidFill>
              <a:schemeClr val="accent5"/>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Tabelle1!$A$2:$A$6</c:f>
              <c:numCache>
                <c:formatCode>General</c:formatCode>
                <c:ptCount val="5"/>
                <c:pt idx="0">
                  <c:v>2021</c:v>
                </c:pt>
                <c:pt idx="1">
                  <c:v>2022</c:v>
                </c:pt>
                <c:pt idx="2">
                  <c:v>2023</c:v>
                </c:pt>
                <c:pt idx="3">
                  <c:v>2024</c:v>
                </c:pt>
                <c:pt idx="4">
                  <c:v>2025</c:v>
                </c:pt>
              </c:numCache>
            </c:numRef>
          </c:cat>
          <c:val>
            <c:numRef>
              <c:f>Tabelle1!$C$2:$C$6</c:f>
              <c:numCache>
                <c:formatCode>0.00%</c:formatCode>
                <c:ptCount val="5"/>
                <c:pt idx="0">
                  <c:v>0.01</c:v>
                </c:pt>
                <c:pt idx="1">
                  <c:v>0.01</c:v>
                </c:pt>
                <c:pt idx="2">
                  <c:v>0.02</c:v>
                </c:pt>
                <c:pt idx="3">
                  <c:v>0.01</c:v>
                </c:pt>
                <c:pt idx="4">
                  <c:v>0.01</c:v>
                </c:pt>
              </c:numCache>
            </c:numRef>
          </c:val>
          <c:extLst>
            <c:ext xmlns:c16="http://schemas.microsoft.com/office/drawing/2014/chart" uri="{C3380CC4-5D6E-409C-BE32-E72D297353CC}">
              <c16:uniqueId val="{00000000-9BFC-4B5F-B91E-8A183F11D510}"/>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0057094441934027"/>
          <c:y val="0.21052072896841212"/>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901D-4D06-9087-9C4DED8B0FD7}"/>
              </c:ext>
            </c:extLst>
          </c:dPt>
          <c:dPt>
            <c:idx val="1"/>
            <c:bubble3D val="0"/>
            <c:spPr>
              <a:solidFill>
                <a:srgbClr val="386FA7"/>
              </a:solidFill>
              <a:ln w="19050">
                <a:solidFill>
                  <a:schemeClr val="lt1"/>
                </a:solidFill>
              </a:ln>
              <a:effectLst/>
            </c:spPr>
            <c:extLst>
              <c:ext xmlns:c16="http://schemas.microsoft.com/office/drawing/2014/chart" uri="{C3380CC4-5D6E-409C-BE32-E72D297353CC}">
                <c16:uniqueId val="{00000003-901D-4D06-9087-9C4DED8B0FD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901D-4D06-9087-9C4DED8B0FD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901D-4D06-9087-9C4DED8B0FD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901D-4D06-9087-9C4DED8B0FD7}"/>
              </c:ext>
            </c:extLst>
          </c:dPt>
          <c:dLbls>
            <c:dLbl>
              <c:idx val="0"/>
              <c:layout>
                <c:manualLayout>
                  <c:x val="0.14070192693583863"/>
                  <c:y val="6.644792528997572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01D-4D06-9087-9C4DED8B0FD7}"/>
                </c:ext>
              </c:extLst>
            </c:dLbl>
            <c:dLbl>
              <c:idx val="1"/>
              <c:layout>
                <c:manualLayout>
                  <c:x val="1.4357339483248828E-2"/>
                  <c:y val="0.1402789533899486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01D-4D06-9087-9C4DED8B0FD7}"/>
                </c:ext>
              </c:extLst>
            </c:dLbl>
            <c:dLbl>
              <c:idx val="2"/>
              <c:layout>
                <c:manualLayout>
                  <c:x val="-0.16080220221238689"/>
                  <c:y val="-3.322396264498786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01D-4D06-9087-9C4DED8B0FD7}"/>
                </c:ext>
              </c:extLst>
            </c:dLbl>
            <c:dLbl>
              <c:idx val="3"/>
              <c:layout>
                <c:manualLayout>
                  <c:x val="-5.7429357932995313E-2"/>
                  <c:y val="-0.114438093554958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01D-4D06-9087-9C4DED8B0FD7}"/>
                </c:ext>
              </c:extLst>
            </c:dLbl>
            <c:dLbl>
              <c:idx val="4"/>
              <c:layout>
                <c:manualLayout>
                  <c:x val="0.15505926641908735"/>
                  <c:y val="-9.967188793496360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01D-4D06-9087-9C4DED8B0FD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S_DiagrammPortfolio!$N$4:$N$8</c:f>
              <c:strCache>
                <c:ptCount val="5"/>
                <c:pt idx="0">
                  <c:v>EUR</c:v>
                </c:pt>
                <c:pt idx="1">
                  <c:v>USD</c:v>
                </c:pt>
                <c:pt idx="2">
                  <c:v>CHF</c:v>
                </c:pt>
                <c:pt idx="3">
                  <c:v>GBP</c:v>
                </c:pt>
                <c:pt idx="4">
                  <c:v>SONSTIGE WÄHRUNGEN</c:v>
                </c:pt>
              </c:strCache>
            </c:strRef>
          </c:cat>
          <c:val>
            <c:numRef>
              <c:f>S_DiagrammPortfolio!$O$4:$O$8</c:f>
              <c:numCache>
                <c:formatCode>0.00%</c:formatCode>
                <c:ptCount val="5"/>
                <c:pt idx="0">
                  <c:v>0.4536</c:v>
                </c:pt>
                <c:pt idx="1">
                  <c:v>0.39689999999999998</c:v>
                </c:pt>
                <c:pt idx="2">
                  <c:v>7.22E-2</c:v>
                </c:pt>
                <c:pt idx="3">
                  <c:v>6.1899999999999997E-2</c:v>
                </c:pt>
                <c:pt idx="4">
                  <c:v>1.55E-2</c:v>
                </c:pt>
              </c:numCache>
            </c:numRef>
          </c:val>
          <c:extLst>
            <c:ext xmlns:c16="http://schemas.microsoft.com/office/drawing/2014/chart" uri="{C3380CC4-5D6E-409C-BE32-E72D297353CC}">
              <c16:uniqueId val="{0000000A-901D-4D06-9087-9C4DED8B0FD7}"/>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3051674743509842"/>
          <c:w val="0.38764816604771835"/>
          <c:h val="0.26948325256490152"/>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Tabelle1!$A$2:$A$13</c:f>
              <c:numCache>
                <c:formatCode>General</c:formatCode>
                <c:ptCount val="12"/>
                <c:pt idx="0">
                  <c:v>2013</c:v>
                </c:pt>
                <c:pt idx="1">
                  <c:v>2014</c:v>
                </c:pt>
                <c:pt idx="2">
                  <c:v>2015</c:v>
                </c:pt>
                <c:pt idx="3">
                  <c:v>2016</c:v>
                </c:pt>
                <c:pt idx="4">
                  <c:v>2017</c:v>
                </c:pt>
                <c:pt idx="5">
                  <c:v>2018</c:v>
                </c:pt>
                <c:pt idx="6">
                  <c:v>2019</c:v>
                </c:pt>
                <c:pt idx="7">
                  <c:v>2020</c:v>
                </c:pt>
                <c:pt idx="8">
                  <c:v>2021</c:v>
                </c:pt>
                <c:pt idx="9">
                  <c:v>2022</c:v>
                </c:pt>
                <c:pt idx="10">
                  <c:v>2023</c:v>
                </c:pt>
                <c:pt idx="11">
                  <c:v>2024</c:v>
                </c:pt>
              </c:numCache>
            </c:numRef>
          </c:cat>
          <c:val>
            <c:numRef>
              <c:f>Tabelle1!$B$2:$B$13</c:f>
              <c:numCache>
                <c:formatCode>General</c:formatCode>
                <c:ptCount val="12"/>
                <c:pt idx="0">
                  <c:v>3318</c:v>
                </c:pt>
                <c:pt idx="1">
                  <c:v>3677</c:v>
                </c:pt>
                <c:pt idx="2">
                  <c:v>3942</c:v>
                </c:pt>
                <c:pt idx="3">
                  <c:v>4266</c:v>
                </c:pt>
                <c:pt idx="4">
                  <c:v>4692</c:v>
                </c:pt>
                <c:pt idx="5">
                  <c:v>4444</c:v>
                </c:pt>
                <c:pt idx="6">
                  <c:v>4963</c:v>
                </c:pt>
                <c:pt idx="7">
                  <c:v>5246</c:v>
                </c:pt>
                <c:pt idx="8">
                  <c:v>6626</c:v>
                </c:pt>
                <c:pt idx="9">
                  <c:v>5789</c:v>
                </c:pt>
                <c:pt idx="10">
                  <c:v>6204</c:v>
                </c:pt>
                <c:pt idx="11">
                  <c:v>6780</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3.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Währungen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6.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2024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29.06.2026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3623430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29.06.2026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29.06.2026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2_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18000" y="5848626"/>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5848626"/>
            <a:ext cx="4165221"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9432709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6217068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pic>
        <p:nvPicPr>
          <p:cNvPr id="3" name="Bild">
            <a:extLst>
              <a:ext uri="{FF2B5EF4-FFF2-40B4-BE49-F238E27FC236}">
                <a16:creationId xmlns:a16="http://schemas.microsoft.com/office/drawing/2014/main" id="{3DDD31F3-EA7E-499D-A956-FE11B487F34F}"/>
              </a:ext>
            </a:extLst>
          </p:cNvPr>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spTree>
    <p:extLst>
      <p:ext uri="{BB962C8B-B14F-4D97-AF65-F5344CB8AC3E}">
        <p14:creationId xmlns:p14="http://schemas.microsoft.com/office/powerpoint/2010/main" val="419546311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2.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1.sv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29.06.2026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1"/>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63" r:id="rId3"/>
    <p:sldLayoutId id="2147483664" r:id="rId4"/>
    <p:sldLayoutId id="2147483667" r:id="rId5"/>
    <p:sldLayoutId id="2147483668" r:id="rId6"/>
    <p:sldLayoutId id="2147483669" r:id="rId7"/>
    <p:sldLayoutId id="2147483670" r:id="rId8"/>
    <p:sldLayoutId id="2147483673" r:id="rId9"/>
    <p:sldLayoutId id="2147483677" r:id="rId10"/>
    <p:sldLayoutId id="2147483678" r:id="rId11"/>
    <p:sldLayoutId id="2147483650" r:id="rId12"/>
    <p:sldLayoutId id="2147483672" r:id="rId13"/>
    <p:sldLayoutId id="2147483671" r:id="rId14"/>
    <p:sldLayoutId id="2147483665" r:id="rId15"/>
    <p:sldLayoutId id="2147483660" r:id="rId16"/>
    <p:sldLayoutId id="2147483666" r:id="rId17"/>
    <p:sldLayoutId id="2147483661" r:id="rId18"/>
    <p:sldLayoutId id="2147483654" r:id="rId19"/>
    <p:sldLayoutId id="2147483655" r:id="rId20"/>
    <p:sldLayoutId id="2147483674" r:id="rId21"/>
    <p:sldLayoutId id="2147483675" r:id="rId22"/>
    <p:sldLayoutId id="2147483676" r:id="rId23"/>
    <p:sldLayoutId id="2147483679" r:id="rId24"/>
    <p:sldLayoutId id="2147483680" r:id="rId25"/>
    <p:sldLayoutId id="2147483681" r:id="rId26"/>
    <p:sldLayoutId id="2147483682" r:id="rId27"/>
    <p:sldLayoutId id="2147483683" r:id="rId28"/>
    <p:sldLayoutId id="2147483684" r:id="rId29"/>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6.xml"/></Relationships>
</file>

<file path=ppt/slides/_rels/slide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slideLayout" Target="../slideLayouts/slideLayout29.xml"/></Relationships>
</file>

<file path=ppt/slides/_rels/slide11.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2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9.jpeg"/><Relationship Id="rId1" Type="http://schemas.openxmlformats.org/officeDocument/2006/relationships/slideLayout" Target="../slideLayouts/slideLayout21.xml"/></Relationships>
</file>

<file path=ppt/slides/_rels/slide2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1.jpeg"/><Relationship Id="rId1" Type="http://schemas.openxmlformats.org/officeDocument/2006/relationships/slideLayout" Target="../slideLayouts/slideLayout22.xml"/><Relationship Id="rId4" Type="http://schemas.openxmlformats.org/officeDocument/2006/relationships/image" Target="../media/image23.jpeg"/></Relationships>
</file>

<file path=ppt/slides/_rels/slide22.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jpeg"/><Relationship Id="rId1" Type="http://schemas.openxmlformats.org/officeDocument/2006/relationships/slideLayout" Target="../slideLayouts/slideLayout22.xml"/><Relationship Id="rId4" Type="http://schemas.openxmlformats.org/officeDocument/2006/relationships/image" Target="../media/image26.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98410-5E31-673D-9804-2E95F88ACB78}"/>
            </a:ext>
          </a:extLst>
        </p:cNvPr>
        <p:cNvGrpSpPr/>
        <p:nvPr/>
      </p:nvGrpSpPr>
      <p:grpSpPr>
        <a:xfrm>
          <a:off x="0" y="0"/>
          <a:ext cx="0" cy="0"/>
          <a:chOff x="0" y="0"/>
          <a:chExt cx="0" cy="0"/>
        </a:xfrm>
      </p:grpSpPr>
      <p:sp>
        <p:nvSpPr>
          <p:cNvPr id="6" name="Untertitel">
            <a:extLst>
              <a:ext uri="{FF2B5EF4-FFF2-40B4-BE49-F238E27FC236}">
                <a16:creationId xmlns:a16="http://schemas.microsoft.com/office/drawing/2014/main" id="{03F039F9-7DF9-F4A3-F012-6490E675058A}"/>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746E2D1E-8A4A-3691-2BEB-945315291DC5}"/>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28784990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77DF082C-7F14-96A3-2286-2DE7F88EE07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a:t>
            </a:fld>
            <a:endParaRPr lang="de-DE"/>
          </a:p>
        </p:txBody>
      </p:sp>
      <p:sp>
        <p:nvSpPr>
          <p:cNvPr id="3" name="Inhalt">
            <a:extLst>
              <a:ext uri="{FF2B5EF4-FFF2-40B4-BE49-F238E27FC236}">
                <a16:creationId xmlns:a16="http://schemas.microsoft.com/office/drawing/2014/main" id="{7F2936BA-F0A5-9AB3-89AF-95CC696DBA02}"/>
              </a:ext>
            </a:extLst>
          </p:cNvPr>
          <p:cNvSpPr>
            <a:spLocks noGrp="1" noRot="1" noMove="1" noResize="1" noEditPoints="1" noAdjustHandles="1" noChangeArrowheads="1" noChangeShapeType="1"/>
          </p:cNvSpPr>
          <p:nvPr>
            <p:ph idx="1"/>
          </p:nvPr>
        </p:nvSpPr>
        <p:spPr>
          <a:xfrm>
            <a:off x="2016125" y="2147233"/>
            <a:ext cx="7272338" cy="3685241"/>
          </a:xfrm>
        </p:spPr>
        <p:txBody>
          <a:bodyPr/>
          <a:lstStyle/>
          <a:p>
            <a:pPr marL="342900" indent="-342900">
              <a:buFont typeface="+mj-lt"/>
              <a:buAutoNum type="arabicPeriod"/>
            </a:pPr>
            <a:r>
              <a:rPr lang="de-DE" dirty="0"/>
              <a:t>Unsere Vermögensverwaltung </a:t>
            </a:r>
            <a:r>
              <a:rPr lang="de-DE" u="sng" dirty="0">
                <a:uFill>
                  <a:solidFill>
                    <a:schemeClr val="accent3"/>
                  </a:solidFill>
                </a:uFill>
              </a:rPr>
              <a:t>	</a:t>
            </a:r>
            <a:endParaRPr lang="de-DE" dirty="0"/>
          </a:p>
          <a:p>
            <a:pPr marL="342900" indent="-342900">
              <a:buFont typeface="+mj-lt"/>
              <a:buAutoNum type="arabicPeriod"/>
            </a:pPr>
            <a:r>
              <a:rPr lang="de-DE" dirty="0"/>
              <a:t>Unser Anlagevorschlag </a:t>
            </a:r>
            <a:r>
              <a:rPr lang="de-DE" u="sng" dirty="0">
                <a:uFill>
                  <a:solidFill>
                    <a:schemeClr val="accent3"/>
                  </a:solidFill>
                </a:uFill>
              </a:rPr>
              <a:t>	</a:t>
            </a:r>
            <a:endParaRPr lang="de-DE" dirty="0"/>
          </a:p>
          <a:p>
            <a:pPr marL="342900" indent="-342900">
              <a:buFont typeface="+mj-lt"/>
              <a:buAutoNum type="arabicPeriod"/>
            </a:pPr>
            <a:r>
              <a:rPr lang="de-DE" dirty="0"/>
              <a:t>Honorar </a:t>
            </a:r>
            <a:r>
              <a:rPr lang="de-DE" u="sng" dirty="0">
                <a:uFill>
                  <a:solidFill>
                    <a:schemeClr val="accent3"/>
                  </a:solidFill>
                </a:uFill>
              </a:rPr>
              <a:t>	</a:t>
            </a:r>
            <a:endParaRPr lang="de-DE" dirty="0"/>
          </a:p>
          <a:p>
            <a:pPr marL="342900" indent="-342900">
              <a:buFont typeface="+mj-lt"/>
              <a:buAutoNum type="arabicPeriod"/>
            </a:pPr>
            <a:r>
              <a:rPr lang="de-DE" dirty="0"/>
              <a:t>Unsere Investmentphilosophie </a:t>
            </a:r>
            <a:r>
              <a:rPr lang="de-DE" u="sng" dirty="0">
                <a:uFill>
                  <a:solidFill>
                    <a:schemeClr val="accent3"/>
                  </a:solidFill>
                </a:uFill>
              </a:rPr>
              <a:t>	</a:t>
            </a:r>
            <a:endParaRPr lang="de-DE" dirty="0"/>
          </a:p>
          <a:p>
            <a:pPr marL="342900" indent="-342900">
              <a:buFont typeface="+mj-lt"/>
              <a:buAutoNum type="arabicPeriod"/>
            </a:pPr>
            <a:r>
              <a:rPr lang="de-DE" dirty="0"/>
              <a:t>Die Bank in Zahlen </a:t>
            </a:r>
            <a:r>
              <a:rPr lang="de-DE" u="sng" dirty="0">
                <a:uFill>
                  <a:solidFill>
                    <a:schemeClr val="accent3"/>
                  </a:solidFill>
                </a:uFill>
              </a:rPr>
              <a:t>	</a:t>
            </a:r>
            <a:endParaRPr lang="de-DE" dirty="0"/>
          </a:p>
          <a:p>
            <a:pPr marL="342900" indent="-342900">
              <a:buFont typeface="+mj-lt"/>
              <a:buAutoNum type="arabicPeriod"/>
            </a:pPr>
            <a:r>
              <a:rPr lang="de-DE" dirty="0"/>
              <a:t>Unsere Standorte </a:t>
            </a:r>
            <a:r>
              <a:rPr lang="de-DE" u="sng" dirty="0">
                <a:uFill>
                  <a:solidFill>
                    <a:schemeClr val="accent3"/>
                  </a:solidFill>
                </a:uFill>
              </a:rPr>
              <a:t>	</a:t>
            </a:r>
            <a:endParaRPr lang="de-DE" dirty="0"/>
          </a:p>
          <a:p>
            <a:pPr marL="342900" indent="-342900">
              <a:buFont typeface="+mj-lt"/>
              <a:buAutoNum type="arabicPeriod"/>
            </a:pPr>
            <a:r>
              <a:rPr lang="de-DE" dirty="0"/>
              <a:t>Unsere Tradition </a:t>
            </a:r>
            <a:r>
              <a:rPr lang="de-DE" u="sng" dirty="0">
                <a:uFill>
                  <a:solidFill>
                    <a:schemeClr val="accent3"/>
                  </a:solidFill>
                </a:uFill>
              </a:rPr>
              <a:t>	</a:t>
            </a:r>
            <a:endParaRPr lang="de-DE" dirty="0"/>
          </a:p>
          <a:p>
            <a:pPr marL="342900" indent="-342900">
              <a:buFont typeface="+mj-lt"/>
              <a:buAutoNum type="arabicPeriod"/>
            </a:pPr>
            <a:r>
              <a:rPr lang="de-DE" dirty="0"/>
              <a:t>Rechtliche Hinweise und Impressum </a:t>
            </a:r>
            <a:r>
              <a:rPr lang="de-DE" u="sng" dirty="0">
                <a:uFill>
                  <a:solidFill>
                    <a:schemeClr val="accent3"/>
                  </a:solidFill>
                </a:uFill>
              </a:rPr>
              <a:t>	</a:t>
            </a:r>
            <a:endParaRPr lang="de-DE" dirty="0"/>
          </a:p>
        </p:txBody>
      </p:sp>
      <p:sp>
        <p:nvSpPr>
          <p:cNvPr id="2" name="Titel">
            <a:extLst>
              <a:ext uri="{FF2B5EF4-FFF2-40B4-BE49-F238E27FC236}">
                <a16:creationId xmlns:a16="http://schemas.microsoft.com/office/drawing/2014/main" id="{B04F1B54-07E4-4DBF-DC92-6DA02727FBAA}"/>
              </a:ext>
            </a:extLst>
          </p:cNvPr>
          <p:cNvSpPr>
            <a:spLocks noGrp="1" noRot="1" noMove="1" noResize="1" noEditPoints="1" noAdjustHandles="1" noChangeArrowheads="1" noChangeShapeType="1"/>
          </p:cNvSpPr>
          <p:nvPr>
            <p:ph type="title"/>
          </p:nvPr>
        </p:nvSpPr>
        <p:spPr>
          <a:xfrm>
            <a:off x="2016124" y="1656652"/>
            <a:ext cx="7272337" cy="360000"/>
          </a:xfrm>
        </p:spPr>
        <p:txBody>
          <a:bodyPr/>
          <a:lstStyle/>
          <a:p>
            <a:r>
              <a:rPr lang="de-DE" dirty="0"/>
              <a:t>Inhalt</a:t>
            </a:r>
          </a:p>
        </p:txBody>
      </p:sp>
    </p:spTree>
    <p:extLst>
      <p:ext uri="{BB962C8B-B14F-4D97-AF65-F5344CB8AC3E}">
        <p14:creationId xmlns:p14="http://schemas.microsoft.com/office/powerpoint/2010/main" val="739230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B92230C9-01C7-F4FE-82CC-6ECE520E2001}"/>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a:t>
            </a:fld>
            <a:endParaRPr lang="de-DE"/>
          </a:p>
        </p:txBody>
      </p:sp>
      <p:sp>
        <p:nvSpPr>
          <p:cNvPr id="3" name="Text">
            <a:extLst>
              <a:ext uri="{FF2B5EF4-FFF2-40B4-BE49-F238E27FC236}">
                <a16:creationId xmlns:a16="http://schemas.microsoft.com/office/drawing/2014/main" id="{91440A74-D9D2-B4F0-F449-0359F5947835}"/>
              </a:ext>
            </a:extLst>
          </p:cNvPr>
          <p:cNvSpPr>
            <a:spLocks noGrp="1" noRot="1" noMove="1" noResize="1" noEditPoints="1" noAdjustHandles="1" noChangeArrowheads="1" noChangeShapeType="1"/>
          </p:cNvSpPr>
          <p:nvPr>
            <p:ph idx="1"/>
          </p:nvPr>
        </p:nvSpPr>
        <p:spPr/>
        <p:txBody>
          <a:bodyPr/>
          <a:lstStyle/>
          <a:p>
            <a:r>
              <a:rPr lang="de-DE" dirty="0"/>
              <a:t>wir freuen uns, dass Sie auf unsere Vermögensverwaltung aufmerksam geworden sind. Unser Haus trägt einen geschichtsträchtigen Namen, der uns mit Stolz erfüllt und dem wir uns verpflichtet fühlen.</a:t>
            </a:r>
          </a:p>
          <a:p>
            <a:r>
              <a:rPr lang="de-DE" dirty="0"/>
              <a:t>Jakob Fugger gilt als der erfolgreichste Bankier seiner Zeit. Zu Beginn des 16. Jahrhunderts entwickelte er das Familien-unternehmen der Gebrüder Fugger vom Textilhandel zum führenden Finanzierer europäischer Adelsdynastien. Schürf-rechte für Silber und Kupfer als Gegenleistung für Darlehen an die Habsburger legten den Grundstein für enormen Reichtum, der noch höhere Kreditvergaben ermöglichte.  Seine Rolle als Kreditgeber der maßgeblichen politischen Akteure machten ihn zu einer der einflussreichsten Persönlichkeiten seiner Epoche. </a:t>
            </a:r>
          </a:p>
        </p:txBody>
      </p:sp>
      <p:sp>
        <p:nvSpPr>
          <p:cNvPr id="4" name="Titel">
            <a:extLst>
              <a:ext uri="{FF2B5EF4-FFF2-40B4-BE49-F238E27FC236}">
                <a16:creationId xmlns:a16="http://schemas.microsoft.com/office/drawing/2014/main" id="{323D42A3-160A-D4DE-FE4A-9BFA9ECD8662}"/>
              </a:ext>
            </a:extLst>
          </p:cNvPr>
          <p:cNvSpPr>
            <a:spLocks noGrp="1" noRot="1" noMove="1" noResize="1" noEditPoints="1" noAdjustHandles="1" noChangeArrowheads="1" noChangeShapeType="1"/>
          </p:cNvSpPr>
          <p:nvPr>
            <p:ph type="title"/>
          </p:nvPr>
        </p:nvSpPr>
        <p:spPr/>
        <p:txBody>
          <a:bodyPr/>
          <a:lstStyle/>
          <a:p>
            <a:r>
              <a:rPr lang="de-DE" dirty="0"/>
              <a:t>Sehr geehrte Interessentin,</a:t>
            </a:r>
            <a:br>
              <a:rPr lang="de-DE" dirty="0"/>
            </a:br>
            <a:r>
              <a:rPr lang="de-DE" dirty="0"/>
              <a:t>sehr geehrter Interessent,</a:t>
            </a:r>
          </a:p>
        </p:txBody>
      </p:sp>
    </p:spTree>
    <p:extLst>
      <p:ext uri="{BB962C8B-B14F-4D97-AF65-F5344CB8AC3E}">
        <p14:creationId xmlns:p14="http://schemas.microsoft.com/office/powerpoint/2010/main" val="2990020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5F897033-8FC2-1E7E-0C1F-C1B3B83042D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4</a:t>
            </a:fld>
            <a:endParaRPr lang="de-DE" dirty="0"/>
          </a:p>
        </p:txBody>
      </p:sp>
      <p:sp>
        <p:nvSpPr>
          <p:cNvPr id="3" name="Text">
            <a:extLst>
              <a:ext uri="{FF2B5EF4-FFF2-40B4-BE49-F238E27FC236}">
                <a16:creationId xmlns:a16="http://schemas.microsoft.com/office/drawing/2014/main" id="{2CB82111-1751-7169-9828-A98AEBE30540}"/>
              </a:ext>
            </a:extLst>
          </p:cNvPr>
          <p:cNvSpPr>
            <a:spLocks noGrp="1" noRot="1" noMove="1" noResize="1" noEditPoints="1" noAdjustHandles="1" noChangeArrowheads="1" noChangeShapeType="1"/>
          </p:cNvSpPr>
          <p:nvPr>
            <p:ph idx="1"/>
          </p:nvPr>
        </p:nvSpPr>
        <p:spPr/>
        <p:txBody>
          <a:bodyPr/>
          <a:lstStyle/>
          <a:p>
            <a:r>
              <a:rPr lang="de-DE" dirty="0"/>
              <a:t>Kluge Investitionen in ländlichen Grundbesitz bildeten die Basis für den Kapitalerhalt des Familienvermögens in den kommenden schwierigen Zeiten. Als gläubiger Katholik </a:t>
            </a:r>
            <a:br>
              <a:rPr lang="de-DE" dirty="0"/>
            </a:br>
            <a:r>
              <a:rPr lang="de-DE" dirty="0"/>
              <a:t>fühlte sich Jakob Fugger immer auch dem Gemeinwohl verpflichtet und gründete mit der </a:t>
            </a:r>
            <a:r>
              <a:rPr lang="de-DE" dirty="0" err="1"/>
              <a:t>Fuggerei</a:t>
            </a:r>
            <a:r>
              <a:rPr lang="de-DE" dirty="0"/>
              <a:t> eine bis heute existierende Stiftung, die als die älteste erhaltene Sozial-siedlung der Welt gilt. Sie feierte 2021 ihr 500-jähriges Jubiläum.</a:t>
            </a:r>
          </a:p>
          <a:p>
            <a:pPr lvl="1"/>
            <a:r>
              <a:rPr lang="de-DE" dirty="0"/>
              <a:t>Auch wir investieren aus langjähriger  Tradition heraus breit aufgestellt am  Kapitalmarkt, um mit Sorgfalt und Weitsicht Ihr Vermögen zu erhalten und zu vermehren. </a:t>
            </a:r>
          </a:p>
          <a:p>
            <a:pPr lvl="1">
              <a:spcBef>
                <a:spcPts val="800"/>
              </a:spcBef>
            </a:pPr>
            <a:r>
              <a:rPr lang="de-DE" dirty="0"/>
              <a:t>Wir freuen uns auf eine erfolgreiche  Zusammenarbeit. </a:t>
            </a:r>
          </a:p>
        </p:txBody>
      </p:sp>
      <p:sp>
        <p:nvSpPr>
          <p:cNvPr id="4" name="Titel">
            <a:extLst>
              <a:ext uri="{FF2B5EF4-FFF2-40B4-BE49-F238E27FC236}">
                <a16:creationId xmlns:a16="http://schemas.microsoft.com/office/drawing/2014/main" id="{D17F4A2E-22EE-C9A9-9C76-55ABEAEDC660}"/>
              </a:ext>
            </a:extLst>
          </p:cNvPr>
          <p:cNvSpPr>
            <a:spLocks noGrp="1" noRot="1" noMove="1" noResize="1" noEditPoints="1" noAdjustHandles="1" noChangeArrowheads="1" noChangeShapeType="1"/>
          </p:cNvSpPr>
          <p:nvPr>
            <p:ph type="title"/>
          </p:nvPr>
        </p:nvSpPr>
        <p:spPr/>
        <p:txBody>
          <a:bodyPr/>
          <a:lstStyle/>
          <a:p>
            <a:r>
              <a:rPr lang="de-DE" dirty="0"/>
              <a:t>Die Fugger</a:t>
            </a:r>
          </a:p>
        </p:txBody>
      </p:sp>
    </p:spTree>
    <p:extLst>
      <p:ext uri="{BB962C8B-B14F-4D97-AF65-F5344CB8AC3E}">
        <p14:creationId xmlns:p14="http://schemas.microsoft.com/office/powerpoint/2010/main" val="24711337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5</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Vermögenserhalt und langfristiges Wachstum</a:t>
            </a:r>
          </a:p>
          <a:p>
            <a:pPr lvl="2"/>
            <a:r>
              <a:rPr lang="de-DE" dirty="0"/>
              <a:t>Unsere Vermögensverwaltung ist auf Sicherheit und langfristige Wertentwicklung ausgerichtet.</a:t>
            </a:r>
          </a:p>
          <a:p>
            <a:r>
              <a:rPr lang="de-DE" dirty="0"/>
              <a:t>Basierend auf präzisen Vorgesprächen</a:t>
            </a:r>
          </a:p>
          <a:p>
            <a:pPr lvl="2"/>
            <a:r>
              <a:rPr lang="de-DE" dirty="0"/>
              <a:t>Auf Grundlage persönlicher Gespräche ermitteln wir exakt Ihre individuellen Präferenzen und Anforderungen hinsichtlich Rendite-Risiko-Profil und Zeithorizont. </a:t>
            </a:r>
          </a:p>
          <a:p>
            <a:r>
              <a:rPr lang="de-DE" dirty="0"/>
              <a:t>Ständige Überwachung und Anpassung</a:t>
            </a:r>
          </a:p>
          <a:p>
            <a:pPr lvl="2"/>
            <a:r>
              <a:rPr lang="de-DE" dirty="0"/>
              <a:t>Realisiert wird eine Anlagestrategie, die mit ihren einzelnen Positionen ständig überwacht und bei Marktveränderungen gegebenenfalls angepasst wird. Wertschwankungen des Portfolios können nicht ausgeschlossen werden. </a:t>
            </a:r>
          </a:p>
          <a:p>
            <a:r>
              <a:rPr lang="de-DE" dirty="0"/>
              <a:t>Breite Vermögensstreuung</a:t>
            </a:r>
          </a:p>
          <a:p>
            <a:pPr lvl="2"/>
            <a:r>
              <a:rPr lang="de-DE" dirty="0"/>
              <a:t>Wir bieten eine breite und transparente Streuung Ihres Vermögens, beispielsweise in Aktien, Anleihen, ETFʹs  </a:t>
            </a:r>
            <a:br>
              <a:rPr lang="de-DE" dirty="0"/>
            </a:br>
            <a:r>
              <a:rPr lang="de-DE" dirty="0"/>
              <a:t>und Fonds, Edelmetalle, risikoadjustierte Produkte wie Discountzertifikate und Aktienanleihen sowie Liquidität.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a:t>Unsere Vermögensverwaltung</a:t>
            </a:r>
            <a:endParaRPr lang="de-DE" dirty="0"/>
          </a:p>
        </p:txBody>
      </p:sp>
    </p:spTree>
    <p:extLst>
      <p:ext uri="{BB962C8B-B14F-4D97-AF65-F5344CB8AC3E}">
        <p14:creationId xmlns:p14="http://schemas.microsoft.com/office/powerpoint/2010/main" val="10119810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6</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
          </p:nvPr>
        </p:nvSpPr>
        <p:spPr>
          <a:xfrm>
            <a:off x="1187448" y="1411638"/>
            <a:ext cx="4140201" cy="4420838"/>
          </a:xfrm>
        </p:spPr>
        <p:txBody>
          <a:bodyPr/>
          <a:lstStyle/>
          <a:p>
            <a:r>
              <a:rPr lang="de-DE" dirty="0"/>
              <a:t>Aufteilung zur Begrenzung von Risiken</a:t>
            </a:r>
          </a:p>
          <a:p>
            <a:pPr lvl="2"/>
            <a:r>
              <a:rPr lang="de-DE" dirty="0"/>
              <a:t>Durch die Aufteilung in verschiedene Assetklassen werden Risiken begrenzt. Trotz breiter Diversifizierung und Risiko-streuung können Wertschwankungen bis hin zu einem Total-verlust einzelner Positionen nicht ausgeschlossen werden. </a:t>
            </a:r>
          </a:p>
          <a:p>
            <a:r>
              <a:rPr lang="de-DE" dirty="0"/>
              <a:t>Anbieterunabhängige Produktauswahl</a:t>
            </a:r>
          </a:p>
          <a:p>
            <a:pPr lvl="2"/>
            <a:r>
              <a:rPr lang="de-DE" dirty="0"/>
              <a:t>Unsere Einzelauswahl in den zuvor genannten Assetklassen ist an keinen Anbieter gebunden, somit können wir uns unabhängig in der Produktauswahl am Markt bewegen.</a:t>
            </a:r>
          </a:p>
          <a:p>
            <a:r>
              <a:rPr lang="de-DE" dirty="0"/>
              <a:t>Planung von erfahrenen Vermögensmanagern</a:t>
            </a:r>
          </a:p>
          <a:p>
            <a:pPr lvl="2"/>
            <a:r>
              <a:rPr lang="de-DE" dirty="0"/>
              <a:t>Unsere erfahrenen Vermögensmanager planen im so genannten Top-Down-Verfahren und setzen je nach Marktsituation die Anlageentscheidungen je Strategie verantwortungsvoll um. </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Vermögensverwaltung </a:t>
            </a:r>
          </a:p>
        </p:txBody>
      </p:sp>
    </p:spTree>
    <p:extLst>
      <p:ext uri="{BB962C8B-B14F-4D97-AF65-F5344CB8AC3E}">
        <p14:creationId xmlns:p14="http://schemas.microsoft.com/office/powerpoint/2010/main" val="1267825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7</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4B6043D2-DE70-475A-EE5E-9E66B8808302}"/>
              </a:ext>
            </a:extLst>
          </p:cNvPr>
          <p:cNvGraphicFramePr>
            <a:graphicFrameLocks/>
          </p:cNvGraphicFramePr>
          <p:nvPr/>
        </p:nvGraphicFramePr>
        <p:xfrm>
          <a:off x="4508500" y="1040400"/>
          <a:ext cx="5613400" cy="4773840"/>
        </p:xfrm>
        <a:graphic>
          <a:graphicData uri="http://schemas.openxmlformats.org/drawingml/2006/table">
            <a:tbl>
              <a:tblPr/>
              <a:tblGrid>
                <a:gridCol w="2184400">
                  <a:extLst>
                    <a:ext uri="{9D8B030D-6E8A-4147-A177-3AD203B41FA5}">
                      <a16:colId xmlns:a16="http://schemas.microsoft.com/office/drawing/2014/main" val="1199563191"/>
                    </a:ext>
                  </a:extLst>
                </a:gridCol>
                <a:gridCol w="50800">
                  <a:extLst>
                    <a:ext uri="{9D8B030D-6E8A-4147-A177-3AD203B41FA5}">
                      <a16:colId xmlns:a16="http://schemas.microsoft.com/office/drawing/2014/main" val="2902384095"/>
                    </a:ext>
                  </a:extLst>
                </a:gridCol>
                <a:gridCol w="571500">
                  <a:extLst>
                    <a:ext uri="{9D8B030D-6E8A-4147-A177-3AD203B41FA5}">
                      <a16:colId xmlns:a16="http://schemas.microsoft.com/office/drawing/2014/main" val="1550764800"/>
                    </a:ext>
                  </a:extLst>
                </a:gridCol>
                <a:gridCol w="50800">
                  <a:extLst>
                    <a:ext uri="{9D8B030D-6E8A-4147-A177-3AD203B41FA5}">
                      <a16:colId xmlns:a16="http://schemas.microsoft.com/office/drawing/2014/main" val="4017843948"/>
                    </a:ext>
                  </a:extLst>
                </a:gridCol>
                <a:gridCol w="571500">
                  <a:extLst>
                    <a:ext uri="{9D8B030D-6E8A-4147-A177-3AD203B41FA5}">
                      <a16:colId xmlns:a16="http://schemas.microsoft.com/office/drawing/2014/main" val="3526482402"/>
                    </a:ext>
                  </a:extLst>
                </a:gridCol>
                <a:gridCol w="50800">
                  <a:extLst>
                    <a:ext uri="{9D8B030D-6E8A-4147-A177-3AD203B41FA5}">
                      <a16:colId xmlns:a16="http://schemas.microsoft.com/office/drawing/2014/main" val="3990061892"/>
                    </a:ext>
                  </a:extLst>
                </a:gridCol>
                <a:gridCol w="571500">
                  <a:extLst>
                    <a:ext uri="{9D8B030D-6E8A-4147-A177-3AD203B41FA5}">
                      <a16:colId xmlns:a16="http://schemas.microsoft.com/office/drawing/2014/main" val="3050243912"/>
                    </a:ext>
                  </a:extLst>
                </a:gridCol>
                <a:gridCol w="50800">
                  <a:extLst>
                    <a:ext uri="{9D8B030D-6E8A-4147-A177-3AD203B41FA5}">
                      <a16:colId xmlns:a16="http://schemas.microsoft.com/office/drawing/2014/main" val="2677096311"/>
                    </a:ext>
                  </a:extLst>
                </a:gridCol>
                <a:gridCol w="571500">
                  <a:extLst>
                    <a:ext uri="{9D8B030D-6E8A-4147-A177-3AD203B41FA5}">
                      <a16:colId xmlns:a16="http://schemas.microsoft.com/office/drawing/2014/main" val="2013873284"/>
                    </a:ext>
                  </a:extLst>
                </a:gridCol>
                <a:gridCol w="50800">
                  <a:extLst>
                    <a:ext uri="{9D8B030D-6E8A-4147-A177-3AD203B41FA5}">
                      <a16:colId xmlns:a16="http://schemas.microsoft.com/office/drawing/2014/main" val="3753814976"/>
                    </a:ext>
                  </a:extLst>
                </a:gridCol>
                <a:gridCol w="889000">
                  <a:extLst>
                    <a:ext uri="{9D8B030D-6E8A-4147-A177-3AD203B41FA5}">
                      <a16:colId xmlns:a16="http://schemas.microsoft.com/office/drawing/2014/main" val="410378902"/>
                    </a:ext>
                  </a:extLst>
                </a:gridCol>
              </a:tblGrid>
              <a:tr h="216000">
                <a:tc>
                  <a:txBody>
                    <a:bodyPr/>
                    <a:lstStyle/>
                    <a:p>
                      <a:pPr algn="l" fontAlgn="ctr"/>
                      <a:r>
                        <a:rPr lang="de-DE" sz="600" b="0"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72967212"/>
                  </a:ext>
                </a:extLst>
              </a:tr>
              <a:tr h="130224">
                <a:tc>
                  <a:txBody>
                    <a:bodyPr/>
                    <a:lstStyle/>
                    <a:p>
                      <a:pPr algn="l" fontAlgn="ct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6875881"/>
                  </a:ext>
                </a:extLst>
              </a:tr>
              <a:tr h="130224">
                <a:tc>
                  <a:txBody>
                    <a:bodyPr/>
                    <a:lstStyle/>
                    <a:p>
                      <a:pPr algn="l" fontAlgn="ctr"/>
                      <a:r>
                        <a:rPr lang="de-DE" sz="600" b="0" i="0" u="none" strike="noStrike">
                          <a:solidFill>
                            <a:srgbClr val="000000"/>
                          </a:solidFill>
                          <a:effectLst/>
                          <a:latin typeface="Noto Sans" panose="020B0502040504020204" pitchFamily="34" charset="0"/>
                        </a:rPr>
                        <a:t>3M Co.</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851745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57841847"/>
                  </a:ext>
                </a:extLst>
              </a:tr>
              <a:tr h="130224">
                <a:tc>
                  <a:txBody>
                    <a:bodyPr/>
                    <a:lstStyle/>
                    <a:p>
                      <a:pPr algn="l" fontAlgn="ctr"/>
                      <a:r>
                        <a:rPr lang="de-DE" sz="600" b="0" i="0" u="none" strike="noStrike">
                          <a:solidFill>
                            <a:srgbClr val="000000"/>
                          </a:solidFill>
                          <a:effectLst/>
                          <a:latin typeface="Noto Sans" panose="020B0502040504020204" pitchFamily="34" charset="0"/>
                        </a:rPr>
                        <a:t>AT &amp; 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A0HL9Z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87511521"/>
                  </a:ext>
                </a:extLst>
              </a:tr>
              <a:tr h="130224">
                <a:tc>
                  <a:txBody>
                    <a:bodyPr/>
                    <a:lstStyle/>
                    <a:p>
                      <a:pPr algn="l" fontAlgn="ctr"/>
                      <a:r>
                        <a:rPr lang="de-DE" sz="600" b="0" i="0" u="none" strike="noStrike">
                          <a:solidFill>
                            <a:srgbClr val="000000"/>
                          </a:solidFill>
                          <a:effectLst/>
                          <a:latin typeface="Noto Sans" panose="020B0502040504020204" pitchFamily="34" charset="0"/>
                        </a:rPr>
                        <a:t>AbbVie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A1J84E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80839084"/>
                  </a:ext>
                </a:extLst>
              </a:tr>
              <a:tr h="130224">
                <a:tc>
                  <a:txBody>
                    <a:bodyPr/>
                    <a:lstStyle/>
                    <a:p>
                      <a:pPr algn="l" fontAlgn="ctr"/>
                      <a:r>
                        <a:rPr lang="da-DK" sz="600" b="0" i="0" u="none" strike="noStrike">
                          <a:solidFill>
                            <a:srgbClr val="000000"/>
                          </a:solidFill>
                          <a:effectLst/>
                          <a:latin typeface="Noto Sans" panose="020B0502040504020204" pitchFamily="34" charset="0"/>
                        </a:rPr>
                        <a:t>Ahold N.V. EO -,01</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00599012"/>
                  </a:ext>
                </a:extLst>
              </a:tr>
              <a:tr h="130224">
                <a:tc>
                  <a:txBody>
                    <a:bodyPr/>
                    <a:lstStyle/>
                    <a:p>
                      <a:pPr algn="l" fontAlgn="ct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40159260"/>
                  </a:ext>
                </a:extLst>
              </a:tr>
              <a:tr h="130224">
                <a:tc>
                  <a:txBody>
                    <a:bodyPr/>
                    <a:lstStyle/>
                    <a:p>
                      <a:pPr algn="l" fontAlgn="ct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848142"/>
                  </a:ext>
                </a:extLst>
              </a:tr>
              <a:tr h="130224">
                <a:tc>
                  <a:txBody>
                    <a:bodyPr/>
                    <a:lstStyle/>
                    <a:p>
                      <a:pPr algn="l" fontAlgn="ct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96766011"/>
                  </a:ext>
                </a:extLst>
              </a:tr>
              <a:tr h="130224">
                <a:tc>
                  <a:txBody>
                    <a:bodyPr/>
                    <a:lstStyle/>
                    <a:p>
                      <a:pPr algn="l" fontAlgn="ctr"/>
                      <a:r>
                        <a:rPr lang="de-DE" sz="600" b="0" i="0" u="none" strike="noStrike">
                          <a:solidFill>
                            <a:srgbClr val="000000"/>
                          </a:solidFill>
                          <a:effectLst/>
                          <a:latin typeface="Noto Sans" panose="020B0502040504020204" pitchFamily="34" charset="0"/>
                        </a:rPr>
                        <a:t>Banco Santander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858872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8860103"/>
                  </a:ext>
                </a:extLst>
              </a:tr>
              <a:tr h="130224">
                <a:tc>
                  <a:txBody>
                    <a:bodyPr/>
                    <a:lstStyle/>
                    <a:p>
                      <a:pPr algn="l" fontAlgn="ctr"/>
                      <a:r>
                        <a:rPr lang="de-DE" sz="600" b="0" i="0" u="none" strike="noStrike">
                          <a:solidFill>
                            <a:srgbClr val="000000"/>
                          </a:solidFill>
                          <a:effectLst/>
                          <a:latin typeface="Noto Sans" panose="020B0502040504020204" pitchFamily="34" charset="0"/>
                        </a:rPr>
                        <a:t>BlackRock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A40PW4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1808405"/>
                  </a:ext>
                </a:extLst>
              </a:tr>
              <a:tr h="130224">
                <a:tc>
                  <a:txBody>
                    <a:bodyPr/>
                    <a:lstStyle/>
                    <a:p>
                      <a:pPr algn="l" fontAlgn="ct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87335822"/>
                  </a:ext>
                </a:extLst>
              </a:tr>
              <a:tr h="130224">
                <a:tc>
                  <a:txBody>
                    <a:bodyPr/>
                    <a:lstStyle/>
                    <a:p>
                      <a:pPr algn="l" fontAlgn="ctr"/>
                      <a:r>
                        <a:rPr lang="de-DE" sz="600" b="0" i="0" u="none" strike="noStrike">
                          <a:solidFill>
                            <a:srgbClr val="000000"/>
                          </a:solidFill>
                          <a:effectLst/>
                          <a:latin typeface="Noto Sans" panose="020B0502040504020204" pitchFamily="34" charset="0"/>
                        </a:rPr>
                        <a:t>Coca-Cola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850663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67375258"/>
                  </a:ext>
                </a:extLst>
              </a:tr>
              <a:tr h="130224">
                <a:tc>
                  <a:txBody>
                    <a:bodyPr/>
                    <a:lstStyle/>
                    <a:p>
                      <a:pPr algn="l" fontAlgn="ctr"/>
                      <a:r>
                        <a:rPr lang="de-DE" sz="600" b="0" i="0" u="none" strike="noStrike">
                          <a:solidFill>
                            <a:srgbClr val="000000"/>
                          </a:solidFill>
                          <a:effectLst/>
                          <a:latin typeface="Noto Sans" panose="020B0502040504020204" pitchFamily="34" charset="0"/>
                        </a:rPr>
                        <a:t>Deutsche Telekom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7941201"/>
                  </a:ext>
                </a:extLst>
              </a:tr>
              <a:tr h="130224">
                <a:tc>
                  <a:txBody>
                    <a:bodyPr/>
                    <a:lstStyle/>
                    <a:p>
                      <a:pPr algn="l" fontAlgn="ctr"/>
                      <a:r>
                        <a:rPr lang="de-DE" sz="600" b="0" i="0" u="none" strike="noStrike">
                          <a:solidFill>
                            <a:srgbClr val="000000"/>
                          </a:solidFill>
                          <a:effectLst/>
                          <a:latin typeface="Noto Sans" panose="020B0502040504020204" pitchFamily="34" charset="0"/>
                        </a:rPr>
                        <a:t>ENEL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928624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5564632"/>
                  </a:ext>
                </a:extLst>
              </a:tr>
              <a:tr h="130224">
                <a:tc>
                  <a:txBody>
                    <a:bodyPr/>
                    <a:lstStyle/>
                    <a:p>
                      <a:pPr algn="l" fontAlgn="ct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53728395"/>
                  </a:ext>
                </a:extLst>
              </a:tr>
              <a:tr h="130224">
                <a:tc>
                  <a:txBody>
                    <a:bodyPr/>
                    <a:lstStyle/>
                    <a:p>
                      <a:pPr algn="l" fontAlgn="ctr"/>
                      <a:r>
                        <a:rPr lang="de-DE" sz="600" b="0" i="0" u="none" strike="noStrike">
                          <a:solidFill>
                            <a:srgbClr val="000000"/>
                          </a:solidFill>
                          <a:effectLst/>
                          <a:latin typeface="Noto Sans" panose="020B0502040504020204" pitchFamily="34" charset="0"/>
                        </a:rPr>
                        <a:t>Generali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850312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30962078"/>
                  </a:ext>
                </a:extLst>
              </a:tr>
              <a:tr h="130224">
                <a:tc>
                  <a:txBody>
                    <a:bodyPr/>
                    <a:lstStyle/>
                    <a:p>
                      <a:pPr algn="l" fontAlgn="ct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1399865"/>
                  </a:ext>
                </a:extLst>
              </a:tr>
              <a:tr h="130224">
                <a:tc>
                  <a:txBody>
                    <a:bodyPr/>
                    <a:lstStyle/>
                    <a:p>
                      <a:pPr algn="l" fontAlgn="ct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41363547"/>
                  </a:ext>
                </a:extLst>
              </a:tr>
              <a:tr h="130224">
                <a:tc>
                  <a:txBody>
                    <a:bodyPr/>
                    <a:lstStyle/>
                    <a:p>
                      <a:pPr algn="l" fontAlgn="ct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74796317"/>
                  </a:ext>
                </a:extLst>
              </a:tr>
              <a:tr h="130224">
                <a:tc>
                  <a:txBody>
                    <a:bodyPr/>
                    <a:lstStyle/>
                    <a:p>
                      <a:pPr algn="l" fontAlgn="ctr"/>
                      <a:r>
                        <a:rPr lang="de-DE" sz="600" b="0" i="0" u="none" strike="noStrike">
                          <a:solidFill>
                            <a:srgbClr val="000000"/>
                          </a:solidFill>
                          <a:effectLst/>
                          <a:latin typeface="Noto Sans" panose="020B0502040504020204" pitchFamily="34" charset="0"/>
                        </a:rPr>
                        <a:t>ING Groep N.V.</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A2ANV3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12859553"/>
                  </a:ext>
                </a:extLst>
              </a:tr>
              <a:tr h="130224">
                <a:tc>
                  <a:txBody>
                    <a:bodyPr/>
                    <a:lstStyle/>
                    <a:p>
                      <a:pPr algn="l" fontAlgn="ctr"/>
                      <a:r>
                        <a:rPr lang="de-DE" sz="600" b="0" i="0" u="none" strike="noStrike">
                          <a:solidFill>
                            <a:srgbClr val="000000"/>
                          </a:solidFill>
                          <a:effectLst/>
                          <a:latin typeface="Noto Sans" panose="020B0502040504020204" pitchFamily="34" charset="0"/>
                        </a:rPr>
                        <a:t>Iberdrola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A0M46B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04725441"/>
                  </a:ext>
                </a:extLst>
              </a:tr>
              <a:tr h="130224">
                <a:tc>
                  <a:txBody>
                    <a:bodyPr/>
                    <a:lstStyle/>
                    <a:p>
                      <a:pPr algn="l" fontAlgn="ctr"/>
                      <a:r>
                        <a:rPr lang="de-DE" sz="600" b="0" i="0" u="none" strike="noStrike">
                          <a:solidFill>
                            <a:srgbClr val="000000"/>
                          </a:solidFill>
                          <a:effectLst/>
                          <a:latin typeface="Noto Sans" panose="020B0502040504020204" pitchFamily="34" charset="0"/>
                        </a:rPr>
                        <a:t>Intl Business Machines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851399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75699290"/>
                  </a:ext>
                </a:extLst>
              </a:tr>
              <a:tr h="130224">
                <a:tc>
                  <a:txBody>
                    <a:bodyPr/>
                    <a:lstStyle/>
                    <a:p>
                      <a:pPr algn="l" fontAlgn="ctr"/>
                      <a:r>
                        <a:rPr lang="de-DE" sz="600" b="0" i="0" u="none" strike="noStrike">
                          <a:solidFill>
                            <a:srgbClr val="000000"/>
                          </a:solidFill>
                          <a:effectLst/>
                          <a:latin typeface="Noto Sans" panose="020B0502040504020204" pitchFamily="34" charset="0"/>
                        </a:rPr>
                        <a:t>Johnson &amp; Johnson</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853260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80350"/>
                  </a:ext>
                </a:extLst>
              </a:tr>
              <a:tr h="130224">
                <a:tc>
                  <a:txBody>
                    <a:bodyPr/>
                    <a:lstStyle/>
                    <a:p>
                      <a:pPr algn="l" fontAlgn="ctr"/>
                      <a:r>
                        <a:rPr lang="de-DE" sz="600" b="0" i="0" u="none" strike="noStrike">
                          <a:solidFill>
                            <a:srgbClr val="000000"/>
                          </a:solidFill>
                          <a:effectLst/>
                          <a:latin typeface="Noto Sans" panose="020B0502040504020204" pitchFamily="34" charset="0"/>
                        </a:rPr>
                        <a:t>Mercadolibre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A0MYNP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53865686"/>
                  </a:ext>
                </a:extLst>
              </a:tr>
              <a:tr h="130224">
                <a:tc>
                  <a:txBody>
                    <a:bodyPr/>
                    <a:lstStyle/>
                    <a:p>
                      <a:pPr algn="l" fontAlgn="ct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76680975"/>
                  </a:ext>
                </a:extLst>
              </a:tr>
              <a:tr h="130224">
                <a:tc>
                  <a:txBody>
                    <a:bodyPr/>
                    <a:lstStyle/>
                    <a:p>
                      <a:pPr algn="l" fontAlgn="ct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7564125"/>
                  </a:ext>
                </a:extLst>
              </a:tr>
              <a:tr h="130224">
                <a:tc>
                  <a:txBody>
                    <a:bodyPr/>
                    <a:lstStyle/>
                    <a:p>
                      <a:pPr algn="l" fontAlgn="ct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94338199"/>
                  </a:ext>
                </a:extLst>
              </a:tr>
              <a:tr h="130224">
                <a:tc>
                  <a:txBody>
                    <a:bodyPr/>
                    <a:lstStyle/>
                    <a:p>
                      <a:pPr algn="l" fontAlgn="ct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46379147"/>
                  </a:ext>
                </a:extLst>
              </a:tr>
              <a:tr h="130224">
                <a:tc>
                  <a:txBody>
                    <a:bodyPr/>
                    <a:lstStyle/>
                    <a:p>
                      <a:pPr algn="l" fontAlgn="ctr"/>
                      <a:r>
                        <a:rPr lang="de-DE" sz="600" b="0" i="0" u="none" strike="noStrike">
                          <a:solidFill>
                            <a:srgbClr val="000000"/>
                          </a:solidFill>
                          <a:effectLst/>
                          <a:latin typeface="Noto Sans" panose="020B0502040504020204" pitchFamily="34" charset="0"/>
                        </a:rPr>
                        <a:t>Nordea Bank Abp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A2N6F4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66391533"/>
                  </a:ext>
                </a:extLst>
              </a:tr>
              <a:tr h="130224">
                <a:tc>
                  <a:txBody>
                    <a:bodyPr/>
                    <a:lstStyle/>
                    <a:p>
                      <a:pPr algn="l" fontAlgn="ctr"/>
                      <a:r>
                        <a:rPr lang="de-DE" sz="600" b="0" i="0" u="none" strike="noStrike">
                          <a:solidFill>
                            <a:srgbClr val="000000"/>
                          </a:solidFill>
                          <a:effectLst/>
                          <a:latin typeface="Noto Sans" panose="020B0502040504020204" pitchFamily="34" charset="0"/>
                        </a:rPr>
                        <a:t>Novartis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904278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86584194"/>
                  </a:ext>
                </a:extLst>
              </a:tr>
              <a:tr h="130224">
                <a:tc>
                  <a:txBody>
                    <a:bodyPr/>
                    <a:lstStyle/>
                    <a:p>
                      <a:pPr algn="l" fontAlgn="ctr"/>
                      <a:r>
                        <a:rPr lang="de-DE" sz="600" b="0" i="0" u="none" strike="noStrike">
                          <a:solidFill>
                            <a:srgbClr val="000000"/>
                          </a:solidFill>
                          <a:effectLst/>
                          <a:latin typeface="Noto Sans" panose="020B0502040504020204" pitchFamily="34" charset="0"/>
                        </a:rPr>
                        <a:t>Philip Morris Internat.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A0NDBJ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69826738"/>
                  </a:ext>
                </a:extLst>
              </a:tr>
              <a:tr h="130224">
                <a:tc>
                  <a:txBody>
                    <a:bodyPr/>
                    <a:lstStyle/>
                    <a:p>
                      <a:pPr algn="l" fontAlgn="ctr"/>
                      <a:r>
                        <a:rPr lang="de-DE" sz="600" b="0" i="0" u="none" strike="noStrike">
                          <a:solidFill>
                            <a:srgbClr val="000000"/>
                          </a:solidFill>
                          <a:effectLst/>
                          <a:latin typeface="Noto Sans" panose="020B0502040504020204" pitchFamily="34" charset="0"/>
                        </a:rPr>
                        <a:t>Roche Holding AG Genußscheine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855167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76809598"/>
                  </a:ext>
                </a:extLst>
              </a:tr>
              <a:tr h="130224">
                <a:tc>
                  <a:txBody>
                    <a:bodyPr/>
                    <a:lstStyle/>
                    <a:p>
                      <a:pPr algn="l" fontAlgn="ctr"/>
                      <a:r>
                        <a:rPr lang="de-DE" sz="600" b="0" i="0" u="none" strike="noStrike">
                          <a:solidFill>
                            <a:srgbClr val="000000"/>
                          </a:solidFill>
                          <a:effectLst/>
                          <a:latin typeface="Noto Sans" panose="020B0502040504020204" pitchFamily="34" charset="0"/>
                        </a:rPr>
                        <a:t>Shell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83248457"/>
                  </a:ext>
                </a:extLst>
              </a:tr>
              <a:tr h="130224">
                <a:tc>
                  <a:txBody>
                    <a:bodyPr/>
                    <a:lstStyle/>
                    <a:p>
                      <a:pPr algn="l" fontAlgn="ctr"/>
                      <a:r>
                        <a:rPr lang="de-DE" sz="600" b="0" i="0" u="none" strike="noStrike" dirty="0">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6136602"/>
                  </a:ext>
                </a:extLst>
              </a:tr>
              <a:tr h="130224">
                <a:tc>
                  <a:txBody>
                    <a:bodyPr/>
                    <a:lstStyle/>
                    <a:p>
                      <a:pPr algn="l" fontAlgn="ct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75,00%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dirty="0">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628745751"/>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3688876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8</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E3C7BCAA-0E17-E5A8-BC75-CEAB4291A886}"/>
              </a:ext>
            </a:extLst>
          </p:cNvPr>
          <p:cNvGraphicFramePr>
            <a:graphicFrameLocks noGrp="1" noDrilldown="1" noMove="1" noResize="1"/>
          </p:cNvGraphicFramePr>
          <p:nvPr/>
        </p:nvGraphicFramePr>
        <p:xfrm>
          <a:off x="4508500" y="1040400"/>
          <a:ext cx="5613400" cy="4773527"/>
        </p:xfrm>
        <a:graphic>
          <a:graphicData uri="http://schemas.openxmlformats.org/drawingml/2006/table">
            <a:tbl>
              <a:tblPr/>
              <a:tblGrid>
                <a:gridCol w="2184400">
                  <a:extLst>
                    <a:ext uri="{9D8B030D-6E8A-4147-A177-3AD203B41FA5}">
                      <a16:colId xmlns:a16="http://schemas.microsoft.com/office/drawing/2014/main" val="357058835"/>
                    </a:ext>
                  </a:extLst>
                </a:gridCol>
                <a:gridCol w="50800">
                  <a:extLst>
                    <a:ext uri="{9D8B030D-6E8A-4147-A177-3AD203B41FA5}">
                      <a16:colId xmlns:a16="http://schemas.microsoft.com/office/drawing/2014/main" val="4244896064"/>
                    </a:ext>
                  </a:extLst>
                </a:gridCol>
                <a:gridCol w="571500">
                  <a:extLst>
                    <a:ext uri="{9D8B030D-6E8A-4147-A177-3AD203B41FA5}">
                      <a16:colId xmlns:a16="http://schemas.microsoft.com/office/drawing/2014/main" val="3824065173"/>
                    </a:ext>
                  </a:extLst>
                </a:gridCol>
                <a:gridCol w="50800">
                  <a:extLst>
                    <a:ext uri="{9D8B030D-6E8A-4147-A177-3AD203B41FA5}">
                      <a16:colId xmlns:a16="http://schemas.microsoft.com/office/drawing/2014/main" val="1992476229"/>
                    </a:ext>
                  </a:extLst>
                </a:gridCol>
                <a:gridCol w="571500">
                  <a:extLst>
                    <a:ext uri="{9D8B030D-6E8A-4147-A177-3AD203B41FA5}">
                      <a16:colId xmlns:a16="http://schemas.microsoft.com/office/drawing/2014/main" val="2579450953"/>
                    </a:ext>
                  </a:extLst>
                </a:gridCol>
                <a:gridCol w="50800">
                  <a:extLst>
                    <a:ext uri="{9D8B030D-6E8A-4147-A177-3AD203B41FA5}">
                      <a16:colId xmlns:a16="http://schemas.microsoft.com/office/drawing/2014/main" val="251546744"/>
                    </a:ext>
                  </a:extLst>
                </a:gridCol>
                <a:gridCol w="571500">
                  <a:extLst>
                    <a:ext uri="{9D8B030D-6E8A-4147-A177-3AD203B41FA5}">
                      <a16:colId xmlns:a16="http://schemas.microsoft.com/office/drawing/2014/main" val="2512385112"/>
                    </a:ext>
                  </a:extLst>
                </a:gridCol>
                <a:gridCol w="50800">
                  <a:extLst>
                    <a:ext uri="{9D8B030D-6E8A-4147-A177-3AD203B41FA5}">
                      <a16:colId xmlns:a16="http://schemas.microsoft.com/office/drawing/2014/main" val="3863983101"/>
                    </a:ext>
                  </a:extLst>
                </a:gridCol>
                <a:gridCol w="571500">
                  <a:extLst>
                    <a:ext uri="{9D8B030D-6E8A-4147-A177-3AD203B41FA5}">
                      <a16:colId xmlns:a16="http://schemas.microsoft.com/office/drawing/2014/main" val="484081209"/>
                    </a:ext>
                  </a:extLst>
                </a:gridCol>
                <a:gridCol w="50800">
                  <a:extLst>
                    <a:ext uri="{9D8B030D-6E8A-4147-A177-3AD203B41FA5}">
                      <a16:colId xmlns:a16="http://schemas.microsoft.com/office/drawing/2014/main" val="334612058"/>
                    </a:ext>
                  </a:extLst>
                </a:gridCol>
                <a:gridCol w="889000">
                  <a:extLst>
                    <a:ext uri="{9D8B030D-6E8A-4147-A177-3AD203B41FA5}">
                      <a16:colId xmlns:a16="http://schemas.microsoft.com/office/drawing/2014/main" val="937435690"/>
                    </a:ext>
                  </a:extLst>
                </a:gridCol>
              </a:tblGrid>
              <a:tr h="216000">
                <a:tc>
                  <a:txBody>
                    <a:bodyPr/>
                    <a:lstStyle/>
                    <a:p>
                      <a:pPr algn="l" fontAlgn="ctr"/>
                      <a:r>
                        <a:rPr lang="de-DE" sz="700" b="0" i="0" u="none" strike="noStrike">
                          <a:solidFill>
                            <a:srgbClr val="FFFFFF"/>
                          </a:solidFill>
                          <a:effectLst/>
                          <a:latin typeface="Noto Sans" panose="020B0502040504020204" pitchFamily="34" charset="0"/>
                        </a:rPr>
                        <a:t>WERTPAPIER</a:t>
                      </a:r>
                    </a:p>
                  </a:txBody>
                  <a:tcPr marL="68673"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Rating</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4118748789"/>
                  </a:ext>
                </a:extLst>
              </a:tr>
              <a:tr h="350579">
                <a:tc>
                  <a:txBody>
                    <a:bodyPr/>
                    <a:lstStyle/>
                    <a:p>
                      <a:pPr algn="l" fontAlgn="ctr"/>
                      <a:r>
                        <a:rPr lang="de-DE" sz="700" b="1" i="0" u="none" strike="noStrike">
                          <a:solidFill>
                            <a:srgbClr val="000000"/>
                          </a:solidFill>
                          <a:effectLst/>
                          <a:latin typeface="Noto Sans" panose="020B0502040504020204" pitchFamily="34" charset="0"/>
                        </a:rPr>
                        <a:t>RENTEN</a:t>
                      </a:r>
                    </a:p>
                  </a:txBody>
                  <a:tcPr marL="6867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KUPON</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FÄLLIGKEIT</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69390718"/>
                  </a:ext>
                </a:extLst>
              </a:tr>
              <a:tr h="350579">
                <a:tc>
                  <a:txBody>
                    <a:bodyPr/>
                    <a:lstStyle/>
                    <a:p>
                      <a:pPr algn="l" fontAlgn="ctr"/>
                      <a:r>
                        <a:rPr lang="de-DE" sz="700" b="0" i="0" u="none" strike="noStrike">
                          <a:solidFill>
                            <a:srgbClr val="000000"/>
                          </a:solidFill>
                          <a:effectLst/>
                          <a:latin typeface="Noto Sans" panose="020B0502040504020204" pitchFamily="34" charset="0"/>
                        </a:rPr>
                        <a:t>Goldman Sachs IHS</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01.11.2028</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A19340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26453592"/>
                  </a:ext>
                </a:extLst>
              </a:tr>
              <a:tr h="350579">
                <a:tc>
                  <a:txBody>
                    <a:bodyPr/>
                    <a:lstStyle/>
                    <a:p>
                      <a:pPr algn="l" fontAlgn="ctr"/>
                      <a:r>
                        <a:rPr lang="de-DE" sz="700" b="0" i="0" u="none" strike="noStrike">
                          <a:solidFill>
                            <a:srgbClr val="000000"/>
                          </a:solidFill>
                          <a:effectLst/>
                          <a:latin typeface="Noto Sans" panose="020B0502040504020204" pitchFamily="34" charset="0"/>
                        </a:rPr>
                        <a:t>Hochtief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26.04.2029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A3E5S0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13439627"/>
                  </a:ext>
                </a:extLst>
              </a:tr>
              <a:tr h="350579">
                <a:tc>
                  <a:txBody>
                    <a:bodyPr/>
                    <a:lstStyle/>
                    <a:p>
                      <a:pPr algn="l" fontAlgn="ctr"/>
                      <a:r>
                        <a:rPr lang="de-DE" sz="700" b="0" i="0" u="none" strike="noStrike">
                          <a:solidFill>
                            <a:srgbClr val="000000"/>
                          </a:solidFill>
                          <a:effectLst/>
                          <a:latin typeface="Noto Sans" panose="020B0502040504020204" pitchFamily="34" charset="0"/>
                        </a:rPr>
                        <a:t>Grenke Finance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06.07.2029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A3LY39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3173850"/>
                  </a:ext>
                </a:extLst>
              </a:tr>
              <a:tr h="350579">
                <a:tc>
                  <a:txBody>
                    <a:bodyPr/>
                    <a:lstStyle/>
                    <a:p>
                      <a:pPr algn="l" fontAlgn="ctr"/>
                      <a:r>
                        <a:rPr lang="de-DE" sz="700" b="0" i="0" u="none" strike="noStrike">
                          <a:solidFill>
                            <a:srgbClr val="000000"/>
                          </a:solidFill>
                          <a:effectLst/>
                          <a:latin typeface="Noto Sans" panose="020B0502040504020204" pitchFamily="34" charset="0"/>
                        </a:rPr>
                        <a:t>VW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16.01.2030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A1ZUTM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7601068"/>
                  </a:ext>
                </a:extLst>
              </a:tr>
              <a:tr h="350579">
                <a:tc>
                  <a:txBody>
                    <a:bodyPr/>
                    <a:lstStyle/>
                    <a:p>
                      <a:pPr algn="l" fontAlgn="ctr"/>
                      <a:r>
                        <a:rPr lang="de-DE" sz="700" b="0" i="0" u="none" strike="noStrike">
                          <a:solidFill>
                            <a:srgbClr val="000000"/>
                          </a:solidFill>
                          <a:effectLst/>
                          <a:latin typeface="Noto Sans" panose="020B0502040504020204" pitchFamily="34" charset="0"/>
                        </a:rPr>
                        <a:t>Porsche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27.09.2030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A351SX</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7396839"/>
                  </a:ext>
                </a:extLst>
              </a:tr>
              <a:tr h="350579">
                <a:tc>
                  <a:txBody>
                    <a:bodyPr/>
                    <a:lstStyle/>
                    <a:p>
                      <a:pPr algn="l" fontAlgn="ctr"/>
                      <a:r>
                        <a:rPr lang="de-DE" sz="700" b="0" i="0" u="none" strike="noStrike">
                          <a:solidFill>
                            <a:srgbClr val="000000"/>
                          </a:solidFill>
                          <a:effectLst/>
                          <a:latin typeface="Noto Sans" panose="020B0502040504020204" pitchFamily="34" charset="0"/>
                        </a:rPr>
                        <a:t>Deutsche Post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3,000%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25.11.2031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A460PH</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30185955"/>
                  </a:ext>
                </a:extLst>
              </a:tr>
              <a:tr h="350579">
                <a:tc>
                  <a:txBody>
                    <a:bodyPr/>
                    <a:lstStyle/>
                    <a:p>
                      <a:pPr algn="l" fontAlgn="ctr"/>
                      <a:r>
                        <a:rPr lang="nl-NL" sz="700" b="0" i="0" u="none" strike="noStrike">
                          <a:solidFill>
                            <a:srgbClr val="000000"/>
                          </a:solidFill>
                          <a:effectLst/>
                          <a:latin typeface="Noto Sans" panose="020B0502040504020204" pitchFamily="34" charset="0"/>
                        </a:rPr>
                        <a:t>KfW staatsg. Green Bond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2,880%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31.03.2032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A38J3W</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97960300"/>
                  </a:ext>
                </a:extLst>
              </a:tr>
              <a:tr h="350579">
                <a:tc>
                  <a:txBody>
                    <a:bodyPr/>
                    <a:lstStyle/>
                    <a:p>
                      <a:pPr algn="l" fontAlgn="ctr"/>
                      <a:r>
                        <a:rPr lang="de-DE" sz="700" b="0" i="0" u="none" strike="noStrike">
                          <a:solidFill>
                            <a:srgbClr val="000000"/>
                          </a:solidFill>
                          <a:effectLst/>
                          <a:latin typeface="Noto Sans" panose="020B0502040504020204" pitchFamily="34" charset="0"/>
                        </a:rPr>
                        <a:t>Bayer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26.05.2033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A351U1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95989047"/>
                  </a:ext>
                </a:extLst>
              </a:tr>
              <a:tr h="350579">
                <a:tc>
                  <a:txBody>
                    <a:bodyPr/>
                    <a:lstStyle/>
                    <a:p>
                      <a:pPr algn="l" fontAlgn="ctr"/>
                      <a:r>
                        <a:rPr lang="de-DE" sz="700" b="1" i="0" u="none" strike="noStrike">
                          <a:solidFill>
                            <a:srgbClr val="000000"/>
                          </a:solidFill>
                          <a:effectLst/>
                          <a:latin typeface="Noto Sans" panose="020B0502040504020204" pitchFamily="34" charset="0"/>
                        </a:rPr>
                        <a:t>EDELMETALLE</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24325203"/>
                  </a:ext>
                </a:extLst>
              </a:tr>
              <a:tr h="350579">
                <a:tc>
                  <a:txBody>
                    <a:bodyPr/>
                    <a:lstStyle/>
                    <a:p>
                      <a:pPr algn="l" fontAlgn="ctr"/>
                      <a:r>
                        <a:rPr lang="de-DE" sz="700" b="0" i="0" u="none" strike="noStrike">
                          <a:solidFill>
                            <a:srgbClr val="000000"/>
                          </a:solidFill>
                          <a:effectLst/>
                          <a:latin typeface="Noto Sans" panose="020B0502040504020204" pitchFamily="34" charset="0"/>
                        </a:rPr>
                        <a:t>XETRA Gold</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96111804"/>
                  </a:ext>
                </a:extLst>
              </a:tr>
              <a:tr h="350579">
                <a:tc>
                  <a:txBody>
                    <a:bodyPr/>
                    <a:lstStyle/>
                    <a:p>
                      <a:pPr algn="l" fontAlgn="ctr"/>
                      <a:r>
                        <a:rPr lang="de-DE" sz="700" b="1" i="0" u="none" strike="noStrike">
                          <a:solidFill>
                            <a:srgbClr val="000000"/>
                          </a:solidFill>
                          <a:effectLst/>
                          <a:latin typeface="Noto Sans" panose="020B0502040504020204" pitchFamily="34" charset="0"/>
                        </a:rPr>
                        <a:t>LIQUIDITÄT</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43265558"/>
                  </a:ext>
                </a:extLst>
              </a:tr>
              <a:tr h="350579">
                <a:tc>
                  <a:txBody>
                    <a:bodyPr/>
                    <a:lstStyle/>
                    <a:p>
                      <a:pPr algn="l" fontAlgn="ctr"/>
                      <a:r>
                        <a:rPr lang="de-DE" sz="700" b="1" i="0" u="none" strike="noStrike">
                          <a:solidFill>
                            <a:srgbClr val="000000"/>
                          </a:solidFill>
                          <a:effectLst/>
                          <a:latin typeface="Noto Sans" panose="020B0502040504020204" pitchFamily="34" charset="0"/>
                        </a:rPr>
                        <a:t> </a:t>
                      </a:r>
                    </a:p>
                  </a:txBody>
                  <a:tcPr marL="6867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448046913"/>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40858863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9</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4000"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3322588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559E-4F12-6CCC-DB84-E0D35C9C138A}"/>
            </a:ext>
          </a:extLst>
        </p:cNvPr>
        <p:cNvGrpSpPr/>
        <p:nvPr/>
      </p:nvGrpSpPr>
      <p:grpSpPr>
        <a:xfrm>
          <a:off x="0" y="0"/>
          <a:ext cx="0" cy="0"/>
          <a:chOff x="0" y="0"/>
          <a:chExt cx="0" cy="0"/>
        </a:xfrm>
      </p:grpSpPr>
      <p:sp>
        <p:nvSpPr>
          <p:cNvPr id="7" name="Fußnote">
            <a:extLst>
              <a:ext uri="{FF2B5EF4-FFF2-40B4-BE49-F238E27FC236}">
                <a16:creationId xmlns:a16="http://schemas.microsoft.com/office/drawing/2014/main" id="{DD674138-94D3-0285-DE9D-E19C6859546C}"/>
              </a:ext>
            </a:extLst>
          </p:cNvPr>
          <p:cNvSpPr>
            <a:spLocks noGrp="1" noRot="1" noMove="1" noResize="1" noEditPoints="1" noAdjustHandles="1" noChangeArrowheads="1" noChangeShapeType="1"/>
          </p:cNvSpPr>
          <p:nvPr>
            <p:ph type="body" sz="quarter" idx="16"/>
          </p:nvPr>
        </p:nvSpPr>
        <p:spPr/>
        <p:txBody>
          <a:bodyPr/>
          <a:lstStyle/>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EABFBA2B-F360-C415-CC18-274C4F6E269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10</a:t>
            </a:fld>
            <a:endParaRPr lang="de-DE"/>
          </a:p>
        </p:txBody>
      </p:sp>
      <p:sp>
        <p:nvSpPr>
          <p:cNvPr id="21" name="Quelle">
            <a:extLst>
              <a:ext uri="{FF2B5EF4-FFF2-40B4-BE49-F238E27FC236}">
                <a16:creationId xmlns:a16="http://schemas.microsoft.com/office/drawing/2014/main" id="{FF5A9426-CA05-8113-EAB5-2DD5C950EEF6}"/>
              </a:ext>
            </a:extLst>
          </p:cNvPr>
          <p:cNvSpPr txBox="1">
            <a:spLocks/>
          </p:cNvSpPr>
          <p:nvPr/>
        </p:nvSpPr>
        <p:spPr>
          <a:xfrm>
            <a:off x="8185981" y="6182738"/>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B58FC890-01F2-4FE7-8401-5E5C4BEEA7EB}" type="datetime1">
              <a:rPr lang="de-DE" sz="600" smtClean="0">
                <a:solidFill>
                  <a:schemeClr val="bg2"/>
                </a:solidFill>
              </a:rPr>
              <a:t>29.06.2026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6908C2D7-99AB-7F2A-FCEC-A943DBE4C293}"/>
              </a:ext>
            </a:extLst>
          </p:cNvPr>
          <p:cNvGraphicFramePr>
            <a:graphicFrameLocks noGrp="1"/>
          </p:cNvGraphicFramePr>
          <p:nvPr>
            <p:ph type="chart" sz="quarter" idx="15"/>
            <p:extLst>
              <p:ext uri="{D42A27DB-BD31-4B8C-83A1-F6EECF244321}">
                <p14:modId xmlns:p14="http://schemas.microsoft.com/office/powerpoint/2010/main" val="3744574108"/>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6FB8664C-31BB-963F-4D0B-B3A35323EEDD}"/>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4A31429D-0E5D-BF45-DECB-1E3B864D3B22}"/>
              </a:ext>
            </a:extLst>
          </p:cNvPr>
          <p:cNvSpPr txBox="1">
            <a:spLocks/>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1200" dirty="0">
                <a:sym typeface="Wingdings 2" panose="05020102010507070707" pitchFamily="18" charset="2"/>
              </a:rPr>
              <a:t> </a:t>
            </a:r>
            <a:r>
              <a:rPr lang="de-DE" sz="1050" baseline="14000" dirty="0"/>
              <a:t>Referenzportfolio</a:t>
            </a:r>
            <a:r>
              <a:rPr lang="de-DE" sz="1200" baseline="14000" dirty="0"/>
              <a:t> </a:t>
            </a:r>
            <a:r>
              <a:rPr lang="de-DE" sz="1200" dirty="0"/>
              <a:t>     </a:t>
            </a:r>
            <a:r>
              <a:rPr lang="de-DE" sz="1200" dirty="0">
                <a:solidFill>
                  <a:schemeClr val="accent5"/>
                </a:solidFill>
                <a:sym typeface="Wingdings 2" panose="05020102010507070707" pitchFamily="18" charset="2"/>
              </a:rPr>
              <a:t></a:t>
            </a:r>
            <a:r>
              <a:rPr lang="de-DE" sz="1200" dirty="0">
                <a:sym typeface="Wingdings 2" panose="05020102010507070707" pitchFamily="18" charset="2"/>
              </a:rPr>
              <a:t> </a:t>
            </a:r>
            <a:r>
              <a:rPr lang="de-DE" sz="1050" baseline="14000" dirty="0">
                <a:sym typeface="Wingdings 2" panose="05020102010507070707" pitchFamily="18" charset="2"/>
              </a:rPr>
              <a:t>Benchmark</a:t>
            </a:r>
            <a:endParaRPr lang="de-DE" sz="1200" baseline="14000" dirty="0"/>
          </a:p>
        </p:txBody>
      </p:sp>
      <p:graphicFrame>
        <p:nvGraphicFramePr>
          <p:cNvPr id="15" name="Diagramm links">
            <a:extLst>
              <a:ext uri="{FF2B5EF4-FFF2-40B4-BE49-F238E27FC236}">
                <a16:creationId xmlns:a16="http://schemas.microsoft.com/office/drawing/2014/main" id="{8395BAFC-8009-5BD5-6691-5BE66AC6B204}"/>
              </a:ext>
            </a:extLst>
          </p:cNvPr>
          <p:cNvGraphicFramePr>
            <a:graphicFrameLocks noGrp="1"/>
          </p:cNvGraphicFramePr>
          <p:nvPr>
            <p:ph type="chart" sz="quarter" idx="14"/>
            <p:extLst>
              <p:ext uri="{D42A27DB-BD31-4B8C-83A1-F6EECF244321}">
                <p14:modId xmlns:p14="http://schemas.microsoft.com/office/powerpoint/2010/main" val="220637155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B543E8FE-081D-9B8F-E7AA-95FC75BF4F26}"/>
              </a:ext>
            </a:extLst>
          </p:cNvPr>
          <p:cNvSpPr txBox="1">
            <a:spLocks noGrp="1" noRot="1" noMove="1" noResize="1" noEditPoints="1" noAdjustHandles="1" noChangeArrowheads="1" noChangeShapeType="1"/>
          </p:cNvSpPr>
          <p:nvPr/>
        </p:nvSpPr>
        <p:spPr>
          <a:xfrm>
            <a:off x="358775" y="2679700"/>
            <a:ext cx="3970800" cy="230832"/>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a:t>
            </a:r>
          </a:p>
        </p:txBody>
      </p:sp>
      <p:sp>
        <p:nvSpPr>
          <p:cNvPr id="2" name="Titel">
            <a:extLst>
              <a:ext uri="{FF2B5EF4-FFF2-40B4-BE49-F238E27FC236}">
                <a16:creationId xmlns:a16="http://schemas.microsoft.com/office/drawing/2014/main" id="{2C057F53-A11C-8C65-4031-106C717F3C87}"/>
              </a:ext>
            </a:extLst>
          </p:cNvPr>
          <p:cNvSpPr>
            <a:spLocks noGrp="1" noRot="1" noMove="1" noResize="1" noEditPoints="1" noAdjustHandles="1" noChangeArrowheads="1" noChangeShapeType="1"/>
          </p:cNvSpPr>
          <p:nvPr>
            <p:ph type="title"/>
          </p:nvPr>
        </p:nvSpPr>
        <p:spPr/>
        <p:txBody>
          <a:bodyPr/>
          <a:lstStyle/>
          <a:p>
            <a:r>
              <a:rPr lang="de-DE" dirty="0"/>
              <a:t>Referenzportfolio| </a:t>
            </a:r>
            <a:r>
              <a:rPr lang="de-DE" b="0" dirty="0"/>
              <a:t>Wertentwicklung (mit Benchmark)</a:t>
            </a:r>
          </a:p>
        </p:txBody>
      </p:sp>
      <p:graphicFrame>
        <p:nvGraphicFramePr>
          <p:cNvPr id="8" name="Tabelle">
            <a:extLst>
              <a:ext uri="{FF2B5EF4-FFF2-40B4-BE49-F238E27FC236}">
                <a16:creationId xmlns:a16="http://schemas.microsoft.com/office/drawing/2014/main" id="{7F525895-3A35-C2FD-CF11-E04BE38AB3F9}"/>
              </a:ext>
            </a:extLst>
          </p:cNvPr>
          <p:cNvGraphicFramePr>
            <a:graphicFrameLocks noGrp="1"/>
          </p:cNvGraphicFramePr>
          <p:nvPr>
            <p:ph type="tbl" sz="quarter" idx="13"/>
            <p:extLst>
              <p:ext uri="{D42A27DB-BD31-4B8C-83A1-F6EECF244321}">
                <p14:modId xmlns:p14="http://schemas.microsoft.com/office/powerpoint/2010/main" val="4088301092"/>
              </p:ext>
            </p:extLst>
          </p:nvPr>
        </p:nvGraphicFramePr>
        <p:xfrm>
          <a:off x="349250" y="1041400"/>
          <a:ext cx="3970801" cy="1298131"/>
        </p:xfrm>
        <a:graphic>
          <a:graphicData uri="http://schemas.openxmlformats.org/drawingml/2006/table">
            <a:tbl>
              <a:tblPr firstRow="1" bandRow="1">
                <a:tableStyleId>{69012ECD-51FC-41F1-AA8D-1B2483CD663E}</a:tableStyleId>
              </a:tblPr>
              <a:tblGrid>
                <a:gridCol w="1350530">
                  <a:extLst>
                    <a:ext uri="{9D8B030D-6E8A-4147-A177-3AD203B41FA5}">
                      <a16:colId xmlns:a16="http://schemas.microsoft.com/office/drawing/2014/main" val="1715752775"/>
                    </a:ext>
                  </a:extLst>
                </a:gridCol>
                <a:gridCol w="187742">
                  <a:extLst>
                    <a:ext uri="{9D8B030D-6E8A-4147-A177-3AD203B41FA5}">
                      <a16:colId xmlns:a16="http://schemas.microsoft.com/office/drawing/2014/main" val="2276385665"/>
                    </a:ext>
                  </a:extLst>
                </a:gridCol>
                <a:gridCol w="1090569">
                  <a:extLst>
                    <a:ext uri="{9D8B030D-6E8A-4147-A177-3AD203B41FA5}">
                      <a16:colId xmlns:a16="http://schemas.microsoft.com/office/drawing/2014/main" val="296509542"/>
                    </a:ext>
                  </a:extLst>
                </a:gridCol>
                <a:gridCol w="201336">
                  <a:extLst>
                    <a:ext uri="{9D8B030D-6E8A-4147-A177-3AD203B41FA5}">
                      <a16:colId xmlns:a16="http://schemas.microsoft.com/office/drawing/2014/main" val="3096284928"/>
                    </a:ext>
                  </a:extLst>
                </a:gridCol>
                <a:gridCol w="1140624">
                  <a:extLst>
                    <a:ext uri="{9D8B030D-6E8A-4147-A177-3AD203B41FA5}">
                      <a16:colId xmlns:a16="http://schemas.microsoft.com/office/drawing/2014/main" val="1512982123"/>
                    </a:ext>
                  </a:extLst>
                </a:gridCol>
              </a:tblGrid>
              <a:tr h="190901">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r>
                        <a:rPr lang="de-DE" sz="900" b="1" cap="all" baseline="0" dirty="0">
                          <a:solidFill>
                            <a:schemeClr val="bg1"/>
                          </a:solidFill>
                        </a:rPr>
                        <a:t>Referenz</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r>
                        <a:rPr lang="de-DE" sz="900" b="1" cap="all" baseline="0" dirty="0">
                          <a:solidFill>
                            <a:schemeClr val="bg1"/>
                          </a:solidFill>
                        </a:rPr>
                        <a:t>Benchmark</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44543">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9003071"/>
                  </a:ext>
                </a:extLst>
              </a:tr>
              <a:tr h="254536">
                <a:tc>
                  <a:txBody>
                    <a:bodyPr/>
                    <a:lstStyle/>
                    <a:p>
                      <a:r>
                        <a:rPr lang="de-DE" sz="900" b="0" dirty="0"/>
                        <a:t>Performance p.a.</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54536">
                <a:tc>
                  <a:txBody>
                    <a:bodyPr/>
                    <a:lstStyle/>
                    <a:p>
                      <a:r>
                        <a:rPr lang="de-DE" sz="900" b="0" dirty="0"/>
                        <a:t>Volatilität</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54536">
                <a:tc>
                  <a:txBody>
                    <a:bodyPr/>
                    <a:lstStyle/>
                    <a:p>
                      <a:r>
                        <a:rPr lang="de-DE" sz="900" b="0" dirty="0"/>
                        <a:t>Sharpe Ratio</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54536">
                <a:tc>
                  <a:txBody>
                    <a:bodyPr/>
                    <a:lstStyle/>
                    <a:p>
                      <a:r>
                        <a:rPr lang="de-DE" sz="900" b="0" dirty="0"/>
                        <a:t>Max </a:t>
                      </a:r>
                      <a:r>
                        <a:rPr lang="de-DE" sz="900" b="0" dirty="0" err="1"/>
                        <a:t>Drawdown</a:t>
                      </a:r>
                      <a:endParaRPr lang="de-DE" sz="900" b="0" dirty="0"/>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44543">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946379"/>
                  </a:ext>
                </a:extLst>
              </a:tr>
            </a:tbl>
          </a:graphicData>
        </a:graphic>
      </p:graphicFrame>
    </p:spTree>
    <p:extLst>
      <p:ext uri="{BB962C8B-B14F-4D97-AF65-F5344CB8AC3E}">
        <p14:creationId xmlns:p14="http://schemas.microsoft.com/office/powerpoint/2010/main" val="38705007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4854F75-D5A4-EA14-63DF-598B30386FEB}"/>
              </a:ext>
            </a:extLst>
          </p:cNvPr>
          <p:cNvSpPr>
            <a:spLocks noGrp="1"/>
          </p:cNvSpPr>
          <p:nvPr>
            <p:ph type="sldNum" sz="quarter" idx="12"/>
          </p:nvPr>
        </p:nvSpPr>
        <p:spPr/>
        <p:txBody>
          <a:bodyPr/>
          <a:lstStyle/>
          <a:p>
            <a:fld id="{3AE71D6B-ACB6-4F4C-A895-DCAEF1760EAA}" type="slidenum">
              <a:rPr lang="de-DE" smtClean="0"/>
              <a:t>11</a:t>
            </a:fld>
            <a:endParaRPr lang="de-DE"/>
          </a:p>
        </p:txBody>
      </p:sp>
      <p:graphicFrame>
        <p:nvGraphicFramePr>
          <p:cNvPr id="4" name="C_Kennzahlen1">
            <a:extLst>
              <a:ext uri="{FF2B5EF4-FFF2-40B4-BE49-F238E27FC236}">
                <a16:creationId xmlns:a16="http://schemas.microsoft.com/office/drawing/2014/main" id="{06CC37AF-1957-4EDD-A195-2A5011DE1C17}"/>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sp>
        <p:nvSpPr>
          <p:cNvPr id="3" name="Titel 2">
            <a:extLst>
              <a:ext uri="{FF2B5EF4-FFF2-40B4-BE49-F238E27FC236}">
                <a16:creationId xmlns:a16="http://schemas.microsoft.com/office/drawing/2014/main" id="{1239D923-0285-AE25-A9C4-A7978C4FE940}"/>
              </a:ext>
            </a:extLst>
          </p:cNvPr>
          <p:cNvSpPr>
            <a:spLocks noGrp="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703571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12</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Ausschluss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5759163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13</a:t>
            </a:fld>
            <a:endParaRPr lang="de-DE"/>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Steuerlicher Hinweis zum Honorar</a:t>
            </a:r>
          </a:p>
        </p:txBody>
      </p:sp>
      <p:sp>
        <p:nvSpPr>
          <p:cNvPr id="8" name="Text 1">
            <a:extLst>
              <a:ext uri="{FF2B5EF4-FFF2-40B4-BE49-F238E27FC236}">
                <a16:creationId xmlns:a16="http://schemas.microsoft.com/office/drawing/2014/main" id="{3202C050-C091-696A-2180-76024B7BC3C0}"/>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Im Rahmen der Belastung der Vermögensverwaltungsgebühr werden wir den steuerlich abzugsfähigen Transaktionskostenanteil in den allgemeinen Verlustverrechnungstopf für Ihre Konten und Depots einstellen, damit erfolgt automatisch die Verrechnung mit Ihren abgeltungssteuerpflichtigen Erträgen und damit eine Steuerminderung. Die Bank übernimmt keine Gewähr dafür, dass der Transaktionskostenanteil der &gt;&gt;all-in-fee&lt;&lt;  sowohl dem Grunde als auch der Höhe nach als Steuer mindernd anerkannt wird. </a:t>
            </a:r>
          </a:p>
          <a:p>
            <a:pPr lvl="2"/>
            <a:endParaRPr lang="de-DE" dirty="0"/>
          </a:p>
        </p:txBody>
      </p:sp>
      <p:sp>
        <p:nvSpPr>
          <p:cNvPr id="14" name="Text 1">
            <a:extLst>
              <a:ext uri="{FF2B5EF4-FFF2-40B4-BE49-F238E27FC236}">
                <a16:creationId xmlns:a16="http://schemas.microsoft.com/office/drawing/2014/main" id="{C794E5D2-FEC0-5D64-F611-5B08C6B01664}"/>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Mit der Einführung der Abgeltungssteuer zum 1.Januar 2009 sind Werbungskosten bei der Ermittlung von Einkünften aus Kapitalvermögen grundsätzlich nicht mehr abzugsfähig. Hingegen wirken sich Anschaffungsnebenkosten und Veräußerungskosten steuermindernd aus.</a:t>
            </a:r>
            <a:br>
              <a:rPr lang="de-DE" dirty="0"/>
            </a:br>
            <a:endParaRPr lang="de-DE" dirty="0"/>
          </a:p>
          <a:p>
            <a:pPr lvl="2"/>
            <a:r>
              <a:rPr lang="de-DE" dirty="0"/>
              <a:t>Im Rahmen der Vermögensverwaltung &gt;&gt;all-in-fee&lt;&lt; werden sämtliche Management- und eigene Transaktionsleistungen der Bank, sowie alle Dienstleistungen abgegolten, die im Zusammenhang mit der Führung der verwalteten Konten und Depots erbracht werden. Es gilt ein Anteil der Transaktionskosten (Anschaffungsnebenkosten und Veräußerungskosten) an der &gt;&gt;all-in-fee&lt;&lt; in Höhe von 50% als vereinbart und wird im Vermögensverwaltungsvertrag festgeschrieben. </a:t>
            </a:r>
          </a:p>
          <a:p>
            <a:pPr lvl="2"/>
            <a:endParaRPr lang="de-DE" dirty="0"/>
          </a:p>
        </p:txBody>
      </p:sp>
    </p:spTree>
    <p:extLst>
      <p:ext uri="{BB962C8B-B14F-4D97-AF65-F5344CB8AC3E}">
        <p14:creationId xmlns:p14="http://schemas.microsoft.com/office/powerpoint/2010/main" val="23963615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E5AB73C8-63DD-B360-5A7F-E1758BA253F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14</a:t>
            </a:fld>
            <a:endParaRPr lang="de-DE"/>
          </a:p>
        </p:txBody>
      </p:sp>
      <p:sp>
        <p:nvSpPr>
          <p:cNvPr id="3" name="Text">
            <a:extLst>
              <a:ext uri="{FF2B5EF4-FFF2-40B4-BE49-F238E27FC236}">
                <a16:creationId xmlns:a16="http://schemas.microsoft.com/office/drawing/2014/main" id="{24FD612B-4314-DFD5-B833-7F27A3B852EB}"/>
              </a:ext>
            </a:extLst>
          </p:cNvPr>
          <p:cNvSpPr>
            <a:spLocks noGrp="1" noRot="1" noMove="1" noResize="1" noEditPoints="1" noAdjustHandles="1" noChangeArrowheads="1" noChangeShapeType="1"/>
          </p:cNvSpPr>
          <p:nvPr>
            <p:ph idx="1"/>
          </p:nvPr>
        </p:nvSpPr>
        <p:spPr/>
        <p:txBody>
          <a:bodyPr/>
          <a:lstStyle/>
          <a:p>
            <a:r>
              <a:rPr lang="de-DE" dirty="0"/>
              <a:t>Langfristiger Vermögenserhalt</a:t>
            </a:r>
          </a:p>
          <a:p>
            <a:pPr lvl="2"/>
            <a:r>
              <a:rPr lang="de-DE" dirty="0"/>
              <a:t>Langfristiger Vermögenserhalt durch ein realistisches Rendite-Risiko-Verhältnis mit einem konservativen Investmentansatz und dem Verzicht auf Aktionismus.</a:t>
            </a:r>
          </a:p>
          <a:p>
            <a:r>
              <a:rPr lang="de-DE" dirty="0"/>
              <a:t>Regelmäßiger Kundendialog</a:t>
            </a:r>
          </a:p>
          <a:p>
            <a:pPr lvl="2"/>
            <a:r>
              <a:rPr lang="de-DE" dirty="0"/>
              <a:t>Transparenz durch weitgehende Fokussierung auf Einzel-titel, aussagekräftige Portfolioberichte und den regel-mäßigen partnerschaftlichen Dialog mit unseren Kunden.</a:t>
            </a:r>
          </a:p>
          <a:p>
            <a:r>
              <a:rPr lang="de-DE" dirty="0"/>
              <a:t>Unabhängiges Investment</a:t>
            </a:r>
          </a:p>
          <a:p>
            <a:pPr lvl="2"/>
            <a:r>
              <a:rPr lang="de-DE" dirty="0"/>
              <a:t>Unabhängigkeit durch den Verzicht auf den Einsatz eigener Produkte.</a:t>
            </a:r>
          </a:p>
          <a:p>
            <a:r>
              <a:rPr lang="de-DE" dirty="0"/>
              <a:t>Breite Risikostreuung</a:t>
            </a:r>
          </a:p>
          <a:p>
            <a:pPr lvl="2"/>
            <a:r>
              <a:rPr lang="de-DE" dirty="0"/>
              <a:t>Risikostreuung durch Diversifizierung von Anlageklassen, Branchen, Regionen und Währungen.</a:t>
            </a:r>
          </a:p>
          <a:p>
            <a:r>
              <a:rPr lang="de-DE" dirty="0"/>
              <a:t>Erfahrene Mitarbeiter und professionelle Tools</a:t>
            </a:r>
          </a:p>
          <a:p>
            <a:pPr lvl="2"/>
            <a:r>
              <a:rPr lang="de-DE" dirty="0"/>
              <a:t>Professionalität durch den Einsatz moderner fundamentaler und quantitativer Analyseinstrumente und erfahrener Mitarbeiter als Entscheidungsträger.</a:t>
            </a:r>
          </a:p>
        </p:txBody>
      </p:sp>
      <p:sp>
        <p:nvSpPr>
          <p:cNvPr id="4" name="Titel">
            <a:extLst>
              <a:ext uri="{FF2B5EF4-FFF2-40B4-BE49-F238E27FC236}">
                <a16:creationId xmlns:a16="http://schemas.microsoft.com/office/drawing/2014/main" id="{E12E245F-B51F-131E-6109-E14B015469E8}"/>
              </a:ext>
            </a:extLst>
          </p:cNvPr>
          <p:cNvSpPr>
            <a:spLocks noGrp="1" noRot="1" noMove="1" noResize="1" noEditPoints="1" noAdjustHandles="1" noChangeArrowheads="1" noChangeShapeType="1"/>
          </p:cNvSpPr>
          <p:nvPr>
            <p:ph type="title"/>
          </p:nvPr>
        </p:nvSpPr>
        <p:spPr/>
        <p:txBody>
          <a:bodyPr/>
          <a:lstStyle/>
          <a:p>
            <a:r>
              <a:rPr lang="de-DE" dirty="0"/>
              <a:t>Unsere Investmentphilosophie</a:t>
            </a:r>
          </a:p>
        </p:txBody>
      </p:sp>
    </p:spTree>
    <p:extLst>
      <p:ext uri="{BB962C8B-B14F-4D97-AF65-F5344CB8AC3E}">
        <p14:creationId xmlns:p14="http://schemas.microsoft.com/office/powerpoint/2010/main" val="34735164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4B23C-4952-B118-10C4-11038750BE1D}"/>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4507B016-EA07-C819-C973-1AD0148C4D5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15</a:t>
            </a:fld>
            <a:endParaRPr lang="de-DE" dirty="0"/>
          </a:p>
        </p:txBody>
      </p:sp>
      <p:sp>
        <p:nvSpPr>
          <p:cNvPr id="3" name="Text">
            <a:extLst>
              <a:ext uri="{FF2B5EF4-FFF2-40B4-BE49-F238E27FC236}">
                <a16:creationId xmlns:a16="http://schemas.microsoft.com/office/drawing/2014/main" id="{C062E8D2-57BE-4760-1DDE-D04E35D3BC15}"/>
              </a:ext>
            </a:extLst>
          </p:cNvPr>
          <p:cNvSpPr>
            <a:spLocks noGrp="1" noRot="1" noMove="1" noResize="1" noEditPoints="1" noAdjustHandles="1" noChangeArrowheads="1" noChangeShapeType="1"/>
          </p:cNvSpPr>
          <p:nvPr>
            <p:ph idx="1"/>
          </p:nvPr>
        </p:nvSpPr>
        <p:spPr/>
        <p:txBody>
          <a:bodyPr/>
          <a:lstStyle/>
          <a:p>
            <a:r>
              <a:rPr lang="de-DE" dirty="0"/>
              <a:t>Die optimale Vermögensverwaltungsstrategie</a:t>
            </a:r>
          </a:p>
          <a:p>
            <a:pPr lvl="2"/>
            <a:r>
              <a:rPr lang="de-DE" dirty="0"/>
              <a:t>Gemeinsame Festlegung der für Sie optimalen Vermögens-</a:t>
            </a:r>
            <a:r>
              <a:rPr lang="de-DE" dirty="0" err="1"/>
              <a:t>verwaltungsstrategie</a:t>
            </a:r>
            <a:r>
              <a:rPr lang="de-DE" dirty="0"/>
              <a:t> auf Basis einer Analyse Ihrer aktuellen Vermögensstruktur, Ihren individuellen Rendite-Risiko-präferenzen, Ihrem angestrebten Anlagehorizont und Ihren Anlagezielen.</a:t>
            </a:r>
          </a:p>
          <a:p>
            <a:pPr lvl="2"/>
            <a:r>
              <a:rPr lang="de-DE" dirty="0"/>
              <a:t>Erstallokation Ihres gewünschten Anlagebetrages in die von Ihnen gewählte Anlagestrategie.</a:t>
            </a:r>
          </a:p>
          <a:p>
            <a:r>
              <a:rPr lang="de-DE" dirty="0"/>
              <a:t>Ganzheitliches Risikomanagement</a:t>
            </a:r>
          </a:p>
          <a:p>
            <a:pPr lvl="2"/>
            <a:r>
              <a:rPr lang="de-DE" dirty="0"/>
              <a:t>Laufende strategische und taktische Anpassung der Asset-Allokation Ihres Vermögensverwaltungsportfolios auf Basis makroökonomischer und betriebswirtschaftlicher Daten. Unsere Anlageentscheidungen treffen wir vor allem auf der Basis fundamentaler Einschätzungen unserer erfahrenen Mitarbeiter in den Vermögensverwaltungsgremien und flankieren diese durch quantitative Analyseinstrumente. Besonderen Wert legen wir hierbei auf unser ganzheitliches Risikomanagement.</a:t>
            </a:r>
          </a:p>
          <a:p>
            <a:pPr lvl="2"/>
            <a:r>
              <a:rPr lang="de-DE" dirty="0"/>
              <a:t>Kontinuierliche Informationen über die Wertentwicklung Ihres Portfolios auf Basis regelmäßiger Berichte – auf Wunsch auch digital – und persönlicher Gespräche.</a:t>
            </a:r>
          </a:p>
        </p:txBody>
      </p:sp>
      <p:sp>
        <p:nvSpPr>
          <p:cNvPr id="4" name="Titel">
            <a:extLst>
              <a:ext uri="{FF2B5EF4-FFF2-40B4-BE49-F238E27FC236}">
                <a16:creationId xmlns:a16="http://schemas.microsoft.com/office/drawing/2014/main" id="{5B40CA86-9E97-426C-F695-509278588661}"/>
              </a:ext>
            </a:extLst>
          </p:cNvPr>
          <p:cNvSpPr>
            <a:spLocks noGrp="1" noRot="1" noMove="1" noResize="1" noEditPoints="1" noAdjustHandles="1" noChangeArrowheads="1" noChangeShapeType="1"/>
          </p:cNvSpPr>
          <p:nvPr>
            <p:ph type="title"/>
          </p:nvPr>
        </p:nvSpPr>
        <p:spPr/>
        <p:txBody>
          <a:bodyPr/>
          <a:lstStyle/>
          <a:p>
            <a:r>
              <a:rPr lang="de-DE" dirty="0"/>
              <a:t>Unser Investmentprozess</a:t>
            </a:r>
          </a:p>
        </p:txBody>
      </p:sp>
    </p:spTree>
    <p:extLst>
      <p:ext uri="{BB962C8B-B14F-4D97-AF65-F5344CB8AC3E}">
        <p14:creationId xmlns:p14="http://schemas.microsoft.com/office/powerpoint/2010/main" val="28892639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16</a:t>
            </a:fld>
            <a:endParaRPr lang="de-DE"/>
          </a:p>
        </p:txBody>
      </p:sp>
      <p:sp>
        <p:nvSpPr>
          <p:cNvPr id="11" name="Text 3">
            <a:extLst>
              <a:ext uri="{FF2B5EF4-FFF2-40B4-BE49-F238E27FC236}">
                <a16:creationId xmlns:a16="http://schemas.microsoft.com/office/drawing/2014/main" id="{E721D5B7-2B6D-2367-6C3B-B7F2BC41399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r>
              <a:rPr lang="de-DE" dirty="0"/>
              <a:t>Zinsänderungsrisiko</a:t>
            </a:r>
          </a:p>
          <a:p>
            <a:pPr lvl="1"/>
            <a:r>
              <a:rPr lang="de-DE" dirty="0"/>
              <a:t>Stark steigende Zinsen können den Wert eines bestehenden Anleiheportfolios temporär stark reduzieren. Durch ein professionelles und </a:t>
            </a:r>
            <a:r>
              <a:rPr lang="de-DE" dirty="0" err="1"/>
              <a:t>ak-tives</a:t>
            </a:r>
            <a:r>
              <a:rPr lang="de-DE" dirty="0"/>
              <a:t> Laufzeitenmanagement streben wir eine deutliche Verringerung dieses Risikos an. </a:t>
            </a:r>
          </a:p>
          <a:p>
            <a:r>
              <a:rPr lang="de-DE" dirty="0"/>
              <a:t>Liquiditätsrisiko</a:t>
            </a:r>
          </a:p>
          <a:p>
            <a:pPr lvl="1"/>
            <a:r>
              <a:rPr lang="de-DE" dirty="0"/>
              <a:t>Das Liquiditätsrisiko schließen wir aus, indem wir ausschließlich in liquide Anlagen </a:t>
            </a:r>
            <a:r>
              <a:rPr lang="de-DE" dirty="0" err="1"/>
              <a:t>investie-ren</a:t>
            </a:r>
            <a:r>
              <a:rPr lang="de-DE" dirty="0"/>
              <a:t>. Geschlossene oder beschränkt verfügbare Produkte werden nicht erworben. </a:t>
            </a:r>
          </a:p>
        </p:txBody>
      </p:sp>
      <p:sp>
        <p:nvSpPr>
          <p:cNvPr id="4" name="Text 2">
            <a:extLst>
              <a:ext uri="{FF2B5EF4-FFF2-40B4-BE49-F238E27FC236}">
                <a16:creationId xmlns:a16="http://schemas.microsoft.com/office/drawing/2014/main" id="{3043CE18-576B-2D06-5DFA-D88278972F54}"/>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r>
              <a:rPr lang="de-DE" dirty="0"/>
              <a:t>Bonitäts-/Emittentenrisiko</a:t>
            </a:r>
          </a:p>
          <a:p>
            <a:pPr lvl="1"/>
            <a:r>
              <a:rPr lang="de-DE" dirty="0"/>
              <a:t>Bei Anleihen guter Bonität kann mit hoher Wahrscheinlichkeit davon ausgegangen wer-den, dass diese bei Laufzeitende vollständig zu-rückgezahlt werden. Daher achten wir auf gute Ratingeinstufungen der Anleiheemittenten. Weil es aber immer wieder vorkommt, dass die Bonität eines Emittenten sich verschlechtert, ohne dass dies rechtzeitig von den Rating-agenturen erkannt und bekanntgegeben wird, bilden wir uns auch ein eigens Urteil im Rah-</a:t>
            </a:r>
            <a:r>
              <a:rPr lang="de-DE" dirty="0" err="1"/>
              <a:t>men</a:t>
            </a:r>
            <a:r>
              <a:rPr lang="de-DE" dirty="0"/>
              <a:t> einer kontinuierlichen Überwachung der Emittenten durch unsere Anleihespezialisten. </a:t>
            </a:r>
          </a:p>
          <a:p>
            <a:r>
              <a:rPr lang="de-DE" dirty="0"/>
              <a:t>Währungsrisiko</a:t>
            </a:r>
          </a:p>
          <a:p>
            <a:pPr lvl="1"/>
            <a:r>
              <a:rPr lang="de-DE" dirty="0"/>
              <a:t>Das Einzelwährungsrisiko reduzieren wir durch eine breite und global orientierte </a:t>
            </a:r>
            <a:r>
              <a:rPr lang="de-DE" dirty="0" err="1"/>
              <a:t>Diversifizie-rung</a:t>
            </a:r>
            <a:r>
              <a:rPr lang="de-DE" dirty="0"/>
              <a:t>. Bei unserer konservativen Strategie ist der Fremdwährungsanteil auf maximal 25% beschränkt.</a:t>
            </a:r>
          </a:p>
        </p:txBody>
      </p:sp>
      <p:sp>
        <p:nvSpPr>
          <p:cNvPr id="5" name="Text 1">
            <a:extLst>
              <a:ext uri="{FF2B5EF4-FFF2-40B4-BE49-F238E27FC236}">
                <a16:creationId xmlns:a16="http://schemas.microsoft.com/office/drawing/2014/main" id="{E998F134-05AB-FCF7-7224-9CAA4D134CE5}"/>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r>
              <a:rPr lang="de-DE" dirty="0"/>
              <a:t>Kursänderungsrisiko</a:t>
            </a:r>
          </a:p>
          <a:p>
            <a:pPr lvl="1"/>
            <a:r>
              <a:rPr lang="de-DE" dirty="0"/>
              <a:t>Wertschwankungen eines Portfolios können niemals ausgeschlossen werden, weil Wertpapiermärkte typischerweise durch ihre Volatilität geprägt sind. Die Schwankungen können aber gemildert werden durch eine sorgfältige Einzeltitelauswahl und einer breiten Streuung. In turbulenten Marktphasen ist es wichtig, einen kühlen Kopf zu bewahren. Absicherungsmaßnahmen und vor allem eine aktive Steuerung der Investitionsquoten können Schwankungen reduzieren, Chancen können aber nur wahrgenommen werden, wenn man in einer Erholungsphase entsprechend investiert ist. Für eine sorgfältige Steuerung sind weder übertriebene Furcht noch Gier hilfreich, vielmehr braucht es Augen-maß und vor allem sehr viel Erfahrung und die professionelle Anwendung einer breiten Palette moderner Risikomanagement-instrumente.</a:t>
            </a:r>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Unser Risikomanagement</a:t>
            </a:r>
          </a:p>
        </p:txBody>
      </p:sp>
    </p:spTree>
    <p:extLst>
      <p:ext uri="{BB962C8B-B14F-4D97-AF65-F5344CB8AC3E}">
        <p14:creationId xmlns:p14="http://schemas.microsoft.com/office/powerpoint/2010/main" val="30897898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1F6443-B286-D081-D271-BC363530CE57}"/>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17</a:t>
            </a:fld>
            <a:endParaRPr lang="de-DE"/>
          </a:p>
        </p:txBody>
      </p:sp>
      <p:graphicFrame>
        <p:nvGraphicFramePr>
          <p:cNvPr id="6" name="Tabelle">
            <a:extLst>
              <a:ext uri="{FF2B5EF4-FFF2-40B4-BE49-F238E27FC236}">
                <a16:creationId xmlns:a16="http://schemas.microsoft.com/office/drawing/2014/main" id="{254E7761-68C2-F358-6C12-E31D307F6055}"/>
              </a:ext>
            </a:extLst>
          </p:cNvPr>
          <p:cNvGraphicFramePr>
            <a:graphicFrameLocks noGrp="1"/>
          </p:cNvGraphicFramePr>
          <p:nvPr>
            <p:ph idx="13"/>
            <p:extLst>
              <p:ext uri="{D42A27DB-BD31-4B8C-83A1-F6EECF244321}">
                <p14:modId xmlns:p14="http://schemas.microsoft.com/office/powerpoint/2010/main" val="3851782016"/>
              </p:ext>
            </p:extLst>
          </p:nvPr>
        </p:nvGraphicFramePr>
        <p:xfrm>
          <a:off x="3671888" y="1041400"/>
          <a:ext cx="6458309" cy="3708000"/>
        </p:xfrm>
        <a:graphic>
          <a:graphicData uri="http://schemas.openxmlformats.org/drawingml/2006/table">
            <a:tbl>
              <a:tblPr firstRow="1" bandRow="1">
                <a:tableStyleId>{69012ECD-51FC-41F1-AA8D-1B2483CD663E}</a:tableStyleId>
              </a:tblPr>
              <a:tblGrid>
                <a:gridCol w="246600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39420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anlageklasse</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anlagelösungen</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360000">
                <a:tc>
                  <a:txBody>
                    <a:bodyPr/>
                    <a:lstStyle/>
                    <a:p>
                      <a:r>
                        <a:rPr lang="de-DE" sz="900" b="0" dirty="0"/>
                        <a:t>Liquidität</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a:spcAft>
                          <a:spcPts val="600"/>
                        </a:spcAft>
                        <a:buFontTx/>
                        <a:buBlip>
                          <a:blip r:embed="rId2"/>
                        </a:buBlip>
                      </a:pPr>
                      <a:r>
                        <a:rPr lang="de-DE" sz="900" b="0" dirty="0"/>
                        <a:t>Kontoguthaben</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0595349"/>
                  </a:ext>
                </a:extLst>
              </a:tr>
              <a:tr h="1404000">
                <a:tc>
                  <a:txBody>
                    <a:bodyPr/>
                    <a:lstStyle/>
                    <a:p>
                      <a:r>
                        <a:rPr lang="de-DE" sz="900" b="0" dirty="0"/>
                        <a:t>Anleihen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Staatsanleihen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Pfandbriefe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Unternehmensanleihen/ Bankenanleihen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Strukturierte 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5848646"/>
                  </a:ext>
                </a:extLst>
              </a:tr>
              <a:tr h="756000">
                <a:tc>
                  <a:txBody>
                    <a:bodyPr/>
                    <a:lstStyle/>
                    <a:p>
                      <a:r>
                        <a:rPr lang="de-DE" sz="900" b="0" dirty="0"/>
                        <a:t>Aktien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Einzeltitel</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2306334"/>
                  </a:ext>
                </a:extLst>
              </a:tr>
              <a:tr h="576000">
                <a:tc>
                  <a:txBody>
                    <a:bodyPr/>
                    <a:lstStyle/>
                    <a:p>
                      <a:r>
                        <a:rPr lang="de-DE" sz="900" b="0" dirty="0"/>
                        <a:t>Risikoadjustierte Produkte </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Discountzertifikate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Aktienanleihen </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3228351"/>
                  </a:ext>
                </a:extLst>
              </a:tr>
              <a:tr h="396000">
                <a:tc>
                  <a:txBody>
                    <a:bodyPr/>
                    <a:lstStyle/>
                    <a:p>
                      <a:r>
                        <a:rPr lang="de-DE" sz="900" b="0" dirty="0"/>
                        <a:t>Edelmetalle</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ETCs auf Edelmetalle</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914861"/>
                  </a:ext>
                </a:extLst>
              </a:tr>
            </a:tbl>
          </a:graphicData>
        </a:graphic>
      </p:graphicFrame>
      <p:sp>
        <p:nvSpPr>
          <p:cNvPr id="4" name="Text">
            <a:extLst>
              <a:ext uri="{FF2B5EF4-FFF2-40B4-BE49-F238E27FC236}">
                <a16:creationId xmlns:a16="http://schemas.microsoft.com/office/drawing/2014/main" id="{163A3452-6B15-0579-2A3C-DEE1D79CEEDF}"/>
              </a:ext>
            </a:extLst>
          </p:cNvPr>
          <p:cNvSpPr>
            <a:spLocks noGrp="1" noRot="1" noMove="1" noResize="1" noEditPoints="1" noAdjustHandles="1" noChangeArrowheads="1" noChangeShapeType="1"/>
          </p:cNvSpPr>
          <p:nvPr>
            <p:ph idx="1"/>
          </p:nvPr>
        </p:nvSpPr>
        <p:spPr/>
        <p:txBody>
          <a:bodyPr/>
          <a:lstStyle/>
          <a:p>
            <a:pPr lvl="2"/>
            <a:r>
              <a:rPr lang="de-DE" dirty="0"/>
              <a:t>Die Kombination verschiedener </a:t>
            </a:r>
            <a:r>
              <a:rPr lang="de-DE" dirty="0" err="1"/>
              <a:t>Anlageklas-sen</a:t>
            </a:r>
            <a:r>
              <a:rPr lang="de-DE" dirty="0"/>
              <a:t> – je nach individueller Risikobereitschaft –ermöglicht eine valide Portfoliodiversifikation, mit dem Ziel, auftretenden Marktvolatilitäten entgegenzuwirken. Dies kann durch unter-schiedliche Finanzinstrumente erfolgen.</a:t>
            </a:r>
          </a:p>
        </p:txBody>
      </p:sp>
      <p:sp>
        <p:nvSpPr>
          <p:cNvPr id="5" name="Titel">
            <a:extLst>
              <a:ext uri="{FF2B5EF4-FFF2-40B4-BE49-F238E27FC236}">
                <a16:creationId xmlns:a16="http://schemas.microsoft.com/office/drawing/2014/main" id="{A2638D9C-D791-60AF-4096-C955640E52F4}"/>
              </a:ext>
            </a:extLst>
          </p:cNvPr>
          <p:cNvSpPr>
            <a:spLocks noGrp="1" noRot="1" noMove="1" noResize="1" noEditPoints="1" noAdjustHandles="1" noChangeArrowheads="1" noChangeShapeType="1"/>
          </p:cNvSpPr>
          <p:nvPr>
            <p:ph type="title"/>
          </p:nvPr>
        </p:nvSpPr>
        <p:spPr/>
        <p:txBody>
          <a:bodyPr/>
          <a:lstStyle/>
          <a:p>
            <a:r>
              <a:rPr lang="de-DE" dirty="0"/>
              <a:t>Anlageklassen und Ausgestaltung</a:t>
            </a:r>
          </a:p>
        </p:txBody>
      </p:sp>
    </p:spTree>
    <p:extLst>
      <p:ext uri="{BB962C8B-B14F-4D97-AF65-F5344CB8AC3E}">
        <p14:creationId xmlns:p14="http://schemas.microsoft.com/office/powerpoint/2010/main" val="33181527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1BDD082-AD9A-6DD8-3348-F165CD10DD2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18</a:t>
            </a:fld>
            <a:endParaRPr lang="de-DE"/>
          </a:p>
        </p:txBody>
      </p:sp>
      <p:sp>
        <p:nvSpPr>
          <p:cNvPr id="6" name="Text">
            <a:extLst>
              <a:ext uri="{FF2B5EF4-FFF2-40B4-BE49-F238E27FC236}">
                <a16:creationId xmlns:a16="http://schemas.microsoft.com/office/drawing/2014/main" id="{D1C6F36B-B5D5-FA42-8AB2-64B475944977}"/>
              </a:ext>
            </a:extLst>
          </p:cNvPr>
          <p:cNvSpPr txBox="1">
            <a:spLocks noGrp="1" noRot="1" noMove="1" noResize="1" noEditPoints="1" noAdjustHandles="1" noChangeArrowheads="1" noChangeShapeType="1"/>
          </p:cNvSpPr>
          <p:nvPr/>
        </p:nvSpPr>
        <p:spPr>
          <a:xfrm>
            <a:off x="358775" y="4697839"/>
            <a:ext cx="4789488" cy="719684"/>
          </a:xfrm>
          <a:prstGeom prst="rect">
            <a:avLst/>
          </a:prstGeom>
          <a:noFill/>
        </p:spPr>
        <p:txBody>
          <a:bodyPr wrap="square" lIns="0" tIns="0" rIns="0" bIns="0" rtlCol="0">
            <a:spAutoFit/>
          </a:bodyPr>
          <a:lstStyle/>
          <a:p>
            <a:pPr marL="198000" indent="-198000">
              <a:lnSpc>
                <a:spcPts val="1900"/>
              </a:lnSpc>
              <a:buBlip>
                <a:blip r:embed="rId2"/>
              </a:buBlip>
            </a:pPr>
            <a:r>
              <a:rPr lang="de-DE" sz="1500" b="1" dirty="0">
                <a:solidFill>
                  <a:schemeClr val="accent1"/>
                </a:solidFill>
                <a:latin typeface="+mj-lt"/>
              </a:rPr>
              <a:t>Gerne stellen wir Ihnen in regelmäßigen  Abständen oder auf Wunsch einen aktuellen Bericht zur Verfügung.</a:t>
            </a:r>
          </a:p>
        </p:txBody>
      </p:sp>
      <p:graphicFrame>
        <p:nvGraphicFramePr>
          <p:cNvPr id="5" name="Tabelle">
            <a:extLst>
              <a:ext uri="{FF2B5EF4-FFF2-40B4-BE49-F238E27FC236}">
                <a16:creationId xmlns:a16="http://schemas.microsoft.com/office/drawing/2014/main" id="{1CF60558-7248-3322-4596-B33D91F44A2E}"/>
              </a:ext>
            </a:extLst>
          </p:cNvPr>
          <p:cNvGraphicFramePr>
            <a:graphicFrameLocks noGrp="1" noDrilldown="1" noMove="1" noResize="1"/>
          </p:cNvGraphicFramePr>
          <p:nvPr>
            <p:ph idx="1"/>
            <p:extLst>
              <p:ext uri="{D42A27DB-BD31-4B8C-83A1-F6EECF244321}">
                <p14:modId xmlns:p14="http://schemas.microsoft.com/office/powerpoint/2010/main" val="2308914870"/>
              </p:ext>
            </p:extLst>
          </p:nvPr>
        </p:nvGraphicFramePr>
        <p:xfrm>
          <a:off x="358775" y="1041400"/>
          <a:ext cx="9756000" cy="2866168"/>
        </p:xfrm>
        <a:graphic>
          <a:graphicData uri="http://schemas.openxmlformats.org/drawingml/2006/table">
            <a:tbl>
              <a:tblPr firstRow="1" bandRow="1">
                <a:tableStyleId>{2D5ABB26-0587-4C30-8999-92F81FD0307C}</a:tableStyleId>
              </a:tblPr>
              <a:tblGrid>
                <a:gridCol w="2304000">
                  <a:extLst>
                    <a:ext uri="{9D8B030D-6E8A-4147-A177-3AD203B41FA5}">
                      <a16:colId xmlns:a16="http://schemas.microsoft.com/office/drawing/2014/main" val="2960144582"/>
                    </a:ext>
                  </a:extLst>
                </a:gridCol>
                <a:gridCol w="180000">
                  <a:extLst>
                    <a:ext uri="{9D8B030D-6E8A-4147-A177-3AD203B41FA5}">
                      <a16:colId xmlns:a16="http://schemas.microsoft.com/office/drawing/2014/main" val="3719935177"/>
                    </a:ext>
                  </a:extLst>
                </a:gridCol>
                <a:gridCol w="2304000">
                  <a:extLst>
                    <a:ext uri="{9D8B030D-6E8A-4147-A177-3AD203B41FA5}">
                      <a16:colId xmlns:a16="http://schemas.microsoft.com/office/drawing/2014/main" val="1099370210"/>
                    </a:ext>
                  </a:extLst>
                </a:gridCol>
                <a:gridCol w="180000">
                  <a:extLst>
                    <a:ext uri="{9D8B030D-6E8A-4147-A177-3AD203B41FA5}">
                      <a16:colId xmlns:a16="http://schemas.microsoft.com/office/drawing/2014/main" val="1043823165"/>
                    </a:ext>
                  </a:extLst>
                </a:gridCol>
                <a:gridCol w="2304000">
                  <a:extLst>
                    <a:ext uri="{9D8B030D-6E8A-4147-A177-3AD203B41FA5}">
                      <a16:colId xmlns:a16="http://schemas.microsoft.com/office/drawing/2014/main" val="2181555188"/>
                    </a:ext>
                  </a:extLst>
                </a:gridCol>
                <a:gridCol w="180000">
                  <a:extLst>
                    <a:ext uri="{9D8B030D-6E8A-4147-A177-3AD203B41FA5}">
                      <a16:colId xmlns:a16="http://schemas.microsoft.com/office/drawing/2014/main" val="1222754153"/>
                    </a:ext>
                  </a:extLst>
                </a:gridCol>
                <a:gridCol w="2304000">
                  <a:extLst>
                    <a:ext uri="{9D8B030D-6E8A-4147-A177-3AD203B41FA5}">
                      <a16:colId xmlns:a16="http://schemas.microsoft.com/office/drawing/2014/main" val="1006042721"/>
                    </a:ext>
                  </a:extLst>
                </a:gridCol>
              </a:tblGrid>
              <a:tr h="370840">
                <a:tc>
                  <a:txBody>
                    <a:bodyPr/>
                    <a:lstStyle/>
                    <a:p>
                      <a: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pPr>
                      <a:r>
                        <a:rPr lang="de-DE" sz="1100" b="1" kern="1200" dirty="0">
                          <a:solidFill>
                            <a:schemeClr val="accent1"/>
                          </a:solidFill>
                          <a:latin typeface="+mj-lt"/>
                          <a:ea typeface="+mn-ea"/>
                          <a:cs typeface="+mn-cs"/>
                        </a:rPr>
                        <a:t>Vermögensverwaltungsbericht</a:t>
                      </a:r>
                    </a:p>
                    <a:p>
                      <a:pPr>
                        <a:lnSpc>
                          <a:spcPts val="1600"/>
                        </a:lnSpc>
                      </a:pPr>
                      <a:r>
                        <a:rPr lang="de-DE" sz="1100" kern="1200" dirty="0">
                          <a:solidFill>
                            <a:schemeClr val="tx1"/>
                          </a:solidFill>
                          <a:latin typeface="+mn-lt"/>
                          <a:ea typeface="+mn-ea"/>
                          <a:cs typeface="+mn-cs"/>
                        </a:rPr>
                        <a:t>Wir stellen Ihnen gemäß den </a:t>
                      </a:r>
                    </a:p>
                    <a:p>
                      <a:pPr>
                        <a:lnSpc>
                          <a:spcPts val="1600"/>
                        </a:lnSpc>
                      </a:pPr>
                      <a:r>
                        <a:rPr lang="de-DE" sz="1100" kern="1200" dirty="0">
                          <a:solidFill>
                            <a:schemeClr val="tx1"/>
                          </a:solidFill>
                          <a:latin typeface="+mn-lt"/>
                          <a:ea typeface="+mn-ea"/>
                          <a:cs typeface="+mn-cs"/>
                        </a:rPr>
                        <a:t>gesetzlichen Anforderungen </a:t>
                      </a:r>
                    </a:p>
                    <a:p>
                      <a:pPr>
                        <a:lnSpc>
                          <a:spcPts val="1600"/>
                        </a:lnSpc>
                      </a:pPr>
                      <a:r>
                        <a:rPr lang="de-DE" sz="1100" kern="1200" dirty="0">
                          <a:solidFill>
                            <a:schemeClr val="tx1"/>
                          </a:solidFill>
                          <a:latin typeface="+mn-lt"/>
                          <a:ea typeface="+mn-ea"/>
                          <a:cs typeface="+mn-cs"/>
                        </a:rPr>
                        <a:t>quartalsweise einen detaillierten </a:t>
                      </a:r>
                    </a:p>
                    <a:p>
                      <a:pPr>
                        <a:lnSpc>
                          <a:spcPts val="1600"/>
                        </a:lnSpc>
                      </a:pPr>
                      <a:r>
                        <a:rPr lang="de-DE" sz="1100" kern="1200" dirty="0">
                          <a:solidFill>
                            <a:schemeClr val="tx1"/>
                          </a:solidFill>
                          <a:latin typeface="+mn-lt"/>
                          <a:ea typeface="+mn-ea"/>
                          <a:cs typeface="+mn-cs"/>
                        </a:rPr>
                        <a:t>Bericht zur Verfügung. Folgende Bestandteile sind in diesem Be-</a:t>
                      </a:r>
                      <a:r>
                        <a:rPr lang="de-DE" sz="1100" kern="1200" dirty="0" err="1">
                          <a:solidFill>
                            <a:schemeClr val="tx1"/>
                          </a:solidFill>
                          <a:latin typeface="+mn-lt"/>
                          <a:ea typeface="+mn-ea"/>
                          <a:cs typeface="+mn-cs"/>
                        </a:rPr>
                        <a:t>richt</a:t>
                      </a:r>
                      <a:r>
                        <a:rPr lang="de-DE" sz="1100" kern="1200" dirty="0">
                          <a:solidFill>
                            <a:schemeClr val="tx1"/>
                          </a:solidFill>
                          <a:latin typeface="+mn-lt"/>
                          <a:ea typeface="+mn-ea"/>
                          <a:cs typeface="+mn-cs"/>
                        </a:rPr>
                        <a:t> enthalten:</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Wertentwicklung</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Vermögensübersicht</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Transaktionsliste</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Risikokennzahlen, fortlaufende Geeignetheitserklärung </a:t>
                      </a:r>
                    </a:p>
                  </a:txBody>
                  <a:tcPr marL="0" marR="0" marT="0" marB="252000">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err="1">
                          <a:solidFill>
                            <a:schemeClr val="accent1"/>
                          </a:solidFill>
                          <a:latin typeface="+mj-lt"/>
                          <a:ea typeface="+mn-ea"/>
                          <a:cs typeface="+mn-cs"/>
                        </a:rPr>
                        <a:t>ExPostReporting</a:t>
                      </a:r>
                      <a:endParaRPr lang="de-DE" sz="1100" b="1" kern="1200" dirty="0">
                        <a:solidFill>
                          <a:schemeClr val="accent1"/>
                        </a:solidFill>
                        <a:latin typeface="+mj-lt"/>
                        <a:ea typeface="+mn-ea"/>
                        <a:cs typeface="+mn-cs"/>
                      </a:endParaRPr>
                    </a:p>
                    <a:p>
                      <a:pPr marL="0" algn="l" defTabSz="783001" rtl="0" eaLnBrk="1" latinLnBrk="0" hangingPunct="1">
                        <a:lnSpc>
                          <a:spcPts val="1600"/>
                        </a:lnSpc>
                      </a:pPr>
                      <a:r>
                        <a:rPr lang="de-DE" sz="1100" kern="1200" dirty="0">
                          <a:solidFill>
                            <a:schemeClr val="tx1"/>
                          </a:solidFill>
                          <a:latin typeface="+mn-lt"/>
                          <a:ea typeface="+mn-ea"/>
                          <a:cs typeface="+mn-cs"/>
                        </a:rPr>
                        <a:t>Einmal pro Jahr erhalten Sie eine </a:t>
                      </a:r>
                    </a:p>
                    <a:p>
                      <a:pPr marL="0" algn="l" defTabSz="783001" rtl="0" eaLnBrk="1" latinLnBrk="0" hangingPunct="1">
                        <a:lnSpc>
                          <a:spcPts val="1600"/>
                        </a:lnSpc>
                      </a:pPr>
                      <a:r>
                        <a:rPr lang="de-DE" sz="1100" kern="1200" dirty="0">
                          <a:solidFill>
                            <a:schemeClr val="tx1"/>
                          </a:solidFill>
                          <a:latin typeface="+mn-lt"/>
                          <a:ea typeface="+mn-ea"/>
                          <a:cs typeface="+mn-cs"/>
                        </a:rPr>
                        <a:t>Übersicht, wo neben unserem </a:t>
                      </a:r>
                    </a:p>
                    <a:p>
                      <a:pPr marL="0" algn="l" defTabSz="783001" rtl="0" eaLnBrk="1" latinLnBrk="0" hangingPunct="1">
                        <a:lnSpc>
                          <a:spcPts val="1600"/>
                        </a:lnSpc>
                      </a:pPr>
                      <a:r>
                        <a:rPr lang="de-DE" sz="1100" kern="1200" dirty="0">
                          <a:solidFill>
                            <a:schemeClr val="tx1"/>
                          </a:solidFill>
                          <a:latin typeface="+mn-lt"/>
                          <a:ea typeface="+mn-ea"/>
                          <a:cs typeface="+mn-cs"/>
                        </a:rPr>
                        <a:t>Vermögensverwaltungshonorar </a:t>
                      </a:r>
                    </a:p>
                    <a:p>
                      <a:pPr marL="0" algn="l" defTabSz="783001" rtl="0" eaLnBrk="1" latinLnBrk="0" hangingPunct="1">
                        <a:lnSpc>
                          <a:spcPts val="1600"/>
                        </a:lnSpc>
                      </a:pPr>
                      <a:r>
                        <a:rPr lang="de-DE" sz="1100" kern="1200" dirty="0">
                          <a:solidFill>
                            <a:schemeClr val="tx1"/>
                          </a:solidFill>
                          <a:latin typeface="+mn-lt"/>
                          <a:ea typeface="+mn-ea"/>
                          <a:cs typeface="+mn-cs"/>
                        </a:rPr>
                        <a:t>zusätzliche fremde Produktkosten </a:t>
                      </a:r>
                    </a:p>
                    <a:p>
                      <a:pPr marL="0" algn="l" defTabSz="783001" rtl="0" eaLnBrk="1" latinLnBrk="0" hangingPunct="1">
                        <a:lnSpc>
                          <a:spcPts val="1600"/>
                        </a:lnSpc>
                      </a:pPr>
                      <a:r>
                        <a:rPr lang="de-DE" sz="1100" kern="1200" dirty="0">
                          <a:solidFill>
                            <a:schemeClr val="tx1"/>
                          </a:solidFill>
                          <a:latin typeface="+mn-lt"/>
                          <a:ea typeface="+mn-ea"/>
                          <a:cs typeface="+mn-cs"/>
                        </a:rPr>
                        <a:t>aufgeführt sind.</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Steuerservice</a:t>
                      </a:r>
                    </a:p>
                    <a:p>
                      <a:pPr marL="0" algn="l" defTabSz="783001" rtl="0" eaLnBrk="1" latinLnBrk="0" hangingPunct="1">
                        <a:lnSpc>
                          <a:spcPts val="1600"/>
                        </a:lnSpc>
                      </a:pPr>
                      <a:r>
                        <a:rPr lang="de-DE" sz="1100" kern="1200" dirty="0">
                          <a:solidFill>
                            <a:schemeClr val="tx1"/>
                          </a:solidFill>
                          <a:latin typeface="+mn-lt"/>
                          <a:ea typeface="+mn-ea"/>
                          <a:cs typeface="+mn-cs"/>
                        </a:rPr>
                        <a:t>Die Erstellung aller steuerlich </a:t>
                      </a:r>
                      <a:r>
                        <a:rPr lang="de-DE" sz="1100" kern="1200" dirty="0" err="1">
                          <a:solidFill>
                            <a:schemeClr val="tx1"/>
                          </a:solidFill>
                          <a:latin typeface="+mn-lt"/>
                          <a:ea typeface="+mn-ea"/>
                          <a:cs typeface="+mn-cs"/>
                        </a:rPr>
                        <a:t>rele</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vanten</a:t>
                      </a:r>
                      <a:r>
                        <a:rPr lang="de-DE" sz="1100" kern="1200" dirty="0">
                          <a:solidFill>
                            <a:schemeClr val="tx1"/>
                          </a:solidFill>
                          <a:latin typeface="+mn-lt"/>
                          <a:ea typeface="+mn-ea"/>
                          <a:cs typeface="+mn-cs"/>
                        </a:rPr>
                        <a:t> und benötigten Unterlagen</a:t>
                      </a:r>
                    </a:p>
                    <a:p>
                      <a:pPr marL="0" algn="l" defTabSz="783001" rtl="0" eaLnBrk="1" latinLnBrk="0" hangingPunct="1">
                        <a:lnSpc>
                          <a:spcPts val="1600"/>
                        </a:lnSpc>
                      </a:pPr>
                      <a:r>
                        <a:rPr lang="de-DE" sz="1100" kern="1200" dirty="0">
                          <a:solidFill>
                            <a:schemeClr val="tx1"/>
                          </a:solidFill>
                          <a:latin typeface="+mn-lt"/>
                          <a:ea typeface="+mn-ea"/>
                          <a:cs typeface="+mn-cs"/>
                        </a:rPr>
                        <a:t>erfolgt automatisch und zeitnah </a:t>
                      </a:r>
                    </a:p>
                    <a:p>
                      <a:pPr marL="0" algn="l" defTabSz="783001" rtl="0" eaLnBrk="1" latinLnBrk="0" hangingPunct="1">
                        <a:lnSpc>
                          <a:spcPts val="1600"/>
                        </a:lnSpc>
                      </a:pPr>
                      <a:r>
                        <a:rPr lang="de-DE" sz="1100" kern="1200" dirty="0">
                          <a:solidFill>
                            <a:schemeClr val="tx1"/>
                          </a:solidFill>
                          <a:latin typeface="+mn-lt"/>
                          <a:ea typeface="+mn-ea"/>
                          <a:cs typeface="+mn-cs"/>
                        </a:rPr>
                        <a:t>mit dem Ablauf des </a:t>
                      </a:r>
                      <a:r>
                        <a:rPr lang="de-DE" sz="1100" kern="1200" dirty="0" err="1">
                          <a:solidFill>
                            <a:schemeClr val="tx1"/>
                          </a:solidFill>
                          <a:latin typeface="+mn-lt"/>
                          <a:ea typeface="+mn-ea"/>
                          <a:cs typeface="+mn-cs"/>
                        </a:rPr>
                        <a:t>Kalenderjah</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res</a:t>
                      </a:r>
                      <a:r>
                        <a:rPr lang="de-DE" sz="1100" kern="1200" dirty="0">
                          <a:solidFill>
                            <a:schemeClr val="tx1"/>
                          </a:solidFill>
                          <a:latin typeface="+mn-lt"/>
                          <a:ea typeface="+mn-ea"/>
                          <a:cs typeface="+mn-cs"/>
                        </a:rPr>
                        <a:t>. Automatische Verrechnung </a:t>
                      </a:r>
                    </a:p>
                    <a:p>
                      <a:pPr marL="0" algn="l" defTabSz="783001" rtl="0" eaLnBrk="1" latinLnBrk="0" hangingPunct="1">
                        <a:lnSpc>
                          <a:spcPts val="1600"/>
                        </a:lnSpc>
                      </a:pPr>
                      <a:r>
                        <a:rPr lang="de-DE" sz="1100" kern="1200" dirty="0">
                          <a:solidFill>
                            <a:schemeClr val="tx1"/>
                          </a:solidFill>
                          <a:latin typeface="+mn-lt"/>
                          <a:ea typeface="+mn-ea"/>
                          <a:cs typeface="+mn-cs"/>
                        </a:rPr>
                        <a:t>der All-in-fee.</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Laufende Unterlagen</a:t>
                      </a:r>
                    </a:p>
                    <a:p>
                      <a:pPr marL="0" algn="l" defTabSz="783001" rtl="0" eaLnBrk="1" latinLnBrk="0" hangingPunct="1">
                        <a:lnSpc>
                          <a:spcPts val="1600"/>
                        </a:lnSpc>
                      </a:pPr>
                      <a:r>
                        <a:rPr lang="de-DE" sz="1100" kern="1200" dirty="0">
                          <a:solidFill>
                            <a:schemeClr val="tx1"/>
                          </a:solidFill>
                          <a:latin typeface="+mn-lt"/>
                          <a:ea typeface="+mn-ea"/>
                          <a:cs typeface="+mn-cs"/>
                        </a:rPr>
                        <a:t>Nach jeder Wertpapiertransaktion </a:t>
                      </a:r>
                    </a:p>
                    <a:p>
                      <a:pPr marL="0" algn="l" defTabSz="783001" rtl="0" eaLnBrk="1" latinLnBrk="0" hangingPunct="1">
                        <a:lnSpc>
                          <a:spcPts val="1600"/>
                        </a:lnSpc>
                      </a:pPr>
                      <a:r>
                        <a:rPr lang="de-DE" sz="1100" kern="1200" dirty="0">
                          <a:solidFill>
                            <a:schemeClr val="tx1"/>
                          </a:solidFill>
                          <a:latin typeface="+mn-lt"/>
                          <a:ea typeface="+mn-ea"/>
                          <a:cs typeface="+mn-cs"/>
                        </a:rPr>
                        <a:t>und Ertragsausschüttung erhalten </a:t>
                      </a:r>
                    </a:p>
                    <a:p>
                      <a:pPr marL="0" algn="l" defTabSz="783001" rtl="0" eaLnBrk="1" latinLnBrk="0" hangingPunct="1">
                        <a:lnSpc>
                          <a:spcPts val="1600"/>
                        </a:lnSpc>
                      </a:pPr>
                      <a:r>
                        <a:rPr lang="de-DE" sz="1100" kern="1200" dirty="0">
                          <a:solidFill>
                            <a:schemeClr val="tx1"/>
                          </a:solidFill>
                          <a:latin typeface="+mn-lt"/>
                          <a:ea typeface="+mn-ea"/>
                          <a:cs typeface="+mn-cs"/>
                        </a:rPr>
                        <a:t>Sie eine entsprechende </a:t>
                      </a:r>
                      <a:r>
                        <a:rPr lang="de-DE" sz="1100" kern="1200" dirty="0" err="1">
                          <a:solidFill>
                            <a:schemeClr val="tx1"/>
                          </a:solidFill>
                          <a:latin typeface="+mn-lt"/>
                          <a:ea typeface="+mn-ea"/>
                          <a:cs typeface="+mn-cs"/>
                        </a:rPr>
                        <a:t>Dokumen</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tation</a:t>
                      </a:r>
                      <a:r>
                        <a:rPr lang="de-DE" sz="1100" kern="1200" dirty="0">
                          <a:solidFill>
                            <a:schemeClr val="tx1"/>
                          </a:solidFill>
                          <a:latin typeface="+mn-lt"/>
                          <a:ea typeface="+mn-ea"/>
                          <a:cs typeface="+mn-cs"/>
                        </a:rPr>
                        <a:t> zugesandt. Kontoauszüge </a:t>
                      </a:r>
                    </a:p>
                    <a:p>
                      <a:pPr marL="0" algn="l" defTabSz="783001" rtl="0" eaLnBrk="1" latinLnBrk="0" hangingPunct="1">
                        <a:lnSpc>
                          <a:spcPts val="1600"/>
                        </a:lnSpc>
                      </a:pPr>
                      <a:r>
                        <a:rPr lang="de-DE" sz="1100" kern="1200" dirty="0">
                          <a:solidFill>
                            <a:schemeClr val="tx1"/>
                          </a:solidFill>
                          <a:latin typeface="+mn-lt"/>
                          <a:ea typeface="+mn-ea"/>
                          <a:cs typeface="+mn-cs"/>
                        </a:rPr>
                        <a:t>werden monatlich erstellt. Somit </a:t>
                      </a:r>
                    </a:p>
                    <a:p>
                      <a:pPr marL="0" algn="l" defTabSz="783001" rtl="0" eaLnBrk="1" latinLnBrk="0" hangingPunct="1">
                        <a:lnSpc>
                          <a:spcPts val="1600"/>
                        </a:lnSpc>
                      </a:pPr>
                      <a:r>
                        <a:rPr lang="de-DE" sz="1100" kern="1200" dirty="0">
                          <a:solidFill>
                            <a:schemeClr val="tx1"/>
                          </a:solidFill>
                          <a:latin typeface="+mn-lt"/>
                          <a:ea typeface="+mn-ea"/>
                          <a:cs typeface="+mn-cs"/>
                        </a:rPr>
                        <a:t>ist für Sie ein hohes Maß an Trans-</a:t>
                      </a:r>
                    </a:p>
                    <a:p>
                      <a:pPr marL="0" algn="l" defTabSz="783001" rtl="0" eaLnBrk="1" latinLnBrk="0" hangingPunct="1">
                        <a:lnSpc>
                          <a:spcPts val="1600"/>
                        </a:lnSpc>
                      </a:pPr>
                      <a:r>
                        <a:rPr lang="de-DE" sz="1100" kern="1200" dirty="0" err="1">
                          <a:solidFill>
                            <a:schemeClr val="tx1"/>
                          </a:solidFill>
                          <a:latin typeface="+mn-lt"/>
                          <a:ea typeface="+mn-ea"/>
                          <a:cs typeface="+mn-cs"/>
                        </a:rPr>
                        <a:t>parenz</a:t>
                      </a:r>
                      <a:r>
                        <a:rPr lang="de-DE" sz="1100" kern="1200" dirty="0">
                          <a:solidFill>
                            <a:schemeClr val="tx1"/>
                          </a:solidFill>
                          <a:latin typeface="+mn-lt"/>
                          <a:ea typeface="+mn-ea"/>
                          <a:cs typeface="+mn-cs"/>
                        </a:rPr>
                        <a:t> gewährleistet.</a:t>
                      </a:r>
                    </a:p>
                  </a:txBody>
                  <a:tcPr marL="0" marR="0" marT="0" marB="252000">
                    <a:lnL>
                      <a:noFill/>
                    </a:lnL>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368564331"/>
                  </a:ext>
                </a:extLst>
              </a:tr>
            </a:tbl>
          </a:graphicData>
        </a:graphic>
      </p:graphicFrame>
      <p:sp>
        <p:nvSpPr>
          <p:cNvPr id="4" name="Titel">
            <a:extLst>
              <a:ext uri="{FF2B5EF4-FFF2-40B4-BE49-F238E27FC236}">
                <a16:creationId xmlns:a16="http://schemas.microsoft.com/office/drawing/2014/main" id="{963F2082-086E-D3BA-BA43-2CBC2A491BF6}"/>
              </a:ext>
            </a:extLst>
          </p:cNvPr>
          <p:cNvSpPr>
            <a:spLocks noGrp="1" noRot="1" noMove="1" noResize="1" noEditPoints="1" noAdjustHandles="1" noChangeArrowheads="1" noChangeShapeType="1"/>
          </p:cNvSpPr>
          <p:nvPr>
            <p:ph type="title"/>
          </p:nvPr>
        </p:nvSpPr>
        <p:spPr/>
        <p:txBody>
          <a:bodyPr/>
          <a:lstStyle/>
          <a:p>
            <a:r>
              <a:rPr lang="de-DE" dirty="0"/>
              <a:t>Unser Service</a:t>
            </a:r>
          </a:p>
        </p:txBody>
      </p:sp>
    </p:spTree>
    <p:extLst>
      <p:ext uri="{BB962C8B-B14F-4D97-AF65-F5344CB8AC3E}">
        <p14:creationId xmlns:p14="http://schemas.microsoft.com/office/powerpoint/2010/main" val="35931892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2024)</a:t>
            </a:r>
          </a:p>
          <a:p>
            <a:pPr lvl="1"/>
            <a:r>
              <a:rPr lang="de-DE" dirty="0"/>
              <a:t>Bilanzsumme 	</a:t>
            </a:r>
            <a:r>
              <a:rPr lang="de-DE" b="1" dirty="0"/>
              <a:t>636,1 Mio. EUR</a:t>
            </a:r>
          </a:p>
          <a:p>
            <a:pPr lvl="1"/>
            <a:r>
              <a:rPr lang="de-DE" dirty="0"/>
              <a:t>Assets </a:t>
            </a:r>
            <a:r>
              <a:rPr lang="de-DE" dirty="0" err="1"/>
              <a:t>under</a:t>
            </a:r>
            <a:r>
              <a:rPr lang="de-DE" dirty="0"/>
              <a:t> Control 	</a:t>
            </a:r>
            <a:r>
              <a:rPr lang="de-DE" b="1" dirty="0"/>
              <a:t>6.780 Mio. EUR</a:t>
            </a:r>
          </a:p>
          <a:p>
            <a:pPr lvl="1"/>
            <a:r>
              <a:rPr lang="de-DE" dirty="0"/>
              <a:t>EK-Rendite (vor Steuern) 	</a:t>
            </a:r>
            <a:r>
              <a:rPr lang="de-DE" b="1" dirty="0"/>
              <a:t>40,1 %</a:t>
            </a:r>
          </a:p>
          <a:p>
            <a:pPr lvl="1"/>
            <a:r>
              <a:rPr lang="de-DE" dirty="0"/>
              <a:t>Mitarbeiter 	</a:t>
            </a:r>
            <a:r>
              <a:rPr lang="de-DE" b="1" dirty="0"/>
              <a:t>144</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noDrilldown="1" noMove="1" noResize="1"/>
          </p:cNvGraphicFramePr>
          <p:nvPr>
            <p:ph idx="1"/>
            <p:extLst>
              <p:ext uri="{D42A27DB-BD31-4B8C-83A1-F6EECF244321}">
                <p14:modId xmlns:p14="http://schemas.microsoft.com/office/powerpoint/2010/main" val="1545709965"/>
              </p:ext>
            </p:extLst>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9088513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A240027-3618-5377-C1BF-84267D7D2DE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20</a:t>
            </a:fld>
            <a:endParaRPr lang="de-DE"/>
          </a:p>
        </p:txBody>
      </p:sp>
      <p:sp>
        <p:nvSpPr>
          <p:cNvPr id="3" name="Text rechts">
            <a:extLst>
              <a:ext uri="{FF2B5EF4-FFF2-40B4-BE49-F238E27FC236}">
                <a16:creationId xmlns:a16="http://schemas.microsoft.com/office/drawing/2014/main" id="{2A7ADAC9-BDE1-2830-3617-7BFE317ACBE1}"/>
              </a:ext>
            </a:extLst>
          </p:cNvPr>
          <p:cNvSpPr>
            <a:spLocks noGrp="1" noRot="1" noMove="1" noResize="1" noEditPoints="1" noAdjustHandles="1" noChangeArrowheads="1" noChangeShapeType="1"/>
          </p:cNvSpPr>
          <p:nvPr>
            <p:ph type="body" sz="quarter" idx="18"/>
          </p:nvPr>
        </p:nvSpPr>
        <p:spPr/>
        <p:txBody>
          <a:bodyPr/>
          <a:lstStyle/>
          <a:p>
            <a:r>
              <a:rPr lang="de-DE" dirty="0"/>
              <a:t>Abteilungsdirektor</a:t>
            </a:r>
            <a:br>
              <a:rPr lang="de-DE" dirty="0"/>
            </a:br>
            <a:r>
              <a:rPr lang="de-DE" dirty="0"/>
              <a:t>Private Banking Augsburg</a:t>
            </a:r>
          </a:p>
          <a:p>
            <a:r>
              <a:rPr lang="de-DE" dirty="0"/>
              <a:t>Telefon: +49 821 3201 128</a:t>
            </a:r>
            <a:br>
              <a:rPr lang="de-DE" dirty="0"/>
            </a:br>
            <a:r>
              <a:rPr lang="de-DE" dirty="0"/>
              <a:t>Mobil: +49 162 2157890</a:t>
            </a:r>
            <a:br>
              <a:rPr lang="de-DE" dirty="0"/>
            </a:br>
            <a:r>
              <a:rPr lang="de-DE" dirty="0"/>
              <a:t>Mail: christoph.balleis@fuggerbank.de</a:t>
            </a:r>
          </a:p>
        </p:txBody>
      </p:sp>
      <p:sp>
        <p:nvSpPr>
          <p:cNvPr id="4" name="Text links">
            <a:extLst>
              <a:ext uri="{FF2B5EF4-FFF2-40B4-BE49-F238E27FC236}">
                <a16:creationId xmlns:a16="http://schemas.microsoft.com/office/drawing/2014/main" id="{8D7EA6C0-2865-B71D-0A55-63B623C686B4}"/>
              </a:ext>
            </a:extLst>
          </p:cNvPr>
          <p:cNvSpPr>
            <a:spLocks noGrp="1" noRot="1" noMove="1" noResize="1" noEditPoints="1" noAdjustHandles="1" noChangeArrowheads="1" noChangeShapeType="1"/>
          </p:cNvSpPr>
          <p:nvPr>
            <p:ph type="body" sz="quarter" idx="17"/>
          </p:nvPr>
        </p:nvSpPr>
        <p:spPr/>
        <p:txBody>
          <a:bodyPr/>
          <a:lstStyle/>
          <a:p>
            <a:r>
              <a:rPr lang="de-DE" dirty="0"/>
              <a:t>Niederlassungsleiter Augsburg</a:t>
            </a:r>
            <a:br>
              <a:rPr lang="de-DE" dirty="0"/>
            </a:br>
            <a:r>
              <a:rPr lang="de-DE" dirty="0"/>
              <a:t>Private Banking Augsburg</a:t>
            </a:r>
          </a:p>
          <a:p>
            <a:r>
              <a:rPr lang="de-DE" dirty="0"/>
              <a:t>Telefon: +49 821 3201 217</a:t>
            </a:r>
            <a:br>
              <a:rPr lang="de-DE" dirty="0"/>
            </a:br>
            <a:r>
              <a:rPr lang="de-DE" dirty="0"/>
              <a:t>Mobil: +49 172 8583562</a:t>
            </a:r>
            <a:br>
              <a:rPr lang="de-DE" dirty="0"/>
            </a:br>
            <a:r>
              <a:rPr lang="de-DE" dirty="0"/>
              <a:t>Mail: alexander.wagner@fuggerbank.de</a:t>
            </a:r>
          </a:p>
        </p:txBody>
      </p:sp>
      <p:sp>
        <p:nvSpPr>
          <p:cNvPr id="5" name="Name rechts">
            <a:extLst>
              <a:ext uri="{FF2B5EF4-FFF2-40B4-BE49-F238E27FC236}">
                <a16:creationId xmlns:a16="http://schemas.microsoft.com/office/drawing/2014/main" id="{760A462F-C26C-20B1-0420-735E5E81EFCA}"/>
              </a:ext>
            </a:extLst>
          </p:cNvPr>
          <p:cNvSpPr>
            <a:spLocks noGrp="1" noRot="1" noMove="1" noResize="1" noEditPoints="1" noAdjustHandles="1" noChangeArrowheads="1" noChangeShapeType="1"/>
          </p:cNvSpPr>
          <p:nvPr>
            <p:ph type="body" sz="quarter" idx="16"/>
          </p:nvPr>
        </p:nvSpPr>
        <p:spPr/>
        <p:txBody>
          <a:bodyPr/>
          <a:lstStyle/>
          <a:p>
            <a:r>
              <a:rPr lang="de-DE" dirty="0"/>
              <a:t>Christoph </a:t>
            </a:r>
            <a:r>
              <a:rPr lang="de-DE" dirty="0" err="1"/>
              <a:t>Balleis</a:t>
            </a:r>
            <a:endParaRPr lang="de-DE" dirty="0"/>
          </a:p>
        </p:txBody>
      </p:sp>
      <p:sp>
        <p:nvSpPr>
          <p:cNvPr id="6" name="Name links">
            <a:extLst>
              <a:ext uri="{FF2B5EF4-FFF2-40B4-BE49-F238E27FC236}">
                <a16:creationId xmlns:a16="http://schemas.microsoft.com/office/drawing/2014/main" id="{6923F674-7D62-E4F6-AAB9-EA49027A281A}"/>
              </a:ext>
            </a:extLst>
          </p:cNvPr>
          <p:cNvSpPr>
            <a:spLocks noGrp="1" noRot="1" noMove="1" noResize="1" noEditPoints="1" noAdjustHandles="1" noChangeArrowheads="1" noChangeShapeType="1"/>
          </p:cNvSpPr>
          <p:nvPr>
            <p:ph type="body" sz="quarter" idx="15"/>
          </p:nvPr>
        </p:nvSpPr>
        <p:spPr/>
        <p:txBody>
          <a:bodyPr/>
          <a:lstStyle/>
          <a:p>
            <a:r>
              <a:rPr lang="de-DE" dirty="0"/>
              <a:t>Alexander Wagner</a:t>
            </a:r>
          </a:p>
        </p:txBody>
      </p:sp>
      <p:pic>
        <p:nvPicPr>
          <p:cNvPr id="13" name="Bild rechts">
            <a:extLst>
              <a:ext uri="{FF2B5EF4-FFF2-40B4-BE49-F238E27FC236}">
                <a16:creationId xmlns:a16="http://schemas.microsoft.com/office/drawing/2014/main" id="{B233D1E0-8BD9-3413-54DB-1255B85E6766}"/>
              </a:ext>
            </a:extLst>
          </p:cNvPr>
          <p:cNvPicPr>
            <a:picLocks noGrp="1" noRot="1" noChangeAspect="1" noMove="1" noResize="1" noEditPoints="1" noAdjustHandles="1" noChangeArrowheads="1" noChangeShapeType="1" noCrop="1"/>
          </p:cNvPicPr>
          <p:nvPr>
            <p:ph type="pic" sz="quarter" idx="14"/>
          </p:nvPr>
        </p:nvPicPr>
        <p:blipFill>
          <a:blip r:embed="rId2">
            <a:extLst>
              <a:ext uri="{28A0092B-C50C-407E-A947-70E740481C1C}">
                <a14:useLocalDpi xmlns:a14="http://schemas.microsoft.com/office/drawing/2010/main" val="0"/>
              </a:ext>
            </a:extLst>
          </a:blip>
          <a:srcRect t="1222" b="1222"/>
          <a:stretch>
            <a:fillRect/>
          </a:stretch>
        </p:blipFill>
        <p:spPr/>
      </p:pic>
      <p:pic>
        <p:nvPicPr>
          <p:cNvPr id="11" name="Bild links">
            <a:extLst>
              <a:ext uri="{FF2B5EF4-FFF2-40B4-BE49-F238E27FC236}">
                <a16:creationId xmlns:a16="http://schemas.microsoft.com/office/drawing/2014/main" id="{D371DB5B-FBDA-847D-764A-0E89AFAF0CD4}"/>
              </a:ext>
            </a:extLst>
          </p:cNvPr>
          <p:cNvPicPr>
            <a:picLocks noGrp="1" noRot="1" noChangeAspect="1" noMove="1" noResize="1" noEditPoints="1" noAdjustHandles="1" noChangeArrowheads="1" noChangeShapeType="1" noCrop="1"/>
          </p:cNvPicPr>
          <p:nvPr>
            <p:ph type="pic" sz="quarter" idx="13"/>
          </p:nvPr>
        </p:nvPicPr>
        <p:blipFill>
          <a:blip r:embed="rId3">
            <a:extLst>
              <a:ext uri="{28A0092B-C50C-407E-A947-70E740481C1C}">
                <a14:useLocalDpi xmlns:a14="http://schemas.microsoft.com/office/drawing/2010/main" val="0"/>
              </a:ext>
            </a:extLst>
          </a:blip>
          <a:srcRect t="1222" b="1222"/>
          <a:stretch>
            <a:fillRect/>
          </a:stretch>
        </p:blipFill>
        <p:spPr/>
      </p:pic>
      <p:sp>
        <p:nvSpPr>
          <p:cNvPr id="9" name="Titel">
            <a:extLst>
              <a:ext uri="{FF2B5EF4-FFF2-40B4-BE49-F238E27FC236}">
                <a16:creationId xmlns:a16="http://schemas.microsoft.com/office/drawing/2014/main" id="{906F2124-5E0A-DB8A-390A-200076A38445}"/>
              </a:ext>
            </a:extLst>
          </p:cNvPr>
          <p:cNvSpPr>
            <a:spLocks noGrp="1" noRot="1" noMove="1" noResize="1" noEditPoints="1" noAdjustHandles="1" noChangeArrowheads="1" noChangeShapeType="1"/>
          </p:cNvSpPr>
          <p:nvPr>
            <p:ph type="title"/>
          </p:nvPr>
        </p:nvSpPr>
        <p:spPr/>
        <p:txBody>
          <a:bodyPr/>
          <a:lstStyle/>
          <a:p>
            <a:r>
              <a:rPr lang="de-DE" dirty="0"/>
              <a:t>Ihre Ansprechpartner</a:t>
            </a:r>
            <a:br>
              <a:rPr lang="de-DE" dirty="0"/>
            </a:br>
            <a:r>
              <a:rPr lang="de-DE" dirty="0"/>
              <a:t>für den Vertrieb</a:t>
            </a:r>
          </a:p>
        </p:txBody>
      </p:sp>
    </p:spTree>
    <p:extLst>
      <p:ext uri="{BB962C8B-B14F-4D97-AF65-F5344CB8AC3E}">
        <p14:creationId xmlns:p14="http://schemas.microsoft.com/office/powerpoint/2010/main" val="679504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21</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Apostelnstraße 1–3 </a:t>
            </a:r>
            <a:br>
              <a:rPr lang="de-DE" dirty="0"/>
            </a:br>
            <a:r>
              <a:rPr lang="de-DE" dirty="0"/>
              <a:t>50667 Köln </a:t>
            </a:r>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22</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dirty="0"/>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a:extLst>
              <a:ext uri="{FF2B5EF4-FFF2-40B4-BE49-F238E27FC236}">
                <a16:creationId xmlns:a16="http://schemas.microsoft.com/office/drawing/2014/main" id="{25DE5420-5BAD-2473-43B5-9D481D3DE200}"/>
              </a:ext>
            </a:extLst>
          </p:cNvPr>
          <p:cNvSpPr>
            <a:spLocks noGrp="1" noRot="1" noMove="1" noResize="1" noEditPoints="1" noAdjustHandles="1" noChangeArrowheads="1" noChangeShapeType="1"/>
          </p:cNvSpPr>
          <p:nvPr>
            <p:ph type="subTitle" idx="1"/>
          </p:nvPr>
        </p:nvSpPr>
        <p:spPr/>
        <p:txBody>
          <a:bodyPr/>
          <a:lstStyle/>
          <a:p>
            <a:r>
              <a:rPr lang="de-DE" dirty="0"/>
              <a:t>INDIVIDUELL. UNABHÄNGIG. VERTRAUENSVOLL.</a:t>
            </a:r>
          </a:p>
        </p:txBody>
      </p:sp>
      <p:sp>
        <p:nvSpPr>
          <p:cNvPr id="3" name="Titel">
            <a:extLst>
              <a:ext uri="{FF2B5EF4-FFF2-40B4-BE49-F238E27FC236}">
                <a16:creationId xmlns:a16="http://schemas.microsoft.com/office/drawing/2014/main" id="{D82547BE-5B8D-6490-3DCD-C4B040A4C085}"/>
              </a:ext>
            </a:extLst>
          </p:cNvPr>
          <p:cNvSpPr>
            <a:spLocks noGrp="1" noRot="1" noMove="1" noResize="1" noEditPoints="1" noAdjustHandles="1" noChangeArrowheads="1" noChangeShapeType="1"/>
          </p:cNvSpPr>
          <p:nvPr>
            <p:ph type="ctrTitle"/>
          </p:nvPr>
        </p:nvSpPr>
        <p:spPr/>
        <p:txBody>
          <a:bodyPr/>
          <a:lstStyle/>
          <a:p>
            <a:r>
              <a:rPr lang="de-DE" dirty="0"/>
              <a:t>Unsere Tradition</a:t>
            </a:r>
          </a:p>
        </p:txBody>
      </p:sp>
    </p:spTree>
    <p:extLst>
      <p:ext uri="{BB962C8B-B14F-4D97-AF65-F5344CB8AC3E}">
        <p14:creationId xmlns:p14="http://schemas.microsoft.com/office/powerpoint/2010/main" val="27043174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09FDEF34-89BA-4277-9FC6-BBEC6A87A8F3}"/>
              </a:ext>
            </a:extLst>
          </p:cNvPr>
          <p:cNvSpPr>
            <a:spLocks noGrp="1" noRot="1" noMove="1" noResize="1" noEditPoints="1" noAdjustHandles="1" noChangeArrowheads="1" noChangeShapeType="1"/>
          </p:cNvSpPr>
          <p:nvPr>
            <p:ph type="dt" sz="half" idx="11"/>
          </p:nvPr>
        </p:nvSpPr>
        <p:spPr/>
        <p:txBody>
          <a:bodyPr/>
          <a:lstStyle/>
          <a:p>
            <a:r>
              <a:rPr lang="de-DE"/>
              <a:t>Stand. </a:t>
            </a:r>
            <a:fld id="{A2454BA1-205A-4597-97F2-1F8EB1702CA7}" type="datetime1">
              <a:rPr lang="de-DE" smtClean="0"/>
              <a:t>29.06.2026</a:t>
            </a:fld>
            <a:endParaRPr lang="de-DE" dirty="0"/>
          </a:p>
        </p:txBody>
      </p:sp>
      <p:sp>
        <p:nvSpPr>
          <p:cNvPr id="2" name="Foliennummer">
            <a:extLst>
              <a:ext uri="{FF2B5EF4-FFF2-40B4-BE49-F238E27FC236}">
                <a16:creationId xmlns:a16="http://schemas.microsoft.com/office/drawing/2014/main" id="{93A96E26-B2AF-16AE-0C7A-2E0ECBEC67ED}"/>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24</a:t>
            </a:fld>
            <a:endParaRPr lang="de-DE"/>
          </a:p>
        </p:txBody>
      </p:sp>
      <p:sp>
        <p:nvSpPr>
          <p:cNvPr id="21" name="Quelle">
            <a:extLst>
              <a:ext uri="{FF2B5EF4-FFF2-40B4-BE49-F238E27FC236}">
                <a16:creationId xmlns:a16="http://schemas.microsoft.com/office/drawing/2014/main" id="{96B5F4DD-9CF6-23B3-B40A-1EC0C72BE412}"/>
              </a:ext>
            </a:extLst>
          </p:cNvPr>
          <p:cNvSpPr txBox="1">
            <a:spLocks noGrp="1" noRot="1" noMove="1" noResize="1" noEditPoints="1" noAdjustHandles="1" noChangeArrowheads="1" noChangeShapeType="1"/>
          </p:cNvSpPr>
          <p:nvPr/>
        </p:nvSpPr>
        <p:spPr>
          <a:xfrm>
            <a:off x="6156325" y="5659978"/>
            <a:ext cx="3959225" cy="116057"/>
          </a:xfrm>
          <a:prstGeom prst="rect">
            <a:avLst/>
          </a:prstGeom>
          <a:noFill/>
        </p:spPr>
        <p:txBody>
          <a:bodyPr wrap="square" lIns="0" tIns="0" rIns="0" bIns="0" rtlCol="0">
            <a:spAutoFit/>
          </a:bodyPr>
          <a:lstStyle/>
          <a:p>
            <a:pPr>
              <a:lnSpc>
                <a:spcPts val="1000"/>
              </a:lnSpc>
            </a:pPr>
            <a:r>
              <a:rPr lang="de-DE" sz="600" dirty="0">
                <a:solidFill>
                  <a:schemeClr val="tx1">
                    <a:lumMod val="50000"/>
                    <a:lumOff val="50000"/>
                  </a:schemeClr>
                </a:solidFill>
              </a:rPr>
              <a:t>Herausgeber: Fürst Fugger Privatbank Aktiengesellschaft | www.fuggerbank.de</a:t>
            </a:r>
          </a:p>
        </p:txBody>
      </p:sp>
      <p:sp>
        <p:nvSpPr>
          <p:cNvPr id="3" name="Text">
            <a:extLst>
              <a:ext uri="{FF2B5EF4-FFF2-40B4-BE49-F238E27FC236}">
                <a16:creationId xmlns:a16="http://schemas.microsoft.com/office/drawing/2014/main" id="{F98F3493-6CA4-189D-7956-7074D809C116}"/>
              </a:ext>
            </a:extLst>
          </p:cNvPr>
          <p:cNvSpPr>
            <a:spLocks noGrp="1" noRot="1" noMove="1" noResize="1" noEditPoints="1" noAdjustHandles="1" noChangeArrowheads="1" noChangeShapeType="1"/>
          </p:cNvSpPr>
          <p:nvPr>
            <p:ph idx="1"/>
          </p:nvPr>
        </p:nvSpPr>
        <p:spPr>
          <a:xfrm>
            <a:off x="2016125" y="1041401"/>
            <a:ext cx="8099424" cy="4791074"/>
          </a:xfrm>
        </p:spPr>
        <p:txBody>
          <a:bodyPr spcCol="144000"/>
          <a:lstStyle/>
          <a:p>
            <a:r>
              <a:rPr lang="de-DE" dirty="0"/>
              <a:t>Im vorliegenden Dokument handelt es sich um eine Werbemitteilung der Fürst Fugger Privatbank. </a:t>
            </a:r>
          </a:p>
          <a:p>
            <a:r>
              <a:rPr lang="de-DE" dirty="0"/>
              <a:t>Die hier enthaltenen Informationen dienen nicht als Angebot, Anlageberatung oder Empfehlung und können eine auf Ihre individuellen Verhältnisse, insbesondere Ihre Kenntnisse/Erfahrungen, Ihre finanzielle Situation und Ihre Anlageziele abgestellte Beratung oder Dienstleistung nicht ersetzen.</a:t>
            </a:r>
          </a:p>
          <a:p>
            <a:r>
              <a:rPr lang="de-DE" dirty="0"/>
              <a:t>Die Kurse, Erträge und Werte einer Investmentanlage, auch der beschriebenen Investitionsmöglichkeiten können schwanken, steigen oder fallen. Verweise auf frühere Entwicklungen, Simulationen oder Prognosen sind kein verlässlicher Indikator für die zukünftige Wertentwicklung. Eine positive Entwicklung in der Vergangenheit ist insbesondere keine Garantie für die zukünftige Wert-entwicklung. Die Inflation kann negative Auswirkungen auf den Wert und die nominale Rendite Ihres Anlagevermögens haben. So kann insbesondere bei risikofreien Anlagen ein Wertverlust dadurch eintreten, dass die negative Auswirkung der Inflation die nominale Rendite übersteigt.</a:t>
            </a:r>
          </a:p>
          <a:p>
            <a:r>
              <a:rPr lang="de-DE" dirty="0"/>
              <a:t>Auch eine geringe Anlagedauer und die Gesamtkosten- und Gebühren können negativ das Risiko-Rendite-Verhältnis beeinflussen. Die dargestellten Meinungsäußerungen geben die aktuelle Einschätzung des Erstellers wieder und können sich ohne vorherige Ankündigung ändern.</a:t>
            </a:r>
          </a:p>
          <a:p>
            <a:r>
              <a:rPr lang="de-DE" dirty="0"/>
              <a:t>Vorstehende Angaben wurden mit großer Sorgfalt recherchiert. Bitte haben Sie dafür Verständnis, dass wir unsere Haftung auf Vorsatz und grobe Fahrlässigkeit beschränken müssen und keinerlei Garantien bezüglich der Korrektheit oder Vollständigkeit der gemachten Angaben übernehmen können. Die Informationen stammen aus bzw. basieren auf Quellen, welche die Fürst Fugger Privatbank für geeignet erachtet. Es wird keine Gewähr übernommen, dass diese richtig, vollständig und aktuell sind. </a:t>
            </a:r>
          </a:p>
          <a:p>
            <a:r>
              <a:rPr lang="de-DE" dirty="0"/>
              <a:t>Die in diesem Vortrag wiedergegebenen Informationen wurden zum angegebenen Stand erstellt und erfolgen ausschließlich zu Informationszwecken. Eine anderweitige Speicherung, Veröffentlichung oder Weitergabe an Dritte ist nicht gestattet und darf nur nach vorheriger Zustimmung der Fürst Fugger Privatbank erfolgen.</a:t>
            </a:r>
          </a:p>
        </p:txBody>
      </p:sp>
      <p:sp>
        <p:nvSpPr>
          <p:cNvPr id="4" name="Titel">
            <a:extLst>
              <a:ext uri="{FF2B5EF4-FFF2-40B4-BE49-F238E27FC236}">
                <a16:creationId xmlns:a16="http://schemas.microsoft.com/office/drawing/2014/main" id="{3D487A3D-23C8-0FCF-62A4-D4F8359CA252}"/>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Tree>
    <p:extLst>
      <p:ext uri="{BB962C8B-B14F-4D97-AF65-F5344CB8AC3E}">
        <p14:creationId xmlns:p14="http://schemas.microsoft.com/office/powerpoint/2010/main" val="32734672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29.06.2026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2970</Words>
  <Application>Microsoft Office PowerPoint</Application>
  <PresentationFormat>Benutzerdefiniert</PresentationFormat>
  <Paragraphs>804</Paragraphs>
  <Slides>25</Slides>
  <Notes>0</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25</vt:i4>
      </vt:variant>
    </vt:vector>
  </HeadingPairs>
  <TitlesOfParts>
    <vt:vector size="33" baseType="lpstr">
      <vt:lpstr>Arial</vt:lpstr>
      <vt:lpstr>Calibri</vt:lpstr>
      <vt:lpstr>Noto Sans</vt:lpstr>
      <vt:lpstr>Noto Serif</vt:lpstr>
      <vt:lpstr>Open Sans</vt:lpstr>
      <vt:lpstr>Symbol</vt:lpstr>
      <vt:lpstr>Wingdings 2</vt:lpstr>
      <vt:lpstr>Office</vt:lpstr>
      <vt:lpstr>Unsere  Vermögensverwaltung</vt:lpstr>
      <vt:lpstr>Inhalt</vt:lpstr>
      <vt:lpstr>Sehr geehrte Interessentin, sehr geehrter Interessent,</vt:lpstr>
      <vt:lpstr>Die Fugger</vt:lpstr>
      <vt:lpstr>Unsere Vermögensverwaltung</vt:lpstr>
      <vt:lpstr>Unsere Vermögensverwaltung </vt:lpstr>
      <vt:lpstr>Anlagevorschlag</vt:lpstr>
      <vt:lpstr>Anlagevorschlag</vt:lpstr>
      <vt:lpstr>Aktuelle Portfoliozusammenstellung</vt:lpstr>
      <vt:lpstr>Referenzportfolio| Wertentwicklung (mit Benchmark)</vt:lpstr>
      <vt:lpstr>Aktuelle Portfoliozusammenstellung</vt:lpstr>
      <vt:lpstr>Unser Honorar</vt:lpstr>
      <vt:lpstr>Steuerlicher Hinweis zum Honorar</vt:lpstr>
      <vt:lpstr>Unsere Investmentphilosophie</vt:lpstr>
      <vt:lpstr>Unser Investmentprozess</vt:lpstr>
      <vt:lpstr>Unser Risikomanagement</vt:lpstr>
      <vt:lpstr>Anlageklassen und Ausgestaltung</vt:lpstr>
      <vt:lpstr>Unser Service</vt:lpstr>
      <vt:lpstr>Unsere Bank in Zahlen</vt:lpstr>
      <vt:lpstr>Ihre Ansprechpartner für den Vertrieb</vt:lpstr>
      <vt:lpstr>Unsere Standorte</vt:lpstr>
      <vt:lpstr>Unsere Standorte</vt:lpstr>
      <vt:lpstr>Unsere Tradition</vt:lpstr>
      <vt:lpstr>Rechtliche Hinweise und Impressum</vt:lpstr>
      <vt:lpstr>Vielen Dank  für Ihr Interesse</vt:lpstr>
    </vt:vector>
  </TitlesOfParts>
  <Manager>endroes@aedwin.com</Manager>
  <Company>Fürst Fugger Privatbank AG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Harald Endrös</dc:creator>
  <cp:keywords>Vorlagen;Vermögensverwaltung</cp:keywords>
  <cp:lastModifiedBy>Philip Göttfert</cp:lastModifiedBy>
  <cp:revision>193</cp:revision>
  <dcterms:created xsi:type="dcterms:W3CDTF">2023-08-14T05:18:02Z</dcterms:created>
  <dcterms:modified xsi:type="dcterms:W3CDTF">2026-06-29T10:49:11Z</dcterms:modified>
  <cp:category>Vorlagen;Design</cp:category>
</cp:coreProperties>
</file>