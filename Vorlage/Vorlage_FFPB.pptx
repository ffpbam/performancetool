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drawings/drawing5.xml" ContentType="application/vnd.openxmlformats-officedocument.drawingml.chartshapes+xml"/>
  <Override PartName="/ppt/drawings/drawing6.xml" ContentType="application/vnd.openxmlformats-officedocument.drawingml.chartshapes+xml"/>
  <Override PartName="/ppt/media/image10.svg" ContentType="image/svg+xml"/>
  <Override PartName="/ppt/media/image2.svg" ContentType="image/svg+xml"/>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2"/>
  </p:notesMasterIdLst>
  <p:sldIdLst>
    <p:sldId id="1587" r:id="rId2"/>
    <p:sldId id="267" r:id="rId3"/>
    <p:sldId id="296" r:id="rId4"/>
    <p:sldId id="297" r:id="rId5"/>
    <p:sldId id="268" r:id="rId6"/>
    <p:sldId id="269" r:id="rId7"/>
    <p:sldId id="327" r:id="rId14"/>
    <p:sldId id="332" r:id="rId15"/>
    <p:sldId id="1598" r:id="rId16"/>
    <p:sldId id="1599" r:id="rId13"/>
    <p:sldId id="328" r:id="rId17"/>
    <p:sldId id="284" r:id="rId18"/>
    <p:sldId id="300" r:id="rId19"/>
    <p:sldId id="286" r:id="rId20"/>
    <p:sldId id="1594" r:id="rId21"/>
    <p:sldId id="288" r:id="rId22"/>
    <p:sldId id="289" r:id="rId23"/>
    <p:sldId id="290" r:id="rId24"/>
    <p:sldId id="291" r:id="rId25"/>
    <p:sldId id="292" r:id="rId26"/>
    <p:sldId id="293" r:id="rId27"/>
    <p:sldId id="294" r:id="rId28"/>
    <p:sldId id="295" r:id="rId29"/>
    <p:sldId id="298" r:id="rId30"/>
    <p:sldId id="299" r:id="rId31"/>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ndreas Pischetsrieder" initials="AP" userId="S::YH428EO@fuggerbank.de::2de2f04b-e8ac-43ac-92b7-e216de85df3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46" autoAdjust="0"/>
    <p:restoredTop sz="94161" autoAdjust="0"/>
  </p:normalViewPr>
  <p:slideViewPr>
    <p:cSldViewPr snapToGrid="0" showGuides="1">
      <p:cViewPr varScale="1">
        <p:scale>
          <a:sx n="114" d="100"/>
          <a:sy n="114" d="100"/>
        </p:scale>
        <p:origin x="966" y="9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3" Type="http://schemas.openxmlformats.org/officeDocument/2006/relationships/slide" Target="slides/slide25.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5.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xlsx"/><Relationship Id="rId4" Type="http://schemas.openxmlformats.org/officeDocument/2006/relationships/chartUserShapes" Target="../drawings/drawing6.xml"/></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1.xlsx"/><Relationship Id="rId2" Type="http://schemas.microsoft.com/office/2011/relationships/chartColorStyle" Target="colors7.xml"/><Relationship Id="rId3" Type="http://schemas.microsoft.com/office/2011/relationships/chartStyle" Target="style7.xml"/></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2.xlsx"/><Relationship Id="rId2" Type="http://schemas.microsoft.com/office/2011/relationships/chartColorStyle" Target="colors8.xml"/><Relationship Id="rId3" Type="http://schemas.microsoft.com/office/2011/relationships/chartStyle" Target="style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925-425E-BE52-24228E36E840}"/>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925-425E-BE52-24228E36E840}"/>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925-425E-BE52-24228E36E840}"/>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1925-425E-BE52-24228E36E840}"/>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925-425E-BE52-24228E36E840}"/>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925-425E-BE52-24228E36E840}"/>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925-425E-BE52-24228E36E840}"/>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925-425E-BE52-24228E36E840}"/>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1925-425E-BE52-24228E36E84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7CF-4E50-A6D9-362ECCC49EF8}"/>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7CF-4E50-A6D9-362ECCC49EF8}"/>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77CF-4E50-A6D9-362ECCC49EF8}"/>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77CF-4E50-A6D9-362ECCC49EF8}"/>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CF-4E50-A6D9-362ECCC49EF8}"/>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CF-4E50-A6D9-362ECCC49EF8}"/>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CF-4E50-A6D9-362ECCC49EF8}"/>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CF-4E50-A6D9-362ECCC49EF8}"/>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77CF-4E50-A6D9-362ECCC49EF8}"/>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241459557162226"/>
          <c:y val="0.22124636125023478"/>
          <c:w val="0.34923629128441663"/>
          <c:h val="0.4489772367894781"/>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85B-4416-9C47-BBFA370507CB}"/>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785B-4416-9C47-BBFA370507CB}"/>
              </c:ext>
            </c:extLst>
          </c:dPt>
          <c:dPt>
            <c:idx val="2"/>
            <c:bubble3D val="0"/>
            <c:spPr>
              <a:solidFill>
                <a:srgbClr val="66A4CE"/>
              </a:solidFill>
              <a:ln w="19050">
                <a:solidFill>
                  <a:schemeClr val="lt1"/>
                </a:solidFill>
              </a:ln>
              <a:effectLst/>
            </c:spPr>
            <c:extLst>
              <c:ext xmlns:c16="http://schemas.microsoft.com/office/drawing/2014/chart" uri="{C3380CC4-5D6E-409C-BE32-E72D297353CC}">
                <c16:uniqueId val="{00000005-785B-4416-9C47-BBFA370507CB}"/>
              </c:ext>
            </c:extLst>
          </c:dPt>
          <c:dPt>
            <c:idx val="3"/>
            <c:bubble3D val="0"/>
            <c:spPr>
              <a:solidFill>
                <a:srgbClr val="386FA7"/>
              </a:solidFill>
              <a:ln w="19050">
                <a:solidFill>
                  <a:schemeClr val="lt1"/>
                </a:solidFill>
              </a:ln>
              <a:effectLst/>
            </c:spPr>
            <c:extLst>
              <c:ext xmlns:c16="http://schemas.microsoft.com/office/drawing/2014/chart" uri="{C3380CC4-5D6E-409C-BE32-E72D297353CC}">
                <c16:uniqueId val="{00000007-785B-4416-9C47-BBFA370507CB}"/>
              </c:ext>
            </c:extLst>
          </c:dPt>
          <c:dPt>
            <c:idx val="4"/>
            <c:bubble3D val="0"/>
            <c:spPr>
              <a:solidFill>
                <a:srgbClr val="BB9256"/>
              </a:solidFill>
              <a:ln w="19050">
                <a:solidFill>
                  <a:schemeClr val="lt1"/>
                </a:solidFill>
              </a:ln>
              <a:effectLst/>
            </c:spPr>
            <c:extLst>
              <c:ext xmlns:c16="http://schemas.microsoft.com/office/drawing/2014/chart" uri="{C3380CC4-5D6E-409C-BE32-E72D297353CC}">
                <c16:uniqueId val="{00000009-785B-4416-9C47-BBFA370507CB}"/>
              </c:ext>
            </c:extLst>
          </c:dPt>
          <c:dPt>
            <c:idx val="5"/>
            <c:bubble3D val="0"/>
            <c:spPr>
              <a:solidFill>
                <a:srgbClr val="808080"/>
              </a:solidFill>
              <a:ln w="19050">
                <a:solidFill>
                  <a:schemeClr val="lt1"/>
                </a:solidFill>
              </a:ln>
              <a:effectLst/>
            </c:spPr>
            <c:extLst>
              <c:ext xmlns:c16="http://schemas.microsoft.com/office/drawing/2014/chart" uri="{C3380CC4-5D6E-409C-BE32-E72D297353CC}">
                <c16:uniqueId val="{0000000B-785B-4416-9C47-BBFA370507CB}"/>
              </c:ext>
            </c:extLst>
          </c:dPt>
          <c:dPt>
            <c:idx val="6"/>
            <c:bubble3D val="0"/>
            <c:spPr>
              <a:solidFill>
                <a:srgbClr val="5F8CA1"/>
              </a:solidFill>
              <a:ln w="19050">
                <a:solidFill>
                  <a:schemeClr val="lt1"/>
                </a:solidFill>
              </a:ln>
              <a:effectLst/>
            </c:spPr>
            <c:extLst>
              <c:ext xmlns:c16="http://schemas.microsoft.com/office/drawing/2014/chart" uri="{C3380CC4-5D6E-409C-BE32-E72D297353CC}">
                <c16:uniqueId val="{0000000D-785B-4416-9C47-BBFA370507CB}"/>
              </c:ext>
            </c:extLst>
          </c:dPt>
          <c:dPt>
            <c:idx val="7"/>
            <c:bubble3D val="0"/>
            <c:spPr>
              <a:solidFill>
                <a:srgbClr val="66A4CE"/>
              </a:solidFill>
              <a:ln w="19050">
                <a:solidFill>
                  <a:schemeClr val="lt1"/>
                </a:solidFill>
              </a:ln>
              <a:effectLst/>
            </c:spPr>
            <c:extLst>
              <c:ext xmlns:c16="http://schemas.microsoft.com/office/drawing/2014/chart" uri="{C3380CC4-5D6E-409C-BE32-E72D297353CC}">
                <c16:uniqueId val="{0000000F-785B-4416-9C47-BBFA370507CB}"/>
              </c:ext>
            </c:extLst>
          </c:dPt>
          <c:dPt>
            <c:idx val="8"/>
            <c:bubble3D val="0"/>
            <c:spPr>
              <a:solidFill>
                <a:srgbClr val="72BA86"/>
              </a:solidFill>
              <a:ln w="19050">
                <a:solidFill>
                  <a:schemeClr val="lt1"/>
                </a:solidFill>
              </a:ln>
              <a:effectLst/>
            </c:spPr>
            <c:extLst>
              <c:ext xmlns:c16="http://schemas.microsoft.com/office/drawing/2014/chart" uri="{C3380CC4-5D6E-409C-BE32-E72D297353CC}">
                <c16:uniqueId val="{00000011-785B-4416-9C47-BBFA370507CB}"/>
              </c:ext>
            </c:extLst>
          </c:dPt>
          <c:dPt>
            <c:idx val="9"/>
            <c:bubble3D val="0"/>
            <c:spPr>
              <a:solidFill>
                <a:srgbClr val="66A4CE"/>
              </a:solidFill>
              <a:ln w="19050">
                <a:solidFill>
                  <a:schemeClr val="lt1"/>
                </a:solidFill>
              </a:ln>
              <a:effectLst/>
            </c:spPr>
            <c:extLst>
              <c:ext xmlns:c16="http://schemas.microsoft.com/office/drawing/2014/chart" uri="{C3380CC4-5D6E-409C-BE32-E72D297353CC}">
                <c16:uniqueId val="{00000013-785B-4416-9C47-BBFA370507CB}"/>
              </c:ext>
            </c:extLst>
          </c:dPt>
          <c:dPt>
            <c:idx val="10"/>
            <c:bubble3D val="0"/>
            <c:spPr>
              <a:solidFill>
                <a:srgbClr val="D1E4C6"/>
              </a:solidFill>
              <a:ln w="19050">
                <a:solidFill>
                  <a:schemeClr val="lt1"/>
                </a:solidFill>
              </a:ln>
              <a:effectLst/>
            </c:spPr>
            <c:extLst>
              <c:ext xmlns:c16="http://schemas.microsoft.com/office/drawing/2014/chart" uri="{C3380CC4-5D6E-409C-BE32-E72D297353CC}">
                <c16:uniqueId val="{00000015-785B-4416-9C47-BBFA370507CB}"/>
              </c:ext>
            </c:extLst>
          </c:dPt>
          <c:dLbls>
            <c:dLbl>
              <c:idx val="0"/>
              <c:layout>
                <c:manualLayout>
                  <c:x val="0.11213059526433887"/>
                  <c:y val="-0.1214555293045233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85B-4416-9C47-BBFA370507CB}"/>
                </c:ext>
              </c:extLst>
            </c:dLbl>
            <c:dLbl>
              <c:idx val="1"/>
              <c:layout>
                <c:manualLayout>
                  <c:x val="0.15263366739583864"/>
                  <c:y val="0.1354671469365355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85B-4416-9C47-BBFA370507CB}"/>
                </c:ext>
              </c:extLst>
            </c:dLbl>
            <c:dLbl>
              <c:idx val="2"/>
              <c:layout>
                <c:manualLayout>
                  <c:x val="9.8721744586322088E-2"/>
                  <c:y val="0.1431064233658650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85B-4416-9C47-BBFA370507CB}"/>
                </c:ext>
              </c:extLst>
            </c:dLbl>
            <c:dLbl>
              <c:idx val="3"/>
              <c:layout>
                <c:manualLayout>
                  <c:x val="-4.3407139629462266E-3"/>
                  <c:y val="0.170743361127324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85B-4416-9C47-BBFA370507CB}"/>
                </c:ext>
              </c:extLst>
            </c:dLbl>
            <c:dLbl>
              <c:idx val="4"/>
              <c:layout>
                <c:manualLayout>
                  <c:x val="-0.15391105567063842"/>
                  <c:y val="1.60363272825961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85B-4416-9C47-BBFA370507CB}"/>
                </c:ext>
              </c:extLst>
            </c:dLbl>
            <c:dLbl>
              <c:idx val="5"/>
              <c:layout>
                <c:manualLayout>
                  <c:x val="-0.20148266889432004"/>
                  <c:y val="4.935910777744134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85B-4416-9C47-BBFA370507CB}"/>
                </c:ext>
              </c:extLst>
            </c:dLbl>
            <c:dLbl>
              <c:idx val="6"/>
              <c:layout>
                <c:manualLayout>
                  <c:x val="-0.1177301837626404"/>
                  <c:y val="-1.425403919671834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85B-4416-9C47-BBFA370507CB}"/>
                </c:ext>
              </c:extLst>
            </c:dLbl>
            <c:dLbl>
              <c:idx val="7"/>
              <c:layout>
                <c:manualLayout>
                  <c:x val="-0.22397449593868171"/>
                  <c:y val="-4.032627500953408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785B-4416-9C47-BBFA370507CB}"/>
                </c:ext>
              </c:extLst>
            </c:dLbl>
            <c:dLbl>
              <c:idx val="8"/>
              <c:layout>
                <c:manualLayout>
                  <c:x val="-0.13476550373376536"/>
                  <c:y val="-0.1012753517324863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785B-4416-9C47-BBFA370507CB}"/>
                </c:ext>
              </c:extLst>
            </c:dLbl>
            <c:dLbl>
              <c:idx val="9"/>
              <c:layout>
                <c:manualLayout>
                  <c:x val="-4.5877618292345643E-2"/>
                  <c:y val="-0.135033802309981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785B-4416-9C47-BBFA370507CB}"/>
                </c:ext>
              </c:extLst>
            </c:dLbl>
            <c:dLbl>
              <c:idx val="10"/>
              <c:layout>
                <c:manualLayout>
                  <c:x val="6.8816427438518457E-2"/>
                  <c:y val="-0.111402886905734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785B-4416-9C47-BBFA370507CB}"/>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S_DiagrammPortfolio!$J$4:$J$14</c:f>
              <c:strCache>
                <c:ptCount val="11"/>
                <c:pt idx="0">
                  <c:v>Informationstechnologie</c:v>
                </c:pt>
                <c:pt idx="1">
                  <c:v>Handel,Konsum</c:v>
                </c:pt>
                <c:pt idx="2">
                  <c:v>Banken,Versicherer,Finanzdienstl.</c:v>
                </c:pt>
                <c:pt idx="3">
                  <c:v>Corporates</c:v>
                </c:pt>
                <c:pt idx="4">
                  <c:v>Chemie,Pharma</c:v>
                </c:pt>
                <c:pt idx="5">
                  <c:v>Eisen,Stahl,Rohstoffe</c:v>
                </c:pt>
                <c:pt idx="6">
                  <c:v>Prod. Gew. &amp; Industrie</c:v>
                </c:pt>
                <c:pt idx="7">
                  <c:v>Financials</c:v>
                </c:pt>
                <c:pt idx="8">
                  <c:v>Versorger</c:v>
                </c:pt>
                <c:pt idx="9">
                  <c:v>staatsgarantiert</c:v>
                </c:pt>
                <c:pt idx="10">
                  <c:v>Bau,Baustoffe</c:v>
                </c:pt>
              </c:strCache>
            </c:strRef>
          </c:cat>
          <c:val>
            <c:numRef>
              <c:f>S_DiagrammPortfolio!$K$4:$K$14</c:f>
              <c:numCache>
                <c:formatCode>0.00%</c:formatCode>
                <c:ptCount val="11"/>
                <c:pt idx="0">
                  <c:v>0.2165</c:v>
                </c:pt>
                <c:pt idx="1">
                  <c:v>0.1598</c:v>
                </c:pt>
                <c:pt idx="2">
                  <c:v>0.15459999999999999</c:v>
                </c:pt>
                <c:pt idx="3">
                  <c:v>0.1031</c:v>
                </c:pt>
                <c:pt idx="4">
                  <c:v>0.1031</c:v>
                </c:pt>
                <c:pt idx="5">
                  <c:v>8.7599999999999997E-2</c:v>
                </c:pt>
                <c:pt idx="6">
                  <c:v>5.1499999999999997E-2</c:v>
                </c:pt>
                <c:pt idx="7">
                  <c:v>4.6399999999999997E-2</c:v>
                </c:pt>
                <c:pt idx="8">
                  <c:v>3.09E-2</c:v>
                </c:pt>
                <c:pt idx="9">
                  <c:v>2.58E-2</c:v>
                </c:pt>
                <c:pt idx="10">
                  <c:v>2.06E-2</c:v>
                </c:pt>
              </c:numCache>
            </c:numRef>
          </c:val>
          <c:extLst>
            <c:ext xmlns:c16="http://schemas.microsoft.com/office/drawing/2014/chart" uri="{C3380CC4-5D6E-409C-BE32-E72D297353CC}">
              <c16:uniqueId val="{00000016-785B-4416-9C47-BBFA370507CB}"/>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44697711354398234"/>
          <c:w val="0.49970741075463171"/>
          <c:h val="0.553022886456017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31174596445554"/>
          <c:y val="0.17508252835308752"/>
          <c:w val="0.42581960372958788"/>
          <c:h val="0.5641944866679429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4B4-4881-A081-C22B855485BC}"/>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4B4-4881-A081-C22B855485BC}"/>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4B4-4881-A081-C22B855485BC}"/>
              </c:ext>
            </c:extLst>
          </c:dPt>
          <c:dPt>
            <c:idx val="3"/>
            <c:bubble3D val="0"/>
            <c:spPr>
              <a:solidFill>
                <a:srgbClr val="B9B9B9"/>
              </a:solidFill>
              <a:ln w="19050">
                <a:solidFill>
                  <a:schemeClr val="lt1"/>
                </a:solidFill>
              </a:ln>
              <a:effectLst/>
            </c:spPr>
            <c:extLst>
              <c:ext xmlns:c16="http://schemas.microsoft.com/office/drawing/2014/chart" uri="{C3380CC4-5D6E-409C-BE32-E72D297353CC}">
                <c16:uniqueId val="{00000007-14B4-4881-A081-C22B855485BC}"/>
              </c:ext>
            </c:extLst>
          </c:dPt>
          <c:dPt>
            <c:idx val="4"/>
            <c:bubble3D val="0"/>
            <c:spPr>
              <a:solidFill>
                <a:srgbClr val="D1E4C6"/>
              </a:solidFill>
              <a:ln w="19050">
                <a:solidFill>
                  <a:schemeClr val="lt1"/>
                </a:solidFill>
              </a:ln>
              <a:effectLst/>
            </c:spPr>
            <c:extLst>
              <c:ext xmlns:c16="http://schemas.microsoft.com/office/drawing/2014/chart" uri="{C3380CC4-5D6E-409C-BE32-E72D297353CC}">
                <c16:uniqueId val="{00000009-14B4-4881-A081-C22B855485BC}"/>
              </c:ext>
            </c:extLst>
          </c:dPt>
          <c:dLbls>
            <c:dLbl>
              <c:idx val="0"/>
              <c:layout>
                <c:manualLayout>
                  <c:x val="0.16611383828441076"/>
                  <c:y val="-0.1521362162427401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4B4-4881-A081-C22B855485BC}"/>
                </c:ext>
              </c:extLst>
            </c:dLbl>
            <c:dLbl>
              <c:idx val="1"/>
              <c:layout>
                <c:manualLayout>
                  <c:x val="8.0820494843203639E-2"/>
                  <c:y val="0.202079996543440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4B4-4881-A081-C22B855485BC}"/>
                </c:ext>
              </c:extLst>
            </c:dLbl>
            <c:dLbl>
              <c:idx val="2"/>
              <c:layout>
                <c:manualLayout>
                  <c:x val="-0.13545153417607544"/>
                  <c:y val="-6.66977917026974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4B4-4881-A081-C22B855485BC}"/>
                </c:ext>
              </c:extLst>
            </c:dLbl>
            <c:dLbl>
              <c:idx val="3"/>
              <c:layout>
                <c:manualLayout>
                  <c:x val="-0.17586574461884003"/>
                  <c:y val="1.057461097205531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4B4-4881-A081-C22B855485BC}"/>
                </c:ext>
              </c:extLst>
            </c:dLbl>
            <c:dLbl>
              <c:idx val="4"/>
              <c:layout>
                <c:manualLayout>
                  <c:x val="-0.12942094825811637"/>
                  <c:y val="-9.5265413943976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4B4-4881-A081-C22B855485BC}"/>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S_DiagrammPortfolio!$F$4:$F$8</c:f>
              <c:strCache>
                <c:ptCount val="5"/>
                <c:pt idx="0">
                  <c:v>NORDAMERIKA</c:v>
                </c:pt>
                <c:pt idx="1">
                  <c:v>EUROPA OHNE DEUTSCHLAND</c:v>
                </c:pt>
                <c:pt idx="2">
                  <c:v>DEUTSCHLAND</c:v>
                </c:pt>
                <c:pt idx="3">
                  <c:v>SONSTIGE REGIONEN</c:v>
                </c:pt>
                <c:pt idx="4">
                  <c:v>EMERGING MARKETS</c:v>
                </c:pt>
              </c:strCache>
            </c:strRef>
          </c:cat>
          <c:val>
            <c:numRef>
              <c:f>S_DiagrammPortfolio!$G$4:$G$8</c:f>
              <c:numCache>
                <c:formatCode>0.00%</c:formatCode>
                <c:ptCount val="5"/>
                <c:pt idx="0">
                  <c:v>0.41749999999999998</c:v>
                </c:pt>
                <c:pt idx="1">
                  <c:v>0.26290000000000002</c:v>
                </c:pt>
                <c:pt idx="2">
                  <c:v>0.25259999999999999</c:v>
                </c:pt>
                <c:pt idx="3">
                  <c:v>5.1499999999999997E-2</c:v>
                </c:pt>
                <c:pt idx="4">
                  <c:v>1.55E-2</c:v>
                </c:pt>
              </c:numCache>
            </c:numRef>
          </c:val>
          <c:extLst>
            <c:ext xmlns:c16="http://schemas.microsoft.com/office/drawing/2014/chart" uri="{C3380CC4-5D6E-409C-BE32-E72D297353CC}">
              <c16:uniqueId val="{0000000A-14B4-4881-A081-C22B855485BC}"/>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52367293028011941"/>
          <c:w val="0.48029551909123169"/>
          <c:h val="0.47632706971988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0057094441934027"/>
          <c:y val="0.21052072896841212"/>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901D-4D06-9087-9C4DED8B0FD7}"/>
              </c:ext>
            </c:extLst>
          </c:dPt>
          <c:dPt>
            <c:idx val="1"/>
            <c:bubble3D val="0"/>
            <c:spPr>
              <a:solidFill>
                <a:srgbClr val="386FA7"/>
              </a:solidFill>
              <a:ln w="19050">
                <a:solidFill>
                  <a:schemeClr val="lt1"/>
                </a:solidFill>
              </a:ln>
              <a:effectLst/>
            </c:spPr>
            <c:extLst>
              <c:ext xmlns:c16="http://schemas.microsoft.com/office/drawing/2014/chart" uri="{C3380CC4-5D6E-409C-BE32-E72D297353CC}">
                <c16:uniqueId val="{00000003-901D-4D06-9087-9C4DED8B0FD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901D-4D06-9087-9C4DED8B0FD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901D-4D06-9087-9C4DED8B0FD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901D-4D06-9087-9C4DED8B0FD7}"/>
              </c:ext>
            </c:extLst>
          </c:dPt>
          <c:dLbls>
            <c:dLbl>
              <c:idx val="0"/>
              <c:layout>
                <c:manualLayout>
                  <c:x val="0.14070192693583863"/>
                  <c:y val="6.644792528997572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01D-4D06-9087-9C4DED8B0FD7}"/>
                </c:ext>
              </c:extLst>
            </c:dLbl>
            <c:dLbl>
              <c:idx val="1"/>
              <c:layout>
                <c:manualLayout>
                  <c:x val="1.4357339483248828E-2"/>
                  <c:y val="0.1402789533899486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01D-4D06-9087-9C4DED8B0FD7}"/>
                </c:ext>
              </c:extLst>
            </c:dLbl>
            <c:dLbl>
              <c:idx val="2"/>
              <c:layout>
                <c:manualLayout>
                  <c:x val="-0.16080220221238689"/>
                  <c:y val="-3.32239626449878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01D-4D06-9087-9C4DED8B0FD7}"/>
                </c:ext>
              </c:extLst>
            </c:dLbl>
            <c:dLbl>
              <c:idx val="3"/>
              <c:layout>
                <c:manualLayout>
                  <c:x val="-5.7429357932995313E-2"/>
                  <c:y val="-0.114438093554958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01D-4D06-9087-9C4DED8B0FD7}"/>
                </c:ext>
              </c:extLst>
            </c:dLbl>
            <c:dLbl>
              <c:idx val="4"/>
              <c:layout>
                <c:manualLayout>
                  <c:x val="0.15505926641908735"/>
                  <c:y val="-9.967188793496360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01D-4D06-9087-9C4DED8B0FD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S_DiagrammPortfolio!$N$4:$N$8</c:f>
              <c:strCache>
                <c:ptCount val="5"/>
                <c:pt idx="0">
                  <c:v>EUR</c:v>
                </c:pt>
                <c:pt idx="1">
                  <c:v>USD</c:v>
                </c:pt>
                <c:pt idx="2">
                  <c:v>CHF</c:v>
                </c:pt>
                <c:pt idx="3">
                  <c:v>GBP</c:v>
                </c:pt>
                <c:pt idx="4">
                  <c:v>SONSTIGE WÄHRUNGEN</c:v>
                </c:pt>
              </c:strCache>
            </c:strRef>
          </c:cat>
          <c:val>
            <c:numRef>
              <c:f>S_DiagrammPortfolio!$O$4:$O$8</c:f>
              <c:numCache>
                <c:formatCode>0.00%</c:formatCode>
                <c:ptCount val="5"/>
                <c:pt idx="0">
                  <c:v>0.4536</c:v>
                </c:pt>
                <c:pt idx="1">
                  <c:v>0.39689999999999998</c:v>
                </c:pt>
                <c:pt idx="2">
                  <c:v>7.22E-2</c:v>
                </c:pt>
                <c:pt idx="3">
                  <c:v>6.1899999999999997E-2</c:v>
                </c:pt>
                <c:pt idx="4">
                  <c:v>1.55E-2</c:v>
                </c:pt>
              </c:numCache>
            </c:numRef>
          </c:val>
          <c:extLst>
            <c:ext xmlns:c16="http://schemas.microsoft.com/office/drawing/2014/chart" uri="{C3380CC4-5D6E-409C-BE32-E72D297353CC}">
              <c16:uniqueId val="{0000000A-901D-4D06-9087-9C4DED8B0FD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3051674743509842"/>
          <c:w val="0.38764816604771835"/>
          <c:h val="0.2694832525649015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Tabelle1!$B$2:$B$6</c:f>
              <c:numCache>
                <c:formatCode>0.00%</c:formatCode>
                <c:ptCount val="5"/>
                <c:pt idx="0">
                  <c:v>0.01</c:v>
                </c:pt>
                <c:pt idx="1">
                  <c:v>0.01</c:v>
                </c:pt>
                <c:pt idx="2">
                  <c:v>-0.05</c:v>
                </c:pt>
                <c:pt idx="3">
                  <c:v>0.01</c:v>
                </c:pt>
                <c:pt idx="4">
                  <c:v>0.01</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Spalte1</c:v>
                </c:pt>
              </c:strCache>
            </c:strRef>
          </c:tx>
          <c:spPr>
            <a:solidFill>
              <a:schemeClr val="accent5"/>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Tabelle1!$C$2:$C$6</c:f>
              <c:numCache>
                <c:formatCode>0.00%</c:formatCode>
                <c:ptCount val="5"/>
                <c:pt idx="0">
                  <c:v>0.01</c:v>
                </c:pt>
                <c:pt idx="1">
                  <c:v>0.01</c:v>
                </c:pt>
                <c:pt idx="2">
                  <c:v>0.02</c:v>
                </c:pt>
                <c:pt idx="3">
                  <c:v>0.01</c:v>
                </c:pt>
                <c:pt idx="4">
                  <c:v>0.01</c:v>
                </c:pt>
              </c:numCache>
            </c:numRef>
          </c:val>
          <c:extLst>
            <c:ext xmlns:c16="http://schemas.microsoft.com/office/drawing/2014/chart" uri="{C3380CC4-5D6E-409C-BE32-E72D297353CC}">
              <c16:uniqueId val="{00000000-9BFC-4B5F-B91E-8A183F11D510}"/>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Tabelle1!$B$2:$B$8000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1.0039</c:v>
                </c:pt>
                <c:pt idx="32">
                  <c:v>1.0039</c:v>
                </c:pt>
                <c:pt idx="33">
                  <c:v>1.0042</c:v>
                </c:pt>
                <c:pt idx="34">
                  <c:v>1.0038</c:v>
                </c:pt>
                <c:pt idx="35">
                  <c:v>1.0038</c:v>
                </c:pt>
                <c:pt idx="36">
                  <c:v>1.0036</c:v>
                </c:pt>
                <c:pt idx="37">
                  <c:v>1.0039</c:v>
                </c:pt>
                <c:pt idx="38">
                  <c:v>1</c:v>
                </c:pt>
                <c:pt idx="39">
                  <c:v>1</c:v>
                </c:pt>
                <c:pt idx="40">
                  <c:v>0.8</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67D-4B47-A104-311D517F7B75}"/>
            </c:ext>
          </c:extLst>
        </c:ser>
        <c:ser>
          <c:idx val="1"/>
          <c:order val="1"/>
          <c:tx>
            <c:strRef>
              <c:f>Tabelle1!$C$1</c:f>
              <c:strCache>
                <c:ptCount val="1"/>
                <c:pt idx="0">
                  <c:v>Benchmark</c:v>
                </c:pt>
              </c:strCache>
            </c:strRef>
          </c:tx>
          <c:spPr>
            <a:ln w="28575" cap="rnd">
              <a:solidFill>
                <a:schemeClr val="accent5"/>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Tabelle1!$C$2:$C$8000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1.3</c:v>
                </c:pt>
                <c:pt idx="32">
                  <c:v>1.0039</c:v>
                </c:pt>
                <c:pt idx="33">
                  <c:v>1.0042</c:v>
                </c:pt>
                <c:pt idx="34">
                  <c:v>1.0038</c:v>
                </c:pt>
                <c:pt idx="35">
                  <c:v>1.0038</c:v>
                </c:pt>
                <c:pt idx="36">
                  <c:v>1.0036</c:v>
                </c:pt>
                <c:pt idx="37">
                  <c:v>1.0039</c:v>
                </c:pt>
                <c:pt idx="38">
                  <c:v>1.0039</c:v>
                </c:pt>
                <c:pt idx="39">
                  <c:v>1.004</c:v>
                </c:pt>
                <c:pt idx="40">
                  <c:v>1.0033000000000001</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BFA-46ED-A210-E9F01A7553A4}"/>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day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3.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Währungen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12.02.2026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9.png"/><Relationship Id="rId4" Type="http://schemas.openxmlformats.org/officeDocument/2006/relationships/image" Target="../media/image10.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9.png"/><Relationship Id="rId4" Type="http://schemas.openxmlformats.org/officeDocument/2006/relationships/image" Target="../media/image10.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9.png"/><Relationship Id="rId4" Type="http://schemas.openxmlformats.org/officeDocument/2006/relationships/image" Target="../media/image10.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12.02.2026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12.02.2026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2_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18000" y="5848626"/>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5240797"/>
            <a:ext cx="416522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943270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6217068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pic>
        <p:nvPicPr>
          <p:cNvPr id="3" name="Bild">
            <a:extLst>
              <a:ext uri="{FF2B5EF4-FFF2-40B4-BE49-F238E27FC236}">
                <a16:creationId xmlns:a16="http://schemas.microsoft.com/office/drawing/2014/main" id="{3DDD31F3-EA7E-499D-A956-FE11B487F34F}"/>
              </a:ext>
            </a:extLst>
          </p:cNvPr>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spTree>
    <p:extLst>
      <p:ext uri="{BB962C8B-B14F-4D97-AF65-F5344CB8AC3E}">
        <p14:creationId xmlns:p14="http://schemas.microsoft.com/office/powerpoint/2010/main" val="419546311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theme" Target="../theme/theme1.xml"/><Relationship Id="rId30" Type="http://schemas.openxmlformats.org/officeDocument/2006/relationships/image" Target="../media/image1.png"/><Relationship Id="rId31" Type="http://schemas.openxmlformats.org/officeDocument/2006/relationships/image" Target="../media/image2.svg"/><Relationship Id="rId32"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12.02.2026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r:embed="rId30">
            <a:extLst>
              <a:ext uri="{28A0092B-C50C-407E-A947-70E740481C1C}">
                <a14:useLocalDpi xmlns:a14="http://schemas.microsoft.com/office/drawing/2010/main" val="0"/>
              </a:ext>
              <a:ext uri="{96DAC541-7B7A-43D3-8B79-37D633B846F1}">
                <asvg:svgBlip xmlns:asvg="http://schemas.microsoft.com/office/drawing/2016/SVG/main" r:embed="rId31"/>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 id="2147483681" r:id="rId26"/>
    <p:sldLayoutId id="2147483682" r:id="rId27"/>
    <p:sldLayoutId id="2147483683" r:id="rId28"/>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chart" Target="../charts/chart3.xml"/><Relationship Id="rId3"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chart" Target="../charts/char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9.png"/><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25.png"/><Relationship Id="rId3"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7.jpeg"/><Relationship Id="rId3" Type="http://schemas.openxmlformats.org/officeDocument/2006/relationships/image" Target="../media/image28.jpeg"/><Relationship Id="rId4" Type="http://schemas.openxmlformats.org/officeDocument/2006/relationships/image" Target="../media/image29.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0.png"/><Relationship Id="rId3" Type="http://schemas.openxmlformats.org/officeDocument/2006/relationships/image" Target="../media/image31.jpeg"/><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7.xml"/><Relationship Id="rId3" Type="http://schemas.openxmlformats.org/officeDocument/2006/relationships/chart" Target="../charts/char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98410-5E31-673D-9804-2E95F88ACB78}"/>
            </a:ext>
          </a:extLst>
        </p:cNvPr>
        <p:cNvGrpSpPr/>
        <p:nvPr/>
      </p:nvGrpSpPr>
      <p:grpSpPr>
        <a:xfrm>
          <a:off x="0" y="0"/>
          <a:ext cx="0" cy="0"/>
          <a:chOff x="0" y="0"/>
          <a:chExt cx="0" cy="0"/>
        </a:xfrm>
      </p:grpSpPr>
      <p:sp>
        <p:nvSpPr>
          <p:cNvPr id="6" name="Untertitel">
            <a:extLst>
              <a:ext uri="{FF2B5EF4-FFF2-40B4-BE49-F238E27FC236}">
                <a16:creationId xmlns:a16="http://schemas.microsoft.com/office/drawing/2014/main" id="{03F039F9-7DF9-F4A3-F012-6490E675058A}"/>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746E2D1E-8A4A-3691-2BEB-945315291DC5}"/>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287849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pPr marL="342900" indent="-342900">
              <a:buFont typeface="+mj-lt"/>
              <a:buAutoNum type="arabicPeriod"/>
            </a:pPr>
            <a:r>
              <a:rPr lang="de-DE" dirty="0"/>
              <a:t>Unsere Vermögensverwaltung </a:t>
            </a:r>
            <a:r>
              <a:rPr lang="de-DE" u="sng" dirty="0">
                <a:uFill>
                  <a:solidFill>
                    <a:schemeClr val="accent3"/>
                  </a:solidFill>
                </a:uFill>
              </a:rPr>
              <a:t>	</a:t>
            </a:r>
            <a:endParaRPr lang="de-DE" dirty="0"/>
          </a:p>
          <a:p>
            <a:pPr marL="342900" indent="-342900">
              <a:buFont typeface="+mj-lt"/>
              <a:buAutoNum type="arabicPeriod"/>
            </a:pPr>
            <a:r>
              <a:rPr lang="de-DE" dirty="0"/>
              <a:t>Unser Anlagevorschlag </a:t>
            </a:r>
            <a:r>
              <a:rPr lang="de-DE" u="sng" dirty="0">
                <a:uFill>
                  <a:solidFill>
                    <a:schemeClr val="accent3"/>
                  </a:solidFill>
                </a:uFill>
              </a:rPr>
              <a:t>	</a:t>
            </a:r>
            <a:endParaRPr lang="de-DE" dirty="0"/>
          </a:p>
          <a:p>
            <a:pPr marL="342900" indent="-342900">
              <a:buFont typeface="+mj-lt"/>
              <a:buAutoNum type="arabicPeriod"/>
            </a:pPr>
            <a:r>
              <a:rPr lang="de-DE" dirty="0"/>
              <a:t>Honorar </a:t>
            </a:r>
            <a:r>
              <a:rPr lang="de-DE" u="sng" dirty="0">
                <a:uFill>
                  <a:solidFill>
                    <a:schemeClr val="accent3"/>
                  </a:solidFill>
                </a:uFill>
              </a:rPr>
              <a:t>	</a:t>
            </a:r>
            <a:endParaRPr lang="de-DE" dirty="0"/>
          </a:p>
          <a:p>
            <a:pPr marL="342900" indent="-342900">
              <a:buFont typeface="+mj-lt"/>
              <a:buAutoNum type="arabicPeriod"/>
            </a:pPr>
            <a:r>
              <a:rPr lang="de-DE" dirty="0"/>
              <a:t>Unsere Investmentphilosophie </a:t>
            </a:r>
            <a:r>
              <a:rPr lang="de-DE" u="sng" dirty="0">
                <a:uFill>
                  <a:solidFill>
                    <a:schemeClr val="accent3"/>
                  </a:solidFill>
                </a:uFill>
              </a:rPr>
              <a:t>	</a:t>
            </a:r>
            <a:endParaRPr lang="de-DE" dirty="0"/>
          </a:p>
          <a:p>
            <a:pPr marL="342900" indent="-342900">
              <a:buFont typeface="+mj-lt"/>
              <a:buAutoNum type="arabicPeriod"/>
            </a:pPr>
            <a:r>
              <a:rPr lang="de-DE" dirty="0"/>
              <a:t>Die Bank in Zahlen </a:t>
            </a:r>
            <a:r>
              <a:rPr lang="de-DE" u="sng" dirty="0">
                <a:uFill>
                  <a:solidFill>
                    <a:schemeClr val="accent3"/>
                  </a:solidFill>
                </a:uFill>
              </a:rPr>
              <a:t>	</a:t>
            </a:r>
            <a:endParaRPr lang="de-DE" dirty="0"/>
          </a:p>
          <a:p>
            <a:pPr marL="342900" indent="-342900">
              <a:buFont typeface="+mj-lt"/>
              <a:buAutoNum type="arabicPeriod"/>
            </a:pPr>
            <a:r>
              <a:rPr lang="de-DE" dirty="0"/>
              <a:t>Unsere Standorte </a:t>
            </a:r>
            <a:r>
              <a:rPr lang="de-DE" u="sng" dirty="0">
                <a:uFill>
                  <a:solidFill>
                    <a:schemeClr val="accent3"/>
                  </a:solidFill>
                </a:uFill>
              </a:rPr>
              <a:t>	</a:t>
            </a:r>
            <a:endParaRPr lang="de-DE" dirty="0"/>
          </a:p>
          <a:p>
            <a:pPr marL="342900" indent="-342900">
              <a:buFont typeface="+mj-lt"/>
              <a:buAutoNum type="arabicPeriod"/>
            </a:pPr>
            <a:r>
              <a:rPr lang="de-DE" dirty="0"/>
              <a:t>Unsere Tradition </a:t>
            </a:r>
            <a:r>
              <a:rPr lang="de-DE" u="sng" dirty="0">
                <a:uFill>
                  <a:solidFill>
                    <a:schemeClr val="accent3"/>
                  </a:solidFill>
                </a:uFill>
              </a:rPr>
              <a:t>	</a:t>
            </a:r>
            <a:endParaRPr lang="de-DE" dirty="0"/>
          </a:p>
          <a:p>
            <a:pPr marL="342900" indent="-342900">
              <a:buFont typeface="+mj-lt"/>
              <a:buAutoNum type="arabicPeriod"/>
            </a:pPr>
            <a:r>
              <a:rPr lang="de-DE" dirty="0"/>
              <a:t>Rechtliche Hinweise und Impressum </a:t>
            </a:r>
            <a:r>
              <a:rPr lang="de-DE" u="sng" dirty="0">
                <a:uFill>
                  <a:solidFill>
                    <a:schemeClr val="accent3"/>
                  </a:solidFill>
                </a:uFill>
              </a:rPr>
              <a:t>	</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5</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präzisen Vorgesprächen</a:t>
            </a:r>
          </a:p>
          <a:p>
            <a:pPr lvl="2"/>
            <a:r>
              <a:rPr lang="de-DE" dirty="0"/>
              <a:t>Auf Grundlage persönlicher Gespräche ermitteln wir exakt Ihre individuellen Präferenzen und Anforderungen hinsichtlich Rendite-Risiko-Profil und Zeithorizont. </a:t>
            </a:r>
          </a:p>
          <a:p>
            <a:r>
              <a:rPr lang="de-DE" dirty="0"/>
              <a:t>Ständige Überwachung und Anpassung</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10119810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Vermögensmanagern</a:t>
            </a:r>
          </a:p>
          <a:p>
            <a:pPr lvl="2"/>
            <a:r>
              <a:rPr lang="de-DE" dirty="0"/>
              <a:t>Unsere erfahrenen Vermögensmanager planen im so genannten Top-Down-Verfahren und setzen je nach Marktsituation die Anlageentscheidungen je Strategie verantwortungsvoll um.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Vermögensverwaltung </a:t>
            </a:r>
          </a:p>
        </p:txBody>
      </p:sp>
    </p:spTree>
    <p:extLst>
      <p:ext uri="{BB962C8B-B14F-4D97-AF65-F5344CB8AC3E}">
        <p14:creationId xmlns:p14="http://schemas.microsoft.com/office/powerpoint/2010/main" val="126782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13</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4B6043D2-DE70-475A-EE5E-9E66B8808302}"/>
              </a:ext>
            </a:extLst>
          </p:cNvPr>
          <p:cNvGraphicFramePr>
            <a:graphicFrameLocks/>
          </p:cNvGraphicFramePr>
          <p:nvPr/>
        </p:nvGraphicFramePr>
        <p:xfrm>
          <a:off x="4508500" y="1040400"/>
          <a:ext cx="5613400" cy="4773840"/>
        </p:xfrm>
        <a:graphic>
          <a:graphicData uri="http://schemas.openxmlformats.org/drawingml/2006/table">
            <a:tbl>
              <a:tblPr/>
              <a:tblGrid>
                <a:gridCol w="2184400">
                  <a:extLst>
                    <a:ext uri="{9D8B030D-6E8A-4147-A177-3AD203B41FA5}">
                      <a16:colId xmlns:a16="http://schemas.microsoft.com/office/drawing/2014/main" val="1199563191"/>
                    </a:ext>
                  </a:extLst>
                </a:gridCol>
                <a:gridCol w="50800">
                  <a:extLst>
                    <a:ext uri="{9D8B030D-6E8A-4147-A177-3AD203B41FA5}">
                      <a16:colId xmlns:a16="http://schemas.microsoft.com/office/drawing/2014/main" val="2902384095"/>
                    </a:ext>
                  </a:extLst>
                </a:gridCol>
                <a:gridCol w="571500">
                  <a:extLst>
                    <a:ext uri="{9D8B030D-6E8A-4147-A177-3AD203B41FA5}">
                      <a16:colId xmlns:a16="http://schemas.microsoft.com/office/drawing/2014/main" val="1550764800"/>
                    </a:ext>
                  </a:extLst>
                </a:gridCol>
                <a:gridCol w="50800">
                  <a:extLst>
                    <a:ext uri="{9D8B030D-6E8A-4147-A177-3AD203B41FA5}">
                      <a16:colId xmlns:a16="http://schemas.microsoft.com/office/drawing/2014/main" val="4017843948"/>
                    </a:ext>
                  </a:extLst>
                </a:gridCol>
                <a:gridCol w="571500">
                  <a:extLst>
                    <a:ext uri="{9D8B030D-6E8A-4147-A177-3AD203B41FA5}">
                      <a16:colId xmlns:a16="http://schemas.microsoft.com/office/drawing/2014/main" val="3526482402"/>
                    </a:ext>
                  </a:extLst>
                </a:gridCol>
                <a:gridCol w="50800">
                  <a:extLst>
                    <a:ext uri="{9D8B030D-6E8A-4147-A177-3AD203B41FA5}">
                      <a16:colId xmlns:a16="http://schemas.microsoft.com/office/drawing/2014/main" val="3990061892"/>
                    </a:ext>
                  </a:extLst>
                </a:gridCol>
                <a:gridCol w="571500">
                  <a:extLst>
                    <a:ext uri="{9D8B030D-6E8A-4147-A177-3AD203B41FA5}">
                      <a16:colId xmlns:a16="http://schemas.microsoft.com/office/drawing/2014/main" val="3050243912"/>
                    </a:ext>
                  </a:extLst>
                </a:gridCol>
                <a:gridCol w="50800">
                  <a:extLst>
                    <a:ext uri="{9D8B030D-6E8A-4147-A177-3AD203B41FA5}">
                      <a16:colId xmlns:a16="http://schemas.microsoft.com/office/drawing/2014/main" val="2677096311"/>
                    </a:ext>
                  </a:extLst>
                </a:gridCol>
                <a:gridCol w="571500">
                  <a:extLst>
                    <a:ext uri="{9D8B030D-6E8A-4147-A177-3AD203B41FA5}">
                      <a16:colId xmlns:a16="http://schemas.microsoft.com/office/drawing/2014/main" val="2013873284"/>
                    </a:ext>
                  </a:extLst>
                </a:gridCol>
                <a:gridCol w="50800">
                  <a:extLst>
                    <a:ext uri="{9D8B030D-6E8A-4147-A177-3AD203B41FA5}">
                      <a16:colId xmlns:a16="http://schemas.microsoft.com/office/drawing/2014/main" val="3753814976"/>
                    </a:ext>
                  </a:extLst>
                </a:gridCol>
                <a:gridCol w="889000">
                  <a:extLst>
                    <a:ext uri="{9D8B030D-6E8A-4147-A177-3AD203B41FA5}">
                      <a16:colId xmlns:a16="http://schemas.microsoft.com/office/drawing/2014/main" val="410378902"/>
                    </a:ext>
                  </a:extLst>
                </a:gridCol>
              </a:tblGrid>
              <a:tr h="216000">
                <a:tc>
                  <a:txBody>
                    <a:bodyPr/>
                    <a:lstStyle/>
                    <a:p>
                      <a:pPr algn="l" fontAlgn="ctr"/>
                      <a:r>
                        <a:rPr lang="de-DE" sz="6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72967212"/>
                  </a:ext>
                </a:extLst>
              </a:tr>
              <a:tr h="130224">
                <a:tc>
                  <a:txBody>
                    <a:bodyPr/>
                    <a:lstStyle/>
                    <a:p>
                      <a:pPr algn="l" fontAlgn="ct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875881"/>
                  </a:ext>
                </a:extLst>
              </a:tr>
              <a:tr h="130224">
                <a:tc>
                  <a:txBody>
                    <a:bodyPr/>
                    <a:lstStyle/>
                    <a:p>
                      <a:pPr algn="l" fontAlgn="ctr"/>
                      <a:r>
                        <a:rPr lang="de-DE" sz="600" b="0" i="0" u="none" strike="noStrike">
                          <a:solidFill>
                            <a:srgbClr val="000000"/>
                          </a:solidFill>
                          <a:effectLst/>
                          <a:latin typeface="Noto Sans" panose="020B0502040504020204" pitchFamily="34" charset="0"/>
                        </a:rPr>
                        <a:t>3M Co.</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7841847"/>
                  </a:ext>
                </a:extLst>
              </a:tr>
              <a:tr h="130224">
                <a:tc>
                  <a:txBody>
                    <a:bodyPr/>
                    <a:lstStyle/>
                    <a:p>
                      <a:pPr algn="l" fontAlgn="ctr"/>
                      <a:r>
                        <a:rPr lang="de-DE" sz="600" b="0" i="0" u="none" strike="noStrike">
                          <a:solidFill>
                            <a:srgbClr val="000000"/>
                          </a:solidFill>
                          <a:effectLst/>
                          <a:latin typeface="Noto Sans" panose="020B0502040504020204" pitchFamily="34" charset="0"/>
                        </a:rPr>
                        <a:t>AT &amp; 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A0HL9Z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87511521"/>
                  </a:ext>
                </a:extLst>
              </a:tr>
              <a:tr h="130224">
                <a:tc>
                  <a:txBody>
                    <a:bodyPr/>
                    <a:lstStyle/>
                    <a:p>
                      <a:pPr algn="l" fontAlgn="ctr"/>
                      <a:r>
                        <a:rPr lang="de-DE" sz="600" b="0" i="0" u="none" strike="noStrike">
                          <a:solidFill>
                            <a:srgbClr val="000000"/>
                          </a:solidFill>
                          <a:effectLst/>
                          <a:latin typeface="Noto Sans" panose="020B0502040504020204" pitchFamily="34" charset="0"/>
                        </a:rPr>
                        <a:t>AbbVie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A1J84E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80839084"/>
                  </a:ext>
                </a:extLst>
              </a:tr>
              <a:tr h="130224">
                <a:tc>
                  <a:txBody>
                    <a:bodyPr/>
                    <a:lstStyle/>
                    <a:p>
                      <a:pPr algn="l" fontAlgn="ctr"/>
                      <a:r>
                        <a:rPr lang="da-DK" sz="600" b="0" i="0" u="none" strike="noStrike">
                          <a:solidFill>
                            <a:srgbClr val="000000"/>
                          </a:solidFill>
                          <a:effectLst/>
                          <a:latin typeface="Noto Sans" panose="020B0502040504020204" pitchFamily="34" charset="0"/>
                        </a:rPr>
                        <a:t>Ahold N.V. EO -,01</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00599012"/>
                  </a:ext>
                </a:extLst>
              </a:tr>
              <a:tr h="130224">
                <a:tc>
                  <a:txBody>
                    <a:bodyPr/>
                    <a:lstStyle/>
                    <a:p>
                      <a:pPr algn="l" fontAlgn="ct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40159260"/>
                  </a:ext>
                </a:extLst>
              </a:tr>
              <a:tr h="130224">
                <a:tc>
                  <a:txBody>
                    <a:bodyPr/>
                    <a:lstStyle/>
                    <a:p>
                      <a:pPr algn="l" fontAlgn="ct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48142"/>
                  </a:ext>
                </a:extLst>
              </a:tr>
              <a:tr h="130224">
                <a:tc>
                  <a:txBody>
                    <a:bodyPr/>
                    <a:lstStyle/>
                    <a:p>
                      <a:pPr algn="l" fontAlgn="ct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96766011"/>
                  </a:ext>
                </a:extLst>
              </a:tr>
              <a:tr h="130224">
                <a:tc>
                  <a:txBody>
                    <a:bodyPr/>
                    <a:lstStyle/>
                    <a:p>
                      <a:pPr algn="l" fontAlgn="ctr"/>
                      <a:r>
                        <a:rPr lang="de-DE" sz="600" b="0" i="0" u="none" strike="noStrike">
                          <a:solidFill>
                            <a:srgbClr val="000000"/>
                          </a:solidFill>
                          <a:effectLst/>
                          <a:latin typeface="Noto Sans" panose="020B0502040504020204" pitchFamily="34" charset="0"/>
                        </a:rPr>
                        <a:t>Banco Santander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858872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8860103"/>
                  </a:ext>
                </a:extLst>
              </a:tr>
              <a:tr h="130224">
                <a:tc>
                  <a:txBody>
                    <a:bodyPr/>
                    <a:lstStyle/>
                    <a:p>
                      <a:pPr algn="l" fontAlgn="ctr"/>
                      <a:r>
                        <a:rPr lang="de-DE" sz="600" b="0" i="0" u="none" strike="noStrike">
                          <a:solidFill>
                            <a:srgbClr val="000000"/>
                          </a:solidFill>
                          <a:effectLst/>
                          <a:latin typeface="Noto Sans" panose="020B0502040504020204" pitchFamily="34" charset="0"/>
                        </a:rPr>
                        <a:t>BlackRock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A40PW4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808405"/>
                  </a:ext>
                </a:extLst>
              </a:tr>
              <a:tr h="130224">
                <a:tc>
                  <a:txBody>
                    <a:bodyPr/>
                    <a:lstStyle/>
                    <a:p>
                      <a:pPr algn="l" fontAlgn="ct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87335822"/>
                  </a:ext>
                </a:extLst>
              </a:tr>
              <a:tr h="130224">
                <a:tc>
                  <a:txBody>
                    <a:bodyPr/>
                    <a:lstStyle/>
                    <a:p>
                      <a:pPr algn="l" fontAlgn="ctr"/>
                      <a:r>
                        <a:rPr lang="de-DE" sz="600" b="0" i="0" u="none" strike="noStrike">
                          <a:solidFill>
                            <a:srgbClr val="000000"/>
                          </a:solidFill>
                          <a:effectLst/>
                          <a:latin typeface="Noto Sans" panose="020B0502040504020204" pitchFamily="34" charset="0"/>
                        </a:rPr>
                        <a:t>Coca-Cola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850663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67375258"/>
                  </a:ext>
                </a:extLst>
              </a:tr>
              <a:tr h="130224">
                <a:tc>
                  <a:txBody>
                    <a:bodyPr/>
                    <a:lstStyle/>
                    <a:p>
                      <a:pPr algn="l" fontAlgn="ctr"/>
                      <a:r>
                        <a:rPr lang="de-DE" sz="600" b="0" i="0" u="none" strike="noStrike">
                          <a:solidFill>
                            <a:srgbClr val="000000"/>
                          </a:solidFill>
                          <a:effectLst/>
                          <a:latin typeface="Noto Sans" panose="020B0502040504020204" pitchFamily="34" charset="0"/>
                        </a:rPr>
                        <a:t>Deutsche Telekom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7941201"/>
                  </a:ext>
                </a:extLst>
              </a:tr>
              <a:tr h="130224">
                <a:tc>
                  <a:txBody>
                    <a:bodyPr/>
                    <a:lstStyle/>
                    <a:p>
                      <a:pPr algn="l" fontAlgn="ctr"/>
                      <a:r>
                        <a:rPr lang="de-DE" sz="600" b="0" i="0" u="none" strike="noStrike">
                          <a:solidFill>
                            <a:srgbClr val="000000"/>
                          </a:solidFill>
                          <a:effectLst/>
                          <a:latin typeface="Noto Sans" panose="020B0502040504020204" pitchFamily="34" charset="0"/>
                        </a:rPr>
                        <a:t>ENEL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928624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5564632"/>
                  </a:ext>
                </a:extLst>
              </a:tr>
              <a:tr h="130224">
                <a:tc>
                  <a:txBody>
                    <a:bodyPr/>
                    <a:lstStyle/>
                    <a:p>
                      <a:pPr algn="l" fontAlgn="ct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3728395"/>
                  </a:ext>
                </a:extLst>
              </a:tr>
              <a:tr h="130224">
                <a:tc>
                  <a:txBody>
                    <a:bodyPr/>
                    <a:lstStyle/>
                    <a:p>
                      <a:pPr algn="l" fontAlgn="ctr"/>
                      <a:r>
                        <a:rPr lang="de-DE" sz="600" b="0" i="0" u="none" strike="noStrike">
                          <a:solidFill>
                            <a:srgbClr val="000000"/>
                          </a:solidFill>
                          <a:effectLst/>
                          <a:latin typeface="Noto Sans" panose="020B0502040504020204" pitchFamily="34" charset="0"/>
                        </a:rPr>
                        <a:t>Generali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850312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30962078"/>
                  </a:ext>
                </a:extLst>
              </a:tr>
              <a:tr h="130224">
                <a:tc>
                  <a:txBody>
                    <a:bodyPr/>
                    <a:lstStyle/>
                    <a:p>
                      <a:pPr algn="l" fontAlgn="ct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1399865"/>
                  </a:ext>
                </a:extLst>
              </a:tr>
              <a:tr h="130224">
                <a:tc>
                  <a:txBody>
                    <a:bodyPr/>
                    <a:lstStyle/>
                    <a:p>
                      <a:pPr algn="l" fontAlgn="ct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1363547"/>
                  </a:ext>
                </a:extLst>
              </a:tr>
              <a:tr h="130224">
                <a:tc>
                  <a:txBody>
                    <a:bodyPr/>
                    <a:lstStyle/>
                    <a:p>
                      <a:pPr algn="l" fontAlgn="ct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74796317"/>
                  </a:ext>
                </a:extLst>
              </a:tr>
              <a:tr h="130224">
                <a:tc>
                  <a:txBody>
                    <a:bodyPr/>
                    <a:lstStyle/>
                    <a:p>
                      <a:pPr algn="l" fontAlgn="ctr"/>
                      <a:r>
                        <a:rPr lang="de-DE" sz="600" b="0" i="0" u="none" strike="noStrike">
                          <a:solidFill>
                            <a:srgbClr val="000000"/>
                          </a:solidFill>
                          <a:effectLst/>
                          <a:latin typeface="Noto Sans" panose="020B0502040504020204" pitchFamily="34" charset="0"/>
                        </a:rPr>
                        <a:t>ING Groep N.V.</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A2ANV3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2859553"/>
                  </a:ext>
                </a:extLst>
              </a:tr>
              <a:tr h="130224">
                <a:tc>
                  <a:txBody>
                    <a:bodyPr/>
                    <a:lstStyle/>
                    <a:p>
                      <a:pPr algn="l" fontAlgn="ctr"/>
                      <a:r>
                        <a:rPr lang="de-DE" sz="600" b="0" i="0" u="none" strike="noStrike">
                          <a:solidFill>
                            <a:srgbClr val="000000"/>
                          </a:solidFill>
                          <a:effectLst/>
                          <a:latin typeface="Noto Sans" panose="020B0502040504020204" pitchFamily="34" charset="0"/>
                        </a:rPr>
                        <a:t>Iberdrola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A0M46B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04725441"/>
                  </a:ext>
                </a:extLst>
              </a:tr>
              <a:tr h="130224">
                <a:tc>
                  <a:txBody>
                    <a:bodyPr/>
                    <a:lstStyle/>
                    <a:p>
                      <a:pPr algn="l" fontAlgn="ctr"/>
                      <a:r>
                        <a:rPr lang="de-DE" sz="600" b="0" i="0" u="none" strike="noStrike">
                          <a:solidFill>
                            <a:srgbClr val="000000"/>
                          </a:solidFill>
                          <a:effectLst/>
                          <a:latin typeface="Noto Sans" panose="020B0502040504020204" pitchFamily="34" charset="0"/>
                        </a:rPr>
                        <a:t>Intl Business Machines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851399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5699290"/>
                  </a:ext>
                </a:extLst>
              </a:tr>
              <a:tr h="130224">
                <a:tc>
                  <a:txBody>
                    <a:bodyPr/>
                    <a:lstStyle/>
                    <a:p>
                      <a:pPr algn="l" fontAlgn="ctr"/>
                      <a:r>
                        <a:rPr lang="de-DE" sz="600" b="0" i="0" u="none" strike="noStrike">
                          <a:solidFill>
                            <a:srgbClr val="000000"/>
                          </a:solidFill>
                          <a:effectLst/>
                          <a:latin typeface="Noto Sans" panose="020B0502040504020204" pitchFamily="34" charset="0"/>
                        </a:rPr>
                        <a:t>Johnson &amp; Johnson</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0350"/>
                  </a:ext>
                </a:extLst>
              </a:tr>
              <a:tr h="130224">
                <a:tc>
                  <a:txBody>
                    <a:bodyPr/>
                    <a:lstStyle/>
                    <a:p>
                      <a:pPr algn="l" fontAlgn="ctr"/>
                      <a:r>
                        <a:rPr lang="de-DE" sz="600" b="0" i="0" u="none" strike="noStrike">
                          <a:solidFill>
                            <a:srgbClr val="000000"/>
                          </a:solidFill>
                          <a:effectLst/>
                          <a:latin typeface="Noto Sans" panose="020B0502040504020204" pitchFamily="34" charset="0"/>
                        </a:rPr>
                        <a:t>Mercadolibre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53865686"/>
                  </a:ext>
                </a:extLst>
              </a:tr>
              <a:tr h="130224">
                <a:tc>
                  <a:txBody>
                    <a:bodyPr/>
                    <a:lstStyle/>
                    <a:p>
                      <a:pPr algn="l" fontAlgn="ct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6680975"/>
                  </a:ext>
                </a:extLst>
              </a:tr>
              <a:tr h="130224">
                <a:tc>
                  <a:txBody>
                    <a:bodyPr/>
                    <a:lstStyle/>
                    <a:p>
                      <a:pPr algn="l" fontAlgn="ct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7564125"/>
                  </a:ext>
                </a:extLst>
              </a:tr>
              <a:tr h="130224">
                <a:tc>
                  <a:txBody>
                    <a:bodyPr/>
                    <a:lstStyle/>
                    <a:p>
                      <a:pPr algn="l" fontAlgn="ct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4338199"/>
                  </a:ext>
                </a:extLst>
              </a:tr>
              <a:tr h="130224">
                <a:tc>
                  <a:txBody>
                    <a:bodyPr/>
                    <a:lstStyle/>
                    <a:p>
                      <a:pPr algn="l" fontAlgn="ct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46379147"/>
                  </a:ext>
                </a:extLst>
              </a:tr>
              <a:tr h="130224">
                <a:tc>
                  <a:txBody>
                    <a:bodyPr/>
                    <a:lstStyle/>
                    <a:p>
                      <a:pPr algn="l" fontAlgn="ctr"/>
                      <a:r>
                        <a:rPr lang="de-DE" sz="600" b="0" i="0" u="none" strike="noStrike">
                          <a:solidFill>
                            <a:srgbClr val="000000"/>
                          </a:solidFill>
                          <a:effectLst/>
                          <a:latin typeface="Noto Sans" panose="020B0502040504020204" pitchFamily="34" charset="0"/>
                        </a:rPr>
                        <a:t>Nordea Bank Abp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A2N6F4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66391533"/>
                  </a:ext>
                </a:extLst>
              </a:tr>
              <a:tr h="130224">
                <a:tc>
                  <a:txBody>
                    <a:bodyPr/>
                    <a:lstStyle/>
                    <a:p>
                      <a:pPr algn="l" fontAlgn="ctr"/>
                      <a:r>
                        <a:rPr lang="de-DE" sz="600" b="0" i="0" u="none" strike="noStrike">
                          <a:solidFill>
                            <a:srgbClr val="000000"/>
                          </a:solidFill>
                          <a:effectLst/>
                          <a:latin typeface="Noto Sans" panose="020B0502040504020204" pitchFamily="34" charset="0"/>
                        </a:rPr>
                        <a:t>Novartis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904278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86584194"/>
                  </a:ext>
                </a:extLst>
              </a:tr>
              <a:tr h="130224">
                <a:tc>
                  <a:txBody>
                    <a:bodyPr/>
                    <a:lstStyle/>
                    <a:p>
                      <a:pPr algn="l" fontAlgn="ctr"/>
                      <a:r>
                        <a:rPr lang="de-DE" sz="600" b="0" i="0" u="none" strike="noStrike">
                          <a:solidFill>
                            <a:srgbClr val="000000"/>
                          </a:solidFill>
                          <a:effectLst/>
                          <a:latin typeface="Noto Sans" panose="020B0502040504020204" pitchFamily="34" charset="0"/>
                        </a:rPr>
                        <a:t>Philip Morris Internat.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9826738"/>
                  </a:ext>
                </a:extLst>
              </a:tr>
              <a:tr h="130224">
                <a:tc>
                  <a:txBody>
                    <a:bodyPr/>
                    <a:lstStyle/>
                    <a:p>
                      <a:pPr algn="l" fontAlgn="ctr"/>
                      <a:r>
                        <a:rPr lang="de-DE" sz="600" b="0" i="0" u="none" strike="noStrike">
                          <a:solidFill>
                            <a:srgbClr val="000000"/>
                          </a:solidFill>
                          <a:effectLst/>
                          <a:latin typeface="Noto Sans" panose="020B0502040504020204" pitchFamily="34" charset="0"/>
                        </a:rPr>
                        <a:t>Roche Holding AG Genußscheine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855167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76809598"/>
                  </a:ext>
                </a:extLst>
              </a:tr>
              <a:tr h="130224">
                <a:tc>
                  <a:txBody>
                    <a:bodyPr/>
                    <a:lstStyle/>
                    <a:p>
                      <a:pPr algn="l" fontAlgn="ctr"/>
                      <a:r>
                        <a:rPr lang="de-DE" sz="600" b="0" i="0" u="none" strike="noStrike">
                          <a:solidFill>
                            <a:srgbClr val="000000"/>
                          </a:solidFill>
                          <a:effectLst/>
                          <a:latin typeface="Noto Sans" panose="020B0502040504020204" pitchFamily="34" charset="0"/>
                        </a:rPr>
                        <a:t>Shell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3248457"/>
                  </a:ext>
                </a:extLst>
              </a:tr>
              <a:tr h="130224">
                <a:tc>
                  <a:txBody>
                    <a:bodyPr/>
                    <a:lstStyle/>
                    <a:p>
                      <a:pPr algn="l" fontAlgn="ctr"/>
                      <a:r>
                        <a:rPr lang="de-DE" sz="600" b="0" i="0" u="none" strike="noStrike" dirty="0">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6136602"/>
                  </a:ext>
                </a:extLst>
              </a:tr>
              <a:tr h="130224">
                <a:tc>
                  <a:txBody>
                    <a:bodyPr/>
                    <a:lstStyle/>
                    <a:p>
                      <a:pPr algn="l" fontAlgn="ct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75,00%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dirty="0">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28745751"/>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3688876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14</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3C7BCAA-0E17-E5A8-BC75-CEAB4291A886}"/>
              </a:ext>
            </a:extLst>
          </p:cNvPr>
          <p:cNvGraphicFramePr>
            <a:graphicFrameLocks noGrp="1" noDrilldown="1" noMove="1" noResize="1"/>
          </p:cNvGraphicFramePr>
          <p:nvPr/>
        </p:nvGraphicFramePr>
        <p:xfrm>
          <a:off x="4508500" y="1040400"/>
          <a:ext cx="5613400" cy="4773527"/>
        </p:xfrm>
        <a:graphic>
          <a:graphicData uri="http://schemas.openxmlformats.org/drawingml/2006/table">
            <a:tbl>
              <a:tblPr/>
              <a:tblGrid>
                <a:gridCol w="2184400">
                  <a:extLst>
                    <a:ext uri="{9D8B030D-6E8A-4147-A177-3AD203B41FA5}">
                      <a16:colId xmlns:a16="http://schemas.microsoft.com/office/drawing/2014/main" val="357058835"/>
                    </a:ext>
                  </a:extLst>
                </a:gridCol>
                <a:gridCol w="50800">
                  <a:extLst>
                    <a:ext uri="{9D8B030D-6E8A-4147-A177-3AD203B41FA5}">
                      <a16:colId xmlns:a16="http://schemas.microsoft.com/office/drawing/2014/main" val="4244896064"/>
                    </a:ext>
                  </a:extLst>
                </a:gridCol>
                <a:gridCol w="571500">
                  <a:extLst>
                    <a:ext uri="{9D8B030D-6E8A-4147-A177-3AD203B41FA5}">
                      <a16:colId xmlns:a16="http://schemas.microsoft.com/office/drawing/2014/main" val="3824065173"/>
                    </a:ext>
                  </a:extLst>
                </a:gridCol>
                <a:gridCol w="50800">
                  <a:extLst>
                    <a:ext uri="{9D8B030D-6E8A-4147-A177-3AD203B41FA5}">
                      <a16:colId xmlns:a16="http://schemas.microsoft.com/office/drawing/2014/main" val="1992476229"/>
                    </a:ext>
                  </a:extLst>
                </a:gridCol>
                <a:gridCol w="571500">
                  <a:extLst>
                    <a:ext uri="{9D8B030D-6E8A-4147-A177-3AD203B41FA5}">
                      <a16:colId xmlns:a16="http://schemas.microsoft.com/office/drawing/2014/main" val="2579450953"/>
                    </a:ext>
                  </a:extLst>
                </a:gridCol>
                <a:gridCol w="50800">
                  <a:extLst>
                    <a:ext uri="{9D8B030D-6E8A-4147-A177-3AD203B41FA5}">
                      <a16:colId xmlns:a16="http://schemas.microsoft.com/office/drawing/2014/main" val="251546744"/>
                    </a:ext>
                  </a:extLst>
                </a:gridCol>
                <a:gridCol w="571500">
                  <a:extLst>
                    <a:ext uri="{9D8B030D-6E8A-4147-A177-3AD203B41FA5}">
                      <a16:colId xmlns:a16="http://schemas.microsoft.com/office/drawing/2014/main" val="2512385112"/>
                    </a:ext>
                  </a:extLst>
                </a:gridCol>
                <a:gridCol w="50800">
                  <a:extLst>
                    <a:ext uri="{9D8B030D-6E8A-4147-A177-3AD203B41FA5}">
                      <a16:colId xmlns:a16="http://schemas.microsoft.com/office/drawing/2014/main" val="3863983101"/>
                    </a:ext>
                  </a:extLst>
                </a:gridCol>
                <a:gridCol w="571500">
                  <a:extLst>
                    <a:ext uri="{9D8B030D-6E8A-4147-A177-3AD203B41FA5}">
                      <a16:colId xmlns:a16="http://schemas.microsoft.com/office/drawing/2014/main" val="484081209"/>
                    </a:ext>
                  </a:extLst>
                </a:gridCol>
                <a:gridCol w="50800">
                  <a:extLst>
                    <a:ext uri="{9D8B030D-6E8A-4147-A177-3AD203B41FA5}">
                      <a16:colId xmlns:a16="http://schemas.microsoft.com/office/drawing/2014/main" val="334612058"/>
                    </a:ext>
                  </a:extLst>
                </a:gridCol>
                <a:gridCol w="889000">
                  <a:extLst>
                    <a:ext uri="{9D8B030D-6E8A-4147-A177-3AD203B41FA5}">
                      <a16:colId xmlns:a16="http://schemas.microsoft.com/office/drawing/2014/main" val="937435690"/>
                    </a:ext>
                  </a:extLst>
                </a:gridCol>
              </a:tblGrid>
              <a:tr h="216000">
                <a:tc>
                  <a:txBody>
                    <a:bodyPr/>
                    <a:lstStyle/>
                    <a:p>
                      <a:pPr algn="l" fontAlgn="ctr"/>
                      <a:r>
                        <a:rPr lang="de-DE" sz="700" b="0" i="0" u="none" strike="noStrike">
                          <a:solidFill>
                            <a:srgbClr val="FFFFFF"/>
                          </a:solidFill>
                          <a:effectLst/>
                          <a:latin typeface="Noto Sans" panose="020B0502040504020204" pitchFamily="34" charset="0"/>
                        </a:rPr>
                        <a:t>WERTPAPIER</a:t>
                      </a:r>
                    </a:p>
                  </a:txBody>
                  <a:tcPr marL="68673"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Rating</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4118748789"/>
                  </a:ext>
                </a:extLst>
              </a:tr>
              <a:tr h="350579">
                <a:tc>
                  <a:txBody>
                    <a:bodyPr/>
                    <a:lstStyle/>
                    <a:p>
                      <a:pPr algn="l" fontAlgn="ctr"/>
                      <a:r>
                        <a:rPr lang="de-DE" sz="700" b="1" i="0" u="none" strike="noStrike">
                          <a:solidFill>
                            <a:srgbClr val="000000"/>
                          </a:solidFill>
                          <a:effectLst/>
                          <a:latin typeface="Noto Sans" panose="020B0502040504020204" pitchFamily="34" charset="0"/>
                        </a:rPr>
                        <a:t>RENTEN</a:t>
                      </a:r>
                    </a:p>
                  </a:txBody>
                  <a:tcPr marL="6867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69390718"/>
                  </a:ext>
                </a:extLst>
              </a:tr>
              <a:tr h="350579">
                <a:tc>
                  <a:txBody>
                    <a:bodyPr/>
                    <a:lstStyle/>
                    <a:p>
                      <a:pPr algn="l" fontAlgn="ctr"/>
                      <a:r>
                        <a:rPr lang="de-DE" sz="700" b="0" i="0" u="none" strike="noStrike">
                          <a:solidFill>
                            <a:srgbClr val="000000"/>
                          </a:solidFill>
                          <a:effectLst/>
                          <a:latin typeface="Noto Sans" panose="020B0502040504020204" pitchFamily="34" charset="0"/>
                        </a:rPr>
                        <a:t>Goldman Sachs IHS</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01.11.2028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A19340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6453592"/>
                  </a:ext>
                </a:extLst>
              </a:tr>
              <a:tr h="350579">
                <a:tc>
                  <a:txBody>
                    <a:bodyPr/>
                    <a:lstStyle/>
                    <a:p>
                      <a:pPr algn="l" fontAlgn="ctr"/>
                      <a:r>
                        <a:rPr lang="de-DE" sz="700" b="0" i="0" u="none" strike="noStrike">
                          <a:solidFill>
                            <a:srgbClr val="000000"/>
                          </a:solidFill>
                          <a:effectLst/>
                          <a:latin typeface="Noto Sans" panose="020B0502040504020204" pitchFamily="34" charset="0"/>
                        </a:rPr>
                        <a:t>Hochtief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26.04.2029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A3E5S0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13439627"/>
                  </a:ext>
                </a:extLst>
              </a:tr>
              <a:tr h="350579">
                <a:tc>
                  <a:txBody>
                    <a:bodyPr/>
                    <a:lstStyle/>
                    <a:p>
                      <a:pPr algn="l" fontAlgn="ctr"/>
                      <a:r>
                        <a:rPr lang="de-DE" sz="700" b="0" i="0" u="none" strike="noStrike">
                          <a:solidFill>
                            <a:srgbClr val="000000"/>
                          </a:solidFill>
                          <a:effectLst/>
                          <a:latin typeface="Noto Sans" panose="020B0502040504020204" pitchFamily="34" charset="0"/>
                        </a:rPr>
                        <a:t>Grenke Finance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06.07.2029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3173850"/>
                  </a:ext>
                </a:extLst>
              </a:tr>
              <a:tr h="350579">
                <a:tc>
                  <a:txBody>
                    <a:bodyPr/>
                    <a:lstStyle/>
                    <a:p>
                      <a:pPr algn="l" fontAlgn="ctr"/>
                      <a:r>
                        <a:rPr lang="de-DE" sz="700" b="0" i="0" u="none" strike="noStrike">
                          <a:solidFill>
                            <a:srgbClr val="000000"/>
                          </a:solidFill>
                          <a:effectLst/>
                          <a:latin typeface="Noto Sans" panose="020B0502040504020204" pitchFamily="34" charset="0"/>
                        </a:rPr>
                        <a:t>VW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16.01.2030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A1ZUTM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7601068"/>
                  </a:ext>
                </a:extLst>
              </a:tr>
              <a:tr h="350579">
                <a:tc>
                  <a:txBody>
                    <a:bodyPr/>
                    <a:lstStyle/>
                    <a:p>
                      <a:pPr algn="l" fontAlgn="ctr"/>
                      <a:r>
                        <a:rPr lang="de-DE" sz="700" b="0" i="0" u="none" strike="noStrike">
                          <a:solidFill>
                            <a:srgbClr val="000000"/>
                          </a:solidFill>
                          <a:effectLst/>
                          <a:latin typeface="Noto Sans" panose="020B0502040504020204" pitchFamily="34" charset="0"/>
                        </a:rPr>
                        <a:t>Porsche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27.09.2030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7396839"/>
                  </a:ext>
                </a:extLst>
              </a:tr>
              <a:tr h="350579">
                <a:tc>
                  <a:txBody>
                    <a:bodyPr/>
                    <a:lstStyle/>
                    <a:p>
                      <a:pPr algn="l" fontAlgn="ctr"/>
                      <a:r>
                        <a:rPr lang="de-DE" sz="700" b="0" i="0" u="none" strike="noStrike">
                          <a:solidFill>
                            <a:srgbClr val="000000"/>
                          </a:solidFill>
                          <a:effectLst/>
                          <a:latin typeface="Noto Sans" panose="020B0502040504020204" pitchFamily="34" charset="0"/>
                        </a:rPr>
                        <a:t>Deutsche Post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25.11.2031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A460PH</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0185955"/>
                  </a:ext>
                </a:extLst>
              </a:tr>
              <a:tr h="350579">
                <a:tc>
                  <a:txBody>
                    <a:bodyPr/>
                    <a:lstStyle/>
                    <a:p>
                      <a:pPr algn="l" fontAlgn="ctr"/>
                      <a:r>
                        <a:rPr lang="nl-NL" sz="700" b="0" i="0" u="none" strike="noStrike">
                          <a:solidFill>
                            <a:srgbClr val="000000"/>
                          </a:solidFill>
                          <a:effectLst/>
                          <a:latin typeface="Noto Sans" panose="020B0502040504020204" pitchFamily="34" charset="0"/>
                        </a:rPr>
                        <a:t>KfW staatsg. Green Bond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2,880%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31.03.2032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A38J3W</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97960300"/>
                  </a:ext>
                </a:extLst>
              </a:tr>
              <a:tr h="350579">
                <a:tc>
                  <a:txBody>
                    <a:bodyPr/>
                    <a:lstStyle/>
                    <a:p>
                      <a:pPr algn="l" fontAlgn="ctr"/>
                      <a:r>
                        <a:rPr lang="de-DE" sz="700" b="0" i="0" u="none" strike="noStrike">
                          <a:solidFill>
                            <a:srgbClr val="000000"/>
                          </a:solidFill>
                          <a:effectLst/>
                          <a:latin typeface="Noto Sans" panose="020B0502040504020204" pitchFamily="34" charset="0"/>
                        </a:rPr>
                        <a:t>Bayer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26.05.2033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A351U1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95989047"/>
                  </a:ext>
                </a:extLst>
              </a:tr>
              <a:tr h="350579">
                <a:tc>
                  <a:txBody>
                    <a:bodyPr/>
                    <a:lstStyle/>
                    <a:p>
                      <a:pPr algn="l" fontAlgn="ctr"/>
                      <a:r>
                        <a:rPr lang="de-DE" sz="700" b="1" i="0" u="none" strike="noStrike">
                          <a:solidFill>
                            <a:srgbClr val="000000"/>
                          </a:solidFill>
                          <a:effectLst/>
                          <a:latin typeface="Noto Sans" panose="020B0502040504020204" pitchFamily="34" charset="0"/>
                        </a:rPr>
                        <a:t>EDELMETALLE</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4325203"/>
                  </a:ext>
                </a:extLst>
              </a:tr>
              <a:tr h="350579">
                <a:tc>
                  <a:txBody>
                    <a:bodyPr/>
                    <a:lstStyle/>
                    <a:p>
                      <a:pPr algn="l" fontAlgn="ctr"/>
                      <a:r>
                        <a:rPr lang="de-DE" sz="700" b="0" i="0" u="none" strike="noStrike">
                          <a:solidFill>
                            <a:srgbClr val="000000"/>
                          </a:solidFill>
                          <a:effectLst/>
                          <a:latin typeface="Noto Sans" panose="020B0502040504020204" pitchFamily="34" charset="0"/>
                        </a:rPr>
                        <a:t>XETRA Gold</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96111804"/>
                  </a:ext>
                </a:extLst>
              </a:tr>
              <a:tr h="350579">
                <a:tc>
                  <a:txBody>
                    <a:bodyPr/>
                    <a:lstStyle/>
                    <a:p>
                      <a:pPr algn="l" fontAlgn="ctr"/>
                      <a:r>
                        <a:rPr lang="de-DE" sz="700" b="1" i="0" u="none" strike="noStrike">
                          <a:solidFill>
                            <a:srgbClr val="000000"/>
                          </a:solidFill>
                          <a:effectLst/>
                          <a:latin typeface="Noto Sans" panose="020B0502040504020204" pitchFamily="34" charset="0"/>
                        </a:rPr>
                        <a:t>LIQUIDITÄT</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3265558"/>
                  </a:ext>
                </a:extLst>
              </a:tr>
              <a:tr h="350579">
                <a:tc>
                  <a:txBody>
                    <a:bodyPr/>
                    <a:lstStyle/>
                    <a:p>
                      <a:pPr algn="l" fontAlgn="ctr"/>
                      <a:r>
                        <a:rPr lang="de-DE" sz="700" b="1" i="0" u="none" strike="noStrike">
                          <a:solidFill>
                            <a:srgbClr val="000000"/>
                          </a:solidFill>
                          <a:effectLst/>
                          <a:latin typeface="Noto Sans" panose="020B0502040504020204" pitchFamily="34" charset="0"/>
                        </a:rPr>
                        <a:t> </a:t>
                      </a:r>
                    </a:p>
                  </a:txBody>
                  <a:tcPr marL="6867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046913"/>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40858863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15</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4000"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332258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4854F75-D5A4-EA14-63DF-598B30386FEB}"/>
              </a:ext>
            </a:extLst>
          </p:cNvPr>
          <p:cNvSpPr>
            <a:spLocks noGrp="1"/>
          </p:cNvSpPr>
          <p:nvPr>
            <p:ph type="sldNum" sz="quarter" idx="12"/>
          </p:nvPr>
        </p:nvSpPr>
        <p:spPr/>
        <p:txBody>
          <a:bodyPr/>
          <a:lstStyle/>
          <a:p>
            <a:fld id="{3AE71D6B-ACB6-4F4C-A895-DCAEF1760EAA}" type="slidenum">
              <a:rPr lang="de-DE" smtClean="0"/>
              <a:t>16</a:t>
            </a:fld>
            <a:endParaRPr lang="de-DE"/>
          </a:p>
        </p:txBody>
      </p:sp>
      <p:graphicFrame>
        <p:nvGraphicFramePr>
          <p:cNvPr id="4" name="C_Kennzahlen1">
            <a:extLst>
              <a:ext uri="{FF2B5EF4-FFF2-40B4-BE49-F238E27FC236}">
                <a16:creationId xmlns:a16="http://schemas.microsoft.com/office/drawing/2014/main" id="{06CC37AF-1957-4EDD-A195-2A5011DE1C17}"/>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sp>
        <p:nvSpPr>
          <p:cNvPr id="3" name="Titel 2">
            <a:extLst>
              <a:ext uri="{FF2B5EF4-FFF2-40B4-BE49-F238E27FC236}">
                <a16:creationId xmlns:a16="http://schemas.microsoft.com/office/drawing/2014/main" id="{1239D923-0285-AE25-A9C4-A7978C4FE940}"/>
              </a:ext>
            </a:extLst>
          </p:cNvPr>
          <p:cNvSpPr>
            <a:spLocks noGrp="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703571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17</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Ausschluss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Erfahrene Mitarbeiter und professionelle Tools</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4735164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20</a:t>
            </a:fld>
            <a:endParaRPr lang="de-DE" dirty="0"/>
          </a:p>
        </p:txBody>
      </p:sp>
      <p:sp>
        <p:nvSpPr>
          <p:cNvPr id="3" name="Text">
            <a:extLst>
              <a:ext uri="{FF2B5EF4-FFF2-40B4-BE49-F238E27FC236}">
                <a16:creationId xmlns:a16="http://schemas.microsoft.com/office/drawing/2014/main" id="{C062E8D2-57BE-4760-1DDE-D04E35D3BC15}"/>
              </a:ext>
            </a:extLst>
          </p:cNvPr>
          <p:cNvSpPr>
            <a:spLocks noGrp="1" noRot="1" noMove="1" noResize="1" noEditPoints="1" noAdjustHandles="1" noChangeArrowheads="1" noChangeShapeType="1"/>
          </p:cNvSpPr>
          <p:nvPr>
            <p:ph idx="1"/>
          </p:nvPr>
        </p:nvSpPr>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Erstallokation Ihres gewünschten Anlagebetrages in die von Ihnen gewählte Anlagestrategie.</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 auf Wunsch auch digital –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21</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Bei unserer konservativen Strategie ist der Fremdwährungsanteil auf maximal 25% beschränkt.</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22</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noDrilldown="1" noMove="1" noResize="1"/>
          </p:cNvGraphicFramePr>
          <p:nvPr>
            <p:ph idx="1"/>
            <p:extLst>
              <p:ext uri="{D42A27DB-BD31-4B8C-83A1-F6EECF244321}">
                <p14:modId xmlns:p14="http://schemas.microsoft.com/office/powerpoint/2010/main" val="2308914870"/>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eine </a:t>
                      </a:r>
                    </a:p>
                    <a:p>
                      <a:pPr marL="0" algn="l" defTabSz="783001" rtl="0" eaLnBrk="1" latinLnBrk="0" hangingPunct="1">
                        <a:lnSpc>
                          <a:spcPts val="1600"/>
                        </a:lnSpc>
                      </a:pPr>
                      <a:r>
                        <a:rPr lang="de-DE" sz="1100" kern="1200" dirty="0">
                          <a:solidFill>
                            <a:schemeClr val="tx1"/>
                          </a:solidFill>
                          <a:latin typeface="+mn-lt"/>
                          <a:ea typeface="+mn-ea"/>
                          <a:cs typeface="+mn-cs"/>
                        </a:rPr>
                        <a:t>Übersicht, wo neben unserem </a:t>
                      </a:r>
                    </a:p>
                    <a:p>
                      <a:pPr marL="0" algn="l" defTabSz="783001" rtl="0" eaLnBrk="1" latinLnBrk="0" hangingPunct="1">
                        <a:lnSpc>
                          <a:spcPts val="1600"/>
                        </a:lnSpc>
                      </a:pPr>
                      <a:r>
                        <a:rPr lang="de-DE" sz="1100" kern="1200" dirty="0">
                          <a:solidFill>
                            <a:schemeClr val="tx1"/>
                          </a:solidFill>
                          <a:latin typeface="+mn-lt"/>
                          <a:ea typeface="+mn-ea"/>
                          <a:cs typeface="+mn-cs"/>
                        </a:rPr>
                        <a:t>Vermögensverwaltungshonorar </a:t>
                      </a:r>
                    </a:p>
                    <a:p>
                      <a:pPr marL="0" algn="l" defTabSz="783001" rtl="0" eaLnBrk="1" latinLnBrk="0" hangingPunct="1">
                        <a:lnSpc>
                          <a:spcPts val="1600"/>
                        </a:lnSpc>
                      </a:pPr>
                      <a:r>
                        <a:rPr lang="de-DE" sz="1100" kern="1200" dirty="0">
                          <a:solidFill>
                            <a:schemeClr val="tx1"/>
                          </a:solidFill>
                          <a:latin typeface="+mn-lt"/>
                          <a:ea typeface="+mn-ea"/>
                          <a:cs typeface="+mn-cs"/>
                        </a:rPr>
                        <a:t>zusätzliche fremde Produktkosten </a:t>
                      </a:r>
                    </a:p>
                    <a:p>
                      <a:pPr marL="0" algn="l" defTabSz="783001" rtl="0" eaLnBrk="1" latinLnBrk="0" hangingPunct="1">
                        <a:lnSpc>
                          <a:spcPts val="1600"/>
                        </a:lnSpc>
                      </a:pPr>
                      <a:r>
                        <a:rPr lang="de-DE" sz="1100" kern="1200" dirty="0">
                          <a:solidFill>
                            <a:schemeClr val="tx1"/>
                          </a:solidFill>
                          <a:latin typeface="+mn-lt"/>
                          <a:ea typeface="+mn-ea"/>
                          <a:cs typeface="+mn-cs"/>
                        </a:rPr>
                        <a:t>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a:t>
                      </a:r>
                    </a:p>
                    <a:p>
                      <a:pPr marL="0" algn="l" defTabSz="783001" rtl="0" eaLnBrk="1" latinLnBrk="0" hangingPunct="1">
                        <a:lnSpc>
                          <a:spcPts val="1600"/>
                        </a:lnSpc>
                      </a:pPr>
                      <a:r>
                        <a:rPr lang="de-DE" sz="1100" kern="1200" dirty="0">
                          <a:solidFill>
                            <a:schemeClr val="tx1"/>
                          </a:solidFill>
                          <a:latin typeface="+mn-lt"/>
                          <a:ea typeface="+mn-ea"/>
                          <a:cs typeface="+mn-cs"/>
                        </a:rPr>
                        <a:t>mit dem Ablauf des </a:t>
                      </a:r>
                      <a:r>
                        <a:rPr lang="de-DE" sz="1100" kern="1200" dirty="0" err="1">
                          <a:solidFill>
                            <a:schemeClr val="tx1"/>
                          </a:solidFill>
                          <a:latin typeface="+mn-lt"/>
                          <a:ea typeface="+mn-ea"/>
                          <a:cs typeface="+mn-cs"/>
                        </a:rPr>
                        <a:t>Kalenderjah</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res</a:t>
                      </a:r>
                      <a:r>
                        <a:rPr lang="de-DE" sz="1100" kern="1200" dirty="0">
                          <a:solidFill>
                            <a:schemeClr val="tx1"/>
                          </a:solidFill>
                          <a:latin typeface="+mn-lt"/>
                          <a:ea typeface="+mn-ea"/>
                          <a:cs typeface="+mn-cs"/>
                        </a:rPr>
                        <a:t>. Automatische Verrechnung </a:t>
                      </a:r>
                    </a:p>
                    <a:p>
                      <a:pPr marL="0" algn="l" defTabSz="783001" rtl="0" eaLnBrk="1" latinLnBrk="0" hangingPunct="1">
                        <a:lnSpc>
                          <a:spcPts val="1600"/>
                        </a:lnSpc>
                      </a:pPr>
                      <a:r>
                        <a:rPr lang="de-DE" sz="1100" kern="1200" dirty="0">
                          <a:solidFill>
                            <a:schemeClr val="tx1"/>
                          </a:solidFill>
                          <a:latin typeface="+mn-lt"/>
                          <a:ea typeface="+mn-ea"/>
                          <a:cs typeface="+mn-cs"/>
                        </a:rPr>
                        <a:t>der All-in-fee.</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zugesandt. Kontoauszüge </a:t>
                      </a:r>
                    </a:p>
                    <a:p>
                      <a:pPr marL="0" algn="l" defTabSz="783001" rtl="0" eaLnBrk="1" latinLnBrk="0" hangingPunct="1">
                        <a:lnSpc>
                          <a:spcPts val="1600"/>
                        </a:lnSpc>
                      </a:pPr>
                      <a:r>
                        <a:rPr lang="de-DE" sz="1100" kern="1200" dirty="0">
                          <a:solidFill>
                            <a:schemeClr val="tx1"/>
                          </a:solidFill>
                          <a:latin typeface="+mn-lt"/>
                          <a:ea typeface="+mn-ea"/>
                          <a:cs typeface="+mn-cs"/>
                        </a:rPr>
                        <a:t>werden monatlich erstellt.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a:t>
            </a:r>
          </a:p>
        </p:txBody>
      </p:sp>
    </p:spTree>
    <p:extLst>
      <p:ext uri="{BB962C8B-B14F-4D97-AF65-F5344CB8AC3E}">
        <p14:creationId xmlns:p14="http://schemas.microsoft.com/office/powerpoint/2010/main" val="35931892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24</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2024)</a:t>
            </a:r>
          </a:p>
          <a:p>
            <a:pPr lvl="1"/>
            <a:r>
              <a:rPr lang="de-DE" dirty="0"/>
              <a:t>Bilanzsumme 	</a:t>
            </a:r>
            <a:r>
              <a:rPr lang="de-DE" b="1" dirty="0"/>
              <a:t>636,1 Mio. EUR</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extLst>
              <p:ext uri="{D42A27DB-BD31-4B8C-83A1-F6EECF244321}">
                <p14:modId xmlns:p14="http://schemas.microsoft.com/office/powerpoint/2010/main" val="1545709965"/>
              </p:ext>
            </p:extLst>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A240027-3618-5377-C1BF-84267D7D2DE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25</a:t>
            </a:fld>
            <a:endParaRPr lang="de-DE"/>
          </a:p>
        </p:txBody>
      </p:sp>
      <p:sp>
        <p:nvSpPr>
          <p:cNvPr id="3" name="Text rechts">
            <a:extLst>
              <a:ext uri="{FF2B5EF4-FFF2-40B4-BE49-F238E27FC236}">
                <a16:creationId xmlns:a16="http://schemas.microsoft.com/office/drawing/2014/main" id="{2A7ADAC9-BDE1-2830-3617-7BFE317ACBE1}"/>
              </a:ext>
            </a:extLst>
          </p:cNvPr>
          <p:cNvSpPr>
            <a:spLocks noGrp="1" noRot="1" noMove="1" noResize="1" noEditPoints="1" noAdjustHandles="1" noChangeArrowheads="1" noChangeShapeType="1"/>
          </p:cNvSpPr>
          <p:nvPr>
            <p:ph type="body" sz="quarter" idx="18"/>
          </p:nvPr>
        </p:nvSpPr>
        <p:spPr/>
        <p:txBody>
          <a:bodyPr/>
          <a:lstStyle/>
          <a:p>
            <a:r>
              <a:rPr lang="de-DE" dirty="0"/>
              <a:t>Abteilungsdirektor</a:t>
            </a:r>
            <a:br>
              <a:rPr lang="de-DE" dirty="0"/>
            </a:br>
            <a:r>
              <a:rPr lang="de-DE" dirty="0"/>
              <a:t>Private Banking Augsburg</a:t>
            </a:r>
          </a:p>
          <a:p>
            <a:r>
              <a:rPr lang="de-DE" dirty="0"/>
              <a:t>Telefon: +49 821 3201 128</a:t>
            </a:r>
            <a:br>
              <a:rPr lang="de-DE" dirty="0"/>
            </a:br>
            <a:r>
              <a:rPr lang="de-DE" dirty="0"/>
              <a:t>Mobil: +49 162 2157890</a:t>
            </a:r>
            <a:br>
              <a:rPr lang="de-DE" dirty="0"/>
            </a:br>
            <a:r>
              <a:rPr lang="de-DE" dirty="0"/>
              <a:t>Mail: christoph.balleis@fuggerbank.de</a:t>
            </a:r>
          </a:p>
        </p:txBody>
      </p:sp>
      <p:sp>
        <p:nvSpPr>
          <p:cNvPr id="4" name="Text links">
            <a:extLst>
              <a:ext uri="{FF2B5EF4-FFF2-40B4-BE49-F238E27FC236}">
                <a16:creationId xmlns:a16="http://schemas.microsoft.com/office/drawing/2014/main" id="{8D7EA6C0-2865-B71D-0A55-63B623C686B4}"/>
              </a:ext>
            </a:extLst>
          </p:cNvPr>
          <p:cNvSpPr>
            <a:spLocks noGrp="1" noRot="1" noMove="1" noResize="1" noEditPoints="1" noAdjustHandles="1" noChangeArrowheads="1" noChangeShapeType="1"/>
          </p:cNvSpPr>
          <p:nvPr>
            <p:ph type="body" sz="quarter" idx="17"/>
          </p:nvPr>
        </p:nvSpPr>
        <p:spPr/>
        <p:txBody>
          <a:bodyPr/>
          <a:lstStyle/>
          <a:p>
            <a:r>
              <a:rPr lang="de-DE" dirty="0"/>
              <a:t>Niederlassungsleiter Augsburg</a:t>
            </a:r>
            <a:br>
              <a:rPr lang="de-DE" dirty="0"/>
            </a:br>
            <a:r>
              <a:rPr lang="de-DE" dirty="0"/>
              <a:t>Private Banking Augsburg</a:t>
            </a:r>
          </a:p>
          <a:p>
            <a:r>
              <a:rPr lang="de-DE" dirty="0"/>
              <a:t>Telefon: +49 821 3201 217</a:t>
            </a:r>
            <a:br>
              <a:rPr lang="de-DE" dirty="0"/>
            </a:br>
            <a:r>
              <a:rPr lang="de-DE" dirty="0"/>
              <a:t>Mobil: +49 172 8583562</a:t>
            </a:r>
            <a:br>
              <a:rPr lang="de-DE" dirty="0"/>
            </a:br>
            <a:r>
              <a:rPr lang="de-DE" dirty="0"/>
              <a:t>Mail: alexander.wagner@fuggerbank.de</a:t>
            </a:r>
          </a:p>
        </p:txBody>
      </p:sp>
      <p:sp>
        <p:nvSpPr>
          <p:cNvPr id="5" name="Name rechts">
            <a:extLst>
              <a:ext uri="{FF2B5EF4-FFF2-40B4-BE49-F238E27FC236}">
                <a16:creationId xmlns:a16="http://schemas.microsoft.com/office/drawing/2014/main" id="{760A462F-C26C-20B1-0420-735E5E81EFCA}"/>
              </a:ext>
            </a:extLst>
          </p:cNvPr>
          <p:cNvSpPr>
            <a:spLocks noGrp="1" noRot="1" noMove="1" noResize="1" noEditPoints="1" noAdjustHandles="1" noChangeArrowheads="1" noChangeShapeType="1"/>
          </p:cNvSpPr>
          <p:nvPr>
            <p:ph type="body" sz="quarter" idx="16"/>
          </p:nvPr>
        </p:nvSpPr>
        <p:spPr/>
        <p:txBody>
          <a:bodyPr/>
          <a:lstStyle/>
          <a:p>
            <a:r>
              <a:rPr lang="de-DE" dirty="0"/>
              <a:t>Christoph </a:t>
            </a:r>
            <a:r>
              <a:rPr lang="de-DE" dirty="0" err="1"/>
              <a:t>Balleis</a:t>
            </a:r>
            <a:endParaRPr lang="de-DE" dirty="0"/>
          </a:p>
        </p:txBody>
      </p:sp>
      <p:sp>
        <p:nvSpPr>
          <p:cNvPr id="6" name="Name links">
            <a:extLst>
              <a:ext uri="{FF2B5EF4-FFF2-40B4-BE49-F238E27FC236}">
                <a16:creationId xmlns:a16="http://schemas.microsoft.com/office/drawing/2014/main" id="{6923F674-7D62-E4F6-AAB9-EA49027A281A}"/>
              </a:ext>
            </a:extLst>
          </p:cNvPr>
          <p:cNvSpPr>
            <a:spLocks noGrp="1" noRot="1" noMove="1" noResize="1" noEditPoints="1" noAdjustHandles="1" noChangeArrowheads="1" noChangeShapeType="1"/>
          </p:cNvSpPr>
          <p:nvPr>
            <p:ph type="body" sz="quarter" idx="15"/>
          </p:nvPr>
        </p:nvSpPr>
        <p:spPr/>
        <p:txBody>
          <a:bodyPr/>
          <a:lstStyle/>
          <a:p>
            <a:r>
              <a:rPr lang="de-DE" dirty="0"/>
              <a:t>Alexander Wagner</a:t>
            </a:r>
          </a:p>
        </p:txBody>
      </p:sp>
      <p:pic>
        <p:nvPicPr>
          <p:cNvPr id="13" name="Bild rechts">
            <a:extLst>
              <a:ext uri="{FF2B5EF4-FFF2-40B4-BE49-F238E27FC236}">
                <a16:creationId xmlns:a16="http://schemas.microsoft.com/office/drawing/2014/main" id="{B233D1E0-8BD9-3413-54DB-1255B85E6766}"/>
              </a:ext>
            </a:extLst>
          </p:cNvPr>
          <p:cNvPicPr>
            <a:picLocks noGrp="1" noRot="1" noChangeAspect="1" noMove="1" noResize="1" noEditPoints="1" noAdjustHandles="1" noChangeArrowheads="1" noChangeShapeType="1" noCrop="1"/>
          </p:cNvPicPr>
          <p:nvPr>
            <p:ph type="pic" sz="quarter" idx="14"/>
          </p:nvPr>
        </p:nvPicPr>
        <p:blipFill>
          <a:blip r:embed="rId2">
            <a:extLst>
              <a:ext uri="{28A0092B-C50C-407E-A947-70E740481C1C}">
                <a14:useLocalDpi xmlns:a14="http://schemas.microsoft.com/office/drawing/2010/main" val="0"/>
              </a:ext>
            </a:extLst>
          </a:blip>
          <a:srcRect t="1222" b="1222"/>
          <a:stretch>
            <a:fillRect/>
          </a:stretch>
        </p:blipFill>
        <p:spPr/>
      </p:pic>
      <p:pic>
        <p:nvPicPr>
          <p:cNvPr id="11" name="Bild links">
            <a:extLst>
              <a:ext uri="{FF2B5EF4-FFF2-40B4-BE49-F238E27FC236}">
                <a16:creationId xmlns:a16="http://schemas.microsoft.com/office/drawing/2014/main" id="{D371DB5B-FBDA-847D-764A-0E89AFAF0CD4}"/>
              </a:ext>
            </a:extLst>
          </p:cNvPr>
          <p:cNvPicPr>
            <a:picLocks noGrp="1" noRot="1" noChangeAspect="1" noMove="1" noResize="1" noEditPoints="1" noAdjustHandles="1" noChangeArrowheads="1" noChangeShapeType="1" noCrop="1"/>
          </p:cNvPicPr>
          <p:nvPr>
            <p:ph type="pic" sz="quarter" idx="13"/>
          </p:nvPr>
        </p:nvPicPr>
        <p:blipFill>
          <a:blip r:embed="rId3">
            <a:extLst>
              <a:ext uri="{28A0092B-C50C-407E-A947-70E740481C1C}">
                <a14:useLocalDpi xmlns:a14="http://schemas.microsoft.com/office/drawing/2010/main" val="0"/>
              </a:ext>
            </a:extLst>
          </a:blip>
          <a:srcRect t="1222" b="1222"/>
          <a:stretch>
            <a:fillRect/>
          </a:stretch>
        </p:blipFill>
        <p:spPr/>
      </p:pic>
      <p:sp>
        <p:nvSpPr>
          <p:cNvPr id="9" name="Titel">
            <a:extLst>
              <a:ext uri="{FF2B5EF4-FFF2-40B4-BE49-F238E27FC236}">
                <a16:creationId xmlns:a16="http://schemas.microsoft.com/office/drawing/2014/main" id="{906F2124-5E0A-DB8A-390A-200076A38445}"/>
              </a:ext>
            </a:extLst>
          </p:cNvPr>
          <p:cNvSpPr>
            <a:spLocks noGrp="1" noRot="1" noMove="1" noResize="1" noEditPoints="1" noAdjustHandles="1" noChangeArrowheads="1" noChangeShapeType="1"/>
          </p:cNvSpPr>
          <p:nvPr>
            <p:ph type="title"/>
          </p:nvPr>
        </p:nvSpPr>
        <p:spPr/>
        <p:txBody>
          <a:bodyPr/>
          <a:lstStyle/>
          <a:p>
            <a:r>
              <a:rPr lang="de-DE" dirty="0"/>
              <a:t>Ihre Ansprechpartner</a:t>
            </a:r>
            <a:br>
              <a:rPr lang="de-DE" dirty="0"/>
            </a:br>
            <a:r>
              <a:rPr lang="de-DE" dirty="0"/>
              <a:t>für den Vertrieb</a:t>
            </a:r>
          </a:p>
        </p:txBody>
      </p:sp>
    </p:spTree>
    <p:extLst>
      <p:ext uri="{BB962C8B-B14F-4D97-AF65-F5344CB8AC3E}">
        <p14:creationId xmlns:p14="http://schemas.microsoft.com/office/powerpoint/2010/main" val="679504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26</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Apostelnstraße 1–3 </a:t>
            </a:r>
            <a:br>
              <a:rPr lang="de-DE" dirty="0"/>
            </a:br>
            <a:r>
              <a:rPr lang="de-DE" dirty="0"/>
              <a:t>50667 Köln </a:t>
            </a:r>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27</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dirty="0"/>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09FDEF34-89BA-4277-9FC6-BBEC6A87A8F3}"/>
              </a:ext>
            </a:extLst>
          </p:cNvPr>
          <p:cNvSpPr>
            <a:spLocks noGrp="1" noRot="1" noMove="1" noResize="1" noEditPoints="1" noAdjustHandles="1" noChangeArrowheads="1" noChangeShapeType="1"/>
          </p:cNvSpPr>
          <p:nvPr>
            <p:ph type="dt" sz="half" idx="11"/>
          </p:nvPr>
        </p:nvSpPr>
        <p:spPr/>
        <p:txBody>
          <a:bodyPr/>
          <a:lstStyle/>
          <a:p>
            <a:r>
              <a:rPr lang="de-DE"/>
              <a:t>Stand. </a:t>
            </a:r>
            <a:fld id="{A2454BA1-205A-4597-97F2-1F8EB1702CA7}" type="datetime1">
              <a:rPr lang="de-DE" smtClean="0"/>
              <a:t>12.02.2026</a:t>
            </a:fld>
            <a:endParaRPr lang="de-DE" dirty="0"/>
          </a:p>
        </p:txBody>
      </p:sp>
      <p:sp>
        <p:nvSpPr>
          <p:cNvPr id="2" name="Foliennummer">
            <a:extLst>
              <a:ext uri="{FF2B5EF4-FFF2-40B4-BE49-F238E27FC236}">
                <a16:creationId xmlns:a16="http://schemas.microsoft.com/office/drawing/2014/main" id="{93A96E26-B2AF-16AE-0C7A-2E0ECBEC67ED}"/>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29</a:t>
            </a:fld>
            <a:endParaRPr lang="de-DE"/>
          </a:p>
        </p:txBody>
      </p:sp>
      <p:sp>
        <p:nvSpPr>
          <p:cNvPr id="21" name="Quelle">
            <a:extLst>
              <a:ext uri="{FF2B5EF4-FFF2-40B4-BE49-F238E27FC236}">
                <a16:creationId xmlns:a16="http://schemas.microsoft.com/office/drawing/2014/main" id="{96B5F4DD-9CF6-23B3-B40A-1EC0C72BE412}"/>
              </a:ext>
            </a:extLst>
          </p:cNvPr>
          <p:cNvSpPr txBox="1">
            <a:spLocks noGrp="1" noRot="1" noMove="1" noResize="1" noEditPoints="1" noAdjustHandles="1" noChangeArrowheads="1" noChangeShapeType="1"/>
          </p:cNvSpPr>
          <p:nvPr/>
        </p:nvSpPr>
        <p:spPr>
          <a:xfrm>
            <a:off x="6156325" y="5659978"/>
            <a:ext cx="395922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Herausgeber: Fürst Fugger Privatbank Aktiengesellschaft | www.fuggerbank.de</a:t>
            </a:r>
          </a:p>
        </p:txBody>
      </p:sp>
      <p:sp>
        <p:nvSpPr>
          <p:cNvPr id="3" name="Text">
            <a:extLst>
              <a:ext uri="{FF2B5EF4-FFF2-40B4-BE49-F238E27FC236}">
                <a16:creationId xmlns:a16="http://schemas.microsoft.com/office/drawing/2014/main" id="{F98F3493-6CA4-189D-7956-7074D809C116}"/>
              </a:ext>
            </a:extLst>
          </p:cNvPr>
          <p:cNvSpPr>
            <a:spLocks noGrp="1" noRot="1" noMove="1" noResize="1" noEditPoints="1" noAdjustHandles="1" noChangeArrowheads="1" noChangeShapeType="1"/>
          </p:cNvSpPr>
          <p:nvPr>
            <p:ph idx="1"/>
          </p:nvPr>
        </p:nvSpPr>
        <p:spPr>
          <a:xfrm>
            <a:off x="2016125" y="1041401"/>
            <a:ext cx="8099424" cy="4791074"/>
          </a:xfrm>
        </p:spPr>
        <p:txBody>
          <a:bodyPr spcCol="144000"/>
          <a:lstStyle/>
          <a:p>
            <a:r>
              <a:rPr lang="de-DE" dirty="0"/>
              <a:t>Im vorliegenden Dokument handelt es sich um eine Werbemitteilung der Fürst Fugger Privatbank. </a:t>
            </a:r>
          </a:p>
          <a:p>
            <a:r>
              <a:rPr lang="de-DE"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ersetzen.</a:t>
            </a:r>
          </a:p>
          <a:p>
            <a:r>
              <a:rPr lang="de-DE"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nominale Rendite übersteigt.</a:t>
            </a:r>
          </a:p>
          <a:p>
            <a:r>
              <a:rPr lang="de-DE" dirty="0"/>
              <a:t>Auch eine geringe Anlagedauer und die Gesamtkosten- und Gebühren können negativ das Risiko-Rendite-Verhältnis beeinflussen. Die dargestellten Meinungsäußerungen geben die aktuelle Einschätzung des Erstellers wieder und können sich ohne vorherige Ankündigung ändern.</a:t>
            </a:r>
          </a:p>
          <a:p>
            <a:r>
              <a:rPr lang="de-DE" dirty="0"/>
              <a:t>Vorstehende Angaben wurden mit großer Sorgfalt recherchiert. Bitte haben Sie dafür Verständnis, dass 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r>
              <a:rPr lang="de-DE" dirty="0"/>
              <a:t>Die in diesem Vortrag wiedergegebenen Informationen wurden zum angegebenen Stand erstellt und erfolgen ausschließlich zu Informationszwecken. Eine anderweitige Speicherung, Veröffentlichung oder Weitergabe an Dritte ist nicht gestattet und darf nur nach vorheriger Zustimmung der Fürst Fugger Privatbank erfolgen.</a:t>
            </a:r>
          </a:p>
        </p:txBody>
      </p:sp>
      <p:sp>
        <p:nvSpPr>
          <p:cNvPr id="4" name="Titel">
            <a:extLst>
              <a:ext uri="{FF2B5EF4-FFF2-40B4-BE49-F238E27FC236}">
                <a16:creationId xmlns:a16="http://schemas.microsoft.com/office/drawing/2014/main" id="{3D487A3D-23C8-0FCF-62A4-D4F8359CA252}"/>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Tree>
    <p:extLst>
      <p:ext uri="{BB962C8B-B14F-4D97-AF65-F5344CB8AC3E}">
        <p14:creationId xmlns:p14="http://schemas.microsoft.com/office/powerpoint/2010/main" val="3273467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12.02.2026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Fußnote">
            <a:extLst>
              <a:ext uri="{FF2B5EF4-FFF2-40B4-BE49-F238E27FC236}">
                <a16:creationId xmlns:a16="http://schemas.microsoft.com/office/drawing/2014/main" id="{DD674138-94D3-0285-DE9D-E19C6859546C}"/>
              </a:ext>
            </a:extLst>
          </p:cNvPr>
          <p:cNvSpPr>
            <a:spLocks noGrp="1" noRot="1" noMove="1" noResize="1" noEditPoints="1" noAdjustHandles="1" noChangeArrowheads="1" noChangeShapeType="1"/>
          </p:cNvSpPr>
          <p:nvPr>
            <p:ph type="body" sz="quarter" idx="16"/>
          </p:nvPr>
        </p:nvSpPr>
        <p:spPr/>
        <p:txBody>
          <a:bodyPr/>
          <a:lstStyle/>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EABFBA2B-F360-C415-CC18-274C4F6E269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sp>
        <p:nvSpPr>
          <p:cNvPr id="21" name="Quelle">
            <a:extLst>
              <a:ext uri="{FF2B5EF4-FFF2-40B4-BE49-F238E27FC236}">
                <a16:creationId xmlns:a16="http://schemas.microsoft.com/office/drawing/2014/main" id="{FF5A9426-CA05-8113-EAB5-2DD5C950EEF6}"/>
              </a:ext>
            </a:extLst>
          </p:cNvPr>
          <p:cNvSpPr txBox="1">
            <a:spLocks/>
          </p:cNvSpPr>
          <p:nvPr/>
        </p:nvSpPr>
        <p:spPr>
          <a:xfrm>
            <a:off x="8185981" y="6182738"/>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58FC890-01F2-4FE7-8401-5E5C4BEEA7EB}" type="datetime1">
              <a:rPr lang="de-DE" sz="600" smtClean="0">
                <a:solidFill>
                  <a:schemeClr val="bg2"/>
                </a:solidFill>
              </a:rPr>
              <a:t>19.05.2026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6908C2D7-99AB-7F2A-FCEC-A943DBE4C293}"/>
              </a:ext>
            </a:extLst>
          </p:cNvPr>
          <p:cNvGraphicFramePr>
            <a:graphicFrameLocks noGrp="1"/>
          </p:cNvGraphicFramePr>
          <p:nvPr>
            <p:ph type="chart" sz="quarter" idx="15"/>
            <p:extLst>
              <p:ext uri="{D42A27DB-BD31-4B8C-83A1-F6EECF244321}">
                <p14:modId xmlns:p14="http://schemas.microsoft.com/office/powerpoint/2010/main" val="3744574108"/>
              </p:ext>
            </p:extLst>
          </p:nvPr>
        </p:nvGraphicFramePr>
        <p:xfrm>
          <a:off x="4505325" y="1041400"/>
          <a:ext cx="5584825" cy="2813050"/>
        </p:xfrm>
        <a:graphic>
          <a:graphicData uri="http://schemas.openxmlformats.org/drawingml/2006/chart">
            <c:chart xmlns:c="http://schemas.openxmlformats.org/drawingml/2006/chart" r:id="rId3"/>
          </a:graphicData>
        </a:graphic>
      </p:graphicFrame>
      <p:sp>
        <p:nvSpPr>
          <p:cNvPr id="11" name="Header Diagramm rechts">
            <a:extLst>
              <a:ext uri="{FF2B5EF4-FFF2-40B4-BE49-F238E27FC236}">
                <a16:creationId xmlns:a16="http://schemas.microsoft.com/office/drawing/2014/main" id="{6FB8664C-31BB-963F-4D0B-B3A35323EEDD}"/>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4A31429D-0E5D-BF45-DECB-1E3B864D3B22}"/>
              </a:ext>
            </a:extLst>
          </p:cNvPr>
          <p:cNvSpPr txBox="1">
            <a:spLocks/>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1200" dirty="0">
                <a:sym typeface="Wingdings 2" panose="05020102010507070707" pitchFamily="18" charset="2"/>
              </a:rPr>
              <a:t> </a:t>
            </a:r>
            <a:r>
              <a:rPr lang="de-DE" sz="1050" baseline="14000" dirty="0"/>
              <a:t>Referenzportfolio</a:t>
            </a:r>
            <a:r>
              <a:rPr lang="de-DE" sz="1200" baseline="14000" dirty="0"/>
              <a:t> </a:t>
            </a:r>
            <a:r>
              <a:rPr lang="de-DE" sz="1200" dirty="0"/>
              <a:t>     </a:t>
            </a:r>
            <a:r>
              <a:rPr lang="de-DE" sz="1200" dirty="0">
                <a:solidFill>
                  <a:schemeClr val="accent5"/>
                </a:solidFill>
                <a:sym typeface="Wingdings 2" panose="05020102010507070707" pitchFamily="18" charset="2"/>
              </a:rPr>
              <a:t></a:t>
            </a:r>
            <a:r>
              <a:rPr lang="de-DE" sz="1200" dirty="0">
                <a:sym typeface="Wingdings 2" panose="05020102010507070707" pitchFamily="18" charset="2"/>
              </a:rPr>
              <a:t> </a:t>
            </a:r>
            <a:r>
              <a:rPr lang="de-DE" sz="1050" baseline="14000" dirty="0">
                <a:sym typeface="Wingdings 2" panose="05020102010507070707" pitchFamily="18" charset="2"/>
              </a:rPr>
              <a:t>Benchmark</a:t>
            </a:r>
            <a:endParaRPr lang="de-DE" sz="1200" baseline="14000" dirty="0"/>
          </a:p>
        </p:txBody>
      </p:sp>
      <p:graphicFrame>
        <p:nvGraphicFramePr>
          <p:cNvPr id="15" name="Diagramm links">
            <a:extLst>
              <a:ext uri="{FF2B5EF4-FFF2-40B4-BE49-F238E27FC236}">
                <a16:creationId xmlns:a16="http://schemas.microsoft.com/office/drawing/2014/main" id="{8395BAFC-8009-5BD5-6691-5BE66AC6B204}"/>
              </a:ext>
            </a:extLst>
          </p:cNvPr>
          <p:cNvGraphicFramePr>
            <a:graphicFrameLocks noGrp="1"/>
          </p:cNvGraphicFramePr>
          <p:nvPr>
            <p:ph type="chart" sz="quarter" idx="14"/>
            <p:extLst>
              <p:ext uri="{D42A27DB-BD31-4B8C-83A1-F6EECF244321}">
                <p14:modId xmlns:p14="http://schemas.microsoft.com/office/powerpoint/2010/main" val="2206371556"/>
              </p:ext>
            </p:extLst>
          </p:nvPr>
        </p:nvGraphicFramePr>
        <p:xfrm>
          <a:off x="349250" y="2679700"/>
          <a:ext cx="3959225" cy="2286000"/>
        </p:xfrm>
        <a:graphic>
          <a:graphicData uri="http://schemas.openxmlformats.org/drawingml/2006/chart">
            <c:chart xmlns:c="http://schemas.openxmlformats.org/drawingml/2006/chart" r:id="rId2"/>
          </a:graphicData>
        </a:graphic>
      </p:graphicFrame>
      <p:sp>
        <p:nvSpPr>
          <p:cNvPr id="12" name="Header Diagramm links">
            <a:extLst>
              <a:ext uri="{FF2B5EF4-FFF2-40B4-BE49-F238E27FC236}">
                <a16:creationId xmlns:a16="http://schemas.microsoft.com/office/drawing/2014/main" id="{B543E8FE-081D-9B8F-E7AA-95FC75BF4F26}"/>
              </a:ext>
            </a:extLst>
          </p:cNvPr>
          <p:cNvSpPr txBox="1">
            <a:spLocks noGrp="1" noRot="1" noMove="1" noResize="1" noEditPoints="1" noAdjustHandles="1" noChangeArrowheads="1" noChangeShapeType="1"/>
          </p:cNvSpPr>
          <p:nvPr/>
        </p:nvSpPr>
        <p:spPr>
          <a:xfrm>
            <a:off x="358775" y="2679700"/>
            <a:ext cx="3970800" cy="230832"/>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a:t>
            </a:r>
          </a:p>
        </p:txBody>
      </p:sp>
      <p:sp>
        <p:nvSpPr>
          <p:cNvPr id="2" name="Titel">
            <a:extLst>
              <a:ext uri="{FF2B5EF4-FFF2-40B4-BE49-F238E27FC236}">
                <a16:creationId xmlns:a16="http://schemas.microsoft.com/office/drawing/2014/main" id="{2C057F53-A11C-8C65-4031-106C717F3C87}"/>
              </a:ext>
            </a:extLst>
          </p:cNvPr>
          <p:cNvSpPr>
            <a:spLocks noGrp="1" noRot="1" noMove="1" noResize="1" noEditPoints="1" noAdjustHandles="1" noChangeArrowheads="1" noChangeShapeType="1"/>
          </p:cNvSpPr>
          <p:nvPr>
            <p:ph type="title"/>
          </p:nvPr>
        </p:nvSpPr>
        <p:spPr/>
        <p:txBody>
          <a:bodyPr/>
          <a:lstStyle/>
          <a:p>
            <a:r>
              <a:rPr lang="de-DE" dirty="0"/>
              <a:t>Referenzportfolio| </a:t>
            </a:r>
            <a:r>
              <a:rPr lang="de-DE" b="0" dirty="0"/>
              <a:t>Wertentwicklung (ohne Benchmark)</a:t>
            </a:r>
          </a:p>
        </p:txBody>
      </p:sp>
      <p:graphicFrame>
        <p:nvGraphicFramePr>
          <p:cNvPr id="8" name="Tabelle">
            <a:extLst>
              <a:ext uri="{FF2B5EF4-FFF2-40B4-BE49-F238E27FC236}">
                <a16:creationId xmlns:a16="http://schemas.microsoft.com/office/drawing/2014/main" id="{7F525895-3A35-C2FD-CF11-E04BE38AB3F9}"/>
              </a:ext>
            </a:extLst>
          </p:cNvPr>
          <p:cNvGraphicFramePr>
            <a:graphicFrameLocks noGrp="1"/>
          </p:cNvGraphicFramePr>
          <p:nvPr>
            <p:ph type="tbl" sz="quarter" idx="13"/>
            <p:extLst>
              <p:ext uri="{D42A27DB-BD31-4B8C-83A1-F6EECF244321}">
                <p14:modId xmlns:p14="http://schemas.microsoft.com/office/powerpoint/2010/main" val="4088301092"/>
              </p:ext>
            </p:extLst>
          </p:nvPr>
        </p:nvGraphicFramePr>
        <p:xfrm>
          <a:off x="349250" y="1041400"/>
          <a:ext cx="3970801" cy="1298131"/>
        </p:xfrm>
        <a:graphic>
          <a:graphicData uri="http://schemas.openxmlformats.org/drawingml/2006/table">
            <a:tbl>
              <a:tblPr firstRow="1" bandRow="1">
                <a:tableStyleId>{69012ECD-51FC-41F1-AA8D-1B2483CD663E}</a:tableStyleId>
              </a:tblPr>
              <a:tblGrid>
                <a:gridCol w="1350530">
                  <a:extLst>
                    <a:ext uri="{9D8B030D-6E8A-4147-A177-3AD203B41FA5}">
                      <a16:colId xmlns:a16="http://schemas.microsoft.com/office/drawing/2014/main" val="1715752775"/>
                    </a:ext>
                  </a:extLst>
                </a:gridCol>
                <a:gridCol w="187742">
                  <a:extLst>
                    <a:ext uri="{9D8B030D-6E8A-4147-A177-3AD203B41FA5}">
                      <a16:colId xmlns:a16="http://schemas.microsoft.com/office/drawing/2014/main" val="2276385665"/>
                    </a:ext>
                  </a:extLst>
                </a:gridCol>
                <a:gridCol w="1090569">
                  <a:extLst>
                    <a:ext uri="{9D8B030D-6E8A-4147-A177-3AD203B41FA5}">
                      <a16:colId xmlns:a16="http://schemas.microsoft.com/office/drawing/2014/main" val="296509542"/>
                    </a:ext>
                  </a:extLst>
                </a:gridCol>
                <a:gridCol w="201336">
                  <a:extLst>
                    <a:ext uri="{9D8B030D-6E8A-4147-A177-3AD203B41FA5}">
                      <a16:colId xmlns:a16="http://schemas.microsoft.com/office/drawing/2014/main" val="3096284928"/>
                    </a:ext>
                  </a:extLst>
                </a:gridCol>
                <a:gridCol w="1140624">
                  <a:extLst>
                    <a:ext uri="{9D8B030D-6E8A-4147-A177-3AD203B41FA5}">
                      <a16:colId xmlns:a16="http://schemas.microsoft.com/office/drawing/2014/main" val="1512982123"/>
                    </a:ext>
                  </a:extLst>
                </a:gridCol>
              </a:tblGrid>
              <a:tr h="190901">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Referenz</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Benchmark</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44543">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54536">
                <a:tc>
                  <a:txBody>
                    <a:bodyPr/>
                    <a:lstStyle/>
                    <a:p>
                      <a:r>
                        <a:rPr lang="de-DE" sz="900" b="0" dirty="0"/>
                        <a:t>Performance p.a.</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54536">
                <a:tc>
                  <a:txBody>
                    <a:bodyPr/>
                    <a:lstStyle/>
                    <a:p>
                      <a:r>
                        <a:rPr lang="de-DE" sz="900" b="0" dirty="0"/>
                        <a:t>Volatilität</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54536">
                <a:tc>
                  <a:txBody>
                    <a:bodyPr/>
                    <a:lstStyle/>
                    <a:p>
                      <a:r>
                        <a:rPr lang="de-DE" sz="900" b="0" dirty="0"/>
                        <a:t>Sharpe Ratio</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54536">
                <a:tc>
                  <a:txBody>
                    <a:bodyPr/>
                    <a:lstStyle/>
                    <a:p>
                      <a:r>
                        <a:rPr lang="de-DE" sz="900" b="0" dirty="0"/>
                        <a:t>Max </a:t>
                      </a:r>
                      <a:r>
                        <a:rPr lang="de-DE" sz="900" b="0" dirty="0" err="1"/>
                        <a:t>Drawdown</a:t>
                      </a:r>
                      <a:endParaRPr lang="de-DE" sz="900" b="0" dirty="0"/>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44543">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Tree>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3467</Words>
  <Application>Microsoft Office PowerPoint</Application>
  <PresentationFormat>Benutzerdefiniert</PresentationFormat>
  <Paragraphs>872</Paragraphs>
  <Slides>30</Slides>
  <Notes>5</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30</vt:i4>
      </vt:variant>
    </vt:vector>
  </HeadingPairs>
  <TitlesOfParts>
    <vt:vector size="38" baseType="lpstr">
      <vt:lpstr>Arial</vt:lpstr>
      <vt:lpstr>Calibri</vt:lpstr>
      <vt:lpstr>Noto Sans</vt:lpstr>
      <vt:lpstr>Noto Serif</vt:lpstr>
      <vt:lpstr>Open Sans</vt:lpstr>
      <vt:lpstr>Symbol</vt:lpstr>
      <vt:lpstr>Wingdings</vt:lpstr>
      <vt:lpstr>Office</vt:lpstr>
      <vt:lpstr>Unsere ausschüttende   Vermögensverwaltung</vt:lpstr>
      <vt:lpstr>Inhalt</vt:lpstr>
      <vt:lpstr>Sehr geehrte Interessentin, sehr geehrter Interessent,</vt:lpstr>
      <vt:lpstr>Die Fugger</vt:lpstr>
      <vt:lpstr>Unsere Vermögensverwaltung</vt:lpstr>
      <vt:lpstr>Unsere Vermögensverwaltung </vt:lpstr>
      <vt:lpstr>Die ausschüttende Vermögensverwaltung – planbare Erträge und flexible Gestaltung   </vt:lpstr>
      <vt:lpstr>Die ausschüttende Vermögensverwaltung Ausgestaltung</vt:lpstr>
      <vt:lpstr>Die ausschüttende Vermögensverwaltung – wissenschaftlich fundiert, einfach erklärt</vt:lpstr>
      <vt:lpstr>Die ausschüttende Vermögensverwaltung – Szenarien zur Vermögensentwicklung</vt:lpstr>
      <vt:lpstr>Die ausschüttende Vermögensverwaltung – Szenarien zur Vermögensentwicklung</vt:lpstr>
      <vt:lpstr>Nächste Schritte – Ihr Weg zur individuellen Depotrente</vt:lpstr>
      <vt:lpstr>Anlagevorschlag</vt:lpstr>
      <vt:lpstr>Anlagevorschlag</vt:lpstr>
      <vt:lpstr>Aktuelle Portfoliozusammenstellung</vt:lpstr>
      <vt:lpstr>Aktuelle Portfoliozusammenstellung</vt:lpstr>
      <vt:lpstr>Unser Honorar</vt:lpstr>
      <vt:lpstr>Steuerlicher Hinweis zum Honorar</vt:lpstr>
      <vt:lpstr>Unsere Investmentphilosophie</vt:lpstr>
      <vt:lpstr>Unser Investmentprozess</vt:lpstr>
      <vt:lpstr>Unser Risikomanagement</vt:lpstr>
      <vt:lpstr>Anlageklassen und Ausgestaltung</vt:lpstr>
      <vt:lpstr>Unser Service</vt:lpstr>
      <vt:lpstr>Unsere Bank in Zahlen</vt:lpstr>
      <vt:lpstr>Ihre Ansprechpartner für den Vertrieb</vt:lpstr>
      <vt:lpstr>Unsere Standorte</vt:lpstr>
      <vt:lpstr>Unsere Standorte</vt:lpstr>
      <vt:lpstr>Unsere Tradition</vt:lpstr>
      <vt:lpstr>Rechtliche Hinweise und Impressum</vt:lpstr>
      <vt:lpstr>Vielen Dank  für Ihr Interesse</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Michael Wirl</cp:lastModifiedBy>
  <cp:revision>192</cp:revision>
  <dcterms:created xsi:type="dcterms:W3CDTF">2023-08-14T05:18:02Z</dcterms:created>
  <dcterms:modified xsi:type="dcterms:W3CDTF">2026-02-12T10:48:00Z</dcterms:modified>
  <cp:category>Vorlagen;Design</cp:category>
</cp:coreProperties>
</file>