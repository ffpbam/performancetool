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sldIdLst>
    <p:sldId id="551" r:id="rId2"/>
    <p:sldId id="337" r:id="rId3"/>
    <p:sldId id="557" r:id="rId4"/>
    <p:sldId id="339" r:id="rId5"/>
    <p:sldId id="535" r:id="rId6"/>
    <p:sldId id="366" r:id="rId7"/>
    <p:sldId id="536" r:id="rId8"/>
    <p:sldId id="257" r:id="rId9"/>
    <p:sldId id="258" r:id="rId10"/>
    <p:sldId id="556" r:id="rId11"/>
    <p:sldId id="555" r:id="rId12"/>
    <p:sldId id="259" r:id="rId13"/>
    <p:sldId id="544" r:id="rId14"/>
    <p:sldId id="545" r:id="rId15"/>
    <p:sldId id="558" r:id="rId16"/>
    <p:sldId id="273" r:id="rId17"/>
    <p:sldId id="278" r:id="rId18"/>
    <p:sldId id="274" r:id="rId19"/>
    <p:sldId id="279" r:id="rId20"/>
    <p:sldId id="564" r:id="rId21"/>
    <p:sldId id="559" r:id="rId22"/>
    <p:sldId id="553" r:id="rId23"/>
    <p:sldId id="554" r:id="rId24"/>
    <p:sldId id="560" r:id="rId25"/>
    <p:sldId id="548" r:id="rId26"/>
    <p:sldId id="549" r:id="rId27"/>
    <p:sldId id="538" r:id="rId28"/>
    <p:sldId id="539" r:id="rId29"/>
    <p:sldId id="542" r:id="rId30"/>
    <p:sldId id="532" r:id="rId31"/>
    <p:sldId id="563" r:id="rId32"/>
    <p:sldId id="561" r:id="rId33"/>
    <p:sldId id="312" r:id="rId34"/>
    <p:sldId id="311" r:id="rId35"/>
    <p:sldId id="562" r:id="rId36"/>
  </p:sldIdLst>
  <p:sldSz cx="10439400" cy="6659563"/>
  <p:notesSz cx="6858000" cy="9144000"/>
  <p:defaultTextStyle>
    <a:defPPr>
      <a:defRPr lang="de-DE"/>
    </a:defPPr>
    <a:lvl1pPr marL="0" algn="l" defTabSz="820674" rtl="0" eaLnBrk="1" latinLnBrk="0" hangingPunct="1">
      <a:defRPr sz="1616" kern="1200">
        <a:solidFill>
          <a:schemeClr val="tx1"/>
        </a:solidFill>
        <a:latin typeface="+mn-lt"/>
        <a:ea typeface="+mn-ea"/>
        <a:cs typeface="+mn-cs"/>
      </a:defRPr>
    </a:lvl1pPr>
    <a:lvl2pPr marL="410337" algn="l" defTabSz="820674" rtl="0" eaLnBrk="1" latinLnBrk="0" hangingPunct="1">
      <a:defRPr sz="1616" kern="1200">
        <a:solidFill>
          <a:schemeClr val="tx1"/>
        </a:solidFill>
        <a:latin typeface="+mn-lt"/>
        <a:ea typeface="+mn-ea"/>
        <a:cs typeface="+mn-cs"/>
      </a:defRPr>
    </a:lvl2pPr>
    <a:lvl3pPr marL="820674" algn="l" defTabSz="820674" rtl="0" eaLnBrk="1" latinLnBrk="0" hangingPunct="1">
      <a:defRPr sz="1616" kern="1200">
        <a:solidFill>
          <a:schemeClr val="tx1"/>
        </a:solidFill>
        <a:latin typeface="+mn-lt"/>
        <a:ea typeface="+mn-ea"/>
        <a:cs typeface="+mn-cs"/>
      </a:defRPr>
    </a:lvl3pPr>
    <a:lvl4pPr marL="1231011" algn="l" defTabSz="820674" rtl="0" eaLnBrk="1" latinLnBrk="0" hangingPunct="1">
      <a:defRPr sz="1616" kern="1200">
        <a:solidFill>
          <a:schemeClr val="tx1"/>
        </a:solidFill>
        <a:latin typeface="+mn-lt"/>
        <a:ea typeface="+mn-ea"/>
        <a:cs typeface="+mn-cs"/>
      </a:defRPr>
    </a:lvl4pPr>
    <a:lvl5pPr marL="1641348" algn="l" defTabSz="820674" rtl="0" eaLnBrk="1" latinLnBrk="0" hangingPunct="1">
      <a:defRPr sz="1616" kern="1200">
        <a:solidFill>
          <a:schemeClr val="tx1"/>
        </a:solidFill>
        <a:latin typeface="+mn-lt"/>
        <a:ea typeface="+mn-ea"/>
        <a:cs typeface="+mn-cs"/>
      </a:defRPr>
    </a:lvl5pPr>
    <a:lvl6pPr marL="2051685" algn="l" defTabSz="820674" rtl="0" eaLnBrk="1" latinLnBrk="0" hangingPunct="1">
      <a:defRPr sz="1616" kern="1200">
        <a:solidFill>
          <a:schemeClr val="tx1"/>
        </a:solidFill>
        <a:latin typeface="+mn-lt"/>
        <a:ea typeface="+mn-ea"/>
        <a:cs typeface="+mn-cs"/>
      </a:defRPr>
    </a:lvl6pPr>
    <a:lvl7pPr marL="2462022" algn="l" defTabSz="820674" rtl="0" eaLnBrk="1" latinLnBrk="0" hangingPunct="1">
      <a:defRPr sz="1616" kern="1200">
        <a:solidFill>
          <a:schemeClr val="tx1"/>
        </a:solidFill>
        <a:latin typeface="+mn-lt"/>
        <a:ea typeface="+mn-ea"/>
        <a:cs typeface="+mn-cs"/>
      </a:defRPr>
    </a:lvl7pPr>
    <a:lvl8pPr marL="2872359" algn="l" defTabSz="820674" rtl="0" eaLnBrk="1" latinLnBrk="0" hangingPunct="1">
      <a:defRPr sz="1616" kern="1200">
        <a:solidFill>
          <a:schemeClr val="tx1"/>
        </a:solidFill>
        <a:latin typeface="+mn-lt"/>
        <a:ea typeface="+mn-ea"/>
        <a:cs typeface="+mn-cs"/>
      </a:defRPr>
    </a:lvl8pPr>
    <a:lvl9pPr marL="3282696" algn="l" defTabSz="820674" rtl="0" eaLnBrk="1" latinLnBrk="0" hangingPunct="1">
      <a:defRPr sz="161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1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Designformatvorlage 1 - Akz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157" autoAdjust="0"/>
  </p:normalViewPr>
  <p:slideViewPr>
    <p:cSldViewPr snapToGrid="0" showGuides="1">
      <p:cViewPr varScale="1">
        <p:scale>
          <a:sx n="120" d="100"/>
          <a:sy n="120" d="100"/>
        </p:scale>
        <p:origin x="780" y="102"/>
      </p:cViewPr>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D01A-4CB0-8A51-3C0C98F4FAE2}"/>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D01A-4CB0-8A51-3C0C98F4FAE2}"/>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D01A-4CB0-8A51-3C0C98F4FAE2}"/>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D01A-4CB0-8A51-3C0C98F4FAE2}"/>
              </c:ext>
            </c:extLst>
          </c:dPt>
          <c:dLbls>
            <c:dLbl>
              <c:idx val="0"/>
              <c:layout>
                <c:manualLayout>
                  <c:x val="0.2662418378961241"/>
                  <c:y val="0.13795242676709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01A-4CB0-8A51-3C0C98F4FAE2}"/>
                </c:ext>
              </c:extLst>
            </c:dLbl>
            <c:dLbl>
              <c:idx val="1"/>
              <c:layout>
                <c:manualLayout>
                  <c:x val="0.2735762010246543"/>
                  <c:y val="7.5915903709343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1A-4CB0-8A51-3C0C98F4FAE2}"/>
                </c:ext>
              </c:extLst>
            </c:dLbl>
            <c:dLbl>
              <c:idx val="2"/>
              <c:layout>
                <c:manualLayout>
                  <c:x val="-0.21318976731050654"/>
                  <c:y val="4.79121346645134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01A-4CB0-8A51-3C0C98F4FAE2}"/>
                </c:ext>
              </c:extLst>
            </c:dLbl>
            <c:dLbl>
              <c:idx val="3"/>
              <c:layout>
                <c:manualLayout>
                  <c:x val="-0.36681329214127395"/>
                  <c:y val="-1.02722011992592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01A-4CB0-8A51-3C0C98F4FAE2}"/>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S_Diagramm_ETF!$B$4:$B$7</c:f>
              <c:strCache>
                <c:ptCount val="4"/>
                <c:pt idx="0">
                  <c:v>EDELMETALLE</c:v>
                </c:pt>
                <c:pt idx="1">
                  <c:v>RENTEN</c:v>
                </c:pt>
                <c:pt idx="2">
                  <c:v>AKTIEN </c:v>
                </c:pt>
                <c:pt idx="3">
                  <c:v>LIQUIDITÄT</c:v>
                </c:pt>
              </c:strCache>
            </c:strRef>
          </c:cat>
          <c:val>
            <c:numRef>
              <c:f>S_Diagramm_ETF!$C$4:$C$7</c:f>
              <c:numCache>
                <c:formatCode>0.00%</c:formatCode>
                <c:ptCount val="4"/>
                <c:pt idx="0">
                  <c:v>0.1245</c:v>
                </c:pt>
                <c:pt idx="1">
                  <c:v>0.46460000000000001</c:v>
                </c:pt>
                <c:pt idx="2">
                  <c:v>0.3649</c:v>
                </c:pt>
                <c:pt idx="3">
                  <c:v>4.5999999999999999E-2</c:v>
                </c:pt>
              </c:numCache>
            </c:numRef>
          </c:val>
          <c:extLst>
            <c:ext xmlns:c16="http://schemas.microsoft.com/office/drawing/2014/chart" uri="{C3380CC4-5D6E-409C-BE32-E72D297353CC}">
              <c16:uniqueId val="{00000008-D01A-4CB0-8A51-3C0C98F4FAE2}"/>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227121538744224"/>
          <c:w val="0.23932142764716513"/>
          <c:h val="0.24772878461255779"/>
        </c:manualLayout>
      </c:layout>
      <c:overlay val="0"/>
      <c:spPr>
        <a:noFill/>
        <a:ln>
          <a:noFill/>
        </a:ln>
        <a:effectLst/>
      </c:spPr>
      <c:txPr>
        <a:bodyPr rot="0" spcFirstLastPara="1" vertOverflow="ellipsis" vert="horz" wrap="square" anchor="t" anchorCtr="0"/>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Tabelle1!$A$2:$A$206</c:f>
              <c:numCache>
                <c:formatCode>m/d/yyyy</c:formatCode>
                <c:ptCount val="205"/>
                <c:pt idx="0">
                  <c:v>42369</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46053</c:v>
                </c:pt>
                <c:pt idx="122">
                  <c:v>46081</c:v>
                </c:pt>
                <c:pt idx="123">
                  <c:v>46112</c:v>
                </c:pt>
                <c:pt idx="124">
                  <c:v>46142</c:v>
                </c:pt>
                <c:pt idx="125">
                  <c:v>46173</c:v>
                </c:pt>
                <c:pt idx="126">
                  <c:v>46203</c:v>
                </c:pt>
                <c:pt idx="127">
                  <c:v>46223</c:v>
                </c:pt>
              </c:numCache>
            </c:numRef>
          </c:cat>
          <c:val>
            <c:numRef>
              <c:f>Tabelle1!$B$2:$B$206</c:f>
              <c:numCache>
                <c:formatCode>General</c:formatCode>
                <c:ptCount val="205"/>
                <c:pt idx="0">
                  <c:v>1</c:v>
                </c:pt>
                <c:pt idx="1">
                  <c:v>1.0019</c:v>
                </c:pt>
                <c:pt idx="2">
                  <c:v>1.00470532</c:v>
                </c:pt>
                <c:pt idx="3">
                  <c:v>1.0043034378720002</c:v>
                </c:pt>
                <c:pt idx="4">
                  <c:v>0.99837804758855531</c:v>
                </c:pt>
                <c:pt idx="5">
                  <c:v>0.99917675002662609</c:v>
                </c:pt>
                <c:pt idx="6">
                  <c:v>1.0041726337767591</c:v>
                </c:pt>
                <c:pt idx="7">
                  <c:v>1.0096717341624792</c:v>
                </c:pt>
                <c:pt idx="8">
                  <c:v>1.0094697998156468</c:v>
                </c:pt>
                <c:pt idx="9">
                  <c:v>1.0072489662560524</c:v>
                </c:pt>
                <c:pt idx="10">
                  <c:v>1.0089612894986877</c:v>
                </c:pt>
                <c:pt idx="11">
                  <c:v>1.0130980307856323</c:v>
                </c:pt>
                <c:pt idx="12">
                  <c:v>1.0314351051428523</c:v>
                </c:pt>
                <c:pt idx="13">
                  <c:v>1.0232461550549588</c:v>
                </c:pt>
                <c:pt idx="14">
                  <c:v>1.0350134858380908</c:v>
                </c:pt>
                <c:pt idx="15">
                  <c:v>1.0491931705940727</c:v>
                </c:pt>
                <c:pt idx="16">
                  <c:v>1.0545440557641026</c:v>
                </c:pt>
                <c:pt idx="17">
                  <c:v>1.0496931531075877</c:v>
                </c:pt>
                <c:pt idx="18">
                  <c:v>1.0380415591080936</c:v>
                </c:pt>
                <c:pt idx="19">
                  <c:v>1.0350610822815047</c:v>
                </c:pt>
                <c:pt idx="20">
                  <c:v>1.0354751067144172</c:v>
                </c:pt>
                <c:pt idx="21">
                  <c:v>1.0469688803989474</c:v>
                </c:pt>
                <c:pt idx="22">
                  <c:v>1.0547164501138997</c:v>
                </c:pt>
                <c:pt idx="23">
                  <c:v>1.0460677752229657</c:v>
                </c:pt>
                <c:pt idx="24">
                  <c:v>1.0418835041220738</c:v>
                </c:pt>
                <c:pt idx="25">
                  <c:v>1.0470714327954116</c:v>
                </c:pt>
                <c:pt idx="26">
                  <c:v>1.0269676612857397</c:v>
                </c:pt>
                <c:pt idx="27">
                  <c:v>1.0149521396486965</c:v>
                </c:pt>
                <c:pt idx="28">
                  <c:v>1.0273345557524105</c:v>
                </c:pt>
                <c:pt idx="29">
                  <c:v>1.0284646237637383</c:v>
                </c:pt>
                <c:pt idx="30">
                  <c:v>1.0259963086667054</c:v>
                </c:pt>
                <c:pt idx="31">
                  <c:v>1.0187681646721485</c:v>
                </c:pt>
                <c:pt idx="32">
                  <c:v>1.0181569037733451</c:v>
                </c:pt>
                <c:pt idx="33">
                  <c:v>1.0170369311791945</c:v>
                </c:pt>
                <c:pt idx="34">
                  <c:v>1.0118500428301807</c:v>
                </c:pt>
                <c:pt idx="35">
                  <c:v>1.008308567680275</c:v>
                </c:pt>
                <c:pt idx="36">
                  <c:v>0.98884821232404574</c:v>
                </c:pt>
                <c:pt idx="37">
                  <c:v>1.0037952710834566</c:v>
                </c:pt>
                <c:pt idx="38">
                  <c:v>1.017246127715975</c:v>
                </c:pt>
                <c:pt idx="39">
                  <c:v>1.0239599521589005</c:v>
                </c:pt>
                <c:pt idx="40">
                  <c:v>1.0399337274125793</c:v>
                </c:pt>
                <c:pt idx="41">
                  <c:v>1.0193430396098102</c:v>
                </c:pt>
                <c:pt idx="42">
                  <c:v>1.0453362871198604</c:v>
                </c:pt>
                <c:pt idx="43">
                  <c:v>1.0545927399423067</c:v>
                </c:pt>
                <c:pt idx="44">
                  <c:v>1.0552254955862721</c:v>
                </c:pt>
                <c:pt idx="45">
                  <c:v>1.0565972887305344</c:v>
                </c:pt>
                <c:pt idx="46">
                  <c:v>1.0542727746953273</c:v>
                </c:pt>
                <c:pt idx="47">
                  <c:v>1.0653426388296281</c:v>
                </c:pt>
                <c:pt idx="48">
                  <c:v>1.0678994611628192</c:v>
                </c:pt>
                <c:pt idx="49">
                  <c:v>1.0772495883824627</c:v>
                </c:pt>
                <c:pt idx="50">
                  <c:v>1.0490256491668422</c:v>
                </c:pt>
                <c:pt idx="51">
                  <c:v>0.99783319748750032</c:v>
                </c:pt>
                <c:pt idx="52">
                  <c:v>1.0407400249794627</c:v>
                </c:pt>
                <c:pt idx="53">
                  <c:v>1.0469844651293394</c:v>
                </c:pt>
                <c:pt idx="54">
                  <c:v>1.0633174227853572</c:v>
                </c:pt>
                <c:pt idx="55">
                  <c:v>1.0723104298885644</c:v>
                </c:pt>
                <c:pt idx="56">
                  <c:v>1.0862504654771157</c:v>
                </c:pt>
                <c:pt idx="57">
                  <c:v>1.0836434643599706</c:v>
                </c:pt>
                <c:pt idx="58">
                  <c:v>1.072481936677063</c:v>
                </c:pt>
                <c:pt idx="59">
                  <c:v>1.0911431223752441</c:v>
                </c:pt>
                <c:pt idx="60">
                  <c:v>1.1093652125189106</c:v>
                </c:pt>
                <c:pt idx="61">
                  <c:v>1.1092667563562997</c:v>
                </c:pt>
                <c:pt idx="62">
                  <c:v>1.1010581823592631</c:v>
                </c:pt>
                <c:pt idx="63">
                  <c:v>1.1257218856441107</c:v>
                </c:pt>
                <c:pt idx="64">
                  <c:v>1.1271853240954481</c:v>
                </c:pt>
                <c:pt idx="65">
                  <c:v>1.1342865916372493</c:v>
                </c:pt>
                <c:pt idx="66">
                  <c:v>1.1422265977787101</c:v>
                </c:pt>
                <c:pt idx="67">
                  <c:v>1.1468925934306362</c:v>
                </c:pt>
                <c:pt idx="68">
                  <c:v>1.1544620845472784</c:v>
                </c:pt>
                <c:pt idx="69">
                  <c:v>1.1396849698650733</c:v>
                </c:pt>
                <c:pt idx="70">
                  <c:v>1.1574640553949684</c:v>
                </c:pt>
                <c:pt idx="71">
                  <c:v>1.1608207011556138</c:v>
                </c:pt>
                <c:pt idx="72">
                  <c:v>1.1746344674993656</c:v>
                </c:pt>
                <c:pt idx="73">
                  <c:v>1.1390445114272192</c:v>
                </c:pt>
                <c:pt idx="74">
                  <c:v>1.1308433909449431</c:v>
                </c:pt>
                <c:pt idx="75">
                  <c:v>1.1393247163770304</c:v>
                </c:pt>
                <c:pt idx="76">
                  <c:v>1.1218930482164617</c:v>
                </c:pt>
                <c:pt idx="77">
                  <c:v>1.1039427594449984</c:v>
                </c:pt>
                <c:pt idx="78">
                  <c:v>1.0751298534234839</c:v>
                </c:pt>
                <c:pt idx="79">
                  <c:v>1.1134972061552175</c:v>
                </c:pt>
                <c:pt idx="80">
                  <c:v>1.0838781804714888</c:v>
                </c:pt>
                <c:pt idx="81">
                  <c:v>1.0530960401460985</c:v>
                </c:pt>
                <c:pt idx="82">
                  <c:v>1.0577296627227413</c:v>
                </c:pt>
                <c:pt idx="83">
                  <c:v>1.0748648832588497</c:v>
                </c:pt>
                <c:pt idx="84">
                  <c:v>1.0499280179672443</c:v>
                </c:pt>
                <c:pt idx="85">
                  <c:v>1.0720585319709603</c:v>
                </c:pt>
                <c:pt idx="86">
                  <c:v>1.0584433886149291</c:v>
                </c:pt>
                <c:pt idx="87">
                  <c:v>1.0737908177498456</c:v>
                </c:pt>
                <c:pt idx="88">
                  <c:v>1.0755088830582455</c:v>
                </c:pt>
                <c:pt idx="89">
                  <c:v>1.0780901043775852</c:v>
                </c:pt>
                <c:pt idx="90">
                  <c:v>1.0761495421897056</c:v>
                </c:pt>
                <c:pt idx="91">
                  <c:v>1.0806525554303057</c:v>
                </c:pt>
                <c:pt idx="92">
                  <c:v>1.0748170316309822</c:v>
                </c:pt>
                <c:pt idx="93">
                  <c:v>1.060199520000801</c:v>
                </c:pt>
                <c:pt idx="94">
                  <c:v>1.0567008615847984</c:v>
                </c:pt>
                <c:pt idx="95">
                  <c:v>1.0873451865707575</c:v>
                </c:pt>
                <c:pt idx="96">
                  <c:v>1.1165947720895109</c:v>
                </c:pt>
                <c:pt idx="97">
                  <c:v>1.114498365404913</c:v>
                </c:pt>
                <c:pt idx="98">
                  <c:v>1.1177304106645871</c:v>
                </c:pt>
                <c:pt idx="99">
                  <c:v>1.1455618978901352</c:v>
                </c:pt>
                <c:pt idx="100">
                  <c:v>1.135366396998913</c:v>
                </c:pt>
                <c:pt idx="101">
                  <c:v>1.1439951816161047</c:v>
                </c:pt>
                <c:pt idx="102">
                  <c:v>1.1616127074129927</c:v>
                </c:pt>
                <c:pt idx="103">
                  <c:v>1.1755927163467081</c:v>
                </c:pt>
                <c:pt idx="104">
                  <c:v>1.1829989504596923</c:v>
                </c:pt>
                <c:pt idx="105">
                  <c:v>1.1957753391246568</c:v>
                </c:pt>
                <c:pt idx="106">
                  <c:v>1.1941012536498823</c:v>
                </c:pt>
                <c:pt idx="107">
                  <c:v>1.227536088752079</c:v>
                </c:pt>
                <c:pt idx="108">
                  <c:v>1.2066679752432936</c:v>
                </c:pt>
                <c:pt idx="109">
                  <c:v>1.2273057684573767</c:v>
                </c:pt>
                <c:pt idx="110">
                  <c:v>1.2320922609543605</c:v>
                </c:pt>
                <c:pt idx="111">
                  <c:v>1.2046166035350783</c:v>
                </c:pt>
                <c:pt idx="112">
                  <c:v>1.1964252106310398</c:v>
                </c:pt>
                <c:pt idx="113">
                  <c:v>1.2115001682849909</c:v>
                </c:pt>
                <c:pt idx="114">
                  <c:v>1.2056849674772228</c:v>
                </c:pt>
                <c:pt idx="115">
                  <c:v>1.2142046388786587</c:v>
                </c:pt>
                <c:pt idx="116">
                  <c:v>1.2172401504758552</c:v>
                </c:pt>
                <c:pt idx="117">
                  <c:v>1.2457235699969904</c:v>
                </c:pt>
                <c:pt idx="118">
                  <c:v>1.2706380413969303</c:v>
                </c:pt>
                <c:pt idx="119">
                  <c:v>1.279405443882569</c:v>
                </c:pt>
                <c:pt idx="120">
                  <c:v>1.2887451036229118</c:v>
                </c:pt>
                <c:pt idx="121">
                  <c:v>1.3184049665243534</c:v>
                </c:pt>
                <c:pt idx="122">
                  <c:v>1.3499543460734769</c:v>
                </c:pt>
                <c:pt idx="123">
                  <c:v>1.2896770762032002</c:v>
                </c:pt>
                <c:pt idx="124">
                  <c:v>1.3276389312704382</c:v>
                </c:pt>
                <c:pt idx="125">
                  <c:v>1.3535453323636208</c:v>
                </c:pt>
                <c:pt idx="126">
                  <c:v>1.3530323343221717</c:v>
                </c:pt>
                <c:pt idx="127">
                  <c:v>1.3370652702820667</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ax val="1.35"/>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w="3175">
          <a:solidFill>
            <a:schemeClr val="tx1">
              <a:lumMod val="15000"/>
              <a:lumOff val="8500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5.9200000000000003E-2</c:v>
                </c:pt>
                <c:pt idx="1">
                  <c:v>-0.10680000000000001</c:v>
                </c:pt>
                <c:pt idx="2">
                  <c:v>6.3899999999999998E-2</c:v>
                </c:pt>
                <c:pt idx="3">
                  <c:v>8.0699999999999994E-2</c:v>
                </c:pt>
                <c:pt idx="4">
                  <c:v>6.8000000000000005E-2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4.58E-2</c:v>
                </c:pt>
                <c:pt idx="1">
                  <c:v>-0.1157</c:v>
                </c:pt>
                <c:pt idx="2">
                  <c:v>8.1000000000000003E-2</c:v>
                </c:pt>
                <c:pt idx="3">
                  <c:v>6.8400000000000002E-2</c:v>
                </c:pt>
                <c:pt idx="4">
                  <c:v>2.76E-2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max val="0.15000000000000002"/>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332960704607047"/>
          <c:y val="0.15984019607843136"/>
          <c:w val="0.64408604336043362"/>
          <c:h val="0.62135359477124186"/>
        </c:manualLayout>
      </c:layout>
      <c:doughnutChart>
        <c:varyColors val="1"/>
        <c:ser>
          <c:idx val="0"/>
          <c:order val="0"/>
          <c:dPt>
            <c:idx val="0"/>
            <c:bubble3D val="0"/>
            <c:spPr>
              <a:solidFill>
                <a:srgbClr val="BB9256"/>
              </a:solidFill>
              <a:ln w="19050">
                <a:solidFill>
                  <a:schemeClr val="lt1"/>
                </a:solidFill>
              </a:ln>
              <a:effectLst/>
            </c:spPr>
            <c:extLst>
              <c:ext xmlns:c16="http://schemas.microsoft.com/office/drawing/2014/chart" uri="{C3380CC4-5D6E-409C-BE32-E72D297353CC}">
                <c16:uniqueId val="{00000001-79AD-420F-BF07-D3D3FDDE5A56}"/>
              </c:ext>
            </c:extLst>
          </c:dPt>
          <c:dPt>
            <c:idx val="1"/>
            <c:bubble3D val="0"/>
            <c:spPr>
              <a:solidFill>
                <a:srgbClr val="66A4CE"/>
              </a:solidFill>
              <a:ln w="19050">
                <a:solidFill>
                  <a:schemeClr val="lt1"/>
                </a:solidFill>
              </a:ln>
              <a:effectLst/>
            </c:spPr>
            <c:extLst>
              <c:ext xmlns:c16="http://schemas.microsoft.com/office/drawing/2014/chart" uri="{C3380CC4-5D6E-409C-BE32-E72D297353CC}">
                <c16:uniqueId val="{00000003-79AD-420F-BF07-D3D3FDDE5A56}"/>
              </c:ext>
            </c:extLst>
          </c:dPt>
          <c:dPt>
            <c:idx val="2"/>
            <c:bubble3D val="0"/>
            <c:spPr>
              <a:solidFill>
                <a:srgbClr val="14355C"/>
              </a:solidFill>
              <a:ln w="19050">
                <a:solidFill>
                  <a:schemeClr val="lt1"/>
                </a:solidFill>
              </a:ln>
              <a:effectLst/>
            </c:spPr>
            <c:extLst>
              <c:ext xmlns:c16="http://schemas.microsoft.com/office/drawing/2014/chart" uri="{C3380CC4-5D6E-409C-BE32-E72D297353CC}">
                <c16:uniqueId val="{00000005-79AD-420F-BF07-D3D3FDDE5A56}"/>
              </c:ext>
            </c:extLst>
          </c:dPt>
          <c:dPt>
            <c:idx val="3"/>
            <c:bubble3D val="0"/>
            <c:spPr>
              <a:solidFill>
                <a:srgbClr val="9FD0EF"/>
              </a:solidFill>
              <a:ln w="19050">
                <a:solidFill>
                  <a:schemeClr val="lt1"/>
                </a:solidFill>
              </a:ln>
              <a:effectLst/>
            </c:spPr>
            <c:extLst>
              <c:ext xmlns:c16="http://schemas.microsoft.com/office/drawing/2014/chart" uri="{C3380CC4-5D6E-409C-BE32-E72D297353CC}">
                <c16:uniqueId val="{00000007-79AD-420F-BF07-D3D3FDDE5A56}"/>
              </c:ext>
            </c:extLst>
          </c:dPt>
          <c:dLbls>
            <c:dLbl>
              <c:idx val="0"/>
              <c:layout>
                <c:manualLayout>
                  <c:x val="0.17892114123647629"/>
                  <c:y val="-5.3695853158049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9AD-420F-BF07-D3D3FDDE5A56}"/>
                </c:ext>
              </c:extLst>
            </c:dLbl>
            <c:dLbl>
              <c:idx val="1"/>
              <c:layout>
                <c:manualLayout>
                  <c:x val="0.22334079321082709"/>
                  <c:y val="-1.71343239839651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9AD-420F-BF07-D3D3FDDE5A56}"/>
                </c:ext>
              </c:extLst>
            </c:dLbl>
            <c:dLbl>
              <c:idx val="2"/>
              <c:layout>
                <c:manualLayout>
                  <c:x val="-0.3183382951784553"/>
                  <c:y val="-0.2226806343845013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9AD-420F-BF07-D3D3FDDE5A56}"/>
                </c:ext>
              </c:extLst>
            </c:dLbl>
            <c:dLbl>
              <c:idx val="3"/>
              <c:layout>
                <c:manualLayout>
                  <c:x val="-0.3694793826780276"/>
                  <c:y val="-7.078600835249111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9AD-420F-BF07-D3D3FDDE5A56}"/>
                </c:ext>
              </c:extLst>
            </c:dLbl>
            <c:spPr>
              <a:noFill/>
              <a:ln w="9525">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de-DE"/>
              </a:p>
            </c:txPr>
            <c:showLegendKey val="0"/>
            <c:showVal val="1"/>
            <c:showCatName val="0"/>
            <c:showSerName val="0"/>
            <c:showPercent val="0"/>
            <c:showBubbleSize val="0"/>
            <c:showLeaderLines val="1"/>
            <c:leaderLines>
              <c:spPr>
                <a:ln w="9525" cap="flat" cmpd="sng" algn="ctr">
                  <a:solidFill>
                    <a:schemeClr val="tx1"/>
                  </a:solidFill>
                  <a:round/>
                  <a:tailEnd type="oval" w="sm" len="sm"/>
                </a:ln>
                <a:effectLst/>
              </c:spPr>
            </c:leaderLines>
            <c:extLst>
              <c:ext xmlns:c15="http://schemas.microsoft.com/office/drawing/2012/chart" uri="{CE6537A1-D6FC-4f65-9D91-7224C49458BB}"/>
            </c:extLst>
          </c:dLbls>
          <c:cat>
            <c:strRef>
              <c:f>S_Diagramm_ETF!$F$4:$F$7</c:f>
              <c:strCache>
                <c:ptCount val="4"/>
                <c:pt idx="0">
                  <c:v>EDELMETALLE</c:v>
                </c:pt>
                <c:pt idx="1">
                  <c:v>RENTEN</c:v>
                </c:pt>
                <c:pt idx="2">
                  <c:v>AKTIEN </c:v>
                </c:pt>
                <c:pt idx="3">
                  <c:v>LIQUIDITÄT</c:v>
                </c:pt>
              </c:strCache>
            </c:strRef>
          </c:cat>
          <c:val>
            <c:numRef>
              <c:f>S_Diagramm_ETF!$G$4:$G$7</c:f>
              <c:numCache>
                <c:formatCode>0.00%</c:formatCode>
                <c:ptCount val="4"/>
                <c:pt idx="0">
                  <c:v>8.5800000000000001E-2</c:v>
                </c:pt>
                <c:pt idx="1">
                  <c:v>0.1135</c:v>
                </c:pt>
                <c:pt idx="2">
                  <c:v>0.77129999999999999</c:v>
                </c:pt>
                <c:pt idx="3">
                  <c:v>2.9399999999999999E-2</c:v>
                </c:pt>
              </c:numCache>
            </c:numRef>
          </c:val>
          <c:extLst>
            <c:ext xmlns:c16="http://schemas.microsoft.com/office/drawing/2014/chart" uri="{C3380CC4-5D6E-409C-BE32-E72D297353CC}">
              <c16:uniqueId val="{00000008-79AD-420F-BF07-D3D3FDDE5A56}"/>
            </c:ext>
          </c:extLst>
        </c:ser>
        <c:dLbls>
          <c:showLegendKey val="0"/>
          <c:showVal val="1"/>
          <c:showCatName val="0"/>
          <c:showSerName val="0"/>
          <c:showPercent val="0"/>
          <c:showBubbleSize val="0"/>
          <c:showLeaderLines val="1"/>
        </c:dLbls>
        <c:firstSliceAng val="0"/>
        <c:holeSize val="79"/>
      </c:doughnutChart>
      <c:spPr>
        <a:noFill/>
        <a:ln>
          <a:noFill/>
        </a:ln>
        <a:effectLst/>
      </c:spPr>
    </c:plotArea>
    <c:legend>
      <c:legendPos val="r"/>
      <c:layout>
        <c:manualLayout>
          <c:xMode val="edge"/>
          <c:yMode val="edge"/>
          <c:x val="0"/>
          <c:y val="0.75192921698540072"/>
          <c:w val="0.26075351606611236"/>
          <c:h val="0.24807078301459931"/>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746102160765996E-2"/>
          <c:y val="0.13544018058690746"/>
          <c:w val="0.92588380119341251"/>
          <c:h val="0.71255079006772015"/>
        </c:manualLayout>
      </c:layout>
      <c:lineChart>
        <c:grouping val="standard"/>
        <c:varyColors val="0"/>
        <c:ser>
          <c:idx val="0"/>
          <c:order val="0"/>
          <c:tx>
            <c:strRef>
              <c:f>Tabelle1!$B$1</c:f>
              <c:strCache>
                <c:ptCount val="1"/>
                <c:pt idx="0">
                  <c:v>Wertentwicklung</c:v>
                </c:pt>
              </c:strCache>
            </c:strRef>
          </c:tx>
          <c:spPr>
            <a:ln w="9525" cap="rnd">
              <a:solidFill>
                <a:schemeClr val="accent3"/>
              </a:solidFill>
              <a:round/>
            </a:ln>
            <a:effectLst/>
          </c:spPr>
          <c:marker>
            <c:symbol val="none"/>
          </c:marker>
          <c:cat>
            <c:numRef>
              <c:f>Tabelle1!$A$2:$A$290</c:f>
              <c:numCache>
                <c:formatCode>m/d/yyyy</c:formatCode>
                <c:ptCount val="289"/>
                <c:pt idx="0">
                  <c:v>42369</c:v>
                </c:pt>
                <c:pt idx="1">
                  <c:v>42400</c:v>
                </c:pt>
                <c:pt idx="2">
                  <c:v>42429</c:v>
                </c:pt>
                <c:pt idx="3">
                  <c:v>42460</c:v>
                </c:pt>
                <c:pt idx="4">
                  <c:v>42490</c:v>
                </c:pt>
                <c:pt idx="5">
                  <c:v>42521</c:v>
                </c:pt>
                <c:pt idx="6">
                  <c:v>42551</c:v>
                </c:pt>
                <c:pt idx="7">
                  <c:v>42582</c:v>
                </c:pt>
                <c:pt idx="8">
                  <c:v>42613</c:v>
                </c:pt>
                <c:pt idx="9">
                  <c:v>42643</c:v>
                </c:pt>
                <c:pt idx="10">
                  <c:v>42674</c:v>
                </c:pt>
                <c:pt idx="11">
                  <c:v>42704</c:v>
                </c:pt>
                <c:pt idx="12">
                  <c:v>42735</c:v>
                </c:pt>
                <c:pt idx="13">
                  <c:v>42766</c:v>
                </c:pt>
                <c:pt idx="14">
                  <c:v>42794</c:v>
                </c:pt>
                <c:pt idx="15">
                  <c:v>42825</c:v>
                </c:pt>
                <c:pt idx="16">
                  <c:v>42855</c:v>
                </c:pt>
                <c:pt idx="17">
                  <c:v>42886</c:v>
                </c:pt>
                <c:pt idx="18">
                  <c:v>42916</c:v>
                </c:pt>
                <c:pt idx="19">
                  <c:v>42947</c:v>
                </c:pt>
                <c:pt idx="20">
                  <c:v>42978</c:v>
                </c:pt>
                <c:pt idx="21">
                  <c:v>43008</c:v>
                </c:pt>
                <c:pt idx="22">
                  <c:v>43039</c:v>
                </c:pt>
                <c:pt idx="23">
                  <c:v>43069</c:v>
                </c:pt>
                <c:pt idx="24">
                  <c:v>43100</c:v>
                </c:pt>
                <c:pt idx="25">
                  <c:v>43131</c:v>
                </c:pt>
                <c:pt idx="26">
                  <c:v>43159</c:v>
                </c:pt>
                <c:pt idx="27">
                  <c:v>43190</c:v>
                </c:pt>
                <c:pt idx="28">
                  <c:v>43220</c:v>
                </c:pt>
                <c:pt idx="29">
                  <c:v>43251</c:v>
                </c:pt>
                <c:pt idx="30">
                  <c:v>43281</c:v>
                </c:pt>
                <c:pt idx="31">
                  <c:v>43312</c:v>
                </c:pt>
                <c:pt idx="32">
                  <c:v>43343</c:v>
                </c:pt>
                <c:pt idx="33">
                  <c:v>43373</c:v>
                </c:pt>
                <c:pt idx="34">
                  <c:v>43404</c:v>
                </c:pt>
                <c:pt idx="35">
                  <c:v>43434</c:v>
                </c:pt>
                <c:pt idx="36">
                  <c:v>43465</c:v>
                </c:pt>
                <c:pt idx="37">
                  <c:v>43496</c:v>
                </c:pt>
                <c:pt idx="38">
                  <c:v>43524</c:v>
                </c:pt>
                <c:pt idx="39">
                  <c:v>43555</c:v>
                </c:pt>
                <c:pt idx="40">
                  <c:v>43585</c:v>
                </c:pt>
                <c:pt idx="41">
                  <c:v>43616</c:v>
                </c:pt>
                <c:pt idx="42">
                  <c:v>43646</c:v>
                </c:pt>
                <c:pt idx="43">
                  <c:v>43677</c:v>
                </c:pt>
                <c:pt idx="44">
                  <c:v>43708</c:v>
                </c:pt>
                <c:pt idx="45">
                  <c:v>43738</c:v>
                </c:pt>
                <c:pt idx="46">
                  <c:v>43769</c:v>
                </c:pt>
                <c:pt idx="47">
                  <c:v>43799</c:v>
                </c:pt>
                <c:pt idx="48">
                  <c:v>43830</c:v>
                </c:pt>
                <c:pt idx="49">
                  <c:v>43861</c:v>
                </c:pt>
                <c:pt idx="50">
                  <c:v>43890</c:v>
                </c:pt>
                <c:pt idx="51">
                  <c:v>43921</c:v>
                </c:pt>
                <c:pt idx="52">
                  <c:v>43951</c:v>
                </c:pt>
                <c:pt idx="53">
                  <c:v>43982</c:v>
                </c:pt>
                <c:pt idx="54">
                  <c:v>44012</c:v>
                </c:pt>
                <c:pt idx="55">
                  <c:v>44043</c:v>
                </c:pt>
                <c:pt idx="56">
                  <c:v>44074</c:v>
                </c:pt>
                <c:pt idx="57">
                  <c:v>44104</c:v>
                </c:pt>
                <c:pt idx="58">
                  <c:v>44135</c:v>
                </c:pt>
                <c:pt idx="59">
                  <c:v>44165</c:v>
                </c:pt>
                <c:pt idx="60">
                  <c:v>44196</c:v>
                </c:pt>
                <c:pt idx="61">
                  <c:v>44227</c:v>
                </c:pt>
                <c:pt idx="62">
                  <c:v>44255</c:v>
                </c:pt>
                <c:pt idx="63">
                  <c:v>44286</c:v>
                </c:pt>
                <c:pt idx="64">
                  <c:v>44316</c:v>
                </c:pt>
                <c:pt idx="65">
                  <c:v>44347</c:v>
                </c:pt>
                <c:pt idx="66">
                  <c:v>44377</c:v>
                </c:pt>
                <c:pt idx="67">
                  <c:v>44408</c:v>
                </c:pt>
                <c:pt idx="68">
                  <c:v>44439</c:v>
                </c:pt>
                <c:pt idx="69">
                  <c:v>44469</c:v>
                </c:pt>
                <c:pt idx="70">
                  <c:v>44500</c:v>
                </c:pt>
                <c:pt idx="71">
                  <c:v>44530</c:v>
                </c:pt>
                <c:pt idx="72">
                  <c:v>44561</c:v>
                </c:pt>
                <c:pt idx="73">
                  <c:v>44592</c:v>
                </c:pt>
                <c:pt idx="74">
                  <c:v>44620</c:v>
                </c:pt>
                <c:pt idx="75">
                  <c:v>44651</c:v>
                </c:pt>
                <c:pt idx="76">
                  <c:v>44681</c:v>
                </c:pt>
                <c:pt idx="77">
                  <c:v>44712</c:v>
                </c:pt>
                <c:pt idx="78">
                  <c:v>44742</c:v>
                </c:pt>
                <c:pt idx="79">
                  <c:v>44773</c:v>
                </c:pt>
                <c:pt idx="80">
                  <c:v>44804</c:v>
                </c:pt>
                <c:pt idx="81">
                  <c:v>44834</c:v>
                </c:pt>
                <c:pt idx="82">
                  <c:v>44865</c:v>
                </c:pt>
                <c:pt idx="83">
                  <c:v>44895</c:v>
                </c:pt>
                <c:pt idx="84">
                  <c:v>44926</c:v>
                </c:pt>
                <c:pt idx="85">
                  <c:v>44957</c:v>
                </c:pt>
                <c:pt idx="86">
                  <c:v>44985</c:v>
                </c:pt>
                <c:pt idx="87">
                  <c:v>45016</c:v>
                </c:pt>
                <c:pt idx="88">
                  <c:v>45046</c:v>
                </c:pt>
                <c:pt idx="89">
                  <c:v>45077</c:v>
                </c:pt>
                <c:pt idx="90">
                  <c:v>45107</c:v>
                </c:pt>
                <c:pt idx="91">
                  <c:v>45138</c:v>
                </c:pt>
                <c:pt idx="92">
                  <c:v>45169</c:v>
                </c:pt>
                <c:pt idx="93">
                  <c:v>45199</c:v>
                </c:pt>
                <c:pt idx="94">
                  <c:v>45230</c:v>
                </c:pt>
                <c:pt idx="95">
                  <c:v>45260</c:v>
                </c:pt>
                <c:pt idx="96">
                  <c:v>45291</c:v>
                </c:pt>
                <c:pt idx="97">
                  <c:v>45322</c:v>
                </c:pt>
                <c:pt idx="98">
                  <c:v>45351</c:v>
                </c:pt>
                <c:pt idx="99">
                  <c:v>45382</c:v>
                </c:pt>
                <c:pt idx="100">
                  <c:v>45412</c:v>
                </c:pt>
                <c:pt idx="101">
                  <c:v>45443</c:v>
                </c:pt>
                <c:pt idx="102">
                  <c:v>45473</c:v>
                </c:pt>
                <c:pt idx="103">
                  <c:v>45504</c:v>
                </c:pt>
                <c:pt idx="104">
                  <c:v>45535</c:v>
                </c:pt>
                <c:pt idx="105">
                  <c:v>45565</c:v>
                </c:pt>
                <c:pt idx="106">
                  <c:v>45596</c:v>
                </c:pt>
                <c:pt idx="107">
                  <c:v>45626</c:v>
                </c:pt>
                <c:pt idx="108">
                  <c:v>45657</c:v>
                </c:pt>
                <c:pt idx="109">
                  <c:v>45688</c:v>
                </c:pt>
                <c:pt idx="110">
                  <c:v>45716</c:v>
                </c:pt>
                <c:pt idx="111">
                  <c:v>45747</c:v>
                </c:pt>
                <c:pt idx="112">
                  <c:v>45777</c:v>
                </c:pt>
                <c:pt idx="113">
                  <c:v>45808</c:v>
                </c:pt>
                <c:pt idx="114">
                  <c:v>45838</c:v>
                </c:pt>
                <c:pt idx="115">
                  <c:v>45869</c:v>
                </c:pt>
                <c:pt idx="116">
                  <c:v>45900</c:v>
                </c:pt>
                <c:pt idx="117">
                  <c:v>45930</c:v>
                </c:pt>
                <c:pt idx="118">
                  <c:v>45961</c:v>
                </c:pt>
                <c:pt idx="119">
                  <c:v>45991</c:v>
                </c:pt>
                <c:pt idx="120">
                  <c:v>46022</c:v>
                </c:pt>
                <c:pt idx="121">
                  <c:v>46053</c:v>
                </c:pt>
                <c:pt idx="122">
                  <c:v>46081</c:v>
                </c:pt>
                <c:pt idx="123">
                  <c:v>46112</c:v>
                </c:pt>
                <c:pt idx="124">
                  <c:v>46142</c:v>
                </c:pt>
                <c:pt idx="125">
                  <c:v>46173</c:v>
                </c:pt>
                <c:pt idx="126">
                  <c:v>46203</c:v>
                </c:pt>
                <c:pt idx="127">
                  <c:v>46223</c:v>
                </c:pt>
              </c:numCache>
            </c:numRef>
          </c:cat>
          <c:val>
            <c:numRef>
              <c:f>Tabelle1!$B$2:$B$290</c:f>
              <c:numCache>
                <c:formatCode>General</c:formatCode>
                <c:ptCount val="289"/>
                <c:pt idx="0">
                  <c:v>1</c:v>
                </c:pt>
                <c:pt idx="1">
                  <c:v>1</c:v>
                </c:pt>
                <c:pt idx="2">
                  <c:v>1.0044</c:v>
                </c:pt>
                <c:pt idx="3">
                  <c:v>1.0001815199999999</c:v>
                </c:pt>
                <c:pt idx="4">
                  <c:v>0.97897767177599992</c:v>
                </c:pt>
                <c:pt idx="5">
                  <c:v>0.97741130750115823</c:v>
                </c:pt>
                <c:pt idx="6">
                  <c:v>0.96929879364889859</c:v>
                </c:pt>
                <c:pt idx="7">
                  <c:v>0.97563645688129252</c:v>
                </c:pt>
                <c:pt idx="8">
                  <c:v>0.9769047842752383</c:v>
                </c:pt>
                <c:pt idx="9">
                  <c:v>0.97504866518511535</c:v>
                </c:pt>
                <c:pt idx="10">
                  <c:v>0.98041143284363352</c:v>
                </c:pt>
                <c:pt idx="11">
                  <c:v>1.0009020317900654</c:v>
                </c:pt>
                <c:pt idx="12">
                  <c:v>1.0396369404203409</c:v>
                </c:pt>
                <c:pt idx="13">
                  <c:v>1.0299292265254718</c:v>
                </c:pt>
                <c:pt idx="14">
                  <c:v>1.0492918959841506</c:v>
                </c:pt>
                <c:pt idx="15">
                  <c:v>1.0816100863804623</c:v>
                </c:pt>
                <c:pt idx="16">
                  <c:v>1.0888568739592113</c:v>
                </c:pt>
                <c:pt idx="17">
                  <c:v>1.0781860765944109</c:v>
                </c:pt>
                <c:pt idx="18">
                  <c:v>1.0591021830386897</c:v>
                </c:pt>
                <c:pt idx="19">
                  <c:v>1.0612979931172293</c:v>
                </c:pt>
                <c:pt idx="20">
                  <c:v>1.0604489547227354</c:v>
                </c:pt>
                <c:pt idx="21">
                  <c:v>1.0945954110648075</c:v>
                </c:pt>
                <c:pt idx="22">
                  <c:v>1.105869743798775</c:v>
                </c:pt>
                <c:pt idx="23">
                  <c:v>1.0836417619484195</c:v>
                </c:pt>
                <c:pt idx="24">
                  <c:v>1.0796322874292104</c:v>
                </c:pt>
                <c:pt idx="25">
                  <c:v>1.1130444775524977</c:v>
                </c:pt>
                <c:pt idx="26">
                  <c:v>1.0645157383312087</c:v>
                </c:pt>
                <c:pt idx="27">
                  <c:v>1.0336447819196037</c:v>
                </c:pt>
                <c:pt idx="28">
                  <c:v>1.061449826553241</c:v>
                </c:pt>
                <c:pt idx="29">
                  <c:v>1.0658017708421093</c:v>
                </c:pt>
                <c:pt idx="30">
                  <c:v>1.0612188232274882</c:v>
                </c:pt>
                <c:pt idx="31">
                  <c:v>1.0506777897173105</c:v>
                </c:pt>
                <c:pt idx="32">
                  <c:v>1.0504676541593672</c:v>
                </c:pt>
                <c:pt idx="33">
                  <c:v>1.0496272800360396</c:v>
                </c:pt>
                <c:pt idx="34">
                  <c:v>1.0364019763075856</c:v>
                </c:pt>
                <c:pt idx="35">
                  <c:v>1.0338109713668167</c:v>
                </c:pt>
                <c:pt idx="36">
                  <c:v>0.98491171242116626</c:v>
                </c:pt>
                <c:pt idx="37">
                  <c:v>1.0173470711625481</c:v>
                </c:pt>
                <c:pt idx="38">
                  <c:v>1.0434928908914256</c:v>
                </c:pt>
                <c:pt idx="39">
                  <c:v>1.0475625131659021</c:v>
                </c:pt>
                <c:pt idx="40">
                  <c:v>1.0802464635766782</c:v>
                </c:pt>
                <c:pt idx="41">
                  <c:v>1.0336878409965233</c:v>
                </c:pt>
                <c:pt idx="42">
                  <c:v>1.0779296805911744</c:v>
                </c:pt>
                <c:pt idx="43">
                  <c:v>1.0977055671489941</c:v>
                </c:pt>
                <c:pt idx="44">
                  <c:v>1.0895825459520916</c:v>
                </c:pt>
                <c:pt idx="45">
                  <c:v>1.1029844112673022</c:v>
                </c:pt>
                <c:pt idx="46">
                  <c:v>1.0976900860932191</c:v>
                </c:pt>
                <c:pt idx="47">
                  <c:v>1.1259007213058148</c:v>
                </c:pt>
                <c:pt idx="48">
                  <c:v>1.1318679951287356</c:v>
                </c:pt>
                <c:pt idx="49">
                  <c:v>1.1453333193261845</c:v>
                </c:pt>
                <c:pt idx="50">
                  <c:v>1.0853178533934924</c:v>
                </c:pt>
                <c:pt idx="51">
                  <c:v>1.0272533482369406</c:v>
                </c:pt>
                <c:pt idx="52">
                  <c:v>1.0801568956711431</c:v>
                </c:pt>
                <c:pt idx="53">
                  <c:v>1.0859897429077674</c:v>
                </c:pt>
                <c:pt idx="54">
                  <c:v>1.1053203603315258</c:v>
                </c:pt>
                <c:pt idx="55">
                  <c:v>1.1094764754184085</c:v>
                </c:pt>
                <c:pt idx="56">
                  <c:v>1.1291142090333144</c:v>
                </c:pt>
                <c:pt idx="57">
                  <c:v>1.1282109176660877</c:v>
                </c:pt>
                <c:pt idx="58">
                  <c:v>1.0965081908796706</c:v>
                </c:pt>
                <c:pt idx="59">
                  <c:v>1.1401492168766816</c:v>
                </c:pt>
                <c:pt idx="60">
                  <c:v>1.1754938425998587</c:v>
                </c:pt>
                <c:pt idx="61">
                  <c:v>1.1772311343371831</c:v>
                </c:pt>
                <c:pt idx="62">
                  <c:v>1.1754652876356773</c:v>
                </c:pt>
                <c:pt idx="63">
                  <c:v>1.2120222580811466</c:v>
                </c:pt>
                <c:pt idx="64">
                  <c:v>1.2149311115005412</c:v>
                </c:pt>
                <c:pt idx="65">
                  <c:v>1.2222206981695445</c:v>
                </c:pt>
                <c:pt idx="66">
                  <c:v>1.2533873259728681</c:v>
                </c:pt>
                <c:pt idx="67">
                  <c:v>1.2583489223720981</c:v>
                </c:pt>
                <c:pt idx="68">
                  <c:v>1.2838934054962516</c:v>
                </c:pt>
                <c:pt idx="69">
                  <c:v>1.2516676810182956</c:v>
                </c:pt>
                <c:pt idx="70">
                  <c:v>1.2974787181435652</c:v>
                </c:pt>
                <c:pt idx="71">
                  <c:v>1.2924185511428052</c:v>
                </c:pt>
                <c:pt idx="72">
                  <c:v>1.3295109635606037</c:v>
                </c:pt>
                <c:pt idx="73">
                  <c:v>1.2564129883219819</c:v>
                </c:pt>
                <c:pt idx="74">
                  <c:v>1.2435975758410978</c:v>
                </c:pt>
                <c:pt idx="75">
                  <c:v>1.27120544202477</c:v>
                </c:pt>
                <c:pt idx="76">
                  <c:v>1.2483237440683241</c:v>
                </c:pt>
                <c:pt idx="77">
                  <c:v>1.2219841130684825</c:v>
                </c:pt>
                <c:pt idx="78">
                  <c:v>1.1795812643450063</c:v>
                </c:pt>
                <c:pt idx="79">
                  <c:v>1.2350477704732898</c:v>
                </c:pt>
                <c:pt idx="80">
                  <c:v>1.2104703198408713</c:v>
                </c:pt>
                <c:pt idx="81">
                  <c:v>1.1642303536229499</c:v>
                </c:pt>
                <c:pt idx="82">
                  <c:v>1.1934525354988859</c:v>
                </c:pt>
                <c:pt idx="83">
                  <c:v>1.2092061089674713</c:v>
                </c:pt>
                <c:pt idx="84">
                  <c:v>1.1637399592702944</c:v>
                </c:pt>
                <c:pt idx="85">
                  <c:v>1.1904018527006552</c:v>
                </c:pt>
                <c:pt idx="86">
                  <c:v>1.1807595976937799</c:v>
                </c:pt>
                <c:pt idx="87">
                  <c:v>1.2113412712740488</c:v>
                </c:pt>
                <c:pt idx="88">
                  <c:v>1.2067381744432073</c:v>
                </c:pt>
                <c:pt idx="89">
                  <c:v>1.2055314362687641</c:v>
                </c:pt>
                <c:pt idx="90">
                  <c:v>1.2085452648594359</c:v>
                </c:pt>
                <c:pt idx="91">
                  <c:v>1.2159675456035699</c:v>
                </c:pt>
                <c:pt idx="92">
                  <c:v>1.2028350961110512</c:v>
                </c:pt>
                <c:pt idx="93">
                  <c:v>1.1838303015924965</c:v>
                </c:pt>
                <c:pt idx="94">
                  <c:v>1.1563654385955506</c:v>
                </c:pt>
                <c:pt idx="95">
                  <c:v>1.2067829717183167</c:v>
                </c:pt>
                <c:pt idx="96">
                  <c:v>1.2479342710539114</c:v>
                </c:pt>
                <c:pt idx="97">
                  <c:v>1.2516360184821385</c:v>
                </c:pt>
                <c:pt idx="98">
                  <c:v>1.2759177572406921</c:v>
                </c:pt>
                <c:pt idx="99">
                  <c:v>1.3164919419209462</c:v>
                </c:pt>
                <c:pt idx="100">
                  <c:v>1.2845011877322672</c:v>
                </c:pt>
                <c:pt idx="101">
                  <c:v>1.2974746497283631</c:v>
                </c:pt>
                <c:pt idx="102">
                  <c:v>1.3197912137036911</c:v>
                </c:pt>
                <c:pt idx="103">
                  <c:v>1.3433495528578627</c:v>
                </c:pt>
                <c:pt idx="104">
                  <c:v>1.3485886161140084</c:v>
                </c:pt>
                <c:pt idx="105">
                  <c:v>1.3556012769178014</c:v>
                </c:pt>
                <c:pt idx="106">
                  <c:v>1.3442142261916918</c:v>
                </c:pt>
                <c:pt idx="107">
                  <c:v>1.3989237451976937</c:v>
                </c:pt>
                <c:pt idx="108">
                  <c:v>1.3590544184595594</c:v>
                </c:pt>
                <c:pt idx="109">
                  <c:v>1.3881682860699629</c:v>
                </c:pt>
                <c:pt idx="110">
                  <c:v>1.3910834394707099</c:v>
                </c:pt>
                <c:pt idx="111">
                  <c:v>1.3287629013824223</c:v>
                </c:pt>
                <c:pt idx="112">
                  <c:v>1.2911589112732997</c:v>
                </c:pt>
                <c:pt idx="113">
                  <c:v>1.3318304169784088</c:v>
                </c:pt>
                <c:pt idx="114">
                  <c:v>1.3263699122687973</c:v>
                </c:pt>
                <c:pt idx="115">
                  <c:v>1.3516249901758293</c:v>
                </c:pt>
                <c:pt idx="116">
                  <c:v>1.3528414526669874</c:v>
                </c:pt>
                <c:pt idx="117">
                  <c:v>1.3953206742807309</c:v>
                </c:pt>
                <c:pt idx="118">
                  <c:v>1.437319826576581</c:v>
                </c:pt>
                <c:pt idx="119">
                  <c:v>1.4401944662297341</c:v>
                </c:pt>
                <c:pt idx="120">
                  <c:v>1.4486916135804895</c:v>
                </c:pt>
                <c:pt idx="121">
                  <c:v>1.4750919298223473</c:v>
                </c:pt>
                <c:pt idx="122">
                  <c:v>1.5116918468072915</c:v>
                </c:pt>
                <c:pt idx="123">
                  <c:v>1.4346014704807355</c:v>
                </c:pt>
                <c:pt idx="124">
                  <c:v>1.518320178229762</c:v>
                </c:pt>
                <c:pt idx="125">
                  <c:v>1.5733641478685367</c:v>
                </c:pt>
                <c:pt idx="126">
                  <c:v>1.5822979858727357</c:v>
                </c:pt>
                <c:pt idx="127">
                  <c:v>1.5681047109789676</c:v>
                </c:pt>
              </c:numCache>
            </c:numRef>
          </c:val>
          <c:smooth val="0"/>
          <c:extLst>
            <c:ext xmlns:c16="http://schemas.microsoft.com/office/drawing/2014/chart" uri="{C3380CC4-5D6E-409C-BE32-E72D297353CC}">
              <c16:uniqueId val="{00000000-667D-4B47-A104-311D517F7B75}"/>
            </c:ext>
          </c:extLst>
        </c:ser>
        <c:dLbls>
          <c:showLegendKey val="0"/>
          <c:showVal val="0"/>
          <c:showCatName val="0"/>
          <c:showSerName val="0"/>
          <c:showPercent val="0"/>
          <c:showBubbleSize val="0"/>
        </c:dLbls>
        <c:smooth val="0"/>
        <c:axId val="1717237183"/>
        <c:axId val="111903199"/>
      </c:lineChart>
      <c:dateAx>
        <c:axId val="1717237183"/>
        <c:scaling>
          <c:orientation val="minMax"/>
        </c:scaling>
        <c:delete val="0"/>
        <c:axPos val="b"/>
        <c:numFmt formatCode="mmm/yy" sourceLinked="0"/>
        <c:majorTickMark val="none"/>
        <c:minorTickMark val="none"/>
        <c:tickLblPos val="nextTo"/>
        <c:spPr>
          <a:noFill/>
          <a:ln w="3175" cap="flat" cmpd="sng" algn="ctr">
            <a:solidFill>
              <a:schemeClr val="bg1">
                <a:lumMod val="65000"/>
              </a:schemeClr>
            </a:solidFill>
            <a:round/>
          </a:ln>
          <a:effectLst/>
        </c:spPr>
        <c:txPr>
          <a:bodyPr rot="-5400000" spcFirstLastPara="1" vertOverflow="ellipsis" wrap="square" anchor="ctr" anchorCtr="1"/>
          <a:lstStyle/>
          <a:p>
            <a:pPr>
              <a:defRPr sz="700" b="0" i="0" u="none" strike="noStrike" kern="1200" baseline="0">
                <a:solidFill>
                  <a:schemeClr val="tx1"/>
                </a:solidFill>
                <a:latin typeface="+mn-lt"/>
                <a:ea typeface="+mn-ea"/>
                <a:cs typeface="+mn-cs"/>
              </a:defRPr>
            </a:pPr>
            <a:endParaRPr lang="de-DE"/>
          </a:p>
        </c:txPr>
        <c:crossAx val="111903199"/>
        <c:crosses val="autoZero"/>
        <c:auto val="1"/>
        <c:lblOffset val="100"/>
        <c:baseTimeUnit val="months"/>
        <c:majorUnit val="1"/>
        <c:majorTimeUnit val="years"/>
      </c:dateAx>
      <c:valAx>
        <c:axId val="111903199"/>
        <c:scaling>
          <c:orientation val="minMax"/>
          <c:max val="1.5"/>
          <c:min val="0.9"/>
        </c:scaling>
        <c:delete val="0"/>
        <c:axPos val="l"/>
        <c:majorGridlines>
          <c:spPr>
            <a:ln w="3175" cap="flat" cmpd="sng" algn="ctr">
              <a:solidFill>
                <a:schemeClr val="bg1">
                  <a:lumMod val="6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de-DE"/>
          </a:p>
        </c:txPr>
        <c:crossAx val="1717237183"/>
        <c:crosses val="autoZero"/>
        <c:crossBetween val="between"/>
        <c:majorUnit val="5.000000000000001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81144037027447"/>
          <c:y val="0.16666666666666666"/>
          <c:w val="0.8757731626770392"/>
          <c:h val="0.77222222222222225"/>
        </c:manualLayout>
      </c:layout>
      <c:barChart>
        <c:barDir val="col"/>
        <c:grouping val="clustered"/>
        <c:varyColors val="0"/>
        <c:ser>
          <c:idx val="0"/>
          <c:order val="0"/>
          <c:tx>
            <c:strRef>
              <c:f>Tabelle1!$B$1</c:f>
              <c:strCache>
                <c:ptCount val="1"/>
                <c:pt idx="0">
                  <c:v>Musterdepot</c:v>
                </c:pt>
              </c:strCache>
            </c:strRef>
          </c:tx>
          <c:spPr>
            <a:solidFill>
              <a:schemeClr val="accent3"/>
            </a:solidFill>
            <a:ln>
              <a:solidFill>
                <a:schemeClr val="accent3"/>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Tabelle1!$B$4:$B$8</c:f>
              <c:numCache>
                <c:formatCode>0.00%</c:formatCode>
                <c:ptCount val="5"/>
                <c:pt idx="0">
                  <c:v>0.1321</c:v>
                </c:pt>
                <c:pt idx="1">
                  <c:v>-0.12570000000000001</c:v>
                </c:pt>
                <c:pt idx="2">
                  <c:v>7.2900000000000006E-2</c:v>
                </c:pt>
                <c:pt idx="3">
                  <c:v>8.8999999999999996E-2</c:v>
                </c:pt>
                <c:pt idx="4">
                  <c:v>6.59E-2</c:v>
                </c:pt>
              </c:numCache>
            </c:numRef>
          </c:val>
          <c:extLst>
            <c:ext xmlns:c16="http://schemas.microsoft.com/office/drawing/2014/chart" uri="{C3380CC4-5D6E-409C-BE32-E72D297353CC}">
              <c16:uniqueId val="{00000000-D28F-4E9D-8866-2DFCFDB79BD8}"/>
            </c:ext>
          </c:extLst>
        </c:ser>
        <c:ser>
          <c:idx val="1"/>
          <c:order val="1"/>
          <c:tx>
            <c:strRef>
              <c:f>Tabelle1!$C$1</c:f>
              <c:strCache>
                <c:ptCount val="1"/>
                <c:pt idx="0">
                  <c:v>Benchmark</c:v>
                </c:pt>
              </c:strCache>
            </c:strRef>
          </c:tx>
          <c:spPr>
            <a:solidFill>
              <a:schemeClr val="accent5"/>
            </a:solidFill>
            <a:ln>
              <a:solidFill>
                <a:schemeClr val="accent5"/>
              </a:solidFill>
            </a:ln>
            <a:effectLst/>
          </c:spPr>
          <c:invertIfNegative val="0"/>
          <c:dLbls>
            <c:spPr>
              <a:solidFill>
                <a:schemeClr val="bg1"/>
              </a:solid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Tabelle1!$A$4:$A$8</c:f>
              <c:numCache>
                <c:formatCode>General</c:formatCode>
                <c:ptCount val="5"/>
                <c:pt idx="0">
                  <c:v>2021</c:v>
                </c:pt>
                <c:pt idx="1">
                  <c:v>2022</c:v>
                </c:pt>
                <c:pt idx="2">
                  <c:v>2023</c:v>
                </c:pt>
                <c:pt idx="3">
                  <c:v>2024</c:v>
                </c:pt>
                <c:pt idx="4">
                  <c:v>2025</c:v>
                </c:pt>
              </c:numCache>
            </c:numRef>
          </c:cat>
          <c:val>
            <c:numRef>
              <c:f>Tabelle1!$C$4:$C$8</c:f>
              <c:numCache>
                <c:formatCode>0.00%</c:formatCode>
                <c:ptCount val="5"/>
                <c:pt idx="0">
                  <c:v>0.1338</c:v>
                </c:pt>
                <c:pt idx="1">
                  <c:v>-0.14099999999999999</c:v>
                </c:pt>
                <c:pt idx="2">
                  <c:v>0.12989999999999999</c:v>
                </c:pt>
                <c:pt idx="3">
                  <c:v>0.13789999999999999</c:v>
                </c:pt>
                <c:pt idx="4">
                  <c:v>4.3499999999999997E-2</c:v>
                </c:pt>
              </c:numCache>
            </c:numRef>
          </c:val>
          <c:extLst>
            <c:ext xmlns:c16="http://schemas.microsoft.com/office/drawing/2014/chart" uri="{C3380CC4-5D6E-409C-BE32-E72D297353CC}">
              <c16:uniqueId val="{00000001-D28F-4E9D-8866-2DFCFDB79BD8}"/>
            </c:ext>
          </c:extLst>
        </c:ser>
        <c:dLbls>
          <c:dLblPos val="outEnd"/>
          <c:showLegendKey val="0"/>
          <c:showVal val="1"/>
          <c:showCatName val="0"/>
          <c:showSerName val="0"/>
          <c:showPercent val="0"/>
          <c:showBubbleSize val="0"/>
        </c:dLbls>
        <c:gapWidth val="60"/>
        <c:overlap val="-40"/>
        <c:axId val="196509247"/>
        <c:axId val="1801327183"/>
      </c:barChart>
      <c:catAx>
        <c:axId val="196509247"/>
        <c:scaling>
          <c:orientation val="minMax"/>
        </c:scaling>
        <c:delete val="0"/>
        <c:axPos val="b"/>
        <c:numFmt formatCode="General" sourceLinked="1"/>
        <c:majorTickMark val="none"/>
        <c:minorTickMark val="none"/>
        <c:tickLblPos val="low"/>
        <c:spPr>
          <a:noFill/>
          <a:ln w="3175" cap="flat" cmpd="sng" algn="ctr">
            <a:solidFill>
              <a:schemeClr val="bg1">
                <a:lumMod val="65000"/>
              </a:schemeClr>
            </a:solidFill>
            <a:round/>
          </a:ln>
          <a:effectLst/>
        </c:spPr>
        <c:txPr>
          <a:bodyPr rot="-60000000" spcFirstLastPara="1" vertOverflow="ellipsis" vert="horz" wrap="square" anchor="ctr" anchorCtr="1"/>
          <a:lstStyle/>
          <a:p>
            <a:pPr>
              <a:defRPr sz="700" b="1" i="0" u="none" strike="noStrike" kern="1200" baseline="0">
                <a:solidFill>
                  <a:schemeClr val="tx1">
                    <a:lumMod val="65000"/>
                    <a:lumOff val="35000"/>
                  </a:schemeClr>
                </a:solidFill>
                <a:latin typeface="+mn-lt"/>
                <a:ea typeface="+mn-ea"/>
                <a:cs typeface="+mn-cs"/>
              </a:defRPr>
            </a:pPr>
            <a:endParaRPr lang="de-DE"/>
          </a:p>
        </c:txPr>
        <c:crossAx val="1801327183"/>
        <c:crosses val="autoZero"/>
        <c:auto val="1"/>
        <c:lblAlgn val="ctr"/>
        <c:lblOffset val="100"/>
        <c:noMultiLvlLbl val="0"/>
      </c:catAx>
      <c:valAx>
        <c:axId val="1801327183"/>
        <c:scaling>
          <c:orientation val="minMax"/>
        </c:scaling>
        <c:delete val="0"/>
        <c:axPos val="l"/>
        <c:majorGridlines>
          <c:spPr>
            <a:ln w="3175" cap="flat" cmpd="sng" algn="ctr">
              <a:solidFill>
                <a:schemeClr val="bg1">
                  <a:lumMod val="6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de-DE"/>
          </a:p>
        </c:txPr>
        <c:crossAx val="196509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0.42396</cdr:x>
      <cdr:y>0.92383</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24784" y="261966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20.07.2026</a:t>
          </a:fld>
          <a:endParaRPr lang="de-DE" sz="600" b="0">
            <a:solidFill>
              <a:schemeClr val="bg1">
                <a:lumMod val="50000"/>
              </a:schemeClr>
            </a:solidFill>
          </a:endParaRPr>
        </a:p>
      </cdr:txBody>
    </cdr:sp>
  </cdr:relSizeAnchor>
  <cdr:relSizeAnchor xmlns:cdr="http://schemas.openxmlformats.org/drawingml/2006/chartDrawing">
    <cdr:from>
      <cdr:x>0</cdr:x>
      <cdr:y>0.00534</cdr:y>
    </cdr:from>
    <cdr:to>
      <cdr:x>0.99737</cdr:x>
      <cdr:y>0.07503</cdr:y>
    </cdr:to>
    <cdr:sp macro="" textlink="">
      <cdr:nvSpPr>
        <cdr:cNvPr id="4" name="Rechteck 3">
          <a:extLst xmlns:a="http://schemas.openxmlformats.org/drawingml/2006/main">
            <a:ext uri="{FF2B5EF4-FFF2-40B4-BE49-F238E27FC236}">
              <a16:creationId xmlns:a16="http://schemas.microsoft.com/office/drawing/2014/main" id="{CA353F3C-C16C-48DD-C632-28129586271A}"/>
            </a:ext>
          </a:extLst>
        </cdr:cNvPr>
        <cdr:cNvSpPr/>
      </cdr:nvSpPr>
      <cdr:spPr>
        <a:xfrm xmlns:a="http://schemas.openxmlformats.org/drawingml/2006/main">
          <a:off x="0" y="16555"/>
          <a:ext cx="3955285"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nchorCtr="0"/>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de-DE" sz="1000" b="1"/>
            <a:t>AKTUELLE STRUKTUR</a:t>
          </a:r>
        </a:p>
      </cdr:txBody>
    </cdr:sp>
  </cdr:relSizeAnchor>
</c:userShapes>
</file>

<file path=ppt/drawings/drawing2.xml><?xml version="1.0" encoding="utf-8"?>
<c:userShapes xmlns:c="http://schemas.openxmlformats.org/drawingml/2006/chart">
  <cdr:relSizeAnchor xmlns:cdr="http://schemas.openxmlformats.org/drawingml/2006/chartDrawing">
    <cdr:from>
      <cdr:x>0.00175</cdr:x>
      <cdr:y>0</cdr:y>
    </cdr:from>
    <cdr:to>
      <cdr:x>0.99912</cdr:x>
      <cdr:y>0.06971</cdr:y>
    </cdr:to>
    <cdr:sp macro="" textlink="">
      <cdr:nvSpPr>
        <cdr:cNvPr id="2" name="Rechteck 1">
          <a:extLst xmlns:a="http://schemas.openxmlformats.org/drawingml/2006/main">
            <a:ext uri="{FF2B5EF4-FFF2-40B4-BE49-F238E27FC236}">
              <a16:creationId xmlns:a16="http://schemas.microsoft.com/office/drawing/2014/main" id="{FF85F3A9-F9C0-D614-E01A-7C226F277AFD}"/>
            </a:ext>
          </a:extLst>
        </cdr:cNvPr>
        <cdr:cNvSpPr/>
      </cdr:nvSpPr>
      <cdr:spPr>
        <a:xfrm xmlns:a="http://schemas.openxmlformats.org/drawingml/2006/main">
          <a:off x="6940" y="0"/>
          <a:ext cx="3955500" cy="216000"/>
        </a:xfrm>
        <a:prstGeom xmlns:a="http://schemas.openxmlformats.org/drawingml/2006/main" prst="rect">
          <a:avLst/>
        </a:prstGeom>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nchor="ctr" anchorCtr="0"/>
        <a:lstStyle xmlns:a="http://schemas.openxmlformats.org/drawingml/2006/main"/>
        <a:p xmlns:a="http://schemas.openxmlformats.org/drawingml/2006/main">
          <a:r>
            <a:rPr lang="de-DE" sz="1000" b="1"/>
            <a:t>AKTUELLE STRUKTUR</a:t>
          </a:r>
        </a:p>
      </cdr:txBody>
    </cdr:sp>
  </cdr:relSizeAnchor>
  <cdr:relSizeAnchor xmlns:cdr="http://schemas.openxmlformats.org/drawingml/2006/chartDrawing">
    <cdr:from>
      <cdr:x>0.42302</cdr:x>
      <cdr:y>0.9239</cdr:y>
    </cdr:from>
    <cdr:to>
      <cdr:x>1</cdr:x>
      <cdr:y>1</cdr:y>
    </cdr:to>
    <cdr:sp macro="" textlink="">
      <cdr:nvSpPr>
        <cdr:cNvPr id="3" name="Rechteck 2">
          <a:extLst xmlns:a="http://schemas.openxmlformats.org/drawingml/2006/main">
            <a:ext uri="{FF2B5EF4-FFF2-40B4-BE49-F238E27FC236}">
              <a16:creationId xmlns:a16="http://schemas.microsoft.com/office/drawing/2014/main" id="{B486B4D9-CDB7-ECCC-BB44-8564EB067353}"/>
            </a:ext>
          </a:extLst>
        </cdr:cNvPr>
        <cdr:cNvSpPr/>
      </cdr:nvSpPr>
      <cdr:spPr>
        <a:xfrm xmlns:a="http://schemas.openxmlformats.org/drawingml/2006/main">
          <a:off x="1319704" y="2622208"/>
          <a:ext cx="1800000" cy="2160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nchor="t" anchorCtr="0"/>
        <a:lstStyle xmlns:a="http://schemas.openxmlformats.org/drawingml/2006/main"/>
        <a:p xmlns:a="http://schemas.openxmlformats.org/drawingml/2006/main">
          <a:pPr algn="r"/>
          <a:fld id="{46B3E4B3-49D3-4C7E-B0B8-6570E474C5AF}" type="TxLink">
            <a:rPr lang="en-US" sz="600" b="0" i="0" u="none" strike="noStrike">
              <a:solidFill>
                <a:schemeClr val="bg1">
                  <a:lumMod val="50000"/>
                </a:schemeClr>
              </a:solidFill>
              <a:latin typeface="Open Sans"/>
              <a:ea typeface="Open Sans"/>
              <a:cs typeface="Open Sans"/>
            </a:rPr>
            <a:pPr algn="r"/>
            <a:t>Quelle: Eigene Berechnung Stand: 20.07.2026</a:t>
          </a:fld>
          <a:endParaRPr lang="de-DE" sz="600" b="0">
            <a:solidFill>
              <a:schemeClr val="bg1">
                <a:lumMod val="50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7CD71-7110-4B19-8EA5-90FE5CA1B0D6}" type="datetimeFigureOut">
              <a:rPr lang="de-DE" smtClean="0"/>
              <a:t>20.07.2026</a:t>
            </a:fld>
            <a:endParaRPr lang="de-DE"/>
          </a:p>
        </p:txBody>
      </p:sp>
      <p:sp>
        <p:nvSpPr>
          <p:cNvPr id="4" name="Folienbildplatzhalter 3"/>
          <p:cNvSpPr>
            <a:spLocks noGrp="1" noRot="1" noChangeAspect="1"/>
          </p:cNvSpPr>
          <p:nvPr>
            <p:ph type="sldImg" idx="2"/>
          </p:nvPr>
        </p:nvSpPr>
        <p:spPr>
          <a:xfrm>
            <a:off x="1009650" y="1143000"/>
            <a:ext cx="48387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90148-D400-40F3-B43F-3D48F1E65470}" type="slidenum">
              <a:rPr lang="de-DE" smtClean="0"/>
              <a:t>‹Nr.›</a:t>
            </a:fld>
            <a:endParaRPr lang="de-DE"/>
          </a:p>
        </p:txBody>
      </p:sp>
    </p:spTree>
    <p:extLst>
      <p:ext uri="{BB962C8B-B14F-4D97-AF65-F5344CB8AC3E}">
        <p14:creationId xmlns:p14="http://schemas.microsoft.com/office/powerpoint/2010/main" val="2529310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p:cNvCxnSpPr>
          <p:nvPr userDrawn="1"/>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5508"/>
            <a:ext cx="6626225" cy="303222"/>
          </a:xfrm>
        </p:spPr>
        <p:txBody>
          <a:bodyPr/>
          <a:lstStyle>
            <a:lvl1pPr marL="0" indent="0" algn="l">
              <a:buNone/>
              <a:defRPr sz="1400" b="0" cap="all" baseline="0">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1400"/>
            <a:ext cx="6626225" cy="931775"/>
          </a:xfrm>
        </p:spPr>
        <p:txBody>
          <a:bodyPr tIns="0" anchor="t" anchorCtr="0"/>
          <a:lstStyle>
            <a:lvl1pPr algn="l">
              <a:lnSpc>
                <a:spcPts val="3450"/>
              </a:lnSpc>
              <a:defRPr sz="2770"/>
            </a:lvl1pPr>
          </a:lstStyle>
          <a:p>
            <a:r>
              <a:rPr lang="de-DE" dirty="0"/>
              <a:t>Mastertitelformat bearbeiten</a:t>
            </a:r>
          </a:p>
        </p:txBody>
      </p:sp>
    </p:spTree>
    <p:extLst>
      <p:ext uri="{BB962C8B-B14F-4D97-AF65-F5344CB8AC3E}">
        <p14:creationId xmlns:p14="http://schemas.microsoft.com/office/powerpoint/2010/main" val="1802536731"/>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elfolie">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pic>
        <p:nvPicPr>
          <p:cNvPr id="10" name="Logo">
            <a:extLst>
              <a:ext uri="{FF2B5EF4-FFF2-40B4-BE49-F238E27FC236}">
                <a16:creationId xmlns:a16="http://schemas.microsoft.com/office/drawing/2014/main" id="{AD26BE29-3DD0-DD2F-4205-A4E8DAEB2E21}"/>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02713" y="5699126"/>
            <a:ext cx="1979991" cy="604930"/>
          </a:xfrm>
          <a:prstGeom prst="rect">
            <a:avLst/>
          </a:prstGeom>
        </p:spPr>
      </p:pic>
      <p:sp>
        <p:nvSpPr>
          <p:cNvPr id="2" name="Untertitel 1">
            <a:extLst>
              <a:ext uri="{FF2B5EF4-FFF2-40B4-BE49-F238E27FC236}">
                <a16:creationId xmlns:a16="http://schemas.microsoft.com/office/drawing/2014/main" id="{0759291D-E925-7A7C-927A-DB96BB0BBF88}"/>
              </a:ext>
            </a:extLst>
          </p:cNvPr>
          <p:cNvSpPr>
            <a:spLocks noGrp="1"/>
          </p:cNvSpPr>
          <p:nvPr>
            <p:ph type="subTitle" idx="1"/>
          </p:nvPr>
        </p:nvSpPr>
        <p:spPr>
          <a:xfrm>
            <a:off x="1006475" y="2305508"/>
            <a:ext cx="6626225" cy="303222"/>
          </a:xfrm>
        </p:spPr>
        <p:txBody>
          <a:bodyPr/>
          <a:lstStyle>
            <a:lvl1pPr>
              <a:defRPr sz="1400"/>
            </a:lvl1pPr>
          </a:lstStyle>
          <a:p>
            <a:r>
              <a:rPr lang="de-DE" dirty="0"/>
              <a:t>Unabhängig. Werteorientiert. Persönlich.</a:t>
            </a:r>
          </a:p>
        </p:txBody>
      </p:sp>
      <p:sp>
        <p:nvSpPr>
          <p:cNvPr id="3" name="Titel 2">
            <a:extLst>
              <a:ext uri="{FF2B5EF4-FFF2-40B4-BE49-F238E27FC236}">
                <a16:creationId xmlns:a16="http://schemas.microsoft.com/office/drawing/2014/main" id="{394C6BC0-9A88-575F-3B5B-DE399B2C5D10}"/>
              </a:ext>
            </a:extLst>
          </p:cNvPr>
          <p:cNvSpPr>
            <a:spLocks noGrp="1"/>
          </p:cNvSpPr>
          <p:nvPr>
            <p:ph type="ctrTitle"/>
          </p:nvPr>
        </p:nvSpPr>
        <p:spPr>
          <a:xfrm>
            <a:off x="1006475" y="1041400"/>
            <a:ext cx="6626225" cy="931775"/>
          </a:xfrm>
        </p:spPr>
        <p:txBody>
          <a:bodyPr/>
          <a:lstStyle>
            <a:lvl1pPr>
              <a:defRPr sz="2000"/>
            </a:lvl1pPr>
          </a:lstStyle>
          <a:p>
            <a:r>
              <a:rPr lang="de-DE" dirty="0"/>
              <a:t>Unsere ESG-Vermögensverwaltung </a:t>
            </a:r>
            <a:br>
              <a:rPr lang="de-DE" dirty="0"/>
            </a:br>
            <a:r>
              <a:rPr lang="de-DE" dirty="0"/>
              <a:t>auf ETF-Basis</a:t>
            </a:r>
          </a:p>
        </p:txBody>
      </p:sp>
    </p:spTree>
    <p:extLst>
      <p:ext uri="{BB962C8B-B14F-4D97-AF65-F5344CB8AC3E}">
        <p14:creationId xmlns:p14="http://schemas.microsoft.com/office/powerpoint/2010/main" val="2513005283"/>
      </p:ext>
    </p:extLst>
  </p:cSld>
  <p:clrMapOvr>
    <a:masterClrMapping/>
  </p:clrMapOvr>
  <p:extLst>
    <p:ext uri="{DCECCB84-F9BA-43D5-87BE-67443E8EF086}">
      <p15:sldGuideLst xmlns:p15="http://schemas.microsoft.com/office/powerpoint/2012/main">
        <p15:guide id="1" orient="horz" pos="2097">
          <p15:clr>
            <a:srgbClr val="FBAE40"/>
          </p15:clr>
        </p15:guide>
        <p15:guide id="2" pos="32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sverzeichnis">
    <p:bg>
      <p:bgPr>
        <a:solidFill>
          <a:schemeClr val="bg1"/>
        </a:solidFill>
        <a:effectLst/>
      </p:bgPr>
    </p:bg>
    <p:spTree>
      <p:nvGrpSpPr>
        <p:cNvPr id="1" name=""/>
        <p:cNvGrpSpPr/>
        <p:nvPr/>
      </p:nvGrpSpPr>
      <p:grpSpPr>
        <a:xfrm>
          <a:off x="0" y="0"/>
          <a:ext cx="0" cy="0"/>
          <a:chOff x="0" y="0"/>
          <a:chExt cx="0" cy="0"/>
        </a:xfrm>
      </p:grpSpPr>
      <p:pic>
        <p:nvPicPr>
          <p:cNvPr id="8" name="Bild" descr="Ein Bild, das Kunst, Bild, Braun, draußen enthält.&#10;&#10;Automatisch generierte Beschreibung">
            <a:extLst>
              <a:ext uri="{FF2B5EF4-FFF2-40B4-BE49-F238E27FC236}">
                <a16:creationId xmlns:a16="http://schemas.microsoft.com/office/drawing/2014/main" id="{9264BB79-86C2-7714-48D1-D0D8AA044F3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0439400" cy="2882900"/>
          </a:xfrm>
          <a:custGeom>
            <a:avLst/>
            <a:gdLst>
              <a:gd name="connsiteX0" fmla="*/ 0 w 10439400"/>
              <a:gd name="connsiteY0" fmla="*/ 0 h 2882900"/>
              <a:gd name="connsiteX1" fmla="*/ 10439400 w 10439400"/>
              <a:gd name="connsiteY1" fmla="*/ 0 h 2882900"/>
              <a:gd name="connsiteX2" fmla="*/ 10439400 w 10439400"/>
              <a:gd name="connsiteY2" fmla="*/ 2882900 h 2882900"/>
              <a:gd name="connsiteX3" fmla="*/ 10439399 w 10439400"/>
              <a:gd name="connsiteY3" fmla="*/ 2882900 h 2882900"/>
              <a:gd name="connsiteX4" fmla="*/ 10439399 w 10439400"/>
              <a:gd name="connsiteY4" fmla="*/ 1354710 h 2882900"/>
              <a:gd name="connsiteX5" fmla="*/ 1511298 w 10439400"/>
              <a:gd name="connsiteY5" fmla="*/ 1354710 h 2882900"/>
              <a:gd name="connsiteX6" fmla="*/ 1511298 w 10439400"/>
              <a:gd name="connsiteY6" fmla="*/ 2882900 h 2882900"/>
              <a:gd name="connsiteX7" fmla="*/ 0 w 10439400"/>
              <a:gd name="connsiteY7" fmla="*/ 2882900 h 288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39400" h="2882900">
                <a:moveTo>
                  <a:pt x="0" y="0"/>
                </a:moveTo>
                <a:lnTo>
                  <a:pt x="10439400" y="0"/>
                </a:lnTo>
                <a:lnTo>
                  <a:pt x="10439400" y="2882900"/>
                </a:lnTo>
                <a:lnTo>
                  <a:pt x="10439399" y="2882900"/>
                </a:lnTo>
                <a:lnTo>
                  <a:pt x="10439399" y="1354710"/>
                </a:lnTo>
                <a:lnTo>
                  <a:pt x="1511298" y="1354710"/>
                </a:lnTo>
                <a:lnTo>
                  <a:pt x="1511298" y="2882900"/>
                </a:lnTo>
                <a:lnTo>
                  <a:pt x="0" y="2882900"/>
                </a:lnTo>
                <a:close/>
              </a:path>
            </a:pathLst>
          </a:cu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2147233"/>
            <a:ext cx="7272338" cy="3685241"/>
          </a:xfrm>
        </p:spPr>
        <p:txBody>
          <a:bodyPr/>
          <a:lstStyle>
            <a:lvl1pPr>
              <a:spcBef>
                <a:spcPts val="0"/>
              </a:spcBef>
              <a:spcAft>
                <a:spcPts val="900"/>
              </a:spcAft>
              <a:tabLst>
                <a:tab pos="7264400" algn="r"/>
              </a:tabLst>
              <a:defRPr sz="13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2016000" y="1620000"/>
            <a:ext cx="7272337" cy="360000"/>
          </a:xfrm>
        </p:spPr>
        <p:txBody>
          <a:bodyPr/>
          <a:lstStyle/>
          <a:p>
            <a:r>
              <a:rPr lang="de-DE" dirty="0"/>
              <a:t>Mastertitelformat bearbeiten</a:t>
            </a:r>
          </a:p>
        </p:txBody>
      </p:sp>
      <p:pic>
        <p:nvPicPr>
          <p:cNvPr id="7" name="Grafik 6">
            <a:extLst>
              <a:ext uri="{FF2B5EF4-FFF2-40B4-BE49-F238E27FC236}">
                <a16:creationId xmlns:a16="http://schemas.microsoft.com/office/drawing/2014/main" id="{D2FD8460-3DB3-C748-B585-10EF5576BA53}"/>
              </a:ext>
            </a:extLst>
          </p:cNvPr>
          <p:cNvPicPr>
            <a:picLocks noChangeAspect="1"/>
          </p:cNvPicPr>
          <p:nvPr userDrawn="1"/>
        </p:nvPicPr>
        <p:blipFill>
          <a:blip r:embed="rId3"/>
          <a:stretch>
            <a:fillRect/>
          </a:stretch>
        </p:blipFill>
        <p:spPr>
          <a:xfrm>
            <a:off x="9057939" y="362676"/>
            <a:ext cx="1057612" cy="758721"/>
          </a:xfrm>
          <a:prstGeom prst="rect">
            <a:avLst/>
          </a:prstGeom>
        </p:spPr>
      </p:pic>
    </p:spTree>
    <p:extLst>
      <p:ext uri="{BB962C8B-B14F-4D97-AF65-F5344CB8AC3E}">
        <p14:creationId xmlns:p14="http://schemas.microsoft.com/office/powerpoint/2010/main" val="3623430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ild links Inhalt 1">
    <p:bg>
      <p:bgPr>
        <a:solidFill>
          <a:schemeClr val="bg1"/>
        </a:solidFill>
        <a:effectLst/>
      </p:bgPr>
    </p:bg>
    <p:spTree>
      <p:nvGrpSpPr>
        <p:cNvPr id="1" name=""/>
        <p:cNvGrpSpPr/>
        <p:nvPr/>
      </p:nvGrpSpPr>
      <p:grpSpPr>
        <a:xfrm>
          <a:off x="0" y="0"/>
          <a:ext cx="0" cy="0"/>
          <a:chOff x="0" y="0"/>
          <a:chExt cx="0" cy="0"/>
        </a:xfrm>
      </p:grpSpPr>
      <p:pic>
        <p:nvPicPr>
          <p:cNvPr id="5" name="Grafik 4" descr="Ein Bild, das Kleidung, Person, Schuhwerk, Mann enthält.&#10;&#10;Automatisch generierte Beschreibung">
            <a:extLst>
              <a:ext uri="{FF2B5EF4-FFF2-40B4-BE49-F238E27FC236}">
                <a16:creationId xmlns:a16="http://schemas.microsoft.com/office/drawing/2014/main" id="{A6D42F99-B026-35AD-FBC7-BE938A526564}"/>
              </a:ext>
            </a:extLst>
          </p:cNvPr>
          <p:cNvPicPr>
            <a:picLocks noChangeAspect="1"/>
          </p:cNvPicPr>
          <p:nvPr userDrawn="1"/>
        </p:nvPicPr>
        <p:blipFill>
          <a:blip r:embed="rId2">
            <a:extLst>
              <a:ext uri="{28A0092B-C50C-407E-A947-70E740481C1C}">
                <a14:useLocalDpi xmlns:a14="http://schemas.microsoft.com/office/drawing/2010/main" val="0"/>
              </a:ext>
            </a:extLst>
          </a:blip>
          <a:srcRect r="7411"/>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4462 h 6659563"/>
              <a:gd name="connsiteX3" fmla="*/ 4498975 w 5631108"/>
              <a:gd name="connsiteY3" fmla="*/ 584462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4462"/>
                </a:lnTo>
                <a:lnTo>
                  <a:pt x="4498975" y="584462"/>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88992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1">
    <p:bg>
      <p:bgPr>
        <a:solidFill>
          <a:schemeClr val="bg1"/>
        </a:solidFill>
        <a:effectLst/>
      </p:bgPr>
    </p:bg>
    <p:spTree>
      <p:nvGrpSpPr>
        <p:cNvPr id="1" name=""/>
        <p:cNvGrpSpPr/>
        <p:nvPr/>
      </p:nvGrpSpPr>
      <p:grpSpPr>
        <a:xfrm>
          <a:off x="0" y="0"/>
          <a:ext cx="0" cy="0"/>
          <a:chOff x="0" y="0"/>
          <a:chExt cx="0" cy="0"/>
        </a:xfrm>
      </p:grpSpPr>
      <p:pic>
        <p:nvPicPr>
          <p:cNvPr id="9" name="Bild" descr="Ein Bild, das hölzern, Metall, Hartholz, Holz enthält.&#10;&#10;Automatisch generierte Beschreibung">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4808292" y="0"/>
            <a:ext cx="5631108"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495396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ld links Inhalt 2">
    <p:bg>
      <p:bgPr>
        <a:solidFill>
          <a:schemeClr val="bg1"/>
        </a:solidFill>
        <a:effectLst/>
      </p:bgPr>
    </p:bg>
    <p:spTree>
      <p:nvGrpSpPr>
        <p:cNvPr id="1" name=""/>
        <p:cNvGrpSpPr/>
        <p:nvPr/>
      </p:nvGrpSpPr>
      <p:grpSpPr>
        <a:xfrm>
          <a:off x="0" y="0"/>
          <a:ext cx="0" cy="0"/>
          <a:chOff x="0" y="0"/>
          <a:chExt cx="0" cy="0"/>
        </a:xfrm>
      </p:grpSpPr>
      <p:pic>
        <p:nvPicPr>
          <p:cNvPr id="8" name="Bild" descr="Ein Bild, das Person, Kleidung, Menschliches Gesicht, Im Haus enthält.&#10;&#10;Automatisch generierte Beschreibung">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5631108"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2" y="6149482"/>
            <a:ext cx="1577376" cy="205348"/>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4224448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2">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0"/>
            <a:ext cx="5631107" cy="6659563"/>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accent1"/>
                </a:solidFill>
              </a:defRPr>
            </a:lvl1pPr>
          </a:lstStyle>
          <a:p>
            <a:fld id="{3AE71D6B-ACB6-4F4C-A895-DCAEF1760EAA}" type="slidenum">
              <a:rPr lang="de-DE" smtClean="0"/>
              <a:pPr/>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54622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ld links Inhalt 3">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5631107" cy="6659563"/>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8"/>
            <a:ext cx="3960813"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0404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3">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7"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1687416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 links Inhalt 4">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 name="Linie unten">
            <a:extLst>
              <a:ext uri="{FF2B5EF4-FFF2-40B4-BE49-F238E27FC236}">
                <a16:creationId xmlns:a16="http://schemas.microsoft.com/office/drawing/2014/main" id="{551D5771-5F33-1B94-F572-1D3F5C78F789}"/>
              </a:ext>
            </a:extLst>
          </p:cNvPr>
          <p:cNvCxnSpPr>
            <a:cxnSpLocks noGrp="1" noRot="1" noMove="1" noResize="1" noEditPoints="1" noAdjustHandles="1" noChangeArrowheads="1" noChangeShapeType="1"/>
          </p:cNvCxnSpPr>
          <p:nvPr userDrawn="1"/>
        </p:nvCxnSpPr>
        <p:spPr>
          <a:xfrm>
            <a:off x="5327650" y="4289818"/>
            <a:ext cx="478789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2">
            <a:extLst>
              <a:ext uri="{FF2B5EF4-FFF2-40B4-BE49-F238E27FC236}">
                <a16:creationId xmlns:a16="http://schemas.microsoft.com/office/drawing/2014/main" id="{2334F1FD-34A0-6C6F-61E6-A156D657FC55}"/>
              </a:ext>
            </a:extLst>
          </p:cNvPr>
          <p:cNvSpPr>
            <a:spLocks noGrp="1" noRot="1" noMove="1" noResize="1" noEditPoints="1" noAdjustHandles="1" noChangeArrowheads="1" noChangeShapeType="1"/>
          </p:cNvSpPr>
          <p:nvPr>
            <p:ph sz="quarter" idx="13"/>
          </p:nvPr>
        </p:nvSpPr>
        <p:spPr>
          <a:xfrm>
            <a:off x="5327650" y="4759325"/>
            <a:ext cx="4787900" cy="1304925"/>
          </a:xfrm>
        </p:spPr>
        <p:txBody>
          <a:bodyPr/>
          <a:lstStyle>
            <a:lvl2pPr>
              <a:tabLst>
                <a:tab pos="1798638" algn="l"/>
              </a:tabLs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411639"/>
            <a:ext cx="4787900" cy="2878180"/>
          </a:xfrm>
        </p:spPr>
        <p:txBody>
          <a:bodyPr/>
          <a:lstStyle>
            <a:lvl1pPr>
              <a:spcBef>
                <a:spcPts val="1600"/>
              </a:spcBef>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3342874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d links Inhalt 5">
    <p:bg>
      <p:bgPr>
        <a:solidFill>
          <a:schemeClr val="bg1"/>
        </a:solidFill>
        <a:effectLst/>
      </p:bgPr>
    </p:bg>
    <p:spTree>
      <p:nvGrpSpPr>
        <p:cNvPr id="1" name=""/>
        <p:cNvGrpSpPr/>
        <p:nvPr/>
      </p:nvGrpSpPr>
      <p:grpSpPr>
        <a:xfrm>
          <a:off x="0" y="0"/>
          <a:ext cx="0" cy="0"/>
          <a:chOff x="0" y="0"/>
          <a:chExt cx="0" cy="0"/>
        </a:xfrm>
      </p:grpSpPr>
      <p:pic>
        <p:nvPicPr>
          <p:cNvPr id="8" name="Bild">
            <a:extLst>
              <a:ext uri="{FF2B5EF4-FFF2-40B4-BE49-F238E27FC236}">
                <a16:creationId xmlns:a16="http://schemas.microsoft.com/office/drawing/2014/main" id="{53E531CC-831C-129C-6A06-1F5C735C2C3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1"/>
            <a:ext cx="5631107" cy="6659561"/>
          </a:xfrm>
          <a:custGeom>
            <a:avLst/>
            <a:gdLst>
              <a:gd name="connsiteX0" fmla="*/ 0 w 5631108"/>
              <a:gd name="connsiteY0" fmla="*/ 0 h 6659563"/>
              <a:gd name="connsiteX1" fmla="*/ 5631108 w 5631108"/>
              <a:gd name="connsiteY1" fmla="*/ 0 h 6659563"/>
              <a:gd name="connsiteX2" fmla="*/ 5631108 w 5631108"/>
              <a:gd name="connsiteY2" fmla="*/ 587141 h 6659563"/>
              <a:gd name="connsiteX3" fmla="*/ 4498975 w 5631108"/>
              <a:gd name="connsiteY3" fmla="*/ 587141 h 6659563"/>
              <a:gd name="connsiteX4" fmla="*/ 4498975 w 5631108"/>
              <a:gd name="connsiteY4" fmla="*/ 6659563 h 6659563"/>
              <a:gd name="connsiteX5" fmla="*/ 0 w 5631108"/>
              <a:gd name="connsiteY5" fmla="*/ 6659563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587141"/>
                </a:lnTo>
                <a:lnTo>
                  <a:pt x="4498975" y="587141"/>
                </a:lnTo>
                <a:lnTo>
                  <a:pt x="4498975" y="6659563"/>
                </a:lnTo>
                <a:lnTo>
                  <a:pt x="0" y="6659563"/>
                </a:lnTo>
                <a:close/>
              </a:path>
            </a:pathLst>
          </a:custGeom>
        </p:spPr>
      </p:pic>
      <p:pic>
        <p:nvPicPr>
          <p:cNvPr id="11" name="Logo">
            <a:extLst>
              <a:ext uri="{FF2B5EF4-FFF2-40B4-BE49-F238E27FC236}">
                <a16:creationId xmlns:a16="http://schemas.microsoft.com/office/drawing/2014/main" id="{2CB1567B-0E34-9813-B8CC-81CF49ED7A2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6" y="6149482"/>
            <a:ext cx="1577369" cy="205347"/>
          </a:xfrm>
          <a:prstGeom prst="rect">
            <a:avLst/>
          </a:prstGeom>
        </p:spPr>
      </p:pic>
      <p:cxnSp>
        <p:nvCxnSpPr>
          <p:cNvPr id="12" name="Linie">
            <a:extLst>
              <a:ext uri="{FF2B5EF4-FFF2-40B4-BE49-F238E27FC236}">
                <a16:creationId xmlns:a16="http://schemas.microsoft.com/office/drawing/2014/main" id="{73340D6A-0914-C2AB-1E0B-678B45A74850}"/>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5327650" y="1676400"/>
            <a:ext cx="3960813" cy="4156076"/>
          </a:xfrm>
        </p:spPr>
        <p:txBody>
          <a:bodyPr/>
          <a:lstStyle>
            <a:lvl1pPr>
              <a:spcBef>
                <a:spcPts val="16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5328088" y="882000"/>
            <a:ext cx="3960375" cy="583680"/>
          </a:xfrm>
        </p:spPr>
        <p:txBody>
          <a:bodyPr/>
          <a:lstStyle/>
          <a:p>
            <a:r>
              <a:rPr lang="de-DE" dirty="0"/>
              <a:t>Mastertitelformat bearbeiten</a:t>
            </a:r>
          </a:p>
        </p:txBody>
      </p:sp>
    </p:spTree>
    <p:extLst>
      <p:ext uri="{BB962C8B-B14F-4D97-AF65-F5344CB8AC3E}">
        <p14:creationId xmlns:p14="http://schemas.microsoft.com/office/powerpoint/2010/main" val="38928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ild rechts Inhalt 5">
    <p:bg>
      <p:bgPr>
        <a:solidFill>
          <a:schemeClr val="bg1"/>
        </a:solidFill>
        <a:effectLst/>
      </p:bgPr>
    </p:bg>
    <p:spTree>
      <p:nvGrpSpPr>
        <p:cNvPr id="1" name=""/>
        <p:cNvGrpSpPr/>
        <p:nvPr/>
      </p:nvGrpSpPr>
      <p:grpSpPr>
        <a:xfrm>
          <a:off x="0" y="0"/>
          <a:ext cx="0" cy="0"/>
          <a:chOff x="0" y="0"/>
          <a:chExt cx="0" cy="0"/>
        </a:xfrm>
      </p:grpSpPr>
      <p:pic>
        <p:nvPicPr>
          <p:cNvPr id="9" name="Bild">
            <a:extLst>
              <a:ext uri="{FF2B5EF4-FFF2-40B4-BE49-F238E27FC236}">
                <a16:creationId xmlns:a16="http://schemas.microsoft.com/office/drawing/2014/main" id="{F7700124-9417-71D8-BECA-C46F5444C6A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4808292" y="1"/>
            <a:ext cx="5631106" cy="6659561"/>
          </a:xfrm>
          <a:custGeom>
            <a:avLst/>
            <a:gdLst>
              <a:gd name="connsiteX0" fmla="*/ 0 w 5631108"/>
              <a:gd name="connsiteY0" fmla="*/ 0 h 6659563"/>
              <a:gd name="connsiteX1" fmla="*/ 5631108 w 5631108"/>
              <a:gd name="connsiteY1" fmla="*/ 0 h 6659563"/>
              <a:gd name="connsiteX2" fmla="*/ 5631108 w 5631108"/>
              <a:gd name="connsiteY2" fmla="*/ 6659563 h 6659563"/>
              <a:gd name="connsiteX3" fmla="*/ 1167058 w 5631108"/>
              <a:gd name="connsiteY3" fmla="*/ 6659563 h 6659563"/>
              <a:gd name="connsiteX4" fmla="*/ 1167058 w 5631108"/>
              <a:gd name="connsiteY4" fmla="*/ 577516 h 6659563"/>
              <a:gd name="connsiteX5" fmla="*/ 0 w 5631108"/>
              <a:gd name="connsiteY5" fmla="*/ 577516 h 665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1108" h="6659563">
                <a:moveTo>
                  <a:pt x="0" y="0"/>
                </a:moveTo>
                <a:lnTo>
                  <a:pt x="5631108" y="0"/>
                </a:lnTo>
                <a:lnTo>
                  <a:pt x="5631108" y="6659563"/>
                </a:lnTo>
                <a:lnTo>
                  <a:pt x="1167058" y="6659563"/>
                </a:lnTo>
                <a:lnTo>
                  <a:pt x="1167058" y="577516"/>
                </a:lnTo>
                <a:lnTo>
                  <a:pt x="0" y="577516"/>
                </a:lnTo>
                <a:close/>
              </a:path>
            </a:pathLst>
          </a:custGeom>
        </p:spPr>
      </p:pic>
      <p:cxnSp>
        <p:nvCxnSpPr>
          <p:cNvPr id="10" name="Linie">
            <a:extLst>
              <a:ext uri="{FF2B5EF4-FFF2-40B4-BE49-F238E27FC236}">
                <a16:creationId xmlns:a16="http://schemas.microsoft.com/office/drawing/2014/main" id="{F51A3349-350D-3945-105D-B20B2BC98103}"/>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1" name="Logo">
            <a:extLst>
              <a:ext uri="{FF2B5EF4-FFF2-40B4-BE49-F238E27FC236}">
                <a16:creationId xmlns:a16="http://schemas.microsoft.com/office/drawing/2014/main" id="{07FE2620-AF9F-1703-4AB4-57CF1BDFD800}"/>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394863" y="6149482"/>
            <a:ext cx="1577376" cy="205348"/>
          </a:xfrm>
          <a:prstGeom prst="rect">
            <a:avLst/>
          </a:prstGeom>
        </p:spPr>
      </p:pic>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1187448" y="1411638"/>
            <a:ext cx="4140201" cy="4420838"/>
          </a:xfrm>
        </p:spPr>
        <p:txBody>
          <a:bodyPr/>
          <a:lstStyle>
            <a:lvl1pPr>
              <a:spcBef>
                <a:spcPts val="1600"/>
              </a:spcBef>
              <a:defRPr b="0">
                <a:solidFill>
                  <a:schemeClr val="tx1"/>
                </a:solidFill>
                <a:latin typeface="+mn-lt"/>
              </a:defRPr>
            </a:lvl1pPr>
            <a:lvl2pPr>
              <a:lnSpc>
                <a:spcPts val="1900"/>
              </a:lnSpc>
              <a:spcBef>
                <a:spcPts val="1800"/>
              </a:spcBef>
              <a:defRPr sz="1500" b="1">
                <a:solidFill>
                  <a:schemeClr val="accent3"/>
                </a:solidFill>
                <a:latin typeface="+mj-lt"/>
              </a:defRPr>
            </a:lvl2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a:xfrm>
            <a:off x="1187888" y="882000"/>
            <a:ext cx="3960375" cy="360000"/>
          </a:xfrm>
        </p:spPr>
        <p:txBody>
          <a:bodyPr/>
          <a:lstStyle/>
          <a:p>
            <a:r>
              <a:rPr lang="de-DE" dirty="0"/>
              <a:t>Mastertitelformat bearbeiten</a:t>
            </a:r>
          </a:p>
        </p:txBody>
      </p:sp>
    </p:spTree>
    <p:extLst>
      <p:ext uri="{BB962C8B-B14F-4D97-AF65-F5344CB8AC3E}">
        <p14:creationId xmlns:p14="http://schemas.microsoft.com/office/powerpoint/2010/main" val="2772826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1 Inhalt">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9756775"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358364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2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6443662"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lvl3pPr marL="108000" indent="-108000">
              <a:buFontTx/>
              <a:buBlip>
                <a:blip r:embed="rId2"/>
              </a:buBlip>
              <a:defRPr/>
            </a:lvl3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903287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3 Inhalte">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5" name="Inhalt 3">
            <a:extLst>
              <a:ext uri="{FF2B5EF4-FFF2-40B4-BE49-F238E27FC236}">
                <a16:creationId xmlns:a16="http://schemas.microsoft.com/office/drawing/2014/main" id="{9506A371-2FE5-4393-8549-089825558FBF}"/>
              </a:ext>
            </a:extLst>
          </p:cNvPr>
          <p:cNvSpPr>
            <a:spLocks noGrp="1" noRot="1" noMove="1" noResize="1" noEditPoints="1" noAdjustHandles="1" noChangeArrowheads="1" noChangeShapeType="1"/>
          </p:cNvSpPr>
          <p:nvPr>
            <p:ph idx="14"/>
          </p:nvPr>
        </p:nvSpPr>
        <p:spPr>
          <a:xfrm>
            <a:off x="6985002"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 2">
            <a:extLst>
              <a:ext uri="{FF2B5EF4-FFF2-40B4-BE49-F238E27FC236}">
                <a16:creationId xmlns:a16="http://schemas.microsoft.com/office/drawing/2014/main" id="{4818D79A-2268-D45E-08FC-24A90E0E65C8}"/>
              </a:ext>
            </a:extLst>
          </p:cNvPr>
          <p:cNvSpPr>
            <a:spLocks noGrp="1" noRot="1" noMove="1" noResize="1" noEditPoints="1" noAdjustHandles="1" noChangeArrowheads="1" noChangeShapeType="1"/>
          </p:cNvSpPr>
          <p:nvPr>
            <p:ph idx="13"/>
          </p:nvPr>
        </p:nvSpPr>
        <p:spPr>
          <a:xfrm>
            <a:off x="3671888"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Inhalt 1">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58774" y="1041401"/>
            <a:ext cx="3132139"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440000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inks Inhalt">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1" name="Linie unten">
            <a:extLst>
              <a:ext uri="{FF2B5EF4-FFF2-40B4-BE49-F238E27FC236}">
                <a16:creationId xmlns:a16="http://schemas.microsoft.com/office/drawing/2014/main" id="{B5CA13E5-1FAD-76FC-E7DE-8A3F9AF9CBBD}"/>
              </a:ext>
            </a:extLst>
          </p:cNvPr>
          <p:cNvCxnSpPr>
            <a:cxnSpLocks noGrp="1" noRot="1" noMove="1" noResize="1" noEditPoints="1" noAdjustHandles="1" noChangeArrowheads="1" noChangeShapeType="1"/>
          </p:cNvCxnSpPr>
          <p:nvPr userDrawn="1"/>
        </p:nvCxnSpPr>
        <p:spPr>
          <a:xfrm>
            <a:off x="3671888" y="4706378"/>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Linie oben">
            <a:extLst>
              <a:ext uri="{FF2B5EF4-FFF2-40B4-BE49-F238E27FC236}">
                <a16:creationId xmlns:a16="http://schemas.microsoft.com/office/drawing/2014/main" id="{2491C51B-9AD5-C5E7-D799-FB1EF1A23302}"/>
              </a:ext>
            </a:extLst>
          </p:cNvPr>
          <p:cNvCxnSpPr>
            <a:cxnSpLocks noGrp="1" noRot="1" noMove="1" noResize="1" noEditPoints="1" noAdjustHandles="1" noChangeArrowheads="1" noChangeShapeType="1"/>
          </p:cNvCxnSpPr>
          <p:nvPr userDrawn="1"/>
        </p:nvCxnSpPr>
        <p:spPr>
          <a:xfrm>
            <a:off x="3671888" y="1041400"/>
            <a:ext cx="644366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3671888" y="1041401"/>
            <a:ext cx="6443661" cy="3656012"/>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
            <a:extLst>
              <a:ext uri="{FF2B5EF4-FFF2-40B4-BE49-F238E27FC236}">
                <a16:creationId xmlns:a16="http://schemas.microsoft.com/office/drawing/2014/main" id="{860E9E8B-F7A7-A548-BBFA-F5137E763ED8}"/>
              </a:ext>
            </a:extLst>
          </p:cNvPr>
          <p:cNvSpPr>
            <a:spLocks noGrp="1" noRot="1" noMove="1" noResize="1" noEditPoints="1" noAdjustHandles="1" noChangeArrowheads="1" noChangeShapeType="1"/>
          </p:cNvSpPr>
          <p:nvPr>
            <p:ph type="body" sz="quarter" idx="13"/>
          </p:nvPr>
        </p:nvSpPr>
        <p:spPr>
          <a:xfrm>
            <a:off x="358775" y="1041400"/>
            <a:ext cx="3132138" cy="3656013"/>
          </a:xfrm>
        </p:spPr>
        <p:txBody>
          <a:bodyPr/>
          <a:lstStyle>
            <a:lvl1pPr marL="144000" indent="-144000">
              <a:buFontTx/>
              <a:buBlip>
                <a:blip r:embed="rId2"/>
              </a:buBlip>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874320146"/>
      </p:ext>
    </p:extLst>
  </p:cSld>
  <p:clrMapOvr>
    <a:masterClrMapping/>
  </p:clrMapOvr>
  <p:extLst>
    <p:ext uri="{DCECCB84-F9BA-43D5-87BE-67443E8EF086}">
      <p15:sldGuideLst xmlns:p15="http://schemas.microsoft.com/office/powerpoint/2012/main">
        <p15:guide id="1" orient="horz" pos="295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lagestrategie">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noGrp="1" noRot="1" noMove="1" noResize="1" noEditPoints="1" noAdjustHandles="1" noChangeArrowheads="1" noChangeShapeType="1"/>
          </p:cNvCxnSpPr>
          <p:nvPr userDrawn="1"/>
        </p:nvCxnSpPr>
        <p:spPr>
          <a:xfrm>
            <a:off x="4504801" y="5832475"/>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noGrp="1" noRot="1" noMove="1" noResize="1" noEditPoints="1" noAdjustHandles="1" noChangeArrowheads="1" noChangeShapeType="1"/>
          </p:cNvCxnSpPr>
          <p:nvPr userDrawn="1"/>
        </p:nvCxnSpPr>
        <p:spPr>
          <a:xfrm>
            <a:off x="352779" y="5832475"/>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abelle">
            <a:extLst>
              <a:ext uri="{FF2B5EF4-FFF2-40B4-BE49-F238E27FC236}">
                <a16:creationId xmlns:a16="http://schemas.microsoft.com/office/drawing/2014/main" id="{9E812005-7793-D92F-6E15-643D1E827060}"/>
              </a:ext>
            </a:extLst>
          </p:cNvPr>
          <p:cNvSpPr>
            <a:spLocks noGrp="1" noRot="1" noMove="1" noResize="1" noEditPoints="1" noAdjustHandles="1" noChangeArrowheads="1" noChangeShapeType="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9112825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nlagestrategie Wertentwicklung">
    <p:bg>
      <p:bgPr>
        <a:solidFill>
          <a:schemeClr val="bg1"/>
        </a:solidFill>
        <a:effectLst/>
      </p:bgPr>
    </p:bg>
    <p:spTree>
      <p:nvGrpSpPr>
        <p:cNvPr id="1" name=""/>
        <p:cNvGrpSpPr/>
        <p:nvPr/>
      </p:nvGrpSpPr>
      <p:grpSpPr>
        <a:xfrm>
          <a:off x="0" y="0"/>
          <a:ext cx="0" cy="0"/>
          <a:chOff x="0" y="0"/>
          <a:chExt cx="0" cy="0"/>
        </a:xfrm>
      </p:grpSpPr>
      <p:sp>
        <p:nvSpPr>
          <p:cNvPr id="6" name="Foliennummer">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cxnSp>
        <p:nvCxnSpPr>
          <p:cNvPr id="7" name="Linie rechts">
            <a:extLst>
              <a:ext uri="{FF2B5EF4-FFF2-40B4-BE49-F238E27FC236}">
                <a16:creationId xmlns:a16="http://schemas.microsoft.com/office/drawing/2014/main" id="{A5ABBF84-B345-ABF9-7BD6-D1761EA99283}"/>
              </a:ext>
            </a:extLst>
          </p:cNvPr>
          <p:cNvCxnSpPr>
            <a:cxnSpLocks/>
          </p:cNvCxnSpPr>
          <p:nvPr userDrawn="1"/>
        </p:nvCxnSpPr>
        <p:spPr>
          <a:xfrm>
            <a:off x="4504801" y="3857371"/>
            <a:ext cx="5616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Linie links">
            <a:extLst>
              <a:ext uri="{FF2B5EF4-FFF2-40B4-BE49-F238E27FC236}">
                <a16:creationId xmlns:a16="http://schemas.microsoft.com/office/drawing/2014/main" id="{BB477708-9E90-3D08-DAEE-6728F2DEA9B9}"/>
              </a:ext>
            </a:extLst>
          </p:cNvPr>
          <p:cNvCxnSpPr>
            <a:cxnSpLocks/>
          </p:cNvCxnSpPr>
          <p:nvPr userDrawn="1"/>
        </p:nvCxnSpPr>
        <p:spPr>
          <a:xfrm>
            <a:off x="352779" y="4989784"/>
            <a:ext cx="39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Fußnote">
            <a:extLst>
              <a:ext uri="{FF2B5EF4-FFF2-40B4-BE49-F238E27FC236}">
                <a16:creationId xmlns:a16="http://schemas.microsoft.com/office/drawing/2014/main" id="{ACF591ED-F264-96FA-8DD9-A565806966B6}"/>
              </a:ext>
            </a:extLst>
          </p:cNvPr>
          <p:cNvSpPr>
            <a:spLocks noGrp="1"/>
          </p:cNvSpPr>
          <p:nvPr>
            <p:ph type="body" sz="quarter" idx="16"/>
          </p:nvPr>
        </p:nvSpPr>
        <p:spPr>
          <a:xfrm>
            <a:off x="4498975" y="4016375"/>
            <a:ext cx="5616575" cy="1816100"/>
          </a:xfrm>
        </p:spPr>
        <p:txBody>
          <a:bodyPr/>
          <a:lstStyle>
            <a:lvl1pPr>
              <a:lnSpc>
                <a:spcPct val="100000"/>
              </a:lnSpc>
              <a:spcBef>
                <a:spcPts val="0"/>
              </a:spcBef>
              <a:spcAft>
                <a:spcPts val="0"/>
              </a:spcAft>
              <a:defRPr sz="600" b="0">
                <a:solidFill>
                  <a:schemeClr val="tx1"/>
                </a:solidFill>
                <a:latin typeface="+mn-lt"/>
              </a:defRPr>
            </a:lvl1pPr>
          </a:lstStyle>
          <a:p>
            <a:pPr lvl="0"/>
            <a:r>
              <a:rPr lang="de-DE" dirty="0"/>
              <a:t>Mastertextformat bearbeiten</a:t>
            </a:r>
          </a:p>
        </p:txBody>
      </p:sp>
      <p:sp>
        <p:nvSpPr>
          <p:cNvPr id="10" name="Diagramm rechts">
            <a:extLst>
              <a:ext uri="{FF2B5EF4-FFF2-40B4-BE49-F238E27FC236}">
                <a16:creationId xmlns:a16="http://schemas.microsoft.com/office/drawing/2014/main" id="{3A021442-F816-3F0A-E1A7-279CBD5A07BC}"/>
              </a:ext>
            </a:extLst>
          </p:cNvPr>
          <p:cNvSpPr>
            <a:spLocks noGrp="1"/>
          </p:cNvSpPr>
          <p:nvPr>
            <p:ph type="chart" sz="quarter" idx="15"/>
          </p:nvPr>
        </p:nvSpPr>
        <p:spPr>
          <a:xfrm>
            <a:off x="4505325" y="1041400"/>
            <a:ext cx="5584825" cy="2813050"/>
          </a:xfrm>
        </p:spPr>
        <p:txBody>
          <a:bodyPr/>
          <a:lstStyle/>
          <a:p>
            <a:endParaRPr lang="de-DE"/>
          </a:p>
        </p:txBody>
      </p:sp>
      <p:sp>
        <p:nvSpPr>
          <p:cNvPr id="4" name="Diagramm links">
            <a:extLst>
              <a:ext uri="{FF2B5EF4-FFF2-40B4-BE49-F238E27FC236}">
                <a16:creationId xmlns:a16="http://schemas.microsoft.com/office/drawing/2014/main" id="{C7B8DD6E-6ABD-EE02-4560-317478A589CC}"/>
              </a:ext>
            </a:extLst>
          </p:cNvPr>
          <p:cNvSpPr>
            <a:spLocks noGrp="1"/>
          </p:cNvSpPr>
          <p:nvPr>
            <p:ph type="chart" sz="quarter" idx="14"/>
          </p:nvPr>
        </p:nvSpPr>
        <p:spPr>
          <a:xfrm>
            <a:off x="349250" y="2679700"/>
            <a:ext cx="3959225" cy="2286000"/>
          </a:xfrm>
        </p:spPr>
        <p:txBody>
          <a:bodyPr/>
          <a:lstStyle/>
          <a:p>
            <a:endParaRPr lang="de-DE"/>
          </a:p>
        </p:txBody>
      </p:sp>
      <p:sp>
        <p:nvSpPr>
          <p:cNvPr id="8" name="Tabelle">
            <a:extLst>
              <a:ext uri="{FF2B5EF4-FFF2-40B4-BE49-F238E27FC236}">
                <a16:creationId xmlns:a16="http://schemas.microsoft.com/office/drawing/2014/main" id="{9E812005-7793-D92F-6E15-643D1E827060}"/>
              </a:ext>
            </a:extLst>
          </p:cNvPr>
          <p:cNvSpPr>
            <a:spLocks noGrp="1"/>
          </p:cNvSpPr>
          <p:nvPr>
            <p:ph type="tbl" sz="quarter" idx="13"/>
          </p:nvPr>
        </p:nvSpPr>
        <p:spPr>
          <a:xfrm>
            <a:off x="349068" y="1041400"/>
            <a:ext cx="3970519" cy="1484086"/>
          </a:xfrm>
        </p:spPr>
        <p:txBody>
          <a:bodyPr/>
          <a:lstStyle>
            <a:lvl1pPr>
              <a:defRPr sz="900"/>
            </a:lvl1pPr>
          </a:lstStyle>
          <a:p>
            <a:endParaRPr lang="de-DE" dirty="0"/>
          </a:p>
        </p:txBody>
      </p:sp>
      <p:sp>
        <p:nvSpPr>
          <p:cNvPr id="2" name="Titel">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32837470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nlagrstrategie schmal">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3C277F-6B41-4AE4-99E4-3674B59C66BE}"/>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260C15E9-224A-AC2C-0CDE-881556E09104}"/>
              </a:ext>
            </a:extLst>
          </p:cNvPr>
          <p:cNvSpPr>
            <a:spLocks noGrp="1"/>
          </p:cNvSpPr>
          <p:nvPr>
            <p:ph idx="1"/>
          </p:nvPr>
        </p:nvSpPr>
        <p:spPr>
          <a:xfrm>
            <a:off x="358775" y="1041401"/>
            <a:ext cx="2305050" cy="4791074"/>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9109038-E711-508C-216E-C687B5316E9C}"/>
              </a:ext>
            </a:extLst>
          </p:cNvPr>
          <p:cNvSpPr>
            <a:spLocks noGrp="1"/>
          </p:cNvSpPr>
          <p:nvPr>
            <p:ph type="sldNum" sz="quarter" idx="12"/>
          </p:nvPr>
        </p:nvSpPr>
        <p:spPr/>
        <p:txBody>
          <a:bodyPr/>
          <a:lstStyle/>
          <a:p>
            <a:fld id="{3AE71D6B-ACB6-4F4C-A895-DCAEF1760EAA}" type="slidenum">
              <a:rPr lang="de-DE" smtClean="0"/>
              <a:t>‹Nr.›</a:t>
            </a:fld>
            <a:endParaRPr lang="de-DE"/>
          </a:p>
        </p:txBody>
      </p:sp>
      <p:sp>
        <p:nvSpPr>
          <p:cNvPr id="8" name="Tabellenplatzhalter 7">
            <a:extLst>
              <a:ext uri="{FF2B5EF4-FFF2-40B4-BE49-F238E27FC236}">
                <a16:creationId xmlns:a16="http://schemas.microsoft.com/office/drawing/2014/main" id="{9E812005-7793-D92F-6E15-643D1E827060}"/>
              </a:ext>
            </a:extLst>
          </p:cNvPr>
          <p:cNvSpPr>
            <a:spLocks noGrp="1"/>
          </p:cNvSpPr>
          <p:nvPr>
            <p:ph type="tbl" sz="quarter" idx="13"/>
          </p:nvPr>
        </p:nvSpPr>
        <p:spPr>
          <a:xfrm>
            <a:off x="2843212" y="1041400"/>
            <a:ext cx="3132137" cy="1419225"/>
          </a:xfrm>
        </p:spPr>
        <p:txBody>
          <a:bodyPr/>
          <a:lstStyle>
            <a:lvl1pPr>
              <a:defRPr sz="900"/>
            </a:lvl1pPr>
          </a:lstStyle>
          <a:p>
            <a:endParaRPr lang="de-DE" dirty="0"/>
          </a:p>
        </p:txBody>
      </p:sp>
      <p:cxnSp>
        <p:nvCxnSpPr>
          <p:cNvPr id="9" name="Gerader Verbinder 8">
            <a:extLst>
              <a:ext uri="{FF2B5EF4-FFF2-40B4-BE49-F238E27FC236}">
                <a16:creationId xmlns:a16="http://schemas.microsoft.com/office/drawing/2014/main" id="{6389BD36-56F5-8350-55A9-F82383A5CD68}"/>
              </a:ext>
            </a:extLst>
          </p:cNvPr>
          <p:cNvCxnSpPr>
            <a:cxnSpLocks/>
          </p:cNvCxnSpPr>
          <p:nvPr userDrawn="1"/>
        </p:nvCxnSpPr>
        <p:spPr>
          <a:xfrm>
            <a:off x="2843212" y="5832475"/>
            <a:ext cx="313200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24B2DBBF-D7FF-5445-B224-D356DA219899}"/>
              </a:ext>
            </a:extLst>
          </p:cNvPr>
          <p:cNvCxnSpPr>
            <a:cxnSpLocks/>
          </p:cNvCxnSpPr>
          <p:nvPr userDrawn="1"/>
        </p:nvCxnSpPr>
        <p:spPr>
          <a:xfrm>
            <a:off x="6156325" y="5832475"/>
            <a:ext cx="3959225"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13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1185943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4" name="Foliennummer">
            <a:extLst>
              <a:ext uri="{FF2B5EF4-FFF2-40B4-BE49-F238E27FC236}">
                <a16:creationId xmlns:a16="http://schemas.microsoft.com/office/drawing/2014/main" id="{1DD6015A-9BBE-CDE6-A152-9855AC75DFB9}"/>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spTree>
    <p:extLst>
      <p:ext uri="{BB962C8B-B14F-4D97-AF65-F5344CB8AC3E}">
        <p14:creationId xmlns:p14="http://schemas.microsoft.com/office/powerpoint/2010/main" val="4134771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nsprechpartner">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3" name="Linie rechts">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404308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ext rechts">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4172650"/>
            <a:ext cx="3132138"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9" name="Name rechts">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68839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688398"/>
            <a:ext cx="3132138" cy="225425"/>
          </a:xfrm>
        </p:spPr>
        <p:txBody>
          <a:bodyPr/>
          <a:lstStyle/>
          <a:p>
            <a:pPr lvl="0"/>
            <a:r>
              <a:rPr lang="de-DE" dirty="0"/>
              <a:t>Mastertextformat bearbeiten</a:t>
            </a:r>
          </a:p>
        </p:txBody>
      </p:sp>
      <p:sp>
        <p:nvSpPr>
          <p:cNvPr id="6" name="Bild rechts">
            <a:extLst>
              <a:ext uri="{FF2B5EF4-FFF2-40B4-BE49-F238E27FC236}">
                <a16:creationId xmlns:a16="http://schemas.microsoft.com/office/drawing/2014/main" id="{E021AD21-0793-2C29-9088-4167DE0263DC}"/>
              </a:ext>
            </a:extLst>
          </p:cNvPr>
          <p:cNvSpPr>
            <a:spLocks noGrp="1" noRot="1" noMove="1" noResize="1" noEditPoints="1" noAdjustHandles="1" noChangeArrowheads="1" noChangeShapeType="1"/>
          </p:cNvSpPr>
          <p:nvPr>
            <p:ph type="pic" sz="quarter" idx="14"/>
          </p:nvPr>
        </p:nvSpPr>
        <p:spPr>
          <a:xfrm>
            <a:off x="3671888" y="1646238"/>
            <a:ext cx="3132138" cy="1792287"/>
          </a:xfr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358775" y="1646238"/>
            <a:ext cx="3132138" cy="1792287"/>
          </a:xfrm>
        </p:spPr>
        <p:txBody>
          <a:bodyPr/>
          <a:lstStyle/>
          <a:p>
            <a:endParaRPr lang="de-DE"/>
          </a:p>
        </p:txBody>
      </p:sp>
      <p:sp>
        <p:nvSpPr>
          <p:cNvPr id="2" name="Titel">
            <a:extLst>
              <a:ext uri="{FF2B5EF4-FFF2-40B4-BE49-F238E27FC236}">
                <a16:creationId xmlns:a16="http://schemas.microsoft.com/office/drawing/2014/main" id="{368211C2-F61D-C7AC-FA9C-4391CDBCBAEC}"/>
              </a:ext>
            </a:extLst>
          </p:cNvPr>
          <p:cNvSpPr>
            <a:spLocks noGrp="1" noRot="1" noMove="1" noResize="1" noEditPoints="1" noAdjustHandles="1" noChangeArrowheads="1" noChangeShapeType="1"/>
          </p:cNvSpPr>
          <p:nvPr>
            <p:ph type="title"/>
          </p:nvPr>
        </p:nvSpPr>
        <p:spPr>
          <a:xfrm>
            <a:off x="358775" y="324000"/>
            <a:ext cx="5616575" cy="685800"/>
          </a:xfrm>
        </p:spPr>
        <p:txBody>
          <a:bodyPr/>
          <a:lstStyle/>
          <a:p>
            <a:r>
              <a:rPr lang="de-DE" dirty="0"/>
              <a:t>Mastertitelformat bearbeiten</a:t>
            </a:r>
          </a:p>
        </p:txBody>
      </p:sp>
    </p:spTree>
    <p:extLst>
      <p:ext uri="{BB962C8B-B14F-4D97-AF65-F5344CB8AC3E}">
        <p14:creationId xmlns:p14="http://schemas.microsoft.com/office/powerpoint/2010/main" val="5149794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orte">
    <p:bg>
      <p:bgPr>
        <a:solidFill>
          <a:schemeClr val="bg1"/>
        </a:solidFill>
        <a:effectLst/>
      </p:bgPr>
    </p:bg>
    <p:spTree>
      <p:nvGrpSpPr>
        <p:cNvPr id="1" name=""/>
        <p:cNvGrpSpPr/>
        <p:nvPr/>
      </p:nvGrpSpPr>
      <p:grpSpPr>
        <a:xfrm>
          <a:off x="0" y="0"/>
          <a:ext cx="0" cy="0"/>
          <a:chOff x="0" y="0"/>
          <a:chExt cx="0" cy="0"/>
        </a:xfrm>
      </p:grpSpPr>
      <p:sp>
        <p:nvSpPr>
          <p:cNvPr id="5" name="Foliennummer">
            <a:extLst>
              <a:ext uri="{FF2B5EF4-FFF2-40B4-BE49-F238E27FC236}">
                <a16:creationId xmlns:a16="http://schemas.microsoft.com/office/drawing/2014/main" id="{65B2DA67-26E2-B59F-F8C3-3BCBE1FDDE65}"/>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‹Nr.›</a:t>
            </a:fld>
            <a:endParaRPr lang="de-DE"/>
          </a:p>
        </p:txBody>
      </p:sp>
      <p:cxnSp>
        <p:nvCxnSpPr>
          <p:cNvPr id="12" name="Linie rechts">
            <a:extLst>
              <a:ext uri="{FF2B5EF4-FFF2-40B4-BE49-F238E27FC236}">
                <a16:creationId xmlns:a16="http://schemas.microsoft.com/office/drawing/2014/main" id="{9578FC62-C673-CCCF-BE41-330AA9A6E201}"/>
              </a:ext>
            </a:extLst>
          </p:cNvPr>
          <p:cNvCxnSpPr>
            <a:cxnSpLocks noGrp="1" noRot="1" noMove="1" noResize="1" noEditPoints="1" noAdjustHandles="1" noChangeArrowheads="1" noChangeShapeType="1"/>
          </p:cNvCxnSpPr>
          <p:nvPr userDrawn="1"/>
        </p:nvCxnSpPr>
        <p:spPr>
          <a:xfrm>
            <a:off x="6976437"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Linie mitte">
            <a:extLst>
              <a:ext uri="{FF2B5EF4-FFF2-40B4-BE49-F238E27FC236}">
                <a16:creationId xmlns:a16="http://schemas.microsoft.com/office/drawing/2014/main" id="{FD52525D-63CC-8107-F830-67B98C6B65F8}"/>
              </a:ext>
            </a:extLst>
          </p:cNvPr>
          <p:cNvCxnSpPr>
            <a:cxnSpLocks noGrp="1" noRot="1" noMove="1" noResize="1" noEditPoints="1" noAdjustHandles="1" noChangeArrowheads="1" noChangeShapeType="1"/>
          </p:cNvCxnSpPr>
          <p:nvPr userDrawn="1"/>
        </p:nvCxnSpPr>
        <p:spPr>
          <a:xfrm>
            <a:off x="3671888"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Linie links">
            <a:extLst>
              <a:ext uri="{FF2B5EF4-FFF2-40B4-BE49-F238E27FC236}">
                <a16:creationId xmlns:a16="http://schemas.microsoft.com/office/drawing/2014/main" id="{CF1A3792-E31E-29D6-F65C-F09548B87121}"/>
              </a:ext>
            </a:extLst>
          </p:cNvPr>
          <p:cNvCxnSpPr>
            <a:cxnSpLocks noGrp="1" noRot="1" noMove="1" noResize="1" noEditPoints="1" noAdjustHandles="1" noChangeArrowheads="1" noChangeShapeType="1"/>
          </p:cNvCxnSpPr>
          <p:nvPr userDrawn="1"/>
        </p:nvCxnSpPr>
        <p:spPr>
          <a:xfrm>
            <a:off x="358775" y="3824642"/>
            <a:ext cx="647700"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rechts">
            <a:extLst>
              <a:ext uri="{FF2B5EF4-FFF2-40B4-BE49-F238E27FC236}">
                <a16:creationId xmlns:a16="http://schemas.microsoft.com/office/drawing/2014/main" id="{4888ADCE-7FA3-531D-D5E7-E9A8A00D5834}"/>
              </a:ext>
            </a:extLst>
          </p:cNvPr>
          <p:cNvSpPr>
            <a:spLocks noGrp="1" noRot="1" noMove="1" noResize="1" noEditPoints="1" noAdjustHandles="1" noChangeArrowheads="1" noChangeShapeType="1"/>
          </p:cNvSpPr>
          <p:nvPr>
            <p:ph type="body" sz="quarter" idx="21"/>
          </p:nvPr>
        </p:nvSpPr>
        <p:spPr>
          <a:xfrm>
            <a:off x="6976436"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5" name="Text mitte">
            <a:extLst>
              <a:ext uri="{FF2B5EF4-FFF2-40B4-BE49-F238E27FC236}">
                <a16:creationId xmlns:a16="http://schemas.microsoft.com/office/drawing/2014/main" id="{8442F4D5-B5A2-FB48-AB51-E3F593F57123}"/>
              </a:ext>
            </a:extLst>
          </p:cNvPr>
          <p:cNvSpPr>
            <a:spLocks noGrp="1" noRot="1" noMove="1" noResize="1" noEditPoints="1" noAdjustHandles="1" noChangeArrowheads="1" noChangeShapeType="1"/>
          </p:cNvSpPr>
          <p:nvPr>
            <p:ph type="body" sz="quarter" idx="18"/>
          </p:nvPr>
        </p:nvSpPr>
        <p:spPr>
          <a:xfrm>
            <a:off x="3671887"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4" name="Text links">
            <a:extLst>
              <a:ext uri="{FF2B5EF4-FFF2-40B4-BE49-F238E27FC236}">
                <a16:creationId xmlns:a16="http://schemas.microsoft.com/office/drawing/2014/main" id="{3DF09069-72A7-40B9-FF1C-BAF486DC94EC}"/>
              </a:ext>
            </a:extLst>
          </p:cNvPr>
          <p:cNvSpPr>
            <a:spLocks noGrp="1" noRot="1" noMove="1" noResize="1" noEditPoints="1" noAdjustHandles="1" noChangeArrowheads="1" noChangeShapeType="1"/>
          </p:cNvSpPr>
          <p:nvPr>
            <p:ph type="body" sz="quarter" idx="17"/>
          </p:nvPr>
        </p:nvSpPr>
        <p:spPr>
          <a:xfrm>
            <a:off x="358775" y="3969450"/>
            <a:ext cx="3276000" cy="1267646"/>
          </a:xfrm>
        </p:spPr>
        <p:txBody>
          <a:bodyPr/>
          <a:lstStyle>
            <a:lvl1pPr>
              <a:spcBef>
                <a:spcPts val="0"/>
              </a:spcBef>
              <a:defRPr b="0">
                <a:solidFill>
                  <a:schemeClr val="tx1"/>
                </a:solidFill>
                <a:latin typeface="+mn-lt"/>
              </a:defRPr>
            </a:lvl1pPr>
          </a:lstStyle>
          <a:p>
            <a:pPr lvl="0"/>
            <a:r>
              <a:rPr lang="de-DE" dirty="0"/>
              <a:t>Mastertextformat bearbeiten</a:t>
            </a:r>
          </a:p>
        </p:txBody>
      </p:sp>
      <p:sp>
        <p:nvSpPr>
          <p:cNvPr id="17" name="Name rechts">
            <a:extLst>
              <a:ext uri="{FF2B5EF4-FFF2-40B4-BE49-F238E27FC236}">
                <a16:creationId xmlns:a16="http://schemas.microsoft.com/office/drawing/2014/main" id="{CB48EDFE-72D8-1DDE-9F47-0C88F0D1F64F}"/>
              </a:ext>
            </a:extLst>
          </p:cNvPr>
          <p:cNvSpPr>
            <a:spLocks noGrp="1" noRot="1" noMove="1" noResize="1" noEditPoints="1" noAdjustHandles="1" noChangeArrowheads="1" noChangeShapeType="1"/>
          </p:cNvSpPr>
          <p:nvPr>
            <p:ph type="body" sz="quarter" idx="22"/>
          </p:nvPr>
        </p:nvSpPr>
        <p:spPr>
          <a:xfrm>
            <a:off x="6976436" y="3490278"/>
            <a:ext cx="3132138" cy="225425"/>
          </a:xfrm>
        </p:spPr>
        <p:txBody>
          <a:bodyPr/>
          <a:lstStyle/>
          <a:p>
            <a:pPr lvl="0"/>
            <a:r>
              <a:rPr lang="de-DE" dirty="0"/>
              <a:t>Mastertextformat bearbeiten</a:t>
            </a:r>
          </a:p>
        </p:txBody>
      </p:sp>
      <p:sp>
        <p:nvSpPr>
          <p:cNvPr id="9" name="Name mitte">
            <a:extLst>
              <a:ext uri="{FF2B5EF4-FFF2-40B4-BE49-F238E27FC236}">
                <a16:creationId xmlns:a16="http://schemas.microsoft.com/office/drawing/2014/main" id="{360DA725-655A-CCCE-2980-293201DCB5BF}"/>
              </a:ext>
            </a:extLst>
          </p:cNvPr>
          <p:cNvSpPr>
            <a:spLocks noGrp="1" noRot="1" noMove="1" noResize="1" noEditPoints="1" noAdjustHandles="1" noChangeArrowheads="1" noChangeShapeType="1"/>
          </p:cNvSpPr>
          <p:nvPr>
            <p:ph type="body" sz="quarter" idx="16"/>
          </p:nvPr>
        </p:nvSpPr>
        <p:spPr>
          <a:xfrm>
            <a:off x="3671887" y="3490278"/>
            <a:ext cx="3132138" cy="225425"/>
          </a:xfrm>
        </p:spPr>
        <p:txBody>
          <a:bodyPr/>
          <a:lstStyle/>
          <a:p>
            <a:pPr lvl="0"/>
            <a:r>
              <a:rPr lang="de-DE" dirty="0"/>
              <a:t>Mastertextformat bearbeiten</a:t>
            </a:r>
          </a:p>
        </p:txBody>
      </p:sp>
      <p:sp>
        <p:nvSpPr>
          <p:cNvPr id="8" name="Name links">
            <a:extLst>
              <a:ext uri="{FF2B5EF4-FFF2-40B4-BE49-F238E27FC236}">
                <a16:creationId xmlns:a16="http://schemas.microsoft.com/office/drawing/2014/main" id="{8C3AF5C3-BBF2-13A2-04A6-FD891999D8F8}"/>
              </a:ext>
            </a:extLst>
          </p:cNvPr>
          <p:cNvSpPr>
            <a:spLocks noGrp="1" noRot="1" noMove="1" noResize="1" noEditPoints="1" noAdjustHandles="1" noChangeArrowheads="1" noChangeShapeType="1"/>
          </p:cNvSpPr>
          <p:nvPr>
            <p:ph type="body" sz="quarter" idx="15"/>
          </p:nvPr>
        </p:nvSpPr>
        <p:spPr>
          <a:xfrm>
            <a:off x="358775" y="3490278"/>
            <a:ext cx="3132138" cy="225425"/>
          </a:xfrm>
        </p:spPr>
        <p:txBody>
          <a:bodyPr/>
          <a:lstStyle/>
          <a:p>
            <a:pPr lvl="0"/>
            <a:r>
              <a:rPr lang="de-DE" dirty="0"/>
              <a:t>Mastertextformat bearbeiten</a:t>
            </a:r>
          </a:p>
        </p:txBody>
      </p:sp>
      <p:sp>
        <p:nvSpPr>
          <p:cNvPr id="10" name="Bild rechts">
            <a:extLst>
              <a:ext uri="{FF2B5EF4-FFF2-40B4-BE49-F238E27FC236}">
                <a16:creationId xmlns:a16="http://schemas.microsoft.com/office/drawing/2014/main" id="{4BA8BEE0-583F-4067-18E1-4041C7CBE94E}"/>
              </a:ext>
            </a:extLst>
          </p:cNvPr>
          <p:cNvSpPr>
            <a:spLocks noGrp="1" noRot="1" noMove="1" noResize="1" noEditPoints="1" noAdjustHandles="1" noChangeArrowheads="1" noChangeShapeType="1"/>
          </p:cNvSpPr>
          <p:nvPr>
            <p:ph type="pic" sz="quarter" idx="20"/>
          </p:nvPr>
        </p:nvSpPr>
        <p:spPr>
          <a:xfrm>
            <a:off x="6886505" y="1564477"/>
            <a:ext cx="1656000" cy="1656000"/>
          </a:xfrm>
          <a:prstGeom prst="ellipse">
            <a:avLst/>
          </a:prstGeom>
        </p:spPr>
        <p:txBody>
          <a:bodyPr/>
          <a:lstStyle/>
          <a:p>
            <a:endParaRPr lang="de-DE" dirty="0"/>
          </a:p>
        </p:txBody>
      </p:sp>
      <p:sp>
        <p:nvSpPr>
          <p:cNvPr id="7" name="Bild mitte">
            <a:extLst>
              <a:ext uri="{FF2B5EF4-FFF2-40B4-BE49-F238E27FC236}">
                <a16:creationId xmlns:a16="http://schemas.microsoft.com/office/drawing/2014/main" id="{EEB43F9A-30D9-8B0B-CCD4-657C0E474967}"/>
              </a:ext>
            </a:extLst>
          </p:cNvPr>
          <p:cNvSpPr>
            <a:spLocks noGrp="1" noRot="1" noMove="1" noResize="1" noEditPoints="1" noAdjustHandles="1" noChangeArrowheads="1" noChangeShapeType="1"/>
          </p:cNvSpPr>
          <p:nvPr>
            <p:ph type="pic" sz="quarter" idx="19"/>
          </p:nvPr>
        </p:nvSpPr>
        <p:spPr>
          <a:xfrm>
            <a:off x="3590493" y="1564477"/>
            <a:ext cx="1656000" cy="1656000"/>
          </a:xfrm>
          <a:prstGeom prst="ellipse">
            <a:avLst/>
          </a:prstGeom>
        </p:spPr>
        <p:txBody>
          <a:bodyPr/>
          <a:lstStyle/>
          <a:p>
            <a:endParaRPr lang="de-DE"/>
          </a:p>
        </p:txBody>
      </p:sp>
      <p:sp>
        <p:nvSpPr>
          <p:cNvPr id="4" name="Bild links">
            <a:extLst>
              <a:ext uri="{FF2B5EF4-FFF2-40B4-BE49-F238E27FC236}">
                <a16:creationId xmlns:a16="http://schemas.microsoft.com/office/drawing/2014/main" id="{0029B528-90F8-0BC4-8037-8F393CACCB4E}"/>
              </a:ext>
            </a:extLst>
          </p:cNvPr>
          <p:cNvSpPr>
            <a:spLocks noGrp="1" noRot="1" noMove="1" noResize="1" noEditPoints="1" noAdjustHandles="1" noChangeArrowheads="1" noChangeShapeType="1"/>
          </p:cNvSpPr>
          <p:nvPr>
            <p:ph type="pic" sz="quarter" idx="13"/>
          </p:nvPr>
        </p:nvSpPr>
        <p:spPr>
          <a:xfrm>
            <a:off x="294481" y="1564477"/>
            <a:ext cx="1656000" cy="1656000"/>
          </a:xfrm>
          <a:prstGeom prst="ellipse">
            <a:avLst/>
          </a:prstGeom>
        </p:spPr>
        <p:txBody>
          <a:bodyPr/>
          <a:lstStyle/>
          <a:p>
            <a:endParaRPr lang="de-DE"/>
          </a:p>
        </p:txBody>
      </p:sp>
      <p:sp>
        <p:nvSpPr>
          <p:cNvPr id="3" name="Titel">
            <a:extLst>
              <a:ext uri="{FF2B5EF4-FFF2-40B4-BE49-F238E27FC236}">
                <a16:creationId xmlns:a16="http://schemas.microsoft.com/office/drawing/2014/main" id="{EFDA7145-AF61-F28D-FFDF-3C770ED41015}"/>
              </a:ext>
            </a:extLst>
          </p:cNvPr>
          <p:cNvSpPr>
            <a:spLocks noGrp="1" noRot="1" noMove="1" noResize="1" noEditPoints="1" noAdjustHandles="1" noChangeArrowheads="1" noChangeShapeType="1"/>
          </p:cNvSpPr>
          <p:nvPr>
            <p:ph type="title"/>
          </p:nvPr>
        </p:nvSpPr>
        <p:spPr/>
        <p:txBody>
          <a:bodyPr/>
          <a:lstStyle/>
          <a:p>
            <a:r>
              <a:rPr lang="de-DE"/>
              <a:t>Mastertitelformat bearbeiten</a:t>
            </a:r>
          </a:p>
        </p:txBody>
      </p:sp>
    </p:spTree>
    <p:extLst>
      <p:ext uri="{BB962C8B-B14F-4D97-AF65-F5344CB8AC3E}">
        <p14:creationId xmlns:p14="http://schemas.microsoft.com/office/powerpoint/2010/main" val="33030153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End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4133280"/>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4386233"/>
            <a:ext cx="6626225" cy="303222"/>
          </a:xfrm>
        </p:spPr>
        <p:txBody>
          <a:bodyPr/>
          <a:lstStyle>
            <a:lvl1pPr marL="0" indent="0" algn="l">
              <a:buNone/>
              <a:defRPr sz="1400" b="0" cap="all"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3486031"/>
            <a:ext cx="6626225" cy="498140"/>
          </a:xfrm>
        </p:spPr>
        <p:txBody>
          <a:bodyPr tIns="0" anchor="t" anchorCtr="0"/>
          <a:lstStyle>
            <a:lvl1pPr algn="l">
              <a:lnSpc>
                <a:spcPts val="3450"/>
              </a:lnSpc>
              <a:defRPr sz="2770">
                <a:solidFill>
                  <a:schemeClr val="bg1"/>
                </a:solidFill>
              </a:defRPr>
            </a:lvl1pPr>
          </a:lstStyle>
          <a:p>
            <a:r>
              <a:rPr lang="de-DE" dirty="0"/>
              <a:t>Mastertitelformat bearbeiten</a:t>
            </a:r>
          </a:p>
        </p:txBody>
      </p:sp>
    </p:spTree>
    <p:extLst>
      <p:ext uri="{BB962C8B-B14F-4D97-AF65-F5344CB8AC3E}">
        <p14:creationId xmlns:p14="http://schemas.microsoft.com/office/powerpoint/2010/main" val="275979079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pressum">
    <p:bg>
      <p:bgPr>
        <a:solidFill>
          <a:schemeClr val="bg1"/>
        </a:solidFill>
        <a:effectLst/>
      </p:bgPr>
    </p:bg>
    <p:spTree>
      <p:nvGrpSpPr>
        <p:cNvPr id="1" name=""/>
        <p:cNvGrpSpPr/>
        <p:nvPr/>
      </p:nvGrpSpPr>
      <p:grpSpPr>
        <a:xfrm>
          <a:off x="0" y="0"/>
          <a:ext cx="0" cy="0"/>
          <a:chOff x="0" y="0"/>
          <a:chExt cx="0" cy="0"/>
        </a:xfrm>
      </p:grpSpPr>
      <p:sp>
        <p:nvSpPr>
          <p:cNvPr id="5" name="Datum">
            <a:extLst>
              <a:ext uri="{FF2B5EF4-FFF2-40B4-BE49-F238E27FC236}">
                <a16:creationId xmlns:a16="http://schemas.microsoft.com/office/drawing/2014/main" id="{EDAEF2B9-72B9-AC0D-2D72-82D271794187}"/>
              </a:ext>
            </a:extLst>
          </p:cNvPr>
          <p:cNvSpPr>
            <a:spLocks noGrp="1" noRot="1" noMove="1" noResize="1" noEditPoints="1" noAdjustHandles="1" noChangeArrowheads="1" noChangeShapeType="1"/>
          </p:cNvSpPr>
          <p:nvPr>
            <p:ph type="dt" sz="half" idx="11"/>
          </p:nvPr>
        </p:nvSpPr>
        <p:spPr>
          <a:xfrm>
            <a:off x="6137275" y="5800454"/>
            <a:ext cx="2340000" cy="108000"/>
          </a:xfrm>
          <a:prstGeom prst="rect">
            <a:avLst/>
          </a:prstGeom>
        </p:spPr>
        <p:txBody>
          <a:bodyPr/>
          <a:lstStyle/>
          <a:p>
            <a:r>
              <a:rPr lang="de-DE" dirty="0"/>
              <a:t>Stand. </a:t>
            </a:r>
            <a:fld id="{D2EEA022-D032-4EEB-B3BB-451FF23CBEEB}" type="datetimeFigureOut">
              <a:rPr lang="de-DE" smtClean="0"/>
              <a:pPr/>
              <a:t>20.07.2026</a:t>
            </a:fld>
            <a:endParaRPr lang="de-DE" dirty="0"/>
          </a:p>
        </p:txBody>
      </p:sp>
      <p:sp>
        <p:nvSpPr>
          <p:cNvPr id="7" name="Foliennummer">
            <a:extLst>
              <a:ext uri="{FF2B5EF4-FFF2-40B4-BE49-F238E27FC236}">
                <a16:creationId xmlns:a16="http://schemas.microsoft.com/office/drawing/2014/main" id="{83A09B95-C0A4-D314-1D39-F12826109A3B}"/>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pPr/>
              <a:t>‹Nr.›</a:t>
            </a:fld>
            <a:endParaRPr lang="de-DE" dirty="0"/>
          </a:p>
        </p:txBody>
      </p:sp>
      <p:sp>
        <p:nvSpPr>
          <p:cNvPr id="3" name="Inhalt">
            <a:extLst>
              <a:ext uri="{FF2B5EF4-FFF2-40B4-BE49-F238E27FC236}">
                <a16:creationId xmlns:a16="http://schemas.microsoft.com/office/drawing/2014/main" id="{260C15E9-224A-AC2C-0CDE-881556E09104}"/>
              </a:ext>
            </a:extLst>
          </p:cNvPr>
          <p:cNvSpPr>
            <a:spLocks noGrp="1" noRot="1" noMove="1" noResize="1" noEditPoints="1" noAdjustHandles="1" noChangeArrowheads="1" noChangeShapeType="1"/>
          </p:cNvSpPr>
          <p:nvPr>
            <p:ph idx="1"/>
          </p:nvPr>
        </p:nvSpPr>
        <p:spPr>
          <a:xfrm>
            <a:off x="2016125" y="1041401"/>
            <a:ext cx="8099424" cy="4791074"/>
          </a:xfrm>
        </p:spPr>
        <p:txBody>
          <a:bodyPr numCol="2" spcCol="180000"/>
          <a:lstStyle>
            <a:lvl1pPr>
              <a:spcBef>
                <a:spcPts val="1400"/>
              </a:spcBef>
              <a:defRPr b="0">
                <a:solidFill>
                  <a:schemeClr val="tx1"/>
                </a:solidFill>
                <a:latin typeface="+mn-lt"/>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 name="Titel">
            <a:extLst>
              <a:ext uri="{FF2B5EF4-FFF2-40B4-BE49-F238E27FC236}">
                <a16:creationId xmlns:a16="http://schemas.microsoft.com/office/drawing/2014/main" id="{8B3C277F-6B41-4AE4-99E4-3674B59C66BE}"/>
              </a:ext>
            </a:extLst>
          </p:cNvPr>
          <p:cNvSpPr>
            <a:spLocks noGrp="1" noRot="1" noMove="1" noResize="1" noEditPoints="1" noAdjustHandles="1" noChangeArrowheads="1" noChangeShapeType="1"/>
          </p:cNvSpPr>
          <p:nvPr>
            <p:ph type="title"/>
          </p:nvPr>
        </p:nvSpPr>
        <p:spPr/>
        <p:txBody>
          <a:bodyPr/>
          <a:lstStyle/>
          <a:p>
            <a:r>
              <a:rPr lang="de-DE" dirty="0"/>
              <a:t>Mastertitelformat bearbeiten</a:t>
            </a:r>
          </a:p>
        </p:txBody>
      </p:sp>
    </p:spTree>
    <p:extLst>
      <p:ext uri="{BB962C8B-B14F-4D97-AF65-F5344CB8AC3E}">
        <p14:creationId xmlns:p14="http://schemas.microsoft.com/office/powerpoint/2010/main" val="1579887855"/>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Grußfolie">
    <p:bg>
      <p:bgPr>
        <a:solidFill>
          <a:schemeClr val="accent1"/>
        </a:solidFill>
        <a:effectLst/>
      </p:bgPr>
    </p:bg>
    <p:spTree>
      <p:nvGrpSpPr>
        <p:cNvPr id="1" name=""/>
        <p:cNvGrpSpPr/>
        <p:nvPr/>
      </p:nvGrpSpPr>
      <p:grpSpPr>
        <a:xfrm>
          <a:off x="0" y="0"/>
          <a:ext cx="0" cy="0"/>
          <a:chOff x="0" y="0"/>
          <a:chExt cx="0" cy="0"/>
        </a:xfrm>
      </p:grpSpPr>
      <p:sp>
        <p:nvSpPr>
          <p:cNvPr id="6" name="Datum">
            <a:extLst>
              <a:ext uri="{FF2B5EF4-FFF2-40B4-BE49-F238E27FC236}">
                <a16:creationId xmlns:a16="http://schemas.microsoft.com/office/drawing/2014/main" id="{ECBFCEA1-E801-45A2-8E72-9E393E4A1B67}"/>
              </a:ext>
            </a:extLst>
          </p:cNvPr>
          <p:cNvSpPr>
            <a:spLocks noGrp="1" noRot="1" noMove="1" noResize="1" noEditPoints="1" noAdjustHandles="1" noChangeArrowheads="1" noChangeShapeType="1"/>
          </p:cNvSpPr>
          <p:nvPr>
            <p:ph type="dt" sz="half" idx="10"/>
          </p:nvPr>
        </p:nvSpPr>
        <p:spPr>
          <a:xfrm>
            <a:off x="1006475" y="6223766"/>
            <a:ext cx="2340000" cy="108000"/>
          </a:xfrm>
          <a:prstGeom prst="rect">
            <a:avLst/>
          </a:prstGeom>
        </p:spPr>
        <p:txBody>
          <a:bodyPr/>
          <a:lstStyle>
            <a:lvl1pPr>
              <a:defRPr>
                <a:solidFill>
                  <a:schemeClr val="bg1"/>
                </a:solidFill>
              </a:defRPr>
            </a:lvl1pPr>
          </a:lstStyle>
          <a:p>
            <a:r>
              <a:rPr lang="de-DE"/>
              <a:t>Stand: </a:t>
            </a:r>
            <a:fld id="{D2EEA022-D032-4EEB-B3BB-451FF23CBEEB}" type="datetimeFigureOut">
              <a:rPr lang="de-DE" smtClean="0"/>
              <a:pPr/>
              <a:t>20.07.2026</a:t>
            </a:fld>
            <a:endParaRPr lang="de-DE" dirty="0"/>
          </a:p>
        </p:txBody>
      </p:sp>
      <p:pic>
        <p:nvPicPr>
          <p:cNvPr id="4" name="Logo">
            <a:extLst>
              <a:ext uri="{FF2B5EF4-FFF2-40B4-BE49-F238E27FC236}">
                <a16:creationId xmlns:a16="http://schemas.microsoft.com/office/drawing/2014/main" id="{73B6AEAD-FB17-E7F3-790A-F01A246915FD}"/>
              </a:ext>
            </a:extLst>
          </p:cNvPr>
          <p:cNvPicPr>
            <a:picLocks noGrp="1" noRo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8102713" y="5699126"/>
            <a:ext cx="1979991" cy="604930"/>
          </a:xfrm>
          <a:prstGeom prst="rect">
            <a:avLst/>
          </a:prstGeom>
        </p:spPr>
      </p:pic>
      <p:cxnSp>
        <p:nvCxnSpPr>
          <p:cNvPr id="8" name="Linie">
            <a:extLst>
              <a:ext uri="{FF2B5EF4-FFF2-40B4-BE49-F238E27FC236}">
                <a16:creationId xmlns:a16="http://schemas.microsoft.com/office/drawing/2014/main" id="{F06A9549-BE8B-F4ED-207A-F834FC827871}"/>
              </a:ext>
            </a:extLst>
          </p:cNvPr>
          <p:cNvCxnSpPr>
            <a:cxnSpLocks noGrp="1" noRot="1" noMove="1" noResize="1" noEditPoints="1" noAdjustHandles="1" noChangeArrowheads="1" noChangeShapeType="1"/>
          </p:cNvCxnSpPr>
          <p:nvPr userDrawn="1"/>
        </p:nvCxnSpPr>
        <p:spPr>
          <a:xfrm>
            <a:off x="1006475" y="2064569"/>
            <a:ext cx="8286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Herausgeber">
            <a:extLst>
              <a:ext uri="{FF2B5EF4-FFF2-40B4-BE49-F238E27FC236}">
                <a16:creationId xmlns:a16="http://schemas.microsoft.com/office/drawing/2014/main" id="{D75E9C45-CFC0-4A11-8779-BF1E36B119AB}"/>
              </a:ext>
            </a:extLst>
          </p:cNvPr>
          <p:cNvSpPr txBox="1">
            <a:spLocks noGrp="1" noRot="1" noMove="1" noResize="1" noEditPoints="1" noAdjustHandles="1" noChangeArrowheads="1" noChangeShapeType="1"/>
          </p:cNvSpPr>
          <p:nvPr userDrawn="1"/>
        </p:nvSpPr>
        <p:spPr>
          <a:xfrm>
            <a:off x="1006475" y="6099437"/>
            <a:ext cx="2484438" cy="124329"/>
          </a:xfrm>
          <a:prstGeom prst="rect">
            <a:avLst/>
          </a:prstGeom>
          <a:noFill/>
        </p:spPr>
        <p:txBody>
          <a:bodyPr wrap="square" lIns="0" tIns="0" rIns="0" bIns="0" rtlCol="0">
            <a:noAutofit/>
          </a:bodyPr>
          <a:lstStyle/>
          <a:p>
            <a:pPr>
              <a:lnSpc>
                <a:spcPts val="900"/>
              </a:lnSpc>
            </a:pPr>
            <a:r>
              <a:rPr lang="de-DE" sz="600" dirty="0">
                <a:solidFill>
                  <a:schemeClr val="bg1"/>
                </a:solidFill>
              </a:rPr>
              <a:t>Herausgeber: Fürst Fugger Privatbank Aktiengesellschaft</a:t>
            </a:r>
          </a:p>
        </p:txBody>
      </p:sp>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1400" b="0" cap="none" baseline="0">
                <a:solidFill>
                  <a:schemeClr val="bg1"/>
                </a:solidFill>
                <a:latin typeface="+mn-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p:nvPr>
        </p:nvSpPr>
        <p:spPr>
          <a:xfrm>
            <a:off x="1006475" y="1046481"/>
            <a:ext cx="6626225" cy="858520"/>
          </a:xfrm>
        </p:spPr>
        <p:txBody>
          <a:bodyPr tIns="0" anchor="t" anchorCtr="0"/>
          <a:lstStyle>
            <a:lvl1pPr algn="l">
              <a:lnSpc>
                <a:spcPts val="3450"/>
              </a:lnSpc>
              <a:defRPr sz="2770">
                <a:solidFill>
                  <a:schemeClr val="bg1"/>
                </a:solidFill>
              </a:defRPr>
            </a:lvl1pPr>
          </a:lstStyle>
          <a:p>
            <a:r>
              <a:rPr lang="de-DE" dirty="0"/>
              <a:t>Mastertitelformat bearbeiten</a:t>
            </a:r>
          </a:p>
        </p:txBody>
      </p:sp>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Tree>
    <p:extLst>
      <p:ext uri="{BB962C8B-B14F-4D97-AF65-F5344CB8AC3E}">
        <p14:creationId xmlns:p14="http://schemas.microsoft.com/office/powerpoint/2010/main" val="1650700648"/>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Grußfolie">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
        <p:nvSpPr>
          <p:cNvPr id="6" name="Textplatzhalter 1">
            <a:extLst>
              <a:ext uri="{FF2B5EF4-FFF2-40B4-BE49-F238E27FC236}">
                <a16:creationId xmlns:a16="http://schemas.microsoft.com/office/drawing/2014/main" id="{26D89C88-C9B5-864B-A98F-E3A0511128CC}"/>
              </a:ext>
            </a:extLst>
          </p:cNvPr>
          <p:cNvSpPr>
            <a:spLocks noGrp="1"/>
          </p:cNvSpPr>
          <p:nvPr>
            <p:ph type="body" sz="quarter" idx="10"/>
          </p:nvPr>
        </p:nvSpPr>
        <p:spPr>
          <a:xfrm>
            <a:off x="1036594" y="2084366"/>
            <a:ext cx="6091720" cy="1827500"/>
          </a:xfrm>
        </p:spPr>
        <p:txBody>
          <a:bodyPr anchor="b"/>
          <a:lstStyle>
            <a:lvl1pPr>
              <a:lnSpc>
                <a:spcPct val="100000"/>
              </a:lnSpc>
              <a:defRPr sz="48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endParaRPr lang="de-DE" dirty="0"/>
          </a:p>
        </p:txBody>
      </p:sp>
      <p:sp>
        <p:nvSpPr>
          <p:cNvPr id="7" name="Textplatzhalter 2">
            <a:extLst>
              <a:ext uri="{FF2B5EF4-FFF2-40B4-BE49-F238E27FC236}">
                <a16:creationId xmlns:a16="http://schemas.microsoft.com/office/drawing/2014/main" id="{C17EC96E-DFFC-8845-8BF0-F0D7838EB5D2}"/>
              </a:ext>
            </a:extLst>
          </p:cNvPr>
          <p:cNvSpPr>
            <a:spLocks noGrp="1"/>
          </p:cNvSpPr>
          <p:nvPr>
            <p:ph type="body" sz="quarter" idx="11"/>
          </p:nvPr>
        </p:nvSpPr>
        <p:spPr>
          <a:xfrm>
            <a:off x="1021200" y="4074419"/>
            <a:ext cx="7510463" cy="1827500"/>
          </a:xfrm>
        </p:spPr>
        <p:txBody>
          <a:bodyPr/>
          <a:lstStyle>
            <a:lvl1pPr>
              <a:lnSpc>
                <a:spcPct val="100000"/>
              </a:lnSpc>
              <a:defRPr sz="2800" b="0">
                <a:solidFill>
                  <a:schemeClr val="accent3"/>
                </a:solidFill>
              </a:defRPr>
            </a:lvl1pPr>
          </a:lstStyle>
          <a:p>
            <a:endParaRPr lang="de-DE" dirty="0"/>
          </a:p>
        </p:txBody>
      </p:sp>
    </p:spTree>
    <p:extLst>
      <p:ext uri="{BB962C8B-B14F-4D97-AF65-F5344CB8AC3E}">
        <p14:creationId xmlns:p14="http://schemas.microsoft.com/office/powerpoint/2010/main" val="948002339"/>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Gruß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el">
            <a:extLst>
              <a:ext uri="{FF2B5EF4-FFF2-40B4-BE49-F238E27FC236}">
                <a16:creationId xmlns:a16="http://schemas.microsoft.com/office/drawing/2014/main" id="{40DCB1BC-8805-7C40-ADAC-DFDE8BF22B3E}"/>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Mastertitelformat bearbeiten</a:t>
            </a:r>
          </a:p>
        </p:txBody>
      </p:sp>
    </p:spTree>
    <p:extLst>
      <p:ext uri="{BB962C8B-B14F-4D97-AF65-F5344CB8AC3E}">
        <p14:creationId xmlns:p14="http://schemas.microsoft.com/office/powerpoint/2010/main" val="811752780"/>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_Grußfolie">
    <p:bg>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AAEF16A2-8780-2D4C-B6B6-58DC5674D47F}"/>
              </a:ext>
            </a:extLst>
          </p:cNvPr>
          <p:cNvPicPr>
            <a:picLocks noChangeAspect="1"/>
          </p:cNvPicPr>
          <p:nvPr userDrawn="1"/>
        </p:nvPicPr>
        <p:blipFill>
          <a:blip r:embed="rId3"/>
          <a:stretch>
            <a:fillRect/>
          </a:stretch>
        </p:blipFill>
        <p:spPr>
          <a:xfrm>
            <a:off x="9057939" y="362676"/>
            <a:ext cx="1057612" cy="758721"/>
          </a:xfrm>
          <a:prstGeom prst="rect">
            <a:avLst/>
          </a:prstGeom>
        </p:spPr>
      </p:pic>
      <p:sp>
        <p:nvSpPr>
          <p:cNvPr id="6" name="Textplatzhalter 1">
            <a:extLst>
              <a:ext uri="{FF2B5EF4-FFF2-40B4-BE49-F238E27FC236}">
                <a16:creationId xmlns:a16="http://schemas.microsoft.com/office/drawing/2014/main" id="{26D89C88-C9B5-864B-A98F-E3A0511128CC}"/>
              </a:ext>
            </a:extLst>
          </p:cNvPr>
          <p:cNvSpPr>
            <a:spLocks noGrp="1"/>
          </p:cNvSpPr>
          <p:nvPr>
            <p:ph type="body" sz="quarter" idx="10" hasCustomPrompt="1"/>
          </p:nvPr>
        </p:nvSpPr>
        <p:spPr>
          <a:xfrm>
            <a:off x="1021200" y="588164"/>
            <a:ext cx="6091720" cy="1066466"/>
          </a:xfrm>
        </p:spPr>
        <p:txBody>
          <a:bodyPr anchor="b"/>
          <a:lstStyle>
            <a:lvl1pPr>
              <a:lnSpc>
                <a:spcPct val="100000"/>
              </a:lnSpc>
              <a:defRPr sz="48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r>
              <a:rPr lang="de-DE" dirty="0"/>
              <a:t>VIELEN DANK.</a:t>
            </a:r>
          </a:p>
        </p:txBody>
      </p:sp>
      <p:sp>
        <p:nvSpPr>
          <p:cNvPr id="5" name="Textfeld 4">
            <a:extLst>
              <a:ext uri="{FF2B5EF4-FFF2-40B4-BE49-F238E27FC236}">
                <a16:creationId xmlns:a16="http://schemas.microsoft.com/office/drawing/2014/main" id="{29C2F0F0-1C48-FC4A-A81E-B74A699D3479}"/>
              </a:ext>
            </a:extLst>
          </p:cNvPr>
          <p:cNvSpPr txBox="1"/>
          <p:nvPr userDrawn="1"/>
        </p:nvSpPr>
        <p:spPr>
          <a:xfrm>
            <a:off x="1187450" y="6199287"/>
            <a:ext cx="2484438" cy="215444"/>
          </a:xfrm>
          <a:prstGeom prst="rect">
            <a:avLst/>
          </a:prstGeom>
          <a:noFill/>
        </p:spPr>
        <p:txBody>
          <a:bodyPr wrap="square" lIns="0" tIns="0" rIns="0" bIns="0" rtlCol="0">
            <a:spAutoFit/>
          </a:bodyPr>
          <a:lstStyle/>
          <a:p>
            <a:pPr marL="0" marR="0" lvl="0" indent="0" algn="l" defTabSz="457148" rtl="0" eaLnBrk="1" fontAlgn="auto" latinLnBrk="0" hangingPunct="1">
              <a:lnSpc>
                <a:spcPct val="100000"/>
              </a:lnSpc>
              <a:spcBef>
                <a:spcPts val="0"/>
              </a:spcBef>
              <a:spcAft>
                <a:spcPts val="0"/>
              </a:spcAft>
              <a:buClrTx/>
              <a:buSzTx/>
              <a:buFontTx/>
              <a:buNone/>
              <a:tabLst/>
              <a:defRPr/>
            </a:pPr>
            <a:r>
              <a:rPr lang="de-DE" sz="1400" b="1" kern="0" spc="130" dirty="0">
                <a:solidFill>
                  <a:srgbClr val="FFFFFF"/>
                </a:solidFill>
                <a:latin typeface="Noto Sans"/>
                <a:cs typeface="Noto Sans"/>
              </a:rPr>
              <a:t>WWW.FUGGERBANK.DE</a:t>
            </a:r>
          </a:p>
        </p:txBody>
      </p:sp>
    </p:spTree>
    <p:extLst>
      <p:ext uri="{BB962C8B-B14F-4D97-AF65-F5344CB8AC3E}">
        <p14:creationId xmlns:p14="http://schemas.microsoft.com/office/powerpoint/2010/main" val="2904871532"/>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2_Grußfolie">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3" name="Untertitel">
            <a:extLst>
              <a:ext uri="{FF2B5EF4-FFF2-40B4-BE49-F238E27FC236}">
                <a16:creationId xmlns:a16="http://schemas.microsoft.com/office/drawing/2014/main" id="{0AFF4D17-FE0D-4ED3-7D17-07E3D1797497}"/>
              </a:ext>
            </a:extLst>
          </p:cNvPr>
          <p:cNvSpPr>
            <a:spLocks noGrp="1" noRot="1" noMove="1" noResize="1" noEditPoints="1" noAdjustHandles="1" noChangeArrowheads="1" noChangeShapeType="1"/>
          </p:cNvSpPr>
          <p:nvPr>
            <p:ph type="subTitle" idx="1"/>
          </p:nvPr>
        </p:nvSpPr>
        <p:spPr>
          <a:xfrm>
            <a:off x="1006475" y="2307362"/>
            <a:ext cx="6626225" cy="303222"/>
          </a:xfrm>
        </p:spPr>
        <p:txBody>
          <a:bodyPr/>
          <a:lstStyle>
            <a:lvl1pPr marL="0" indent="0" algn="l">
              <a:buNone/>
              <a:defRPr sz="2800" b="0" cap="none" baseline="0">
                <a:solidFill>
                  <a:schemeClr val="bg1"/>
                </a:solidFill>
                <a:latin typeface="+mj-lt"/>
              </a:defRPr>
            </a:lvl1pPr>
            <a:lvl2pPr marL="391500" indent="0" algn="ctr">
              <a:buNone/>
              <a:defRPr sz="1713"/>
            </a:lvl2pPr>
            <a:lvl3pPr marL="783001" indent="0" algn="ctr">
              <a:buNone/>
              <a:defRPr sz="1541"/>
            </a:lvl3pPr>
            <a:lvl4pPr marL="1174501" indent="0" algn="ctr">
              <a:buNone/>
              <a:defRPr sz="1370"/>
            </a:lvl4pPr>
            <a:lvl5pPr marL="1566001" indent="0" algn="ctr">
              <a:buNone/>
              <a:defRPr sz="1370"/>
            </a:lvl5pPr>
            <a:lvl6pPr marL="1957502" indent="0" algn="ctr">
              <a:buNone/>
              <a:defRPr sz="1370"/>
            </a:lvl6pPr>
            <a:lvl7pPr marL="2349002" indent="0" algn="ctr">
              <a:buNone/>
              <a:defRPr sz="1370"/>
            </a:lvl7pPr>
            <a:lvl8pPr marL="2740503" indent="0" algn="ctr">
              <a:buNone/>
              <a:defRPr sz="1370"/>
            </a:lvl8pPr>
            <a:lvl9pPr marL="3132003" indent="0" algn="ctr">
              <a:buNone/>
              <a:defRPr sz="1370"/>
            </a:lvl9pPr>
          </a:lstStyle>
          <a:p>
            <a:r>
              <a:rPr lang="de-DE" dirty="0"/>
              <a:t>Master-Untertitelformat bearbeiten</a:t>
            </a:r>
          </a:p>
        </p:txBody>
      </p:sp>
      <p:sp>
        <p:nvSpPr>
          <p:cNvPr id="2" name="Titel">
            <a:extLst>
              <a:ext uri="{FF2B5EF4-FFF2-40B4-BE49-F238E27FC236}">
                <a16:creationId xmlns:a16="http://schemas.microsoft.com/office/drawing/2014/main" id="{C1C34371-6866-6B79-4A4E-D51B359DA61B}"/>
              </a:ext>
            </a:extLst>
          </p:cNvPr>
          <p:cNvSpPr>
            <a:spLocks noGrp="1" noRot="1" noMove="1" noResize="1" noEditPoints="1" noAdjustHandles="1" noChangeArrowheads="1" noChangeShapeType="1"/>
          </p:cNvSpPr>
          <p:nvPr>
            <p:ph type="ctrTitle" hasCustomPrompt="1"/>
          </p:nvPr>
        </p:nvSpPr>
        <p:spPr>
          <a:xfrm>
            <a:off x="1006475" y="1046481"/>
            <a:ext cx="6626225" cy="858520"/>
          </a:xfrm>
        </p:spPr>
        <p:txBody>
          <a:bodyPr tIns="0" anchor="t" anchorCtr="0"/>
          <a:lstStyle>
            <a:lvl1pPr algn="l">
              <a:lnSpc>
                <a:spcPts val="3450"/>
              </a:lnSpc>
              <a:defRPr sz="3600">
                <a:solidFill>
                  <a:schemeClr val="bg1"/>
                </a:solidFill>
                <a:latin typeface="+mn-lt"/>
              </a:defRPr>
            </a:lvl1pPr>
          </a:lstStyle>
          <a:p>
            <a:r>
              <a:rPr lang="de-DE" dirty="0"/>
              <a:t>MASTERTITELFORMAT BEARBEITEN</a:t>
            </a:r>
          </a:p>
        </p:txBody>
      </p:sp>
    </p:spTree>
    <p:extLst>
      <p:ext uri="{BB962C8B-B14F-4D97-AF65-F5344CB8AC3E}">
        <p14:creationId xmlns:p14="http://schemas.microsoft.com/office/powerpoint/2010/main" val="1053545515"/>
      </p:ext>
    </p:extLst>
  </p:cSld>
  <p:clrMapOvr>
    <a:masterClrMapping/>
  </p:clrMapOvr>
  <p:extLst>
    <p:ext uri="{DCECCB84-F9BA-43D5-87BE-67443E8EF086}">
      <p15:sldGuideLst xmlns:p15="http://schemas.microsoft.com/office/powerpoint/2012/main">
        <p15:guide id="1" orient="horz" pos="2097" userDrawn="1">
          <p15:clr>
            <a:srgbClr val="FBAE40"/>
          </p15:clr>
        </p15:guide>
        <p15:guide id="2" pos="3288"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1441D935-D4CE-8629-989D-CCFB95BFBF88}"/>
              </a:ext>
            </a:extLst>
          </p:cNvPr>
          <p:cNvSpPr>
            <a:spLocks noGrp="1" noRot="1" noMove="1" noResize="1" noEditPoints="1" noAdjustHandles="1" noChangeArrowheads="1" noChangeShapeType="1"/>
          </p:cNvSpPr>
          <p:nvPr>
            <p:ph type="dt" sz="half" idx="2"/>
          </p:nvPr>
        </p:nvSpPr>
        <p:spPr>
          <a:xfrm>
            <a:off x="7740763" y="6804958"/>
            <a:ext cx="2340000" cy="108000"/>
          </a:xfrm>
          <a:prstGeom prst="rect">
            <a:avLst/>
          </a:prstGeom>
        </p:spPr>
        <p:txBody>
          <a:bodyPr vert="horz" wrap="none" lIns="0" tIns="0" rIns="0" bIns="0" rtlCol="0" anchor="ctr"/>
          <a:lstStyle>
            <a:lvl1pPr algn="l">
              <a:defRPr sz="600">
                <a:solidFill>
                  <a:schemeClr val="tx1">
                    <a:lumMod val="50000"/>
                    <a:lumOff val="50000"/>
                  </a:schemeClr>
                </a:solidFill>
              </a:defRPr>
            </a:lvl1pPr>
          </a:lstStyle>
          <a:p>
            <a:fld id="{D2EEA022-D032-4EEB-B3BB-451FF23CBEEB}" type="datetimeFigureOut">
              <a:rPr lang="de-DE" smtClean="0"/>
              <a:pPr/>
              <a:t>20.07.2026</a:t>
            </a:fld>
            <a:endParaRPr lang="de-DE" dirty="0"/>
          </a:p>
        </p:txBody>
      </p:sp>
      <p:sp>
        <p:nvSpPr>
          <p:cNvPr id="6" name="Foliennummer">
            <a:extLst>
              <a:ext uri="{FF2B5EF4-FFF2-40B4-BE49-F238E27FC236}">
                <a16:creationId xmlns:a16="http://schemas.microsoft.com/office/drawing/2014/main" id="{D677F6CD-9908-3B49-0E21-DF1BF9A27F4A}"/>
              </a:ext>
            </a:extLst>
          </p:cNvPr>
          <p:cNvSpPr>
            <a:spLocks noGrp="1" noRot="1" noMove="1" noResize="1" noEditPoints="1" noAdjustHandles="1" noChangeArrowheads="1" noChangeShapeType="1"/>
          </p:cNvSpPr>
          <p:nvPr>
            <p:ph type="sldNum" sz="quarter" idx="4"/>
          </p:nvPr>
        </p:nvSpPr>
        <p:spPr>
          <a:xfrm>
            <a:off x="7866000" y="6182738"/>
            <a:ext cx="2224263" cy="157725"/>
          </a:xfrm>
          <a:prstGeom prst="rect">
            <a:avLst/>
          </a:prstGeom>
        </p:spPr>
        <p:txBody>
          <a:bodyPr vert="horz" lIns="0" tIns="0" rIns="0" bIns="0" rtlCol="0" anchor="t" anchorCtr="0">
            <a:noAutofit/>
          </a:bodyPr>
          <a:lstStyle>
            <a:lvl1pPr algn="r">
              <a:defRPr sz="1000" b="1">
                <a:solidFill>
                  <a:schemeClr val="accent1"/>
                </a:solidFill>
                <a:latin typeface="+mj-lt"/>
              </a:defRPr>
            </a:lvl1pPr>
          </a:lstStyle>
          <a:p>
            <a:fld id="{3AE71D6B-ACB6-4F4C-A895-DCAEF1760EAA}" type="slidenum">
              <a:rPr lang="de-DE" smtClean="0"/>
              <a:pPr/>
              <a:t>‹Nr.›</a:t>
            </a:fld>
            <a:endParaRPr lang="de-DE" dirty="0"/>
          </a:p>
        </p:txBody>
      </p:sp>
      <p:pic>
        <p:nvPicPr>
          <p:cNvPr id="8" name="Logo">
            <a:extLst>
              <a:ext uri="{FF2B5EF4-FFF2-40B4-BE49-F238E27FC236}">
                <a16:creationId xmlns:a16="http://schemas.microsoft.com/office/drawing/2014/main" id="{3D23323B-A958-3EE3-70B5-D03430E8261D}"/>
              </a:ext>
            </a:extLst>
          </p:cNvPr>
          <p:cNvPicPr>
            <a:picLocks noGrp="1" noRot="1" noChangeAspect="1" noMove="1" noResize="1" noEditPoints="1" noAdjustHandles="1" noChangeArrowheads="1" noChangeShapeType="1" noCrop="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p:blipFill>
        <p:spPr>
          <a:xfrm>
            <a:off x="394863" y="6149482"/>
            <a:ext cx="1577376" cy="205348"/>
          </a:xfrm>
          <a:prstGeom prst="rect">
            <a:avLst/>
          </a:prstGeom>
        </p:spPr>
      </p:pic>
      <p:cxnSp>
        <p:nvCxnSpPr>
          <p:cNvPr id="10" name="Linie">
            <a:extLst>
              <a:ext uri="{FF2B5EF4-FFF2-40B4-BE49-F238E27FC236}">
                <a16:creationId xmlns:a16="http://schemas.microsoft.com/office/drawing/2014/main" id="{30C87199-9CC3-886E-3A4B-0FA6C63EFFD7}"/>
              </a:ext>
            </a:extLst>
          </p:cNvPr>
          <p:cNvCxnSpPr>
            <a:cxnSpLocks noGrp="1" noRot="1" noMove="1" noResize="1" noEditPoints="1" noAdjustHandles="1" noChangeArrowheads="1" noChangeShapeType="1"/>
          </p:cNvCxnSpPr>
          <p:nvPr userDrawn="1"/>
        </p:nvCxnSpPr>
        <p:spPr>
          <a:xfrm>
            <a:off x="2087612" y="6296970"/>
            <a:ext cx="7776000"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platzhalter">
            <a:extLst>
              <a:ext uri="{FF2B5EF4-FFF2-40B4-BE49-F238E27FC236}">
                <a16:creationId xmlns:a16="http://schemas.microsoft.com/office/drawing/2014/main" id="{23733324-201D-2B98-A6E9-A9E03DE47618}"/>
              </a:ext>
            </a:extLst>
          </p:cNvPr>
          <p:cNvSpPr>
            <a:spLocks noGrp="1" noRot="1" noMove="1" noResize="1" noEditPoints="1" noAdjustHandles="1" noChangeArrowheads="1" noChangeShapeType="1"/>
          </p:cNvSpPr>
          <p:nvPr>
            <p:ph type="body" idx="1"/>
          </p:nvPr>
        </p:nvSpPr>
        <p:spPr>
          <a:xfrm>
            <a:off x="358774" y="1041401"/>
            <a:ext cx="9756775" cy="479107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Siebente Ebene</a:t>
            </a:r>
          </a:p>
          <a:p>
            <a:pPr lvl="7"/>
            <a:r>
              <a:rPr lang="de-DE" dirty="0"/>
              <a:t>Achte Ebene</a:t>
            </a:r>
          </a:p>
          <a:p>
            <a:pPr lvl="8"/>
            <a:r>
              <a:rPr lang="de-DE" dirty="0"/>
              <a:t>Neunte Ebene</a:t>
            </a:r>
          </a:p>
        </p:txBody>
      </p:sp>
      <p:sp>
        <p:nvSpPr>
          <p:cNvPr id="2" name="Titelplatzhalter">
            <a:extLst>
              <a:ext uri="{FF2B5EF4-FFF2-40B4-BE49-F238E27FC236}">
                <a16:creationId xmlns:a16="http://schemas.microsoft.com/office/drawing/2014/main" id="{25F389A5-5A88-033D-BB4F-AD00957B388F}"/>
              </a:ext>
            </a:extLst>
          </p:cNvPr>
          <p:cNvSpPr>
            <a:spLocks noGrp="1" noRot="1" noMove="1" noResize="1" noEditPoints="1" noAdjustHandles="1" noChangeArrowheads="1" noChangeShapeType="1"/>
          </p:cNvSpPr>
          <p:nvPr>
            <p:ph type="title"/>
          </p:nvPr>
        </p:nvSpPr>
        <p:spPr>
          <a:xfrm>
            <a:off x="358775" y="322580"/>
            <a:ext cx="9756774" cy="360000"/>
          </a:xfrm>
          <a:prstGeom prst="rect">
            <a:avLst/>
          </a:prstGeom>
        </p:spPr>
        <p:txBody>
          <a:bodyPr vert="horz" wrap="none" lIns="0" tIns="36000" rIns="0" bIns="0" rtlCol="0" anchor="t" anchorCtr="0">
            <a:noAutofit/>
          </a:bodyPr>
          <a:lstStyle/>
          <a:p>
            <a:r>
              <a:rPr lang="de-DE" dirty="0"/>
              <a:t>Mastertitelformat bearbeiten</a:t>
            </a:r>
          </a:p>
        </p:txBody>
      </p:sp>
    </p:spTree>
    <p:extLst>
      <p:ext uri="{BB962C8B-B14F-4D97-AF65-F5344CB8AC3E}">
        <p14:creationId xmlns:p14="http://schemas.microsoft.com/office/powerpoint/2010/main" val="2613421600"/>
      </p:ext>
    </p:extLst>
  </p:cSld>
  <p:clrMap bg1="lt1" tx1="dk1" bg2="lt2" tx2="dk2" accent1="accent1" accent2="accent2" accent3="accent3" accent4="accent4" accent5="accent5" accent6="accent6" hlink="hlink" folHlink="folHlink"/>
  <p:sldLayoutIdLst>
    <p:sldLayoutId id="2147483649" r:id="rId1"/>
    <p:sldLayoutId id="2147483683" r:id="rId2"/>
    <p:sldLayoutId id="2147483662" r:id="rId3"/>
    <p:sldLayoutId id="2147483663" r:id="rId4"/>
    <p:sldLayoutId id="2147483664" r:id="rId5"/>
    <p:sldLayoutId id="2147483667" r:id="rId6"/>
    <p:sldLayoutId id="2147483668" r:id="rId7"/>
    <p:sldLayoutId id="2147483669" r:id="rId8"/>
    <p:sldLayoutId id="2147483670" r:id="rId9"/>
    <p:sldLayoutId id="2147483673" r:id="rId10"/>
    <p:sldLayoutId id="2147483677" r:id="rId11"/>
    <p:sldLayoutId id="2147483678" r:id="rId12"/>
    <p:sldLayoutId id="2147483650" r:id="rId13"/>
    <p:sldLayoutId id="2147483672" r:id="rId14"/>
    <p:sldLayoutId id="2147483671" r:id="rId15"/>
    <p:sldLayoutId id="2147483665" r:id="rId16"/>
    <p:sldLayoutId id="2147483660" r:id="rId17"/>
    <p:sldLayoutId id="2147483666" r:id="rId18"/>
    <p:sldLayoutId id="2147483661" r:id="rId19"/>
    <p:sldLayoutId id="2147483654" r:id="rId20"/>
    <p:sldLayoutId id="2147483655" r:id="rId21"/>
    <p:sldLayoutId id="2147483674" r:id="rId22"/>
    <p:sldLayoutId id="2147483675" r:id="rId23"/>
    <p:sldLayoutId id="2147483676" r:id="rId24"/>
    <p:sldLayoutId id="2147483679" r:id="rId25"/>
    <p:sldLayoutId id="2147483680" r:id="rId26"/>
    <p:sldLayoutId id="2147483681" r:id="rId27"/>
    <p:sldLayoutId id="2147483685" r:id="rId28"/>
    <p:sldLayoutId id="2147483684" r:id="rId29"/>
    <p:sldLayoutId id="2147483682" r:id="rId30"/>
  </p:sldLayoutIdLst>
  <p:hf hdr="0" ftr="0" dt="0"/>
  <p:txStyles>
    <p:title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p:titleStyle>
    <p:body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33"/>
        </a:buBlip>
        <a:defRPr sz="1100" kern="1200">
          <a:solidFill>
            <a:schemeClr val="tx1"/>
          </a:solidFill>
          <a:latin typeface="+mn-lt"/>
          <a:ea typeface="+mn-ea"/>
          <a:cs typeface="+mn-cs"/>
        </a:defRPr>
      </a:lvl9pPr>
    </p:bodyStyle>
    <p:otherStyle>
      <a:defPPr>
        <a:defRPr lang="de-DE"/>
      </a:defPPr>
      <a:lvl1pPr marL="0" algn="l" defTabSz="783001" rtl="0" eaLnBrk="1" latinLnBrk="0" hangingPunct="1">
        <a:defRPr sz="1541" kern="1200">
          <a:solidFill>
            <a:schemeClr val="tx1"/>
          </a:solidFill>
          <a:latin typeface="+mn-lt"/>
          <a:ea typeface="+mn-ea"/>
          <a:cs typeface="+mn-cs"/>
        </a:defRPr>
      </a:lvl1pPr>
      <a:lvl2pPr marL="391500" algn="l" defTabSz="783001" rtl="0" eaLnBrk="1" latinLnBrk="0" hangingPunct="1">
        <a:defRPr sz="1541" kern="1200">
          <a:solidFill>
            <a:schemeClr val="tx1"/>
          </a:solidFill>
          <a:latin typeface="+mn-lt"/>
          <a:ea typeface="+mn-ea"/>
          <a:cs typeface="+mn-cs"/>
        </a:defRPr>
      </a:lvl2pPr>
      <a:lvl3pPr marL="783001" algn="l" defTabSz="783001" rtl="0" eaLnBrk="1" latinLnBrk="0" hangingPunct="1">
        <a:defRPr sz="1541" kern="1200">
          <a:solidFill>
            <a:schemeClr val="tx1"/>
          </a:solidFill>
          <a:latin typeface="+mn-lt"/>
          <a:ea typeface="+mn-ea"/>
          <a:cs typeface="+mn-cs"/>
        </a:defRPr>
      </a:lvl3pPr>
      <a:lvl4pPr marL="1174501" algn="l" defTabSz="783001" rtl="0" eaLnBrk="1" latinLnBrk="0" hangingPunct="1">
        <a:defRPr sz="1541" kern="1200">
          <a:solidFill>
            <a:schemeClr val="tx1"/>
          </a:solidFill>
          <a:latin typeface="+mn-lt"/>
          <a:ea typeface="+mn-ea"/>
          <a:cs typeface="+mn-cs"/>
        </a:defRPr>
      </a:lvl4pPr>
      <a:lvl5pPr marL="1566001" algn="l" defTabSz="783001" rtl="0" eaLnBrk="1" latinLnBrk="0" hangingPunct="1">
        <a:defRPr sz="1541" kern="1200">
          <a:solidFill>
            <a:schemeClr val="tx1"/>
          </a:solidFill>
          <a:latin typeface="+mn-lt"/>
          <a:ea typeface="+mn-ea"/>
          <a:cs typeface="+mn-cs"/>
        </a:defRPr>
      </a:lvl5pPr>
      <a:lvl6pPr marL="1957502" algn="l" defTabSz="783001" rtl="0" eaLnBrk="1" latinLnBrk="0" hangingPunct="1">
        <a:defRPr sz="1541" kern="1200">
          <a:solidFill>
            <a:schemeClr val="tx1"/>
          </a:solidFill>
          <a:latin typeface="+mn-lt"/>
          <a:ea typeface="+mn-ea"/>
          <a:cs typeface="+mn-cs"/>
        </a:defRPr>
      </a:lvl6pPr>
      <a:lvl7pPr marL="2349002" algn="l" defTabSz="783001" rtl="0" eaLnBrk="1" latinLnBrk="0" hangingPunct="1">
        <a:defRPr sz="1541" kern="1200">
          <a:solidFill>
            <a:schemeClr val="tx1"/>
          </a:solidFill>
          <a:latin typeface="+mn-lt"/>
          <a:ea typeface="+mn-ea"/>
          <a:cs typeface="+mn-cs"/>
        </a:defRPr>
      </a:lvl7pPr>
      <a:lvl8pPr marL="2740503" algn="l" defTabSz="783001" rtl="0" eaLnBrk="1" latinLnBrk="0" hangingPunct="1">
        <a:defRPr sz="1541" kern="1200">
          <a:solidFill>
            <a:schemeClr val="tx1"/>
          </a:solidFill>
          <a:latin typeface="+mn-lt"/>
          <a:ea typeface="+mn-ea"/>
          <a:cs typeface="+mn-cs"/>
        </a:defRPr>
      </a:lvl8pPr>
      <a:lvl9pPr marL="3132003" algn="l" defTabSz="783001" rtl="0" eaLnBrk="1" latinLnBrk="0" hangingPunct="1">
        <a:defRPr sz="15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7" userDrawn="1">
          <p15:clr>
            <a:srgbClr val="F26B43"/>
          </p15:clr>
        </p15:guide>
        <p15:guide id="3" pos="226" userDrawn="1">
          <p15:clr>
            <a:srgbClr val="F26B43"/>
          </p15:clr>
        </p15:guide>
        <p15:guide id="15" pos="634" userDrawn="1">
          <p15:clr>
            <a:srgbClr val="F26B43"/>
          </p15:clr>
        </p15:guide>
        <p15:guide id="16" pos="748" userDrawn="1">
          <p15:clr>
            <a:srgbClr val="F26B43"/>
          </p15:clr>
        </p15:guide>
        <p15:guide id="17" pos="1156" userDrawn="1">
          <p15:clr>
            <a:srgbClr val="F26B43"/>
          </p15:clr>
        </p15:guide>
        <p15:guide id="18" pos="1270" userDrawn="1">
          <p15:clr>
            <a:srgbClr val="F26B43"/>
          </p15:clr>
        </p15:guide>
        <p15:guide id="19" pos="1678" userDrawn="1">
          <p15:clr>
            <a:srgbClr val="F26B43"/>
          </p15:clr>
        </p15:guide>
        <p15:guide id="20" pos="1791" userDrawn="1">
          <p15:clr>
            <a:srgbClr val="F26B43"/>
          </p15:clr>
        </p15:guide>
        <p15:guide id="21" pos="2199" userDrawn="1">
          <p15:clr>
            <a:srgbClr val="F26B43"/>
          </p15:clr>
        </p15:guide>
        <p15:guide id="22" pos="2313" userDrawn="1">
          <p15:clr>
            <a:srgbClr val="F26B43"/>
          </p15:clr>
        </p15:guide>
        <p15:guide id="23" pos="2721" userDrawn="1">
          <p15:clr>
            <a:srgbClr val="F26B43"/>
          </p15:clr>
        </p15:guide>
        <p15:guide id="24" pos="2834" userDrawn="1">
          <p15:clr>
            <a:srgbClr val="F26B43"/>
          </p15:clr>
        </p15:guide>
        <p15:guide id="25" pos="3243" userDrawn="1">
          <p15:clr>
            <a:srgbClr val="F26B43"/>
          </p15:clr>
        </p15:guide>
        <p15:guide id="26" pos="3356" userDrawn="1">
          <p15:clr>
            <a:srgbClr val="F26B43"/>
          </p15:clr>
        </p15:guide>
        <p15:guide id="27" pos="3764" userDrawn="1">
          <p15:clr>
            <a:srgbClr val="F26B43"/>
          </p15:clr>
        </p15:guide>
        <p15:guide id="28" pos="3878" userDrawn="1">
          <p15:clr>
            <a:srgbClr val="F26B43"/>
          </p15:clr>
        </p15:guide>
        <p15:guide id="29" pos="4286" userDrawn="1">
          <p15:clr>
            <a:srgbClr val="F26B43"/>
          </p15:clr>
        </p15:guide>
        <p15:guide id="30" pos="4399" userDrawn="1">
          <p15:clr>
            <a:srgbClr val="F26B43"/>
          </p15:clr>
        </p15:guide>
        <p15:guide id="31" pos="4808" userDrawn="1">
          <p15:clr>
            <a:srgbClr val="F26B43"/>
          </p15:clr>
        </p15:guide>
        <p15:guide id="32" pos="4921" userDrawn="1">
          <p15:clr>
            <a:srgbClr val="F26B43"/>
          </p15:clr>
        </p15:guide>
        <p15:guide id="33" pos="5329" userDrawn="1">
          <p15:clr>
            <a:srgbClr val="F26B43"/>
          </p15:clr>
        </p15:guide>
        <p15:guide id="34" pos="5443" userDrawn="1">
          <p15:clr>
            <a:srgbClr val="F26B43"/>
          </p15:clr>
        </p15:guide>
        <p15:guide id="35" pos="5851" userDrawn="1">
          <p15:clr>
            <a:srgbClr val="F26B43"/>
          </p15:clr>
        </p15:guide>
        <p15:guide id="36" pos="5964" userDrawn="1">
          <p15:clr>
            <a:srgbClr val="F26B43"/>
          </p15:clr>
        </p15:guide>
        <p15:guide id="37" pos="6372" userDrawn="1">
          <p15:clr>
            <a:srgbClr val="F26B43"/>
          </p15:clr>
        </p15:guide>
        <p15:guide id="38" orient="horz" pos="4002" userDrawn="1">
          <p15:clr>
            <a:srgbClr val="F26B43"/>
          </p15:clr>
        </p15:guide>
        <p15:guide id="39" orient="horz" userDrawn="1">
          <p15:clr>
            <a:srgbClr val="F26B43"/>
          </p15:clr>
        </p15:guide>
        <p15:guide id="40" orient="horz" pos="656" userDrawn="1">
          <p15:clr>
            <a:srgbClr val="F26B43"/>
          </p15:clr>
        </p15:guide>
        <p15:guide id="41" orient="horz" pos="4195" userDrawn="1">
          <p15:clr>
            <a:srgbClr val="F26B43"/>
          </p15:clr>
        </p15:guide>
        <p15:guide id="42" orient="horz" pos="36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15.xml"/><Relationship Id="rId4" Type="http://schemas.openxmlformats.org/officeDocument/2006/relationships/image" Target="../media/image2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0.xml"/><Relationship Id="rId4" Type="http://schemas.openxmlformats.org/officeDocument/2006/relationships/image" Target="../media/image35.jpg"/></Relationships>
</file>

<file path=ppt/slides/_rels/slide2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png"/><Relationship Id="rId1" Type="http://schemas.openxmlformats.org/officeDocument/2006/relationships/slideLayout" Target="../slideLayouts/slideLayout20.xml"/><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hyperlink" Target="mailto:info@fuggerbank.de" TargetMode="External"/><Relationship Id="rId2"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hyperlink" Target="https://www.ecb.europa.eu/" TargetMode="External"/><Relationship Id="rId5" Type="http://schemas.openxmlformats.org/officeDocument/2006/relationships/hyperlink" Target="http://www.bafin.de/" TargetMode="External"/><Relationship Id="rId4" Type="http://schemas.openxmlformats.org/officeDocument/2006/relationships/hyperlink" Target="http://www.fuggerbank.d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1">
            <a:extLst>
              <a:ext uri="{FF2B5EF4-FFF2-40B4-BE49-F238E27FC236}">
                <a16:creationId xmlns:a16="http://schemas.microsoft.com/office/drawing/2014/main" id="{69B4EA7D-A5FE-7752-00E6-26B915E51571}"/>
              </a:ext>
            </a:extLst>
          </p:cNvPr>
          <p:cNvSpPr>
            <a:spLocks noGrp="1"/>
          </p:cNvSpPr>
          <p:nvPr>
            <p:ph type="subTitle" idx="1"/>
          </p:nvPr>
        </p:nvSpPr>
        <p:spPr>
          <a:xfrm>
            <a:off x="1006475" y="2305508"/>
            <a:ext cx="6626225" cy="303222"/>
          </a:xfrm>
        </p:spPr>
        <p:txBody>
          <a:bodyPr/>
          <a:lstStyle>
            <a:lvl1pPr>
              <a:defRPr sz="1400"/>
            </a:lvl1pPr>
          </a:lstStyle>
          <a:p>
            <a:r>
              <a:rPr lang="de-DE" b="0" dirty="0">
                <a:latin typeface="+mn-lt"/>
              </a:rPr>
              <a:t>Unabhängig. Werteorientiert. Persönlich.</a:t>
            </a:r>
          </a:p>
        </p:txBody>
      </p:sp>
      <p:sp>
        <p:nvSpPr>
          <p:cNvPr id="4" name="Titel 2">
            <a:extLst>
              <a:ext uri="{FF2B5EF4-FFF2-40B4-BE49-F238E27FC236}">
                <a16:creationId xmlns:a16="http://schemas.microsoft.com/office/drawing/2014/main" id="{C0103192-9984-CD70-9080-F88F2B387A98}"/>
              </a:ext>
            </a:extLst>
          </p:cNvPr>
          <p:cNvSpPr>
            <a:spLocks noGrp="1"/>
          </p:cNvSpPr>
          <p:nvPr>
            <p:ph type="ctrTitle"/>
          </p:nvPr>
        </p:nvSpPr>
        <p:spPr>
          <a:xfrm>
            <a:off x="1006475" y="1041400"/>
            <a:ext cx="6626225" cy="931775"/>
          </a:xfrm>
        </p:spPr>
        <p:txBody>
          <a:bodyPr/>
          <a:lstStyle>
            <a:lvl1pPr>
              <a:defRPr sz="2000"/>
            </a:lvl1pPr>
          </a:lstStyle>
          <a:p>
            <a:pPr>
              <a:lnSpc>
                <a:spcPts val="3500"/>
              </a:lnSpc>
            </a:pPr>
            <a:r>
              <a:rPr lang="de-DE" sz="2770" dirty="0"/>
              <a:t>Unsere ESG-Vermögensverwaltung </a:t>
            </a:r>
            <a:br>
              <a:rPr lang="de-DE" sz="2770" dirty="0"/>
            </a:br>
            <a:r>
              <a:rPr lang="de-DE" sz="2770" dirty="0"/>
              <a:t>auf ETF-Basis</a:t>
            </a:r>
          </a:p>
        </p:txBody>
      </p:sp>
      <p:cxnSp>
        <p:nvCxnSpPr>
          <p:cNvPr id="5" name="Linie">
            <a:extLst>
              <a:ext uri="{FF2B5EF4-FFF2-40B4-BE49-F238E27FC236}">
                <a16:creationId xmlns:a16="http://schemas.microsoft.com/office/drawing/2014/main" id="{22604EF2-EE09-5391-9718-B12B2ABBE27C}"/>
              </a:ext>
            </a:extLst>
          </p:cNvPr>
          <p:cNvCxnSpPr>
            <a:cxnSpLocks/>
          </p:cNvCxnSpPr>
          <p:nvPr/>
        </p:nvCxnSpPr>
        <p:spPr>
          <a:xfrm>
            <a:off x="1006475" y="2061882"/>
            <a:ext cx="82867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633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4802062-068E-513B-DEE5-E01E722CDD6D}"/>
              </a:ext>
            </a:extLst>
          </p:cNvPr>
          <p:cNvSpPr>
            <a:spLocks noGrp="1"/>
          </p:cNvSpPr>
          <p:nvPr>
            <p:ph type="sldNum" sz="quarter" idx="12"/>
          </p:nvPr>
        </p:nvSpPr>
        <p:spPr/>
        <p:txBody>
          <a:bodyPr/>
          <a:lstStyle/>
          <a:p>
            <a:fld id="{3AE71D6B-ACB6-4F4C-A895-DCAEF1760EAA}" type="slidenum">
              <a:rPr lang="de-DE" smtClean="0"/>
              <a:t>2</a:t>
            </a:fld>
            <a:endParaRPr lang="de-DE"/>
          </a:p>
        </p:txBody>
      </p:sp>
      <p:sp>
        <p:nvSpPr>
          <p:cNvPr id="3" name="Inhaltsplatzhalter 2">
            <a:extLst>
              <a:ext uri="{FF2B5EF4-FFF2-40B4-BE49-F238E27FC236}">
                <a16:creationId xmlns:a16="http://schemas.microsoft.com/office/drawing/2014/main" id="{767F741E-DD97-58D5-B310-D22C8EF6583B}"/>
              </a:ext>
            </a:extLst>
          </p:cNvPr>
          <p:cNvSpPr>
            <a:spLocks noGrp="1"/>
          </p:cNvSpPr>
          <p:nvPr>
            <p:ph idx="1"/>
          </p:nvPr>
        </p:nvSpPr>
        <p:spPr/>
        <p:txBody>
          <a:bodyPr/>
          <a:lstStyle/>
          <a:p>
            <a:pPr>
              <a:spcAft>
                <a:spcPts val="400"/>
              </a:spcAft>
            </a:pPr>
            <a:r>
              <a:rPr lang="de-DE" dirty="0"/>
              <a:t>ESG Basisinformationen	3</a:t>
            </a:r>
          </a:p>
          <a:p>
            <a:pPr>
              <a:spcAft>
                <a:spcPts val="400"/>
              </a:spcAft>
            </a:pPr>
            <a:r>
              <a:rPr lang="de-DE" sz="1000" b="0" dirty="0">
                <a:solidFill>
                  <a:schemeClr val="accent3"/>
                </a:solidFill>
              </a:rPr>
              <a:t>Idee – Richtlinien - Ratings</a:t>
            </a:r>
          </a:p>
          <a:p>
            <a:pPr>
              <a:lnSpc>
                <a:spcPct val="100000"/>
              </a:lnSpc>
              <a:spcAft>
                <a:spcPts val="400"/>
              </a:spcAft>
            </a:pPr>
            <a:r>
              <a:rPr lang="de-DE" dirty="0"/>
              <a:t>Unsere ESG-ETF Strategien	15</a:t>
            </a:r>
          </a:p>
          <a:p>
            <a:pPr>
              <a:lnSpc>
                <a:spcPct val="100000"/>
              </a:lnSpc>
            </a:pPr>
            <a:r>
              <a:rPr lang="de-DE" sz="1000" b="0" dirty="0">
                <a:solidFill>
                  <a:schemeClr val="accent3"/>
                </a:solidFill>
              </a:rPr>
              <a:t>Ausgewogen - Wachstum</a:t>
            </a:r>
            <a:endParaRPr lang="de-DE" dirty="0"/>
          </a:p>
          <a:p>
            <a:r>
              <a:rPr lang="de-DE" dirty="0"/>
              <a:t>Fürst Fugger Privatbank und ihre Standorte	21</a:t>
            </a:r>
          </a:p>
          <a:p>
            <a:r>
              <a:rPr lang="de-DE" dirty="0"/>
              <a:t>Anlagen	24</a:t>
            </a:r>
          </a:p>
          <a:p>
            <a:r>
              <a:rPr lang="de-DE" dirty="0"/>
              <a:t>Rechtliche Hinweise und Impressum	32</a:t>
            </a:r>
          </a:p>
        </p:txBody>
      </p:sp>
      <p:sp>
        <p:nvSpPr>
          <p:cNvPr id="4" name="Titel 3">
            <a:extLst>
              <a:ext uri="{FF2B5EF4-FFF2-40B4-BE49-F238E27FC236}">
                <a16:creationId xmlns:a16="http://schemas.microsoft.com/office/drawing/2014/main" id="{892A02E2-8440-A6BB-B240-BDB640380359}"/>
              </a:ext>
            </a:extLst>
          </p:cNvPr>
          <p:cNvSpPr>
            <a:spLocks noGrp="1"/>
          </p:cNvSpPr>
          <p:nvPr>
            <p:ph type="title"/>
          </p:nvPr>
        </p:nvSpPr>
        <p:spPr/>
        <p:txBody>
          <a:bodyPr/>
          <a:lstStyle/>
          <a:p>
            <a:r>
              <a:rPr lang="de-DE" dirty="0"/>
              <a:t>Inhalt</a:t>
            </a:r>
          </a:p>
        </p:txBody>
      </p:sp>
    </p:spTree>
    <p:extLst>
      <p:ext uri="{BB962C8B-B14F-4D97-AF65-F5344CB8AC3E}">
        <p14:creationId xmlns:p14="http://schemas.microsoft.com/office/powerpoint/2010/main" val="3430581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AD8BD38-62DF-0B4B-8A13-0D6F3732D679}"/>
              </a:ext>
            </a:extLst>
          </p:cNvPr>
          <p:cNvSpPr>
            <a:spLocks noGrp="1"/>
          </p:cNvSpPr>
          <p:nvPr>
            <p:ph type="body" sz="quarter" idx="10"/>
          </p:nvPr>
        </p:nvSpPr>
        <p:spPr/>
        <p:txBody>
          <a:bodyPr/>
          <a:lstStyle/>
          <a:p>
            <a:r>
              <a:rPr lang="de-DE" dirty="0"/>
              <a:t>ESG BASIS-INFORMATIONEN</a:t>
            </a:r>
          </a:p>
        </p:txBody>
      </p:sp>
      <p:sp>
        <p:nvSpPr>
          <p:cNvPr id="3" name="Textplatzhalter 2">
            <a:extLst>
              <a:ext uri="{FF2B5EF4-FFF2-40B4-BE49-F238E27FC236}">
                <a16:creationId xmlns:a16="http://schemas.microsoft.com/office/drawing/2014/main" id="{8701283B-DF7B-9347-803C-7649CE5F59DF}"/>
              </a:ext>
            </a:extLst>
          </p:cNvPr>
          <p:cNvSpPr>
            <a:spLocks noGrp="1"/>
          </p:cNvSpPr>
          <p:nvPr>
            <p:ph type="body" sz="quarter" idx="11"/>
          </p:nvPr>
        </p:nvSpPr>
        <p:spPr/>
        <p:txBody>
          <a:bodyPr/>
          <a:lstStyle/>
          <a:p>
            <a:r>
              <a:rPr lang="de-DE" dirty="0"/>
              <a:t>Idee · Richtlinien · Ratings</a:t>
            </a:r>
          </a:p>
        </p:txBody>
      </p:sp>
    </p:spTree>
    <p:extLst>
      <p:ext uri="{BB962C8B-B14F-4D97-AF65-F5344CB8AC3E}">
        <p14:creationId xmlns:p14="http://schemas.microsoft.com/office/powerpoint/2010/main" val="2178278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a:extLst>
              <a:ext uri="{FF2B5EF4-FFF2-40B4-BE49-F238E27FC236}">
                <a16:creationId xmlns:a16="http://schemas.microsoft.com/office/drawing/2014/main" id="{B23A2E22-AAF9-5C44-AA94-006618376FA0}"/>
              </a:ext>
            </a:extLst>
          </p:cNvPr>
          <p:cNvSpPr>
            <a:spLocks noGrp="1"/>
          </p:cNvSpPr>
          <p:nvPr>
            <p:ph type="subTitle" idx="1"/>
          </p:nvPr>
        </p:nvSpPr>
        <p:spPr>
          <a:xfrm>
            <a:off x="1006474" y="2556744"/>
            <a:ext cx="6626225" cy="303222"/>
          </a:xfrm>
        </p:spPr>
        <p:txBody>
          <a:bodyPr/>
          <a:lstStyle/>
          <a:p>
            <a:pPr>
              <a:lnSpc>
                <a:spcPct val="100000"/>
              </a:lnSpc>
            </a:pPr>
            <a:r>
              <a:rPr lang="de-DE" sz="2800" b="1" dirty="0">
                <a:solidFill>
                  <a:schemeClr val="accent3"/>
                </a:solidFill>
                <a:latin typeface="+mn-lt"/>
              </a:rPr>
              <a:t>ESG Kriterien </a:t>
            </a:r>
            <a:r>
              <a:rPr lang="de-DE" sz="2800" dirty="0"/>
              <a:t>sind fester Bestandteil </a:t>
            </a:r>
            <a:br>
              <a:rPr lang="de-DE" sz="2800" dirty="0"/>
            </a:br>
            <a:r>
              <a:rPr lang="de-DE" sz="2800" dirty="0"/>
              <a:t>unseres Analyse- und Anlageprozesses</a:t>
            </a:r>
          </a:p>
        </p:txBody>
      </p:sp>
      <p:sp>
        <p:nvSpPr>
          <p:cNvPr id="3" name="Titel 2">
            <a:extLst>
              <a:ext uri="{FF2B5EF4-FFF2-40B4-BE49-F238E27FC236}">
                <a16:creationId xmlns:a16="http://schemas.microsoft.com/office/drawing/2014/main" id="{5B895932-3C78-7B41-B1F2-0AF3D2248499}"/>
              </a:ext>
            </a:extLst>
          </p:cNvPr>
          <p:cNvSpPr>
            <a:spLocks noGrp="1"/>
          </p:cNvSpPr>
          <p:nvPr>
            <p:ph type="ctrTitle"/>
          </p:nvPr>
        </p:nvSpPr>
        <p:spPr/>
        <p:txBody>
          <a:bodyPr/>
          <a:lstStyle/>
          <a:p>
            <a:pPr>
              <a:lnSpc>
                <a:spcPct val="100000"/>
              </a:lnSpc>
            </a:pPr>
            <a:r>
              <a:rPr lang="de-DE" sz="3600" dirty="0"/>
              <a:t>NACHHALTIGKEIT </a:t>
            </a:r>
            <a:br>
              <a:rPr lang="de-DE" sz="3600" dirty="0"/>
            </a:br>
            <a:r>
              <a:rPr lang="de-DE" sz="3600" dirty="0"/>
              <a:t>LIEGT UNS AM HERZEN</a:t>
            </a:r>
          </a:p>
        </p:txBody>
      </p:sp>
    </p:spTree>
    <p:extLst>
      <p:ext uri="{BB962C8B-B14F-4D97-AF65-F5344CB8AC3E}">
        <p14:creationId xmlns:p14="http://schemas.microsoft.com/office/powerpoint/2010/main" val="419513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6AFD509-F546-AB85-3556-B9437E9549F1}"/>
              </a:ext>
            </a:extLst>
          </p:cNvPr>
          <p:cNvSpPr>
            <a:spLocks noGrp="1"/>
          </p:cNvSpPr>
          <p:nvPr>
            <p:ph type="sldNum" sz="quarter" idx="12"/>
          </p:nvPr>
        </p:nvSpPr>
        <p:spPr/>
        <p:txBody>
          <a:bodyPr/>
          <a:lstStyle/>
          <a:p>
            <a:fld id="{3AE71D6B-ACB6-4F4C-A895-DCAEF1760EAA}" type="slidenum">
              <a:rPr lang="de-DE" smtClean="0"/>
              <a:t>5</a:t>
            </a:fld>
            <a:endParaRPr lang="de-DE"/>
          </a:p>
        </p:txBody>
      </p:sp>
      <p:sp>
        <p:nvSpPr>
          <p:cNvPr id="3" name="Inhaltsplatzhalter 2">
            <a:extLst>
              <a:ext uri="{FF2B5EF4-FFF2-40B4-BE49-F238E27FC236}">
                <a16:creationId xmlns:a16="http://schemas.microsoft.com/office/drawing/2014/main" id="{B75CF14F-1F60-CE48-3472-4DEC5EA7EA0A}"/>
              </a:ext>
            </a:extLst>
          </p:cNvPr>
          <p:cNvSpPr>
            <a:spLocks noGrp="1"/>
          </p:cNvSpPr>
          <p:nvPr>
            <p:ph idx="14"/>
          </p:nvPr>
        </p:nvSpPr>
        <p:spPr/>
        <p:txBody>
          <a:bodyPr/>
          <a:lstStyle/>
          <a:p>
            <a:pPr algn="ctr"/>
            <a:endParaRPr lang="de-DE" sz="2800" dirty="0"/>
          </a:p>
          <a:p>
            <a:pPr algn="ctr"/>
            <a:r>
              <a:rPr lang="de-DE" sz="2800" dirty="0" err="1"/>
              <a:t>G</a:t>
            </a:r>
            <a:r>
              <a:rPr lang="de-DE" sz="1800" dirty="0" err="1"/>
              <a:t>overnance</a:t>
            </a:r>
            <a:endParaRPr lang="de-DE" sz="1800" dirty="0"/>
          </a:p>
          <a:p>
            <a:pPr algn="ctr"/>
            <a:endParaRPr lang="de-DE" sz="1800" dirty="0"/>
          </a:p>
          <a:p>
            <a:pPr algn="ctr"/>
            <a:endParaRPr lang="de-DE" sz="1800" dirty="0"/>
          </a:p>
          <a:p>
            <a:pPr algn="ctr"/>
            <a:endParaRPr lang="de-DE" sz="1800" dirty="0"/>
          </a:p>
          <a:p>
            <a:pPr algn="ctr"/>
            <a:endParaRPr lang="de-DE" sz="1800" dirty="0"/>
          </a:p>
          <a:p>
            <a:pPr algn="ctr"/>
            <a:r>
              <a:rPr lang="de-DE" sz="1600" dirty="0"/>
              <a:t>Fokus auf eine gute Unternehmensführung</a:t>
            </a:r>
          </a:p>
          <a:p>
            <a:pPr algn="ctr">
              <a:lnSpc>
                <a:spcPct val="100000"/>
              </a:lnSpc>
              <a:spcBef>
                <a:spcPts val="800"/>
              </a:spcBef>
            </a:pPr>
            <a:r>
              <a:rPr lang="de-DE" sz="1200" b="0" dirty="0"/>
              <a:t>keine Korruption oder </a:t>
            </a:r>
            <a:br>
              <a:rPr lang="de-DE" sz="1200" b="0" dirty="0"/>
            </a:br>
            <a:r>
              <a:rPr lang="de-DE" sz="1200" b="0" dirty="0"/>
              <a:t>gesetzeswidrige Handlungen</a:t>
            </a:r>
          </a:p>
          <a:p>
            <a:pPr algn="ctr">
              <a:lnSpc>
                <a:spcPct val="100000"/>
              </a:lnSpc>
              <a:spcBef>
                <a:spcPts val="800"/>
              </a:spcBef>
            </a:pPr>
            <a:r>
              <a:rPr lang="de-DE" sz="1200" b="0" dirty="0"/>
              <a:t>Risiko- und Reputationsmanagement</a:t>
            </a:r>
          </a:p>
          <a:p>
            <a:pPr algn="ctr">
              <a:lnSpc>
                <a:spcPct val="100000"/>
              </a:lnSpc>
              <a:spcBef>
                <a:spcPts val="800"/>
              </a:spcBef>
            </a:pPr>
            <a:r>
              <a:rPr lang="de-DE" sz="1200" b="0" dirty="0"/>
              <a:t>Langfristige Entscheidungen</a:t>
            </a:r>
          </a:p>
          <a:p>
            <a:pPr algn="ctr">
              <a:lnSpc>
                <a:spcPct val="100000"/>
              </a:lnSpc>
              <a:spcBef>
                <a:spcPts val="800"/>
              </a:spcBef>
            </a:pPr>
            <a:r>
              <a:rPr lang="de-DE" sz="1200" b="0" dirty="0"/>
              <a:t>Compliance</a:t>
            </a:r>
          </a:p>
        </p:txBody>
      </p:sp>
      <p:sp>
        <p:nvSpPr>
          <p:cNvPr id="4" name="Inhaltsplatzhalter 3">
            <a:extLst>
              <a:ext uri="{FF2B5EF4-FFF2-40B4-BE49-F238E27FC236}">
                <a16:creationId xmlns:a16="http://schemas.microsoft.com/office/drawing/2014/main" id="{441953F8-05D0-F403-43DB-535718DB262A}"/>
              </a:ext>
            </a:extLst>
          </p:cNvPr>
          <p:cNvSpPr>
            <a:spLocks noGrp="1"/>
          </p:cNvSpPr>
          <p:nvPr>
            <p:ph idx="13"/>
          </p:nvPr>
        </p:nvSpPr>
        <p:spPr/>
        <p:txBody>
          <a:bodyPr/>
          <a:lstStyle/>
          <a:p>
            <a:pPr algn="ctr"/>
            <a:endParaRPr lang="de-DE" sz="2800" dirty="0"/>
          </a:p>
          <a:p>
            <a:pPr algn="ctr"/>
            <a:r>
              <a:rPr lang="de-DE" sz="2800" dirty="0" err="1"/>
              <a:t>S</a:t>
            </a:r>
            <a:r>
              <a:rPr lang="de-DE" sz="1800" dirty="0" err="1"/>
              <a:t>ocial</a:t>
            </a:r>
            <a:endParaRPr lang="de-DE" sz="1800" dirty="0"/>
          </a:p>
          <a:p>
            <a:pPr algn="ctr"/>
            <a:endParaRPr lang="de-DE" sz="1800" dirty="0"/>
          </a:p>
          <a:p>
            <a:pPr algn="ctr"/>
            <a:endParaRPr lang="de-DE" sz="1800" dirty="0"/>
          </a:p>
          <a:p>
            <a:pPr algn="ctr"/>
            <a:endParaRPr lang="de-DE" sz="1800" dirty="0"/>
          </a:p>
          <a:p>
            <a:pPr algn="ctr"/>
            <a:endParaRPr lang="de-DE" sz="1800" dirty="0"/>
          </a:p>
          <a:p>
            <a:pPr algn="ctr"/>
            <a:r>
              <a:rPr lang="de-DE" sz="1600" dirty="0"/>
              <a:t>Fokus auf die </a:t>
            </a:r>
            <a:br>
              <a:rPr lang="de-DE" sz="1600" dirty="0"/>
            </a:br>
            <a:r>
              <a:rPr lang="de-DE" sz="1600" dirty="0"/>
              <a:t>soziale Verpflichtung</a:t>
            </a:r>
          </a:p>
          <a:p>
            <a:pPr algn="ctr">
              <a:lnSpc>
                <a:spcPct val="100000"/>
              </a:lnSpc>
              <a:spcBef>
                <a:spcPts val="800"/>
              </a:spcBef>
            </a:pPr>
            <a:r>
              <a:rPr lang="de-DE" sz="1200" b="0" dirty="0"/>
              <a:t>gerechte Löhne</a:t>
            </a:r>
          </a:p>
          <a:p>
            <a:pPr algn="ctr">
              <a:lnSpc>
                <a:spcPct val="100000"/>
              </a:lnSpc>
              <a:spcBef>
                <a:spcPts val="800"/>
              </a:spcBef>
            </a:pPr>
            <a:r>
              <a:rPr lang="de-DE" sz="1200" b="0" dirty="0"/>
              <a:t>Sicherheit und Gesundheit</a:t>
            </a:r>
          </a:p>
          <a:p>
            <a:pPr algn="ctr">
              <a:lnSpc>
                <a:spcPct val="100000"/>
              </a:lnSpc>
              <a:spcBef>
                <a:spcPts val="800"/>
              </a:spcBef>
            </a:pPr>
            <a:r>
              <a:rPr lang="de-DE" sz="1200" b="0" dirty="0"/>
              <a:t>faire Bezahlung von Zulieferern</a:t>
            </a:r>
          </a:p>
          <a:p>
            <a:pPr algn="ctr">
              <a:lnSpc>
                <a:spcPct val="100000"/>
              </a:lnSpc>
              <a:spcBef>
                <a:spcPts val="800"/>
              </a:spcBef>
            </a:pPr>
            <a:r>
              <a:rPr lang="de-DE" sz="1200" b="0" dirty="0"/>
              <a:t>keine Diskriminierung </a:t>
            </a:r>
          </a:p>
        </p:txBody>
      </p:sp>
      <p:sp>
        <p:nvSpPr>
          <p:cNvPr id="5" name="Inhaltsplatzhalter 4">
            <a:extLst>
              <a:ext uri="{FF2B5EF4-FFF2-40B4-BE49-F238E27FC236}">
                <a16:creationId xmlns:a16="http://schemas.microsoft.com/office/drawing/2014/main" id="{A1A0A030-1BDB-DB8D-536E-A0B9F76BD0E1}"/>
              </a:ext>
            </a:extLst>
          </p:cNvPr>
          <p:cNvSpPr>
            <a:spLocks noGrp="1"/>
          </p:cNvSpPr>
          <p:nvPr>
            <p:ph idx="1"/>
          </p:nvPr>
        </p:nvSpPr>
        <p:spPr/>
        <p:txBody>
          <a:bodyPr/>
          <a:lstStyle/>
          <a:p>
            <a:pPr algn="ctr"/>
            <a:endParaRPr lang="de-DE" sz="2800" dirty="0"/>
          </a:p>
          <a:p>
            <a:pPr algn="ctr"/>
            <a:r>
              <a:rPr lang="de-DE" sz="2800" dirty="0"/>
              <a:t>E</a:t>
            </a:r>
            <a:r>
              <a:rPr lang="de-DE" sz="1800" dirty="0"/>
              <a:t>nvironment</a:t>
            </a:r>
          </a:p>
          <a:p>
            <a:pPr algn="ctr"/>
            <a:endParaRPr lang="de-DE" sz="1800" dirty="0"/>
          </a:p>
          <a:p>
            <a:pPr algn="ctr"/>
            <a:endParaRPr lang="de-DE" sz="1800" dirty="0"/>
          </a:p>
          <a:p>
            <a:pPr algn="ctr"/>
            <a:endParaRPr lang="de-DE" sz="1800" dirty="0"/>
          </a:p>
          <a:p>
            <a:pPr algn="ctr"/>
            <a:endParaRPr lang="de-DE" sz="1800" dirty="0"/>
          </a:p>
          <a:p>
            <a:pPr algn="ctr"/>
            <a:r>
              <a:rPr lang="de-DE" sz="1600" dirty="0"/>
              <a:t>Fokus auf den </a:t>
            </a:r>
            <a:br>
              <a:rPr lang="de-DE" sz="1600" dirty="0"/>
            </a:br>
            <a:r>
              <a:rPr lang="de-DE" sz="1600" dirty="0"/>
              <a:t>Schutz der Umwelt</a:t>
            </a:r>
          </a:p>
          <a:p>
            <a:pPr algn="ctr">
              <a:lnSpc>
                <a:spcPct val="100000"/>
              </a:lnSpc>
              <a:spcBef>
                <a:spcPts val="800"/>
              </a:spcBef>
            </a:pPr>
            <a:r>
              <a:rPr lang="de-DE" sz="1200" b="0" dirty="0"/>
              <a:t>niedrige/keine CO</a:t>
            </a:r>
            <a:r>
              <a:rPr lang="de-DE" sz="600" b="0" dirty="0"/>
              <a:t>2</a:t>
            </a:r>
            <a:r>
              <a:rPr lang="de-DE" sz="1200" b="0" dirty="0"/>
              <a:t>-Emissionen </a:t>
            </a:r>
          </a:p>
          <a:p>
            <a:pPr algn="ctr">
              <a:lnSpc>
                <a:spcPct val="100000"/>
              </a:lnSpc>
              <a:spcBef>
                <a:spcPts val="800"/>
              </a:spcBef>
            </a:pPr>
            <a:r>
              <a:rPr lang="de-DE" sz="1200" b="0" dirty="0"/>
              <a:t>niedriger Wasserverbrauch </a:t>
            </a:r>
          </a:p>
          <a:p>
            <a:pPr algn="ctr">
              <a:lnSpc>
                <a:spcPct val="100000"/>
              </a:lnSpc>
              <a:spcBef>
                <a:spcPts val="800"/>
              </a:spcBef>
            </a:pPr>
            <a:r>
              <a:rPr lang="de-DE" sz="1200" b="0" dirty="0"/>
              <a:t>keine Verschmutzung von Gewässern</a:t>
            </a:r>
          </a:p>
          <a:p>
            <a:pPr algn="ctr">
              <a:lnSpc>
                <a:spcPct val="100000"/>
              </a:lnSpc>
              <a:spcBef>
                <a:spcPts val="800"/>
              </a:spcBef>
            </a:pPr>
            <a:r>
              <a:rPr lang="de-DE" sz="1200" b="0" dirty="0"/>
              <a:t>Erhalt der Wälder/Arten</a:t>
            </a:r>
            <a:endParaRPr lang="de-DE" sz="900" b="0" dirty="0"/>
          </a:p>
        </p:txBody>
      </p:sp>
      <p:sp>
        <p:nvSpPr>
          <p:cNvPr id="6" name="Titel 5">
            <a:extLst>
              <a:ext uri="{FF2B5EF4-FFF2-40B4-BE49-F238E27FC236}">
                <a16:creationId xmlns:a16="http://schemas.microsoft.com/office/drawing/2014/main" id="{AE84A6B4-8D15-614D-2F0B-FF8375601825}"/>
              </a:ext>
            </a:extLst>
          </p:cNvPr>
          <p:cNvSpPr>
            <a:spLocks noGrp="1"/>
          </p:cNvSpPr>
          <p:nvPr>
            <p:ph type="title"/>
          </p:nvPr>
        </p:nvSpPr>
        <p:spPr/>
        <p:txBody>
          <a:bodyPr/>
          <a:lstStyle/>
          <a:p>
            <a:r>
              <a:rPr lang="de-DE" dirty="0"/>
              <a:t>Die drei Säulen der Nachhaltigkeit</a:t>
            </a:r>
          </a:p>
        </p:txBody>
      </p:sp>
      <p:pic>
        <p:nvPicPr>
          <p:cNvPr id="8" name="Grafik 7">
            <a:extLst>
              <a:ext uri="{FF2B5EF4-FFF2-40B4-BE49-F238E27FC236}">
                <a16:creationId xmlns:a16="http://schemas.microsoft.com/office/drawing/2014/main" id="{9C6049D3-1CDC-F567-7194-80A46CB2F4B8}"/>
              </a:ext>
            </a:extLst>
          </p:cNvPr>
          <p:cNvPicPr>
            <a:picLocks noChangeAspect="1"/>
          </p:cNvPicPr>
          <p:nvPr/>
        </p:nvPicPr>
        <p:blipFill>
          <a:blip r:embed="rId2"/>
          <a:stretch>
            <a:fillRect/>
          </a:stretch>
        </p:blipFill>
        <p:spPr>
          <a:xfrm>
            <a:off x="772318" y="1944460"/>
            <a:ext cx="2305050" cy="1285875"/>
          </a:xfrm>
          <a:prstGeom prst="rect">
            <a:avLst/>
          </a:prstGeom>
        </p:spPr>
      </p:pic>
      <p:pic>
        <p:nvPicPr>
          <p:cNvPr id="10" name="Grafik 9">
            <a:extLst>
              <a:ext uri="{FF2B5EF4-FFF2-40B4-BE49-F238E27FC236}">
                <a16:creationId xmlns:a16="http://schemas.microsoft.com/office/drawing/2014/main" id="{A15F0AE3-1BDA-7600-2812-284F899E248D}"/>
              </a:ext>
            </a:extLst>
          </p:cNvPr>
          <p:cNvPicPr>
            <a:picLocks noChangeAspect="1"/>
          </p:cNvPicPr>
          <p:nvPr/>
        </p:nvPicPr>
        <p:blipFill>
          <a:blip r:embed="rId3"/>
          <a:stretch>
            <a:fillRect/>
          </a:stretch>
        </p:blipFill>
        <p:spPr>
          <a:xfrm>
            <a:off x="4143375" y="1979865"/>
            <a:ext cx="2152650" cy="1266825"/>
          </a:xfrm>
          <a:prstGeom prst="rect">
            <a:avLst/>
          </a:prstGeom>
        </p:spPr>
      </p:pic>
      <p:pic>
        <p:nvPicPr>
          <p:cNvPr id="12" name="Grafik 11">
            <a:extLst>
              <a:ext uri="{FF2B5EF4-FFF2-40B4-BE49-F238E27FC236}">
                <a16:creationId xmlns:a16="http://schemas.microsoft.com/office/drawing/2014/main" id="{29FECEEF-5F14-6A00-8806-17B261A5C7B8}"/>
              </a:ext>
            </a:extLst>
          </p:cNvPr>
          <p:cNvPicPr>
            <a:picLocks noChangeAspect="1"/>
          </p:cNvPicPr>
          <p:nvPr/>
        </p:nvPicPr>
        <p:blipFill>
          <a:blip r:embed="rId4"/>
          <a:stretch>
            <a:fillRect/>
          </a:stretch>
        </p:blipFill>
        <p:spPr>
          <a:xfrm>
            <a:off x="7548676" y="1777932"/>
            <a:ext cx="2004790" cy="1618930"/>
          </a:xfrm>
          <a:prstGeom prst="rect">
            <a:avLst/>
          </a:prstGeom>
        </p:spPr>
      </p:pic>
    </p:spTree>
    <p:extLst>
      <p:ext uri="{BB962C8B-B14F-4D97-AF65-F5344CB8AC3E}">
        <p14:creationId xmlns:p14="http://schemas.microsoft.com/office/powerpoint/2010/main" val="102041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6</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327650" y="1050707"/>
            <a:ext cx="3960813" cy="4791074"/>
          </a:xfrm>
        </p:spPr>
        <p:txBody>
          <a:bodyPr/>
          <a:lstStyle/>
          <a:p>
            <a:pPr>
              <a:lnSpc>
                <a:spcPct val="100000"/>
              </a:lnSpc>
            </a:pPr>
            <a:r>
              <a:rPr lang="de-DE" b="0" dirty="0"/>
              <a:t>MSCI deckt mehr als 6.000 Unternehmen und 8.000 Anleihen-Emittenten ab. Es werden die gängigen Ausschlusskriterien im Bereich kontroverse Geschäftspraktiken berücksichtigt. In unseren ESG-Portfolien streben wir ein durchschnittliches ESG-MSCI-Rating von AA an.</a:t>
            </a:r>
          </a:p>
          <a:p>
            <a:pPr>
              <a:lnSpc>
                <a:spcPct val="100000"/>
              </a:lnSpc>
            </a:pPr>
            <a:r>
              <a:rPr lang="de-DE" b="0" dirty="0"/>
              <a:t>Darüber hinaus werden die sogenannten SDGs </a:t>
            </a:r>
            <a:br>
              <a:rPr lang="de-DE" b="0" dirty="0"/>
            </a:br>
            <a:r>
              <a:rPr lang="de-DE" b="0" dirty="0"/>
              <a:t>(</a:t>
            </a:r>
            <a:r>
              <a:rPr lang="de-DE" b="0" dirty="0" err="1"/>
              <a:t>Social</a:t>
            </a:r>
            <a:r>
              <a:rPr lang="de-DE" b="0" dirty="0"/>
              <a:t> Development Goals) der vereinten Nationen im Investmentprozess berücksichtigt. Die 17 Ziele umfassen alle drei Dimensionen der Nachhaltigkeit:</a:t>
            </a:r>
          </a:p>
          <a:p>
            <a:pPr>
              <a:lnSpc>
                <a:spcPct val="100000"/>
              </a:lnSpc>
            </a:pPr>
            <a:r>
              <a:rPr lang="de-DE" b="0" dirty="0"/>
              <a:t>Soziales, Umwelt und Wirtschaft</a:t>
            </a:r>
          </a:p>
        </p:txBody>
      </p:sp>
      <p:sp>
        <p:nvSpPr>
          <p:cNvPr id="5" name="Inhaltsplatzhalter 4">
            <a:extLst>
              <a:ext uri="{FF2B5EF4-FFF2-40B4-BE49-F238E27FC236}">
                <a16:creationId xmlns:a16="http://schemas.microsoft.com/office/drawing/2014/main" id="{A24F3140-E7DE-563B-E0DE-B188622D07CA}"/>
              </a:ext>
            </a:extLst>
          </p:cNvPr>
          <p:cNvSpPr>
            <a:spLocks noGrp="1"/>
          </p:cNvSpPr>
          <p:nvPr>
            <p:ph idx="1"/>
          </p:nvPr>
        </p:nvSpPr>
        <p:spPr>
          <a:xfrm>
            <a:off x="693753" y="1050707"/>
            <a:ext cx="3805222" cy="4791074"/>
          </a:xfrm>
        </p:spPr>
        <p:txBody>
          <a:bodyPr/>
          <a:lstStyle/>
          <a:p>
            <a:pPr>
              <a:lnSpc>
                <a:spcPct val="100000"/>
              </a:lnSpc>
            </a:pPr>
            <a:r>
              <a:rPr lang="de-DE" b="0" dirty="0"/>
              <a:t>Unser Investmentprozess ist darauf ausgelegt, auf nachhaltige Anlagen und Investments zu achten und dabei einen langfristigen Mehrwert für Kunden zu erzielen. Wir investieren in Unternehmen, die respektvoll und wertschätzend mit Menschen, der Umwelt und damit verbunden unserer gemeinsamen Zukunft umgehen.</a:t>
            </a:r>
          </a:p>
          <a:p>
            <a:pPr>
              <a:lnSpc>
                <a:spcPct val="100000"/>
              </a:lnSpc>
            </a:pPr>
            <a:r>
              <a:rPr lang="de-DE" b="0" dirty="0"/>
              <a:t>Dabei ist uns Transparenz und klare Nachvollziehbarkeit unserer Investmententscheidungen besonders wichtig. </a:t>
            </a:r>
          </a:p>
          <a:p>
            <a:pPr>
              <a:lnSpc>
                <a:spcPct val="100000"/>
              </a:lnSpc>
            </a:pPr>
            <a:r>
              <a:rPr lang="de-DE" b="0" dirty="0"/>
              <a:t>Wir setzen hierbei auf die Unterstützung von MSCI ESG Research, dem weltweit größten Anbieter von ESG (Umwelt, Soziales und Unternehmensführung) Research. 300 Vollzeit-Mitarbeiter inklusive 150 ESG-Analysten in 18 Büros weltweit sorgen für eine klare ESG Bewertung.</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ESG und Nachhaltigkeit</a:t>
            </a:r>
          </a:p>
        </p:txBody>
      </p:sp>
      <p:sp>
        <p:nvSpPr>
          <p:cNvPr id="10" name="Textfeld 9">
            <a:extLst>
              <a:ext uri="{FF2B5EF4-FFF2-40B4-BE49-F238E27FC236}">
                <a16:creationId xmlns:a16="http://schemas.microsoft.com/office/drawing/2014/main" id="{37AF4E8D-2511-A440-933C-1A24FE54EAE7}"/>
              </a:ext>
            </a:extLst>
          </p:cNvPr>
          <p:cNvSpPr txBox="1"/>
          <p:nvPr/>
        </p:nvSpPr>
        <p:spPr>
          <a:xfrm>
            <a:off x="2282308" y="6136928"/>
            <a:ext cx="7097917" cy="200055"/>
          </a:xfrm>
          <a:prstGeom prst="rect">
            <a:avLst/>
          </a:prstGeom>
          <a:noFill/>
        </p:spPr>
        <p:txBody>
          <a:bodyPr wrap="square" rtlCol="0">
            <a:spAutoFit/>
          </a:bodyPr>
          <a:lstStyle/>
          <a:p>
            <a:pPr algn="r"/>
            <a:r>
              <a:rPr lang="de-DE" sz="700" dirty="0">
                <a:solidFill>
                  <a:schemeClr val="bg1">
                    <a:lumMod val="50000"/>
                  </a:schemeClr>
                </a:solidFill>
              </a:rPr>
              <a:t>Quelle: www.17ziele.de</a:t>
            </a:r>
          </a:p>
        </p:txBody>
      </p:sp>
    </p:spTree>
    <p:extLst>
      <p:ext uri="{BB962C8B-B14F-4D97-AF65-F5344CB8AC3E}">
        <p14:creationId xmlns:p14="http://schemas.microsoft.com/office/powerpoint/2010/main" val="195650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7</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327651" y="1050707"/>
            <a:ext cx="4302124" cy="4791074"/>
          </a:xfrm>
        </p:spPr>
        <p:txBody>
          <a:bodyPr/>
          <a:lstStyle/>
          <a:p>
            <a:pPr marL="41101" defTabSz="521926">
              <a:lnSpc>
                <a:spcPct val="100000"/>
              </a:lnSpc>
              <a:spcBef>
                <a:spcPts val="400"/>
              </a:spcBef>
              <a:spcAft>
                <a:spcPts val="13"/>
              </a:spcAft>
              <a:defRPr/>
            </a:pPr>
            <a:r>
              <a:rPr lang="de-DE" b="0" dirty="0">
                <a:solidFill>
                  <a:srgbClr val="1A314C"/>
                </a:solidFill>
                <a:latin typeface="+mj-lt"/>
                <a:cs typeface="Noto Serif"/>
              </a:rPr>
              <a:t>Unsere ESG-Vermögensverwaltungen werden als Produkt </a:t>
            </a:r>
            <a:br>
              <a:rPr lang="de-DE" b="0" dirty="0">
                <a:solidFill>
                  <a:srgbClr val="1A314C"/>
                </a:solidFill>
                <a:latin typeface="+mj-lt"/>
                <a:cs typeface="Noto Serif"/>
              </a:rPr>
            </a:br>
            <a:r>
              <a:rPr lang="de-DE" b="0" dirty="0">
                <a:solidFill>
                  <a:srgbClr val="1A314C"/>
                </a:solidFill>
                <a:latin typeface="+mj-lt"/>
                <a:cs typeface="Noto Serif"/>
              </a:rPr>
              <a:t>bzw. Dienstleistung nach Artikel 8 gemäß </a:t>
            </a:r>
            <a:r>
              <a:rPr lang="de-DE" b="0" dirty="0" err="1">
                <a:solidFill>
                  <a:srgbClr val="1A314C"/>
                </a:solidFill>
                <a:latin typeface="+mj-lt"/>
                <a:cs typeface="Noto Serif"/>
              </a:rPr>
              <a:t>Sustainable</a:t>
            </a:r>
            <a:r>
              <a:rPr lang="de-DE" b="0" dirty="0">
                <a:solidFill>
                  <a:srgbClr val="1A314C"/>
                </a:solidFill>
                <a:latin typeface="+mj-lt"/>
                <a:cs typeface="Noto Serif"/>
              </a:rPr>
              <a:t> </a:t>
            </a:r>
            <a:r>
              <a:rPr lang="de-DE" b="0" dirty="0" err="1">
                <a:solidFill>
                  <a:srgbClr val="1A314C"/>
                </a:solidFill>
                <a:latin typeface="+mj-lt"/>
                <a:cs typeface="Noto Serif"/>
              </a:rPr>
              <a:t>Finance</a:t>
            </a:r>
            <a:r>
              <a:rPr lang="de-DE" b="0" dirty="0">
                <a:solidFill>
                  <a:srgbClr val="1A314C"/>
                </a:solidFill>
                <a:latin typeface="+mj-lt"/>
                <a:cs typeface="Noto Serif"/>
              </a:rPr>
              <a:t> </a:t>
            </a:r>
            <a:r>
              <a:rPr lang="de-DE" b="0" dirty="0" err="1">
                <a:solidFill>
                  <a:srgbClr val="1A314C"/>
                </a:solidFill>
                <a:latin typeface="+mj-lt"/>
                <a:cs typeface="Noto Serif"/>
              </a:rPr>
              <a:t>Disclosure</a:t>
            </a:r>
            <a:r>
              <a:rPr lang="de-DE" b="0" dirty="0">
                <a:solidFill>
                  <a:srgbClr val="1A314C"/>
                </a:solidFill>
                <a:latin typeface="+mj-lt"/>
                <a:cs typeface="Noto Serif"/>
              </a:rPr>
              <a:t> Regulation (im Folgenden: SFDR) eingestuft, wobei eine weitere Anpassung der Vermögensverwaltung an die jeweils gültigen regulatorischen Vorgaben zur Erreichung </a:t>
            </a:r>
            <a:br>
              <a:rPr lang="de-DE" b="0" dirty="0">
                <a:solidFill>
                  <a:srgbClr val="1A314C"/>
                </a:solidFill>
                <a:latin typeface="+mj-lt"/>
                <a:cs typeface="Noto Serif"/>
              </a:rPr>
            </a:br>
            <a:r>
              <a:rPr lang="de-DE" b="0" dirty="0">
                <a:solidFill>
                  <a:srgbClr val="1A314C"/>
                </a:solidFill>
                <a:latin typeface="+mj-lt"/>
                <a:cs typeface="Noto Serif"/>
              </a:rPr>
              <a:t>der Einstufung nach Art. 8 SFDR erforderlich werden kann. </a:t>
            </a:r>
            <a:br>
              <a:rPr lang="de-DE" b="0" dirty="0">
                <a:solidFill>
                  <a:srgbClr val="1A314C"/>
                </a:solidFill>
                <a:latin typeface="+mj-lt"/>
                <a:cs typeface="Noto Serif"/>
              </a:rPr>
            </a:br>
            <a:r>
              <a:rPr lang="de-DE" b="0" dirty="0">
                <a:solidFill>
                  <a:srgbClr val="1A314C"/>
                </a:solidFill>
                <a:latin typeface="+mj-lt"/>
                <a:cs typeface="Noto Serif"/>
              </a:rPr>
              <a:t>In diesem Fall erfolgt eine Reallokation zur Gewährleistung der aktuell geltenden Vorgaben.</a:t>
            </a:r>
          </a:p>
          <a:p>
            <a:pPr marL="41101" defTabSz="521926">
              <a:lnSpc>
                <a:spcPct val="100000"/>
              </a:lnSpc>
              <a:spcBef>
                <a:spcPts val="0"/>
              </a:spcBef>
              <a:spcAft>
                <a:spcPts val="1213"/>
              </a:spcAft>
              <a:defRPr/>
            </a:pPr>
            <a:br>
              <a:rPr lang="de-DE" b="0" dirty="0">
                <a:solidFill>
                  <a:srgbClr val="1A314C"/>
                </a:solidFill>
                <a:latin typeface="+mj-lt"/>
                <a:cs typeface="Noto Serif"/>
              </a:rPr>
            </a:br>
            <a:r>
              <a:rPr lang="de-DE" b="0" dirty="0">
                <a:solidFill>
                  <a:srgbClr val="1A314C"/>
                </a:solidFill>
                <a:latin typeface="+mj-lt"/>
                <a:cs typeface="Noto Serif"/>
              </a:rPr>
              <a:t>Ein eingeschränktes Produktangebot und dadurch eingeschränkte Diversifikationsmöglichkeiten können zu höheren Wertschwankungen führen! Zudem bleiben rechtliche Unsicherheiten aufgrund fehlender delegierter Rechtsakte und einer lückenhaften Datenbasis. Die Fürst Fugger Privatbank Aktiengesellschaft kann daher keine Gewährleistung für die Erreichung der Nachhaltigkeitsziele übernehmen.</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Investmentprozess und Risiken</a:t>
            </a:r>
          </a:p>
        </p:txBody>
      </p:sp>
      <p:sp>
        <p:nvSpPr>
          <p:cNvPr id="10" name="Inhaltsplatzhalter 4">
            <a:extLst>
              <a:ext uri="{FF2B5EF4-FFF2-40B4-BE49-F238E27FC236}">
                <a16:creationId xmlns:a16="http://schemas.microsoft.com/office/drawing/2014/main" id="{BB4380A7-B448-E540-AF86-1F8C4F4909FB}"/>
              </a:ext>
            </a:extLst>
          </p:cNvPr>
          <p:cNvSpPr>
            <a:spLocks noGrp="1"/>
          </p:cNvSpPr>
          <p:nvPr>
            <p:ph idx="1"/>
          </p:nvPr>
        </p:nvSpPr>
        <p:spPr>
          <a:xfrm>
            <a:off x="644984" y="1050707"/>
            <a:ext cx="3951400" cy="4791074"/>
          </a:xfrm>
        </p:spPr>
        <p:txBody>
          <a:bodyPr/>
          <a:lstStyle/>
          <a:p>
            <a:pPr marL="41101" defTabSz="521926">
              <a:lnSpc>
                <a:spcPct val="100000"/>
              </a:lnSpc>
              <a:spcAft>
                <a:spcPts val="1713"/>
              </a:spcAft>
              <a:defRPr/>
            </a:pPr>
            <a:r>
              <a:rPr lang="de-DE" b="0" dirty="0">
                <a:solidFill>
                  <a:srgbClr val="1A314C"/>
                </a:solidFill>
                <a:cs typeface="Noto Serif"/>
              </a:rPr>
              <a:t>Wir richten unsere nachhaltige Vermögensverwaltung im Sinne der Offenlegungsverordnung (</a:t>
            </a:r>
            <a:r>
              <a:rPr lang="de-DE" b="0" dirty="0" err="1">
                <a:solidFill>
                  <a:srgbClr val="1A314C"/>
                </a:solidFill>
                <a:cs typeface="Noto Serif"/>
              </a:rPr>
              <a:t>Sustainable</a:t>
            </a:r>
            <a:r>
              <a:rPr lang="de-DE" b="0" dirty="0">
                <a:solidFill>
                  <a:srgbClr val="1A314C"/>
                </a:solidFill>
                <a:cs typeface="Noto Serif"/>
              </a:rPr>
              <a:t> </a:t>
            </a:r>
            <a:r>
              <a:rPr lang="de-DE" b="0" dirty="0" err="1">
                <a:solidFill>
                  <a:srgbClr val="1A314C"/>
                </a:solidFill>
                <a:cs typeface="Noto Serif"/>
              </a:rPr>
              <a:t>Finance</a:t>
            </a:r>
            <a:r>
              <a:rPr lang="de-DE" b="0" dirty="0">
                <a:solidFill>
                  <a:srgbClr val="1A314C"/>
                </a:solidFill>
                <a:cs typeface="Noto Serif"/>
              </a:rPr>
              <a:t> </a:t>
            </a:r>
            <a:r>
              <a:rPr lang="de-DE" b="0" dirty="0" err="1">
                <a:solidFill>
                  <a:srgbClr val="1A314C"/>
                </a:solidFill>
                <a:cs typeface="Noto Serif"/>
              </a:rPr>
              <a:t>Diclosure</a:t>
            </a:r>
            <a:r>
              <a:rPr lang="de-DE" b="0" dirty="0">
                <a:solidFill>
                  <a:srgbClr val="1A314C"/>
                </a:solidFill>
                <a:cs typeface="Noto Serif"/>
              </a:rPr>
              <a:t> Regulation – kurz SFDR) aus und greifen bei der Bewertung auf die </a:t>
            </a:r>
            <a:r>
              <a:rPr lang="de-DE" b="0" dirty="0" err="1">
                <a:solidFill>
                  <a:srgbClr val="1A314C"/>
                </a:solidFill>
                <a:cs typeface="Noto Serif"/>
              </a:rPr>
              <a:t>Sustainable</a:t>
            </a:r>
            <a:r>
              <a:rPr lang="de-DE" b="0" dirty="0">
                <a:solidFill>
                  <a:srgbClr val="1A314C"/>
                </a:solidFill>
                <a:cs typeface="Noto Serif"/>
              </a:rPr>
              <a:t> Development Goals (SDGs) der Vereinten Nationen zurück. Das bedeutet, die Unter-nehmen müssen zu einem der 17 Nachhaltigkeitsziele einen positiven Beitrag leisten und dürfen gleichzeitig kein anderes Ziel erheblich beeinträchtigen (DNSH-Test). Die Kriterien beziehen wir hierbei ebenfalls von MSCI ESG Research. Für die Berechnung des Mindestanteils an nachhaltigen Investitionen im Sinne der Offenlegungs-verordnung gelten die nachhaltigen Umsatzanteile der jeweiligen Unternehmen. </a:t>
            </a:r>
          </a:p>
          <a:p>
            <a:pPr marL="41101" defTabSz="521926">
              <a:lnSpc>
                <a:spcPct val="100000"/>
              </a:lnSpc>
              <a:spcBef>
                <a:spcPts val="0"/>
              </a:spcBef>
              <a:spcAft>
                <a:spcPts val="913"/>
              </a:spcAft>
              <a:defRPr/>
            </a:pPr>
            <a:r>
              <a:rPr lang="de-DE" b="0" dirty="0">
                <a:solidFill>
                  <a:srgbClr val="1A314C"/>
                </a:solidFill>
                <a:cs typeface="Noto Serif"/>
              </a:rPr>
              <a:t>Wir streben hier einen gewichteten Anteil von ca. 20-40% auf Portfolioebene an. Zudem werden die Global </a:t>
            </a:r>
            <a:r>
              <a:rPr lang="de-DE" b="0" dirty="0" err="1">
                <a:solidFill>
                  <a:srgbClr val="1A314C"/>
                </a:solidFill>
                <a:cs typeface="Noto Serif"/>
              </a:rPr>
              <a:t>Norms</a:t>
            </a:r>
            <a:r>
              <a:rPr lang="de-DE" b="0" dirty="0">
                <a:solidFill>
                  <a:srgbClr val="1A314C"/>
                </a:solidFill>
                <a:cs typeface="Noto Serif"/>
              </a:rPr>
              <a:t> und die Mindeststandards des UN Global </a:t>
            </a:r>
            <a:r>
              <a:rPr lang="de-DE" b="0" dirty="0" err="1">
                <a:solidFill>
                  <a:srgbClr val="1A314C"/>
                </a:solidFill>
                <a:cs typeface="Noto Serif"/>
              </a:rPr>
              <a:t>Compacts</a:t>
            </a:r>
            <a:r>
              <a:rPr lang="de-DE" b="0" dirty="0">
                <a:solidFill>
                  <a:srgbClr val="1A314C"/>
                </a:solidFill>
                <a:cs typeface="Noto Serif"/>
              </a:rPr>
              <a:t> in unseren Anlageentscheidungen berücksichtigt. </a:t>
            </a:r>
          </a:p>
        </p:txBody>
      </p:sp>
    </p:spTree>
    <p:extLst>
      <p:ext uri="{BB962C8B-B14F-4D97-AF65-F5344CB8AC3E}">
        <p14:creationId xmlns:p14="http://schemas.microsoft.com/office/powerpoint/2010/main" val="1366242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ADDD8A9-F08F-69A9-F3BC-C98C60A45FE6}"/>
              </a:ext>
            </a:extLst>
          </p:cNvPr>
          <p:cNvSpPr>
            <a:spLocks noGrp="1"/>
          </p:cNvSpPr>
          <p:nvPr>
            <p:ph type="sldNum" sz="quarter" idx="12"/>
          </p:nvPr>
        </p:nvSpPr>
        <p:spPr/>
        <p:txBody>
          <a:bodyPr/>
          <a:lstStyle/>
          <a:p>
            <a:fld id="{3AE71D6B-ACB6-4F4C-A895-DCAEF1760EAA}" type="slidenum">
              <a:rPr lang="de-DE" smtClean="0"/>
              <a:t>8</a:t>
            </a:fld>
            <a:endParaRPr lang="de-DE"/>
          </a:p>
        </p:txBody>
      </p:sp>
      <p:pic>
        <p:nvPicPr>
          <p:cNvPr id="3" name="Grafik" descr="Ein Bild, das Reihe, Symmetrie enthält.&#10;&#10;Automatisch generierte Beschreibung">
            <a:extLst>
              <a:ext uri="{FF2B5EF4-FFF2-40B4-BE49-F238E27FC236}">
                <a16:creationId xmlns:a16="http://schemas.microsoft.com/office/drawing/2014/main" id="{9B5F9D1A-CF39-A0A5-EAAE-F87E2AE6D9E0}"/>
              </a:ext>
            </a:extLst>
          </p:cNvPr>
          <p:cNvPicPr>
            <a:picLocks noGrp="1" noRot="1" noChangeAspect="1" noMove="1" noResize="1" noEditPoints="1" noAdjustHandles="1" noChangeArrowheads="1" noChangeShapeType="1" noCrop="1"/>
          </p:cNvPicPr>
          <p:nvPr/>
        </p:nvPicPr>
        <p:blipFill rotWithShape="1">
          <a:blip r:embed="rId2"/>
          <a:srcRect l="9394" t="16493" r="39321" b="13212"/>
          <a:stretch/>
        </p:blipFill>
        <p:spPr>
          <a:xfrm>
            <a:off x="980660" y="1099931"/>
            <a:ext cx="5353879" cy="4678018"/>
          </a:xfrm>
          <a:prstGeom prst="rect">
            <a:avLst/>
          </a:prstGeom>
        </p:spPr>
      </p:pic>
      <p:pic>
        <p:nvPicPr>
          <p:cNvPr id="21" name="Klammer" descr="Ein Bild, das Schwarz, Dunkelheit enthält.&#10;&#10;Automatisch generierte Beschreibung">
            <a:extLst>
              <a:ext uri="{FF2B5EF4-FFF2-40B4-BE49-F238E27FC236}">
                <a16:creationId xmlns:a16="http://schemas.microsoft.com/office/drawing/2014/main" id="{2B1C6B2D-EE25-82CC-CA50-704BC91353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1496" y="1252371"/>
            <a:ext cx="533400" cy="2870200"/>
          </a:xfrm>
          <a:prstGeom prst="rect">
            <a:avLst/>
          </a:prstGeom>
        </p:spPr>
      </p:pic>
      <p:sp>
        <p:nvSpPr>
          <p:cNvPr id="7" name="Pyramide 3">
            <a:extLst>
              <a:ext uri="{FF2B5EF4-FFF2-40B4-BE49-F238E27FC236}">
                <a16:creationId xmlns:a16="http://schemas.microsoft.com/office/drawing/2014/main" id="{6CDE6EF8-7DEC-1494-ED26-B96572B9B655}"/>
              </a:ext>
            </a:extLst>
          </p:cNvPr>
          <p:cNvSpPr txBox="1"/>
          <p:nvPr/>
        </p:nvSpPr>
        <p:spPr>
          <a:xfrm>
            <a:off x="2735881" y="4854792"/>
            <a:ext cx="2268675"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Normbasierte ausschlüsse</a:t>
            </a:r>
          </a:p>
        </p:txBody>
      </p:sp>
      <p:sp>
        <p:nvSpPr>
          <p:cNvPr id="6" name="Pyramide 2">
            <a:extLst>
              <a:ext uri="{FF2B5EF4-FFF2-40B4-BE49-F238E27FC236}">
                <a16:creationId xmlns:a16="http://schemas.microsoft.com/office/drawing/2014/main" id="{052580C3-21CD-B7F6-0B35-0023BEE27589}"/>
              </a:ext>
            </a:extLst>
          </p:cNvPr>
          <p:cNvSpPr txBox="1"/>
          <p:nvPr/>
        </p:nvSpPr>
        <p:spPr>
          <a:xfrm>
            <a:off x="3150219" y="3351249"/>
            <a:ext cx="1440000"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ESG-Merkmale</a:t>
            </a:r>
          </a:p>
        </p:txBody>
      </p:sp>
      <p:sp>
        <p:nvSpPr>
          <p:cNvPr id="5" name="Pyramide 1">
            <a:extLst>
              <a:ext uri="{FF2B5EF4-FFF2-40B4-BE49-F238E27FC236}">
                <a16:creationId xmlns:a16="http://schemas.microsoft.com/office/drawing/2014/main" id="{A4A605B4-E5DD-6EB7-BB4D-6C29D94896FC}"/>
              </a:ext>
            </a:extLst>
          </p:cNvPr>
          <p:cNvSpPr txBox="1"/>
          <p:nvPr/>
        </p:nvSpPr>
        <p:spPr>
          <a:xfrm>
            <a:off x="3150219" y="2134627"/>
            <a:ext cx="1440000" cy="3693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Nachhaltige</a:t>
            </a:r>
            <a:br>
              <a:rPr lang="de-DE" sz="900" b="1" cap="all" baseline="0" dirty="0">
                <a:solidFill>
                  <a:schemeClr val="bg1"/>
                </a:solidFill>
              </a:rPr>
            </a:br>
            <a:r>
              <a:rPr lang="de-DE" sz="900" b="1" cap="all" baseline="0" dirty="0">
                <a:solidFill>
                  <a:schemeClr val="bg1"/>
                </a:solidFill>
              </a:rPr>
              <a:t>investitionen</a:t>
            </a:r>
          </a:p>
        </p:txBody>
      </p:sp>
      <p:sp>
        <p:nvSpPr>
          <p:cNvPr id="10" name="Bulletpoint 3">
            <a:extLst>
              <a:ext uri="{FF2B5EF4-FFF2-40B4-BE49-F238E27FC236}">
                <a16:creationId xmlns:a16="http://schemas.microsoft.com/office/drawing/2014/main" id="{B8707CB9-AEBB-F7F9-96E5-CF33E5F3847A}"/>
              </a:ext>
            </a:extLst>
          </p:cNvPr>
          <p:cNvSpPr txBox="1">
            <a:spLocks/>
          </p:cNvSpPr>
          <p:nvPr/>
        </p:nvSpPr>
        <p:spPr>
          <a:xfrm>
            <a:off x="6359223" y="4485831"/>
            <a:ext cx="1770525" cy="69809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lvl="2">
              <a:buFont typeface="Arial" panose="020B0604020202020204" pitchFamily="34" charset="0"/>
              <a:buChar char="•"/>
            </a:pPr>
            <a:r>
              <a:rPr lang="de-DE" dirty="0">
                <a:solidFill>
                  <a:schemeClr val="accent1"/>
                </a:solidFill>
              </a:rPr>
              <a:t>UN Global Compact</a:t>
            </a:r>
          </a:p>
          <a:p>
            <a:pPr lvl="2">
              <a:buFont typeface="Arial" panose="020B0604020202020204" pitchFamily="34" charset="0"/>
              <a:buChar char="•"/>
            </a:pPr>
            <a:r>
              <a:rPr lang="de-DE" dirty="0">
                <a:solidFill>
                  <a:schemeClr val="accent1"/>
                </a:solidFill>
              </a:rPr>
              <a:t>Freedom House Index</a:t>
            </a:r>
          </a:p>
          <a:p>
            <a:pPr lvl="2">
              <a:buFont typeface="Arial" panose="020B0604020202020204" pitchFamily="34" charset="0"/>
              <a:buChar char="•"/>
            </a:pPr>
            <a:r>
              <a:rPr lang="de-DE" dirty="0">
                <a:solidFill>
                  <a:schemeClr val="accent1"/>
                </a:solidFill>
              </a:rPr>
              <a:t>EU-Sanktionsliste</a:t>
            </a:r>
          </a:p>
        </p:txBody>
      </p:sp>
      <p:sp>
        <p:nvSpPr>
          <p:cNvPr id="9" name="Bulletpoint 2">
            <a:extLst>
              <a:ext uri="{FF2B5EF4-FFF2-40B4-BE49-F238E27FC236}">
                <a16:creationId xmlns:a16="http://schemas.microsoft.com/office/drawing/2014/main" id="{E0D46A8D-3737-C43B-79EF-332093B721CC}"/>
              </a:ext>
            </a:extLst>
          </p:cNvPr>
          <p:cNvSpPr txBox="1">
            <a:spLocks/>
          </p:cNvSpPr>
          <p:nvPr/>
        </p:nvSpPr>
        <p:spPr>
          <a:xfrm>
            <a:off x="5532952" y="2987755"/>
            <a:ext cx="2638032" cy="69809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lvl="2">
              <a:buFont typeface="Arial" panose="020B0604020202020204" pitchFamily="34" charset="0"/>
              <a:buChar char="•"/>
            </a:pPr>
            <a:r>
              <a:rPr lang="de-DE" dirty="0">
                <a:solidFill>
                  <a:schemeClr val="accent1"/>
                </a:solidFill>
              </a:rPr>
              <a:t>Mindest-MSCI-ESG-Rating (&gt; BB)</a:t>
            </a:r>
          </a:p>
          <a:p>
            <a:pPr lvl="2">
              <a:buFont typeface="Arial" panose="020B0604020202020204" pitchFamily="34" charset="0"/>
              <a:buChar char="•"/>
            </a:pPr>
            <a:r>
              <a:rPr lang="de-DE" dirty="0">
                <a:solidFill>
                  <a:schemeClr val="accent1"/>
                </a:solidFill>
              </a:rPr>
              <a:t>MSCI-ESG-Rating AA (Depotebene)</a:t>
            </a:r>
          </a:p>
          <a:p>
            <a:pPr lvl="2">
              <a:buFont typeface="Arial" panose="020B0604020202020204" pitchFamily="34" charset="0"/>
              <a:buChar char="•"/>
            </a:pPr>
            <a:r>
              <a:rPr lang="de-DE" dirty="0">
                <a:solidFill>
                  <a:schemeClr val="accent1"/>
                </a:solidFill>
              </a:rPr>
              <a:t>PAI-Berücksichtigung</a:t>
            </a:r>
          </a:p>
        </p:txBody>
      </p:sp>
      <p:sp>
        <p:nvSpPr>
          <p:cNvPr id="8" name="Bulletpoint 1">
            <a:extLst>
              <a:ext uri="{FF2B5EF4-FFF2-40B4-BE49-F238E27FC236}">
                <a16:creationId xmlns:a16="http://schemas.microsoft.com/office/drawing/2014/main" id="{1DB6DCC9-954B-BFBB-857F-CD7F1220F4C3}"/>
              </a:ext>
            </a:extLst>
          </p:cNvPr>
          <p:cNvSpPr txBox="1">
            <a:spLocks/>
          </p:cNvSpPr>
          <p:nvPr/>
        </p:nvSpPr>
        <p:spPr>
          <a:xfrm>
            <a:off x="4707920" y="1626981"/>
            <a:ext cx="2413849" cy="69809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lvl="2">
              <a:buFont typeface="Arial" panose="020B0604020202020204" pitchFamily="34" charset="0"/>
              <a:buChar char="•"/>
            </a:pPr>
            <a:r>
              <a:rPr lang="de-DE" dirty="0">
                <a:solidFill>
                  <a:schemeClr val="accent1"/>
                </a:solidFill>
              </a:rPr>
              <a:t>Positives Screening SDG-Beitrag</a:t>
            </a:r>
          </a:p>
          <a:p>
            <a:pPr lvl="2">
              <a:buFont typeface="Arial" panose="020B0604020202020204" pitchFamily="34" charset="0"/>
              <a:buChar char="•"/>
            </a:pPr>
            <a:r>
              <a:rPr lang="de-DE" dirty="0">
                <a:solidFill>
                  <a:schemeClr val="accent1"/>
                </a:solidFill>
              </a:rPr>
              <a:t>Nachhaltige Umsatzanteile</a:t>
            </a:r>
            <a:br>
              <a:rPr lang="de-DE" dirty="0">
                <a:solidFill>
                  <a:schemeClr val="accent1"/>
                </a:solidFill>
              </a:rPr>
            </a:br>
            <a:r>
              <a:rPr lang="de-DE" dirty="0">
                <a:solidFill>
                  <a:schemeClr val="accent1"/>
                </a:solidFill>
              </a:rPr>
              <a:t>(20 - 40%, </a:t>
            </a:r>
            <a:r>
              <a:rPr lang="de-DE" dirty="0" err="1">
                <a:solidFill>
                  <a:schemeClr val="accent1"/>
                </a:solidFill>
              </a:rPr>
              <a:t>activity-based</a:t>
            </a:r>
            <a:r>
              <a:rPr lang="de-DE" dirty="0">
                <a:solidFill>
                  <a:schemeClr val="accent1"/>
                </a:solidFill>
              </a:rPr>
              <a:t>)</a:t>
            </a:r>
          </a:p>
        </p:txBody>
      </p:sp>
      <p:sp>
        <p:nvSpPr>
          <p:cNvPr id="11" name="Artikel">
            <a:extLst>
              <a:ext uri="{FF2B5EF4-FFF2-40B4-BE49-F238E27FC236}">
                <a16:creationId xmlns:a16="http://schemas.microsoft.com/office/drawing/2014/main" id="{26C4B910-4DD4-9CCF-5644-4CCC8EFC0790}"/>
              </a:ext>
            </a:extLst>
          </p:cNvPr>
          <p:cNvSpPr txBox="1">
            <a:spLocks/>
          </p:cNvSpPr>
          <p:nvPr/>
        </p:nvSpPr>
        <p:spPr>
          <a:xfrm>
            <a:off x="8659813" y="2529359"/>
            <a:ext cx="862843" cy="228859"/>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4"/>
              </a:buBlip>
              <a:defRPr sz="1100" kern="1200">
                <a:solidFill>
                  <a:schemeClr val="tx1"/>
                </a:solidFill>
                <a:latin typeface="+mn-lt"/>
                <a:ea typeface="+mn-ea"/>
                <a:cs typeface="+mn-cs"/>
              </a:defRPr>
            </a:lvl9pPr>
          </a:lstStyle>
          <a:p>
            <a:pPr marL="0" lvl="2" indent="0">
              <a:buNone/>
            </a:pPr>
            <a:r>
              <a:rPr lang="de-DE" dirty="0">
                <a:solidFill>
                  <a:schemeClr val="accent1"/>
                </a:solidFill>
              </a:rPr>
              <a:t>Artikel 8+</a:t>
            </a:r>
          </a:p>
        </p:txBody>
      </p:sp>
      <p:sp>
        <p:nvSpPr>
          <p:cNvPr id="13" name="Titel 2">
            <a:extLst>
              <a:ext uri="{FF2B5EF4-FFF2-40B4-BE49-F238E27FC236}">
                <a16:creationId xmlns:a16="http://schemas.microsoft.com/office/drawing/2014/main" id="{29FA5807-6494-1346-B397-92B9D26C0E02}"/>
              </a:ext>
            </a:extLst>
          </p:cNvPr>
          <p:cNvSpPr txBox="1">
            <a:spLocks/>
          </p:cNvSpPr>
          <p:nvPr/>
        </p:nvSpPr>
        <p:spPr>
          <a:xfrm>
            <a:off x="275650" y="322580"/>
            <a:ext cx="9756774" cy="360000"/>
          </a:xfrm>
          <a:prstGeom prst="rect">
            <a:avLst/>
          </a:prstGeom>
        </p:spPr>
        <p:txBody>
          <a:bodyPr/>
          <a:lst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a:lstStyle>
          <a:p>
            <a:r>
              <a:rPr lang="de-DE" dirty="0"/>
              <a:t>Nachhaltigkeitsprozess</a:t>
            </a:r>
            <a:br>
              <a:rPr lang="de-DE" dirty="0"/>
            </a:br>
            <a:r>
              <a:rPr lang="de-DE" sz="1200" b="0" dirty="0">
                <a:solidFill>
                  <a:schemeClr val="accent3"/>
                </a:solidFill>
              </a:rPr>
              <a:t>Nachhaltigkeitspyramide</a:t>
            </a:r>
            <a:endParaRPr lang="de-DE" dirty="0"/>
          </a:p>
        </p:txBody>
      </p:sp>
    </p:spTree>
    <p:extLst>
      <p:ext uri="{BB962C8B-B14F-4D97-AF65-F5344CB8AC3E}">
        <p14:creationId xmlns:p14="http://schemas.microsoft.com/office/powerpoint/2010/main" val="1651747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625EFFC-F15E-928C-6A76-FBCF20BC39F9}"/>
              </a:ext>
            </a:extLst>
          </p:cNvPr>
          <p:cNvSpPr>
            <a:spLocks noGrp="1"/>
          </p:cNvSpPr>
          <p:nvPr>
            <p:ph type="sldNum" sz="quarter" idx="12"/>
          </p:nvPr>
        </p:nvSpPr>
        <p:spPr/>
        <p:txBody>
          <a:bodyPr/>
          <a:lstStyle/>
          <a:p>
            <a:fld id="{3AE71D6B-ACB6-4F4C-A895-DCAEF1760EAA}" type="slidenum">
              <a:rPr lang="de-DE" smtClean="0"/>
              <a:t>9</a:t>
            </a:fld>
            <a:endParaRPr lang="de-DE"/>
          </a:p>
        </p:txBody>
      </p:sp>
      <p:grpSp>
        <p:nvGrpSpPr>
          <p:cNvPr id="4" name="Gruppieren 3">
            <a:extLst>
              <a:ext uri="{FF2B5EF4-FFF2-40B4-BE49-F238E27FC236}">
                <a16:creationId xmlns:a16="http://schemas.microsoft.com/office/drawing/2014/main" id="{7AABF23C-581D-AF68-BB80-150A18AF4928}"/>
              </a:ext>
            </a:extLst>
          </p:cNvPr>
          <p:cNvGrpSpPr>
            <a:grpSpLocks noGrp="1" noUngrp="1" noRot="1" noMove="1" noResize="1"/>
          </p:cNvGrpSpPr>
          <p:nvPr/>
        </p:nvGrpSpPr>
        <p:grpSpPr>
          <a:xfrm>
            <a:off x="1530927" y="1064563"/>
            <a:ext cx="7377546" cy="4530437"/>
            <a:chOff x="2753591" y="976745"/>
            <a:chExt cx="7377546" cy="4530437"/>
          </a:xfrm>
        </p:grpSpPr>
        <p:pic>
          <p:nvPicPr>
            <p:cNvPr id="3" name="Grafik" descr="Ein Bild, das Text, Screenshot, Multimedia, Anzeigegerät enthält.&#10;&#10;Automatisch generierte Beschreibung">
              <a:extLst>
                <a:ext uri="{FF2B5EF4-FFF2-40B4-BE49-F238E27FC236}">
                  <a16:creationId xmlns:a16="http://schemas.microsoft.com/office/drawing/2014/main" id="{C704968F-3EA0-660D-5062-3D43717FA1CF}"/>
                </a:ext>
              </a:extLst>
            </p:cNvPr>
            <p:cNvPicPr>
              <a:picLocks noGrp="1" noRot="1" noChangeAspect="1" noMove="1" noResize="1" noEditPoints="1" noAdjustHandles="1" noChangeArrowheads="1" noChangeShapeType="1" noCrop="1"/>
            </p:cNvPicPr>
            <p:nvPr/>
          </p:nvPicPr>
          <p:blipFill rotWithShape="1">
            <a:blip r:embed="rId2"/>
            <a:srcRect l="26377" t="14642" r="2953" b="17281"/>
            <a:stretch/>
          </p:blipFill>
          <p:spPr>
            <a:xfrm>
              <a:off x="2753591" y="976745"/>
              <a:ext cx="7377546" cy="4530437"/>
            </a:xfrm>
            <a:prstGeom prst="rect">
              <a:avLst/>
            </a:prstGeom>
          </p:spPr>
        </p:pic>
        <p:sp>
          <p:nvSpPr>
            <p:cNvPr id="5" name="Überschrift">
              <a:extLst>
                <a:ext uri="{FF2B5EF4-FFF2-40B4-BE49-F238E27FC236}">
                  <a16:creationId xmlns:a16="http://schemas.microsoft.com/office/drawing/2014/main" id="{571E8765-D5BF-64E7-9082-4D10F86D8C12}"/>
                </a:ext>
              </a:extLst>
            </p:cNvPr>
            <p:cNvSpPr txBox="1">
              <a:spLocks noGrp="1" noRot="1" noMove="1" noResize="1" noEditPoints="1" noAdjustHandles="1" noChangeArrowheads="1" noChangeShapeType="1"/>
            </p:cNvSpPr>
            <p:nvPr/>
          </p:nvSpPr>
          <p:spPr>
            <a:xfrm>
              <a:off x="4849729" y="1043474"/>
              <a:ext cx="3185270"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Verbindung von esg und un sdgs</a:t>
              </a:r>
            </a:p>
          </p:txBody>
        </p:sp>
        <p:sp>
          <p:nvSpPr>
            <p:cNvPr id="6" name="Quelle">
              <a:extLst>
                <a:ext uri="{FF2B5EF4-FFF2-40B4-BE49-F238E27FC236}">
                  <a16:creationId xmlns:a16="http://schemas.microsoft.com/office/drawing/2014/main" id="{1C4EA012-F223-F360-1480-306B606B5892}"/>
                </a:ext>
              </a:extLst>
            </p:cNvPr>
            <p:cNvSpPr txBox="1">
              <a:spLocks noGrp="1" noRot="1" noMove="1" noResize="1" noEditPoints="1" noAdjustHandles="1" noChangeArrowheads="1" noChangeShapeType="1"/>
            </p:cNvSpPr>
            <p:nvPr/>
          </p:nvSpPr>
          <p:spPr>
            <a:xfrm>
              <a:off x="2807888" y="5288075"/>
              <a:ext cx="1728000" cy="108000"/>
            </a:xfrm>
            <a:prstGeom prst="rect">
              <a:avLst/>
            </a:prstGeom>
            <a:noFill/>
          </p:spPr>
          <p:txBody>
            <a:bodyPr wrap="square" lIns="36000" tIns="0" rIns="36000" bIns="0" rtlCol="0">
              <a:noAutofit/>
            </a:bodyPr>
            <a:lstStyle/>
            <a:p>
              <a:r>
                <a:rPr lang="de-DE" sz="600" dirty="0">
                  <a:solidFill>
                    <a:schemeClr val="bg2"/>
                  </a:solidFill>
                </a:rPr>
                <a:t>Bildquelle: www.17ziele.de/downloads</a:t>
              </a:r>
            </a:p>
          </p:txBody>
        </p:sp>
      </p:grpSp>
      <p:sp>
        <p:nvSpPr>
          <p:cNvPr id="7" name="Titel 2">
            <a:extLst>
              <a:ext uri="{FF2B5EF4-FFF2-40B4-BE49-F238E27FC236}">
                <a16:creationId xmlns:a16="http://schemas.microsoft.com/office/drawing/2014/main" id="{1ECA1A57-4439-0640-999E-95AA33800DEB}"/>
              </a:ext>
            </a:extLst>
          </p:cNvPr>
          <p:cNvSpPr txBox="1">
            <a:spLocks/>
          </p:cNvSpPr>
          <p:nvPr/>
        </p:nvSpPr>
        <p:spPr>
          <a:xfrm>
            <a:off x="275650" y="322579"/>
            <a:ext cx="9756774" cy="714385"/>
          </a:xfrm>
          <a:prstGeom prst="rect">
            <a:avLst/>
          </a:prstGeom>
        </p:spPr>
        <p:txBody>
          <a:bodyPr/>
          <a:lst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a:lstStyle>
          <a:p>
            <a:r>
              <a:rPr lang="de-DE" dirty="0"/>
              <a:t>Investmentprozess und Risiken</a:t>
            </a:r>
            <a:br>
              <a:rPr lang="de-DE" dirty="0"/>
            </a:br>
            <a:r>
              <a:rPr lang="de-DE" sz="1200" b="0" dirty="0">
                <a:solidFill>
                  <a:schemeClr val="accent3"/>
                </a:solidFill>
              </a:rPr>
              <a:t>Anlagestrategie kombiniert </a:t>
            </a:r>
            <a:r>
              <a:rPr lang="de-DE" sz="1200" dirty="0">
                <a:solidFill>
                  <a:schemeClr val="accent3"/>
                </a:solidFill>
                <a:latin typeface="+mn-lt"/>
              </a:rPr>
              <a:t>ESG-Integration</a:t>
            </a:r>
            <a:r>
              <a:rPr lang="de-DE" sz="1200" b="0" dirty="0">
                <a:solidFill>
                  <a:schemeClr val="accent3"/>
                </a:solidFill>
              </a:rPr>
              <a:t> mit positiver Wirkung auf die </a:t>
            </a:r>
            <a:r>
              <a:rPr lang="de-DE" sz="1200" dirty="0">
                <a:solidFill>
                  <a:schemeClr val="accent3"/>
                </a:solidFill>
                <a:latin typeface="+mn-lt"/>
              </a:rPr>
              <a:t>UN-Ziele für nachhaltige Entwicklung (SDGs)</a:t>
            </a:r>
            <a:endParaRPr lang="de-DE" dirty="0">
              <a:latin typeface="+mn-lt"/>
            </a:endParaRPr>
          </a:p>
        </p:txBody>
      </p:sp>
    </p:spTree>
    <p:extLst>
      <p:ext uri="{BB962C8B-B14F-4D97-AF65-F5344CB8AC3E}">
        <p14:creationId xmlns:p14="http://schemas.microsoft.com/office/powerpoint/2010/main" val="1325068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68E8EC2-C3DF-4D4D-8CD0-EEE3551FE49F}"/>
              </a:ext>
            </a:extLst>
          </p:cNvPr>
          <p:cNvSpPr>
            <a:spLocks noGrp="1"/>
          </p:cNvSpPr>
          <p:nvPr>
            <p:ph type="sldNum" sz="quarter" idx="12"/>
          </p:nvPr>
        </p:nvSpPr>
        <p:spPr/>
        <p:txBody>
          <a:bodyPr/>
          <a:lstStyle/>
          <a:p>
            <a:fld id="{3AE71D6B-ACB6-4F4C-A895-DCAEF1760EAA}" type="slidenum">
              <a:rPr lang="de-DE" smtClean="0"/>
              <a:t>10</a:t>
            </a:fld>
            <a:endParaRPr lang="de-DE"/>
          </a:p>
        </p:txBody>
      </p:sp>
      <p:sp>
        <p:nvSpPr>
          <p:cNvPr id="3" name="Titel 2">
            <a:extLst>
              <a:ext uri="{FF2B5EF4-FFF2-40B4-BE49-F238E27FC236}">
                <a16:creationId xmlns:a16="http://schemas.microsoft.com/office/drawing/2014/main" id="{B6E0CDA3-1440-E64A-9A4E-96CD2B88FCB5}"/>
              </a:ext>
            </a:extLst>
          </p:cNvPr>
          <p:cNvSpPr>
            <a:spLocks noGrp="1"/>
          </p:cNvSpPr>
          <p:nvPr>
            <p:ph type="title"/>
          </p:nvPr>
        </p:nvSpPr>
        <p:spPr/>
        <p:txBody>
          <a:bodyPr/>
          <a:lstStyle/>
          <a:p>
            <a:r>
              <a:rPr lang="de-DE" dirty="0"/>
              <a:t>Nachhaltigkeits- und </a:t>
            </a:r>
            <a:r>
              <a:rPr lang="de-DE" dirty="0" err="1"/>
              <a:t>Investmentkonzept|</a:t>
            </a:r>
            <a:r>
              <a:rPr lang="de-DE" b="0" dirty="0" err="1"/>
              <a:t>SDG-Beitrag</a:t>
            </a:r>
            <a:endParaRPr lang="de-DE" b="0" dirty="0"/>
          </a:p>
        </p:txBody>
      </p:sp>
      <p:graphicFrame>
        <p:nvGraphicFramePr>
          <p:cNvPr id="4" name="Tabelle 6">
            <a:extLst>
              <a:ext uri="{FF2B5EF4-FFF2-40B4-BE49-F238E27FC236}">
                <a16:creationId xmlns:a16="http://schemas.microsoft.com/office/drawing/2014/main" id="{CADACF6B-78BB-034C-8E53-CB988BC7C87E}"/>
              </a:ext>
            </a:extLst>
          </p:cNvPr>
          <p:cNvGraphicFramePr>
            <a:graphicFrameLocks noGrp="1"/>
          </p:cNvGraphicFramePr>
          <p:nvPr>
            <p:extLst>
              <p:ext uri="{D42A27DB-BD31-4B8C-83A1-F6EECF244321}">
                <p14:modId xmlns:p14="http://schemas.microsoft.com/office/powerpoint/2010/main" val="2489067497"/>
              </p:ext>
            </p:extLst>
          </p:nvPr>
        </p:nvGraphicFramePr>
        <p:xfrm>
          <a:off x="2784494" y="1338880"/>
          <a:ext cx="4959864" cy="4449882"/>
        </p:xfrm>
        <a:graphic>
          <a:graphicData uri="http://schemas.openxmlformats.org/drawingml/2006/table">
            <a:tbl>
              <a:tblPr firstRow="1" bandRow="1">
                <a:tableStyleId>{7E9639D4-E3E2-4D34-9284-5A2195B3D0D7}</a:tableStyleId>
              </a:tblPr>
              <a:tblGrid>
                <a:gridCol w="4959864">
                  <a:extLst>
                    <a:ext uri="{9D8B030D-6E8A-4147-A177-3AD203B41FA5}">
                      <a16:colId xmlns:a16="http://schemas.microsoft.com/office/drawing/2014/main" val="839331929"/>
                    </a:ext>
                  </a:extLst>
                </a:gridCol>
              </a:tblGrid>
              <a:tr h="315977">
                <a:tc>
                  <a:txBody>
                    <a:bodyPr/>
                    <a:lstStyle/>
                    <a:p>
                      <a:pPr algn="ctr"/>
                      <a:r>
                        <a:rPr lang="de-DE" sz="1100" b="1" dirty="0"/>
                        <a:t>SDG Beitrag</a:t>
                      </a:r>
                      <a:endParaRPr lang="de-DE" sz="1100" b="1" dirty="0">
                        <a:latin typeface="Noto Serif" panose="02020502060505020204" pitchFamily="18"/>
                        <a:ea typeface="Noto Serif" panose="02020502060505020204" pitchFamily="18"/>
                        <a:cs typeface="Noto Serif" panose="02020502060505020204" pitchFamily="18"/>
                      </a:endParaRPr>
                    </a:p>
                  </a:txBody>
                  <a:tcPr marL="104394" marR="104394" marT="52197" marB="52197" anchor="ctr">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50023869"/>
                  </a:ext>
                </a:extLst>
              </a:tr>
              <a:tr h="800354">
                <a:tc>
                  <a:txBody>
                    <a:bodyPr/>
                    <a:lstStyle/>
                    <a:p>
                      <a:pPr algn="just"/>
                      <a:endParaRPr lang="de-DE" sz="1100" dirty="0">
                        <a:solidFill>
                          <a:schemeClr val="accent1"/>
                        </a:solidFill>
                        <a:latin typeface="+mn-lt"/>
                      </a:endParaRPr>
                    </a:p>
                    <a:p>
                      <a:pPr algn="l"/>
                      <a:r>
                        <a:rPr lang="de-DE" sz="1100" dirty="0">
                          <a:solidFill>
                            <a:schemeClr val="accent1"/>
                          </a:solidFill>
                          <a:latin typeface="+mn-lt"/>
                        </a:rPr>
                        <a:t>Die SDGs sind 17 politische Zielsetzungen der Vereinten Nationen, welche weltweit die Sicherung einer nachhaltigen Entwicklung auf ökonomischer, sozialer sowie ökologischer Ebene fördern sollen.</a:t>
                      </a:r>
                      <a:endParaRPr lang="de-DE" sz="1100" i="0" dirty="0">
                        <a:solidFill>
                          <a:schemeClr val="accent1"/>
                        </a:solidFill>
                        <a:latin typeface="+mn-lt"/>
                        <a:ea typeface="Noto Serif" panose="02020502060505020204" pitchFamily="18"/>
                        <a:cs typeface="Noto Serif" panose="02020502060505020204" pitchFamily="18"/>
                      </a:endParaRPr>
                    </a:p>
                  </a:txBody>
                  <a:tcPr marL="104394" marR="104394" marT="52197" marB="52197">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98362618"/>
                  </a:ext>
                </a:extLst>
              </a:tr>
              <a:tr h="3333551">
                <a:tc>
                  <a:txBody>
                    <a:bodyPr/>
                    <a:lstStyle/>
                    <a:p>
                      <a:r>
                        <a:rPr lang="de-DE" sz="1100" b="1" dirty="0">
                          <a:solidFill>
                            <a:schemeClr val="accent1"/>
                          </a:solidFill>
                          <a:latin typeface="+mn-lt"/>
                        </a:rPr>
                        <a:t>MSCI SDG Ausrichtungs-Skala:</a:t>
                      </a:r>
                    </a:p>
                    <a:p>
                      <a:endParaRPr lang="de-DE" sz="1100" b="0" dirty="0">
                        <a:solidFill>
                          <a:schemeClr val="accent1"/>
                        </a:solidFill>
                        <a:latin typeface="+mn-lt"/>
                      </a:endParaRPr>
                    </a:p>
                    <a:p>
                      <a:pPr marL="285750" indent="-285750">
                        <a:buFont typeface="Arial" panose="020B0604020202020204" pitchFamily="34" charset="0"/>
                        <a:buChar char="•"/>
                      </a:pPr>
                      <a:endParaRPr lang="de-DE" sz="1100" dirty="0">
                        <a:solidFill>
                          <a:schemeClr val="accent1"/>
                        </a:solidFill>
                        <a:latin typeface="+mn-lt"/>
                      </a:endParaRPr>
                    </a:p>
                    <a:p>
                      <a:pPr marL="285750" indent="-285750">
                        <a:buFont typeface="Arial" panose="020B0604020202020204" pitchFamily="34" charset="0"/>
                        <a:buChar char="•"/>
                      </a:pPr>
                      <a:endParaRPr lang="de-DE" sz="1100" dirty="0">
                        <a:solidFill>
                          <a:schemeClr val="accent1"/>
                        </a:solidFill>
                        <a:latin typeface="+mn-lt"/>
                      </a:endParaRPr>
                    </a:p>
                    <a:p>
                      <a:pPr marL="0" indent="0">
                        <a:buFont typeface="Arial" panose="020B0604020202020204" pitchFamily="34" charset="0"/>
                        <a:buNone/>
                      </a:pPr>
                      <a:endParaRPr lang="de-DE" sz="1100" dirty="0">
                        <a:solidFill>
                          <a:schemeClr val="accent1"/>
                        </a:solidFill>
                        <a:latin typeface="+mn-lt"/>
                      </a:endParaRPr>
                    </a:p>
                    <a:p>
                      <a:pPr marL="0" indent="0">
                        <a:spcAft>
                          <a:spcPts val="400"/>
                        </a:spcAft>
                        <a:buFont typeface="Arial" panose="020B0604020202020204" pitchFamily="34" charset="0"/>
                        <a:buNone/>
                      </a:pPr>
                      <a:r>
                        <a:rPr lang="de-DE" sz="1100" b="1" dirty="0">
                          <a:solidFill>
                            <a:schemeClr val="accent1"/>
                          </a:solidFill>
                          <a:latin typeface="+mn-lt"/>
                        </a:rPr>
                        <a:t>Nachhaltiges Investments nach Art. 2(17) SFDR:</a:t>
                      </a:r>
                    </a:p>
                    <a:p>
                      <a:pPr marL="171450" indent="-171450">
                        <a:spcAft>
                          <a:spcPts val="400"/>
                        </a:spcAft>
                        <a:buFont typeface="Arial" panose="020B0604020202020204" pitchFamily="34" charset="0"/>
                        <a:buChar char="•"/>
                      </a:pPr>
                      <a:r>
                        <a:rPr lang="de-DE" sz="1100" dirty="0">
                          <a:solidFill>
                            <a:schemeClr val="accent1"/>
                          </a:solidFill>
                          <a:latin typeface="+mn-lt"/>
                        </a:rPr>
                        <a:t>Positiver Beitrag, wenn </a:t>
                      </a:r>
                      <a:r>
                        <a:rPr lang="de-DE" sz="1100" b="1" dirty="0">
                          <a:solidFill>
                            <a:schemeClr val="accent1"/>
                          </a:solidFill>
                          <a:latin typeface="+mn-lt"/>
                        </a:rPr>
                        <a:t>ein Score &gt;= 2</a:t>
                      </a:r>
                      <a:endParaRPr lang="de-DE" sz="1100" kern="1200" dirty="0">
                        <a:solidFill>
                          <a:schemeClr val="accent1"/>
                        </a:solidFill>
                        <a:latin typeface="+mn-lt"/>
                      </a:endParaRPr>
                    </a:p>
                    <a:p>
                      <a:pPr marL="171450" marR="0" lvl="0" indent="-171450" algn="l" defTabSz="457148"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de-DE" sz="1100" kern="1200" dirty="0">
                          <a:solidFill>
                            <a:schemeClr val="accent1"/>
                          </a:solidFill>
                          <a:latin typeface="+mn-lt"/>
                        </a:rPr>
                        <a:t>Alle Unternehmen Ihrer Vermögensverwaltung leisten einen nachhaltigen Beitrag, da sie einen MSCI SDG Wert von größer </a:t>
                      </a:r>
                      <a:br>
                        <a:rPr lang="de-DE" sz="1100" kern="1200" dirty="0">
                          <a:solidFill>
                            <a:schemeClr val="accent1"/>
                          </a:solidFill>
                          <a:latin typeface="+mn-lt"/>
                        </a:rPr>
                      </a:br>
                      <a:r>
                        <a:rPr lang="de-DE" sz="1100" kern="1200" dirty="0">
                          <a:solidFill>
                            <a:schemeClr val="accent1"/>
                          </a:solidFill>
                          <a:latin typeface="+mn-lt"/>
                        </a:rPr>
                        <a:t>gleich 2 liefern bzw. bei Fonds als SDG </a:t>
                      </a:r>
                      <a:r>
                        <a:rPr lang="de-DE" sz="1100" kern="1200" dirty="0" err="1">
                          <a:solidFill>
                            <a:schemeClr val="accent1"/>
                          </a:solidFill>
                          <a:latin typeface="+mn-lt"/>
                        </a:rPr>
                        <a:t>aligned</a:t>
                      </a:r>
                      <a:r>
                        <a:rPr lang="de-DE" sz="1100" kern="1200" dirty="0">
                          <a:solidFill>
                            <a:schemeClr val="accent1"/>
                          </a:solidFill>
                          <a:latin typeface="+mn-lt"/>
                        </a:rPr>
                        <a:t> gelten </a:t>
                      </a:r>
                    </a:p>
                    <a:p>
                      <a:pPr marL="171450" marR="0" lvl="0" indent="-171450" algn="l" defTabSz="457148" rtl="0" eaLnBrk="1" fontAlgn="auto" latinLnBrk="0" hangingPunct="1">
                        <a:lnSpc>
                          <a:spcPct val="100000"/>
                        </a:lnSpc>
                        <a:spcBef>
                          <a:spcPts val="0"/>
                        </a:spcBef>
                        <a:spcAft>
                          <a:spcPts val="400"/>
                        </a:spcAft>
                        <a:buClrTx/>
                        <a:buSzTx/>
                        <a:buFont typeface="Arial" panose="020B0604020202020204" pitchFamily="34" charset="0"/>
                        <a:buChar char="•"/>
                        <a:tabLst/>
                        <a:defRPr/>
                      </a:pPr>
                      <a:r>
                        <a:rPr lang="de-DE" sz="1100" kern="1200" dirty="0">
                          <a:solidFill>
                            <a:schemeClr val="accent1"/>
                          </a:solidFill>
                          <a:latin typeface="+mn-lt"/>
                        </a:rPr>
                        <a:t>Den DNSH-Test führen wir über die Berücksichtigung von nachteiligen Auswirkungen auf Nachhaltigkeitsfaktoren (PAIs) durch</a:t>
                      </a:r>
                      <a:endParaRPr lang="de-DE" sz="1100" dirty="0">
                        <a:solidFill>
                          <a:schemeClr val="accent1"/>
                        </a:solidFill>
                        <a:latin typeface="+mn-lt"/>
                      </a:endParaRPr>
                    </a:p>
                    <a:p>
                      <a:pPr marL="171450" indent="-171450">
                        <a:spcAft>
                          <a:spcPts val="400"/>
                        </a:spcAft>
                        <a:buFont typeface="Arial" panose="020B0604020202020204" pitchFamily="34" charset="0"/>
                        <a:buChar char="•"/>
                      </a:pPr>
                      <a:r>
                        <a:rPr lang="de-DE" sz="1100" dirty="0">
                          <a:solidFill>
                            <a:schemeClr val="accent1"/>
                          </a:solidFill>
                          <a:latin typeface="+mn-lt"/>
                        </a:rPr>
                        <a:t>Einhaltung der Minimum Safeguards: </a:t>
                      </a:r>
                      <a:r>
                        <a:rPr lang="de-DE" sz="1100" b="1" dirty="0">
                          <a:solidFill>
                            <a:schemeClr val="accent1"/>
                          </a:solidFill>
                          <a:latin typeface="+mn-lt"/>
                        </a:rPr>
                        <a:t>Global </a:t>
                      </a:r>
                      <a:r>
                        <a:rPr lang="de-DE" sz="1100" b="1" dirty="0" err="1">
                          <a:solidFill>
                            <a:schemeClr val="accent1"/>
                          </a:solidFill>
                          <a:latin typeface="+mn-lt"/>
                        </a:rPr>
                        <a:t>Norms</a:t>
                      </a:r>
                      <a:endParaRPr lang="de-DE" sz="1100" b="1" dirty="0">
                        <a:solidFill>
                          <a:schemeClr val="accent1"/>
                        </a:solidFill>
                        <a:latin typeface="+mn-lt"/>
                      </a:endParaRPr>
                    </a:p>
                    <a:p>
                      <a:pPr marL="171450" indent="-171450">
                        <a:spcAft>
                          <a:spcPts val="400"/>
                        </a:spcAft>
                        <a:buFont typeface="Arial" panose="020B0604020202020204" pitchFamily="34" charset="0"/>
                        <a:buChar char="•"/>
                      </a:pPr>
                      <a:r>
                        <a:rPr lang="de-DE" sz="1100" dirty="0">
                          <a:solidFill>
                            <a:schemeClr val="accent1"/>
                          </a:solidFill>
                          <a:latin typeface="+mn-lt"/>
                        </a:rPr>
                        <a:t>Zur weiteren Quantifizierung ziehen wir die nachhaltigen Umsatzanteile der Einzeltitel von MSCI ESG Research heran. </a:t>
                      </a:r>
                      <a:br>
                        <a:rPr lang="de-DE" sz="1100" dirty="0">
                          <a:solidFill>
                            <a:schemeClr val="accent1"/>
                          </a:solidFill>
                          <a:latin typeface="+mn-lt"/>
                        </a:rPr>
                      </a:br>
                      <a:r>
                        <a:rPr lang="de-DE" sz="1100" b="1" dirty="0">
                          <a:solidFill>
                            <a:schemeClr val="accent1"/>
                          </a:solidFill>
                          <a:latin typeface="+mn-lt"/>
                        </a:rPr>
                        <a:t>Der Mindestanteil am Gesamtportfolio liegt bei einer Bandbreite von 20-40% nachhaltiger Investitionen. </a:t>
                      </a:r>
                      <a:endParaRPr lang="de-DE" sz="1100" b="1" dirty="0">
                        <a:solidFill>
                          <a:schemeClr val="accent1"/>
                        </a:solidFill>
                        <a:latin typeface="+mn-lt"/>
                        <a:ea typeface="Noto Serif" panose="02020502060505020204" pitchFamily="18"/>
                        <a:cs typeface="Noto Serif" panose="02020502060505020204" pitchFamily="18"/>
                      </a:endParaRPr>
                    </a:p>
                  </a:txBody>
                  <a:tcPr marL="104394" marR="104394" marT="52197" marB="52197">
                    <a:lnL w="6350" cap="flat" cmpd="sng" algn="ctr">
                      <a:noFill/>
                      <a:prstDash val="solid"/>
                      <a:miter lim="800000"/>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120545700"/>
                  </a:ext>
                </a:extLst>
              </a:tr>
            </a:tbl>
          </a:graphicData>
        </a:graphic>
      </p:graphicFrame>
      <p:grpSp>
        <p:nvGrpSpPr>
          <p:cNvPr id="5" name="Gruppieren 4">
            <a:extLst>
              <a:ext uri="{FF2B5EF4-FFF2-40B4-BE49-F238E27FC236}">
                <a16:creationId xmlns:a16="http://schemas.microsoft.com/office/drawing/2014/main" id="{42D38182-1368-B742-8430-6819F0E97EE2}"/>
              </a:ext>
            </a:extLst>
          </p:cNvPr>
          <p:cNvGrpSpPr/>
          <p:nvPr/>
        </p:nvGrpSpPr>
        <p:grpSpPr>
          <a:xfrm>
            <a:off x="2842519" y="2811582"/>
            <a:ext cx="5023481" cy="438399"/>
            <a:chOff x="2521092" y="2278473"/>
            <a:chExt cx="4400129" cy="383999"/>
          </a:xfrm>
        </p:grpSpPr>
        <p:pic>
          <p:nvPicPr>
            <p:cNvPr id="6" name="Grafik 5">
              <a:extLst>
                <a:ext uri="{FF2B5EF4-FFF2-40B4-BE49-F238E27FC236}">
                  <a16:creationId xmlns:a16="http://schemas.microsoft.com/office/drawing/2014/main" id="{29E99345-E5A9-6A4E-ADA1-C11EE31FA554}"/>
                </a:ext>
              </a:extLst>
            </p:cNvPr>
            <p:cNvPicPr>
              <a:picLocks noChangeAspect="1"/>
            </p:cNvPicPr>
            <p:nvPr/>
          </p:nvPicPr>
          <p:blipFill>
            <a:blip r:embed="rId2"/>
            <a:stretch>
              <a:fillRect/>
            </a:stretch>
          </p:blipFill>
          <p:spPr>
            <a:xfrm>
              <a:off x="2592862" y="2363151"/>
              <a:ext cx="4150042" cy="299321"/>
            </a:xfrm>
            <a:prstGeom prst="rect">
              <a:avLst/>
            </a:prstGeom>
          </p:spPr>
        </p:pic>
        <p:sp>
          <p:nvSpPr>
            <p:cNvPr id="7" name="Textfeld 6">
              <a:extLst>
                <a:ext uri="{FF2B5EF4-FFF2-40B4-BE49-F238E27FC236}">
                  <a16:creationId xmlns:a16="http://schemas.microsoft.com/office/drawing/2014/main" id="{7461E96B-6DFC-1A4D-838D-642E446EAFDA}"/>
                </a:ext>
              </a:extLst>
            </p:cNvPr>
            <p:cNvSpPr txBox="1"/>
            <p:nvPr/>
          </p:nvSpPr>
          <p:spPr>
            <a:xfrm>
              <a:off x="2521092" y="2278473"/>
              <a:ext cx="4400129" cy="203931"/>
            </a:xfrm>
            <a:prstGeom prst="rect">
              <a:avLst/>
            </a:prstGeom>
            <a:solidFill>
              <a:schemeClr val="bg1"/>
            </a:solidFill>
          </p:spPr>
          <p:txBody>
            <a:bodyPr wrap="square" rtlCol="0">
              <a:spAutoFit/>
            </a:bodyPr>
            <a:lstStyle/>
            <a:p>
              <a:pPr defTabSz="521926">
                <a:defRPr/>
              </a:pPr>
              <a:r>
                <a:rPr lang="de-DE" sz="913" b="1" dirty="0">
                  <a:solidFill>
                    <a:prstClr val="black"/>
                  </a:solidFill>
                  <a:latin typeface="Gill Sans"/>
                </a:rPr>
                <a:t>stark pos. ausgerichtet  pos. ausgerichtet          neutral           negativ ausgerichtet                         SN</a:t>
              </a:r>
            </a:p>
          </p:txBody>
        </p:sp>
      </p:grpSp>
    </p:spTree>
    <p:extLst>
      <p:ext uri="{BB962C8B-B14F-4D97-AF65-F5344CB8AC3E}">
        <p14:creationId xmlns:p14="http://schemas.microsoft.com/office/powerpoint/2010/main" val="1925279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551C090-BB4A-194B-A0CE-6BA1F515F14D}"/>
              </a:ext>
            </a:extLst>
          </p:cNvPr>
          <p:cNvSpPr>
            <a:spLocks noGrp="1"/>
          </p:cNvSpPr>
          <p:nvPr>
            <p:ph type="sldNum" sz="quarter" idx="12"/>
          </p:nvPr>
        </p:nvSpPr>
        <p:spPr/>
        <p:txBody>
          <a:bodyPr/>
          <a:lstStyle/>
          <a:p>
            <a:fld id="{3AE71D6B-ACB6-4F4C-A895-DCAEF1760EAA}" type="slidenum">
              <a:rPr lang="de-DE" smtClean="0"/>
              <a:t>11</a:t>
            </a:fld>
            <a:endParaRPr lang="de-DE"/>
          </a:p>
        </p:txBody>
      </p:sp>
      <p:sp>
        <p:nvSpPr>
          <p:cNvPr id="3" name="Titel 2">
            <a:extLst>
              <a:ext uri="{FF2B5EF4-FFF2-40B4-BE49-F238E27FC236}">
                <a16:creationId xmlns:a16="http://schemas.microsoft.com/office/drawing/2014/main" id="{461CD48F-4692-AC4B-8E56-E6282E94CC33}"/>
              </a:ext>
            </a:extLst>
          </p:cNvPr>
          <p:cNvSpPr>
            <a:spLocks noGrp="1"/>
          </p:cNvSpPr>
          <p:nvPr>
            <p:ph type="title"/>
          </p:nvPr>
        </p:nvSpPr>
        <p:spPr/>
        <p:txBody>
          <a:bodyPr/>
          <a:lstStyle/>
          <a:p>
            <a:r>
              <a:rPr lang="de-DE" dirty="0"/>
              <a:t>Nachhaltigkeitsprozess</a:t>
            </a:r>
            <a:br>
              <a:rPr lang="de-DE" dirty="0"/>
            </a:br>
            <a:r>
              <a:rPr lang="de-DE" sz="1200" b="0" dirty="0">
                <a:solidFill>
                  <a:schemeClr val="accent3"/>
                </a:solidFill>
              </a:rPr>
              <a:t>Offenlegungsverordnung: Nachteilige Auswirkungen auf Nachhaltigkeit (</a:t>
            </a:r>
            <a:r>
              <a:rPr lang="de-DE" sz="1200" b="0" dirty="0" err="1">
                <a:solidFill>
                  <a:schemeClr val="accent3"/>
                </a:solidFill>
              </a:rPr>
              <a:t>Principal</a:t>
            </a:r>
            <a:r>
              <a:rPr lang="de-DE" sz="1200" b="0" dirty="0">
                <a:solidFill>
                  <a:schemeClr val="accent3"/>
                </a:solidFill>
              </a:rPr>
              <a:t> </a:t>
            </a:r>
            <a:r>
              <a:rPr lang="de-DE" sz="1200" b="0" dirty="0" err="1">
                <a:solidFill>
                  <a:schemeClr val="accent3"/>
                </a:solidFill>
              </a:rPr>
              <a:t>Adverse</a:t>
            </a:r>
            <a:r>
              <a:rPr lang="de-DE" sz="1200" b="0" dirty="0">
                <a:solidFill>
                  <a:schemeClr val="accent3"/>
                </a:solidFill>
              </a:rPr>
              <a:t> Impacts on </a:t>
            </a:r>
            <a:r>
              <a:rPr lang="de-DE" sz="1200" b="0" dirty="0" err="1">
                <a:solidFill>
                  <a:schemeClr val="accent3"/>
                </a:solidFill>
              </a:rPr>
              <a:t>Sustainability</a:t>
            </a:r>
            <a:r>
              <a:rPr lang="de-DE" sz="1200" b="0" dirty="0">
                <a:solidFill>
                  <a:schemeClr val="accent3"/>
                </a:solidFill>
              </a:rPr>
              <a:t> – PAIs)</a:t>
            </a:r>
            <a:br>
              <a:rPr lang="de-DE" sz="1800" dirty="0"/>
            </a:br>
            <a:endParaRPr lang="de-DE" dirty="0"/>
          </a:p>
        </p:txBody>
      </p:sp>
      <p:graphicFrame>
        <p:nvGraphicFramePr>
          <p:cNvPr id="4" name="Tabelle 3">
            <a:extLst>
              <a:ext uri="{FF2B5EF4-FFF2-40B4-BE49-F238E27FC236}">
                <a16:creationId xmlns:a16="http://schemas.microsoft.com/office/drawing/2014/main" id="{078DB0DC-F649-0E4A-BE39-B5DF946FC195}"/>
              </a:ext>
            </a:extLst>
          </p:cNvPr>
          <p:cNvGraphicFramePr>
            <a:graphicFrameLocks noGrp="1"/>
          </p:cNvGraphicFramePr>
          <p:nvPr>
            <p:extLst>
              <p:ext uri="{D42A27DB-BD31-4B8C-83A1-F6EECF244321}">
                <p14:modId xmlns:p14="http://schemas.microsoft.com/office/powerpoint/2010/main" val="1899016223"/>
              </p:ext>
            </p:extLst>
          </p:nvPr>
        </p:nvGraphicFramePr>
        <p:xfrm>
          <a:off x="1376502" y="1799641"/>
          <a:ext cx="7740511" cy="3299955"/>
        </p:xfrm>
        <a:graphic>
          <a:graphicData uri="http://schemas.openxmlformats.org/drawingml/2006/table">
            <a:tbl>
              <a:tblPr/>
              <a:tblGrid>
                <a:gridCol w="811075">
                  <a:extLst>
                    <a:ext uri="{9D8B030D-6E8A-4147-A177-3AD203B41FA5}">
                      <a16:colId xmlns:a16="http://schemas.microsoft.com/office/drawing/2014/main" val="1479323948"/>
                    </a:ext>
                  </a:extLst>
                </a:gridCol>
                <a:gridCol w="1543122">
                  <a:extLst>
                    <a:ext uri="{9D8B030D-6E8A-4147-A177-3AD203B41FA5}">
                      <a16:colId xmlns:a16="http://schemas.microsoft.com/office/drawing/2014/main" val="3746820492"/>
                    </a:ext>
                  </a:extLst>
                </a:gridCol>
                <a:gridCol w="5386314">
                  <a:extLst>
                    <a:ext uri="{9D8B030D-6E8A-4147-A177-3AD203B41FA5}">
                      <a16:colId xmlns:a16="http://schemas.microsoft.com/office/drawing/2014/main" val="1767937519"/>
                    </a:ext>
                  </a:extLst>
                </a:gridCol>
              </a:tblGrid>
              <a:tr h="369900">
                <a:tc gridSpan="2">
                  <a:txBody>
                    <a:bodyPr/>
                    <a:lstStyle/>
                    <a:p>
                      <a:pPr marL="108000" algn="ctr" fontAlgn="b"/>
                      <a:r>
                        <a:rPr lang="en-US" sz="1100" b="0" i="0" u="none" strike="noStrike" dirty="0">
                          <a:solidFill>
                            <a:schemeClr val="bg1"/>
                          </a:solidFill>
                          <a:effectLst/>
                          <a:latin typeface="+mn-lt"/>
                        </a:rPr>
                        <a:t> </a:t>
                      </a:r>
                      <a:r>
                        <a:rPr lang="en-US" sz="1100" b="1" i="0" u="none" strike="noStrike" dirty="0">
                          <a:solidFill>
                            <a:schemeClr val="bg1"/>
                          </a:solidFill>
                          <a:effectLst/>
                          <a:latin typeface="+mn-lt"/>
                        </a:rPr>
                        <a:t>Ebene</a:t>
                      </a:r>
                    </a:p>
                  </a:txBody>
                  <a:tcPr marL="8784" marR="8784" marT="8784"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l" fontAlgn="b"/>
                      <a:r>
                        <a:rPr lang="en-US" sz="1000" b="0" i="0" u="none" strike="noStrike" dirty="0">
                          <a:solidFill>
                            <a:srgbClr val="000000"/>
                          </a:solidFill>
                          <a:effectLst/>
                          <a:latin typeface="Gill Alt One MT"/>
                        </a:rPr>
                        <a:t> </a:t>
                      </a:r>
                    </a:p>
                  </a:txBody>
                  <a:tcPr marL="7694" marR="7694" marT="7694"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108000" algn="l" fontAlgn="b"/>
                      <a:r>
                        <a:rPr lang="en-US" sz="1100" b="0" i="0" u="none" strike="noStrike" dirty="0">
                          <a:solidFill>
                            <a:schemeClr val="bg1"/>
                          </a:solidFill>
                          <a:effectLst/>
                          <a:latin typeface="+mn-lt"/>
                        </a:rPr>
                        <a:t> </a:t>
                      </a:r>
                      <a:r>
                        <a:rPr lang="en-US" sz="1100" b="1" i="0" u="none" strike="noStrike" dirty="0" err="1">
                          <a:solidFill>
                            <a:schemeClr val="bg1"/>
                          </a:solidFill>
                          <a:effectLst/>
                          <a:latin typeface="+mn-lt"/>
                        </a:rPr>
                        <a:t>Indikator</a:t>
                      </a:r>
                      <a:endParaRPr lang="en-US" sz="1100" b="1" i="0" u="none" strike="noStrike" dirty="0">
                        <a:solidFill>
                          <a:schemeClr val="bg1"/>
                        </a:solidFill>
                        <a:effectLst/>
                        <a:latin typeface="+mn-lt"/>
                      </a:endParaRPr>
                    </a:p>
                  </a:txBody>
                  <a:tcPr marL="8784" marR="8784" marT="8784"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069420154"/>
                  </a:ext>
                </a:extLst>
              </a:tr>
              <a:tr h="197455">
                <a:tc rowSpan="8">
                  <a:txBody>
                    <a:bodyPr/>
                    <a:lstStyle/>
                    <a:p>
                      <a:pPr algn="ctr"/>
                      <a:r>
                        <a:rPr lang="en-US" sz="1100" b="1" dirty="0">
                          <a:solidFill>
                            <a:schemeClr val="accent1"/>
                          </a:solidFill>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r>
                        <a:rPr lang="en-US" sz="1100" b="1" dirty="0">
                          <a:solidFill>
                            <a:schemeClr val="accent1"/>
                          </a:solidFill>
                        </a:rPr>
                        <a:t>THG </a:t>
                      </a:r>
                      <a:r>
                        <a:rPr lang="en-US" sz="1100" b="1" dirty="0" err="1">
                          <a:solidFill>
                            <a:schemeClr val="accent1"/>
                          </a:solidFill>
                        </a:rPr>
                        <a:t>Emissionen</a:t>
                      </a:r>
                      <a:endParaRPr lang="en-US" sz="1100" b="1"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08000" algn="l" fontAlgn="ctr"/>
                      <a:r>
                        <a:rPr lang="en-US" sz="1100" b="0" i="0" u="none" strike="noStrike" dirty="0">
                          <a:solidFill>
                            <a:schemeClr val="accent1"/>
                          </a:solidFill>
                          <a:effectLst/>
                          <a:latin typeface="+mn-lt"/>
                        </a:rPr>
                        <a:t>2. C02-Fußabdruck</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5353306"/>
                  </a:ext>
                </a:extLst>
              </a:tr>
              <a:tr h="197455">
                <a:tc vMerge="1">
                  <a:txBody>
                    <a:bodyPr/>
                    <a:lstStyle/>
                    <a:p>
                      <a:endParaRPr lang="en-US"/>
                    </a:p>
                  </a:txBody>
                  <a:tcPr/>
                </a:tc>
                <a:tc vMerge="1">
                  <a:txBody>
                    <a:bodyPr/>
                    <a:lstStyle/>
                    <a:p>
                      <a:endParaRPr lang="en-US"/>
                    </a:p>
                  </a:txBody>
                  <a:tcPr/>
                </a:tc>
                <a:tc>
                  <a:txBody>
                    <a:bodyPr/>
                    <a:lstStyle/>
                    <a:p>
                      <a:pPr marL="108000" algn="l" fontAlgn="ctr"/>
                      <a:r>
                        <a:rPr lang="en-US" sz="1100" b="0" i="0" u="none" strike="noStrike" dirty="0">
                          <a:solidFill>
                            <a:schemeClr val="accent1"/>
                          </a:solidFill>
                          <a:effectLst/>
                          <a:latin typeface="+mn-lt"/>
                        </a:rPr>
                        <a:t>3. THG-</a:t>
                      </a:r>
                      <a:r>
                        <a:rPr lang="en-US" sz="1100" b="0" i="0" u="none" strike="noStrike" dirty="0" err="1">
                          <a:solidFill>
                            <a:schemeClr val="accent1"/>
                          </a:solidFill>
                          <a:effectLst/>
                          <a:latin typeface="+mn-lt"/>
                        </a:rPr>
                        <a:t>Intensität</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3649596"/>
                  </a:ext>
                </a:extLst>
              </a:tr>
              <a:tr h="197455">
                <a:tc vMerge="1">
                  <a:txBody>
                    <a:bodyPr/>
                    <a:lstStyle/>
                    <a:p>
                      <a:endParaRPr lang="en-US"/>
                    </a:p>
                  </a:txBody>
                  <a:tcPr/>
                </a:tc>
                <a:tc vMerge="1">
                  <a:txBody>
                    <a:bodyPr/>
                    <a:lstStyle/>
                    <a:p>
                      <a:endParaRPr lang="en-US"/>
                    </a:p>
                  </a:txBody>
                  <a:tcPr/>
                </a:tc>
                <a:tc>
                  <a:txBody>
                    <a:bodyPr/>
                    <a:lstStyle/>
                    <a:p>
                      <a:pPr marL="108000" algn="l" fontAlgn="ctr"/>
                      <a:r>
                        <a:rPr lang="de-DE" sz="1100" b="0" i="0" u="none" strike="noStrike" dirty="0">
                          <a:solidFill>
                            <a:schemeClr val="accent1"/>
                          </a:solidFill>
                          <a:effectLst/>
                          <a:latin typeface="+mn-lt"/>
                        </a:rPr>
                        <a:t>4. Beteiligung an Unternehmen, die im Bereich fossiler Brennstoffe tätig sind</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5150509"/>
                  </a:ext>
                </a:extLst>
              </a:tr>
              <a:tr h="197455">
                <a:tc vMerge="1">
                  <a:txBody>
                    <a:bodyPr/>
                    <a:lstStyle/>
                    <a:p>
                      <a:endParaRPr lang="en-US"/>
                    </a:p>
                  </a:txBody>
                  <a:tcPr/>
                </a:tc>
                <a:tc vMerge="1">
                  <a:txBody>
                    <a:bodyPr/>
                    <a:lstStyle/>
                    <a:p>
                      <a:endParaRPr lang="en-US"/>
                    </a:p>
                  </a:txBody>
                  <a:tcPr/>
                </a:tc>
                <a:tc>
                  <a:txBody>
                    <a:bodyPr/>
                    <a:lstStyle/>
                    <a:p>
                      <a:pPr marL="108000" algn="l" fontAlgn="ctr"/>
                      <a:r>
                        <a:rPr lang="de-DE" sz="1100" b="0" i="0" u="none" strike="noStrike" dirty="0">
                          <a:solidFill>
                            <a:schemeClr val="accent1"/>
                          </a:solidFill>
                          <a:effectLst/>
                          <a:latin typeface="+mn-lt"/>
                        </a:rPr>
                        <a:t>5. Anteil des Verbrauchs und der Produktion von nicht erneuerbarer Energie</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0160868"/>
                  </a:ext>
                </a:extLst>
              </a:tr>
              <a:tr h="197455">
                <a:tc vMerge="1">
                  <a:txBody>
                    <a:bodyPr/>
                    <a:lstStyle/>
                    <a:p>
                      <a:endParaRPr lang="en-US"/>
                    </a:p>
                  </a:txBody>
                  <a:tcPr/>
                </a:tc>
                <a:tc vMerge="1">
                  <a:txBody>
                    <a:bodyPr/>
                    <a:lstStyle/>
                    <a:p>
                      <a:endParaRPr lang="en-US"/>
                    </a:p>
                  </a:txBody>
                  <a:tcPr/>
                </a:tc>
                <a:tc>
                  <a:txBody>
                    <a:bodyPr/>
                    <a:lstStyle/>
                    <a:p>
                      <a:pPr marL="108000" algn="l" fontAlgn="ctr"/>
                      <a:r>
                        <a:rPr lang="en-US" sz="1100" b="0" i="0" u="none" strike="noStrike" dirty="0">
                          <a:solidFill>
                            <a:schemeClr val="accent1"/>
                          </a:solidFill>
                          <a:effectLst/>
                          <a:latin typeface="+mn-lt"/>
                        </a:rPr>
                        <a:t>6. </a:t>
                      </a:r>
                      <a:r>
                        <a:rPr lang="en-US" sz="1100" b="0" i="0" u="none" strike="noStrike" dirty="0" err="1">
                          <a:solidFill>
                            <a:schemeClr val="accent1"/>
                          </a:solidFill>
                          <a:effectLst/>
                          <a:latin typeface="+mn-lt"/>
                        </a:rPr>
                        <a:t>Energieverbrauchsintensität</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8758046"/>
                  </a:ext>
                </a:extLst>
              </a:tr>
              <a:tr h="197455">
                <a:tc vMerge="1">
                  <a:txBody>
                    <a:bodyPr/>
                    <a:lstStyle/>
                    <a:p>
                      <a:endParaRPr lang="en-US"/>
                    </a:p>
                  </a:txBody>
                  <a:tcPr>
                    <a:lnT w="12700" cmpd="sng">
                      <a:noFill/>
                      <a:prstDash val="solid"/>
                    </a:lnT>
                  </a:tcPr>
                </a:tc>
                <a:tc>
                  <a:txBody>
                    <a:bodyPr/>
                    <a:lstStyle/>
                    <a:p>
                      <a:pPr marL="108000" algn="l" fontAlgn="ctr"/>
                      <a:r>
                        <a:rPr lang="en-US" sz="1100" b="1" i="0" u="none" strike="noStrike" dirty="0" err="1">
                          <a:solidFill>
                            <a:schemeClr val="accent1"/>
                          </a:solidFill>
                          <a:effectLst/>
                          <a:latin typeface="+mn-lt"/>
                        </a:rPr>
                        <a:t>Biodiversität</a:t>
                      </a:r>
                      <a:endParaRPr lang="en-US" sz="1100" b="1" i="0" u="none" strike="noStrike" dirty="0">
                        <a:solidFill>
                          <a:schemeClr val="accent1"/>
                        </a:solidFill>
                        <a:effectLst/>
                        <a:latin typeface="+mn-lt"/>
                      </a:endParaRP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08000" algn="l" fontAlgn="ctr"/>
                      <a:r>
                        <a:rPr lang="de-DE" sz="1100" b="0" i="0" u="none" strike="noStrike" dirty="0">
                          <a:solidFill>
                            <a:schemeClr val="accent1"/>
                          </a:solidFill>
                          <a:effectLst/>
                          <a:latin typeface="+mn-lt"/>
                        </a:rPr>
                        <a:t>7. Aktivitäten, die sich negativ auf biodiversitätssensible Gebiete auswirken</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17508082"/>
                  </a:ext>
                </a:extLst>
              </a:tr>
              <a:tr h="197455">
                <a:tc vMerge="1">
                  <a:txBody>
                    <a:bodyPr/>
                    <a:lstStyle/>
                    <a:p>
                      <a:endParaRPr lang="en-US"/>
                    </a:p>
                  </a:txBody>
                  <a:tcPr/>
                </a:tc>
                <a:tc>
                  <a:txBody>
                    <a:bodyPr/>
                    <a:lstStyle/>
                    <a:p>
                      <a:pPr marL="108000" algn="l" fontAlgn="ctr"/>
                      <a:r>
                        <a:rPr lang="en-US" sz="1100" b="1" i="0" u="none" strike="noStrike" dirty="0">
                          <a:solidFill>
                            <a:schemeClr val="accent1"/>
                          </a:solidFill>
                          <a:effectLst/>
                          <a:latin typeface="+mn-lt"/>
                        </a:rPr>
                        <a:t>Wasser</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08000" algn="l" fontAlgn="ctr"/>
                      <a:r>
                        <a:rPr lang="de-DE" sz="1100" b="0" i="0" u="none" strike="noStrike" dirty="0">
                          <a:solidFill>
                            <a:schemeClr val="accent1"/>
                          </a:solidFill>
                          <a:effectLst/>
                          <a:latin typeface="+mn-lt"/>
                        </a:rPr>
                        <a:t>8. Giftstoffe im Wasser (in Tonnen pro investierter Mio. EUR)</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71407330"/>
                  </a:ext>
                </a:extLst>
              </a:tr>
              <a:tr h="202292">
                <a:tc vMerge="1">
                  <a:txBody>
                    <a:bodyPr/>
                    <a:lstStyle/>
                    <a:p>
                      <a:endParaRPr lang="en-US"/>
                    </a:p>
                  </a:txBody>
                  <a:tcPr/>
                </a:tc>
                <a:tc>
                  <a:txBody>
                    <a:bodyPr/>
                    <a:lstStyle/>
                    <a:p>
                      <a:pPr marL="108000" algn="l" fontAlgn="ctr"/>
                      <a:r>
                        <a:rPr lang="en-US" sz="1100" b="1" i="0" u="none" strike="noStrike" dirty="0" err="1">
                          <a:solidFill>
                            <a:schemeClr val="accent1"/>
                          </a:solidFill>
                          <a:effectLst/>
                          <a:latin typeface="+mn-lt"/>
                        </a:rPr>
                        <a:t>Müll</a:t>
                      </a:r>
                      <a:endParaRPr lang="en-US" sz="1100" b="1" i="0" u="none" strike="noStrike" dirty="0">
                        <a:solidFill>
                          <a:schemeClr val="accent1"/>
                        </a:solidFill>
                        <a:effectLst/>
                        <a:latin typeface="+mn-lt"/>
                      </a:endParaRP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08000" algn="l" fontAlgn="ctr"/>
                      <a:r>
                        <a:rPr lang="de-DE" sz="1100" b="0" i="0" u="none" strike="noStrike" dirty="0">
                          <a:solidFill>
                            <a:schemeClr val="accent1"/>
                          </a:solidFill>
                          <a:effectLst/>
                          <a:latin typeface="+mn-lt"/>
                        </a:rPr>
                        <a:t>9. Verhältnis von gefährlichem Abfall (in Tonnen pro investierter Mio. EUR)</a:t>
                      </a:r>
                    </a:p>
                  </a:txBody>
                  <a:tcPr marL="8784" marR="72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24966481"/>
                  </a:ext>
                </a:extLst>
              </a:tr>
              <a:tr h="202292">
                <a:tc>
                  <a:txBody>
                    <a:bodyPr/>
                    <a:lstStyle/>
                    <a:p>
                      <a:pPr algn="ctr" fontAlgn="ctr"/>
                      <a:endParaRPr lang="de-DE" sz="1100" b="1"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algn="l" fontAlgn="ctr"/>
                      <a:endParaRPr lang="en-US" sz="1100" b="1" i="0" u="none" strike="noStrike" dirty="0">
                        <a:solidFill>
                          <a:srgbClr val="000000"/>
                        </a:solidFill>
                        <a:effectLst/>
                        <a:latin typeface="+mn-lt"/>
                      </a:endParaRPr>
                    </a:p>
                  </a:txBody>
                  <a:tcPr marL="8784" marR="8784" marT="878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algn="l" fontAlgn="ctr"/>
                      <a:endParaRPr lang="de-DE" sz="1100" b="0" i="0" u="none" strike="noStrike" dirty="0">
                        <a:solidFill>
                          <a:srgbClr val="000000"/>
                        </a:solidFill>
                        <a:effectLst/>
                        <a:latin typeface="+mn-lt"/>
                      </a:endParaRPr>
                    </a:p>
                  </a:txBody>
                  <a:tcPr marL="8784" marR="8784" marT="8784"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4246914"/>
                  </a:ext>
                </a:extLst>
              </a:tr>
              <a:tr h="197455">
                <a:tc rowSpan="5">
                  <a:txBody>
                    <a:bodyPr/>
                    <a:lstStyle/>
                    <a:p>
                      <a:pPr algn="ctr" fontAlgn="ctr"/>
                      <a:r>
                        <a:rPr lang="en-US" sz="1100" b="1" i="0" u="none" strike="noStrike" dirty="0">
                          <a:solidFill>
                            <a:schemeClr val="bg1"/>
                          </a:solidFill>
                          <a:effectLst/>
                          <a:latin typeface="+mn-lt"/>
                        </a:rPr>
                        <a:t>S  </a:t>
                      </a:r>
                      <a:br>
                        <a:rPr lang="en-US" sz="1100" b="1" i="0" u="none" strike="noStrike" dirty="0">
                          <a:solidFill>
                            <a:schemeClr val="bg1"/>
                          </a:solidFill>
                          <a:effectLst/>
                          <a:latin typeface="+mn-lt"/>
                        </a:rPr>
                      </a:br>
                      <a:r>
                        <a:rPr lang="en-US" sz="1100" b="1" i="0" u="none" strike="noStrike" dirty="0">
                          <a:solidFill>
                            <a:schemeClr val="bg1"/>
                          </a:solidFill>
                          <a:effectLst/>
                          <a:latin typeface="+mn-lt"/>
                        </a:rPr>
                        <a:t>&amp;</a:t>
                      </a:r>
                      <a:br>
                        <a:rPr lang="en-US" sz="1100" b="1" i="0" u="none" strike="noStrike" dirty="0">
                          <a:solidFill>
                            <a:schemeClr val="bg1"/>
                          </a:solidFill>
                          <a:effectLst/>
                          <a:latin typeface="+mn-lt"/>
                        </a:rPr>
                      </a:br>
                      <a:r>
                        <a:rPr lang="en-US" sz="1100" b="1" i="0" u="none" strike="noStrike" dirty="0">
                          <a:solidFill>
                            <a:schemeClr val="bg1"/>
                          </a:solidFill>
                          <a:effectLst/>
                          <a:latin typeface="+mn-lt"/>
                        </a:rPr>
                        <a:t>G</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rowSpan="5">
                  <a:txBody>
                    <a:bodyPr/>
                    <a:lstStyle/>
                    <a:p>
                      <a:pPr marL="108000" algn="l" fontAlgn="ctr"/>
                      <a:r>
                        <a:rPr lang="en-US" sz="1100" b="1" i="0" u="none" strike="noStrike" dirty="0" err="1">
                          <a:solidFill>
                            <a:schemeClr val="accent1"/>
                          </a:solidFill>
                          <a:effectLst/>
                          <a:latin typeface="+mn-lt"/>
                        </a:rPr>
                        <a:t>Soziale</a:t>
                      </a:r>
                      <a:r>
                        <a:rPr lang="en-US" sz="1100" b="1" i="0" u="none" strike="noStrike" dirty="0">
                          <a:solidFill>
                            <a:schemeClr val="accent1"/>
                          </a:solidFill>
                          <a:effectLst/>
                          <a:latin typeface="+mn-lt"/>
                        </a:rPr>
                        <a:t> und </a:t>
                      </a:r>
                      <a:r>
                        <a:rPr lang="en-US" sz="1100" b="1" i="0" u="none" strike="noStrike" dirty="0" err="1">
                          <a:solidFill>
                            <a:schemeClr val="accent1"/>
                          </a:solidFill>
                          <a:effectLst/>
                          <a:latin typeface="+mn-lt"/>
                        </a:rPr>
                        <a:t>mitarbeiter</a:t>
                      </a:r>
                      <a:r>
                        <a:rPr lang="en-US" sz="1100" b="1" i="0" u="none" strike="noStrike" dirty="0">
                          <a:solidFill>
                            <a:schemeClr val="accent1"/>
                          </a:solidFill>
                          <a:effectLst/>
                          <a:latin typeface="+mn-lt"/>
                        </a:rPr>
                        <a:t>-</a:t>
                      </a:r>
                      <a:br>
                        <a:rPr lang="en-US" sz="1100" b="1" i="0" u="none" strike="noStrike" dirty="0">
                          <a:solidFill>
                            <a:schemeClr val="accent1"/>
                          </a:solidFill>
                          <a:effectLst/>
                          <a:latin typeface="+mn-lt"/>
                        </a:rPr>
                      </a:br>
                      <a:r>
                        <a:rPr lang="en-US" sz="1100" b="1" i="0" u="none" strike="noStrike" dirty="0" err="1">
                          <a:solidFill>
                            <a:schemeClr val="accent1"/>
                          </a:solidFill>
                          <a:effectLst/>
                          <a:latin typeface="+mn-lt"/>
                        </a:rPr>
                        <a:t>bezogene</a:t>
                      </a:r>
                      <a:r>
                        <a:rPr lang="en-US" sz="1100" b="1" i="0" u="none" strike="noStrike" dirty="0">
                          <a:solidFill>
                            <a:schemeClr val="accent1"/>
                          </a:solidFill>
                          <a:effectLst/>
                          <a:latin typeface="+mn-lt"/>
                        </a:rPr>
                        <a:t> </a:t>
                      </a:r>
                      <a:r>
                        <a:rPr lang="en-US" sz="1100" b="1" i="0" u="none" strike="noStrike" dirty="0" err="1">
                          <a:solidFill>
                            <a:schemeClr val="accent1"/>
                          </a:solidFill>
                          <a:effectLst/>
                          <a:latin typeface="+mn-lt"/>
                        </a:rPr>
                        <a:t>Themen</a:t>
                      </a:r>
                      <a:endParaRPr lang="en-US" sz="1100" b="1"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08000" algn="l" fontAlgn="ctr"/>
                      <a:r>
                        <a:rPr lang="de-DE" sz="1100" b="0" i="0" u="none" strike="noStrike" dirty="0">
                          <a:solidFill>
                            <a:schemeClr val="accent1"/>
                          </a:solidFill>
                          <a:effectLst/>
                          <a:latin typeface="+mn-lt"/>
                        </a:rPr>
                        <a:t>10. Verstöße gegen UNGC-Prinzipien und OECD-Richtlinien</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7903056"/>
                  </a:ext>
                </a:extLst>
              </a:tr>
              <a:tr h="197455">
                <a:tc vMerge="1">
                  <a:txBody>
                    <a:bodyPr/>
                    <a:lstStyle/>
                    <a:p>
                      <a:endParaRPr lang="en-US"/>
                    </a:p>
                  </a:txBody>
                  <a:tcPr/>
                </a:tc>
                <a:tc vMerge="1">
                  <a:txBody>
                    <a:bodyPr/>
                    <a:lstStyle/>
                    <a:p>
                      <a:endParaRPr lang="en-US"/>
                    </a:p>
                  </a:txBody>
                  <a:tcPr/>
                </a:tc>
                <a:tc>
                  <a:txBody>
                    <a:bodyPr/>
                    <a:lstStyle/>
                    <a:p>
                      <a:pPr marL="108000" marR="0" lvl="0" indent="0" algn="l" defTabSz="783001" rtl="0" eaLnBrk="1" fontAlgn="ctr" latinLnBrk="0" hangingPunct="1">
                        <a:lnSpc>
                          <a:spcPct val="100000"/>
                        </a:lnSpc>
                        <a:spcBef>
                          <a:spcPts val="0"/>
                        </a:spcBef>
                        <a:spcAft>
                          <a:spcPts val="0"/>
                        </a:spcAft>
                        <a:buClrTx/>
                        <a:buSzTx/>
                        <a:buFontTx/>
                        <a:buNone/>
                        <a:tabLst/>
                        <a:defRPr/>
                      </a:pPr>
                      <a:r>
                        <a:rPr lang="de-DE" sz="1100" b="0" i="0" u="none" strike="noStrike" dirty="0">
                          <a:solidFill>
                            <a:schemeClr val="accent1"/>
                          </a:solidFill>
                          <a:effectLst/>
                          <a:latin typeface="+mn-lt"/>
                        </a:rPr>
                        <a:t>11. Fehlende Prozesse zur Überwachung der Einhaltung</a:t>
                      </a:r>
                      <a:br>
                        <a:rPr lang="de-DE" sz="1100" b="0" i="0" u="none" strike="noStrike" dirty="0">
                          <a:solidFill>
                            <a:schemeClr val="accent1"/>
                          </a:solidFill>
                          <a:effectLst/>
                          <a:latin typeface="+mn-lt"/>
                        </a:rPr>
                      </a:br>
                      <a:r>
                        <a:rPr lang="de-DE" sz="1100" b="0" i="0" u="none" strike="noStrike" dirty="0">
                          <a:solidFill>
                            <a:schemeClr val="accent1"/>
                          </a:solidFill>
                          <a:effectLst/>
                          <a:latin typeface="+mn-lt"/>
                        </a:rPr>
                        <a:t>      </a:t>
                      </a:r>
                      <a:r>
                        <a:rPr lang="en-US" sz="1100" b="0" i="0" u="none" strike="noStrike" dirty="0">
                          <a:solidFill>
                            <a:schemeClr val="accent1"/>
                          </a:solidFill>
                          <a:effectLst/>
                          <a:latin typeface="+mn-lt"/>
                        </a:rPr>
                        <a:t>der UNGC-</a:t>
                      </a:r>
                      <a:r>
                        <a:rPr lang="en-US" sz="1100" b="0" i="0" u="none" strike="noStrike" dirty="0" err="1">
                          <a:solidFill>
                            <a:schemeClr val="accent1"/>
                          </a:solidFill>
                          <a:effectLst/>
                          <a:latin typeface="+mn-lt"/>
                        </a:rPr>
                        <a:t>Prinzipien</a:t>
                      </a:r>
                      <a:r>
                        <a:rPr lang="en-US" sz="1100" b="0" i="0" u="none" strike="noStrike" dirty="0">
                          <a:solidFill>
                            <a:schemeClr val="accent1"/>
                          </a:solidFill>
                          <a:effectLst/>
                          <a:latin typeface="+mn-lt"/>
                        </a:rPr>
                        <a:t> und OECD-</a:t>
                      </a:r>
                      <a:r>
                        <a:rPr lang="en-US" sz="1100" b="0" i="0" u="none" strike="noStrike" dirty="0" err="1">
                          <a:solidFill>
                            <a:schemeClr val="accent1"/>
                          </a:solidFill>
                          <a:effectLst/>
                          <a:latin typeface="+mn-lt"/>
                        </a:rPr>
                        <a:t>Richtlinien</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8044849"/>
                  </a:ext>
                </a:extLst>
              </a:tr>
              <a:tr h="197455">
                <a:tc vMerge="1">
                  <a:txBody>
                    <a:bodyPr/>
                    <a:lstStyle/>
                    <a:p>
                      <a:endParaRPr lang="en-US"/>
                    </a:p>
                  </a:txBody>
                  <a:tcPr>
                    <a:lnT w="12700" cap="flat" cmpd="sng" algn="ctr">
                      <a:solidFill>
                        <a:srgbClr val="000000"/>
                      </a:solidFill>
                      <a:prstDash val="solid"/>
                      <a:round/>
                      <a:headEnd type="none" w="med" len="med"/>
                      <a:tailEnd type="none" w="med" len="med"/>
                    </a:lnT>
                  </a:tcPr>
                </a:tc>
                <a:tc vMerge="1">
                  <a:txBody>
                    <a:bodyPr/>
                    <a:lstStyle/>
                    <a:p>
                      <a:endParaRPr lang="en-US"/>
                    </a:p>
                  </a:txBody>
                  <a:tcPr>
                    <a:lnT w="12700" cap="flat" cmpd="sng" algn="ctr">
                      <a:solidFill>
                        <a:srgbClr val="000000"/>
                      </a:solidFill>
                      <a:prstDash val="solid"/>
                      <a:round/>
                      <a:headEnd type="none" w="med" len="med"/>
                      <a:tailEnd type="none" w="med" len="med"/>
                    </a:lnT>
                  </a:tcPr>
                </a:tc>
                <a:tc>
                  <a:txBody>
                    <a:bodyPr/>
                    <a:lstStyle/>
                    <a:p>
                      <a:pPr marL="108000" algn="l" fontAlgn="ctr"/>
                      <a:r>
                        <a:rPr lang="de-DE" sz="1100" b="0" i="0" u="none" strike="noStrike" dirty="0">
                          <a:solidFill>
                            <a:schemeClr val="accent1"/>
                          </a:solidFill>
                          <a:effectLst/>
                          <a:latin typeface="+mn-lt"/>
                        </a:rPr>
                        <a:t>12. Unbereinigtes Gender Pay Gap </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9748442"/>
                  </a:ext>
                </a:extLst>
              </a:tr>
              <a:tr h="197455">
                <a:tc vMerge="1">
                  <a:txBody>
                    <a:bodyPr/>
                    <a:lstStyle/>
                    <a:p>
                      <a:endParaRPr lang="en-US"/>
                    </a:p>
                  </a:txBody>
                  <a:tcPr/>
                </a:tc>
                <a:tc vMerge="1">
                  <a:txBody>
                    <a:bodyPr/>
                    <a:lstStyle/>
                    <a:p>
                      <a:endParaRPr lang="en-US"/>
                    </a:p>
                  </a:txBody>
                  <a:tcPr/>
                </a:tc>
                <a:tc>
                  <a:txBody>
                    <a:bodyPr/>
                    <a:lstStyle/>
                    <a:p>
                      <a:pPr marL="108000" algn="l" fontAlgn="ctr"/>
                      <a:r>
                        <a:rPr lang="en-US" sz="1100" b="0" i="0" u="none" strike="noStrike" dirty="0">
                          <a:solidFill>
                            <a:schemeClr val="accent1"/>
                          </a:solidFill>
                          <a:effectLst/>
                          <a:latin typeface="+mn-lt"/>
                        </a:rPr>
                        <a:t>13. </a:t>
                      </a:r>
                      <a:r>
                        <a:rPr lang="en-US" sz="1100" b="0" i="0" u="none" strike="noStrike" dirty="0" err="1">
                          <a:solidFill>
                            <a:schemeClr val="accent1"/>
                          </a:solidFill>
                          <a:effectLst/>
                          <a:latin typeface="+mn-lt"/>
                        </a:rPr>
                        <a:t>Geschlechtervielfalt</a:t>
                      </a:r>
                      <a:r>
                        <a:rPr lang="en-US" sz="1100" b="0" i="0" u="none" strike="noStrike" dirty="0">
                          <a:solidFill>
                            <a:schemeClr val="accent1"/>
                          </a:solidFill>
                          <a:effectLst/>
                          <a:latin typeface="+mn-lt"/>
                        </a:rPr>
                        <a:t> </a:t>
                      </a:r>
                      <a:r>
                        <a:rPr lang="en-US" sz="1100" b="0" i="0" u="none" strike="noStrike" dirty="0" err="1">
                          <a:solidFill>
                            <a:schemeClr val="accent1"/>
                          </a:solidFill>
                          <a:effectLst/>
                          <a:latin typeface="+mn-lt"/>
                        </a:rPr>
                        <a:t>im</a:t>
                      </a:r>
                      <a:r>
                        <a:rPr lang="en-US" sz="1100" b="0" i="0" u="none" strike="noStrike" dirty="0">
                          <a:solidFill>
                            <a:schemeClr val="accent1"/>
                          </a:solidFill>
                          <a:effectLst/>
                          <a:latin typeface="+mn-lt"/>
                        </a:rPr>
                        <a:t> </a:t>
                      </a:r>
                      <a:r>
                        <a:rPr lang="en-US" sz="1100" b="0" i="0" u="none" strike="noStrike" dirty="0" err="1">
                          <a:solidFill>
                            <a:schemeClr val="accent1"/>
                          </a:solidFill>
                          <a:effectLst/>
                          <a:latin typeface="+mn-lt"/>
                        </a:rPr>
                        <a:t>Vorstand</a:t>
                      </a:r>
                      <a:endParaRPr lang="en-US" sz="1100" b="0" i="0" u="none" strike="noStrike" dirty="0">
                        <a:solidFill>
                          <a:schemeClr val="accent1"/>
                        </a:solidFill>
                        <a:effectLst/>
                        <a:latin typeface="+mn-lt"/>
                      </a:endParaRP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3880347"/>
                  </a:ext>
                </a:extLst>
              </a:tr>
              <a:tr h="206857">
                <a:tc vMerge="1">
                  <a:txBody>
                    <a:bodyPr/>
                    <a:lstStyle/>
                    <a:p>
                      <a:endParaRPr lang="en-US"/>
                    </a:p>
                  </a:txBody>
                  <a:tcPr/>
                </a:tc>
                <a:tc vMerge="1">
                  <a:txBody>
                    <a:bodyPr/>
                    <a:lstStyle/>
                    <a:p>
                      <a:endParaRPr lang="en-US"/>
                    </a:p>
                  </a:txBody>
                  <a:tcPr/>
                </a:tc>
                <a:tc>
                  <a:txBody>
                    <a:bodyPr/>
                    <a:lstStyle/>
                    <a:p>
                      <a:pPr marL="108000" algn="l" fontAlgn="ctr"/>
                      <a:r>
                        <a:rPr lang="de-DE" sz="1100" b="0" i="0" u="none" strike="noStrike" dirty="0">
                          <a:solidFill>
                            <a:schemeClr val="accent1"/>
                          </a:solidFill>
                          <a:effectLst/>
                          <a:latin typeface="+mn-lt"/>
                        </a:rPr>
                        <a:t>14. Investitionen in kontroversen Waffen</a:t>
                      </a:r>
                    </a:p>
                  </a:txBody>
                  <a:tcPr marL="8784" marR="8784" marT="878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352160"/>
                  </a:ext>
                </a:extLst>
              </a:tr>
            </a:tbl>
          </a:graphicData>
        </a:graphic>
      </p:graphicFrame>
      <p:sp>
        <p:nvSpPr>
          <p:cNvPr id="16" name="Textfeld 15">
            <a:extLst>
              <a:ext uri="{FF2B5EF4-FFF2-40B4-BE49-F238E27FC236}">
                <a16:creationId xmlns:a16="http://schemas.microsoft.com/office/drawing/2014/main" id="{62714930-90CB-5840-8308-75C1C689798E}"/>
              </a:ext>
            </a:extLst>
          </p:cNvPr>
          <p:cNvSpPr txBox="1"/>
          <p:nvPr/>
        </p:nvSpPr>
        <p:spPr>
          <a:xfrm>
            <a:off x="1376502" y="5206890"/>
            <a:ext cx="5222448" cy="338554"/>
          </a:xfrm>
          <a:prstGeom prst="rect">
            <a:avLst/>
          </a:prstGeom>
          <a:noFill/>
        </p:spPr>
        <p:txBody>
          <a:bodyPr wrap="square">
            <a:spAutoFit/>
          </a:bodyPr>
          <a:lstStyle/>
          <a:p>
            <a:pPr algn="l" fontAlgn="t"/>
            <a:r>
              <a:rPr lang="de-DE" sz="800" b="0" i="1" u="none" strike="noStrike" dirty="0">
                <a:solidFill>
                  <a:schemeClr val="accent3"/>
                </a:solidFill>
                <a:effectLst/>
                <a:latin typeface="+mn-lt"/>
              </a:rPr>
              <a:t>Erweiterung um 4 soziale Indikatoren geplant: - Gewinne aus „Steueroasen“ - Tabakanbau und -herstellung</a:t>
            </a:r>
            <a:br>
              <a:rPr lang="de-DE" sz="800" b="0" i="1" u="none" strike="noStrike" dirty="0">
                <a:solidFill>
                  <a:schemeClr val="accent3"/>
                </a:solidFill>
                <a:effectLst/>
                <a:latin typeface="+mn-lt"/>
              </a:rPr>
            </a:br>
            <a:r>
              <a:rPr lang="de-DE" sz="800" b="0" i="1" u="none" strike="noStrike" dirty="0">
                <a:solidFill>
                  <a:schemeClr val="accent3"/>
                </a:solidFill>
                <a:effectLst/>
                <a:latin typeface="+mn-lt"/>
              </a:rPr>
              <a:t>- Behinderung von AN-Mitbestimmung - Anteil AN unterhalb des angemessenen Lohns </a:t>
            </a:r>
          </a:p>
        </p:txBody>
      </p:sp>
    </p:spTree>
    <p:extLst>
      <p:ext uri="{BB962C8B-B14F-4D97-AF65-F5344CB8AC3E}">
        <p14:creationId xmlns:p14="http://schemas.microsoft.com/office/powerpoint/2010/main" val="2220683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F0D1596-4451-0610-B886-AE23F1540AE1}"/>
              </a:ext>
            </a:extLst>
          </p:cNvPr>
          <p:cNvSpPr>
            <a:spLocks noGrp="1"/>
          </p:cNvSpPr>
          <p:nvPr>
            <p:ph type="sldNum" sz="quarter" idx="12"/>
          </p:nvPr>
        </p:nvSpPr>
        <p:spPr/>
        <p:txBody>
          <a:bodyPr/>
          <a:lstStyle/>
          <a:p>
            <a:fld id="{3AE71D6B-ACB6-4F4C-A895-DCAEF1760EAA}" type="slidenum">
              <a:rPr lang="de-DE" smtClean="0"/>
              <a:t>12</a:t>
            </a:fld>
            <a:endParaRPr lang="de-DE"/>
          </a:p>
        </p:txBody>
      </p:sp>
      <p:grpSp>
        <p:nvGrpSpPr>
          <p:cNvPr id="4" name="Gruppieren 3">
            <a:extLst>
              <a:ext uri="{FF2B5EF4-FFF2-40B4-BE49-F238E27FC236}">
                <a16:creationId xmlns:a16="http://schemas.microsoft.com/office/drawing/2014/main" id="{7A86ABF0-C26A-E9D8-6815-3892E8E76198}"/>
              </a:ext>
            </a:extLst>
          </p:cNvPr>
          <p:cNvGrpSpPr>
            <a:grpSpLocks noGrp="1" noUngrp="1" noRot="1" noMove="1" noResize="1"/>
          </p:cNvGrpSpPr>
          <p:nvPr/>
        </p:nvGrpSpPr>
        <p:grpSpPr>
          <a:xfrm>
            <a:off x="1089035" y="1012608"/>
            <a:ext cx="8261330" cy="4634346"/>
            <a:chOff x="1953490" y="976745"/>
            <a:chExt cx="8261330" cy="4634346"/>
          </a:xfrm>
        </p:grpSpPr>
        <p:pic>
          <p:nvPicPr>
            <p:cNvPr id="3" name="Grafik" descr="Ein Bild, das Screenshot, Text, Software, Multimedia enthält.&#10;&#10;Automatisch generierte Beschreibung">
              <a:extLst>
                <a:ext uri="{FF2B5EF4-FFF2-40B4-BE49-F238E27FC236}">
                  <a16:creationId xmlns:a16="http://schemas.microsoft.com/office/drawing/2014/main" id="{37B323CE-DD0A-8BD1-F3EA-96857B3B9484}"/>
                </a:ext>
              </a:extLst>
            </p:cNvPr>
            <p:cNvPicPr>
              <a:picLocks noGrp="1" noRot="1" noMove="1" noResize="1" noEditPoints="1" noAdjustHandles="1" noChangeArrowheads="1" noChangeShapeType="1" noCrop="1"/>
            </p:cNvPicPr>
            <p:nvPr/>
          </p:nvPicPr>
          <p:blipFill rotWithShape="1">
            <a:blip r:embed="rId2"/>
            <a:srcRect l="18712" t="14643" r="2853" b="15719"/>
            <a:stretch/>
          </p:blipFill>
          <p:spPr>
            <a:xfrm>
              <a:off x="1953490" y="976745"/>
              <a:ext cx="8188037" cy="4634346"/>
            </a:xfrm>
            <a:prstGeom prst="rect">
              <a:avLst/>
            </a:prstGeom>
          </p:spPr>
        </p:pic>
        <p:sp>
          <p:nvSpPr>
            <p:cNvPr id="6" name="Überschrift 2">
              <a:extLst>
                <a:ext uri="{FF2B5EF4-FFF2-40B4-BE49-F238E27FC236}">
                  <a16:creationId xmlns:a16="http://schemas.microsoft.com/office/drawing/2014/main" id="{B4EB193A-3114-ED67-A283-DEC6E7B1E483}"/>
                </a:ext>
              </a:extLst>
            </p:cNvPr>
            <p:cNvSpPr txBox="1">
              <a:spLocks noGrp="1" noRot="1" noMove="1" noResize="1" noEditPoints="1" noAdjustHandles="1" noChangeArrowheads="1" noChangeShapeType="1"/>
            </p:cNvSpPr>
            <p:nvPr/>
          </p:nvSpPr>
          <p:spPr>
            <a:xfrm>
              <a:off x="6804025" y="1056017"/>
              <a:ext cx="2632455"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SDG Beitrag</a:t>
              </a:r>
            </a:p>
          </p:txBody>
        </p:sp>
        <p:sp>
          <p:nvSpPr>
            <p:cNvPr id="5" name="Überschrift 1">
              <a:extLst>
                <a:ext uri="{FF2B5EF4-FFF2-40B4-BE49-F238E27FC236}">
                  <a16:creationId xmlns:a16="http://schemas.microsoft.com/office/drawing/2014/main" id="{1906997B-BFF2-1F54-4F08-362C7A419C60}"/>
                </a:ext>
              </a:extLst>
            </p:cNvPr>
            <p:cNvSpPr txBox="1">
              <a:spLocks noGrp="1" noRot="1" noMove="1" noResize="1" noEditPoints="1" noAdjustHandles="1" noChangeArrowheads="1" noChangeShapeType="1"/>
            </p:cNvSpPr>
            <p:nvPr/>
          </p:nvSpPr>
          <p:spPr>
            <a:xfrm>
              <a:off x="2671700" y="1056017"/>
              <a:ext cx="2632455"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chemeClr val="bg1"/>
                  </a:solidFill>
                </a:rPr>
                <a:t>ESG Rating</a:t>
              </a:r>
            </a:p>
          </p:txBody>
        </p:sp>
        <p:sp>
          <p:nvSpPr>
            <p:cNvPr id="7" name="Unternehmen">
              <a:extLst>
                <a:ext uri="{FF2B5EF4-FFF2-40B4-BE49-F238E27FC236}">
                  <a16:creationId xmlns:a16="http://schemas.microsoft.com/office/drawing/2014/main" id="{0D9AC59F-07BC-86B5-1150-2737735099AD}"/>
                </a:ext>
              </a:extLst>
            </p:cNvPr>
            <p:cNvSpPr txBox="1">
              <a:spLocks noGrp="1" noRot="1" noMove="1" noResize="1" noEditPoints="1" noAdjustHandles="1" noChangeArrowheads="1" noChangeShapeType="1"/>
            </p:cNvSpPr>
            <p:nvPr/>
          </p:nvSpPr>
          <p:spPr>
            <a:xfrm>
              <a:off x="4714723" y="2785228"/>
              <a:ext cx="1090621"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Unternehmen</a:t>
              </a:r>
            </a:p>
          </p:txBody>
        </p:sp>
        <p:sp>
          <p:nvSpPr>
            <p:cNvPr id="8" name="Klima">
              <a:extLst>
                <a:ext uri="{FF2B5EF4-FFF2-40B4-BE49-F238E27FC236}">
                  <a16:creationId xmlns:a16="http://schemas.microsoft.com/office/drawing/2014/main" id="{715EA875-3C9C-347C-25E8-CA043C34E17A}"/>
                </a:ext>
              </a:extLst>
            </p:cNvPr>
            <p:cNvSpPr txBox="1">
              <a:spLocks noGrp="1" noRot="1" noMove="1" noResize="1" noEditPoints="1" noAdjustHandles="1" noChangeArrowheads="1" noChangeShapeType="1"/>
            </p:cNvSpPr>
            <p:nvPr/>
          </p:nvSpPr>
          <p:spPr>
            <a:xfrm>
              <a:off x="2318851" y="2785228"/>
              <a:ext cx="667228"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Klima</a:t>
              </a:r>
            </a:p>
          </p:txBody>
        </p:sp>
        <p:sp>
          <p:nvSpPr>
            <p:cNvPr id="9" name="Unternehmen">
              <a:extLst>
                <a:ext uri="{FF2B5EF4-FFF2-40B4-BE49-F238E27FC236}">
                  <a16:creationId xmlns:a16="http://schemas.microsoft.com/office/drawing/2014/main" id="{4636296B-2A88-7EDE-CF5D-C2EC65D7754C}"/>
                </a:ext>
              </a:extLst>
            </p:cNvPr>
            <p:cNvSpPr txBox="1">
              <a:spLocks noGrp="1" noRot="1" noMove="1" noResize="1" noEditPoints="1" noAdjustHandles="1" noChangeArrowheads="1" noChangeShapeType="1"/>
            </p:cNvSpPr>
            <p:nvPr/>
          </p:nvSpPr>
          <p:spPr>
            <a:xfrm>
              <a:off x="6236830" y="2785228"/>
              <a:ext cx="1090621"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Unternehmen</a:t>
              </a:r>
            </a:p>
          </p:txBody>
        </p:sp>
        <p:sp>
          <p:nvSpPr>
            <p:cNvPr id="10" name="Klima">
              <a:extLst>
                <a:ext uri="{FF2B5EF4-FFF2-40B4-BE49-F238E27FC236}">
                  <a16:creationId xmlns:a16="http://schemas.microsoft.com/office/drawing/2014/main" id="{559B6355-9D33-0060-23EF-D8F8A3E6874A}"/>
                </a:ext>
              </a:extLst>
            </p:cNvPr>
            <p:cNvSpPr txBox="1">
              <a:spLocks noGrp="1" noRot="1" noMove="1" noResize="1" noEditPoints="1" noAdjustHandles="1" noChangeArrowheads="1" noChangeShapeType="1"/>
            </p:cNvSpPr>
            <p:nvPr/>
          </p:nvSpPr>
          <p:spPr>
            <a:xfrm>
              <a:off x="9071696" y="2785228"/>
              <a:ext cx="667228" cy="230832"/>
            </a:xfrm>
            <a:prstGeom prst="rect">
              <a:avLst/>
            </a:prstGeom>
            <a:noFill/>
          </p:spPr>
          <p:txBody>
            <a:bodyPr wrap="square">
              <a:spAutoFit/>
            </a:bodyPr>
            <a:lstStyle/>
            <a:p>
              <a:pPr algn="ctr">
                <a:defRPr sz="900" b="1" i="0" u="none" strike="noStrike" kern="1200" cap="all" baseline="0">
                  <a:solidFill>
                    <a:prstClr val="black">
                      <a:lumMod val="65000"/>
                      <a:lumOff val="35000"/>
                    </a:prstClr>
                  </a:solidFill>
                  <a:latin typeface="+mn-lt"/>
                  <a:ea typeface="+mn-ea"/>
                  <a:cs typeface="+mn-cs"/>
                </a:defRPr>
              </a:pPr>
              <a:r>
                <a:rPr lang="de-DE" sz="900" b="1" cap="all" baseline="0" dirty="0">
                  <a:solidFill>
                    <a:srgbClr val="1A314C"/>
                  </a:solidFill>
                </a:rPr>
                <a:t>Klima</a:t>
              </a:r>
            </a:p>
          </p:txBody>
        </p:sp>
        <p:sp>
          <p:nvSpPr>
            <p:cNvPr id="12" name="Text">
              <a:extLst>
                <a:ext uri="{FF2B5EF4-FFF2-40B4-BE49-F238E27FC236}">
                  <a16:creationId xmlns:a16="http://schemas.microsoft.com/office/drawing/2014/main" id="{540A60A5-8435-15E1-DA6C-933766E37D67}"/>
                </a:ext>
              </a:extLst>
            </p:cNvPr>
            <p:cNvSpPr txBox="1">
              <a:spLocks noGrp="1" noRot="1" noMove="1" noResize="1" noEditPoints="1" noAdjustHandles="1" noChangeArrowheads="1" noChangeShapeType="1"/>
            </p:cNvSpPr>
            <p:nvPr/>
          </p:nvSpPr>
          <p:spPr>
            <a:xfrm>
              <a:off x="3242381" y="2479128"/>
              <a:ext cx="1382171" cy="545277"/>
            </a:xfrm>
            <a:prstGeom prst="rect">
              <a:avLst/>
            </a:prstGeom>
            <a:noFill/>
          </p:spPr>
          <p:txBody>
            <a:bodyPr wrap="square">
              <a:spAutoFit/>
            </a:bodyPr>
            <a:lstStyle/>
            <a:p>
              <a:pPr algn="ctr" rtl="0">
                <a:lnSpc>
                  <a:spcPts val="1200"/>
                </a:lnSpc>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rgbClr val="1A314C"/>
                  </a:solidFill>
                  <a:effectLst/>
                </a:rPr>
                <a:t>Auswirkungen des Klimawandels auf das Unternehmen</a:t>
              </a:r>
              <a:endParaRPr lang="de-DE" sz="900" dirty="0">
                <a:solidFill>
                  <a:srgbClr val="1A314C"/>
                </a:solidFill>
              </a:endParaRPr>
            </a:p>
          </p:txBody>
        </p:sp>
        <p:sp>
          <p:nvSpPr>
            <p:cNvPr id="13" name="Text">
              <a:extLst>
                <a:ext uri="{FF2B5EF4-FFF2-40B4-BE49-F238E27FC236}">
                  <a16:creationId xmlns:a16="http://schemas.microsoft.com/office/drawing/2014/main" id="{E91CCFD0-D6ED-3978-3C0E-9913B9CD0052}"/>
                </a:ext>
              </a:extLst>
            </p:cNvPr>
            <p:cNvSpPr txBox="1">
              <a:spLocks noGrp="1" noRot="1" noMove="1" noResize="1" noEditPoints="1" noAdjustHandles="1" noChangeArrowheads="1" noChangeShapeType="1"/>
            </p:cNvSpPr>
            <p:nvPr/>
          </p:nvSpPr>
          <p:spPr>
            <a:xfrm>
              <a:off x="7362436" y="2479128"/>
              <a:ext cx="1382171" cy="545277"/>
            </a:xfrm>
            <a:prstGeom prst="rect">
              <a:avLst/>
            </a:prstGeom>
            <a:noFill/>
          </p:spPr>
          <p:txBody>
            <a:bodyPr wrap="square">
              <a:spAutoFit/>
            </a:bodyPr>
            <a:lstStyle/>
            <a:p>
              <a:pPr algn="ctr" rtl="0">
                <a:lnSpc>
                  <a:spcPts val="1200"/>
                </a:lnSpc>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rgbClr val="1A314C"/>
                  </a:solidFill>
                  <a:effectLst/>
                </a:rPr>
                <a:t>Auswirkungen des Unternehmens auf das Klima</a:t>
              </a:r>
              <a:endParaRPr lang="de-DE" sz="900" dirty="0">
                <a:solidFill>
                  <a:srgbClr val="1A314C"/>
                </a:solidFill>
              </a:endParaRPr>
            </a:p>
          </p:txBody>
        </p:sp>
        <p:sp>
          <p:nvSpPr>
            <p:cNvPr id="14" name="Text">
              <a:extLst>
                <a:ext uri="{FF2B5EF4-FFF2-40B4-BE49-F238E27FC236}">
                  <a16:creationId xmlns:a16="http://schemas.microsoft.com/office/drawing/2014/main" id="{68CA545B-C624-1D96-2D76-37F76EF63698}"/>
                </a:ext>
              </a:extLst>
            </p:cNvPr>
            <p:cNvSpPr txBox="1">
              <a:spLocks noGrp="1" noRot="1" noMove="1" noResize="1" noEditPoints="1" noAdjustHandles="1" noChangeArrowheads="1" noChangeShapeType="1"/>
            </p:cNvSpPr>
            <p:nvPr/>
          </p:nvSpPr>
          <p:spPr>
            <a:xfrm>
              <a:off x="1963538" y="1515713"/>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chemeClr val="accent1"/>
                  </a:solidFill>
                  <a:effectLst/>
                </a:rPr>
                <a:t>Wie </a:t>
              </a:r>
              <a:r>
                <a:rPr lang="de-DE" sz="900" dirty="0">
                  <a:solidFill>
                    <a:schemeClr val="accent1"/>
                  </a:solidFill>
                </a:rPr>
                <a:t>verhält sich das Unternehmen?</a:t>
              </a:r>
            </a:p>
          </p:txBody>
        </p:sp>
        <p:sp>
          <p:nvSpPr>
            <p:cNvPr id="15" name="Text">
              <a:extLst>
                <a:ext uri="{FF2B5EF4-FFF2-40B4-BE49-F238E27FC236}">
                  <a16:creationId xmlns:a16="http://schemas.microsoft.com/office/drawing/2014/main" id="{5EEC63F6-A2A0-4F2A-BA8A-57CEC35491E7}"/>
                </a:ext>
              </a:extLst>
            </p:cNvPr>
            <p:cNvSpPr txBox="1">
              <a:spLocks noGrp="1" noRot="1" noMove="1" noResize="1" noEditPoints="1" noAdjustHandles="1" noChangeArrowheads="1" noChangeShapeType="1"/>
            </p:cNvSpPr>
            <p:nvPr/>
          </p:nvSpPr>
          <p:spPr>
            <a:xfrm>
              <a:off x="6087202" y="1516960"/>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i="0" u="none" strike="noStrike" baseline="0" dirty="0">
                  <a:solidFill>
                    <a:schemeClr val="accent1"/>
                  </a:solidFill>
                  <a:effectLst/>
                </a:rPr>
                <a:t>Was </a:t>
              </a:r>
              <a:r>
                <a:rPr lang="de-DE" sz="900" dirty="0">
                  <a:solidFill>
                    <a:schemeClr val="accent1"/>
                  </a:solidFill>
                </a:rPr>
                <a:t>macht das Unternehmen?</a:t>
              </a:r>
            </a:p>
          </p:txBody>
        </p:sp>
        <p:sp>
          <p:nvSpPr>
            <p:cNvPr id="16" name="Text">
              <a:extLst>
                <a:ext uri="{FF2B5EF4-FFF2-40B4-BE49-F238E27FC236}">
                  <a16:creationId xmlns:a16="http://schemas.microsoft.com/office/drawing/2014/main" id="{9FDAC5D4-655D-3E87-9288-27E765FB4A02}"/>
                </a:ext>
              </a:extLst>
            </p:cNvPr>
            <p:cNvSpPr txBox="1">
              <a:spLocks noGrp="1" noRot="1" noMove="1" noResize="1" noEditPoints="1" noAdjustHandles="1" noChangeArrowheads="1" noChangeShapeType="1"/>
            </p:cNvSpPr>
            <p:nvPr/>
          </p:nvSpPr>
          <p:spPr>
            <a:xfrm>
              <a:off x="1963538" y="3216022"/>
              <a:ext cx="4123664" cy="413896"/>
            </a:xfrm>
            <a:prstGeom prst="rect">
              <a:avLst/>
            </a:prstGeom>
            <a:noFill/>
          </p:spPr>
          <p:txBody>
            <a:bodyPr wrap="square">
              <a:spAutoFit/>
            </a:bodyPr>
            <a:lstStyle/>
            <a:p>
              <a:pPr algn="l" rtl="0">
                <a:lnSpc>
                  <a:spcPts val="1300"/>
                </a:lnSpc>
                <a:defRPr sz="900" b="0" i="0" u="none" strike="noStrike" kern="1200" baseline="0">
                  <a:solidFill>
                    <a:prstClr val="black">
                      <a:lumMod val="75000"/>
                      <a:lumOff val="25000"/>
                    </a:prstClr>
                  </a:solidFill>
                  <a:latin typeface="+mn-lt"/>
                  <a:ea typeface="+mn-ea"/>
                  <a:cs typeface="+mn-cs"/>
                </a:defRPr>
              </a:pPr>
              <a:r>
                <a:rPr lang="de-DE" sz="900" dirty="0">
                  <a:solidFill>
                    <a:schemeClr val="accent1"/>
                  </a:solidFill>
                </a:rPr>
                <a:t>Misst welche Chancen und Risiken sich aus dem Umgang mit den Nach-</a:t>
              </a:r>
              <a:br>
                <a:rPr lang="de-DE" sz="900" dirty="0">
                  <a:solidFill>
                    <a:schemeClr val="accent1"/>
                  </a:solidFill>
                </a:rPr>
              </a:br>
              <a:r>
                <a:rPr lang="de-DE" sz="900" dirty="0">
                  <a:solidFill>
                    <a:schemeClr val="accent1"/>
                  </a:solidFill>
                </a:rPr>
                <a:t>haltigkeitsaspekten für das Unternehmen ergeben.</a:t>
              </a:r>
            </a:p>
          </p:txBody>
        </p:sp>
        <p:sp>
          <p:nvSpPr>
            <p:cNvPr id="21" name="Text">
              <a:extLst>
                <a:ext uri="{FF2B5EF4-FFF2-40B4-BE49-F238E27FC236}">
                  <a16:creationId xmlns:a16="http://schemas.microsoft.com/office/drawing/2014/main" id="{305997E2-5BA9-69D0-A798-75CC166C33CA}"/>
                </a:ext>
              </a:extLst>
            </p:cNvPr>
            <p:cNvSpPr txBox="1">
              <a:spLocks noGrp="1" noRot="1" noMove="1" noResize="1" noEditPoints="1" noAdjustHandles="1" noChangeArrowheads="1" noChangeShapeType="1"/>
            </p:cNvSpPr>
            <p:nvPr/>
          </p:nvSpPr>
          <p:spPr>
            <a:xfrm>
              <a:off x="6091156" y="3216022"/>
              <a:ext cx="4123664" cy="580608"/>
            </a:xfrm>
            <a:prstGeom prst="rect">
              <a:avLst/>
            </a:prstGeom>
            <a:noFill/>
          </p:spPr>
          <p:txBody>
            <a:bodyPr wrap="square">
              <a:spAutoFit/>
            </a:bodyPr>
            <a:lstStyle/>
            <a:p>
              <a:pPr algn="l" rtl="0">
                <a:lnSpc>
                  <a:spcPts val="1300"/>
                </a:lnSpc>
                <a:defRPr sz="900" b="0" i="0" u="none" strike="noStrike" kern="1200" baseline="0">
                  <a:solidFill>
                    <a:prstClr val="black">
                      <a:lumMod val="75000"/>
                      <a:lumOff val="25000"/>
                    </a:prstClr>
                  </a:solidFill>
                  <a:latin typeface="+mn-lt"/>
                  <a:ea typeface="+mn-ea"/>
                  <a:cs typeface="+mn-cs"/>
                </a:defRPr>
              </a:pPr>
              <a:r>
                <a:rPr lang="de-DE" sz="900" dirty="0">
                  <a:solidFill>
                    <a:schemeClr val="accent1"/>
                  </a:solidFill>
                </a:rPr>
                <a:t>Misst inwieweit die unternehmerische Tätigkeit einen positiven oder negativen Beitrag zu den UN-Zielen für nachhaltige Entwicklung (SDGs) liefert.</a:t>
              </a:r>
            </a:p>
          </p:txBody>
        </p:sp>
        <p:sp>
          <p:nvSpPr>
            <p:cNvPr id="22" name="Text">
              <a:extLst>
                <a:ext uri="{FF2B5EF4-FFF2-40B4-BE49-F238E27FC236}">
                  <a16:creationId xmlns:a16="http://schemas.microsoft.com/office/drawing/2014/main" id="{F5AC9477-F1A1-778E-9191-6D89424E2A29}"/>
                </a:ext>
              </a:extLst>
            </p:cNvPr>
            <p:cNvSpPr txBox="1">
              <a:spLocks noGrp="1" noRot="1" noMove="1" noResize="1" noEditPoints="1" noAdjustHandles="1" noChangeArrowheads="1" noChangeShapeType="1"/>
            </p:cNvSpPr>
            <p:nvPr/>
          </p:nvSpPr>
          <p:spPr>
            <a:xfrm>
              <a:off x="1963538" y="3961438"/>
              <a:ext cx="241200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accent1"/>
                  </a:solidFill>
                </a:rPr>
                <a:t>Ziel:</a:t>
              </a:r>
              <a:r>
                <a:rPr lang="de-DE" sz="900" b="1" i="0" u="none" strike="noStrike" baseline="0" dirty="0">
                  <a:solidFill>
                    <a:schemeClr val="accent1"/>
                  </a:solidFill>
                  <a:effectLst/>
                </a:rPr>
                <a:t> </a:t>
              </a:r>
              <a:r>
                <a:rPr lang="de-DE" sz="900" dirty="0">
                  <a:solidFill>
                    <a:schemeClr val="accent1"/>
                  </a:solidFill>
                </a:rPr>
                <a:t>ESG-Risiken minimieren &amp; steuern</a:t>
              </a:r>
            </a:p>
          </p:txBody>
        </p:sp>
        <p:sp>
          <p:nvSpPr>
            <p:cNvPr id="23" name="Text">
              <a:extLst>
                <a:ext uri="{FF2B5EF4-FFF2-40B4-BE49-F238E27FC236}">
                  <a16:creationId xmlns:a16="http://schemas.microsoft.com/office/drawing/2014/main" id="{1320501B-08AD-879B-2012-D1EBF84AB765}"/>
                </a:ext>
              </a:extLst>
            </p:cNvPr>
            <p:cNvSpPr txBox="1">
              <a:spLocks noGrp="1" noRot="1" noMove="1" noResize="1" noEditPoints="1" noAdjustHandles="1" noChangeArrowheads="1" noChangeShapeType="1"/>
            </p:cNvSpPr>
            <p:nvPr/>
          </p:nvSpPr>
          <p:spPr>
            <a:xfrm>
              <a:off x="6091784" y="3961438"/>
              <a:ext cx="3344695" cy="369332"/>
            </a:xfrm>
            <a:prstGeom prst="rect">
              <a:avLst/>
            </a:prstGeom>
            <a:noFill/>
          </p:spPr>
          <p:txBody>
            <a:bodyPr wrap="square">
              <a:spAutoFit/>
            </a:bodyPr>
            <a:lstStyle/>
            <a:p>
              <a:pPr>
                <a:defRPr sz="900" b="0" i="0" u="none" strike="noStrike" kern="1200" baseline="0">
                  <a:solidFill>
                    <a:prstClr val="black">
                      <a:lumMod val="75000"/>
                      <a:lumOff val="25000"/>
                    </a:prstClr>
                  </a:solidFill>
                  <a:latin typeface="+mn-lt"/>
                  <a:ea typeface="+mn-ea"/>
                  <a:cs typeface="+mn-cs"/>
                </a:defRPr>
              </a:pPr>
              <a:r>
                <a:rPr lang="de-DE" sz="900" b="1" dirty="0">
                  <a:solidFill>
                    <a:schemeClr val="accent1"/>
                  </a:solidFill>
                </a:rPr>
                <a:t>Ziel:</a:t>
              </a:r>
              <a:r>
                <a:rPr lang="de-DE" sz="900" b="1" i="0" u="none" strike="noStrike" baseline="0" dirty="0">
                  <a:solidFill>
                    <a:schemeClr val="accent1"/>
                  </a:solidFill>
                  <a:effectLst/>
                </a:rPr>
                <a:t> </a:t>
              </a:r>
              <a:r>
                <a:rPr lang="de-DE" dirty="0">
                  <a:solidFill>
                    <a:schemeClr val="accent1"/>
                  </a:solidFill>
                  <a:effectLst/>
                </a:rPr>
                <a:t>Ermittlung positiver Nachhaltigkeitsauswirkung</a:t>
              </a:r>
            </a:p>
            <a:p>
              <a:pPr algn="l" rtl="0">
                <a:defRPr sz="900" b="0" i="0" u="none" strike="noStrike" kern="1200" baseline="0">
                  <a:solidFill>
                    <a:prstClr val="black">
                      <a:lumMod val="75000"/>
                      <a:lumOff val="25000"/>
                    </a:prstClr>
                  </a:solidFill>
                  <a:latin typeface="+mn-lt"/>
                  <a:ea typeface="+mn-ea"/>
                  <a:cs typeface="+mn-cs"/>
                </a:defRPr>
              </a:pPr>
              <a:endParaRPr lang="de-DE" sz="900" dirty="0">
                <a:solidFill>
                  <a:schemeClr val="accent1"/>
                </a:solidFill>
              </a:endParaRPr>
            </a:p>
          </p:txBody>
        </p:sp>
        <p:sp>
          <p:nvSpPr>
            <p:cNvPr id="24" name="Text">
              <a:extLst>
                <a:ext uri="{FF2B5EF4-FFF2-40B4-BE49-F238E27FC236}">
                  <a16:creationId xmlns:a16="http://schemas.microsoft.com/office/drawing/2014/main" id="{794EE5DC-B976-5278-0C41-28719EC9AAF1}"/>
                </a:ext>
              </a:extLst>
            </p:cNvPr>
            <p:cNvSpPr txBox="1">
              <a:spLocks noGrp="1" noRot="1" noMove="1" noResize="1" noEditPoints="1" noAdjustHandles="1" noChangeArrowheads="1" noChangeShapeType="1"/>
            </p:cNvSpPr>
            <p:nvPr/>
          </p:nvSpPr>
          <p:spPr>
            <a:xfrm>
              <a:off x="2568825" y="4385670"/>
              <a:ext cx="1267716"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bg1"/>
                  </a:solidFill>
                </a:rPr>
                <a:t>Outside-In-Prinzip</a:t>
              </a:r>
              <a:endParaRPr lang="de-DE" sz="900" dirty="0">
                <a:solidFill>
                  <a:schemeClr val="bg1"/>
                </a:solidFill>
              </a:endParaRPr>
            </a:p>
          </p:txBody>
        </p:sp>
        <p:sp>
          <p:nvSpPr>
            <p:cNvPr id="25" name="Text">
              <a:extLst>
                <a:ext uri="{FF2B5EF4-FFF2-40B4-BE49-F238E27FC236}">
                  <a16:creationId xmlns:a16="http://schemas.microsoft.com/office/drawing/2014/main" id="{AB639806-1A39-F27B-647B-A99330A92235}"/>
                </a:ext>
              </a:extLst>
            </p:cNvPr>
            <p:cNvSpPr txBox="1">
              <a:spLocks noGrp="1" noRot="1" noMove="1" noResize="1" noEditPoints="1" noAdjustHandles="1" noChangeArrowheads="1" noChangeShapeType="1"/>
            </p:cNvSpPr>
            <p:nvPr/>
          </p:nvSpPr>
          <p:spPr>
            <a:xfrm>
              <a:off x="5247509" y="4385670"/>
              <a:ext cx="170377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bg1"/>
                  </a:solidFill>
                </a:rPr>
                <a:t>Doppelte Wesentlichkeit</a:t>
              </a:r>
              <a:endParaRPr lang="de-DE" sz="900" dirty="0">
                <a:solidFill>
                  <a:schemeClr val="bg1"/>
                </a:solidFill>
              </a:endParaRPr>
            </a:p>
          </p:txBody>
        </p:sp>
        <p:sp>
          <p:nvSpPr>
            <p:cNvPr id="26" name="Text">
              <a:extLst>
                <a:ext uri="{FF2B5EF4-FFF2-40B4-BE49-F238E27FC236}">
                  <a16:creationId xmlns:a16="http://schemas.microsoft.com/office/drawing/2014/main" id="{B3F0EAB7-6B47-27E6-96DC-52C68F6BE4E8}"/>
                </a:ext>
              </a:extLst>
            </p:cNvPr>
            <p:cNvSpPr txBox="1">
              <a:spLocks noGrp="1" noRot="1" noMove="1" noResize="1" noEditPoints="1" noAdjustHandles="1" noChangeArrowheads="1" noChangeShapeType="1"/>
            </p:cNvSpPr>
            <p:nvPr/>
          </p:nvSpPr>
          <p:spPr>
            <a:xfrm>
              <a:off x="8219811" y="4385670"/>
              <a:ext cx="1703770" cy="230832"/>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900" b="1" dirty="0">
                  <a:solidFill>
                    <a:schemeClr val="bg1"/>
                  </a:solidFill>
                </a:rPr>
                <a:t>Inside-Out-Prinzip</a:t>
              </a:r>
              <a:endParaRPr lang="de-DE" sz="900" dirty="0">
                <a:solidFill>
                  <a:schemeClr val="bg1"/>
                </a:solidFill>
              </a:endParaRPr>
            </a:p>
          </p:txBody>
        </p:sp>
        <p:sp>
          <p:nvSpPr>
            <p:cNvPr id="27" name="Text">
              <a:extLst>
                <a:ext uri="{FF2B5EF4-FFF2-40B4-BE49-F238E27FC236}">
                  <a16:creationId xmlns:a16="http://schemas.microsoft.com/office/drawing/2014/main" id="{0FC4B48A-4C24-7B17-73DF-D95D1A2394CF}"/>
                </a:ext>
              </a:extLst>
            </p:cNvPr>
            <p:cNvSpPr txBox="1">
              <a:spLocks noGrp="1" noRot="1" noMove="1" noResize="1" noEditPoints="1" noAdjustHandles="1" noChangeArrowheads="1" noChangeShapeType="1"/>
            </p:cNvSpPr>
            <p:nvPr/>
          </p:nvSpPr>
          <p:spPr>
            <a:xfrm>
              <a:off x="2932541" y="4946538"/>
              <a:ext cx="6450517" cy="261610"/>
            </a:xfrm>
            <a:prstGeom prst="rect">
              <a:avLst/>
            </a:prstGeom>
            <a:noFill/>
          </p:spPr>
          <p:txBody>
            <a:bodyPr wrap="square">
              <a:spAutoFit/>
            </a:bodyPr>
            <a:lstStyle/>
            <a:p>
              <a:pPr algn="l" rtl="0">
                <a:defRPr sz="900" b="0" i="0" u="none" strike="noStrike" kern="1200" baseline="0">
                  <a:solidFill>
                    <a:prstClr val="black">
                      <a:lumMod val="75000"/>
                      <a:lumOff val="25000"/>
                    </a:prstClr>
                  </a:solidFill>
                  <a:latin typeface="+mn-lt"/>
                  <a:ea typeface="+mn-ea"/>
                  <a:cs typeface="+mn-cs"/>
                </a:defRPr>
              </a:pPr>
              <a:r>
                <a:rPr lang="de-DE" sz="1100" b="1" dirty="0">
                  <a:solidFill>
                    <a:srgbClr val="1A314C"/>
                  </a:solidFill>
                </a:rPr>
                <a:t>ESG Strategie mit Anteil an auswirkungsbezogenen Investments iSd der SFDR Art. 2(17)</a:t>
              </a:r>
            </a:p>
          </p:txBody>
        </p:sp>
      </p:grpSp>
      <p:sp>
        <p:nvSpPr>
          <p:cNvPr id="28" name="Quelle">
            <a:extLst>
              <a:ext uri="{FF2B5EF4-FFF2-40B4-BE49-F238E27FC236}">
                <a16:creationId xmlns:a16="http://schemas.microsoft.com/office/drawing/2014/main" id="{E0849F0D-FE42-A05D-E520-B872AC885E99}"/>
              </a:ext>
            </a:extLst>
          </p:cNvPr>
          <p:cNvSpPr txBox="1"/>
          <p:nvPr/>
        </p:nvSpPr>
        <p:spPr>
          <a:xfrm>
            <a:off x="1208056" y="5439448"/>
            <a:ext cx="7465665" cy="128235"/>
          </a:xfrm>
          <a:prstGeom prst="rect">
            <a:avLst/>
          </a:prstGeom>
          <a:noFill/>
        </p:spPr>
        <p:txBody>
          <a:bodyPr wrap="square" lIns="36000" tIns="0" rIns="36000" bIns="0" rtlCol="0">
            <a:noAutofit/>
          </a:bodyPr>
          <a:lstStyle/>
          <a:p>
            <a:r>
              <a:rPr lang="de-DE" sz="700" dirty="0">
                <a:solidFill>
                  <a:schemeClr val="bg2"/>
                </a:solidFill>
              </a:rPr>
              <a:t>* Bildquelle: Mitteilung der Kommission — Leitlinien für die Berichterstattung über nichtfinanzielle Informationen: Nachtrag zur klimabezogenen Berichterstattung (europa.eu)</a:t>
            </a:r>
          </a:p>
        </p:txBody>
      </p:sp>
      <p:sp>
        <p:nvSpPr>
          <p:cNvPr id="29" name="Titel 2">
            <a:extLst>
              <a:ext uri="{FF2B5EF4-FFF2-40B4-BE49-F238E27FC236}">
                <a16:creationId xmlns:a16="http://schemas.microsoft.com/office/drawing/2014/main" id="{0D9B8879-E63F-9943-A464-90B6EAE5CB70}"/>
              </a:ext>
            </a:extLst>
          </p:cNvPr>
          <p:cNvSpPr txBox="1">
            <a:spLocks/>
          </p:cNvSpPr>
          <p:nvPr/>
        </p:nvSpPr>
        <p:spPr>
          <a:xfrm>
            <a:off x="275650" y="322579"/>
            <a:ext cx="9756774" cy="654165"/>
          </a:xfrm>
          <a:prstGeom prst="rect">
            <a:avLst/>
          </a:prstGeom>
        </p:spPr>
        <p:txBody>
          <a:bodyPr/>
          <a:lstStyle>
            <a:lvl1pPr algn="l" defTabSz="783001" rtl="0" eaLnBrk="1" latinLnBrk="0" hangingPunct="1">
              <a:lnSpc>
                <a:spcPts val="2200"/>
              </a:lnSpc>
              <a:spcBef>
                <a:spcPct val="0"/>
              </a:spcBef>
              <a:buNone/>
              <a:defRPr sz="1700" b="1" kern="1200">
                <a:solidFill>
                  <a:schemeClr val="accent1"/>
                </a:solidFill>
                <a:latin typeface="+mj-lt"/>
                <a:ea typeface="+mj-ea"/>
                <a:cs typeface="+mj-cs"/>
              </a:defRPr>
            </a:lvl1pPr>
          </a:lstStyle>
          <a:p>
            <a:r>
              <a:rPr lang="de-DE" dirty="0"/>
              <a:t>Investmentprozess und Risiken</a:t>
            </a:r>
            <a:br>
              <a:rPr lang="de-DE" dirty="0"/>
            </a:br>
            <a:r>
              <a:rPr lang="de-DE" sz="1200" b="0" dirty="0">
                <a:solidFill>
                  <a:schemeClr val="accent3"/>
                </a:solidFill>
              </a:rPr>
              <a:t>Nachhaltigkeits- und Investmentkonzept – ESG Rating und SDG-Beitrag</a:t>
            </a:r>
            <a:endParaRPr lang="de-DE" dirty="0"/>
          </a:p>
        </p:txBody>
      </p:sp>
    </p:spTree>
    <p:extLst>
      <p:ext uri="{BB962C8B-B14F-4D97-AF65-F5344CB8AC3E}">
        <p14:creationId xmlns:p14="http://schemas.microsoft.com/office/powerpoint/2010/main" val="4124191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EDFB99CB-A3A5-F483-7E35-AF26AD5619BA}"/>
              </a:ext>
            </a:extLst>
          </p:cNvPr>
          <p:cNvPicPr>
            <a:picLocks noChangeAspect="1"/>
          </p:cNvPicPr>
          <p:nvPr/>
        </p:nvPicPr>
        <p:blipFill rotWithShape="1">
          <a:blip r:embed="rId2"/>
          <a:srcRect l="15001" t="6061"/>
          <a:stretch/>
        </p:blipFill>
        <p:spPr>
          <a:xfrm>
            <a:off x="8154972" y="3743324"/>
            <a:ext cx="2284428" cy="2743171"/>
          </a:xfrm>
          <a:prstGeom prst="rect">
            <a:avLst/>
          </a:prstGeom>
        </p:spPr>
      </p:pic>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13</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327651" y="1041399"/>
            <a:ext cx="3960812" cy="4709852"/>
          </a:xfrm>
        </p:spPr>
        <p:txBody>
          <a:bodyPr/>
          <a:lstStyle/>
          <a:p>
            <a:r>
              <a:rPr lang="de-DE" sz="1400" dirty="0"/>
              <a:t>Umwelt</a:t>
            </a:r>
          </a:p>
          <a:p>
            <a:pPr>
              <a:lnSpc>
                <a:spcPct val="100000"/>
              </a:lnSpc>
              <a:spcBef>
                <a:spcPts val="400"/>
              </a:spcBef>
              <a:spcAft>
                <a:spcPts val="400"/>
              </a:spcAft>
            </a:pPr>
            <a:r>
              <a:rPr lang="de-DE" b="0" dirty="0">
                <a:solidFill>
                  <a:schemeClr val="bg1">
                    <a:lumMod val="50000"/>
                  </a:schemeClr>
                </a:solidFill>
              </a:rPr>
              <a:t>07</a:t>
            </a:r>
            <a:r>
              <a:rPr lang="de-DE" b="0" dirty="0"/>
              <a:t> Unternehmen sollen im Umgang mit Umweltproblemen dem Vorsorgeprinzip folgen.</a:t>
            </a:r>
          </a:p>
          <a:p>
            <a:pPr>
              <a:lnSpc>
                <a:spcPct val="100000"/>
              </a:lnSpc>
              <a:spcBef>
                <a:spcPts val="400"/>
              </a:spcBef>
              <a:spcAft>
                <a:spcPts val="400"/>
              </a:spcAft>
            </a:pPr>
            <a:r>
              <a:rPr lang="de-DE" b="0" dirty="0">
                <a:solidFill>
                  <a:schemeClr val="bg1">
                    <a:lumMod val="50000"/>
                  </a:schemeClr>
                </a:solidFill>
              </a:rPr>
              <a:t>08</a:t>
            </a:r>
            <a:r>
              <a:rPr lang="de-DE" b="0" dirty="0"/>
              <a:t> Unternehmen sollen Initiativen ergreifen, um größeres Umweltbewusstsein zu fördern.</a:t>
            </a:r>
          </a:p>
          <a:p>
            <a:pPr>
              <a:lnSpc>
                <a:spcPct val="100000"/>
              </a:lnSpc>
              <a:spcBef>
                <a:spcPts val="400"/>
              </a:spcBef>
              <a:spcAft>
                <a:spcPts val="400"/>
              </a:spcAft>
            </a:pPr>
            <a:r>
              <a:rPr lang="de-DE" b="0" dirty="0">
                <a:solidFill>
                  <a:schemeClr val="bg1">
                    <a:lumMod val="50000"/>
                  </a:schemeClr>
                </a:solidFill>
              </a:rPr>
              <a:t>09</a:t>
            </a:r>
            <a:r>
              <a:rPr lang="de-DE" b="0" dirty="0"/>
              <a:t> Unternehmen sollen die Entwicklung und Verbreitung umweltfreundlicher Technologien beschleunigen. </a:t>
            </a:r>
          </a:p>
          <a:p>
            <a:r>
              <a:rPr lang="de-DE" sz="1400" dirty="0"/>
              <a:t>Korruptionsprävention</a:t>
            </a:r>
          </a:p>
          <a:p>
            <a:pPr>
              <a:spcBef>
                <a:spcPts val="400"/>
              </a:spcBef>
              <a:spcAft>
                <a:spcPts val="0"/>
              </a:spcAft>
            </a:pPr>
            <a:r>
              <a:rPr lang="de-DE" b="0" dirty="0">
                <a:solidFill>
                  <a:schemeClr val="bg1">
                    <a:lumMod val="50000"/>
                  </a:schemeClr>
                </a:solidFill>
              </a:rPr>
              <a:t>10</a:t>
            </a:r>
            <a:r>
              <a:rPr lang="de-DE" b="0" dirty="0"/>
              <a:t> Unternehmen sollen gegen aller Art der Korruption </a:t>
            </a:r>
          </a:p>
          <a:p>
            <a:pPr>
              <a:spcBef>
                <a:spcPts val="0"/>
              </a:spcBef>
              <a:spcAft>
                <a:spcPts val="0"/>
              </a:spcAft>
            </a:pPr>
            <a:r>
              <a:rPr lang="de-DE" b="0" dirty="0"/>
              <a:t>eintreten, einschließlich Erpressung und Bestechung.</a:t>
            </a:r>
            <a:endParaRPr lang="de-DE" sz="500" b="0" dirty="0"/>
          </a:p>
        </p:txBody>
      </p:sp>
      <p:sp>
        <p:nvSpPr>
          <p:cNvPr id="5" name="Inhaltsplatzhalter 4">
            <a:extLst>
              <a:ext uri="{FF2B5EF4-FFF2-40B4-BE49-F238E27FC236}">
                <a16:creationId xmlns:a16="http://schemas.microsoft.com/office/drawing/2014/main" id="{A24F3140-E7DE-563B-E0DE-B188622D07CA}"/>
              </a:ext>
            </a:extLst>
          </p:cNvPr>
          <p:cNvSpPr>
            <a:spLocks noGrp="1"/>
          </p:cNvSpPr>
          <p:nvPr>
            <p:ph idx="1"/>
          </p:nvPr>
        </p:nvSpPr>
        <p:spPr>
          <a:xfrm>
            <a:off x="693753" y="1041399"/>
            <a:ext cx="3823927" cy="4709851"/>
          </a:xfrm>
        </p:spPr>
        <p:txBody>
          <a:bodyPr/>
          <a:lstStyle/>
          <a:p>
            <a:r>
              <a:rPr lang="de-DE" sz="1400" dirty="0"/>
              <a:t>Menschenrechte</a:t>
            </a:r>
          </a:p>
          <a:p>
            <a:pPr>
              <a:lnSpc>
                <a:spcPct val="100000"/>
              </a:lnSpc>
              <a:spcBef>
                <a:spcPts val="400"/>
              </a:spcBef>
              <a:spcAft>
                <a:spcPts val="400"/>
              </a:spcAft>
            </a:pPr>
            <a:r>
              <a:rPr lang="de-DE" b="0" dirty="0">
                <a:solidFill>
                  <a:schemeClr val="bg1">
                    <a:lumMod val="50000"/>
                  </a:schemeClr>
                </a:solidFill>
              </a:rPr>
              <a:t>01</a:t>
            </a:r>
            <a:r>
              <a:rPr lang="de-DE" b="0" dirty="0"/>
              <a:t> Unternehmen sollen den Schutz der internationalen Menschenrechte unterstützen und achten.</a:t>
            </a:r>
          </a:p>
          <a:p>
            <a:pPr>
              <a:spcBef>
                <a:spcPts val="400"/>
              </a:spcBef>
              <a:spcAft>
                <a:spcPts val="400"/>
              </a:spcAft>
            </a:pPr>
            <a:r>
              <a:rPr lang="de-DE" b="0" dirty="0">
                <a:solidFill>
                  <a:schemeClr val="bg1">
                    <a:lumMod val="50000"/>
                  </a:schemeClr>
                </a:solidFill>
              </a:rPr>
              <a:t>02</a:t>
            </a:r>
            <a:r>
              <a:rPr lang="de-DE" b="0" dirty="0"/>
              <a:t> Unternehmen sollen sicherstellen, dass sie sich nicht an Menschenrechtsverletzungen mitschuldig machen.</a:t>
            </a:r>
          </a:p>
          <a:p>
            <a:r>
              <a:rPr lang="de-DE" sz="1400" dirty="0"/>
              <a:t>Arbeitsnormen</a:t>
            </a:r>
          </a:p>
          <a:p>
            <a:pPr>
              <a:lnSpc>
                <a:spcPct val="100000"/>
              </a:lnSpc>
              <a:spcBef>
                <a:spcPts val="400"/>
              </a:spcBef>
              <a:spcAft>
                <a:spcPts val="400"/>
              </a:spcAft>
            </a:pPr>
            <a:r>
              <a:rPr lang="de-DE" b="0" dirty="0">
                <a:solidFill>
                  <a:schemeClr val="bg1">
                    <a:lumMod val="50000"/>
                  </a:schemeClr>
                </a:solidFill>
              </a:rPr>
              <a:t>03</a:t>
            </a:r>
            <a:r>
              <a:rPr lang="de-DE" b="0" dirty="0"/>
              <a:t> Unternehmen sollen die Vereinigungsfreiheit </a:t>
            </a:r>
            <a:br>
              <a:rPr lang="de-DE" b="0" dirty="0"/>
            </a:br>
            <a:r>
              <a:rPr lang="de-DE" b="0" dirty="0"/>
              <a:t>und die wirksame Anerkennung des Rechts auf Kollektivverhandlungen wahren. </a:t>
            </a:r>
          </a:p>
          <a:p>
            <a:pPr>
              <a:lnSpc>
                <a:spcPct val="100000"/>
              </a:lnSpc>
              <a:spcBef>
                <a:spcPts val="400"/>
              </a:spcBef>
              <a:spcAft>
                <a:spcPts val="400"/>
              </a:spcAft>
            </a:pPr>
            <a:r>
              <a:rPr lang="de-DE" b="0" dirty="0">
                <a:solidFill>
                  <a:schemeClr val="bg1">
                    <a:lumMod val="50000"/>
                  </a:schemeClr>
                </a:solidFill>
              </a:rPr>
              <a:t>04</a:t>
            </a:r>
            <a:r>
              <a:rPr lang="de-DE" b="0" dirty="0"/>
              <a:t> Unternehmen sollen für die Beseitigung aller Formen von Zwangsarbeit eintreten.</a:t>
            </a:r>
          </a:p>
          <a:p>
            <a:pPr>
              <a:lnSpc>
                <a:spcPct val="100000"/>
              </a:lnSpc>
              <a:spcBef>
                <a:spcPts val="400"/>
              </a:spcBef>
              <a:spcAft>
                <a:spcPts val="400"/>
              </a:spcAft>
            </a:pPr>
            <a:r>
              <a:rPr lang="de-DE" b="0" dirty="0">
                <a:solidFill>
                  <a:schemeClr val="bg1">
                    <a:lumMod val="50000"/>
                  </a:schemeClr>
                </a:solidFill>
              </a:rPr>
              <a:t>05</a:t>
            </a:r>
            <a:r>
              <a:rPr lang="de-DE" b="0" dirty="0"/>
              <a:t> Unternehmen sollen für die Abschaffung von Kinderarbeit eintreten.</a:t>
            </a:r>
          </a:p>
          <a:p>
            <a:pPr>
              <a:lnSpc>
                <a:spcPct val="100000"/>
              </a:lnSpc>
              <a:spcBef>
                <a:spcPts val="400"/>
              </a:spcBef>
              <a:spcAft>
                <a:spcPts val="400"/>
              </a:spcAft>
            </a:pPr>
            <a:r>
              <a:rPr lang="de-DE" b="0" dirty="0">
                <a:solidFill>
                  <a:schemeClr val="bg1">
                    <a:lumMod val="50000"/>
                  </a:schemeClr>
                </a:solidFill>
              </a:rPr>
              <a:t>06</a:t>
            </a:r>
            <a:r>
              <a:rPr lang="de-DE" b="0" dirty="0"/>
              <a:t> Unternehmen sollen für die Beseitigung von Diskriminierung bei Anstellung und Erwerbstätigkeit eintreten.</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Wir orientieren uns an den UN Global Compact Richtlinien </a:t>
            </a:r>
          </a:p>
        </p:txBody>
      </p:sp>
      <p:sp>
        <p:nvSpPr>
          <p:cNvPr id="8" name="Textfeld 7">
            <a:extLst>
              <a:ext uri="{FF2B5EF4-FFF2-40B4-BE49-F238E27FC236}">
                <a16:creationId xmlns:a16="http://schemas.microsoft.com/office/drawing/2014/main" id="{272A27AD-4C7A-1C14-5E0D-643DBD18BD6B}"/>
              </a:ext>
            </a:extLst>
          </p:cNvPr>
          <p:cNvSpPr txBox="1"/>
          <p:nvPr/>
        </p:nvSpPr>
        <p:spPr>
          <a:xfrm>
            <a:off x="3911097" y="6136928"/>
            <a:ext cx="7097917" cy="200055"/>
          </a:xfrm>
          <a:prstGeom prst="rect">
            <a:avLst/>
          </a:prstGeom>
          <a:noFill/>
        </p:spPr>
        <p:txBody>
          <a:bodyPr wrap="square" rtlCol="0">
            <a:spAutoFit/>
          </a:bodyPr>
          <a:lstStyle/>
          <a:p>
            <a:r>
              <a:rPr lang="de-DE" sz="700" dirty="0">
                <a:solidFill>
                  <a:schemeClr val="bg1">
                    <a:lumMod val="50000"/>
                  </a:schemeClr>
                </a:solidFill>
              </a:rPr>
              <a:t>Quelle: www.golbalcompact.de/de/ueber-uns/dgnc-ungc.php?navid=539859539859#anchor_a9245988_Accordion-4-Korruptionspraevention</a:t>
            </a:r>
          </a:p>
        </p:txBody>
      </p:sp>
    </p:spTree>
    <p:extLst>
      <p:ext uri="{BB962C8B-B14F-4D97-AF65-F5344CB8AC3E}">
        <p14:creationId xmlns:p14="http://schemas.microsoft.com/office/powerpoint/2010/main" val="2278228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636F020-41AD-8F42-B495-4235C6F976AC}"/>
              </a:ext>
            </a:extLst>
          </p:cNvPr>
          <p:cNvSpPr>
            <a:spLocks noGrp="1"/>
          </p:cNvSpPr>
          <p:nvPr>
            <p:ph type="sldNum" sz="quarter" idx="12"/>
          </p:nvPr>
        </p:nvSpPr>
        <p:spPr/>
        <p:txBody>
          <a:bodyPr/>
          <a:lstStyle/>
          <a:p>
            <a:fld id="{3AE71D6B-ACB6-4F4C-A895-DCAEF1760EAA}" type="slidenum">
              <a:rPr lang="de-DE" smtClean="0"/>
              <a:t>14</a:t>
            </a:fld>
            <a:endParaRPr lang="de-DE"/>
          </a:p>
        </p:txBody>
      </p:sp>
      <p:sp>
        <p:nvSpPr>
          <p:cNvPr id="3" name="Titel 2">
            <a:extLst>
              <a:ext uri="{FF2B5EF4-FFF2-40B4-BE49-F238E27FC236}">
                <a16:creationId xmlns:a16="http://schemas.microsoft.com/office/drawing/2014/main" id="{76CBB900-501F-9C4B-9050-1E02E638F96B}"/>
              </a:ext>
            </a:extLst>
          </p:cNvPr>
          <p:cNvSpPr>
            <a:spLocks noGrp="1"/>
          </p:cNvSpPr>
          <p:nvPr>
            <p:ph type="title"/>
          </p:nvPr>
        </p:nvSpPr>
        <p:spPr/>
        <p:txBody>
          <a:bodyPr/>
          <a:lstStyle/>
          <a:p>
            <a:r>
              <a:rPr lang="de-DE" dirty="0"/>
              <a:t>Anlagerichtlinien</a:t>
            </a:r>
          </a:p>
        </p:txBody>
      </p:sp>
      <p:graphicFrame>
        <p:nvGraphicFramePr>
          <p:cNvPr id="4" name="Tabelle 3">
            <a:extLst>
              <a:ext uri="{FF2B5EF4-FFF2-40B4-BE49-F238E27FC236}">
                <a16:creationId xmlns:a16="http://schemas.microsoft.com/office/drawing/2014/main" id="{568CC164-9CC4-B043-B51C-D886D56EE140}"/>
              </a:ext>
            </a:extLst>
          </p:cNvPr>
          <p:cNvGraphicFramePr>
            <a:graphicFrameLocks noGrp="1"/>
          </p:cNvGraphicFramePr>
          <p:nvPr>
            <p:extLst>
              <p:ext uri="{D42A27DB-BD31-4B8C-83A1-F6EECF244321}">
                <p14:modId xmlns:p14="http://schemas.microsoft.com/office/powerpoint/2010/main" val="282634227"/>
              </p:ext>
            </p:extLst>
          </p:nvPr>
        </p:nvGraphicFramePr>
        <p:xfrm>
          <a:off x="2356050" y="1193556"/>
          <a:ext cx="5727299" cy="4272449"/>
        </p:xfrm>
        <a:graphic>
          <a:graphicData uri="http://schemas.openxmlformats.org/drawingml/2006/table">
            <a:tbl>
              <a:tblPr firstRow="1" bandRow="1"/>
              <a:tblGrid>
                <a:gridCol w="1643377">
                  <a:extLst>
                    <a:ext uri="{9D8B030D-6E8A-4147-A177-3AD203B41FA5}">
                      <a16:colId xmlns:a16="http://schemas.microsoft.com/office/drawing/2014/main" val="20000"/>
                    </a:ext>
                  </a:extLst>
                </a:gridCol>
                <a:gridCol w="2041961">
                  <a:extLst>
                    <a:ext uri="{9D8B030D-6E8A-4147-A177-3AD203B41FA5}">
                      <a16:colId xmlns:a16="http://schemas.microsoft.com/office/drawing/2014/main" val="2318029501"/>
                    </a:ext>
                  </a:extLst>
                </a:gridCol>
                <a:gridCol w="2041961">
                  <a:extLst>
                    <a:ext uri="{9D8B030D-6E8A-4147-A177-3AD203B41FA5}">
                      <a16:colId xmlns:a16="http://schemas.microsoft.com/office/drawing/2014/main" val="3185518545"/>
                    </a:ext>
                  </a:extLst>
                </a:gridCol>
              </a:tblGrid>
              <a:tr h="330200">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endParaRPr lang="de-DE" sz="1100" b="1" dirty="0">
                        <a:solidFill>
                          <a:srgbClr val="FFFFFF"/>
                        </a:solidFill>
                        <a:latin typeface="+mn-lt"/>
                        <a:cs typeface="Noto Sans"/>
                      </a:endParaRPr>
                    </a:p>
                  </a:txBody>
                  <a:tcPr marL="78296" marR="78296" marT="39148" marB="39148">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cs typeface="Noto Sans"/>
                        </a:rPr>
                        <a:t>ESG-ETF Ausgewogen</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cs typeface="Noto Sans"/>
                        </a:rPr>
                        <a:t>ESG-ETF Wachstum</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extLst>
                  <a:ext uri="{0D108BD9-81ED-4DB2-BD59-A6C34878D82A}">
                    <a16:rowId xmlns:a16="http://schemas.microsoft.com/office/drawing/2014/main" val="10000"/>
                  </a:ext>
                </a:extLst>
              </a:tr>
              <a:tr h="593077">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Anlageziele</a:t>
                      </a:r>
                    </a:p>
                  </a:txBody>
                  <a:tcPr marL="78296" marR="78296" marT="39148" marB="39148"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Ausgewogene Anlagestrategie</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Offensive </a:t>
                      </a:r>
                    </a:p>
                    <a:p>
                      <a:pPr algn="l"/>
                      <a:r>
                        <a:rPr lang="de-DE" sz="1100" b="0" kern="0" spc="20" dirty="0">
                          <a:solidFill>
                            <a:schemeClr val="accent1"/>
                          </a:solidFill>
                          <a:latin typeface="Noto Sans"/>
                          <a:ea typeface="+mn-ea"/>
                          <a:cs typeface="Noto Sans"/>
                        </a:rPr>
                        <a:t>Anlagestrategie</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77049">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r>
                        <a:rPr lang="de-DE" sz="1100" b="1" kern="0" spc="20" dirty="0">
                          <a:solidFill>
                            <a:schemeClr val="accent1"/>
                          </a:solidFill>
                          <a:latin typeface="Noto Sans"/>
                          <a:ea typeface="+mn-ea"/>
                          <a:cs typeface="Noto Sans"/>
                        </a:rPr>
                        <a:t>Verwaltungs-</a:t>
                      </a:r>
                    </a:p>
                    <a:p>
                      <a:pPr marL="180000" algn="l"/>
                      <a:r>
                        <a:rPr lang="de-DE" sz="1100" b="1" kern="0" spc="20" dirty="0" err="1">
                          <a:solidFill>
                            <a:schemeClr val="accent1"/>
                          </a:solidFill>
                          <a:latin typeface="Noto Sans"/>
                          <a:ea typeface="+mn-ea"/>
                          <a:cs typeface="Noto Sans"/>
                        </a:rPr>
                        <a:t>grundsätze</a:t>
                      </a:r>
                      <a:endParaRPr lang="de-DE" sz="1100" b="1" kern="0" spc="20" dirty="0">
                        <a:solidFill>
                          <a:schemeClr val="accent1"/>
                        </a:solidFill>
                        <a:latin typeface="Noto Sans"/>
                        <a:ea typeface="+mn-ea"/>
                        <a:cs typeface="Noto Sans"/>
                      </a:endParaRP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r>
                        <a:rPr lang="de-DE" sz="1100" b="0" kern="0" spc="20" dirty="0">
                          <a:solidFill>
                            <a:schemeClr val="accent1"/>
                          </a:solidFill>
                          <a:latin typeface="Noto Sans"/>
                          <a:ea typeface="+mn-ea"/>
                          <a:cs typeface="Noto Sans"/>
                        </a:rPr>
                        <a:t>Ausgewogenes Verhältnis zwischen Ertragschancen und Risiken.</a:t>
                      </a:r>
                    </a:p>
                    <a:p>
                      <a:r>
                        <a:rPr lang="de-DE" sz="1100" b="0" kern="0" spc="20" dirty="0">
                          <a:solidFill>
                            <a:schemeClr val="accent1"/>
                          </a:solidFill>
                          <a:latin typeface="Noto Sans"/>
                          <a:ea typeface="+mn-ea"/>
                          <a:cs typeface="Noto Sans"/>
                        </a:rPr>
                        <a:t>Langfristig bedeutender realer Vermögenszuwachs.</a:t>
                      </a:r>
                      <a:endParaRPr lang="de-DE" sz="1800" b="0" i="0" u="none" strike="noStrike" kern="1200" baseline="0" dirty="0">
                        <a:solidFill>
                          <a:schemeClr val="dk1"/>
                        </a:solidFill>
                        <a:latin typeface="Gill Alt One MT"/>
                        <a:ea typeface=""/>
                        <a:cs typeface=""/>
                      </a:endParaRP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algn="l" defTabSz="914400" rtl="0" eaLnBrk="1" latinLnBrk="0" hangingPunct="1"/>
                      <a:r>
                        <a:rPr lang="de-DE" sz="1100" b="0" kern="0" spc="20" dirty="0">
                          <a:solidFill>
                            <a:schemeClr val="accent1"/>
                          </a:solidFill>
                          <a:latin typeface="Noto Sans"/>
                          <a:ea typeface="+mn-ea"/>
                          <a:cs typeface="Noto Sans"/>
                        </a:rPr>
                        <a:t>Höhere Risiken spiegeln sich in höheren Ertragschancen wider.</a:t>
                      </a:r>
                    </a:p>
                    <a:p>
                      <a:pPr marL="0" algn="l" defTabSz="914400" rtl="0" eaLnBrk="1" latinLnBrk="0" hangingPunct="1"/>
                      <a:r>
                        <a:rPr lang="de-DE" sz="1100" b="0" kern="0" spc="20" dirty="0">
                          <a:solidFill>
                            <a:schemeClr val="accent1"/>
                          </a:solidFill>
                          <a:latin typeface="Noto Sans"/>
                          <a:ea typeface="+mn-ea"/>
                          <a:cs typeface="Noto Sans"/>
                        </a:rPr>
                        <a:t>Langfristig bedeutender realer Vermögenszuwachs.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0002"/>
                  </a:ext>
                </a:extLst>
              </a:tr>
              <a:tr h="571500">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Anlageregion</a:t>
                      </a:r>
                    </a:p>
                  </a:txBody>
                  <a:tcPr marL="78296" marR="78296" marT="39148" marB="39148"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Weltweit</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Weltweit</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85787">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Aktienanteil</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max. 40%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100" b="0" kern="0" spc="20" dirty="0">
                          <a:solidFill>
                            <a:schemeClr val="accent1"/>
                          </a:solidFill>
                          <a:latin typeface="Noto Sans"/>
                          <a:ea typeface="+mn-ea"/>
                          <a:cs typeface="Noto Sans"/>
                        </a:rPr>
                        <a:t>max. 100%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0004"/>
                  </a:ext>
                </a:extLst>
              </a:tr>
              <a:tr h="600075">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marR="0" lvl="0" indent="0" algn="l" defTabSz="914400" rtl="0" eaLnBrk="1" fontAlgn="auto" latinLnBrk="0" hangingPunct="1">
                        <a:lnSpc>
                          <a:spcPts val="1180"/>
                        </a:lnSpc>
                        <a:spcBef>
                          <a:spcPts val="0"/>
                        </a:spcBef>
                        <a:spcAft>
                          <a:spcPts val="0"/>
                        </a:spcAft>
                        <a:buClrTx/>
                        <a:buSzTx/>
                        <a:buFontTx/>
                        <a:buNone/>
                        <a:tabLst/>
                        <a:defRPr/>
                      </a:pPr>
                      <a:r>
                        <a:rPr lang="de-DE" sz="1100" b="1" kern="0" spc="20" dirty="0">
                          <a:solidFill>
                            <a:schemeClr val="accent1"/>
                          </a:solidFill>
                          <a:latin typeface="Noto Sans"/>
                          <a:ea typeface="+mn-ea"/>
                          <a:cs typeface="Noto Sans"/>
                        </a:rPr>
                        <a:t>Rentenanteil</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max. 100%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100" b="0" kern="0" spc="20" dirty="0">
                          <a:solidFill>
                            <a:schemeClr val="accent1"/>
                          </a:solidFill>
                          <a:latin typeface="Noto Sans"/>
                          <a:ea typeface="+mn-ea"/>
                          <a:cs typeface="Noto Sans"/>
                        </a:rPr>
                        <a:t>max. 100%</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90080137"/>
                  </a:ext>
                </a:extLst>
              </a:tr>
              <a:tr h="685826">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180000" algn="l">
                        <a:lnSpc>
                          <a:spcPts val="1180"/>
                        </a:lnSpc>
                      </a:pPr>
                      <a:r>
                        <a:rPr lang="de-DE" sz="1100" b="1" kern="0" spc="20" dirty="0">
                          <a:solidFill>
                            <a:schemeClr val="accent1"/>
                          </a:solidFill>
                          <a:latin typeface="Noto Sans"/>
                          <a:ea typeface="+mn-ea"/>
                          <a:cs typeface="Noto Sans"/>
                        </a:rPr>
                        <a:t>Fremdwährungen</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algn="l" defTabSz="914400" rtl="0" eaLnBrk="1" latinLnBrk="0" hangingPunct="1"/>
                      <a:r>
                        <a:rPr lang="de-DE" sz="1100" b="0" kern="0" spc="20" dirty="0">
                          <a:solidFill>
                            <a:schemeClr val="accent1"/>
                          </a:solidFill>
                          <a:latin typeface="Noto Sans"/>
                          <a:ea typeface="+mn-ea"/>
                          <a:cs typeface="Noto Sans"/>
                        </a:rPr>
                        <a:t>Keine Limitierung aufgrund des weltweiten Ansatzes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marL="0" algn="l" defTabSz="914400" rtl="0" eaLnBrk="1" latinLnBrk="0" hangingPunct="1"/>
                      <a:r>
                        <a:rPr lang="de-DE" sz="1100" b="0" kern="0" spc="20" dirty="0">
                          <a:solidFill>
                            <a:schemeClr val="accent1"/>
                          </a:solidFill>
                          <a:latin typeface="Noto Sans"/>
                          <a:ea typeface="+mn-ea"/>
                          <a:cs typeface="Noto Sans"/>
                        </a:rPr>
                        <a:t>Keine Limitierung aufgrund des weltweiten Ansatzes</a:t>
                      </a:r>
                    </a:p>
                  </a:txBody>
                  <a:tcPr marL="66982" marR="66982" marT="33892" marB="33892" anchor="ctr">
                    <a:lnL>
                      <a:noFill/>
                    </a:lnL>
                    <a:lnR>
                      <a:noFill/>
                    </a:lnR>
                    <a:lnT>
                      <a:noFill/>
                    </a:lnT>
                    <a:lnB>
                      <a:noFill/>
                    </a:lnB>
                    <a:lnTlToBr w="12700" cmpd="sng">
                      <a:noFill/>
                      <a:prstDash val="solid"/>
                    </a:lnTlToBr>
                    <a:lnBlToTr w="12700" cmpd="sng">
                      <a:noFill/>
                      <a:prstDash val="solid"/>
                    </a:lnBlToTr>
                    <a:solidFill>
                      <a:srgbClr val="F4F5F8"/>
                    </a:solidFill>
                  </a:tcPr>
                </a:tc>
                <a:extLst>
                  <a:ext uri="{0D108BD9-81ED-4DB2-BD59-A6C34878D82A}">
                    <a16:rowId xmlns:a16="http://schemas.microsoft.com/office/drawing/2014/main" val="1630979793"/>
                  </a:ext>
                </a:extLst>
              </a:tr>
            </a:tbl>
          </a:graphicData>
        </a:graphic>
      </p:graphicFrame>
    </p:spTree>
    <p:extLst>
      <p:ext uri="{BB962C8B-B14F-4D97-AF65-F5344CB8AC3E}">
        <p14:creationId xmlns:p14="http://schemas.microsoft.com/office/powerpoint/2010/main" val="1173218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69846093-B1E4-0C42-AFF5-B5A773A0CB2D}"/>
              </a:ext>
            </a:extLst>
          </p:cNvPr>
          <p:cNvSpPr>
            <a:spLocks noGrp="1"/>
          </p:cNvSpPr>
          <p:nvPr>
            <p:ph type="body" sz="quarter" idx="10"/>
          </p:nvPr>
        </p:nvSpPr>
        <p:spPr/>
        <p:txBody>
          <a:bodyPr/>
          <a:lstStyle/>
          <a:p>
            <a:r>
              <a:rPr lang="de-DE" dirty="0"/>
              <a:t>UNSERE ESG-ETF STRATEGIEN</a:t>
            </a:r>
          </a:p>
        </p:txBody>
      </p:sp>
      <p:sp>
        <p:nvSpPr>
          <p:cNvPr id="3" name="Textplatzhalter 2">
            <a:extLst>
              <a:ext uri="{FF2B5EF4-FFF2-40B4-BE49-F238E27FC236}">
                <a16:creationId xmlns:a16="http://schemas.microsoft.com/office/drawing/2014/main" id="{5E8ECE67-38D9-AC42-9928-1A195021ED88}"/>
              </a:ext>
            </a:extLst>
          </p:cNvPr>
          <p:cNvSpPr>
            <a:spLocks noGrp="1"/>
          </p:cNvSpPr>
          <p:nvPr>
            <p:ph type="body" sz="quarter" idx="11"/>
          </p:nvPr>
        </p:nvSpPr>
        <p:spPr>
          <a:xfrm>
            <a:off x="1021200" y="4074419"/>
            <a:ext cx="8446650" cy="1827500"/>
          </a:xfrm>
        </p:spPr>
        <p:txBody>
          <a:bodyPr/>
          <a:lstStyle/>
          <a:p>
            <a:r>
              <a:rPr lang="de-DE" dirty="0">
                <a:solidFill>
                  <a:schemeClr val="accent3"/>
                </a:solidFill>
              </a:rPr>
              <a:t>Ausgewogen – Wachstum</a:t>
            </a:r>
          </a:p>
          <a:p>
            <a:endParaRPr lang="de-DE" dirty="0"/>
          </a:p>
        </p:txBody>
      </p:sp>
    </p:spTree>
    <p:extLst>
      <p:ext uri="{BB962C8B-B14F-4D97-AF65-F5344CB8AC3E}">
        <p14:creationId xmlns:p14="http://schemas.microsoft.com/office/powerpoint/2010/main" val="3553452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16</a:t>
            </a:fld>
            <a:endParaRPr lang="de-DE"/>
          </a:p>
        </p:txBody>
      </p:sp>
      <p:graphicFrame>
        <p:nvGraphicFramePr>
          <p:cNvPr id="5" name="C_Kennzahlen">
            <a:extLst>
              <a:ext uri="{FF2B5EF4-FFF2-40B4-BE49-F238E27FC236}">
                <a16:creationId xmlns:a16="http://schemas.microsoft.com/office/drawing/2014/main" id="{00000000-0008-0000-0D00-000002000000}"/>
              </a:ext>
            </a:extLst>
          </p:cNvPr>
          <p:cNvGraphicFramePr>
            <a:graphicFrameLocks noGrp="1" noDrilldown="1" noMove="1" noResize="1"/>
          </p:cNvGraphicFramePr>
          <p:nvPr>
            <p:extLst>
              <p:ext uri="{D42A27DB-BD31-4B8C-83A1-F6EECF244321}">
                <p14:modId xmlns:p14="http://schemas.microsoft.com/office/powerpoint/2010/main" val="3497426947"/>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0E7E3946-C4CB-E008-6A4A-BA0E60CB6887}"/>
              </a:ext>
            </a:extLst>
          </p:cNvPr>
          <p:cNvGraphicFramePr>
            <a:graphicFrameLocks noGrp="1" noDrilldown="1" noMove="1" noResize="1"/>
          </p:cNvGraphicFramePr>
          <p:nvPr>
            <p:extLst>
              <p:ext uri="{D42A27DB-BD31-4B8C-83A1-F6EECF244321}">
                <p14:modId xmlns:p14="http://schemas.microsoft.com/office/powerpoint/2010/main" val="1597476170"/>
              </p:ext>
            </p:extLst>
          </p:nvPr>
        </p:nvGraphicFramePr>
        <p:xfrm>
          <a:off x="4508500" y="1040400"/>
          <a:ext cx="5613400" cy="4773826"/>
        </p:xfrm>
        <a:graphic>
          <a:graphicData uri="http://schemas.openxmlformats.org/drawingml/2006/table">
            <a:tbl>
              <a:tblPr/>
              <a:tblGrid>
                <a:gridCol w="3429000">
                  <a:extLst>
                    <a:ext uri="{9D8B030D-6E8A-4147-A177-3AD203B41FA5}">
                      <a16:colId xmlns:a16="http://schemas.microsoft.com/office/drawing/2014/main" val="2852546665"/>
                    </a:ext>
                  </a:extLst>
                </a:gridCol>
                <a:gridCol w="50800">
                  <a:extLst>
                    <a:ext uri="{9D8B030D-6E8A-4147-A177-3AD203B41FA5}">
                      <a16:colId xmlns:a16="http://schemas.microsoft.com/office/drawing/2014/main" val="907499476"/>
                    </a:ext>
                  </a:extLst>
                </a:gridCol>
                <a:gridCol w="571500">
                  <a:extLst>
                    <a:ext uri="{9D8B030D-6E8A-4147-A177-3AD203B41FA5}">
                      <a16:colId xmlns:a16="http://schemas.microsoft.com/office/drawing/2014/main" val="620423941"/>
                    </a:ext>
                  </a:extLst>
                </a:gridCol>
                <a:gridCol w="50800">
                  <a:extLst>
                    <a:ext uri="{9D8B030D-6E8A-4147-A177-3AD203B41FA5}">
                      <a16:colId xmlns:a16="http://schemas.microsoft.com/office/drawing/2014/main" val="617837219"/>
                    </a:ext>
                  </a:extLst>
                </a:gridCol>
                <a:gridCol w="571500">
                  <a:extLst>
                    <a:ext uri="{9D8B030D-6E8A-4147-A177-3AD203B41FA5}">
                      <a16:colId xmlns:a16="http://schemas.microsoft.com/office/drawing/2014/main" val="349345812"/>
                    </a:ext>
                  </a:extLst>
                </a:gridCol>
                <a:gridCol w="50800">
                  <a:extLst>
                    <a:ext uri="{9D8B030D-6E8A-4147-A177-3AD203B41FA5}">
                      <a16:colId xmlns:a16="http://schemas.microsoft.com/office/drawing/2014/main" val="1925593678"/>
                    </a:ext>
                  </a:extLst>
                </a:gridCol>
                <a:gridCol w="889000">
                  <a:extLst>
                    <a:ext uri="{9D8B030D-6E8A-4147-A177-3AD203B41FA5}">
                      <a16:colId xmlns:a16="http://schemas.microsoft.com/office/drawing/2014/main" val="2353082488"/>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583"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2510456559"/>
                  </a:ext>
                </a:extLst>
              </a:tr>
              <a:tr h="325559">
                <a:tc>
                  <a:txBody>
                    <a:bodyPr/>
                    <a:lstStyle/>
                    <a:p>
                      <a:pPr algn="l" fontAlgn="ctr">
                        <a:buNone/>
                      </a:pPr>
                      <a:r>
                        <a:rPr lang="de-DE" sz="700" b="1" i="0" u="none" strike="noStrike">
                          <a:solidFill>
                            <a:srgbClr val="000000"/>
                          </a:solidFill>
                          <a:effectLst/>
                          <a:latin typeface="Noto Sans" panose="020B0502040504020204" pitchFamily="34" charset="0"/>
                        </a:rPr>
                        <a:t>AKTIEN</a:t>
                      </a:r>
                    </a:p>
                  </a:txBody>
                  <a:tcPr marL="6858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95933963"/>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Environmental Impact 100 ETF (Rize)</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A3CN9S</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3,26%</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19947076"/>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Global Active ESG Equity ETF (Invesco)</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A2PHJT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20,97%</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71777768"/>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MSCI Europe SRI ETF (iShares)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A1H7ZS</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8,44%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57374435"/>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Stoxx Europe Select Dividend 30 ETF (Amundi)</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LYX0Y9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3,81%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237677162"/>
                  </a:ext>
                </a:extLst>
              </a:tr>
              <a:tr h="325559">
                <a:tc>
                  <a:txBody>
                    <a:bodyPr/>
                    <a:lstStyle/>
                    <a:p>
                      <a:pPr algn="l" fontAlgn="ctr">
                        <a:buNone/>
                      </a:pPr>
                      <a:r>
                        <a:rPr lang="de-DE" sz="700" b="1" i="0" u="none" strike="noStrike">
                          <a:solidFill>
                            <a:srgbClr val="000000"/>
                          </a:solidFill>
                          <a:effectLst/>
                          <a:latin typeface="Noto Sans" panose="020B0502040504020204" pitchFamily="34" charset="0"/>
                        </a:rPr>
                        <a:t>RENTEN</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795921658"/>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Deutschland Staatsanl. ETF 5-10 J. (Deka)</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ETFL20</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8,45%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051364778"/>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EUR Corp. Bond SRI 3-5Y ETF (BNPP Easy)</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A2PP8C</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12,09%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399318340"/>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Sustainable Euro Green Bond ETF (Franklin)</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A2PB5T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12,79%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69315039"/>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USD Corp. Greenbond ETF EUR Hdgd (Xtrackers)</a:t>
                      </a:r>
                    </a:p>
                  </a:txBody>
                  <a:tcPr marL="6858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DBX0KF</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13,13%</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11764871"/>
                  </a:ext>
                </a:extLst>
              </a:tr>
              <a:tr h="325559">
                <a:tc>
                  <a:txBody>
                    <a:bodyPr/>
                    <a:lstStyle/>
                    <a:p>
                      <a:pPr algn="l" fontAlgn="ctr">
                        <a:buNone/>
                      </a:pPr>
                      <a:r>
                        <a:rPr lang="de-DE" sz="700" b="1" i="0" u="none" strike="noStrike">
                          <a:solidFill>
                            <a:srgbClr val="000000"/>
                          </a:solidFill>
                          <a:effectLst/>
                          <a:latin typeface="Noto Sans" panose="020B0502040504020204" pitchFamily="34" charset="0"/>
                        </a:rPr>
                        <a:t>EDELMETALLE</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27261465"/>
                  </a:ext>
                </a:extLst>
              </a:tr>
              <a:tr h="325559">
                <a:tc>
                  <a:txBody>
                    <a:bodyPr/>
                    <a:lstStyle/>
                    <a:p>
                      <a:pPr algn="l" fontAlgn="ctr">
                        <a:buNone/>
                      </a:pPr>
                      <a:r>
                        <a:rPr lang="de-DE" sz="700" b="0" i="0" u="none" strike="noStrike">
                          <a:solidFill>
                            <a:srgbClr val="000000"/>
                          </a:solidFill>
                          <a:effectLst/>
                          <a:latin typeface="Noto Sans" panose="020B0502040504020204" pitchFamily="34" charset="0"/>
                        </a:rPr>
                        <a:t>Physical Gold ETC (Invesco)</a:t>
                      </a:r>
                    </a:p>
                  </a:txBody>
                  <a:tcPr marL="6858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A1AA5X</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12,45%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17516921"/>
                  </a:ext>
                </a:extLst>
              </a:tr>
              <a:tr h="325559">
                <a:tc>
                  <a:txBody>
                    <a:bodyPr/>
                    <a:lstStyle/>
                    <a:p>
                      <a:pPr algn="l" fontAlgn="ctr">
                        <a:buNone/>
                      </a:pPr>
                      <a:r>
                        <a:rPr lang="de-DE" sz="700" b="1" i="0" u="none" strike="noStrike">
                          <a:solidFill>
                            <a:srgbClr val="000000"/>
                          </a:solidFill>
                          <a:effectLst/>
                          <a:latin typeface="Noto Sans" panose="020B0502040504020204" pitchFamily="34" charset="0"/>
                        </a:rPr>
                        <a:t>LIQUIDITÄT</a:t>
                      </a:r>
                    </a:p>
                  </a:txBody>
                  <a:tcPr marL="6858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4,60%</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71696304"/>
                  </a:ext>
                </a:extLst>
              </a:tr>
              <a:tr h="325559">
                <a:tc>
                  <a:txBody>
                    <a:bodyPr/>
                    <a:lstStyle/>
                    <a:p>
                      <a:pPr algn="l" fontAlgn="ctr">
                        <a:buNone/>
                      </a:pPr>
                      <a:r>
                        <a:rPr lang="de-DE" sz="700" b="1" i="0" u="none" strike="noStrike">
                          <a:solidFill>
                            <a:srgbClr val="000000"/>
                          </a:solidFill>
                          <a:effectLst/>
                          <a:latin typeface="Noto Sans" panose="020B0502040504020204" pitchFamily="34" charset="0"/>
                        </a:rPr>
                        <a:t> </a:t>
                      </a:r>
                    </a:p>
                  </a:txBody>
                  <a:tcPr marL="6858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3794794740"/>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noDrilldown="1" noMove="1" noResize="1"/>
          </p:cNvGraphicFramePr>
          <p:nvPr>
            <p:ph type="tbl" sz="quarter" idx="13"/>
            <p:extLst>
              <p:ext uri="{D42A27DB-BD31-4B8C-83A1-F6EECF244321}">
                <p14:modId xmlns:p14="http://schemas.microsoft.com/office/powerpoint/2010/main" val="3184709622"/>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err="1">
                          <a:solidFill>
                            <a:schemeClr val="bg1"/>
                          </a:solidFill>
                        </a:rPr>
                        <a:t>AUsgewogen</a:t>
                      </a:r>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40 %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ESG-ETF Ausgewogen</a:t>
            </a:r>
          </a:p>
        </p:txBody>
      </p:sp>
    </p:spTree>
    <p:extLst>
      <p:ext uri="{BB962C8B-B14F-4D97-AF65-F5344CB8AC3E}">
        <p14:creationId xmlns:p14="http://schemas.microsoft.com/office/powerpoint/2010/main" val="3515420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30.06. abzüglich halbjährigen Honorarsatz</a:t>
            </a:r>
          </a:p>
          <a:p>
            <a:r>
              <a:rPr lang="de-DE" dirty="0"/>
              <a:t>*** 20% EONIA Euro </a:t>
            </a:r>
            <a:r>
              <a:rPr lang="de-DE" dirty="0" err="1"/>
              <a:t>Overnight</a:t>
            </a:r>
            <a:r>
              <a:rPr lang="de-DE" dirty="0"/>
              <a:t> Index; 35% </a:t>
            </a:r>
            <a:r>
              <a:rPr lang="de-DE" dirty="0" err="1"/>
              <a:t>iBoxx</a:t>
            </a:r>
            <a:r>
              <a:rPr lang="de-DE" dirty="0"/>
              <a:t> Corp. 3-5 RE.; 25% </a:t>
            </a:r>
            <a:r>
              <a:rPr lang="de-DE" dirty="0" err="1"/>
              <a:t>iBoxx</a:t>
            </a:r>
            <a:r>
              <a:rPr lang="de-DE" dirty="0"/>
              <a:t> E Germany 7-10 TR; 20%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17</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F2AA1C4A-347F-452B-B0F2-BA00ED1387E1}" type="datetime1">
              <a:rPr lang="de-DE" sz="600" smtClean="0">
                <a:solidFill>
                  <a:schemeClr val="bg2"/>
                </a:solidFill>
              </a:rPr>
              <a:t>20.07.2026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280221250"/>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2648546669"/>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488919528"/>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5682680"/>
                  </a:ext>
                </a:extLst>
              </a:tr>
              <a:tr h="288000">
                <a:tc>
                  <a:txBody>
                    <a:bodyPr/>
                    <a:lstStyle/>
                    <a:p>
                      <a:r>
                        <a:rPr lang="de-DE" sz="900" b="0" dirty="0"/>
                        <a:t>Wertentwicklung seit 2015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33,71%</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2015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2,79%</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4,26%</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699496"/>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ESG-ETF Ausgewogen | </a:t>
            </a:r>
            <a:r>
              <a:rPr lang="de-DE" b="0" dirty="0"/>
              <a:t>Wertentwicklung</a:t>
            </a:r>
          </a:p>
        </p:txBody>
      </p:sp>
    </p:spTree>
    <p:extLst>
      <p:ext uri="{BB962C8B-B14F-4D97-AF65-F5344CB8AC3E}">
        <p14:creationId xmlns:p14="http://schemas.microsoft.com/office/powerpoint/2010/main" val="1925586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
            <a:extLst>
              <a:ext uri="{FF2B5EF4-FFF2-40B4-BE49-F238E27FC236}">
                <a16:creationId xmlns:a16="http://schemas.microsoft.com/office/drawing/2014/main" id="{4007EA5A-96E6-B43F-0DF7-768482385798}"/>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18</a:t>
            </a:fld>
            <a:endParaRPr lang="de-DE"/>
          </a:p>
        </p:txBody>
      </p:sp>
      <p:graphicFrame>
        <p:nvGraphicFramePr>
          <p:cNvPr id="5" name="C_Kennzahlen">
            <a:extLst>
              <a:ext uri="{FF2B5EF4-FFF2-40B4-BE49-F238E27FC236}">
                <a16:creationId xmlns:a16="http://schemas.microsoft.com/office/drawing/2014/main" id="{00000000-0008-0000-0D00-000003000000}"/>
              </a:ext>
            </a:extLst>
          </p:cNvPr>
          <p:cNvGraphicFramePr>
            <a:graphicFrameLocks noGrp="1" noDrilldown="1" noMove="1" noResize="1"/>
          </p:cNvGraphicFramePr>
          <p:nvPr>
            <p:extLst>
              <p:ext uri="{D42A27DB-BD31-4B8C-83A1-F6EECF244321}">
                <p14:modId xmlns:p14="http://schemas.microsoft.com/office/powerpoint/2010/main" val="3047114817"/>
              </p:ext>
            </p:extLst>
          </p:nvPr>
        </p:nvGraphicFramePr>
        <p:xfrm>
          <a:off x="355600" y="2666999"/>
          <a:ext cx="3960001" cy="309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_Kennzahlen">
            <a:extLst>
              <a:ext uri="{FF2B5EF4-FFF2-40B4-BE49-F238E27FC236}">
                <a16:creationId xmlns:a16="http://schemas.microsoft.com/office/drawing/2014/main" id="{8FEC1BC2-CAF3-3B31-A015-C4E592815347}"/>
              </a:ext>
            </a:extLst>
          </p:cNvPr>
          <p:cNvGraphicFramePr>
            <a:graphicFrameLocks noGrp="1" noDrilldown="1" noMove="1" noResize="1"/>
          </p:cNvGraphicFramePr>
          <p:nvPr>
            <p:extLst>
              <p:ext uri="{D42A27DB-BD31-4B8C-83A1-F6EECF244321}">
                <p14:modId xmlns:p14="http://schemas.microsoft.com/office/powerpoint/2010/main" val="1298958958"/>
              </p:ext>
            </p:extLst>
          </p:nvPr>
        </p:nvGraphicFramePr>
        <p:xfrm>
          <a:off x="4508500" y="1040400"/>
          <a:ext cx="5613400" cy="4773527"/>
        </p:xfrm>
        <a:graphic>
          <a:graphicData uri="http://schemas.openxmlformats.org/drawingml/2006/table">
            <a:tbl>
              <a:tblPr/>
              <a:tblGrid>
                <a:gridCol w="3429000">
                  <a:extLst>
                    <a:ext uri="{9D8B030D-6E8A-4147-A177-3AD203B41FA5}">
                      <a16:colId xmlns:a16="http://schemas.microsoft.com/office/drawing/2014/main" val="3514621160"/>
                    </a:ext>
                  </a:extLst>
                </a:gridCol>
                <a:gridCol w="50800">
                  <a:extLst>
                    <a:ext uri="{9D8B030D-6E8A-4147-A177-3AD203B41FA5}">
                      <a16:colId xmlns:a16="http://schemas.microsoft.com/office/drawing/2014/main" val="3632289141"/>
                    </a:ext>
                  </a:extLst>
                </a:gridCol>
                <a:gridCol w="571500">
                  <a:extLst>
                    <a:ext uri="{9D8B030D-6E8A-4147-A177-3AD203B41FA5}">
                      <a16:colId xmlns:a16="http://schemas.microsoft.com/office/drawing/2014/main" val="3246321000"/>
                    </a:ext>
                  </a:extLst>
                </a:gridCol>
                <a:gridCol w="50800">
                  <a:extLst>
                    <a:ext uri="{9D8B030D-6E8A-4147-A177-3AD203B41FA5}">
                      <a16:colId xmlns:a16="http://schemas.microsoft.com/office/drawing/2014/main" val="4201408870"/>
                    </a:ext>
                  </a:extLst>
                </a:gridCol>
                <a:gridCol w="571500">
                  <a:extLst>
                    <a:ext uri="{9D8B030D-6E8A-4147-A177-3AD203B41FA5}">
                      <a16:colId xmlns:a16="http://schemas.microsoft.com/office/drawing/2014/main" val="620137128"/>
                    </a:ext>
                  </a:extLst>
                </a:gridCol>
                <a:gridCol w="50800">
                  <a:extLst>
                    <a:ext uri="{9D8B030D-6E8A-4147-A177-3AD203B41FA5}">
                      <a16:colId xmlns:a16="http://schemas.microsoft.com/office/drawing/2014/main" val="822952335"/>
                    </a:ext>
                  </a:extLst>
                </a:gridCol>
                <a:gridCol w="889000">
                  <a:extLst>
                    <a:ext uri="{9D8B030D-6E8A-4147-A177-3AD203B41FA5}">
                      <a16:colId xmlns:a16="http://schemas.microsoft.com/office/drawing/2014/main" val="1972834599"/>
                    </a:ext>
                  </a:extLst>
                </a:gridCol>
              </a:tblGrid>
              <a:tr h="216000">
                <a:tc>
                  <a:txBody>
                    <a:bodyPr/>
                    <a:lstStyle/>
                    <a:p>
                      <a:pPr algn="l" fontAlgn="ctr">
                        <a:buNone/>
                      </a:pPr>
                      <a:r>
                        <a:rPr lang="de-DE" sz="700" b="0" i="0" u="none" strike="noStrike">
                          <a:solidFill>
                            <a:srgbClr val="FFFFFF"/>
                          </a:solidFill>
                          <a:effectLst/>
                          <a:latin typeface="Noto Sans" panose="020B0502040504020204" pitchFamily="34" charset="0"/>
                        </a:rPr>
                        <a:t>WERTPAPIER</a:t>
                      </a:r>
                    </a:p>
                  </a:txBody>
                  <a:tcPr marL="68673"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WKN</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Anteil %</a:t>
                      </a:r>
                    </a:p>
                  </a:txBody>
                  <a:tcPr marL="0" marR="0" marT="0" marB="0" anchor="ctr">
                    <a:lnL>
                      <a:noFill/>
                    </a:lnL>
                    <a:lnR>
                      <a:noFill/>
                    </a:lnR>
                    <a:lnT>
                      <a:noFill/>
                    </a:lnT>
                    <a:lnB>
                      <a:noFill/>
                    </a:lnB>
                    <a:solidFill>
                      <a:srgbClr val="14355C"/>
                    </a:solidFill>
                  </a:tcPr>
                </a:tc>
                <a:tc>
                  <a:txBody>
                    <a:bodyPr/>
                    <a:lstStyle/>
                    <a:p>
                      <a:pPr algn="l" fontAlgn="ctr">
                        <a:buNone/>
                      </a:pPr>
                      <a:endParaRPr lang="de-DE" sz="700" b="0" i="0" u="none" strike="noStrike">
                        <a:solidFill>
                          <a:srgbClr val="FFFFFF"/>
                        </a:solidFill>
                        <a:effectLst/>
                        <a:latin typeface="Noto Sans" panose="020B0502040504020204" pitchFamily="34" charset="0"/>
                      </a:endParaRP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FFFFFF"/>
                          </a:solidFill>
                          <a:effectLst/>
                          <a:latin typeface="Noto Sans" panose="020B0502040504020204" pitchFamily="34" charset="0"/>
                        </a:rPr>
                        <a:t>Marktrisikowert</a:t>
                      </a:r>
                    </a:p>
                  </a:txBody>
                  <a:tcPr marL="0" marR="0" marT="0" marB="0" anchor="ctr">
                    <a:lnL>
                      <a:noFill/>
                    </a:lnL>
                    <a:lnR>
                      <a:noFill/>
                    </a:lnR>
                    <a:lnT>
                      <a:noFill/>
                    </a:lnT>
                    <a:lnB>
                      <a:noFill/>
                    </a:lnB>
                    <a:solidFill>
                      <a:srgbClr val="14355C"/>
                    </a:solidFill>
                  </a:tcPr>
                </a:tc>
                <a:extLst>
                  <a:ext uri="{0D108BD9-81ED-4DB2-BD59-A6C34878D82A}">
                    <a16:rowId xmlns:a16="http://schemas.microsoft.com/office/drawing/2014/main" val="699407080"/>
                  </a:ext>
                </a:extLst>
              </a:tr>
              <a:tr h="350579">
                <a:tc>
                  <a:txBody>
                    <a:bodyPr/>
                    <a:lstStyle/>
                    <a:p>
                      <a:pPr algn="l" fontAlgn="ctr">
                        <a:buNone/>
                      </a:pPr>
                      <a:r>
                        <a:rPr lang="de-DE" sz="700" b="1" i="0" u="none" strike="noStrike">
                          <a:solidFill>
                            <a:srgbClr val="000000"/>
                          </a:solidFill>
                          <a:effectLst/>
                          <a:latin typeface="Noto Sans" panose="020B0502040504020204" pitchFamily="34" charset="0"/>
                        </a:rPr>
                        <a:t>AKTIEN</a:t>
                      </a:r>
                    </a:p>
                  </a:txBody>
                  <a:tcPr marL="68673"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a:noFill/>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651645003"/>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ECPI Circular Economy Leaders ETF (BNP)</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A2PHCA</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9,89%</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508417537"/>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Environmental Impact 100 ETF (Rize)</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A3CN9S</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5</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448021972"/>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Global Active ESG Equity ETF (Invesco)</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A2PHJT</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26,61%</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279381763"/>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MSCI Europe SRI ETF (iShares)</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A1H7ZS</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9,39%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492538376"/>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Stoxx Europe Select Dividend 30 ETF (Amundi)</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LYX0Y9</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9,80%</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089671857"/>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US Equity Research Enhanced ETF (Fidelity)</a:t>
                      </a:r>
                    </a:p>
                  </a:txBody>
                  <a:tcPr marL="68673"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A2P0ZN</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12,06%</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317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114868938"/>
                  </a:ext>
                </a:extLst>
              </a:tr>
              <a:tr h="350579">
                <a:tc>
                  <a:txBody>
                    <a:bodyPr/>
                    <a:lstStyle/>
                    <a:p>
                      <a:pPr algn="l" fontAlgn="ctr">
                        <a:buNone/>
                      </a:pPr>
                      <a:r>
                        <a:rPr lang="de-DE" sz="700" b="1" i="0" u="none" strike="noStrike">
                          <a:solidFill>
                            <a:srgbClr val="000000"/>
                          </a:solidFill>
                          <a:effectLst/>
                          <a:latin typeface="Noto Sans" panose="020B0502040504020204" pitchFamily="34" charset="0"/>
                        </a:rPr>
                        <a:t>RENTEN</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1876233235"/>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USD Corp. Greenbond ETF EUR Hdgd (Xtrackers)</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DBX0KF</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11,35%</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2</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2876643711"/>
                  </a:ext>
                </a:extLst>
              </a:tr>
              <a:tr h="350579">
                <a:tc>
                  <a:txBody>
                    <a:bodyPr/>
                    <a:lstStyle/>
                    <a:p>
                      <a:pPr algn="l" fontAlgn="ctr">
                        <a:buNone/>
                      </a:pPr>
                      <a:r>
                        <a:rPr lang="de-DE" sz="700" b="1" i="0" u="none" strike="noStrike">
                          <a:solidFill>
                            <a:srgbClr val="000000"/>
                          </a:solidFill>
                          <a:effectLst/>
                          <a:latin typeface="Noto Sans" panose="020B0502040504020204" pitchFamily="34" charset="0"/>
                        </a:rPr>
                        <a:t>EDELMETALLE</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4072722403"/>
                  </a:ext>
                </a:extLst>
              </a:tr>
              <a:tr h="350579">
                <a:tc>
                  <a:txBody>
                    <a:bodyPr/>
                    <a:lstStyle/>
                    <a:p>
                      <a:pPr algn="l" fontAlgn="ctr">
                        <a:buNone/>
                      </a:pPr>
                      <a:r>
                        <a:rPr lang="de-DE" sz="700" b="0" i="0" u="none" strike="noStrike">
                          <a:solidFill>
                            <a:srgbClr val="000000"/>
                          </a:solidFill>
                          <a:effectLst/>
                          <a:latin typeface="Noto Sans" panose="020B0502040504020204" pitchFamily="34" charset="0"/>
                        </a:rPr>
                        <a:t>Physical Gold ETC (Invesco)</a:t>
                      </a:r>
                    </a:p>
                  </a:txBody>
                  <a:tcPr marL="68673"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A1AA5X</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8,58%</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0" i="0" u="none" strike="noStrike">
                          <a:solidFill>
                            <a:srgbClr val="000000"/>
                          </a:solidFill>
                          <a:effectLst/>
                          <a:latin typeface="Noto Sans" panose="020B0502040504020204" pitchFamily="34" charset="0"/>
                        </a:rPr>
                        <a:t>4</a:t>
                      </a:r>
                    </a:p>
                  </a:txBody>
                  <a:tcPr marL="0" marR="0" marT="0" marB="0" anchor="ctr">
                    <a:lnL>
                      <a:noFill/>
                    </a:lnL>
                    <a:lnR>
                      <a:noFill/>
                    </a:lnR>
                    <a:lnT w="9525" cap="flat" cmpd="sng" algn="ctr">
                      <a:solidFill>
                        <a:srgbClr val="14355C"/>
                      </a:solidFill>
                      <a:prstDash val="solid"/>
                      <a:round/>
                      <a:headEnd type="none" w="med" len="med"/>
                      <a:tailEnd type="none" w="med" len="med"/>
                    </a:lnT>
                    <a:lnB w="317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396895410"/>
                  </a:ext>
                </a:extLst>
              </a:tr>
              <a:tr h="350579">
                <a:tc>
                  <a:txBody>
                    <a:bodyPr/>
                    <a:lstStyle/>
                    <a:p>
                      <a:pPr algn="l" fontAlgn="ctr">
                        <a:buNone/>
                      </a:pPr>
                      <a:r>
                        <a:rPr lang="de-DE" sz="700" b="1" i="0" u="none" strike="noStrike">
                          <a:solidFill>
                            <a:srgbClr val="000000"/>
                          </a:solidFill>
                          <a:effectLst/>
                          <a:latin typeface="Noto Sans" panose="020B0502040504020204" pitchFamily="34" charset="0"/>
                        </a:rPr>
                        <a:t>LIQUIDITÄT</a:t>
                      </a:r>
                    </a:p>
                  </a:txBody>
                  <a:tcPr marL="68673"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2,94%</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tc>
                  <a:txBody>
                    <a:bodyPr/>
                    <a:lstStyle/>
                    <a:p>
                      <a:pPr algn="ctr" fontAlgn="ctr">
                        <a:buNone/>
                      </a:pPr>
                      <a:r>
                        <a:rPr lang="de-DE" sz="700" b="0"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3175" cap="flat" cmpd="sng" algn="ctr">
                      <a:solidFill>
                        <a:srgbClr val="14355C"/>
                      </a:solidFill>
                      <a:prstDash val="solid"/>
                      <a:round/>
                      <a:headEnd type="none" w="med" len="med"/>
                      <a:tailEnd type="none" w="med" len="med"/>
                    </a:lnT>
                    <a:lnB w="9525" cap="flat" cmpd="sng" algn="ctr">
                      <a:solidFill>
                        <a:srgbClr val="14355C"/>
                      </a:solidFill>
                      <a:prstDash val="solid"/>
                      <a:round/>
                      <a:headEnd type="none" w="med" len="med"/>
                      <a:tailEnd type="none" w="med" len="med"/>
                    </a:lnB>
                    <a:noFill/>
                  </a:tcPr>
                </a:tc>
                <a:extLst>
                  <a:ext uri="{0D108BD9-81ED-4DB2-BD59-A6C34878D82A}">
                    <a16:rowId xmlns:a16="http://schemas.microsoft.com/office/drawing/2014/main" val="773061471"/>
                  </a:ext>
                </a:extLst>
              </a:tr>
              <a:tr h="350579">
                <a:tc>
                  <a:txBody>
                    <a:bodyPr/>
                    <a:lstStyle/>
                    <a:p>
                      <a:pPr algn="l" fontAlgn="ctr">
                        <a:buNone/>
                      </a:pPr>
                      <a:r>
                        <a:rPr lang="de-DE" sz="700" b="1" i="0" u="none" strike="noStrike">
                          <a:solidFill>
                            <a:srgbClr val="000000"/>
                          </a:solidFill>
                          <a:effectLst/>
                          <a:latin typeface="Noto Sans" panose="020B0502040504020204" pitchFamily="34" charset="0"/>
                        </a:rPr>
                        <a:t> </a:t>
                      </a:r>
                    </a:p>
                  </a:txBody>
                  <a:tcPr marL="68673"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a:solidFill>
                            <a:srgbClr val="000000"/>
                          </a:solidFill>
                          <a:effectLst/>
                          <a:latin typeface="Noto Sans" panose="020B0502040504020204" pitchFamily="34" charset="0"/>
                        </a:rPr>
                        <a:t>100,00%</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tc>
                  <a:txBody>
                    <a:bodyPr/>
                    <a:lstStyle/>
                    <a:p>
                      <a:pPr algn="ctr" fontAlgn="ctr">
                        <a:buNone/>
                      </a:pPr>
                      <a:r>
                        <a:rPr lang="de-DE" sz="700" b="1" i="0" u="none" strike="noStrike">
                          <a:solidFill>
                            <a:srgbClr val="FFFFFF"/>
                          </a:solidFill>
                          <a:effectLst/>
                          <a:latin typeface="Noto Sans" panose="020B0502040504020204" pitchFamily="34" charset="0"/>
                        </a:rPr>
                        <a:t>0</a:t>
                      </a:r>
                    </a:p>
                  </a:txBody>
                  <a:tcPr marL="0" marR="0" marT="0" marB="0" anchor="ctr">
                    <a:lnL>
                      <a:noFill/>
                    </a:lnL>
                    <a:lnR>
                      <a:noFill/>
                    </a:lnR>
                    <a:lnT>
                      <a:noFill/>
                    </a:lnT>
                    <a:lnB>
                      <a:noFill/>
                    </a:lnB>
                    <a:noFill/>
                  </a:tcPr>
                </a:tc>
                <a:tc>
                  <a:txBody>
                    <a:bodyPr/>
                    <a:lstStyle/>
                    <a:p>
                      <a:pPr algn="ctr" fontAlgn="ctr">
                        <a:buNone/>
                      </a:pPr>
                      <a:r>
                        <a:rPr lang="de-DE" sz="700" b="1" i="0" u="none" strike="noStrike" dirty="0">
                          <a:solidFill>
                            <a:srgbClr val="000000"/>
                          </a:solidFill>
                          <a:effectLst/>
                          <a:latin typeface="Noto Sans" panose="020B0502040504020204" pitchFamily="34" charset="0"/>
                        </a:rPr>
                        <a:t> </a:t>
                      </a:r>
                    </a:p>
                  </a:txBody>
                  <a:tcPr marL="0" marR="0" marT="0" marB="0" anchor="ctr">
                    <a:lnL>
                      <a:noFill/>
                    </a:lnL>
                    <a:lnR>
                      <a:noFill/>
                    </a:lnR>
                    <a:lnT w="9525" cap="flat" cmpd="sng" algn="ctr">
                      <a:solidFill>
                        <a:srgbClr val="14355C"/>
                      </a:solidFill>
                      <a:prstDash val="solid"/>
                      <a:round/>
                      <a:headEnd type="none" w="med" len="med"/>
                      <a:tailEnd type="none" w="med" len="med"/>
                    </a:lnT>
                    <a:lnB>
                      <a:noFill/>
                    </a:lnB>
                    <a:noFill/>
                  </a:tcPr>
                </a:tc>
                <a:extLst>
                  <a:ext uri="{0D108BD9-81ED-4DB2-BD59-A6C34878D82A}">
                    <a16:rowId xmlns:a16="http://schemas.microsoft.com/office/drawing/2014/main" val="3762468655"/>
                  </a:ext>
                </a:extLst>
              </a:tr>
            </a:tbl>
          </a:graphicData>
        </a:graphic>
      </p:graphicFrame>
      <p:graphicFrame>
        <p:nvGraphicFramePr>
          <p:cNvPr id="7" name="Tabelle">
            <a:extLst>
              <a:ext uri="{FF2B5EF4-FFF2-40B4-BE49-F238E27FC236}">
                <a16:creationId xmlns:a16="http://schemas.microsoft.com/office/drawing/2014/main" id="{88E1F5B9-A8A3-713A-98AC-62668551FB4A}"/>
              </a:ext>
            </a:extLst>
          </p:cNvPr>
          <p:cNvGraphicFramePr>
            <a:graphicFrameLocks noGrp="1"/>
          </p:cNvGraphicFramePr>
          <p:nvPr>
            <p:ph type="tbl" sz="quarter" idx="13"/>
            <p:extLst>
              <p:ext uri="{D42A27DB-BD31-4B8C-83A1-F6EECF244321}">
                <p14:modId xmlns:p14="http://schemas.microsoft.com/office/powerpoint/2010/main" val="3229407220"/>
              </p:ext>
            </p:extLst>
          </p:nvPr>
        </p:nvGraphicFramePr>
        <p:xfrm>
          <a:off x="349250" y="1041400"/>
          <a:ext cx="3967200" cy="1296000"/>
        </p:xfrm>
        <a:graphic>
          <a:graphicData uri="http://schemas.openxmlformats.org/drawingml/2006/table">
            <a:tbl>
              <a:tblPr firstRow="1" bandRow="1">
                <a:tableStyleId>{69012ECD-51FC-41F1-AA8D-1B2483CD663E}</a:tableStyleId>
              </a:tblPr>
              <a:tblGrid>
                <a:gridCol w="1958400">
                  <a:extLst>
                    <a:ext uri="{9D8B030D-6E8A-4147-A177-3AD203B41FA5}">
                      <a16:colId xmlns:a16="http://schemas.microsoft.com/office/drawing/2014/main" val="1715752775"/>
                    </a:ext>
                  </a:extLst>
                </a:gridCol>
                <a:gridCol w="50400">
                  <a:extLst>
                    <a:ext uri="{9D8B030D-6E8A-4147-A177-3AD203B41FA5}">
                      <a16:colId xmlns:a16="http://schemas.microsoft.com/office/drawing/2014/main" val="2276385665"/>
                    </a:ext>
                  </a:extLst>
                </a:gridCol>
                <a:gridCol w="1958400">
                  <a:extLst>
                    <a:ext uri="{9D8B030D-6E8A-4147-A177-3AD203B41FA5}">
                      <a16:colId xmlns:a16="http://schemas.microsoft.com/office/drawing/2014/main" val="296509542"/>
                    </a:ext>
                  </a:extLst>
                </a:gridCol>
              </a:tblGrid>
              <a:tr h="216000">
                <a:tc>
                  <a:txBody>
                    <a:bodyPr/>
                    <a:lstStyle/>
                    <a:p>
                      <a:r>
                        <a:rPr lang="de-DE" sz="900" b="1" cap="all" baseline="0" dirty="0">
                          <a:solidFill>
                            <a:schemeClr val="bg1"/>
                          </a:solidFill>
                        </a:rPr>
                        <a:t>Anlagekriterien</a:t>
                      </a: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1" cap="all" baseline="0" dirty="0">
                          <a:solidFill>
                            <a:schemeClr val="bg1"/>
                          </a:solidFill>
                        </a:rPr>
                        <a:t>Wachstum</a:t>
                      </a: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644817"/>
                  </a:ext>
                </a:extLst>
              </a:tr>
              <a:tr h="270000">
                <a:tc>
                  <a:txBody>
                    <a:bodyPr/>
                    <a:lstStyle/>
                    <a:p>
                      <a:r>
                        <a:rPr lang="de-DE" sz="900" b="0" dirty="0"/>
                        <a:t>Anlageregion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Weltweit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0595349"/>
                  </a:ext>
                </a:extLst>
              </a:tr>
              <a:tr h="270000">
                <a:tc>
                  <a:txBody>
                    <a:bodyPr/>
                    <a:lstStyle/>
                    <a:p>
                      <a:r>
                        <a:rPr lang="de-DE" sz="900" b="0" dirty="0"/>
                        <a:t>Aktienanteil</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5848646"/>
                  </a:ext>
                </a:extLst>
              </a:tr>
              <a:tr h="270000">
                <a:tc>
                  <a:txBody>
                    <a:bodyPr/>
                    <a:lstStyle/>
                    <a:p>
                      <a:r>
                        <a:rPr lang="de-DE" sz="900" b="0" dirty="0" err="1"/>
                        <a:t>Anleihenanteil</a:t>
                      </a:r>
                      <a:r>
                        <a:rPr lang="de-DE" sz="900" b="0" dirty="0"/>
                        <a:t> / Liquidität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max. 100 %</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2306334"/>
                  </a:ext>
                </a:extLst>
              </a:tr>
              <a:tr h="270000">
                <a:tc>
                  <a:txBody>
                    <a:bodyPr/>
                    <a:lstStyle/>
                    <a:p>
                      <a:r>
                        <a:rPr lang="de-DE" sz="900" b="0" dirty="0"/>
                        <a:t>Fremdwährungen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de-DE" sz="900" b="0" dirty="0"/>
                        <a:t>Unbegrenzt</a:t>
                      </a:r>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7914861"/>
                  </a:ext>
                </a:extLst>
              </a:tr>
            </a:tbl>
          </a:graphicData>
        </a:graphic>
      </p:graphicFrame>
      <p:sp>
        <p:nvSpPr>
          <p:cNvPr id="2" name="Titel">
            <a:extLst>
              <a:ext uri="{FF2B5EF4-FFF2-40B4-BE49-F238E27FC236}">
                <a16:creationId xmlns:a16="http://schemas.microsoft.com/office/drawing/2014/main" id="{FF6052D7-94BC-EEE9-673D-47403DA2FA1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Anlagestrategie ESG-ETF Wachstum</a:t>
            </a:r>
          </a:p>
        </p:txBody>
      </p:sp>
    </p:spTree>
    <p:extLst>
      <p:ext uri="{BB962C8B-B14F-4D97-AF65-F5344CB8AC3E}">
        <p14:creationId xmlns:p14="http://schemas.microsoft.com/office/powerpoint/2010/main" val="3394548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note">
            <a:extLst>
              <a:ext uri="{FF2B5EF4-FFF2-40B4-BE49-F238E27FC236}">
                <a16:creationId xmlns:a16="http://schemas.microsoft.com/office/drawing/2014/main" id="{F552D530-7244-9D7C-E105-7067E902FCB8}"/>
              </a:ext>
            </a:extLst>
          </p:cNvPr>
          <p:cNvSpPr>
            <a:spLocks noGrp="1" noRot="1" noMove="1" noResize="1" noEditPoints="1" noAdjustHandles="1" noChangeArrowheads="1" noChangeShapeType="1"/>
          </p:cNvSpPr>
          <p:nvPr>
            <p:ph type="body" sz="quarter" idx="16"/>
          </p:nvPr>
        </p:nvSpPr>
        <p:spPr/>
        <p:txBody>
          <a:bodyPr/>
          <a:lstStyle/>
          <a:p>
            <a:r>
              <a:rPr lang="de-DE" dirty="0"/>
              <a:t>* nach Kosten</a:t>
            </a:r>
          </a:p>
          <a:p>
            <a:r>
              <a:rPr lang="de-DE" dirty="0"/>
              <a:t>** ab 30.06. abzüglich halbjährigen Honorarsatz</a:t>
            </a:r>
          </a:p>
          <a:p>
            <a:r>
              <a:rPr lang="de-DE" dirty="0"/>
              <a:t>*** 20% EONIA Euro </a:t>
            </a:r>
            <a:r>
              <a:rPr lang="de-DE" dirty="0" err="1"/>
              <a:t>Overnight</a:t>
            </a:r>
            <a:r>
              <a:rPr lang="de-DE" dirty="0"/>
              <a:t> Index; 15% </a:t>
            </a:r>
            <a:r>
              <a:rPr lang="de-DE" dirty="0" err="1"/>
              <a:t>iBoxx</a:t>
            </a:r>
            <a:r>
              <a:rPr lang="de-DE" dirty="0"/>
              <a:t> Corp. 3-5 RE.; 15% </a:t>
            </a:r>
            <a:r>
              <a:rPr lang="de-DE" dirty="0" err="1"/>
              <a:t>iBoxx</a:t>
            </a:r>
            <a:r>
              <a:rPr lang="de-DE" dirty="0"/>
              <a:t> E Germany 7-10 TR; 50% MSCI World</a:t>
            </a:r>
          </a:p>
          <a:p>
            <a:endParaRPr lang="de-DE" dirty="0"/>
          </a:p>
          <a:p>
            <a:r>
              <a:rPr lang="de-DE" dirty="0"/>
              <a:t>Die aufgeführten Zahlen beziehen sich auf die Wertentwicklung in der Vergangenheit. Wert und Erträge einer Vermögensanlage können steigen oder fallen. Eine positive Entwicklung in der Vergangenheit ist keine Garantie für eine zukünftige </a:t>
            </a:r>
          </a:p>
          <a:p>
            <a:r>
              <a:rPr lang="de-DE" dirty="0"/>
              <a:t>Wertentwicklung. </a:t>
            </a:r>
          </a:p>
          <a:p>
            <a:r>
              <a:rPr lang="de-DE" dirty="0"/>
              <a:t>Der unterjährige Performance Ausweis erfolgt vor Kosten (ab 30.06. abzüglich halbjährigen Honorarsatz). Die weiteren Performance Angaben wurden nach </a:t>
            </a:r>
          </a:p>
          <a:p>
            <a:r>
              <a:rPr lang="de-DE" dirty="0"/>
              <a:t>Kosten berechnet. Sowohl das VV Honorar als auch fremde Spesen und evtl. Produktkosten wurden berücksichtigt. Die Inflation kann negative </a:t>
            </a:r>
            <a:r>
              <a:rPr lang="de-DE" dirty="0" err="1"/>
              <a:t>Auswirkun</a:t>
            </a:r>
            <a:r>
              <a:rPr lang="de-DE" dirty="0"/>
              <a:t>-</a:t>
            </a:r>
          </a:p>
          <a:p>
            <a:r>
              <a:rPr lang="de-DE" dirty="0"/>
              <a:t>gen auf den Wert und die nominale Rendite Ihres Anlagevermögens haben. So kann insbesondere bei risikofreien Anlagen ein Wertverlust dadurch ein-</a:t>
            </a:r>
          </a:p>
          <a:p>
            <a:r>
              <a:rPr lang="de-DE" dirty="0"/>
              <a:t>treten, dass die negative Auswirkung der Inflation die nominale Rendite übersteigt. Auch eine geringe Anlagedauer und die Gesamtkosten- und Gebühren </a:t>
            </a:r>
          </a:p>
          <a:p>
            <a:r>
              <a:rPr lang="de-DE" dirty="0"/>
              <a:t>können negativ das Risiko-Rendite-Verhältnis beeinflussen.</a:t>
            </a:r>
          </a:p>
        </p:txBody>
      </p:sp>
      <p:sp>
        <p:nvSpPr>
          <p:cNvPr id="3" name="Foliennummer">
            <a:extLst>
              <a:ext uri="{FF2B5EF4-FFF2-40B4-BE49-F238E27FC236}">
                <a16:creationId xmlns:a16="http://schemas.microsoft.com/office/drawing/2014/main" id="{93D026C5-CE52-2F17-9AE9-A84948B2AC43}"/>
              </a:ext>
            </a:extLst>
          </p:cNvPr>
          <p:cNvSpPr>
            <a:spLocks noGrp="1" noRot="1" noMove="1" noResize="1" noEditPoints="1" noAdjustHandles="1" noChangeArrowheads="1" noChangeShapeType="1"/>
          </p:cNvSpPr>
          <p:nvPr>
            <p:ph type="sldNum" sz="quarter" idx="12"/>
          </p:nvPr>
        </p:nvSpPr>
        <p:spPr/>
        <p:txBody>
          <a:bodyPr/>
          <a:lstStyle/>
          <a:p>
            <a:fld id="{3AE71D6B-ACB6-4F4C-A895-DCAEF1760EAA}" type="slidenum">
              <a:rPr lang="de-DE" smtClean="0"/>
              <a:t>19</a:t>
            </a:fld>
            <a:endParaRPr lang="de-DE"/>
          </a:p>
        </p:txBody>
      </p:sp>
      <p:sp>
        <p:nvSpPr>
          <p:cNvPr id="21" name="Quelle">
            <a:extLst>
              <a:ext uri="{FF2B5EF4-FFF2-40B4-BE49-F238E27FC236}">
                <a16:creationId xmlns:a16="http://schemas.microsoft.com/office/drawing/2014/main" id="{D9852219-B88C-ED04-CF61-B724CDD05E80}"/>
              </a:ext>
            </a:extLst>
          </p:cNvPr>
          <p:cNvSpPr txBox="1">
            <a:spLocks noGrp="1" noRot="1" noMove="1" noResize="1" noEditPoints="1" noAdjustHandles="1" noChangeArrowheads="1" noChangeShapeType="1"/>
          </p:cNvSpPr>
          <p:nvPr/>
        </p:nvSpPr>
        <p:spPr>
          <a:xfrm>
            <a:off x="8387549" y="4999667"/>
            <a:ext cx="1728000" cy="108000"/>
          </a:xfrm>
          <a:prstGeom prst="rect">
            <a:avLst/>
          </a:prstGeom>
          <a:noFill/>
        </p:spPr>
        <p:txBody>
          <a:bodyPr wrap="square" lIns="36000" tIns="0" rIns="36000" bIns="0" rtlCol="0">
            <a:noAutofit/>
          </a:bodyPr>
          <a:lstStyle/>
          <a:p>
            <a:pPr algn="r"/>
            <a:r>
              <a:rPr lang="de-DE" sz="600" dirty="0">
                <a:solidFill>
                  <a:schemeClr val="bg2"/>
                </a:solidFill>
              </a:rPr>
              <a:t>Quelle: Eigene Berechnung, Stand </a:t>
            </a:r>
            <a:fld id="{B1748B8D-878C-4DD9-9989-74412CFE83F7}" type="datetime1">
              <a:rPr lang="de-DE" sz="600" smtClean="0">
                <a:solidFill>
                  <a:schemeClr val="bg2"/>
                </a:solidFill>
              </a:rPr>
              <a:t>20.07.2026</a:t>
            </a:fld>
            <a:endParaRPr lang="de-DE" sz="600" dirty="0">
              <a:solidFill>
                <a:schemeClr val="bg2"/>
              </a:solidFill>
            </a:endParaRPr>
          </a:p>
        </p:txBody>
      </p:sp>
      <p:graphicFrame>
        <p:nvGraphicFramePr>
          <p:cNvPr id="10" name="Diagramm rechts">
            <a:extLst>
              <a:ext uri="{FF2B5EF4-FFF2-40B4-BE49-F238E27FC236}">
                <a16:creationId xmlns:a16="http://schemas.microsoft.com/office/drawing/2014/main" id="{0E50E052-B486-D3F6-9CA5-092E02A2D40A}"/>
              </a:ext>
            </a:extLst>
          </p:cNvPr>
          <p:cNvGraphicFramePr>
            <a:graphicFrameLocks noGrp="1"/>
          </p:cNvGraphicFramePr>
          <p:nvPr>
            <p:ph type="chart" sz="quarter" idx="15"/>
            <p:extLst>
              <p:ext uri="{D42A27DB-BD31-4B8C-83A1-F6EECF244321}">
                <p14:modId xmlns:p14="http://schemas.microsoft.com/office/powerpoint/2010/main" val="1460441343"/>
              </p:ext>
            </p:extLst>
          </p:nvPr>
        </p:nvGraphicFramePr>
        <p:xfrm>
          <a:off x="4505325" y="1041400"/>
          <a:ext cx="5584825" cy="2813050"/>
        </p:xfrm>
        <a:graphic>
          <a:graphicData uri="http://schemas.openxmlformats.org/drawingml/2006/chart">
            <c:chart xmlns:c="http://schemas.openxmlformats.org/drawingml/2006/chart" xmlns:r="http://schemas.openxmlformats.org/officeDocument/2006/relationships" r:id="rId2"/>
          </a:graphicData>
        </a:graphic>
      </p:graphicFrame>
      <p:sp>
        <p:nvSpPr>
          <p:cNvPr id="11" name="Header Diagramm rechts">
            <a:extLst>
              <a:ext uri="{FF2B5EF4-FFF2-40B4-BE49-F238E27FC236}">
                <a16:creationId xmlns:a16="http://schemas.microsoft.com/office/drawing/2014/main" id="{16DD7AC6-1475-9E42-6604-A6E2254C8A34}"/>
              </a:ext>
            </a:extLst>
          </p:cNvPr>
          <p:cNvSpPr txBox="1">
            <a:spLocks noGrp="1" noRot="1" noMove="1" noResize="1" noEditPoints="1" noAdjustHandles="1" noChangeArrowheads="1" noChangeShapeType="1"/>
          </p:cNvSpPr>
          <p:nvPr/>
        </p:nvSpPr>
        <p:spPr>
          <a:xfrm>
            <a:off x="4505325" y="1040563"/>
            <a:ext cx="5616575" cy="216000"/>
          </a:xfrm>
          <a:prstGeom prst="rect">
            <a:avLst/>
          </a:prstGeom>
          <a:solidFill>
            <a:schemeClr val="accent1"/>
          </a:solidFill>
          <a:ln>
            <a:noFill/>
          </a:ln>
        </p:spPr>
        <p:txBody>
          <a:bodyPr wrap="square" rtlCol="0">
            <a:spAutoFit/>
          </a:bodyPr>
          <a:lstStyle/>
          <a:p>
            <a:r>
              <a:rPr lang="de-DE" sz="900" b="1" cap="all" dirty="0" err="1">
                <a:solidFill>
                  <a:schemeClr val="bg1"/>
                </a:solidFill>
              </a:rPr>
              <a:t>wertentwicklung</a:t>
            </a:r>
            <a:endParaRPr lang="de-DE" sz="900" b="1" cap="all" dirty="0">
              <a:solidFill>
                <a:schemeClr val="bg1"/>
              </a:solidFill>
            </a:endParaRPr>
          </a:p>
        </p:txBody>
      </p:sp>
      <p:sp>
        <p:nvSpPr>
          <p:cNvPr id="20" name="Legende Diagramm links">
            <a:extLst>
              <a:ext uri="{FF2B5EF4-FFF2-40B4-BE49-F238E27FC236}">
                <a16:creationId xmlns:a16="http://schemas.microsoft.com/office/drawing/2014/main" id="{9301122E-0E50-D567-491D-5453A4BCD6CF}"/>
              </a:ext>
            </a:extLst>
          </p:cNvPr>
          <p:cNvSpPr txBox="1">
            <a:spLocks noGrp="1" noRot="1" noMove="1" noResize="1" noEditPoints="1" noAdjustHandles="1" noChangeArrowheads="1" noChangeShapeType="1"/>
          </p:cNvSpPr>
          <p:nvPr/>
        </p:nvSpPr>
        <p:spPr>
          <a:xfrm>
            <a:off x="391550" y="5051334"/>
            <a:ext cx="2047875" cy="184666"/>
          </a:xfrm>
          <a:prstGeom prst="rect">
            <a:avLst/>
          </a:prstGeom>
          <a:noFill/>
        </p:spPr>
        <p:txBody>
          <a:bodyPr wrap="square" lIns="0" tIns="0" rIns="0" bIns="0" rtlCol="0" anchor="t">
            <a:spAutoFit/>
          </a:bodyPr>
          <a:lstStyle/>
          <a:p>
            <a:r>
              <a:rPr lang="de-DE" sz="1200" dirty="0">
                <a:solidFill>
                  <a:schemeClr val="accent3"/>
                </a:solidFill>
                <a:sym typeface="Wingdings 2" panose="05020102010507070707" pitchFamily="18" charset="2"/>
              </a:rPr>
              <a:t></a:t>
            </a:r>
            <a:r>
              <a:rPr lang="de-DE" sz="700" dirty="0">
                <a:sym typeface="Wingdings 2" panose="05020102010507070707" pitchFamily="18" charset="2"/>
              </a:rPr>
              <a:t> </a:t>
            </a:r>
            <a:r>
              <a:rPr lang="de-DE" sz="1000" baseline="14000" dirty="0"/>
              <a:t>Musterdepot </a:t>
            </a:r>
            <a:r>
              <a:rPr lang="de-DE" sz="700" dirty="0"/>
              <a:t>     </a:t>
            </a:r>
            <a:r>
              <a:rPr lang="de-DE" sz="1200" dirty="0">
                <a:solidFill>
                  <a:schemeClr val="accent5"/>
                </a:solidFill>
                <a:sym typeface="Wingdings 2" panose="05020102010507070707" pitchFamily="18" charset="2"/>
              </a:rPr>
              <a:t></a:t>
            </a:r>
            <a:r>
              <a:rPr lang="de-DE" sz="700" dirty="0">
                <a:sym typeface="Wingdings 2" panose="05020102010507070707" pitchFamily="18" charset="2"/>
              </a:rPr>
              <a:t> </a:t>
            </a:r>
            <a:r>
              <a:rPr lang="de-DE" sz="1000" baseline="14000" dirty="0">
                <a:sym typeface="Wingdings 2" panose="05020102010507070707" pitchFamily="18" charset="2"/>
              </a:rPr>
              <a:t>Benchmark***</a:t>
            </a:r>
            <a:endParaRPr lang="de-DE" sz="1000" baseline="14000" dirty="0"/>
          </a:p>
        </p:txBody>
      </p:sp>
      <p:graphicFrame>
        <p:nvGraphicFramePr>
          <p:cNvPr id="15" name="Diagramm links">
            <a:extLst>
              <a:ext uri="{FF2B5EF4-FFF2-40B4-BE49-F238E27FC236}">
                <a16:creationId xmlns:a16="http://schemas.microsoft.com/office/drawing/2014/main" id="{35951F35-E8B0-13C5-E1C3-F8D2109CA2BC}"/>
              </a:ext>
            </a:extLst>
          </p:cNvPr>
          <p:cNvGraphicFramePr>
            <a:graphicFrameLocks noGrp="1"/>
          </p:cNvGraphicFramePr>
          <p:nvPr>
            <p:ph type="chart" sz="quarter" idx="14"/>
            <p:extLst>
              <p:ext uri="{D42A27DB-BD31-4B8C-83A1-F6EECF244321}">
                <p14:modId xmlns:p14="http://schemas.microsoft.com/office/powerpoint/2010/main" val="2842412920"/>
              </p:ext>
            </p:extLst>
          </p:nvPr>
        </p:nvGraphicFramePr>
        <p:xfrm>
          <a:off x="349250" y="2679700"/>
          <a:ext cx="3959225"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Header Diagramm links">
            <a:extLst>
              <a:ext uri="{FF2B5EF4-FFF2-40B4-BE49-F238E27FC236}">
                <a16:creationId xmlns:a16="http://schemas.microsoft.com/office/drawing/2014/main" id="{178ED8BE-CAE1-5F72-FDB5-D7E50AFDE2E4}"/>
              </a:ext>
            </a:extLst>
          </p:cNvPr>
          <p:cNvSpPr txBox="1">
            <a:spLocks noGrp="1" noRot="1" noMove="1" noResize="1" noEditPoints="1" noAdjustHandles="1" noChangeArrowheads="1" noChangeShapeType="1"/>
          </p:cNvSpPr>
          <p:nvPr/>
        </p:nvSpPr>
        <p:spPr>
          <a:xfrm>
            <a:off x="358775" y="2679700"/>
            <a:ext cx="3970800" cy="216000"/>
          </a:xfrm>
          <a:prstGeom prst="rect">
            <a:avLst/>
          </a:prstGeom>
          <a:solidFill>
            <a:schemeClr val="accent1"/>
          </a:solidFill>
          <a:ln>
            <a:noFill/>
          </a:ln>
        </p:spPr>
        <p:txBody>
          <a:bodyPr wrap="square" rtlCol="0">
            <a:spAutoFit/>
          </a:bodyPr>
          <a:lstStyle/>
          <a:p>
            <a:r>
              <a:rPr lang="de-DE" sz="900" b="1" cap="all" dirty="0">
                <a:solidFill>
                  <a:schemeClr val="bg1"/>
                </a:solidFill>
              </a:rPr>
              <a:t>PERFORMANCE P.A. (NACH KOSTEN) IM BENCHMARKVERGLEICH</a:t>
            </a:r>
          </a:p>
        </p:txBody>
      </p:sp>
      <p:graphicFrame>
        <p:nvGraphicFramePr>
          <p:cNvPr id="19" name="Tabelle">
            <a:extLst>
              <a:ext uri="{FF2B5EF4-FFF2-40B4-BE49-F238E27FC236}">
                <a16:creationId xmlns:a16="http://schemas.microsoft.com/office/drawing/2014/main" id="{DEA49D10-A23C-5BE0-1C06-2B2957ADF50F}"/>
              </a:ext>
            </a:extLst>
          </p:cNvPr>
          <p:cNvGraphicFramePr>
            <a:graphicFrameLocks noGrp="1" noDrilldown="1" noMove="1" noResize="1"/>
          </p:cNvGraphicFramePr>
          <p:nvPr>
            <p:ph type="tbl" sz="quarter" idx="13"/>
            <p:extLst>
              <p:ext uri="{D42A27DB-BD31-4B8C-83A1-F6EECF244321}">
                <p14:modId xmlns:p14="http://schemas.microsoft.com/office/powerpoint/2010/main" val="1494459409"/>
              </p:ext>
            </p:extLst>
          </p:nvPr>
        </p:nvGraphicFramePr>
        <p:xfrm>
          <a:off x="349250" y="1041400"/>
          <a:ext cx="3967200" cy="1468800"/>
        </p:xfrm>
        <a:graphic>
          <a:graphicData uri="http://schemas.openxmlformats.org/drawingml/2006/table">
            <a:tbl>
              <a:tblPr firstRow="1" bandRow="1">
                <a:tableStyleId>{69012ECD-51FC-41F1-AA8D-1B2483CD663E}</a:tableStyleId>
              </a:tblPr>
              <a:tblGrid>
                <a:gridCol w="2407630">
                  <a:extLst>
                    <a:ext uri="{9D8B030D-6E8A-4147-A177-3AD203B41FA5}">
                      <a16:colId xmlns:a16="http://schemas.microsoft.com/office/drawing/2014/main" val="1715752775"/>
                    </a:ext>
                  </a:extLst>
                </a:gridCol>
                <a:gridCol w="50309">
                  <a:extLst>
                    <a:ext uri="{9D8B030D-6E8A-4147-A177-3AD203B41FA5}">
                      <a16:colId xmlns:a16="http://schemas.microsoft.com/office/drawing/2014/main" val="2276385665"/>
                    </a:ext>
                  </a:extLst>
                </a:gridCol>
                <a:gridCol w="1509261">
                  <a:extLst>
                    <a:ext uri="{9D8B030D-6E8A-4147-A177-3AD203B41FA5}">
                      <a16:colId xmlns:a16="http://schemas.microsoft.com/office/drawing/2014/main" val="296509542"/>
                    </a:ext>
                  </a:extLst>
                </a:gridCol>
              </a:tblGrid>
              <a:tr h="216000">
                <a:tc>
                  <a:txBody>
                    <a:bodyPr/>
                    <a:lstStyle/>
                    <a:p>
                      <a:r>
                        <a:rPr lang="de-DE" sz="900" b="1" cap="all" baseline="0" dirty="0" err="1">
                          <a:solidFill>
                            <a:schemeClr val="bg1"/>
                          </a:solidFill>
                        </a:rPr>
                        <a:t>kennzahlen</a:t>
                      </a:r>
                      <a:endParaRPr lang="de-DE" sz="900" b="1" cap="all" baseline="0" dirty="0">
                        <a:solidFill>
                          <a:schemeClr val="bg1"/>
                        </a:solidFill>
                      </a:endParaRPr>
                    </a:p>
                  </a:txBody>
                  <a:tcPr marL="72000" marR="72000" marT="0" marB="0" anchor="ctr">
                    <a:lnL w="6350" cap="flat" cmpd="sng" algn="ctr">
                      <a:noFill/>
                      <a:prstDash val="solid"/>
                      <a:miter lim="800000"/>
                    </a:lnL>
                    <a:lnR>
                      <a:noFill/>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0" cap="all" baseline="0" dirty="0">
                        <a:solidFill>
                          <a:schemeClr val="bg1"/>
                        </a:solidFill>
                      </a:endParaRPr>
                    </a:p>
                  </a:txBody>
                  <a:tcPr marL="0" marR="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de-DE" sz="900" b="1" cap="all" baseline="0" dirty="0">
                        <a:solidFill>
                          <a:schemeClr val="bg1"/>
                        </a:solidFill>
                      </a:endParaRPr>
                    </a:p>
                  </a:txBody>
                  <a:tcPr marL="72000" marR="72000" marT="0" marB="0" anchor="ctr">
                    <a:lnL>
                      <a:noFill/>
                    </a:lnL>
                    <a:lnR w="6350" cap="flat" cmpd="sng" algn="ctr">
                      <a:noFill/>
                      <a:prstDash val="solid"/>
                      <a:miter lim="800000"/>
                    </a:lnR>
                    <a:lnT w="6350" cap="flat" cmpd="sng" algn="ctr">
                      <a:noFill/>
                      <a:prstDash val="solid"/>
                      <a:miter lim="800000"/>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551644817"/>
                  </a:ext>
                </a:extLst>
              </a:tr>
              <a:tr h="50400">
                <a:tc>
                  <a:txBody>
                    <a:bodyPr/>
                    <a:lstStyle/>
                    <a:p>
                      <a:endParaRPr lang="de-DE" sz="100" b="0" dirty="0"/>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00812378"/>
                  </a:ext>
                </a:extLst>
              </a:tr>
              <a:tr h="288000">
                <a:tc>
                  <a:txBody>
                    <a:bodyPr/>
                    <a:lstStyle/>
                    <a:p>
                      <a:r>
                        <a:rPr lang="de-DE" sz="900" b="0" dirty="0"/>
                        <a:t>Wertentwicklung seit 2015 kumuliert* </a:t>
                      </a:r>
                    </a:p>
                  </a:txBody>
                  <a:tcPr marL="72000" marR="72000" marT="0" marB="0" anchor="ctr">
                    <a:lnL w="6350" cap="flat" cmpd="sng" algn="ctr">
                      <a:noFill/>
                      <a:prstDash val="solid"/>
                      <a:miter lim="800000"/>
                    </a:lnL>
                    <a:lnR>
                      <a:noFill/>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3175" cap="flat" cmpd="sng" algn="ctr">
                      <a:no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56,81%</a:t>
                      </a:r>
                      <a:endParaRPr lang="de-DE" sz="900" b="1" dirty="0"/>
                    </a:p>
                  </a:txBody>
                  <a:tcPr marL="72000" marR="72000" marT="0" marB="0" anchor="ctr">
                    <a:lnL>
                      <a:noFill/>
                    </a:lnL>
                    <a:lnR w="6350" cap="flat" cmpd="sng" algn="ctr">
                      <a:noFill/>
                      <a:prstDash val="solid"/>
                      <a:miter lim="800000"/>
                    </a:lnR>
                    <a:lnT w="3175" cap="flat" cmpd="sng" algn="ctr">
                      <a:no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470595349"/>
                  </a:ext>
                </a:extLst>
              </a:tr>
              <a:tr h="288000">
                <a:tc>
                  <a:txBody>
                    <a:bodyPr/>
                    <a:lstStyle/>
                    <a:p>
                      <a:r>
                        <a:rPr lang="de-DE" sz="900" b="0" dirty="0"/>
                        <a:t>Rendite p.a. seit 2015 nach Kosten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4,35%</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995848646"/>
                  </a:ext>
                </a:extLst>
              </a:tr>
              <a:tr h="288000">
                <a:tc>
                  <a:txBody>
                    <a:bodyPr/>
                    <a:lstStyle/>
                    <a:p>
                      <a:r>
                        <a:rPr lang="de-DE" sz="900" b="0" dirty="0"/>
                        <a:t>Wertentwicklung seit 01.01.2026** </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8,82%</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72306334"/>
                  </a:ext>
                </a:extLst>
              </a:tr>
              <a:tr h="288000">
                <a:tc>
                  <a:txBody>
                    <a:bodyPr/>
                    <a:lstStyle/>
                    <a:p>
                      <a:r>
                        <a:rPr lang="de-DE" sz="900" b="0" dirty="0"/>
                        <a:t>Duration</a:t>
                      </a:r>
                    </a:p>
                  </a:txBody>
                  <a:tcPr marL="72000" marR="72000" marT="0" marB="0" anchor="ctr">
                    <a:lnL w="6350" cap="flat" cmpd="sng" algn="ctr">
                      <a:noFill/>
                      <a:prstDash val="solid"/>
                      <a:miter lim="800000"/>
                    </a:lnL>
                    <a:lnR>
                      <a:noFill/>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de-DE" sz="900" b="0" dirty="0"/>
                    </a:p>
                  </a:txBody>
                  <a:tcPr marL="0" marR="0" marT="0" marB="0" anchor="ctr">
                    <a:lnL>
                      <a:noFill/>
                    </a:lnL>
                    <a:lnR w="6350" cap="flat" cmpd="sng" algn="ctr">
                      <a:noFill/>
                      <a:prstDash val="solid"/>
                      <a:miter lim="800000"/>
                    </a:lnR>
                    <a:lnT w="571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900" b="1"/>
                        <a:t>0,00</a:t>
                      </a:r>
                      <a:endParaRPr lang="de-DE" sz="900" b="1" dirty="0"/>
                    </a:p>
                  </a:txBody>
                  <a:tcPr marL="72000" marR="72000" marT="0" marB="0" anchor="ctr">
                    <a:lnL>
                      <a:noFill/>
                    </a:lnL>
                    <a:lnR w="6350" cap="flat" cmpd="sng" algn="ctr">
                      <a:noFill/>
                      <a:prstDash val="solid"/>
                      <a:miter lim="800000"/>
                    </a:lnR>
                    <a:lnT w="31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914861"/>
                  </a:ext>
                </a:extLst>
              </a:tr>
              <a:tr h="50400">
                <a:tc>
                  <a:txBody>
                    <a:bodyPr/>
                    <a:lstStyle/>
                    <a:p>
                      <a:endParaRPr lang="de-DE" sz="100" b="0" dirty="0"/>
                    </a:p>
                  </a:txBody>
                  <a:tcPr marL="72000" marR="72000" marT="0" marB="0" anchor="ctr">
                    <a:lnL w="6350" cap="flat" cmpd="sng" algn="ctr">
                      <a:noFill/>
                      <a:prstDash val="solid"/>
                      <a:miter lim="800000"/>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100" b="0" dirty="0"/>
                    </a:p>
                  </a:txBody>
                  <a:tcPr marL="0" marR="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de-DE" sz="100" b="1" dirty="0"/>
                    </a:p>
                  </a:txBody>
                  <a:tcPr marL="72000" marR="72000" marT="0" marB="0" anchor="ctr">
                    <a:lnL>
                      <a:noFill/>
                    </a:lnL>
                    <a:lnR w="6350" cap="flat" cmpd="sng" algn="ctr">
                      <a:noFill/>
                      <a:prstDash val="solid"/>
                      <a:miter lim="800000"/>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04175358"/>
                  </a:ext>
                </a:extLst>
              </a:tr>
            </a:tbl>
          </a:graphicData>
        </a:graphic>
      </p:graphicFrame>
      <p:sp>
        <p:nvSpPr>
          <p:cNvPr id="2" name="Titel">
            <a:extLst>
              <a:ext uri="{FF2B5EF4-FFF2-40B4-BE49-F238E27FC236}">
                <a16:creationId xmlns:a16="http://schemas.microsoft.com/office/drawing/2014/main" id="{7571966C-88D6-6951-9A27-024373FE8B15}"/>
              </a:ext>
            </a:extLst>
          </p:cNvPr>
          <p:cNvSpPr>
            <a:spLocks noGrp="1" noRot="1" noMove="1" noResize="1" noEditPoints="1" noAdjustHandles="1" noChangeArrowheads="1" noChangeShapeType="1"/>
          </p:cNvSpPr>
          <p:nvPr>
            <p:ph type="title"/>
          </p:nvPr>
        </p:nvSpPr>
        <p:spPr/>
        <p:txBody>
          <a:bodyPr/>
          <a:lstStyle/>
          <a:p>
            <a:r>
              <a:rPr lang="de-DE" dirty="0"/>
              <a:t>Anlagestrategie ESG-ETF Wachstum| </a:t>
            </a:r>
            <a:r>
              <a:rPr lang="de-DE" b="0" dirty="0"/>
              <a:t>Wertentwicklung</a:t>
            </a:r>
          </a:p>
        </p:txBody>
      </p:sp>
    </p:spTree>
    <p:extLst>
      <p:ext uri="{BB962C8B-B14F-4D97-AF65-F5344CB8AC3E}">
        <p14:creationId xmlns:p14="http://schemas.microsoft.com/office/powerpoint/2010/main" val="348768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97AF718-A759-DBA2-B95F-464EBB96BD5B}"/>
              </a:ext>
            </a:extLst>
          </p:cNvPr>
          <p:cNvSpPr>
            <a:spLocks noGrp="1"/>
          </p:cNvSpPr>
          <p:nvPr>
            <p:ph type="sldNum" sz="quarter" idx="12"/>
          </p:nvPr>
        </p:nvSpPr>
        <p:spPr/>
        <p:txBody>
          <a:bodyPr/>
          <a:lstStyle/>
          <a:p>
            <a:fld id="{3AE71D6B-ACB6-4F4C-A895-DCAEF1760EAA}" type="slidenum">
              <a:rPr lang="de-DE" smtClean="0"/>
              <a:pPr/>
              <a:t>20</a:t>
            </a:fld>
            <a:endParaRPr lang="de-DE" dirty="0"/>
          </a:p>
        </p:txBody>
      </p:sp>
      <p:sp>
        <p:nvSpPr>
          <p:cNvPr id="7" name="Titel 2">
            <a:extLst>
              <a:ext uri="{FF2B5EF4-FFF2-40B4-BE49-F238E27FC236}">
                <a16:creationId xmlns:a16="http://schemas.microsoft.com/office/drawing/2014/main" id="{910BE798-70D4-545D-A4F1-EBD6D771E96A}"/>
              </a:ext>
            </a:extLst>
          </p:cNvPr>
          <p:cNvSpPr>
            <a:spLocks noGrp="1"/>
          </p:cNvSpPr>
          <p:nvPr>
            <p:ph type="title"/>
          </p:nvPr>
        </p:nvSpPr>
        <p:spPr>
          <a:xfrm>
            <a:off x="358775" y="322579"/>
            <a:ext cx="4424240" cy="769903"/>
          </a:xfrm>
        </p:spPr>
        <p:txBody>
          <a:bodyPr/>
          <a:lstStyle/>
          <a:p>
            <a:r>
              <a:rPr lang="de-DE" dirty="0"/>
              <a:t>Wertentwicklung der </a:t>
            </a:r>
            <a:br>
              <a:rPr lang="de-DE" dirty="0"/>
            </a:br>
            <a:r>
              <a:rPr lang="de-DE" dirty="0"/>
              <a:t>ESG-ETF Vermögensverwaltungsstrategien</a:t>
            </a:r>
            <a:br>
              <a:rPr lang="de-DE" dirty="0"/>
            </a:br>
            <a:endParaRPr lang="de-DE" dirty="0">
              <a:highlight>
                <a:srgbClr val="FFFF00"/>
              </a:highlight>
            </a:endParaRPr>
          </a:p>
        </p:txBody>
      </p:sp>
      <p:graphicFrame>
        <p:nvGraphicFramePr>
          <p:cNvPr id="8" name="Tabelle">
            <a:extLst>
              <a:ext uri="{FF2B5EF4-FFF2-40B4-BE49-F238E27FC236}">
                <a16:creationId xmlns:a16="http://schemas.microsoft.com/office/drawing/2014/main" id="{72D5AAAB-CE21-8F0C-96E7-3DA28AFCF258}"/>
              </a:ext>
            </a:extLst>
          </p:cNvPr>
          <p:cNvGraphicFramePr>
            <a:graphicFrameLocks/>
          </p:cNvGraphicFramePr>
          <p:nvPr>
            <p:extLst>
              <p:ext uri="{D42A27DB-BD31-4B8C-83A1-F6EECF244321}">
                <p14:modId xmlns:p14="http://schemas.microsoft.com/office/powerpoint/2010/main" val="2972969794"/>
              </p:ext>
            </p:extLst>
          </p:nvPr>
        </p:nvGraphicFramePr>
        <p:xfrm>
          <a:off x="611247" y="1257899"/>
          <a:ext cx="4863215" cy="3016800"/>
        </p:xfrm>
        <a:graphic>
          <a:graphicData uri="http://schemas.openxmlformats.org/drawingml/2006/table">
            <a:tbl>
              <a:tblPr firstRow="1" bandRow="1">
                <a:tableStyleId>{2D5ABB26-0587-4C30-8999-92F81FD0307C}</a:tableStyleId>
              </a:tblPr>
              <a:tblGrid>
                <a:gridCol w="2234082">
                  <a:extLst>
                    <a:ext uri="{9D8B030D-6E8A-4147-A177-3AD203B41FA5}">
                      <a16:colId xmlns:a16="http://schemas.microsoft.com/office/drawing/2014/main" val="1253444119"/>
                    </a:ext>
                  </a:extLst>
                </a:gridCol>
                <a:gridCol w="50277">
                  <a:extLst>
                    <a:ext uri="{9D8B030D-6E8A-4147-A177-3AD203B41FA5}">
                      <a16:colId xmlns:a16="http://schemas.microsoft.com/office/drawing/2014/main" val="4281156835"/>
                    </a:ext>
                  </a:extLst>
                </a:gridCol>
                <a:gridCol w="50160">
                  <a:extLst>
                    <a:ext uri="{9D8B030D-6E8A-4147-A177-3AD203B41FA5}">
                      <a16:colId xmlns:a16="http://schemas.microsoft.com/office/drawing/2014/main" val="3648185841"/>
                    </a:ext>
                  </a:extLst>
                </a:gridCol>
                <a:gridCol w="50160">
                  <a:extLst>
                    <a:ext uri="{9D8B030D-6E8A-4147-A177-3AD203B41FA5}">
                      <a16:colId xmlns:a16="http://schemas.microsoft.com/office/drawing/2014/main" val="1880432366"/>
                    </a:ext>
                  </a:extLst>
                </a:gridCol>
                <a:gridCol w="1189108">
                  <a:extLst>
                    <a:ext uri="{9D8B030D-6E8A-4147-A177-3AD203B41FA5}">
                      <a16:colId xmlns:a16="http://schemas.microsoft.com/office/drawing/2014/main" val="1976685652"/>
                    </a:ext>
                  </a:extLst>
                </a:gridCol>
                <a:gridCol w="50160">
                  <a:extLst>
                    <a:ext uri="{9D8B030D-6E8A-4147-A177-3AD203B41FA5}">
                      <a16:colId xmlns:a16="http://schemas.microsoft.com/office/drawing/2014/main" val="462972238"/>
                    </a:ext>
                  </a:extLst>
                </a:gridCol>
                <a:gridCol w="1189108">
                  <a:extLst>
                    <a:ext uri="{9D8B030D-6E8A-4147-A177-3AD203B41FA5}">
                      <a16:colId xmlns:a16="http://schemas.microsoft.com/office/drawing/2014/main" val="4117174221"/>
                    </a:ext>
                  </a:extLst>
                </a:gridCol>
                <a:gridCol w="50160">
                  <a:extLst>
                    <a:ext uri="{9D8B030D-6E8A-4147-A177-3AD203B41FA5}">
                      <a16:colId xmlns:a16="http://schemas.microsoft.com/office/drawing/2014/main" val="1267060264"/>
                    </a:ext>
                  </a:extLst>
                </a:gridCol>
              </a:tblGrid>
              <a:tr h="576000">
                <a:tc>
                  <a:txBody>
                    <a:bodyPr/>
                    <a:lstStyle/>
                    <a:p>
                      <a:pPr algn="ctr">
                        <a:lnSpc>
                          <a:spcPct val="100000"/>
                        </a:lnSpc>
                      </a:pPr>
                      <a:r>
                        <a:rPr lang="de-DE" sz="900" b="1" dirty="0">
                          <a:solidFill>
                            <a:schemeClr val="bg1"/>
                          </a:solidFill>
                        </a:rPr>
                        <a:t>Zeitraum</a:t>
                      </a:r>
                    </a:p>
                  </a:txBody>
                  <a:tcPr marL="0" marR="0" marT="0" marB="0" anchor="ctr">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lnSpc>
                          <a:spcPct val="100000"/>
                        </a:lnSpc>
                      </a:pPr>
                      <a:r>
                        <a:rPr lang="de-DE" sz="900" b="1" dirty="0">
                          <a:solidFill>
                            <a:schemeClr val="bg1"/>
                          </a:solidFill>
                        </a:rPr>
                        <a:t>Ausgewogen</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b="1" dirty="0">
                          <a:solidFill>
                            <a:schemeClr val="bg1"/>
                          </a:solidFill>
                        </a:rPr>
                        <a:t>Wachstum</a:t>
                      </a:r>
                    </a:p>
                  </a:txBody>
                  <a:tcPr marL="0" marR="0" marT="0" marB="0" anchor="ctr">
                    <a:lnL>
                      <a:noFill/>
                    </a:lnL>
                    <a:lnR>
                      <a:noFill/>
                    </a:lnR>
                    <a:lnB>
                      <a:noFill/>
                    </a:lnB>
                    <a:solidFill>
                      <a:schemeClr val="accent1"/>
                    </a:solidFill>
                  </a:tcPr>
                </a:tc>
                <a:tc>
                  <a:txBody>
                    <a:bodyPr/>
                    <a:lstStyle/>
                    <a:p>
                      <a:pPr algn="ctr">
                        <a:lnSpc>
                          <a:spcPct val="100000"/>
                        </a:lnSpc>
                      </a:pPr>
                      <a:endParaRPr lang="de-DE" sz="900" b="1" dirty="0">
                        <a:solidFill>
                          <a:schemeClr val="bg1"/>
                        </a:solidFill>
                      </a:endParaRPr>
                    </a:p>
                  </a:txBody>
                  <a:tcPr marL="0" marR="0" marT="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97518336"/>
                  </a:ext>
                </a:extLst>
              </a:tr>
              <a:tr h="50400">
                <a:tc>
                  <a:txBody>
                    <a:bodyPr/>
                    <a:lstStyle/>
                    <a:p>
                      <a:pPr>
                        <a:lnSpc>
                          <a:spcPct val="100000"/>
                        </a:lnSpc>
                      </a:pPr>
                      <a:endParaRPr lang="de-DE" sz="100" b="1" dirty="0"/>
                    </a:p>
                  </a:txBody>
                  <a:tcPr marL="7200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nSpc>
                          <a:spcPct val="100000"/>
                        </a:lnSpc>
                      </a:pPr>
                      <a:endParaRPr lang="de-DE" sz="1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353684"/>
                  </a:ext>
                </a:extLst>
              </a:tr>
              <a:tr h="468000">
                <a:tc>
                  <a:txBody>
                    <a:bodyPr/>
                    <a:lstStyle/>
                    <a:p>
                      <a:pPr>
                        <a:lnSpc>
                          <a:spcPct val="100000"/>
                        </a:lnSpc>
                      </a:pPr>
                      <a:r>
                        <a:rPr lang="de-DE" sz="900" b="1" dirty="0"/>
                        <a:t>YTD Performance</a:t>
                      </a:r>
                    </a:p>
                  </a:txBody>
                  <a:tcPr marL="72000" marR="0" marT="0" marB="0" anchor="ctr">
                    <a:lnR>
                      <a:noFill/>
                    </a:lnR>
                    <a:lnT>
                      <a:noFill/>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4,26%</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8,82%</a:t>
                      </a:r>
                      <a:endParaRPr lang="de-DE" sz="900" dirty="0"/>
                    </a:p>
                  </a:txBody>
                  <a:tcPr marL="0" marR="0" marT="0" marB="0" anchor="ctr">
                    <a:lnL>
                      <a:noFill/>
                    </a:lnL>
                    <a:lnR>
                      <a:noFill/>
                    </a:lnR>
                    <a:lnT>
                      <a:noFill/>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a:noFill/>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0174765"/>
                  </a:ext>
                </a:extLst>
              </a:tr>
              <a:tr h="468000">
                <a:tc>
                  <a:txBody>
                    <a:bodyPr/>
                    <a:lstStyle/>
                    <a:p>
                      <a:pPr>
                        <a:lnSpc>
                          <a:spcPct val="100000"/>
                        </a:lnSpc>
                      </a:pPr>
                      <a:r>
                        <a:rPr lang="de-DE" sz="900" b="1" dirty="0"/>
                        <a:t>1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10,12%</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16,02%</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9901451"/>
                  </a:ext>
                </a:extLst>
              </a:tr>
              <a:tr h="468000">
                <a:tc>
                  <a:txBody>
                    <a:bodyPr/>
                    <a:lstStyle/>
                    <a:p>
                      <a:pPr>
                        <a:lnSpc>
                          <a:spcPct val="100000"/>
                        </a:lnSpc>
                      </a:pPr>
                      <a:r>
                        <a:rPr lang="de-DE" sz="900" b="1" dirty="0"/>
                        <a:t>3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783001" rtl="0" eaLnBrk="1" fontAlgn="auto" latinLnBrk="0" hangingPunct="1">
                        <a:lnSpc>
                          <a:spcPct val="100000"/>
                        </a:lnSpc>
                        <a:spcBef>
                          <a:spcPts val="0"/>
                        </a:spcBef>
                        <a:spcAft>
                          <a:spcPts val="0"/>
                        </a:spcAft>
                        <a:buClrTx/>
                        <a:buSzTx/>
                        <a:buFontTx/>
                        <a:buNone/>
                        <a:tabLst/>
                        <a:defRPr/>
                      </a:pPr>
                      <a:r>
                        <a:rPr lang="de-DE" sz="900"/>
                        <a:t>23,73%</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28,96%</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286276"/>
                  </a:ext>
                </a:extLst>
              </a:tr>
              <a:tr h="468000">
                <a:tc>
                  <a:txBody>
                    <a:bodyPr/>
                    <a:lstStyle/>
                    <a:p>
                      <a:pPr>
                        <a:lnSpc>
                          <a:spcPct val="100000"/>
                        </a:lnSpc>
                      </a:pPr>
                      <a:r>
                        <a:rPr lang="de-DE" sz="900" b="1" dirty="0"/>
                        <a:t>5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16,58%</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24,62%</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52099554"/>
                  </a:ext>
                </a:extLst>
              </a:tr>
              <a:tr h="468000">
                <a:tc>
                  <a:txBody>
                    <a:bodyPr/>
                    <a:lstStyle/>
                    <a:p>
                      <a:pPr>
                        <a:lnSpc>
                          <a:spcPct val="100000"/>
                        </a:lnSpc>
                      </a:pPr>
                      <a:r>
                        <a:rPr lang="de-DE" sz="900" b="1" dirty="0"/>
                        <a:t>10 – Jahres Performance</a:t>
                      </a:r>
                    </a:p>
                  </a:txBody>
                  <a:tcPr marL="72000" marR="0" marT="0" marB="0" anchor="ctr">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nSpc>
                          <a:spcPct val="100000"/>
                        </a:lnSpc>
                      </a:pPr>
                      <a:endParaRPr lang="de-DE" sz="900" dirty="0"/>
                    </a:p>
                  </a:txBody>
                  <a:tcPr marL="0" marR="0" marT="0" marB="0">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b="1"/>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de-DE" sz="900"/>
                        <a:t>-</a:t>
                      </a:r>
                      <a:endParaRPr lang="de-DE" sz="900" dirty="0"/>
                    </a:p>
                  </a:txBody>
                  <a:tcPr marL="0" marR="0" marT="0" marB="0" anchor="ctr">
                    <a:lnL>
                      <a:noFill/>
                    </a:lnL>
                    <a:lnR>
                      <a:noFill/>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algn="ctr">
                        <a:lnSpc>
                          <a:spcPct val="100000"/>
                        </a:lnSpc>
                      </a:pPr>
                      <a:endParaRPr lang="de-DE" sz="900" dirty="0"/>
                    </a:p>
                  </a:txBody>
                  <a:tcPr marL="0" marR="0" marT="0" marB="0" anchor="ctr">
                    <a:lnL>
                      <a:noFill/>
                    </a:lnL>
                    <a:lnR>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7187741"/>
                  </a:ext>
                </a:extLst>
              </a:tr>
              <a:tr h="50400">
                <a:tc>
                  <a:txBody>
                    <a:bodyPr/>
                    <a:lstStyle/>
                    <a:p>
                      <a:pPr>
                        <a:lnSpc>
                          <a:spcPct val="100000"/>
                        </a:lnSpc>
                      </a:pPr>
                      <a:endParaRPr lang="de-DE" sz="100" b="1" dirty="0"/>
                    </a:p>
                  </a:txBody>
                  <a:tcPr marL="72000" marR="0" marT="0" marB="0" anchor="ctr">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nSpc>
                          <a:spcPct val="100000"/>
                        </a:lnSpc>
                      </a:pPr>
                      <a:endParaRPr lang="de-DE" sz="100" dirty="0"/>
                    </a:p>
                  </a:txBody>
                  <a:tcPr marL="0" marR="0" marT="0" marB="0">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b="1"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de-DE" sz="100" dirty="0"/>
                    </a:p>
                  </a:txBody>
                  <a:tcPr marL="0" marR="0" marT="0" marB="0" anchor="ctr">
                    <a:lnL>
                      <a:noFill/>
                    </a:lnL>
                    <a:lnR>
                      <a:noFill/>
                    </a:lnR>
                    <a:lnT w="3175" cap="flat" cmpd="sng" algn="ctr">
                      <a:solidFill>
                        <a:schemeClr val="accent1"/>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c>
                  <a:txBody>
                    <a:bodyPr/>
                    <a:lstStyle/>
                    <a:p>
                      <a:pPr algn="ctr">
                        <a:lnSpc>
                          <a:spcPct val="100000"/>
                        </a:lnSpc>
                      </a:pPr>
                      <a:endParaRPr lang="de-DE" sz="100" dirty="0"/>
                    </a:p>
                  </a:txBody>
                  <a:tcPr marL="0" marR="0" marT="0" marB="0" anchor="ctr">
                    <a:lnL>
                      <a:noFill/>
                    </a:lnL>
                    <a:lnR>
                      <a:noFill/>
                    </a:lnR>
                    <a:lnT w="12700" cap="flat" cmpd="sng" algn="ctr">
                      <a:noFill/>
                      <a:prstDash val="solid"/>
                      <a:round/>
                      <a:headEnd type="none" w="med" len="med"/>
                      <a:tailEnd type="none" w="med" len="med"/>
                    </a:lnT>
                    <a:lnB w="381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7991516"/>
                  </a:ext>
                </a:extLst>
              </a:tr>
            </a:tbl>
          </a:graphicData>
        </a:graphic>
      </p:graphicFrame>
      <p:sp>
        <p:nvSpPr>
          <p:cNvPr id="9" name="Fußnote">
            <a:extLst>
              <a:ext uri="{FF2B5EF4-FFF2-40B4-BE49-F238E27FC236}">
                <a16:creationId xmlns:a16="http://schemas.microsoft.com/office/drawing/2014/main" id="{A7E2BA66-16D3-8994-8D91-5810C213FE02}"/>
              </a:ext>
            </a:extLst>
          </p:cNvPr>
          <p:cNvSpPr txBox="1">
            <a:spLocks/>
          </p:cNvSpPr>
          <p:nvPr/>
        </p:nvSpPr>
        <p:spPr>
          <a:xfrm>
            <a:off x="611247" y="4440116"/>
            <a:ext cx="4863215" cy="1286852"/>
          </a:xfrm>
          <a:prstGeom prst="rect">
            <a:avLst/>
          </a:prstGeom>
        </p:spPr>
        <p:txBody>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sz="600" dirty="0">
                <a:solidFill>
                  <a:srgbClr val="000000"/>
                </a:solidFill>
              </a:rPr>
              <a:t>* Die aufgeführten Zahlen beziehen sich auf die Wertentwicklung in der Vergangenheit. Die Wertentwicklung in der Vergangenheit ist kein zuverlässiger Indikator für die künftige Entwicklung und sollte nicht der alleinige Entscheidungsfaktor bei der Auswahl einer Anlagestrategie sein.  Der unterjährige Performance-Ausweis erfolgt vor Kosten. Die weiteren Performance Angaben wurden nach Kosten berechnet. Sowohl das VV Honorar als auch fremde Spesen und evtl. Produktkosten wurden berücksichtigt.</a:t>
            </a:r>
          </a:p>
          <a:p>
            <a:endParaRPr lang="de-DE" sz="600" dirty="0">
              <a:solidFill>
                <a:srgbClr val="000000"/>
              </a:solidFill>
            </a:endParaRPr>
          </a:p>
        </p:txBody>
      </p:sp>
    </p:spTree>
    <p:extLst>
      <p:ext uri="{BB962C8B-B14F-4D97-AF65-F5344CB8AC3E}">
        <p14:creationId xmlns:p14="http://schemas.microsoft.com/office/powerpoint/2010/main" val="2455796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7E3AD4C-049A-3047-8C54-9FDEF19D9B92}"/>
              </a:ext>
            </a:extLst>
          </p:cNvPr>
          <p:cNvSpPr>
            <a:spLocks noGrp="1"/>
          </p:cNvSpPr>
          <p:nvPr>
            <p:ph type="body" sz="quarter" idx="10"/>
          </p:nvPr>
        </p:nvSpPr>
        <p:spPr>
          <a:xfrm>
            <a:off x="1036594" y="2084366"/>
            <a:ext cx="9056640" cy="1827500"/>
          </a:xfrm>
        </p:spPr>
        <p:txBody>
          <a:bodyPr/>
          <a:lstStyle/>
          <a:p>
            <a:r>
              <a:rPr lang="de-DE" dirty="0"/>
              <a:t>FÜRST FUGGER PRIVATBANK UND IHRE STANDORTE</a:t>
            </a:r>
          </a:p>
        </p:txBody>
      </p:sp>
      <p:sp>
        <p:nvSpPr>
          <p:cNvPr id="3" name="Textplatzhalter 2">
            <a:extLst>
              <a:ext uri="{FF2B5EF4-FFF2-40B4-BE49-F238E27FC236}">
                <a16:creationId xmlns:a16="http://schemas.microsoft.com/office/drawing/2014/main" id="{ECB80284-CCA2-BA4D-AC96-3F110BE2D51C}"/>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1887768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9AD7ED-4161-C343-9493-72A7CE1B7871}"/>
              </a:ext>
            </a:extLst>
          </p:cNvPr>
          <p:cNvSpPr>
            <a:spLocks noGrp="1"/>
          </p:cNvSpPr>
          <p:nvPr>
            <p:ph type="sldNum" sz="quarter" idx="12"/>
          </p:nvPr>
        </p:nvSpPr>
        <p:spPr/>
        <p:txBody>
          <a:bodyPr/>
          <a:lstStyle/>
          <a:p>
            <a:fld id="{3AE71D6B-ACB6-4F4C-A895-DCAEF1760EAA}" type="slidenum">
              <a:rPr lang="de-DE" smtClean="0"/>
              <a:t>22</a:t>
            </a:fld>
            <a:endParaRPr lang="de-DE"/>
          </a:p>
        </p:txBody>
      </p:sp>
      <p:sp>
        <p:nvSpPr>
          <p:cNvPr id="3" name="Titel 2">
            <a:extLst>
              <a:ext uri="{FF2B5EF4-FFF2-40B4-BE49-F238E27FC236}">
                <a16:creationId xmlns:a16="http://schemas.microsoft.com/office/drawing/2014/main" id="{951F26B2-1FA4-CF42-B3BD-96F87C99208D}"/>
              </a:ext>
            </a:extLst>
          </p:cNvPr>
          <p:cNvSpPr>
            <a:spLocks noGrp="1"/>
          </p:cNvSpPr>
          <p:nvPr>
            <p:ph type="title"/>
          </p:nvPr>
        </p:nvSpPr>
        <p:spPr/>
        <p:txBody>
          <a:bodyPr/>
          <a:lstStyle/>
          <a:p>
            <a:r>
              <a:rPr lang="de-DE" dirty="0"/>
              <a:t>Unsere Standorte</a:t>
            </a:r>
          </a:p>
        </p:txBody>
      </p:sp>
      <p:sp>
        <p:nvSpPr>
          <p:cNvPr id="4" name="Textfeld 3">
            <a:extLst>
              <a:ext uri="{FF2B5EF4-FFF2-40B4-BE49-F238E27FC236}">
                <a16:creationId xmlns:a16="http://schemas.microsoft.com/office/drawing/2014/main" id="{CC155EDF-421C-2440-9BC5-EDE77024BB03}"/>
              </a:ext>
            </a:extLst>
          </p:cNvPr>
          <p:cNvSpPr txBox="1"/>
          <p:nvPr/>
        </p:nvSpPr>
        <p:spPr>
          <a:xfrm>
            <a:off x="1724346" y="3706027"/>
            <a:ext cx="2130238" cy="1396536"/>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none" spc="40" baseline="0" dirty="0">
                <a:solidFill>
                  <a:schemeClr val="accent1"/>
                </a:solidFill>
                <a:latin typeface="Noto Sans"/>
                <a:cs typeface="Noto Sans"/>
              </a:rPr>
              <a:t>AUGSBURG</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Maximilianstraße 38</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86150 Augsburg</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0821 32 01 - 999</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0821 32 01 - 271</a:t>
            </a:r>
          </a:p>
        </p:txBody>
      </p:sp>
      <p:sp>
        <p:nvSpPr>
          <p:cNvPr id="6" name="Textfeld 5">
            <a:extLst>
              <a:ext uri="{FF2B5EF4-FFF2-40B4-BE49-F238E27FC236}">
                <a16:creationId xmlns:a16="http://schemas.microsoft.com/office/drawing/2014/main" id="{43EE6D5C-BB8F-8443-BA45-3E06266316B5}"/>
              </a:ext>
            </a:extLst>
          </p:cNvPr>
          <p:cNvSpPr txBox="1"/>
          <p:nvPr/>
        </p:nvSpPr>
        <p:spPr>
          <a:xfrm>
            <a:off x="4179174" y="3706027"/>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Köln</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Im Zollhafen 24</a:t>
            </a:r>
          </a:p>
          <a:p>
            <a:pPr marL="36000" indent="0" algn="ctr">
              <a:lnSpc>
                <a:spcPts val="1020"/>
              </a:lnSpc>
              <a:spcBef>
                <a:spcPts val="0"/>
              </a:spcBef>
              <a:spcAft>
                <a:spcPts val="800"/>
              </a:spcAft>
              <a:buFont typeface="Lucida Grande"/>
              <a:buNone/>
            </a:pPr>
            <a:r>
              <a:rPr lang="de-DE" sz="1200" b="0" i="0" cap="none" spc="0" baseline="0">
                <a:solidFill>
                  <a:schemeClr val="accent1"/>
                </a:solidFill>
                <a:latin typeface="Noto Serif"/>
                <a:cs typeface="Noto Serif"/>
              </a:rPr>
              <a:t>50678 </a:t>
            </a:r>
            <a:r>
              <a:rPr lang="de-DE" sz="1200" b="0" i="0" cap="none" spc="0" baseline="0" dirty="0">
                <a:solidFill>
                  <a:schemeClr val="accent1"/>
                </a:solidFill>
                <a:latin typeface="Noto Serif"/>
                <a:cs typeface="Noto Serif"/>
              </a:rPr>
              <a:t>Köln</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0221 20 65 44 - 20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0221 20 65 44 - 95</a:t>
            </a:r>
          </a:p>
        </p:txBody>
      </p:sp>
      <p:sp>
        <p:nvSpPr>
          <p:cNvPr id="7" name="Textfeld 6">
            <a:extLst>
              <a:ext uri="{FF2B5EF4-FFF2-40B4-BE49-F238E27FC236}">
                <a16:creationId xmlns:a16="http://schemas.microsoft.com/office/drawing/2014/main" id="{04FCE2F7-775C-784B-AED6-7282A7A2836B}"/>
              </a:ext>
            </a:extLst>
          </p:cNvPr>
          <p:cNvSpPr txBox="1"/>
          <p:nvPr/>
        </p:nvSpPr>
        <p:spPr>
          <a:xfrm>
            <a:off x="6605568" y="3706027"/>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Mannheim</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Friedrichsplatz 17</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68165 Mannheim</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0621 43 09 05 - 0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0621 43 09 05 - 90</a:t>
            </a:r>
          </a:p>
        </p:txBody>
      </p:sp>
      <p:grpSp>
        <p:nvGrpSpPr>
          <p:cNvPr id="8" name="Gruppieren 7">
            <a:extLst>
              <a:ext uri="{FF2B5EF4-FFF2-40B4-BE49-F238E27FC236}">
                <a16:creationId xmlns:a16="http://schemas.microsoft.com/office/drawing/2014/main" id="{6C513B55-BADA-FCED-FC8D-3DBC8E238CA1}"/>
              </a:ext>
            </a:extLst>
          </p:cNvPr>
          <p:cNvGrpSpPr/>
          <p:nvPr/>
        </p:nvGrpSpPr>
        <p:grpSpPr>
          <a:xfrm>
            <a:off x="1896896" y="1788403"/>
            <a:ext cx="6645608" cy="1656000"/>
            <a:chOff x="1896896" y="729000"/>
            <a:chExt cx="6645608" cy="1656000"/>
          </a:xfrm>
        </p:grpSpPr>
        <p:pic>
          <p:nvPicPr>
            <p:cNvPr id="9" name="Bild links">
              <a:extLst>
                <a:ext uri="{FF2B5EF4-FFF2-40B4-BE49-F238E27FC236}">
                  <a16:creationId xmlns:a16="http://schemas.microsoft.com/office/drawing/2014/main" id="{5C0489DA-40E3-F844-6DE5-B0406D36BDAB}"/>
                </a:ext>
              </a:extLst>
            </p:cNvPr>
            <p:cNvPicPr>
              <a:picLocks/>
            </p:cNvPicPr>
            <p:nvPr/>
          </p:nvPicPr>
          <p:blipFill>
            <a:blip r:embed="rId2">
              <a:extLst>
                <a:ext uri="{28A0092B-C50C-407E-A947-70E740481C1C}">
                  <a14:useLocalDpi xmlns:a14="http://schemas.microsoft.com/office/drawing/2010/main" val="0"/>
                </a:ext>
              </a:extLst>
            </a:blip>
            <a:srcRect l="16635" r="16635"/>
            <a:stretch>
              <a:fillRect/>
            </a:stretch>
          </p:blipFill>
          <p:spPr>
            <a:xfrm>
              <a:off x="1896896" y="729000"/>
              <a:ext cx="1656000" cy="1656000"/>
            </a:xfrm>
            <a:prstGeom prst="ellipse">
              <a:avLst/>
            </a:prstGeom>
          </p:spPr>
        </p:pic>
        <p:pic>
          <p:nvPicPr>
            <p:cNvPr id="10" name="Bild mitte">
              <a:extLst>
                <a:ext uri="{FF2B5EF4-FFF2-40B4-BE49-F238E27FC236}">
                  <a16:creationId xmlns:a16="http://schemas.microsoft.com/office/drawing/2014/main" id="{AC8797E9-450C-FB37-9811-063C8E0B1F2A}"/>
                </a:ext>
              </a:extLst>
            </p:cNvPr>
            <p:cNvPicPr>
              <a:picLocks/>
            </p:cNvPicPr>
            <p:nvPr/>
          </p:nvPicPr>
          <p:blipFill>
            <a:blip r:embed="rId3">
              <a:extLst>
                <a:ext uri="{28A0092B-C50C-407E-A947-70E740481C1C}">
                  <a14:useLocalDpi xmlns:a14="http://schemas.microsoft.com/office/drawing/2010/main" val="0"/>
                </a:ext>
              </a:extLst>
            </a:blip>
            <a:srcRect l="16699" r="16699"/>
            <a:stretch>
              <a:fillRect/>
            </a:stretch>
          </p:blipFill>
          <p:spPr>
            <a:xfrm>
              <a:off x="4391700" y="729000"/>
              <a:ext cx="1656000" cy="1656000"/>
            </a:xfrm>
            <a:prstGeom prst="ellipse">
              <a:avLst/>
            </a:prstGeom>
          </p:spPr>
        </p:pic>
        <p:pic>
          <p:nvPicPr>
            <p:cNvPr id="11" name="Bild rechts">
              <a:extLst>
                <a:ext uri="{FF2B5EF4-FFF2-40B4-BE49-F238E27FC236}">
                  <a16:creationId xmlns:a16="http://schemas.microsoft.com/office/drawing/2014/main" id="{6552B7C5-280E-3F45-6C29-214223E3ED7E}"/>
                </a:ext>
              </a:extLst>
            </p:cNvPr>
            <p:cNvPicPr>
              <a:picLocks/>
            </p:cNvPicPr>
            <p:nvPr/>
          </p:nvPicPr>
          <p:blipFill>
            <a:blip r:embed="rId4">
              <a:extLst>
                <a:ext uri="{28A0092B-C50C-407E-A947-70E740481C1C}">
                  <a14:useLocalDpi xmlns:a14="http://schemas.microsoft.com/office/drawing/2010/main" val="0"/>
                </a:ext>
              </a:extLst>
            </a:blip>
            <a:srcRect l="14239" r="14239"/>
            <a:stretch>
              <a:fillRect/>
            </a:stretch>
          </p:blipFill>
          <p:spPr>
            <a:xfrm>
              <a:off x="6886504" y="729000"/>
              <a:ext cx="1656000" cy="1656000"/>
            </a:xfrm>
            <a:prstGeom prst="ellipse">
              <a:avLst/>
            </a:prstGeom>
          </p:spPr>
        </p:pic>
      </p:grpSp>
    </p:spTree>
    <p:extLst>
      <p:ext uri="{BB962C8B-B14F-4D97-AF65-F5344CB8AC3E}">
        <p14:creationId xmlns:p14="http://schemas.microsoft.com/office/powerpoint/2010/main" val="533674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B9AD7ED-4161-C343-9493-72A7CE1B7871}"/>
              </a:ext>
            </a:extLst>
          </p:cNvPr>
          <p:cNvSpPr>
            <a:spLocks noGrp="1"/>
          </p:cNvSpPr>
          <p:nvPr>
            <p:ph type="sldNum" sz="quarter" idx="12"/>
          </p:nvPr>
        </p:nvSpPr>
        <p:spPr/>
        <p:txBody>
          <a:bodyPr/>
          <a:lstStyle/>
          <a:p>
            <a:fld id="{3AE71D6B-ACB6-4F4C-A895-DCAEF1760EAA}" type="slidenum">
              <a:rPr lang="de-DE" smtClean="0"/>
              <a:t>23</a:t>
            </a:fld>
            <a:endParaRPr lang="de-DE"/>
          </a:p>
        </p:txBody>
      </p:sp>
      <p:sp>
        <p:nvSpPr>
          <p:cNvPr id="3" name="Titel 2">
            <a:extLst>
              <a:ext uri="{FF2B5EF4-FFF2-40B4-BE49-F238E27FC236}">
                <a16:creationId xmlns:a16="http://schemas.microsoft.com/office/drawing/2014/main" id="{951F26B2-1FA4-CF42-B3BD-96F87C99208D}"/>
              </a:ext>
            </a:extLst>
          </p:cNvPr>
          <p:cNvSpPr>
            <a:spLocks noGrp="1"/>
          </p:cNvSpPr>
          <p:nvPr>
            <p:ph type="title"/>
          </p:nvPr>
        </p:nvSpPr>
        <p:spPr/>
        <p:txBody>
          <a:bodyPr/>
          <a:lstStyle/>
          <a:p>
            <a:r>
              <a:rPr lang="de-DE" dirty="0"/>
              <a:t>Unsere Standorte</a:t>
            </a:r>
          </a:p>
        </p:txBody>
      </p:sp>
      <p:sp>
        <p:nvSpPr>
          <p:cNvPr id="12" name="Textfeld 11">
            <a:extLst>
              <a:ext uri="{FF2B5EF4-FFF2-40B4-BE49-F238E27FC236}">
                <a16:creationId xmlns:a16="http://schemas.microsoft.com/office/drawing/2014/main" id="{806F5079-8C17-A748-B4E6-0257C97714B8}"/>
              </a:ext>
            </a:extLst>
          </p:cNvPr>
          <p:cNvSpPr txBox="1"/>
          <p:nvPr/>
        </p:nvSpPr>
        <p:spPr>
          <a:xfrm>
            <a:off x="1600356" y="3696551"/>
            <a:ext cx="237821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München</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err="1">
                <a:solidFill>
                  <a:schemeClr val="accent1"/>
                </a:solidFill>
                <a:latin typeface="Noto Serif"/>
                <a:cs typeface="Noto Serif"/>
              </a:rPr>
              <a:t>Prannerstraße</a:t>
            </a:r>
            <a:r>
              <a:rPr lang="de-DE" sz="1200" b="0" i="0" cap="none" spc="0" baseline="0">
                <a:solidFill>
                  <a:schemeClr val="accent1"/>
                </a:solidFill>
                <a:latin typeface="Noto Serif"/>
                <a:cs typeface="Noto Serif"/>
              </a:rPr>
              <a:t> 8</a:t>
            </a:r>
            <a:endParaRPr lang="de-DE" sz="1200" b="0" i="0" cap="none" spc="0" baseline="0" dirty="0">
              <a:solidFill>
                <a:schemeClr val="accent1"/>
              </a:solidFill>
              <a:latin typeface="Noto Serif"/>
              <a:cs typeface="Noto Serif"/>
            </a:endParaRP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80333 München</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08929 07 29 - 0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08929 07 29 - 70</a:t>
            </a:r>
          </a:p>
        </p:txBody>
      </p:sp>
      <p:sp>
        <p:nvSpPr>
          <p:cNvPr id="13" name="Textfeld 12">
            <a:extLst>
              <a:ext uri="{FF2B5EF4-FFF2-40B4-BE49-F238E27FC236}">
                <a16:creationId xmlns:a16="http://schemas.microsoft.com/office/drawing/2014/main" id="{CB07010B-B23F-C14D-9B1A-1AB83DCA5AB4}"/>
              </a:ext>
            </a:extLst>
          </p:cNvPr>
          <p:cNvSpPr txBox="1"/>
          <p:nvPr/>
        </p:nvSpPr>
        <p:spPr>
          <a:xfrm>
            <a:off x="4179174" y="3696551"/>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Nürnberg</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Rathenauplatz 2</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90489 Nürnberg</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0911 521 25 - 0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0911 521 25 - 550</a:t>
            </a:r>
          </a:p>
        </p:txBody>
      </p:sp>
      <p:sp>
        <p:nvSpPr>
          <p:cNvPr id="14" name="Textfeld 13">
            <a:extLst>
              <a:ext uri="{FF2B5EF4-FFF2-40B4-BE49-F238E27FC236}">
                <a16:creationId xmlns:a16="http://schemas.microsoft.com/office/drawing/2014/main" id="{092A29A7-2788-7749-9732-41F51BAE98E9}"/>
              </a:ext>
            </a:extLst>
          </p:cNvPr>
          <p:cNvSpPr txBox="1"/>
          <p:nvPr/>
        </p:nvSpPr>
        <p:spPr>
          <a:xfrm>
            <a:off x="6605568" y="3696551"/>
            <a:ext cx="2130238" cy="1370888"/>
          </a:xfrm>
          <a:prstGeom prst="rect">
            <a:avLst/>
          </a:prstGeom>
          <a:noFill/>
        </p:spPr>
        <p:txBody>
          <a:bodyPr wrap="square" lIns="0" tIns="0" rIns="0" bIns="0" numCol="1" spcCol="288000" rtlCol="0">
            <a:spAutoFit/>
          </a:bodyPr>
          <a:lstStyle/>
          <a:p>
            <a:pPr marL="36000" indent="0" algn="ctr">
              <a:lnSpc>
                <a:spcPts val="1120"/>
              </a:lnSpc>
              <a:spcBef>
                <a:spcPts val="0"/>
              </a:spcBef>
              <a:spcAft>
                <a:spcPts val="800"/>
              </a:spcAft>
              <a:buFont typeface="Lucida Grande"/>
              <a:buNone/>
            </a:pPr>
            <a:r>
              <a:rPr lang="de-DE" sz="1400" b="1" i="0" cap="all" spc="40" baseline="0" dirty="0">
                <a:solidFill>
                  <a:schemeClr val="accent1"/>
                </a:solidFill>
                <a:latin typeface="Noto Sans"/>
                <a:cs typeface="Noto Sans"/>
              </a:rPr>
              <a:t>Stuttgart</a:t>
            </a:r>
          </a:p>
          <a:p>
            <a:pPr marL="0" indent="0" algn="ctr">
              <a:lnSpc>
                <a:spcPts val="1020"/>
              </a:lnSpc>
              <a:spcBef>
                <a:spcPts val="400"/>
              </a:spcBef>
              <a:spcAft>
                <a:spcPts val="800"/>
              </a:spcAft>
              <a:buFont typeface="Lucida Grande"/>
              <a:buNone/>
            </a:pPr>
            <a:r>
              <a:rPr lang="de-DE" sz="1200" b="0" i="0" cap="none" spc="0" baseline="0" dirty="0">
                <a:solidFill>
                  <a:schemeClr val="accent1"/>
                </a:solidFill>
                <a:latin typeface="Noto Serif"/>
                <a:cs typeface="Noto Serif"/>
              </a:rPr>
              <a:t>Fürst Fugger Privatbank </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Theodor-Heuss-Str. 9</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70174 Stuttgart</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T 0711 87 03 59 - 0</a:t>
            </a:r>
          </a:p>
          <a:p>
            <a:pPr marL="36000" indent="0" algn="ctr">
              <a:lnSpc>
                <a:spcPts val="1020"/>
              </a:lnSpc>
              <a:spcBef>
                <a:spcPts val="0"/>
              </a:spcBef>
              <a:spcAft>
                <a:spcPts val="800"/>
              </a:spcAft>
              <a:buFont typeface="Lucida Grande"/>
              <a:buNone/>
            </a:pPr>
            <a:r>
              <a:rPr lang="de-DE" sz="1200" b="0" i="0" cap="none" spc="0" baseline="0" dirty="0">
                <a:solidFill>
                  <a:schemeClr val="accent1"/>
                </a:solidFill>
                <a:latin typeface="Noto Serif"/>
                <a:cs typeface="Noto Serif"/>
              </a:rPr>
              <a:t>F 0711 87 03 59 - 15</a:t>
            </a:r>
          </a:p>
        </p:txBody>
      </p:sp>
      <p:grpSp>
        <p:nvGrpSpPr>
          <p:cNvPr id="4" name="Gruppieren 3">
            <a:extLst>
              <a:ext uri="{FF2B5EF4-FFF2-40B4-BE49-F238E27FC236}">
                <a16:creationId xmlns:a16="http://schemas.microsoft.com/office/drawing/2014/main" id="{419D86A5-C203-F26D-44FF-7562A9000EDA}"/>
              </a:ext>
            </a:extLst>
          </p:cNvPr>
          <p:cNvGrpSpPr/>
          <p:nvPr/>
        </p:nvGrpSpPr>
        <p:grpSpPr>
          <a:xfrm>
            <a:off x="1961465" y="1797879"/>
            <a:ext cx="6516470" cy="1656000"/>
            <a:chOff x="1961465" y="1776659"/>
            <a:chExt cx="6516470" cy="1656000"/>
          </a:xfrm>
        </p:grpSpPr>
        <p:pic>
          <p:nvPicPr>
            <p:cNvPr id="5" name="Bild rechts">
              <a:extLst>
                <a:ext uri="{FF2B5EF4-FFF2-40B4-BE49-F238E27FC236}">
                  <a16:creationId xmlns:a16="http://schemas.microsoft.com/office/drawing/2014/main" id="{E4764B8B-044C-6FC4-383E-6C1A134DFF6B}"/>
                </a:ext>
              </a:extLst>
            </p:cNvPr>
            <p:cNvPicPr>
              <a:picLocks/>
            </p:cNvPicPr>
            <p:nvPr/>
          </p:nvPicPr>
          <p:blipFill>
            <a:blip r:embed="rId2">
              <a:extLst>
                <a:ext uri="{28A0092B-C50C-407E-A947-70E740481C1C}">
                  <a14:useLocalDpi xmlns:a14="http://schemas.microsoft.com/office/drawing/2010/main" val="0"/>
                </a:ext>
              </a:extLst>
            </a:blip>
            <a:srcRect l="16699" r="16699"/>
            <a:stretch>
              <a:fillRect/>
            </a:stretch>
          </p:blipFill>
          <p:spPr>
            <a:xfrm>
              <a:off x="6821935" y="1776659"/>
              <a:ext cx="1656000" cy="1656000"/>
            </a:xfrm>
            <a:prstGeom prst="ellipse">
              <a:avLst/>
            </a:prstGeom>
          </p:spPr>
        </p:pic>
        <p:pic>
          <p:nvPicPr>
            <p:cNvPr id="6" name="Bild mitte">
              <a:extLst>
                <a:ext uri="{FF2B5EF4-FFF2-40B4-BE49-F238E27FC236}">
                  <a16:creationId xmlns:a16="http://schemas.microsoft.com/office/drawing/2014/main" id="{192D9ACE-BFBE-95A4-7120-8B4341C9DE26}"/>
                </a:ext>
              </a:extLst>
            </p:cNvPr>
            <p:cNvPicPr>
              <a:picLocks/>
            </p:cNvPicPr>
            <p:nvPr/>
          </p:nvPicPr>
          <p:blipFill>
            <a:blip r:embed="rId3">
              <a:extLst>
                <a:ext uri="{28A0092B-C50C-407E-A947-70E740481C1C}">
                  <a14:useLocalDpi xmlns:a14="http://schemas.microsoft.com/office/drawing/2010/main" val="0"/>
                </a:ext>
              </a:extLst>
            </a:blip>
            <a:srcRect l="16661" r="16661"/>
            <a:stretch>
              <a:fillRect/>
            </a:stretch>
          </p:blipFill>
          <p:spPr>
            <a:xfrm>
              <a:off x="4391700" y="1776659"/>
              <a:ext cx="1656000" cy="1656000"/>
            </a:xfrm>
            <a:prstGeom prst="ellipse">
              <a:avLst/>
            </a:prstGeom>
          </p:spPr>
        </p:pic>
        <p:pic>
          <p:nvPicPr>
            <p:cNvPr id="7" name="Bild links">
              <a:extLst>
                <a:ext uri="{FF2B5EF4-FFF2-40B4-BE49-F238E27FC236}">
                  <a16:creationId xmlns:a16="http://schemas.microsoft.com/office/drawing/2014/main" id="{047F1AA1-5181-0602-4FB5-195FC94E7C21}"/>
                </a:ext>
              </a:extLst>
            </p:cNvPr>
            <p:cNvPicPr>
              <a:picLocks/>
            </p:cNvPicPr>
            <p:nvPr/>
          </p:nvPicPr>
          <p:blipFill>
            <a:blip r:embed="rId4">
              <a:extLst>
                <a:ext uri="{28A0092B-C50C-407E-A947-70E740481C1C}">
                  <a14:useLocalDpi xmlns:a14="http://schemas.microsoft.com/office/drawing/2010/main" val="0"/>
                </a:ext>
              </a:extLst>
            </a:blip>
            <a:srcRect l="16629" r="16629"/>
            <a:stretch>
              <a:fillRect/>
            </a:stretch>
          </p:blipFill>
          <p:spPr>
            <a:xfrm>
              <a:off x="1961465" y="1776659"/>
              <a:ext cx="1656000" cy="1656000"/>
            </a:xfrm>
            <a:prstGeom prst="ellipse">
              <a:avLst/>
            </a:prstGeom>
          </p:spPr>
        </p:pic>
      </p:grpSp>
    </p:spTree>
    <p:extLst>
      <p:ext uri="{BB962C8B-B14F-4D97-AF65-F5344CB8AC3E}">
        <p14:creationId xmlns:p14="http://schemas.microsoft.com/office/powerpoint/2010/main" val="2848137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CCD8A6D2-5907-5645-B842-365A15B542E5}"/>
              </a:ext>
            </a:extLst>
          </p:cNvPr>
          <p:cNvSpPr>
            <a:spLocks noGrp="1"/>
          </p:cNvSpPr>
          <p:nvPr>
            <p:ph type="body" sz="quarter" idx="10"/>
          </p:nvPr>
        </p:nvSpPr>
        <p:spPr/>
        <p:txBody>
          <a:bodyPr/>
          <a:lstStyle/>
          <a:p>
            <a:r>
              <a:rPr lang="de-DE" dirty="0"/>
              <a:t>ANLAGE</a:t>
            </a:r>
          </a:p>
        </p:txBody>
      </p:sp>
      <p:sp>
        <p:nvSpPr>
          <p:cNvPr id="3" name="Textplatzhalter 2">
            <a:extLst>
              <a:ext uri="{FF2B5EF4-FFF2-40B4-BE49-F238E27FC236}">
                <a16:creationId xmlns:a16="http://schemas.microsoft.com/office/drawing/2014/main" id="{76E093EA-4A69-8545-951A-A23B1BFC1A3A}"/>
              </a:ext>
            </a:extLst>
          </p:cNvPr>
          <p:cNvSpPr>
            <a:spLocks noGrp="1"/>
          </p:cNvSpPr>
          <p:nvPr>
            <p:ph type="body" sz="quarter" idx="11"/>
          </p:nvPr>
        </p:nvSpPr>
        <p:spPr/>
        <p:txBody>
          <a:bodyPr/>
          <a:lstStyle/>
          <a:p>
            <a:endParaRPr lang="de-DE"/>
          </a:p>
        </p:txBody>
      </p:sp>
    </p:spTree>
    <p:extLst>
      <p:ext uri="{BB962C8B-B14F-4D97-AF65-F5344CB8AC3E}">
        <p14:creationId xmlns:p14="http://schemas.microsoft.com/office/powerpoint/2010/main" val="3247112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4D79B4F-FB47-5E42-8701-6714307B9EAC}"/>
              </a:ext>
            </a:extLst>
          </p:cNvPr>
          <p:cNvSpPr>
            <a:spLocks noGrp="1"/>
          </p:cNvSpPr>
          <p:nvPr>
            <p:ph type="sldNum" sz="quarter" idx="12"/>
          </p:nvPr>
        </p:nvSpPr>
        <p:spPr/>
        <p:txBody>
          <a:bodyPr/>
          <a:lstStyle/>
          <a:p>
            <a:fld id="{3AE71D6B-ACB6-4F4C-A895-DCAEF1760EAA}" type="slidenum">
              <a:rPr lang="de-DE" smtClean="0"/>
              <a:t>25</a:t>
            </a:fld>
            <a:endParaRPr lang="de-DE"/>
          </a:p>
        </p:txBody>
      </p:sp>
      <p:sp>
        <p:nvSpPr>
          <p:cNvPr id="4" name="Textplatzhalter 3">
            <a:extLst>
              <a:ext uri="{FF2B5EF4-FFF2-40B4-BE49-F238E27FC236}">
                <a16:creationId xmlns:a16="http://schemas.microsoft.com/office/drawing/2014/main" id="{F3F0F8FF-5F98-414C-AA4C-EE5E7C8A69CD}"/>
              </a:ext>
            </a:extLst>
          </p:cNvPr>
          <p:cNvSpPr>
            <a:spLocks noGrp="1"/>
          </p:cNvSpPr>
          <p:nvPr>
            <p:ph type="body" sz="quarter" idx="13"/>
          </p:nvPr>
        </p:nvSpPr>
        <p:spPr/>
        <p:txBody>
          <a:bodyPr/>
          <a:lstStyle/>
          <a:p>
            <a:pPr marL="0" indent="0">
              <a:buNone/>
            </a:pPr>
            <a:r>
              <a:rPr lang="de-DE" sz="1100" b="0" dirty="0">
                <a:solidFill>
                  <a:schemeClr val="accent1"/>
                </a:solidFill>
                <a:latin typeface="+mj-lt"/>
              </a:rPr>
              <a:t>Die Kombination verschiedener Anlageklassen – je nach individueller Risikobereitschaft – ermöglicht eine valide Portfoliodiversifikation, mit dem Ziel, auftretenden Marktvolatilitäten entgegenzuwirken. Dies kann durch unterschiedliche Finanzinstrumente erfolgen.  </a:t>
            </a:r>
          </a:p>
        </p:txBody>
      </p:sp>
      <p:sp>
        <p:nvSpPr>
          <p:cNvPr id="5" name="Titel 4">
            <a:extLst>
              <a:ext uri="{FF2B5EF4-FFF2-40B4-BE49-F238E27FC236}">
                <a16:creationId xmlns:a16="http://schemas.microsoft.com/office/drawing/2014/main" id="{537A3C45-7FF2-434E-8D23-48D2A77104A8}"/>
              </a:ext>
            </a:extLst>
          </p:cNvPr>
          <p:cNvSpPr>
            <a:spLocks noGrp="1"/>
          </p:cNvSpPr>
          <p:nvPr>
            <p:ph type="title"/>
          </p:nvPr>
        </p:nvSpPr>
        <p:spPr/>
        <p:txBody>
          <a:bodyPr/>
          <a:lstStyle/>
          <a:p>
            <a:r>
              <a:rPr lang="de-DE" dirty="0"/>
              <a:t>Anlageklassen und Ausgestaltung</a:t>
            </a:r>
          </a:p>
        </p:txBody>
      </p:sp>
      <p:graphicFrame>
        <p:nvGraphicFramePr>
          <p:cNvPr id="8" name="Tabelle 6">
            <a:extLst>
              <a:ext uri="{FF2B5EF4-FFF2-40B4-BE49-F238E27FC236}">
                <a16:creationId xmlns:a16="http://schemas.microsoft.com/office/drawing/2014/main" id="{E76E2850-91AE-F549-801B-B0DFAD1D6372}"/>
              </a:ext>
            </a:extLst>
          </p:cNvPr>
          <p:cNvGraphicFramePr>
            <a:graphicFrameLocks/>
          </p:cNvGraphicFramePr>
          <p:nvPr>
            <p:extLst>
              <p:ext uri="{D42A27DB-BD31-4B8C-83A1-F6EECF244321}">
                <p14:modId xmlns:p14="http://schemas.microsoft.com/office/powerpoint/2010/main" val="1136580470"/>
              </p:ext>
            </p:extLst>
          </p:nvPr>
        </p:nvGraphicFramePr>
        <p:xfrm>
          <a:off x="3671888" y="1041400"/>
          <a:ext cx="6468103" cy="3656012"/>
        </p:xfrm>
        <a:graphic>
          <a:graphicData uri="http://schemas.openxmlformats.org/drawingml/2006/table">
            <a:tbl>
              <a:tblPr firstRow="1" bandRow="1">
                <a:tableStyleId>{5C22544A-7EE6-4342-B048-85BDC9FD1C3A}</a:tableStyleId>
              </a:tblPr>
              <a:tblGrid>
                <a:gridCol w="2771511">
                  <a:extLst>
                    <a:ext uri="{9D8B030D-6E8A-4147-A177-3AD203B41FA5}">
                      <a16:colId xmlns:a16="http://schemas.microsoft.com/office/drawing/2014/main" val="936113419"/>
                    </a:ext>
                  </a:extLst>
                </a:gridCol>
                <a:gridCol w="3696592">
                  <a:extLst>
                    <a:ext uri="{9D8B030D-6E8A-4147-A177-3AD203B41FA5}">
                      <a16:colId xmlns:a16="http://schemas.microsoft.com/office/drawing/2014/main" val="798533310"/>
                    </a:ext>
                  </a:extLst>
                </a:gridCol>
              </a:tblGrid>
              <a:tr h="369756">
                <a:tc>
                  <a:txBody>
                    <a:bodyPr/>
                    <a:lstStyle/>
                    <a:p>
                      <a:pPr algn="l"/>
                      <a:r>
                        <a:rPr lang="de-DE" sz="1100" dirty="0">
                          <a:latin typeface="+mn-lt"/>
                        </a:rPr>
                        <a:t>Anlageklasse </a:t>
                      </a:r>
                    </a:p>
                  </a:txBody>
                  <a:tcPr marL="98466" marR="98466" marT="49233" marB="49233"/>
                </a:tc>
                <a:tc>
                  <a:txBody>
                    <a:bodyPr/>
                    <a:lstStyle/>
                    <a:p>
                      <a:pPr algn="l"/>
                      <a:r>
                        <a:rPr lang="de-DE" sz="1100" dirty="0">
                          <a:latin typeface="+mn-lt"/>
                        </a:rPr>
                        <a:t>Anlagelösung</a:t>
                      </a:r>
                    </a:p>
                  </a:txBody>
                  <a:tcPr marL="98466" marR="98466" marT="49233" marB="49233"/>
                </a:tc>
                <a:extLst>
                  <a:ext uri="{0D108BD9-81ED-4DB2-BD59-A6C34878D82A}">
                    <a16:rowId xmlns:a16="http://schemas.microsoft.com/office/drawing/2014/main" val="335809345"/>
                  </a:ext>
                </a:extLst>
              </a:tr>
              <a:tr h="403186">
                <a:tc>
                  <a:txBody>
                    <a:bodyPr/>
                    <a:lstStyle/>
                    <a:p>
                      <a:pPr algn="l"/>
                      <a:r>
                        <a:rPr lang="de-DE" sz="1100" dirty="0">
                          <a:solidFill>
                            <a:schemeClr val="accent1"/>
                          </a:solidFill>
                          <a:latin typeface="+mn-lt"/>
                        </a:rPr>
                        <a:t>Liquidität</a:t>
                      </a:r>
                    </a:p>
                  </a:txBody>
                  <a:tcPr marL="98466" marR="98466" marT="49233" marB="49233">
                    <a:noFill/>
                  </a:tcPr>
                </a:tc>
                <a:tc>
                  <a:txBody>
                    <a:bodyPr/>
                    <a:lstStyle/>
                    <a:p>
                      <a:pPr marL="171450" indent="-171450" algn="l">
                        <a:buFont typeface="Arial" panose="020B0604020202020204" pitchFamily="34" charset="0"/>
                        <a:buChar char="•"/>
                      </a:pPr>
                      <a:r>
                        <a:rPr lang="de-DE" sz="1100" dirty="0" err="1">
                          <a:solidFill>
                            <a:schemeClr val="accent1"/>
                          </a:solidFill>
                          <a:latin typeface="+mn-lt"/>
                        </a:rPr>
                        <a:t>Cashbestand</a:t>
                      </a:r>
                      <a:r>
                        <a:rPr lang="de-DE" sz="1100" dirty="0">
                          <a:solidFill>
                            <a:schemeClr val="accent1"/>
                          </a:solidFill>
                          <a:latin typeface="+mn-lt"/>
                        </a:rPr>
                        <a:t>/Kontoguthaben</a:t>
                      </a:r>
                    </a:p>
                  </a:txBody>
                  <a:tcPr marL="98466" marR="98466" marT="49233" marB="49233">
                    <a:noFill/>
                  </a:tcPr>
                </a:tc>
                <a:extLst>
                  <a:ext uri="{0D108BD9-81ED-4DB2-BD59-A6C34878D82A}">
                    <a16:rowId xmlns:a16="http://schemas.microsoft.com/office/drawing/2014/main" val="1873629640"/>
                  </a:ext>
                </a:extLst>
              </a:tr>
              <a:tr h="1100874">
                <a:tc>
                  <a:txBody>
                    <a:bodyPr/>
                    <a:lstStyle/>
                    <a:p>
                      <a:pPr algn="l"/>
                      <a:r>
                        <a:rPr lang="de-DE" sz="1100" dirty="0">
                          <a:solidFill>
                            <a:schemeClr val="accent1"/>
                          </a:solidFill>
                          <a:latin typeface="+mn-lt"/>
                        </a:rPr>
                        <a:t>Anleihen</a:t>
                      </a:r>
                    </a:p>
                  </a:txBody>
                  <a:tcPr marL="98466" marR="98466" marT="49233" marB="49233">
                    <a:solidFill>
                      <a:schemeClr val="bg1">
                        <a:lumMod val="95000"/>
                      </a:schemeClr>
                    </a:solidFill>
                  </a:tcPr>
                </a:tc>
                <a:tc>
                  <a:txBody>
                    <a:bodyPr/>
                    <a:lstStyle/>
                    <a:p>
                      <a:pPr marL="171450" indent="-171450" algn="l">
                        <a:buFont typeface="Arial" panose="020B0604020202020204" pitchFamily="34" charset="0"/>
                        <a:buChar char="•"/>
                      </a:pPr>
                      <a:r>
                        <a:rPr lang="de-DE" sz="1100" dirty="0">
                          <a:solidFill>
                            <a:schemeClr val="accent1"/>
                          </a:solidFill>
                          <a:latin typeface="+mn-lt"/>
                        </a:rPr>
                        <a:t>Staatsanleihen</a:t>
                      </a:r>
                    </a:p>
                    <a:p>
                      <a:pPr marL="171450" indent="-171450" algn="l">
                        <a:buFont typeface="Arial" panose="020B0604020202020204" pitchFamily="34" charset="0"/>
                        <a:buChar char="•"/>
                      </a:pPr>
                      <a:r>
                        <a:rPr lang="de-DE" sz="1100" dirty="0">
                          <a:solidFill>
                            <a:schemeClr val="accent1"/>
                          </a:solidFill>
                          <a:latin typeface="+mn-lt"/>
                        </a:rPr>
                        <a:t>Pfandbriefe</a:t>
                      </a:r>
                    </a:p>
                    <a:p>
                      <a:pPr marL="171450" indent="-171450" algn="l">
                        <a:buFont typeface="Arial" panose="020B0604020202020204" pitchFamily="34" charset="0"/>
                        <a:buChar char="•"/>
                      </a:pPr>
                      <a:r>
                        <a:rPr lang="de-DE" sz="1100" dirty="0">
                          <a:solidFill>
                            <a:schemeClr val="accent1"/>
                          </a:solidFill>
                          <a:latin typeface="+mn-lt"/>
                        </a:rPr>
                        <a:t>Unternehmens-/Bankanleihen</a:t>
                      </a:r>
                    </a:p>
                    <a:p>
                      <a:pPr marL="171450" indent="-171450" algn="l">
                        <a:buFont typeface="Arial" panose="020B0604020202020204" pitchFamily="34" charset="0"/>
                        <a:buChar char="•"/>
                      </a:pPr>
                      <a:r>
                        <a:rPr lang="de-DE" sz="1100" dirty="0">
                          <a:solidFill>
                            <a:schemeClr val="accent1"/>
                          </a:solidFill>
                          <a:latin typeface="+mn-lt"/>
                        </a:rPr>
                        <a:t>Strukturierte Anleihen</a:t>
                      </a:r>
                    </a:p>
                    <a:p>
                      <a:pPr marL="171450" indent="-171450" algn="l">
                        <a:buFont typeface="Arial" panose="020B0604020202020204" pitchFamily="34" charset="0"/>
                        <a:buChar char="•"/>
                      </a:pPr>
                      <a:r>
                        <a:rPr lang="de-DE" sz="1100" dirty="0">
                          <a:solidFill>
                            <a:schemeClr val="accent1"/>
                          </a:solidFill>
                          <a:latin typeface="+mn-lt"/>
                        </a:rPr>
                        <a:t>Investmentfonds (Sonderthemen)</a:t>
                      </a:r>
                    </a:p>
                  </a:txBody>
                  <a:tcPr marL="98466" marR="98466" marT="49233" marB="49233">
                    <a:solidFill>
                      <a:schemeClr val="bg1">
                        <a:lumMod val="95000"/>
                      </a:schemeClr>
                    </a:solidFill>
                  </a:tcPr>
                </a:tc>
                <a:extLst>
                  <a:ext uri="{0D108BD9-81ED-4DB2-BD59-A6C34878D82A}">
                    <a16:rowId xmlns:a16="http://schemas.microsoft.com/office/drawing/2014/main" val="528536032"/>
                  </a:ext>
                </a:extLst>
              </a:tr>
              <a:tr h="874122">
                <a:tc>
                  <a:txBody>
                    <a:bodyPr/>
                    <a:lstStyle/>
                    <a:p>
                      <a:pPr algn="l"/>
                      <a:r>
                        <a:rPr lang="de-DE" sz="1100" dirty="0">
                          <a:solidFill>
                            <a:schemeClr val="accent1"/>
                          </a:solidFill>
                          <a:latin typeface="+mn-lt"/>
                        </a:rPr>
                        <a:t>Aktien</a:t>
                      </a:r>
                    </a:p>
                  </a:txBody>
                  <a:tcPr marL="98466" marR="98466" marT="49233" marB="49233">
                    <a:noFill/>
                  </a:tcPr>
                </a:tc>
                <a:tc>
                  <a:txBody>
                    <a:bodyPr/>
                    <a:lstStyle/>
                    <a:p>
                      <a:pPr marL="171450" indent="-171450" algn="l">
                        <a:buFont typeface="Arial" panose="020B0604020202020204" pitchFamily="34" charset="0"/>
                        <a:buChar char="•"/>
                      </a:pPr>
                      <a:r>
                        <a:rPr lang="de-DE" sz="1100" dirty="0">
                          <a:solidFill>
                            <a:schemeClr val="accent1"/>
                          </a:solidFill>
                          <a:latin typeface="+mn-lt"/>
                        </a:rPr>
                        <a:t>Einzeltitel</a:t>
                      </a:r>
                    </a:p>
                    <a:p>
                      <a:pPr marL="171450" indent="-171450" algn="l">
                        <a:buFont typeface="Arial" panose="020B0604020202020204" pitchFamily="34" charset="0"/>
                        <a:buChar char="•"/>
                      </a:pPr>
                      <a:r>
                        <a:rPr lang="de-DE" sz="1100" dirty="0">
                          <a:solidFill>
                            <a:schemeClr val="accent1"/>
                          </a:solidFill>
                          <a:latin typeface="+mn-lt"/>
                        </a:rPr>
                        <a:t>ETFs</a:t>
                      </a:r>
                    </a:p>
                    <a:p>
                      <a:pPr marL="171450" indent="-171450" algn="l">
                        <a:buFont typeface="Arial" panose="020B0604020202020204" pitchFamily="34" charset="0"/>
                        <a:buChar char="•"/>
                      </a:pPr>
                      <a:r>
                        <a:rPr lang="de-DE" sz="1100" dirty="0">
                          <a:solidFill>
                            <a:schemeClr val="accent1"/>
                          </a:solidFill>
                          <a:latin typeface="+mn-lt"/>
                        </a:rPr>
                        <a:t>Investmentfonds (Sonderthemen) </a:t>
                      </a:r>
                    </a:p>
                    <a:p>
                      <a:pPr marL="171450" indent="-171450" algn="l">
                        <a:buFont typeface="Arial" panose="020B0604020202020204" pitchFamily="34" charset="0"/>
                        <a:buChar char="•"/>
                      </a:pPr>
                      <a:r>
                        <a:rPr lang="de-DE" sz="1100" dirty="0">
                          <a:solidFill>
                            <a:schemeClr val="accent1"/>
                          </a:solidFill>
                          <a:latin typeface="+mn-lt"/>
                        </a:rPr>
                        <a:t>Rohstoffaktien</a:t>
                      </a:r>
                    </a:p>
                  </a:txBody>
                  <a:tcPr marL="98466" marR="98466" marT="49233" marB="49233">
                    <a:noFill/>
                  </a:tcPr>
                </a:tc>
                <a:extLst>
                  <a:ext uri="{0D108BD9-81ED-4DB2-BD59-A6C34878D82A}">
                    <a16:rowId xmlns:a16="http://schemas.microsoft.com/office/drawing/2014/main" val="93224363"/>
                  </a:ext>
                </a:extLst>
              </a:tr>
              <a:tr h="536741">
                <a:tc>
                  <a:txBody>
                    <a:bodyPr/>
                    <a:lstStyle/>
                    <a:p>
                      <a:pPr algn="l"/>
                      <a:r>
                        <a:rPr lang="de-DE" sz="1100" dirty="0">
                          <a:solidFill>
                            <a:schemeClr val="accent1"/>
                          </a:solidFill>
                          <a:latin typeface="+mn-lt"/>
                        </a:rPr>
                        <a:t>Risikoadjustierte Produkte</a:t>
                      </a:r>
                    </a:p>
                  </a:txBody>
                  <a:tcPr marL="98466" marR="98466" marT="49233" marB="49233">
                    <a:solidFill>
                      <a:schemeClr val="bg1">
                        <a:lumMod val="95000"/>
                      </a:schemeClr>
                    </a:solidFill>
                  </a:tcPr>
                </a:tc>
                <a:tc>
                  <a:txBody>
                    <a:bodyPr/>
                    <a:lstStyle/>
                    <a:p>
                      <a:pPr marL="171450" indent="-171450" algn="l">
                        <a:buFont typeface="Arial" panose="020B0604020202020204" pitchFamily="34" charset="0"/>
                        <a:buChar char="•"/>
                      </a:pPr>
                      <a:r>
                        <a:rPr lang="de-DE" sz="1100" dirty="0">
                          <a:solidFill>
                            <a:schemeClr val="accent1"/>
                          </a:solidFill>
                          <a:latin typeface="+mn-lt"/>
                        </a:rPr>
                        <a:t>Discountzertifikate</a:t>
                      </a:r>
                    </a:p>
                    <a:p>
                      <a:pPr marL="171450" indent="-171450" algn="l">
                        <a:buFont typeface="Arial" panose="020B0604020202020204" pitchFamily="34" charset="0"/>
                        <a:buChar char="•"/>
                      </a:pPr>
                      <a:r>
                        <a:rPr lang="de-DE" sz="1100" dirty="0">
                          <a:solidFill>
                            <a:schemeClr val="accent1"/>
                          </a:solidFill>
                          <a:latin typeface="+mn-lt"/>
                        </a:rPr>
                        <a:t>Aktienanleihen</a:t>
                      </a:r>
                    </a:p>
                  </a:txBody>
                  <a:tcPr marL="98466" marR="98466" marT="49233" marB="49233">
                    <a:solidFill>
                      <a:schemeClr val="bg1">
                        <a:lumMod val="95000"/>
                      </a:schemeClr>
                    </a:solidFill>
                  </a:tcPr>
                </a:tc>
                <a:extLst>
                  <a:ext uri="{0D108BD9-81ED-4DB2-BD59-A6C34878D82A}">
                    <a16:rowId xmlns:a16="http://schemas.microsoft.com/office/drawing/2014/main" val="2867354792"/>
                  </a:ext>
                </a:extLst>
              </a:tr>
              <a:tr h="371333">
                <a:tc>
                  <a:txBody>
                    <a:bodyPr/>
                    <a:lstStyle/>
                    <a:p>
                      <a:pPr algn="l"/>
                      <a:r>
                        <a:rPr lang="de-DE" sz="1100" dirty="0">
                          <a:solidFill>
                            <a:schemeClr val="accent1"/>
                          </a:solidFill>
                          <a:latin typeface="+mn-lt"/>
                        </a:rPr>
                        <a:t>Edelmetalle</a:t>
                      </a:r>
                    </a:p>
                  </a:txBody>
                  <a:tcPr marL="98466" marR="98466" marT="49233" marB="49233">
                    <a:noFill/>
                  </a:tcPr>
                </a:tc>
                <a:tc>
                  <a:txBody>
                    <a:bodyPr/>
                    <a:lstStyle/>
                    <a:p>
                      <a:pPr marL="171450" indent="-171450" algn="l">
                        <a:buFont typeface="Arial" panose="020B0604020202020204" pitchFamily="34" charset="0"/>
                        <a:buChar char="•"/>
                      </a:pPr>
                      <a:r>
                        <a:rPr lang="de-DE" sz="1100" dirty="0">
                          <a:solidFill>
                            <a:schemeClr val="accent1"/>
                          </a:solidFill>
                          <a:latin typeface="+mn-lt"/>
                        </a:rPr>
                        <a:t>ETCs auf Edelmetalle</a:t>
                      </a:r>
                    </a:p>
                  </a:txBody>
                  <a:tcPr marL="98466" marR="98466" marT="49233" marB="49233">
                    <a:noFill/>
                  </a:tcPr>
                </a:tc>
                <a:extLst>
                  <a:ext uri="{0D108BD9-81ED-4DB2-BD59-A6C34878D82A}">
                    <a16:rowId xmlns:a16="http://schemas.microsoft.com/office/drawing/2014/main" val="1050036542"/>
                  </a:ext>
                </a:extLst>
              </a:tr>
            </a:tbl>
          </a:graphicData>
        </a:graphic>
      </p:graphicFrame>
    </p:spTree>
    <p:extLst>
      <p:ext uri="{BB962C8B-B14F-4D97-AF65-F5344CB8AC3E}">
        <p14:creationId xmlns:p14="http://schemas.microsoft.com/office/powerpoint/2010/main" val="524433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4D79B4F-FB47-5E42-8701-6714307B9EAC}"/>
              </a:ext>
            </a:extLst>
          </p:cNvPr>
          <p:cNvSpPr>
            <a:spLocks noGrp="1"/>
          </p:cNvSpPr>
          <p:nvPr>
            <p:ph type="sldNum" sz="quarter" idx="12"/>
          </p:nvPr>
        </p:nvSpPr>
        <p:spPr/>
        <p:txBody>
          <a:bodyPr/>
          <a:lstStyle/>
          <a:p>
            <a:fld id="{3AE71D6B-ACB6-4F4C-A895-DCAEF1760EAA}" type="slidenum">
              <a:rPr lang="de-DE" smtClean="0"/>
              <a:t>26</a:t>
            </a:fld>
            <a:endParaRPr lang="de-DE"/>
          </a:p>
        </p:txBody>
      </p:sp>
      <p:sp>
        <p:nvSpPr>
          <p:cNvPr id="4" name="Textplatzhalter 3">
            <a:extLst>
              <a:ext uri="{FF2B5EF4-FFF2-40B4-BE49-F238E27FC236}">
                <a16:creationId xmlns:a16="http://schemas.microsoft.com/office/drawing/2014/main" id="{F3F0F8FF-5F98-414C-AA4C-EE5E7C8A69CD}"/>
              </a:ext>
            </a:extLst>
          </p:cNvPr>
          <p:cNvSpPr>
            <a:spLocks noGrp="1"/>
          </p:cNvSpPr>
          <p:nvPr>
            <p:ph type="body" sz="quarter" idx="13"/>
          </p:nvPr>
        </p:nvSpPr>
        <p:spPr/>
        <p:txBody>
          <a:bodyPr/>
          <a:lstStyle/>
          <a:p>
            <a:pPr marL="0" indent="0">
              <a:buNone/>
            </a:pPr>
            <a:r>
              <a:rPr lang="de-DE" b="0" dirty="0">
                <a:solidFill>
                  <a:schemeClr val="accent1"/>
                </a:solidFill>
                <a:latin typeface="+mj-lt"/>
              </a:rPr>
              <a:t>Zu einer guten Vermögensverwaltung gehört auch ein konsequentes Risikomanagement. Gerade in turbulenten Marktphasen ist es wichtig, über Prozesse, Entscheidungskriterien und Ablaufpläne zu verfügen, die nahtlos ineinander greifen und dabei helfen, Ihr Vermögen zu schützen. Selbstverständlich nutzen wir dafür eine Palette gängiger Risikomanagementinstrumente, und überwachen Ihr Portfolio fortwährend nach Risikopositionen und Gefahrenquellen. Unser Risikomanagement ist integriert in allen Ebenen des Investmentprozesses und hilft uns dabei eine kontinuierliche Wertentwicklung Ihres Vermögens bei niedriger Schwankungsanfälligkeit sicherzustellen.</a:t>
            </a:r>
          </a:p>
        </p:txBody>
      </p:sp>
      <p:sp>
        <p:nvSpPr>
          <p:cNvPr id="5" name="Titel 4">
            <a:extLst>
              <a:ext uri="{FF2B5EF4-FFF2-40B4-BE49-F238E27FC236}">
                <a16:creationId xmlns:a16="http://schemas.microsoft.com/office/drawing/2014/main" id="{537A3C45-7FF2-434E-8D23-48D2A77104A8}"/>
              </a:ext>
            </a:extLst>
          </p:cNvPr>
          <p:cNvSpPr>
            <a:spLocks noGrp="1"/>
          </p:cNvSpPr>
          <p:nvPr>
            <p:ph type="title"/>
          </p:nvPr>
        </p:nvSpPr>
        <p:spPr/>
        <p:txBody>
          <a:bodyPr/>
          <a:lstStyle/>
          <a:p>
            <a:r>
              <a:rPr lang="de-DE" dirty="0"/>
              <a:t>Unser Risikomanagement</a:t>
            </a:r>
          </a:p>
        </p:txBody>
      </p:sp>
      <p:graphicFrame>
        <p:nvGraphicFramePr>
          <p:cNvPr id="6" name="Tabelle 6">
            <a:extLst>
              <a:ext uri="{FF2B5EF4-FFF2-40B4-BE49-F238E27FC236}">
                <a16:creationId xmlns:a16="http://schemas.microsoft.com/office/drawing/2014/main" id="{41FF7687-C208-E142-9348-792D5D220B92}"/>
              </a:ext>
            </a:extLst>
          </p:cNvPr>
          <p:cNvGraphicFramePr>
            <a:graphicFrameLocks/>
          </p:cNvGraphicFramePr>
          <p:nvPr>
            <p:extLst>
              <p:ext uri="{D42A27DB-BD31-4B8C-83A1-F6EECF244321}">
                <p14:modId xmlns:p14="http://schemas.microsoft.com/office/powerpoint/2010/main" val="2023876130"/>
              </p:ext>
            </p:extLst>
          </p:nvPr>
        </p:nvGraphicFramePr>
        <p:xfrm>
          <a:off x="3671888" y="1084314"/>
          <a:ext cx="6443662" cy="3613099"/>
        </p:xfrm>
        <a:graphic>
          <a:graphicData uri="http://schemas.openxmlformats.org/drawingml/2006/table">
            <a:tbl>
              <a:tblPr firstRow="1" bandRow="1">
                <a:tableStyleId>{5C22544A-7EE6-4342-B048-85BDC9FD1C3A}</a:tableStyleId>
              </a:tblPr>
              <a:tblGrid>
                <a:gridCol w="3249074">
                  <a:extLst>
                    <a:ext uri="{9D8B030D-6E8A-4147-A177-3AD203B41FA5}">
                      <a16:colId xmlns:a16="http://schemas.microsoft.com/office/drawing/2014/main" val="2926041861"/>
                    </a:ext>
                  </a:extLst>
                </a:gridCol>
                <a:gridCol w="3194588">
                  <a:extLst>
                    <a:ext uri="{9D8B030D-6E8A-4147-A177-3AD203B41FA5}">
                      <a16:colId xmlns:a16="http://schemas.microsoft.com/office/drawing/2014/main" val="562842418"/>
                    </a:ext>
                  </a:extLst>
                </a:gridCol>
              </a:tblGrid>
              <a:tr h="624747">
                <a:tc>
                  <a:txBody>
                    <a:bodyPr/>
                    <a:lstStyle/>
                    <a:p>
                      <a:endParaRPr lang="de-DE" sz="1100" b="0" dirty="0">
                        <a:solidFill>
                          <a:srgbClr val="1A314C"/>
                        </a:solidFill>
                      </a:endParaRPr>
                    </a:p>
                    <a:p>
                      <a:r>
                        <a:rPr lang="de-DE" sz="1100" b="0" dirty="0">
                          <a:solidFill>
                            <a:srgbClr val="1A314C"/>
                          </a:solidFill>
                        </a:rPr>
                        <a:t>Kursänderungsrisiko                                </a:t>
                      </a:r>
                    </a:p>
                  </a:txBody>
                  <a:tcPr>
                    <a:lnB w="12700" cap="flat" cmpd="sng" algn="ctr">
                      <a:solidFill>
                        <a:schemeClr val="tx1"/>
                      </a:solidFill>
                      <a:prstDash val="solid"/>
                      <a:round/>
                      <a:headEnd type="none" w="med" len="med"/>
                      <a:tailEnd type="none" w="med" len="med"/>
                    </a:lnB>
                    <a:solidFill>
                      <a:srgbClr val="FFFFFF"/>
                    </a:solidFill>
                  </a:tcPr>
                </a:tc>
                <a:tc>
                  <a:txBody>
                    <a:bodyPr/>
                    <a:lstStyle/>
                    <a:p>
                      <a:r>
                        <a:rPr lang="de-DE" sz="1100" b="0" dirty="0">
                          <a:solidFill>
                            <a:srgbClr val="1A314C"/>
                          </a:solidFill>
                        </a:rPr>
                        <a:t>Stopp-Loss-Strategie, in unsicheren Marktphasen enge, konsequenten </a:t>
                      </a:r>
                      <a:br>
                        <a:rPr lang="de-DE" sz="1100" b="0" dirty="0">
                          <a:solidFill>
                            <a:srgbClr val="1A314C"/>
                          </a:solidFill>
                        </a:rPr>
                      </a:br>
                      <a:r>
                        <a:rPr lang="de-DE" sz="1100" b="0" dirty="0">
                          <a:solidFill>
                            <a:srgbClr val="1A314C"/>
                          </a:solidFill>
                        </a:rPr>
                        <a:t>und aktive Strategie</a:t>
                      </a:r>
                    </a:p>
                  </a:txBody>
                  <a:tcPr anchor="ctr">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0613130"/>
                  </a:ext>
                </a:extLst>
              </a:tr>
              <a:tr h="949501">
                <a:tc>
                  <a:txBody>
                    <a:bodyPr/>
                    <a:lstStyle/>
                    <a:p>
                      <a:endParaRPr lang="de-DE" sz="1100" dirty="0">
                        <a:solidFill>
                          <a:srgbClr val="1A314C"/>
                        </a:solidFill>
                      </a:endParaRPr>
                    </a:p>
                    <a:p>
                      <a:endParaRPr lang="de-DE" sz="1100" dirty="0">
                        <a:solidFill>
                          <a:srgbClr val="1A314C"/>
                        </a:solidFill>
                      </a:endParaRPr>
                    </a:p>
                    <a:p>
                      <a:r>
                        <a:rPr lang="de-DE" sz="1100" dirty="0">
                          <a:solidFill>
                            <a:srgbClr val="1A314C"/>
                          </a:solidFill>
                        </a:rPr>
                        <a:t>Bonitäts-/Emittentenrisiko</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de-DE" sz="1100" dirty="0">
                          <a:solidFill>
                            <a:srgbClr val="1A314C"/>
                          </a:solidFill>
                        </a:rPr>
                        <a:t>Hauptsächliche Investition in Titel im Investment Grade, kontinuierliche Überwachung der einzelnen Emittenten, konkrete Meinung zu jedem Emittenten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1993817"/>
                  </a:ext>
                </a:extLst>
              </a:tr>
              <a:tr h="637445">
                <a:tc>
                  <a:txBody>
                    <a:bodyPr/>
                    <a:lstStyle/>
                    <a:p>
                      <a:r>
                        <a:rPr lang="de-DE" sz="1100" dirty="0">
                          <a:solidFill>
                            <a:srgbClr val="1A314C"/>
                          </a:solidFill>
                        </a:rPr>
                        <a:t>Währungsrisiko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de-DE" sz="1100" dirty="0">
                          <a:solidFill>
                            <a:srgbClr val="1A314C"/>
                          </a:solidFill>
                        </a:rPr>
                        <a:t>Breite und global-orientierte Diversifikation reduziert das Einzelwährungsrisiko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90649648"/>
                  </a:ext>
                </a:extLst>
              </a:tr>
              <a:tr h="465631">
                <a:tc>
                  <a:txBody>
                    <a:bodyPr/>
                    <a:lstStyle/>
                    <a:p>
                      <a:r>
                        <a:rPr lang="de-DE" sz="1100" dirty="0">
                          <a:solidFill>
                            <a:srgbClr val="1A314C"/>
                          </a:solidFill>
                        </a:rPr>
                        <a:t>Zinsänderungsrisiko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de-DE" sz="1100" dirty="0">
                          <a:solidFill>
                            <a:srgbClr val="1A314C"/>
                          </a:solidFill>
                        </a:rPr>
                        <a:t>Aktives Zins- und Laufzeitmanagement (</a:t>
                      </a:r>
                      <a:r>
                        <a:rPr lang="de-DE" sz="1100" dirty="0" err="1">
                          <a:solidFill>
                            <a:srgbClr val="1A314C"/>
                          </a:solidFill>
                        </a:rPr>
                        <a:t>Durationsmanagement</a:t>
                      </a:r>
                      <a:r>
                        <a:rPr lang="de-DE" sz="1100" dirty="0">
                          <a:solidFill>
                            <a:srgbClr val="1A314C"/>
                          </a:solidFill>
                        </a:rPr>
                        <a: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77554919"/>
                  </a:ext>
                </a:extLst>
              </a:tr>
              <a:tr h="935775">
                <a:tc>
                  <a:txBody>
                    <a:bodyPr/>
                    <a:lstStyle/>
                    <a:p>
                      <a:endParaRPr lang="de-DE" sz="1100" dirty="0">
                        <a:solidFill>
                          <a:srgbClr val="1A314C"/>
                        </a:solidFill>
                      </a:endParaRPr>
                    </a:p>
                    <a:p>
                      <a:endParaRPr lang="de-DE" sz="1100" dirty="0">
                        <a:solidFill>
                          <a:srgbClr val="1A314C"/>
                        </a:solidFill>
                      </a:endParaRPr>
                    </a:p>
                    <a:p>
                      <a:r>
                        <a:rPr lang="de-DE" sz="1100" dirty="0">
                          <a:solidFill>
                            <a:srgbClr val="1A314C"/>
                          </a:solidFill>
                        </a:rPr>
                        <a:t>Liquiditätsrisiko</a:t>
                      </a:r>
                    </a:p>
                  </a:txBody>
                  <a:tcPr>
                    <a:lnT w="12700" cap="flat" cmpd="sng" algn="ctr">
                      <a:solidFill>
                        <a:schemeClr val="tx1"/>
                      </a:solidFill>
                      <a:prstDash val="solid"/>
                      <a:round/>
                      <a:headEnd type="none" w="med" len="med"/>
                      <a:tailEnd type="none" w="med" len="med"/>
                    </a:lnT>
                    <a:solidFill>
                      <a:srgbClr val="FFFFFF"/>
                    </a:solidFill>
                  </a:tcPr>
                </a:tc>
                <a:tc>
                  <a:txBody>
                    <a:bodyPr/>
                    <a:lstStyle/>
                    <a:p>
                      <a:r>
                        <a:rPr lang="de-DE" sz="1100" dirty="0">
                          <a:solidFill>
                            <a:srgbClr val="1A314C"/>
                          </a:solidFill>
                        </a:rPr>
                        <a:t>Wir investieren ausschließlich in liquide Anlagen, geschlossene oder beschränkt-verfügbare Produkte werden nicht </a:t>
                      </a:r>
                    </a:p>
                    <a:p>
                      <a:r>
                        <a:rPr lang="de-DE" sz="1100" dirty="0">
                          <a:solidFill>
                            <a:srgbClr val="1A314C"/>
                          </a:solidFill>
                        </a:rPr>
                        <a:t>erworben</a:t>
                      </a:r>
                    </a:p>
                  </a:txBody>
                  <a:tcPr anchor="ctr">
                    <a:lnT w="12700" cap="flat" cmpd="sng" algn="ctr">
                      <a:solidFill>
                        <a:schemeClr val="tx1"/>
                      </a:solidFill>
                      <a:prstDash val="solid"/>
                      <a:round/>
                      <a:headEnd type="none" w="med" len="med"/>
                      <a:tailEnd type="none" w="med" len="med"/>
                    </a:lnT>
                    <a:solidFill>
                      <a:srgbClr val="FFFFFF"/>
                    </a:solidFill>
                  </a:tcPr>
                </a:tc>
                <a:extLst>
                  <a:ext uri="{0D108BD9-81ED-4DB2-BD59-A6C34878D82A}">
                    <a16:rowId xmlns:a16="http://schemas.microsoft.com/office/drawing/2014/main" val="2430660365"/>
                  </a:ext>
                </a:extLst>
              </a:tr>
            </a:tbl>
          </a:graphicData>
        </a:graphic>
      </p:graphicFrame>
      <p:pic>
        <p:nvPicPr>
          <p:cNvPr id="9" name="Grafik 8">
            <a:extLst>
              <a:ext uri="{FF2B5EF4-FFF2-40B4-BE49-F238E27FC236}">
                <a16:creationId xmlns:a16="http://schemas.microsoft.com/office/drawing/2014/main" id="{3995B83B-6815-1643-9A07-10D00AA8D1D7}"/>
              </a:ext>
            </a:extLst>
          </p:cNvPr>
          <p:cNvPicPr>
            <a:picLocks noChangeAspect="1"/>
          </p:cNvPicPr>
          <p:nvPr/>
        </p:nvPicPr>
        <p:blipFill>
          <a:blip r:embed="rId2"/>
          <a:stretch>
            <a:fillRect/>
          </a:stretch>
        </p:blipFill>
        <p:spPr>
          <a:xfrm>
            <a:off x="6360379" y="1273973"/>
            <a:ext cx="228600" cy="209550"/>
          </a:xfrm>
          <a:prstGeom prst="rect">
            <a:avLst/>
          </a:prstGeom>
        </p:spPr>
      </p:pic>
      <p:pic>
        <p:nvPicPr>
          <p:cNvPr id="10" name="Grafik 9">
            <a:extLst>
              <a:ext uri="{FF2B5EF4-FFF2-40B4-BE49-F238E27FC236}">
                <a16:creationId xmlns:a16="http://schemas.microsoft.com/office/drawing/2014/main" id="{4AEE4103-808A-EF4F-803D-6EE049944D01}"/>
              </a:ext>
            </a:extLst>
          </p:cNvPr>
          <p:cNvPicPr>
            <a:picLocks noChangeAspect="1"/>
          </p:cNvPicPr>
          <p:nvPr/>
        </p:nvPicPr>
        <p:blipFill>
          <a:blip r:embed="rId2"/>
          <a:stretch>
            <a:fillRect/>
          </a:stretch>
        </p:blipFill>
        <p:spPr>
          <a:xfrm>
            <a:off x="6360379" y="2047631"/>
            <a:ext cx="228600" cy="209550"/>
          </a:xfrm>
          <a:prstGeom prst="rect">
            <a:avLst/>
          </a:prstGeom>
        </p:spPr>
      </p:pic>
      <p:pic>
        <p:nvPicPr>
          <p:cNvPr id="11" name="Grafik 10">
            <a:extLst>
              <a:ext uri="{FF2B5EF4-FFF2-40B4-BE49-F238E27FC236}">
                <a16:creationId xmlns:a16="http://schemas.microsoft.com/office/drawing/2014/main" id="{1A5D1D36-CCE0-014D-AF10-EC28B9A5764C}"/>
              </a:ext>
            </a:extLst>
          </p:cNvPr>
          <p:cNvPicPr>
            <a:picLocks noChangeAspect="1"/>
          </p:cNvPicPr>
          <p:nvPr/>
        </p:nvPicPr>
        <p:blipFill>
          <a:blip r:embed="rId2"/>
          <a:stretch>
            <a:fillRect/>
          </a:stretch>
        </p:blipFill>
        <p:spPr>
          <a:xfrm>
            <a:off x="6370327" y="2847971"/>
            <a:ext cx="228600" cy="209550"/>
          </a:xfrm>
          <a:prstGeom prst="rect">
            <a:avLst/>
          </a:prstGeom>
        </p:spPr>
      </p:pic>
      <p:pic>
        <p:nvPicPr>
          <p:cNvPr id="12" name="Grafik 11">
            <a:extLst>
              <a:ext uri="{FF2B5EF4-FFF2-40B4-BE49-F238E27FC236}">
                <a16:creationId xmlns:a16="http://schemas.microsoft.com/office/drawing/2014/main" id="{385AB819-FDA6-5F47-8B33-7ED9CFDCA106}"/>
              </a:ext>
            </a:extLst>
          </p:cNvPr>
          <p:cNvPicPr>
            <a:picLocks noChangeAspect="1"/>
          </p:cNvPicPr>
          <p:nvPr/>
        </p:nvPicPr>
        <p:blipFill>
          <a:blip r:embed="rId2"/>
          <a:stretch>
            <a:fillRect/>
          </a:stretch>
        </p:blipFill>
        <p:spPr>
          <a:xfrm>
            <a:off x="6370327" y="3438761"/>
            <a:ext cx="228600" cy="209550"/>
          </a:xfrm>
          <a:prstGeom prst="rect">
            <a:avLst/>
          </a:prstGeom>
        </p:spPr>
      </p:pic>
      <p:pic>
        <p:nvPicPr>
          <p:cNvPr id="13" name="Grafik 12">
            <a:extLst>
              <a:ext uri="{FF2B5EF4-FFF2-40B4-BE49-F238E27FC236}">
                <a16:creationId xmlns:a16="http://schemas.microsoft.com/office/drawing/2014/main" id="{06EAE3EB-F04A-7C47-B2FC-F45383CB5EAC}"/>
              </a:ext>
            </a:extLst>
          </p:cNvPr>
          <p:cNvPicPr>
            <a:picLocks noChangeAspect="1"/>
          </p:cNvPicPr>
          <p:nvPr/>
        </p:nvPicPr>
        <p:blipFill>
          <a:blip r:embed="rId2"/>
          <a:stretch>
            <a:fillRect/>
          </a:stretch>
        </p:blipFill>
        <p:spPr>
          <a:xfrm>
            <a:off x="6370327" y="4092146"/>
            <a:ext cx="228600" cy="209550"/>
          </a:xfrm>
          <a:prstGeom prst="rect">
            <a:avLst/>
          </a:prstGeom>
        </p:spPr>
      </p:pic>
    </p:spTree>
    <p:extLst>
      <p:ext uri="{BB962C8B-B14F-4D97-AF65-F5344CB8AC3E}">
        <p14:creationId xmlns:p14="http://schemas.microsoft.com/office/powerpoint/2010/main" val="1283139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CF1D031-CBB6-FD9D-F9E6-3D1B479045DA}"/>
              </a:ext>
            </a:extLst>
          </p:cNvPr>
          <p:cNvSpPr>
            <a:spLocks noGrp="1"/>
          </p:cNvSpPr>
          <p:nvPr>
            <p:ph type="sldNum" sz="quarter" idx="12"/>
          </p:nvPr>
        </p:nvSpPr>
        <p:spPr/>
        <p:txBody>
          <a:bodyPr/>
          <a:lstStyle/>
          <a:p>
            <a:fld id="{3AE71D6B-ACB6-4F4C-A895-DCAEF1760EAA}" type="slidenum">
              <a:rPr lang="de-DE" smtClean="0"/>
              <a:t>27</a:t>
            </a:fld>
            <a:endParaRPr lang="de-DE"/>
          </a:p>
        </p:txBody>
      </p:sp>
      <p:sp>
        <p:nvSpPr>
          <p:cNvPr id="3" name="Inhaltsplatzhalter 2">
            <a:extLst>
              <a:ext uri="{FF2B5EF4-FFF2-40B4-BE49-F238E27FC236}">
                <a16:creationId xmlns:a16="http://schemas.microsoft.com/office/drawing/2014/main" id="{5F05450D-2EA3-036E-8347-A8044FF79161}"/>
              </a:ext>
            </a:extLst>
          </p:cNvPr>
          <p:cNvSpPr>
            <a:spLocks noGrp="1"/>
          </p:cNvSpPr>
          <p:nvPr>
            <p:ph idx="1"/>
          </p:nvPr>
        </p:nvSpPr>
        <p:spPr/>
        <p:txBody>
          <a:bodyPr/>
          <a:lstStyle/>
          <a:p>
            <a:pPr>
              <a:spcAft>
                <a:spcPts val="0"/>
              </a:spcAft>
            </a:pPr>
            <a:r>
              <a:rPr lang="de-DE" dirty="0"/>
              <a:t>Vermögensverwaltungsbericht</a:t>
            </a:r>
          </a:p>
          <a:p>
            <a:pPr>
              <a:spcBef>
                <a:spcPts val="400"/>
              </a:spcBef>
            </a:pPr>
            <a:r>
              <a:rPr lang="de-DE" b="0" dirty="0"/>
              <a:t>Wir stellen Ihnen mindestens quartalsweise einen detaillierten und transparenten Vermögensverwaltungs-bericht zur Verfügung.  Folgende Bestandteile sind in dem Bericht enthalten:</a:t>
            </a:r>
          </a:p>
          <a:p>
            <a:pPr marL="171450" indent="-171450">
              <a:spcBef>
                <a:spcPts val="200"/>
              </a:spcBef>
              <a:buFont typeface="Arial" panose="020B0604020202020204" pitchFamily="34" charset="0"/>
              <a:buChar char="•"/>
            </a:pPr>
            <a:r>
              <a:rPr lang="de-DE" b="0" dirty="0"/>
              <a:t>Lagebericht</a:t>
            </a:r>
          </a:p>
          <a:p>
            <a:pPr marL="171450" indent="-171450">
              <a:spcBef>
                <a:spcPts val="200"/>
              </a:spcBef>
              <a:buFont typeface="Arial" panose="020B0604020202020204" pitchFamily="34" charset="0"/>
              <a:buChar char="•"/>
            </a:pPr>
            <a:r>
              <a:rPr lang="de-DE" b="0" dirty="0"/>
              <a:t>Wertentwicklung</a:t>
            </a:r>
          </a:p>
          <a:p>
            <a:pPr marL="171450" indent="-171450">
              <a:spcBef>
                <a:spcPts val="200"/>
              </a:spcBef>
              <a:buFont typeface="Arial" panose="020B0604020202020204" pitchFamily="34" charset="0"/>
              <a:buChar char="•"/>
            </a:pPr>
            <a:r>
              <a:rPr lang="de-DE" b="0" dirty="0"/>
              <a:t>Vermögensübersicht</a:t>
            </a:r>
          </a:p>
          <a:p>
            <a:pPr marL="171450" indent="-171450">
              <a:spcBef>
                <a:spcPts val="200"/>
              </a:spcBef>
              <a:buFont typeface="Arial" panose="020B0604020202020204" pitchFamily="34" charset="0"/>
              <a:buChar char="•"/>
            </a:pPr>
            <a:r>
              <a:rPr lang="de-DE" b="0" dirty="0"/>
              <a:t>Transaktionsliste</a:t>
            </a:r>
          </a:p>
          <a:p>
            <a:pPr marL="171450" indent="-171450">
              <a:spcBef>
                <a:spcPts val="200"/>
              </a:spcBef>
              <a:buFont typeface="Arial" panose="020B0604020202020204" pitchFamily="34" charset="0"/>
              <a:buChar char="•"/>
            </a:pPr>
            <a:r>
              <a:rPr lang="de-DE" b="0" dirty="0"/>
              <a:t>Honorarabrechnung </a:t>
            </a:r>
          </a:p>
          <a:p>
            <a:pPr marL="171450" indent="-171450">
              <a:spcBef>
                <a:spcPts val="200"/>
              </a:spcBef>
              <a:buFont typeface="Arial" panose="020B0604020202020204" pitchFamily="34" charset="0"/>
              <a:buChar char="•"/>
            </a:pPr>
            <a:r>
              <a:rPr lang="de-DE" b="0" dirty="0"/>
              <a:t>Risikokennzahlen</a:t>
            </a:r>
          </a:p>
          <a:p>
            <a:pPr marL="171450" indent="-171450">
              <a:spcBef>
                <a:spcPts val="200"/>
              </a:spcBef>
              <a:buFont typeface="Arial" panose="020B0604020202020204" pitchFamily="34" charset="0"/>
              <a:buChar char="•"/>
            </a:pPr>
            <a:r>
              <a:rPr lang="de-DE" b="0" dirty="0"/>
              <a:t>Fortlaufende Geeignetheitserklärung</a:t>
            </a:r>
          </a:p>
          <a:p>
            <a:pPr>
              <a:spcBef>
                <a:spcPts val="400"/>
              </a:spcBef>
            </a:pPr>
            <a:r>
              <a:rPr lang="de-DE" b="0" dirty="0"/>
              <a:t>Zusätzlich erhalten Sie einmal jährlich ein ausführliches </a:t>
            </a:r>
            <a:r>
              <a:rPr lang="de-DE" b="0" dirty="0" err="1"/>
              <a:t>Kostenreporting</a:t>
            </a:r>
            <a:r>
              <a:rPr lang="de-DE" b="0" dirty="0"/>
              <a:t>. Dieses enthält alle Kosten, die im Rahmen Ihres Vermögensverwaltungsvertrags angefallen sind.</a:t>
            </a:r>
          </a:p>
        </p:txBody>
      </p:sp>
      <p:sp>
        <p:nvSpPr>
          <p:cNvPr id="4" name="Titel 3">
            <a:extLst>
              <a:ext uri="{FF2B5EF4-FFF2-40B4-BE49-F238E27FC236}">
                <a16:creationId xmlns:a16="http://schemas.microsoft.com/office/drawing/2014/main" id="{72E82E3C-1E56-69D0-2735-EEDC7CB1B6BA}"/>
              </a:ext>
            </a:extLst>
          </p:cNvPr>
          <p:cNvSpPr>
            <a:spLocks noGrp="1"/>
          </p:cNvSpPr>
          <p:nvPr>
            <p:ph type="title"/>
          </p:nvPr>
        </p:nvSpPr>
        <p:spPr/>
        <p:txBody>
          <a:bodyPr/>
          <a:lstStyle/>
          <a:p>
            <a:r>
              <a:rPr lang="de-DE" dirty="0"/>
              <a:t>Unser Service</a:t>
            </a:r>
          </a:p>
        </p:txBody>
      </p:sp>
    </p:spTree>
    <p:extLst>
      <p:ext uri="{BB962C8B-B14F-4D97-AF65-F5344CB8AC3E}">
        <p14:creationId xmlns:p14="http://schemas.microsoft.com/office/powerpoint/2010/main" val="7844871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4520BB9-E68D-47AE-EB64-BAE575D3D3CA}"/>
              </a:ext>
            </a:extLst>
          </p:cNvPr>
          <p:cNvSpPr>
            <a:spLocks noGrp="1"/>
          </p:cNvSpPr>
          <p:nvPr>
            <p:ph type="sldNum" sz="quarter" idx="12"/>
          </p:nvPr>
        </p:nvSpPr>
        <p:spPr/>
        <p:txBody>
          <a:bodyPr/>
          <a:lstStyle/>
          <a:p>
            <a:fld id="{3AE71D6B-ACB6-4F4C-A895-DCAEF1760EAA}" type="slidenum">
              <a:rPr lang="de-DE" smtClean="0"/>
              <a:pPr/>
              <a:t>28</a:t>
            </a:fld>
            <a:endParaRPr lang="de-DE" dirty="0"/>
          </a:p>
        </p:txBody>
      </p:sp>
      <p:sp>
        <p:nvSpPr>
          <p:cNvPr id="3" name="Inhaltsplatzhalter 2">
            <a:extLst>
              <a:ext uri="{FF2B5EF4-FFF2-40B4-BE49-F238E27FC236}">
                <a16:creationId xmlns:a16="http://schemas.microsoft.com/office/drawing/2014/main" id="{CD355ADA-6D4A-3BBC-8EE3-ED00B5B315F8}"/>
              </a:ext>
            </a:extLst>
          </p:cNvPr>
          <p:cNvSpPr>
            <a:spLocks noGrp="1"/>
          </p:cNvSpPr>
          <p:nvPr>
            <p:ph idx="1"/>
          </p:nvPr>
        </p:nvSpPr>
        <p:spPr>
          <a:xfrm>
            <a:off x="1199324" y="1414864"/>
            <a:ext cx="4140201" cy="4954290"/>
          </a:xfrm>
        </p:spPr>
        <p:txBody>
          <a:bodyPr/>
          <a:lstStyle/>
          <a:p>
            <a:pPr>
              <a:spcAft>
                <a:spcPts val="0"/>
              </a:spcAft>
            </a:pPr>
            <a:r>
              <a:rPr lang="de-DE" dirty="0"/>
              <a:t>Steuerservice</a:t>
            </a:r>
          </a:p>
          <a:p>
            <a:pPr>
              <a:spcBef>
                <a:spcPts val="400"/>
              </a:spcBef>
            </a:pPr>
            <a:r>
              <a:rPr lang="de-DE" b="0" dirty="0"/>
              <a:t>Die Erstellung aller steuerlich relevanten und benötigten Unterlagen erfolgt automatisch und zeitnah mit dem Ablauf des Kalenderjahrs.</a:t>
            </a:r>
          </a:p>
          <a:p>
            <a:r>
              <a:rPr lang="de-DE" dirty="0"/>
              <a:t>Laufende Unterlagen </a:t>
            </a:r>
          </a:p>
          <a:p>
            <a:pPr>
              <a:spcBef>
                <a:spcPts val="400"/>
              </a:spcBef>
            </a:pPr>
            <a:r>
              <a:rPr lang="de-DE" b="0" dirty="0"/>
              <a:t>Nach jeder Wertpapiertransaktion und Ertragsausschüttung erhalten Sie eine entsprechende Dokumentation zugesandt.  Kontoauszüge werden monatlich erstellt. Somit ist für Sie ein hohes Maß an Transparenz gewährleistet.</a:t>
            </a:r>
          </a:p>
          <a:p>
            <a:r>
              <a:rPr lang="de-DE" dirty="0">
                <a:solidFill>
                  <a:srgbClr val="BB9256"/>
                </a:solidFill>
              </a:rPr>
              <a:t>&gt;&gt; Gerne stellen wir Ihnen in regelmäßigen Abständen oder auf Wunsch einen aktuellen Bericht zur Verfügung!</a:t>
            </a:r>
          </a:p>
        </p:txBody>
      </p:sp>
      <p:sp>
        <p:nvSpPr>
          <p:cNvPr id="4" name="Titel 3">
            <a:extLst>
              <a:ext uri="{FF2B5EF4-FFF2-40B4-BE49-F238E27FC236}">
                <a16:creationId xmlns:a16="http://schemas.microsoft.com/office/drawing/2014/main" id="{39B1E004-66AB-F74C-B2B6-5F103D42430F}"/>
              </a:ext>
            </a:extLst>
          </p:cNvPr>
          <p:cNvSpPr>
            <a:spLocks noGrp="1"/>
          </p:cNvSpPr>
          <p:nvPr>
            <p:ph type="title"/>
          </p:nvPr>
        </p:nvSpPr>
        <p:spPr>
          <a:xfrm>
            <a:off x="1195481" y="882000"/>
            <a:ext cx="3960375" cy="360000"/>
          </a:xfrm>
        </p:spPr>
        <p:txBody>
          <a:bodyPr/>
          <a:lstStyle/>
          <a:p>
            <a:r>
              <a:rPr lang="de-DE" dirty="0"/>
              <a:t>Unser Service</a:t>
            </a:r>
          </a:p>
        </p:txBody>
      </p:sp>
    </p:spTree>
    <p:extLst>
      <p:ext uri="{BB962C8B-B14F-4D97-AF65-F5344CB8AC3E}">
        <p14:creationId xmlns:p14="http://schemas.microsoft.com/office/powerpoint/2010/main" val="1251342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0DE09C2-2A59-8E9D-3394-09D12E785939}"/>
              </a:ext>
            </a:extLst>
          </p:cNvPr>
          <p:cNvSpPr>
            <a:spLocks noGrp="1"/>
          </p:cNvSpPr>
          <p:nvPr>
            <p:ph type="sldNum" sz="quarter" idx="12"/>
          </p:nvPr>
        </p:nvSpPr>
        <p:spPr/>
        <p:txBody>
          <a:bodyPr/>
          <a:lstStyle/>
          <a:p>
            <a:fld id="{3AE71D6B-ACB6-4F4C-A895-DCAEF1760EAA}" type="slidenum">
              <a:rPr lang="de-DE" smtClean="0"/>
              <a:t>29</a:t>
            </a:fld>
            <a:endParaRPr lang="de-DE"/>
          </a:p>
        </p:txBody>
      </p:sp>
      <p:sp>
        <p:nvSpPr>
          <p:cNvPr id="4" name="Titel 3">
            <a:extLst>
              <a:ext uri="{FF2B5EF4-FFF2-40B4-BE49-F238E27FC236}">
                <a16:creationId xmlns:a16="http://schemas.microsoft.com/office/drawing/2014/main" id="{9C97CBB2-7EB8-0455-7143-952C4A25AE92}"/>
              </a:ext>
            </a:extLst>
          </p:cNvPr>
          <p:cNvSpPr>
            <a:spLocks noGrp="1"/>
          </p:cNvSpPr>
          <p:nvPr>
            <p:ph type="title"/>
          </p:nvPr>
        </p:nvSpPr>
        <p:spPr/>
        <p:txBody>
          <a:bodyPr/>
          <a:lstStyle/>
          <a:p>
            <a:r>
              <a:rPr lang="de-DE" dirty="0"/>
              <a:t>Honorarübersicht</a:t>
            </a:r>
          </a:p>
        </p:txBody>
      </p:sp>
      <p:graphicFrame>
        <p:nvGraphicFramePr>
          <p:cNvPr id="5" name="Tabelle 4">
            <a:extLst>
              <a:ext uri="{FF2B5EF4-FFF2-40B4-BE49-F238E27FC236}">
                <a16:creationId xmlns:a16="http://schemas.microsoft.com/office/drawing/2014/main" id="{3F2EFFCC-2835-2877-8FFE-6F115FCCEF17}"/>
              </a:ext>
            </a:extLst>
          </p:cNvPr>
          <p:cNvGraphicFramePr>
            <a:graphicFrameLocks noGrp="1"/>
          </p:cNvGraphicFramePr>
          <p:nvPr>
            <p:extLst>
              <p:ext uri="{D42A27DB-BD31-4B8C-83A1-F6EECF244321}">
                <p14:modId xmlns:p14="http://schemas.microsoft.com/office/powerpoint/2010/main" val="2941105216"/>
              </p:ext>
            </p:extLst>
          </p:nvPr>
        </p:nvGraphicFramePr>
        <p:xfrm>
          <a:off x="2683655" y="2175898"/>
          <a:ext cx="5107013" cy="2307765"/>
        </p:xfrm>
        <a:graphic>
          <a:graphicData uri="http://schemas.openxmlformats.org/drawingml/2006/table">
            <a:tbl>
              <a:tblPr firstRow="1" bandRow="1"/>
              <a:tblGrid>
                <a:gridCol w="1775134">
                  <a:extLst>
                    <a:ext uri="{9D8B030D-6E8A-4147-A177-3AD203B41FA5}">
                      <a16:colId xmlns:a16="http://schemas.microsoft.com/office/drawing/2014/main" val="20000"/>
                    </a:ext>
                  </a:extLst>
                </a:gridCol>
                <a:gridCol w="1651865">
                  <a:extLst>
                    <a:ext uri="{9D8B030D-6E8A-4147-A177-3AD203B41FA5}">
                      <a16:colId xmlns:a16="http://schemas.microsoft.com/office/drawing/2014/main" val="3953192555"/>
                    </a:ext>
                  </a:extLst>
                </a:gridCol>
                <a:gridCol w="1680014">
                  <a:extLst>
                    <a:ext uri="{9D8B030D-6E8A-4147-A177-3AD203B41FA5}">
                      <a16:colId xmlns:a16="http://schemas.microsoft.com/office/drawing/2014/main" val="2318029501"/>
                    </a:ext>
                  </a:extLst>
                </a:gridCol>
              </a:tblGrid>
              <a:tr h="450592">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endParaRPr lang="de-DE" sz="1100" b="1" dirty="0">
                        <a:solidFill>
                          <a:srgbClr val="FFFFFF"/>
                        </a:solidFill>
                        <a:latin typeface="+mn-lt"/>
                        <a:cs typeface="Noto Sans"/>
                      </a:endParaRP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100" b="1" dirty="0">
                          <a:solidFill>
                            <a:srgbClr val="FFFFFF"/>
                          </a:solidFill>
                          <a:latin typeface="+mn-lt"/>
                          <a:ea typeface="Noto Sans bold" panose="020B0802040504020204" pitchFamily="34" charset="0"/>
                          <a:cs typeface="Noto Sans bold" panose="020B0802040504020204" pitchFamily="34" charset="0"/>
                        </a:rPr>
                        <a:t>ESG-ETF Ausgewogen</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r>
                        <a:rPr lang="de-DE" sz="1100" b="1" dirty="0">
                          <a:solidFill>
                            <a:srgbClr val="FFFFFF"/>
                          </a:solidFill>
                          <a:latin typeface="+mn-lt"/>
                          <a:ea typeface="Noto Sans bold" panose="020B0802040504020204" pitchFamily="34" charset="0"/>
                          <a:cs typeface="Noto Sans bold" panose="020B0802040504020204" pitchFamily="34" charset="0"/>
                        </a:rPr>
                        <a:t>ESG-ETF Wachstum</a:t>
                      </a:r>
                    </a:p>
                  </a:txBody>
                  <a:tcPr marL="78296" marR="78296" marT="39148" marB="39148" anchor="ctr">
                    <a:lnL>
                      <a:noFill/>
                    </a:lnL>
                    <a:lnR>
                      <a:noFill/>
                    </a:lnR>
                    <a:lnT>
                      <a:noFill/>
                    </a:lnT>
                    <a:lnB>
                      <a:noFill/>
                    </a:lnB>
                    <a:lnTlToBr w="12700" cmpd="sng">
                      <a:noFill/>
                      <a:prstDash val="solid"/>
                    </a:lnTlToBr>
                    <a:lnBlToTr w="12700" cmpd="sng">
                      <a:noFill/>
                      <a:prstDash val="solid"/>
                    </a:lnBlToTr>
                    <a:solidFill>
                      <a:srgbClr val="193460"/>
                    </a:solidFill>
                  </a:tcPr>
                </a:tc>
                <a:extLst>
                  <a:ext uri="{0D108BD9-81ED-4DB2-BD59-A6C34878D82A}">
                    <a16:rowId xmlns:a16="http://schemas.microsoft.com/office/drawing/2014/main" val="10000"/>
                  </a:ext>
                </a:extLst>
              </a:tr>
              <a:tr h="1857173">
                <a:tc>
                  <a:txBody>
                    <a:bodyPr/>
                    <a:lstStyle>
                      <a:lvl1pPr marL="0" algn="l" defTabSz="457148" rtl="0" eaLnBrk="1" latinLnBrk="0" hangingPunct="1">
                        <a:defRPr sz="1800" kern="1200">
                          <a:solidFill>
                            <a:schemeClr val="tx1"/>
                          </a:solidFill>
                          <a:latin typeface="Calibri" panose="020F0502020204030204"/>
                        </a:defRPr>
                      </a:lvl1pPr>
                      <a:lvl2pPr marL="457148" algn="l" defTabSz="457148" rtl="0" eaLnBrk="1" latinLnBrk="0" hangingPunct="1">
                        <a:defRPr sz="1800" kern="1200">
                          <a:solidFill>
                            <a:schemeClr val="tx1"/>
                          </a:solidFill>
                          <a:latin typeface="Calibri" panose="020F0502020204030204"/>
                        </a:defRPr>
                      </a:lvl2pPr>
                      <a:lvl3pPr marL="914296" algn="l" defTabSz="457148" rtl="0" eaLnBrk="1" latinLnBrk="0" hangingPunct="1">
                        <a:defRPr sz="1800" kern="1200">
                          <a:solidFill>
                            <a:schemeClr val="tx1"/>
                          </a:solidFill>
                          <a:latin typeface="Calibri" panose="020F0502020204030204"/>
                        </a:defRPr>
                      </a:lvl3pPr>
                      <a:lvl4pPr marL="1371444" algn="l" defTabSz="457148" rtl="0" eaLnBrk="1" latinLnBrk="0" hangingPunct="1">
                        <a:defRPr sz="1800" kern="1200">
                          <a:solidFill>
                            <a:schemeClr val="tx1"/>
                          </a:solidFill>
                          <a:latin typeface="Calibri" panose="020F0502020204030204"/>
                        </a:defRPr>
                      </a:lvl4pPr>
                      <a:lvl5pPr marL="1828592" algn="l" defTabSz="457148" rtl="0" eaLnBrk="1" latinLnBrk="0" hangingPunct="1">
                        <a:defRPr sz="1800" kern="1200">
                          <a:solidFill>
                            <a:schemeClr val="tx1"/>
                          </a:solidFill>
                          <a:latin typeface="Calibri" panose="020F0502020204030204"/>
                        </a:defRPr>
                      </a:lvl5pPr>
                      <a:lvl6pPr marL="2285740" algn="l" defTabSz="457148" rtl="0" eaLnBrk="1" latinLnBrk="0" hangingPunct="1">
                        <a:defRPr sz="1800" kern="1200">
                          <a:solidFill>
                            <a:schemeClr val="tx1"/>
                          </a:solidFill>
                          <a:latin typeface="Calibri" panose="020F0502020204030204"/>
                        </a:defRPr>
                      </a:lvl6pPr>
                      <a:lvl7pPr marL="2742888" algn="l" defTabSz="457148" rtl="0" eaLnBrk="1" latinLnBrk="0" hangingPunct="1">
                        <a:defRPr sz="1800" kern="1200">
                          <a:solidFill>
                            <a:schemeClr val="tx1"/>
                          </a:solidFill>
                          <a:latin typeface="Calibri" panose="020F0502020204030204"/>
                        </a:defRPr>
                      </a:lvl7pPr>
                      <a:lvl8pPr marL="3200036" algn="l" defTabSz="457148" rtl="0" eaLnBrk="1" latinLnBrk="0" hangingPunct="1">
                        <a:defRPr sz="1800" kern="1200">
                          <a:solidFill>
                            <a:schemeClr val="tx1"/>
                          </a:solidFill>
                          <a:latin typeface="Calibri" panose="020F0502020204030204"/>
                        </a:defRPr>
                      </a:lvl8pPr>
                      <a:lvl9pPr marL="3657184" algn="l" defTabSz="457148" rtl="0" eaLnBrk="1" latinLnBrk="0" hangingPunct="1">
                        <a:defRPr sz="1800" kern="1200">
                          <a:solidFill>
                            <a:schemeClr val="tx1"/>
                          </a:solidFill>
                          <a:latin typeface="Calibri" panose="020F0502020204030204"/>
                        </a:defRPr>
                      </a:lvl9pPr>
                    </a:lstStyle>
                    <a:p>
                      <a:pPr algn="l">
                        <a:lnSpc>
                          <a:spcPts val="1180"/>
                        </a:lnSpc>
                      </a:pPr>
                      <a:r>
                        <a:rPr lang="de-DE" sz="1000" b="1" kern="0" spc="20" dirty="0">
                          <a:solidFill>
                            <a:schemeClr val="accent1"/>
                          </a:solidFill>
                          <a:latin typeface="+mj-lt"/>
                          <a:ea typeface="Noto Sans bold" panose="020B0802040504020204" pitchFamily="34" charset="0"/>
                          <a:cs typeface="Noto Sans bold" panose="020B0802040504020204" pitchFamily="34" charset="0"/>
                        </a:rPr>
                        <a:t>All-in-Fee jährlich</a:t>
                      </a:r>
                    </a:p>
                    <a:p>
                      <a:pPr algn="l">
                        <a:lnSpc>
                          <a:spcPct val="100000"/>
                        </a:lnSpc>
                      </a:pPr>
                      <a:r>
                        <a:rPr lang="de-DE" sz="1000" b="0" kern="0" spc="20" dirty="0">
                          <a:solidFill>
                            <a:schemeClr val="accent1"/>
                          </a:solidFill>
                          <a:latin typeface="+mj-lt"/>
                          <a:ea typeface="+mn-ea"/>
                          <a:cs typeface="Noto Sans"/>
                        </a:rPr>
                        <a:t>Die Belastung erfolgt halbjährlich. Als Berechnungsgrundlage dient das durchschnittlich verfügbare Anlage-volumen zum Stichtag 30.06. und 31.12.</a:t>
                      </a:r>
                    </a:p>
                  </a:txBody>
                  <a:tcPr marL="78296" marR="78296" marT="39148" marB="39148"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000" b="0" kern="0" spc="20" dirty="0">
                          <a:solidFill>
                            <a:schemeClr val="accent1"/>
                          </a:solidFill>
                          <a:latin typeface="+mj-lt"/>
                          <a:ea typeface="+mn-ea"/>
                          <a:cs typeface="Noto Sans"/>
                        </a:rPr>
                        <a:t>Jährlich 1,25 % netto des durchschnittlich verfügbaren Anlage-volumens = 1,4875 %* brutto </a:t>
                      </a:r>
                    </a:p>
                    <a:p>
                      <a:pPr algn="l"/>
                      <a:endParaRPr lang="de-DE" sz="1000" b="0" kern="0" spc="20" dirty="0">
                        <a:solidFill>
                          <a:schemeClr val="accent1"/>
                        </a:solidFill>
                        <a:latin typeface="+mj-lt"/>
                        <a:ea typeface="+mn-ea"/>
                        <a:cs typeface="Noto Sans"/>
                      </a:endParaRPr>
                    </a:p>
                    <a:p>
                      <a:pPr algn="l"/>
                      <a:r>
                        <a:rPr lang="de-DE" sz="1000" b="0" kern="0" spc="20" dirty="0">
                          <a:solidFill>
                            <a:schemeClr val="accent1"/>
                          </a:solidFill>
                          <a:latin typeface="+mj-lt"/>
                          <a:ea typeface="+mn-ea"/>
                          <a:cs typeface="Noto Sans"/>
                        </a:rPr>
                        <a:t>Mindestens 500 € netto bzw. mindestens </a:t>
                      </a:r>
                    </a:p>
                    <a:p>
                      <a:pPr algn="l"/>
                      <a:r>
                        <a:rPr lang="de-DE" sz="1000" b="0" kern="0" spc="20" dirty="0">
                          <a:solidFill>
                            <a:schemeClr val="accent1"/>
                          </a:solidFill>
                          <a:latin typeface="+mj-lt"/>
                          <a:ea typeface="+mn-ea"/>
                          <a:cs typeface="Noto Sans"/>
                        </a:rPr>
                        <a:t>595 €* brutto</a:t>
                      </a: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ill Alt One MT"/>
                          <a:ea typeface=""/>
                          <a:cs typeface=""/>
                        </a:defRPr>
                      </a:lvl1pPr>
                      <a:lvl2pPr marL="457200" algn="l" defTabSz="914400" rtl="0" eaLnBrk="1" latinLnBrk="0" hangingPunct="1">
                        <a:defRPr sz="1800" kern="1200">
                          <a:solidFill>
                            <a:schemeClr val="dk1"/>
                          </a:solidFill>
                          <a:latin typeface="Gill Alt One MT"/>
                          <a:ea typeface=""/>
                          <a:cs typeface=""/>
                        </a:defRPr>
                      </a:lvl2pPr>
                      <a:lvl3pPr marL="914400" algn="l" defTabSz="914400" rtl="0" eaLnBrk="1" latinLnBrk="0" hangingPunct="1">
                        <a:defRPr sz="1800" kern="1200">
                          <a:solidFill>
                            <a:schemeClr val="dk1"/>
                          </a:solidFill>
                          <a:latin typeface="Gill Alt One MT"/>
                          <a:ea typeface=""/>
                          <a:cs typeface=""/>
                        </a:defRPr>
                      </a:lvl3pPr>
                      <a:lvl4pPr marL="1371600" algn="l" defTabSz="914400" rtl="0" eaLnBrk="1" latinLnBrk="0" hangingPunct="1">
                        <a:defRPr sz="1800" kern="1200">
                          <a:solidFill>
                            <a:schemeClr val="dk1"/>
                          </a:solidFill>
                          <a:latin typeface="Gill Alt One MT"/>
                          <a:ea typeface=""/>
                          <a:cs typeface=""/>
                        </a:defRPr>
                      </a:lvl4pPr>
                      <a:lvl5pPr marL="1828800" algn="l" defTabSz="914400" rtl="0" eaLnBrk="1" latinLnBrk="0" hangingPunct="1">
                        <a:defRPr sz="1800" kern="1200">
                          <a:solidFill>
                            <a:schemeClr val="dk1"/>
                          </a:solidFill>
                          <a:latin typeface="Gill Alt One MT"/>
                          <a:ea typeface=""/>
                          <a:cs typeface=""/>
                        </a:defRPr>
                      </a:lvl5pPr>
                      <a:lvl6pPr marL="2286000" algn="l" defTabSz="914400" rtl="0" eaLnBrk="1" latinLnBrk="0" hangingPunct="1">
                        <a:defRPr sz="1800" kern="1200">
                          <a:solidFill>
                            <a:schemeClr val="dk1"/>
                          </a:solidFill>
                          <a:latin typeface="Gill Alt One MT"/>
                          <a:ea typeface=""/>
                          <a:cs typeface=""/>
                        </a:defRPr>
                      </a:lvl6pPr>
                      <a:lvl7pPr marL="2743200" algn="l" defTabSz="914400" rtl="0" eaLnBrk="1" latinLnBrk="0" hangingPunct="1">
                        <a:defRPr sz="1800" kern="1200">
                          <a:solidFill>
                            <a:schemeClr val="dk1"/>
                          </a:solidFill>
                          <a:latin typeface="Gill Alt One MT"/>
                          <a:ea typeface=""/>
                          <a:cs typeface=""/>
                        </a:defRPr>
                      </a:lvl7pPr>
                      <a:lvl8pPr marL="3200400" algn="l" defTabSz="914400" rtl="0" eaLnBrk="1" latinLnBrk="0" hangingPunct="1">
                        <a:defRPr sz="1800" kern="1200">
                          <a:solidFill>
                            <a:schemeClr val="dk1"/>
                          </a:solidFill>
                          <a:latin typeface="Gill Alt One MT"/>
                          <a:ea typeface=""/>
                          <a:cs typeface=""/>
                        </a:defRPr>
                      </a:lvl8pPr>
                      <a:lvl9pPr marL="3657600" algn="l" defTabSz="914400" rtl="0" eaLnBrk="1" latinLnBrk="0" hangingPunct="1">
                        <a:defRPr sz="1800" kern="1200">
                          <a:solidFill>
                            <a:schemeClr val="dk1"/>
                          </a:solidFill>
                          <a:latin typeface="Gill Alt One MT"/>
                          <a:ea typeface=""/>
                          <a:cs typeface=""/>
                        </a:defRPr>
                      </a:lvl9pPr>
                    </a:lstStyle>
                    <a:p>
                      <a:pPr algn="l"/>
                      <a:r>
                        <a:rPr lang="de-DE" sz="1000" b="0" kern="0" spc="20" dirty="0">
                          <a:solidFill>
                            <a:schemeClr val="accent1"/>
                          </a:solidFill>
                          <a:latin typeface="+mj-lt"/>
                          <a:ea typeface="+mn-ea"/>
                          <a:cs typeface="Noto Sans"/>
                        </a:rPr>
                        <a:t>Jährlich 1,55 % netto</a:t>
                      </a:r>
                      <a:br>
                        <a:rPr lang="de-DE" sz="1000" b="0" kern="0" spc="20" dirty="0">
                          <a:solidFill>
                            <a:schemeClr val="accent1"/>
                          </a:solidFill>
                          <a:latin typeface="+mj-lt"/>
                          <a:ea typeface="+mn-ea"/>
                          <a:cs typeface="Noto Sans"/>
                        </a:rPr>
                      </a:br>
                      <a:r>
                        <a:rPr lang="de-DE" sz="1000" b="0" kern="0" spc="20" dirty="0">
                          <a:solidFill>
                            <a:schemeClr val="accent1"/>
                          </a:solidFill>
                          <a:latin typeface="+mj-lt"/>
                          <a:ea typeface="+mn-ea"/>
                          <a:cs typeface="Noto Sans"/>
                        </a:rPr>
                        <a:t>des </a:t>
                      </a:r>
                      <a:r>
                        <a:rPr lang="de-DE" sz="1000" b="0" kern="0" spc="20" dirty="0">
                          <a:solidFill>
                            <a:schemeClr val="accent1"/>
                          </a:solidFill>
                          <a:latin typeface="+mj-lt"/>
                          <a:ea typeface=""/>
                          <a:cs typeface="Noto Sans"/>
                        </a:rPr>
                        <a:t>durchschnittlich verfügbaren Anlage-volumens = 1,8445 %* brutto</a:t>
                      </a:r>
                    </a:p>
                    <a:p>
                      <a:pPr algn="l"/>
                      <a:endParaRPr lang="de-DE" sz="1000" b="0" kern="0" spc="20" dirty="0">
                        <a:solidFill>
                          <a:schemeClr val="accent1"/>
                        </a:solidFill>
                        <a:latin typeface="+mj-lt"/>
                        <a:ea typeface=""/>
                        <a:cs typeface="Noto Sans"/>
                      </a:endParaRPr>
                    </a:p>
                    <a:p>
                      <a:pPr algn="l"/>
                      <a:r>
                        <a:rPr lang="de-DE" sz="1000" b="0" kern="0" spc="20" dirty="0">
                          <a:solidFill>
                            <a:schemeClr val="accent1"/>
                          </a:solidFill>
                          <a:latin typeface="+mj-lt"/>
                          <a:ea typeface=""/>
                          <a:cs typeface="Noto Sans"/>
                        </a:rPr>
                        <a:t>Mindestens 500 € netto bzw. mindestens </a:t>
                      </a:r>
                    </a:p>
                    <a:p>
                      <a:pPr algn="l"/>
                      <a:r>
                        <a:rPr lang="de-DE" sz="1000" b="0" kern="0" spc="20" dirty="0">
                          <a:solidFill>
                            <a:schemeClr val="accent1"/>
                          </a:solidFill>
                          <a:latin typeface="+mj-lt"/>
                          <a:ea typeface=""/>
                          <a:cs typeface="Noto Sans"/>
                        </a:rPr>
                        <a:t>595 €* brutto</a:t>
                      </a:r>
                      <a:endParaRPr lang="de-DE" sz="1000" b="0" kern="0" spc="20" dirty="0">
                        <a:solidFill>
                          <a:schemeClr val="accent1"/>
                        </a:solidFill>
                        <a:latin typeface="+mj-lt"/>
                        <a:ea typeface="+mn-ea"/>
                        <a:cs typeface="Noto Sans"/>
                      </a:endParaRPr>
                    </a:p>
                  </a:txBody>
                  <a:tcPr marL="66982" marR="66982" marT="33892" marB="33892"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 name="Textfeld 5">
            <a:extLst>
              <a:ext uri="{FF2B5EF4-FFF2-40B4-BE49-F238E27FC236}">
                <a16:creationId xmlns:a16="http://schemas.microsoft.com/office/drawing/2014/main" id="{00DA0E0E-D75D-8B4F-2AE4-1CF616A0B5A1}"/>
              </a:ext>
            </a:extLst>
          </p:cNvPr>
          <p:cNvSpPr txBox="1"/>
          <p:nvPr/>
        </p:nvSpPr>
        <p:spPr>
          <a:xfrm>
            <a:off x="7757359" y="5512475"/>
            <a:ext cx="2571184" cy="200055"/>
          </a:xfrm>
          <a:prstGeom prst="rect">
            <a:avLst/>
          </a:prstGeom>
          <a:noFill/>
        </p:spPr>
        <p:txBody>
          <a:bodyPr wrap="square" rtlCol="0">
            <a:spAutoFit/>
          </a:bodyPr>
          <a:lstStyle/>
          <a:p>
            <a:r>
              <a:rPr lang="de-DE" sz="700" dirty="0">
                <a:solidFill>
                  <a:schemeClr val="bg1">
                    <a:lumMod val="50000"/>
                  </a:schemeClr>
                </a:solidFill>
                <a:latin typeface="+mj-lt"/>
              </a:rPr>
              <a:t>*inklusive 19% gesetzliche Umsatzsteuer</a:t>
            </a:r>
          </a:p>
        </p:txBody>
      </p:sp>
    </p:spTree>
    <p:extLst>
      <p:ext uri="{BB962C8B-B14F-4D97-AF65-F5344CB8AC3E}">
        <p14:creationId xmlns:p14="http://schemas.microsoft.com/office/powerpoint/2010/main" val="448243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ACE350D-77F5-9B91-3EA6-D3071990B176}"/>
              </a:ext>
            </a:extLst>
          </p:cNvPr>
          <p:cNvSpPr>
            <a:spLocks noGrp="1"/>
          </p:cNvSpPr>
          <p:nvPr>
            <p:ph type="sldNum" sz="quarter" idx="12"/>
          </p:nvPr>
        </p:nvSpPr>
        <p:spPr/>
        <p:txBody>
          <a:bodyPr/>
          <a:lstStyle/>
          <a:p>
            <a:fld id="{3AE71D6B-ACB6-4F4C-A895-DCAEF1760EAA}" type="slidenum">
              <a:rPr lang="de-DE" smtClean="0"/>
              <a:t>30</a:t>
            </a:fld>
            <a:endParaRPr lang="de-DE"/>
          </a:p>
        </p:txBody>
      </p:sp>
      <p:sp>
        <p:nvSpPr>
          <p:cNvPr id="6" name="Inhaltsplatzhalter 5">
            <a:extLst>
              <a:ext uri="{FF2B5EF4-FFF2-40B4-BE49-F238E27FC236}">
                <a16:creationId xmlns:a16="http://schemas.microsoft.com/office/drawing/2014/main" id="{91F7A1A9-CB89-DAF6-B6E2-A5D379AC60B6}"/>
              </a:ext>
            </a:extLst>
          </p:cNvPr>
          <p:cNvSpPr>
            <a:spLocks noGrp="1"/>
          </p:cNvSpPr>
          <p:nvPr>
            <p:ph idx="13"/>
          </p:nvPr>
        </p:nvSpPr>
        <p:spPr>
          <a:xfrm>
            <a:off x="5781801" y="1050707"/>
            <a:ext cx="3823927" cy="4791074"/>
          </a:xfrm>
        </p:spPr>
        <p:txBody>
          <a:bodyPr/>
          <a:lstStyle/>
          <a:p>
            <a:r>
              <a:rPr lang="de-DE" b="0" dirty="0"/>
              <a:t>Im Rahmen der Belastung der Vermögensverwaltungs-gebühr werden wir den steuerlich abzugsfähigen Transaktionskostenteil in den allgemeinen Verlust-verrechnungstopf für Ihre Konten und Depots einstellen, damit erfolgt automatisch die Verrechnung mit Ihren abgeltungssteuerpflichtigen Erträgen und damit eine Steuerminderung.</a:t>
            </a:r>
          </a:p>
          <a:p>
            <a:r>
              <a:rPr lang="de-DE" b="0" dirty="0"/>
              <a:t>Die Bank übernimmt keine Gewähr dafür, dass der Transaktionskostenanteil der All-in-Fee sowohl dem Grunde als auch der Höhe nach als Steuer mindernd anerkannt wird.</a:t>
            </a:r>
          </a:p>
        </p:txBody>
      </p:sp>
      <p:sp>
        <p:nvSpPr>
          <p:cNvPr id="5" name="Inhaltsplatzhalter 4">
            <a:extLst>
              <a:ext uri="{FF2B5EF4-FFF2-40B4-BE49-F238E27FC236}">
                <a16:creationId xmlns:a16="http://schemas.microsoft.com/office/drawing/2014/main" id="{A24F3140-E7DE-563B-E0DE-B188622D07CA}"/>
              </a:ext>
            </a:extLst>
          </p:cNvPr>
          <p:cNvSpPr>
            <a:spLocks noGrp="1"/>
          </p:cNvSpPr>
          <p:nvPr>
            <p:ph idx="1"/>
          </p:nvPr>
        </p:nvSpPr>
        <p:spPr>
          <a:xfrm>
            <a:off x="693753" y="1050707"/>
            <a:ext cx="3823927" cy="4791074"/>
          </a:xfrm>
        </p:spPr>
        <p:txBody>
          <a:bodyPr/>
          <a:lstStyle/>
          <a:p>
            <a:r>
              <a:rPr lang="de-DE" b="0" dirty="0"/>
              <a:t>Mit der Einführung der Abgeltungssteuer zum 01. Januar 2009 sind die Werbungskosten bei der Ermittlung aus Kapitalvermögen grundsätzlich nicht mehr abzugsfähig. Hingegen wirken sich Anschaffungsnebenkosten und Veräußerungskosten steuermindernd aus. </a:t>
            </a:r>
          </a:p>
          <a:p>
            <a:r>
              <a:rPr lang="de-DE" b="0" dirty="0"/>
              <a:t>Bei Pauschalgebühren (All-in-Fee) im Rahmen von Vermögensverwaltungsverträgen werden sämtliche Management- und eigene Transaktionsleistungen der Bank, sowie alle Dienstleistungen abgegolten, die sie im Zusammenhang mit der Führung der verwalteten Konten und Depots erbringt. Es gilt ein Anteil der Transaktionskosten (Anschaffungsnebenkosten und Veräußerungskosten) an der All-in-Fee in Höhe von 50% als vereinbart und wird im Vermögensverwaltungs-vertrag festgeschrieben.</a:t>
            </a:r>
          </a:p>
        </p:txBody>
      </p:sp>
      <p:sp>
        <p:nvSpPr>
          <p:cNvPr id="4" name="Titel 3">
            <a:extLst>
              <a:ext uri="{FF2B5EF4-FFF2-40B4-BE49-F238E27FC236}">
                <a16:creationId xmlns:a16="http://schemas.microsoft.com/office/drawing/2014/main" id="{4C185328-971D-DC38-5FAB-58D50AA0DF28}"/>
              </a:ext>
            </a:extLst>
          </p:cNvPr>
          <p:cNvSpPr>
            <a:spLocks noGrp="1"/>
          </p:cNvSpPr>
          <p:nvPr>
            <p:ph type="title"/>
          </p:nvPr>
        </p:nvSpPr>
        <p:spPr/>
        <p:txBody>
          <a:bodyPr/>
          <a:lstStyle/>
          <a:p>
            <a:r>
              <a:rPr lang="de-DE" dirty="0"/>
              <a:t>Steuerlicher Hinweis zum Honorar</a:t>
            </a:r>
          </a:p>
        </p:txBody>
      </p:sp>
    </p:spTree>
    <p:extLst>
      <p:ext uri="{BB962C8B-B14F-4D97-AF65-F5344CB8AC3E}">
        <p14:creationId xmlns:p14="http://schemas.microsoft.com/office/powerpoint/2010/main" val="843698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BD092B-3E1D-4D44-8BCC-43FEAC72E7AA}"/>
              </a:ext>
            </a:extLst>
          </p:cNvPr>
          <p:cNvSpPr>
            <a:spLocks noGrp="1"/>
          </p:cNvSpPr>
          <p:nvPr>
            <p:ph type="title"/>
          </p:nvPr>
        </p:nvSpPr>
        <p:spPr/>
        <p:txBody>
          <a:bodyPr/>
          <a:lstStyle/>
          <a:p>
            <a:r>
              <a:rPr lang="de-DE" dirty="0"/>
              <a:t>Unser Reporting</a:t>
            </a:r>
          </a:p>
        </p:txBody>
      </p:sp>
    </p:spTree>
    <p:extLst>
      <p:ext uri="{BB962C8B-B14F-4D97-AF65-F5344CB8AC3E}">
        <p14:creationId xmlns:p14="http://schemas.microsoft.com/office/powerpoint/2010/main" val="214174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952F355-56A8-9B4C-9C8A-5B39F231AADD}"/>
              </a:ext>
            </a:extLst>
          </p:cNvPr>
          <p:cNvSpPr>
            <a:spLocks noGrp="1"/>
          </p:cNvSpPr>
          <p:nvPr>
            <p:ph type="body" sz="quarter" idx="10"/>
          </p:nvPr>
        </p:nvSpPr>
        <p:spPr>
          <a:xfrm>
            <a:off x="1036594" y="2084366"/>
            <a:ext cx="7423194" cy="1827500"/>
          </a:xfrm>
        </p:spPr>
        <p:txBody>
          <a:bodyPr/>
          <a:lstStyle/>
          <a:p>
            <a:r>
              <a:rPr lang="de-DE" dirty="0"/>
              <a:t>RECHTLICHE HINWEISE </a:t>
            </a:r>
            <a:br>
              <a:rPr lang="de-DE" dirty="0"/>
            </a:br>
            <a:r>
              <a:rPr lang="de-DE" dirty="0"/>
              <a:t>UND IMPRESSUM</a:t>
            </a:r>
          </a:p>
        </p:txBody>
      </p:sp>
      <p:sp>
        <p:nvSpPr>
          <p:cNvPr id="3" name="Textplatzhalter 2">
            <a:extLst>
              <a:ext uri="{FF2B5EF4-FFF2-40B4-BE49-F238E27FC236}">
                <a16:creationId xmlns:a16="http://schemas.microsoft.com/office/drawing/2014/main" id="{41FB8F5F-EAD0-9448-8FEA-C366C8E028CD}"/>
              </a:ext>
            </a:extLst>
          </p:cNvPr>
          <p:cNvSpPr>
            <a:spLocks noGrp="1"/>
          </p:cNvSpPr>
          <p:nvPr>
            <p:ph type="body" sz="quarter" idx="11"/>
          </p:nvPr>
        </p:nvSpPr>
        <p:spPr/>
        <p:txBody>
          <a:bodyPr/>
          <a:lstStyle/>
          <a:p>
            <a:endParaRPr lang="de-DE" dirty="0"/>
          </a:p>
        </p:txBody>
      </p:sp>
    </p:spTree>
    <p:extLst>
      <p:ext uri="{BB962C8B-B14F-4D97-AF65-F5344CB8AC3E}">
        <p14:creationId xmlns:p14="http://schemas.microsoft.com/office/powerpoint/2010/main" val="98593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EEE-A04E-6DAC-BC1B-672E88405F5C}"/>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086986D-FF02-10E6-714C-4BC3C095FB32}"/>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33</a:t>
            </a:fld>
            <a:endParaRPr lang="de-DE"/>
          </a:p>
        </p:txBody>
      </p:sp>
      <p:sp>
        <p:nvSpPr>
          <p:cNvPr id="6" name="Titel">
            <a:extLst>
              <a:ext uri="{FF2B5EF4-FFF2-40B4-BE49-F238E27FC236}">
                <a16:creationId xmlns:a16="http://schemas.microsoft.com/office/drawing/2014/main" id="{9A4A8219-EDFE-2E10-CAD7-8EE453B1C947}"/>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Risikohinweise</a:t>
            </a:r>
            <a:endParaRPr lang="de-DE" dirty="0">
              <a:solidFill>
                <a:srgbClr val="FF0000"/>
              </a:solidFill>
            </a:endParaRPr>
          </a:p>
        </p:txBody>
      </p:sp>
      <p:sp>
        <p:nvSpPr>
          <p:cNvPr id="8" name="Text 1">
            <a:extLst>
              <a:ext uri="{FF2B5EF4-FFF2-40B4-BE49-F238E27FC236}">
                <a16:creationId xmlns:a16="http://schemas.microsoft.com/office/drawing/2014/main" id="{2CA92FC6-4022-9D35-AA38-EEFAC8D0B3FD}"/>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Währungsrisiko:</a:t>
            </a:r>
            <a:r>
              <a:rPr lang="de-DE" dirty="0"/>
              <a:t> Bei Anlagen in Fremdwährungen hängt die Rendite nicht nur von der Kursentwicklung des Wertpapiers ab, sondern auch von der Entwicklung des Wechselkurses zum Euro. Ungünstige Wechselkursänderungen können Gewinne schmälern oder zu Verlusten führen.</a:t>
            </a:r>
            <a:endParaRPr lang="de-DE" b="1" dirty="0"/>
          </a:p>
          <a:p>
            <a:pPr lvl="2"/>
            <a:endParaRPr lang="de-DE" b="1" dirty="0"/>
          </a:p>
          <a:p>
            <a:pPr lvl="2"/>
            <a:r>
              <a:rPr lang="de-DE" b="1" dirty="0"/>
              <a:t>Meinungsvorbehalt</a:t>
            </a:r>
            <a:r>
              <a:rPr lang="de-DE" dirty="0"/>
              <a:t>: Die dargestellten Meinungsäußerungen geben die aktuelle Einschätzung des Erstellers wieder und können sich ohne vorherige Ankündigung ändern.</a:t>
            </a:r>
          </a:p>
          <a:p>
            <a:pPr lvl="2"/>
            <a:endParaRPr lang="de-DE" dirty="0"/>
          </a:p>
          <a:p>
            <a:pPr lvl="2"/>
            <a:r>
              <a:rPr lang="de-DE" b="1" dirty="0"/>
              <a:t>Steuerliche Hinweise:</a:t>
            </a:r>
            <a:r>
              <a:rPr lang="de-DE" dirty="0"/>
              <a:t> Die steuerliche Behandlung der Erträge hängt von den persönlichen Verhältnissen des Kunden ab und kann künftigen Änderungen unterworfen sein. Diese Information ersetzt keine individuelle Steuerberatung.</a:t>
            </a:r>
          </a:p>
        </p:txBody>
      </p:sp>
      <p:sp>
        <p:nvSpPr>
          <p:cNvPr id="14" name="Text 1">
            <a:extLst>
              <a:ext uri="{FF2B5EF4-FFF2-40B4-BE49-F238E27FC236}">
                <a16:creationId xmlns:a16="http://schemas.microsoft.com/office/drawing/2014/main" id="{262685F1-866B-40B7-CD4A-5027053E814A}"/>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lvl="2"/>
            <a:r>
              <a:rPr lang="de-DE" b="1" dirty="0"/>
              <a:t>Markt- und Kursrisiken</a:t>
            </a:r>
            <a:r>
              <a:rPr lang="de-DE" dirty="0"/>
              <a:t>: Anlagen an den Kapitalmärkten sind mit Risiken verbunden. Die Kurse, Erträge und Werte einer Investmentanlage, auch der beschriebenen Investitionsmöglichkeiten können schwanken. Ein Kapitalverlust ist nicht auszuschließen.</a:t>
            </a:r>
            <a:br>
              <a:rPr lang="de-DE" dirty="0">
                <a:solidFill>
                  <a:srgbClr val="FF0000"/>
                </a:solidFill>
              </a:rPr>
            </a:br>
            <a:endParaRPr lang="de-DE" dirty="0">
              <a:solidFill>
                <a:srgbClr val="FF0000"/>
              </a:solidFill>
            </a:endParaRPr>
          </a:p>
          <a:p>
            <a:pPr lvl="2"/>
            <a:r>
              <a:rPr lang="de-DE" b="1" dirty="0"/>
              <a:t>Frühere Entwicklungen</a:t>
            </a:r>
            <a:r>
              <a:rPr lang="de-DE" dirty="0"/>
              <a:t>, Simulationen oder Prognosen sind kein verlässlicher Indikator für die zukünftige Wertentwicklung. Eine positive Entwicklung in der Vergangenheit ist insbesondere keine Garantie für die zukünftige Wertentwicklung. </a:t>
            </a:r>
          </a:p>
          <a:p>
            <a:pPr lvl="2"/>
            <a:endParaRPr lang="de-DE" dirty="0"/>
          </a:p>
          <a:p>
            <a:pPr lvl="2"/>
            <a:r>
              <a:rPr lang="de-DE" dirty="0"/>
              <a:t>Insbesondere bei Anlagen mit geringer Nominalverzinsung kann die </a:t>
            </a:r>
            <a:r>
              <a:rPr lang="de-DE" b="1" dirty="0"/>
              <a:t>Inflation</a:t>
            </a:r>
            <a:r>
              <a:rPr lang="de-DE" dirty="0"/>
              <a:t> zu einem realen Wertverlust führen.</a:t>
            </a:r>
          </a:p>
          <a:p>
            <a:pPr lvl="2"/>
            <a:endParaRPr lang="de-DE" dirty="0"/>
          </a:p>
          <a:p>
            <a:pPr lvl="2"/>
            <a:r>
              <a:rPr lang="de-DE" dirty="0"/>
              <a:t>Eine kurze Anlagedauer sowie anfallende </a:t>
            </a:r>
            <a:r>
              <a:rPr lang="de-DE" b="1" dirty="0"/>
              <a:t>Kosten</a:t>
            </a:r>
            <a:r>
              <a:rPr lang="de-DE" dirty="0"/>
              <a:t> und Gebühren können das Risiko-Rendite-Verhältnis sowie die tatsächliche Netto-Rendite erheblich beeinträchtigen.</a:t>
            </a:r>
          </a:p>
          <a:p>
            <a:pPr marL="0" lvl="2" indent="0">
              <a:buNone/>
            </a:pPr>
            <a:endParaRPr lang="de-DE" dirty="0"/>
          </a:p>
          <a:p>
            <a:pPr lvl="2"/>
            <a:endParaRPr lang="de-DE" dirty="0"/>
          </a:p>
          <a:p>
            <a:pPr lvl="2"/>
            <a:endParaRPr lang="de-DE" dirty="0"/>
          </a:p>
        </p:txBody>
      </p:sp>
    </p:spTree>
    <p:extLst>
      <p:ext uri="{BB962C8B-B14F-4D97-AF65-F5344CB8AC3E}">
        <p14:creationId xmlns:p14="http://schemas.microsoft.com/office/powerpoint/2010/main" val="2681415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16CC-F0AE-71CB-1251-609EEDFB115A}"/>
            </a:ext>
          </a:extLst>
        </p:cNvPr>
        <p:cNvGrpSpPr/>
        <p:nvPr/>
      </p:nvGrpSpPr>
      <p:grpSpPr>
        <a:xfrm>
          <a:off x="0" y="0"/>
          <a:ext cx="0" cy="0"/>
          <a:chOff x="0" y="0"/>
          <a:chExt cx="0" cy="0"/>
        </a:xfrm>
      </p:grpSpPr>
      <p:sp>
        <p:nvSpPr>
          <p:cNvPr id="2" name="Foliennummer">
            <a:extLst>
              <a:ext uri="{FF2B5EF4-FFF2-40B4-BE49-F238E27FC236}">
                <a16:creationId xmlns:a16="http://schemas.microsoft.com/office/drawing/2014/main" id="{DB47530D-88A6-A760-B34A-D1BE097ED3C6}"/>
              </a:ext>
            </a:extLst>
          </p:cNvPr>
          <p:cNvSpPr>
            <a:spLocks noGrp="1" noRot="1" noMove="1" noResize="1" noEditPoints="1" noAdjustHandles="1" noChangeArrowheads="1" noChangeShapeType="1"/>
          </p:cNvSpPr>
          <p:nvPr>
            <p:ph type="sldNum" sz="quarter" idx="12"/>
          </p:nvPr>
        </p:nvSpPr>
        <p:spPr>
          <a:xfrm>
            <a:off x="7866000" y="6182738"/>
            <a:ext cx="2224263" cy="157725"/>
          </a:xfrm>
        </p:spPr>
        <p:txBody>
          <a:bodyPr/>
          <a:lstStyle/>
          <a:p>
            <a:fld id="{3AE71D6B-ACB6-4F4C-A895-DCAEF1760EAA}" type="slidenum">
              <a:rPr lang="de-DE" smtClean="0"/>
              <a:pPr/>
              <a:t>34</a:t>
            </a:fld>
            <a:endParaRPr lang="de-DE"/>
          </a:p>
        </p:txBody>
      </p:sp>
      <p:sp>
        <p:nvSpPr>
          <p:cNvPr id="6" name="Titel">
            <a:extLst>
              <a:ext uri="{FF2B5EF4-FFF2-40B4-BE49-F238E27FC236}">
                <a16:creationId xmlns:a16="http://schemas.microsoft.com/office/drawing/2014/main" id="{2811FDDA-3594-45DD-834F-5736DCC6EF31}"/>
              </a:ext>
            </a:extLst>
          </p:cNvPr>
          <p:cNvSpPr>
            <a:spLocks noGrp="1" noRot="1" noMove="1" noResize="1" noEditPoints="1" noAdjustHandles="1" noChangeArrowheads="1" noChangeShapeType="1"/>
          </p:cNvSpPr>
          <p:nvPr>
            <p:ph type="title"/>
          </p:nvPr>
        </p:nvSpPr>
        <p:spPr>
          <a:xfrm>
            <a:off x="358775" y="322580"/>
            <a:ext cx="9756774" cy="360000"/>
          </a:xfrm>
        </p:spPr>
        <p:txBody>
          <a:bodyPr/>
          <a:lstStyle/>
          <a:p>
            <a:r>
              <a:rPr lang="de-DE" dirty="0"/>
              <a:t>Rechtliche Hinweise und Impressum</a:t>
            </a:r>
          </a:p>
        </p:txBody>
      </p:sp>
      <p:sp>
        <p:nvSpPr>
          <p:cNvPr id="8" name="Text 1">
            <a:extLst>
              <a:ext uri="{FF2B5EF4-FFF2-40B4-BE49-F238E27FC236}">
                <a16:creationId xmlns:a16="http://schemas.microsoft.com/office/drawing/2014/main" id="{6055C3FA-5170-362F-1D1E-FE305637A52B}"/>
              </a:ext>
            </a:extLst>
          </p:cNvPr>
          <p:cNvSpPr txBox="1">
            <a:spLocks/>
          </p:cNvSpPr>
          <p:nvPr/>
        </p:nvSpPr>
        <p:spPr>
          <a:xfrm>
            <a:off x="5387983"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pPr>
              <a:lnSpc>
                <a:spcPct val="100000"/>
              </a:lnSpc>
              <a:spcBef>
                <a:spcPts val="600"/>
              </a:spcBef>
            </a:pPr>
            <a:r>
              <a:rPr lang="de-DE" sz="1000" dirty="0">
                <a:solidFill>
                  <a:srgbClr val="000000"/>
                </a:solidFill>
                <a:latin typeface="+mn-lt"/>
              </a:rPr>
              <a:t>Verantwortlich für die Inhalte</a:t>
            </a:r>
          </a:p>
          <a:p>
            <a:pPr>
              <a:lnSpc>
                <a:spcPct val="100000"/>
              </a:lnSpc>
              <a:spcBef>
                <a:spcPts val="600"/>
              </a:spcBef>
            </a:pPr>
            <a:r>
              <a:rPr lang="de-DE" sz="1000" b="0" dirty="0">
                <a:solidFill>
                  <a:srgbClr val="000000"/>
                </a:solidFill>
                <a:latin typeface="+mn-lt"/>
              </a:rPr>
              <a:t>Fürst Fugger Privatbank Aktiengesellschaft</a:t>
            </a:r>
            <a:br>
              <a:rPr lang="de-DE" sz="1000" b="0" dirty="0">
                <a:solidFill>
                  <a:srgbClr val="000000"/>
                </a:solidFill>
                <a:latin typeface="+mn-lt"/>
              </a:rPr>
            </a:br>
            <a:r>
              <a:rPr lang="de-DE" sz="1000" b="0" dirty="0">
                <a:solidFill>
                  <a:srgbClr val="000000"/>
                </a:solidFill>
                <a:latin typeface="+mn-lt"/>
              </a:rPr>
              <a:t>Maximilianstraße 38</a:t>
            </a:r>
            <a:br>
              <a:rPr lang="de-DE" sz="1000" b="0" dirty="0">
                <a:solidFill>
                  <a:srgbClr val="000000"/>
                </a:solidFill>
                <a:latin typeface="+mn-lt"/>
              </a:rPr>
            </a:br>
            <a:r>
              <a:rPr lang="de-DE" sz="1000" b="0" dirty="0">
                <a:solidFill>
                  <a:srgbClr val="000000"/>
                </a:solidFill>
                <a:latin typeface="+mn-lt"/>
              </a:rPr>
              <a:t>86150 Augsburg</a:t>
            </a:r>
            <a:br>
              <a:rPr lang="de-DE" sz="1000" b="0" dirty="0">
                <a:solidFill>
                  <a:srgbClr val="000000"/>
                </a:solidFill>
                <a:latin typeface="+mn-lt"/>
              </a:rPr>
            </a:br>
            <a:r>
              <a:rPr lang="de-DE" sz="1000" b="0" dirty="0">
                <a:solidFill>
                  <a:srgbClr val="000000"/>
                </a:solidFill>
                <a:latin typeface="+mn-lt"/>
              </a:rPr>
              <a:t>Telefon 0821 3201-0</a:t>
            </a:r>
            <a:br>
              <a:rPr lang="de-DE" sz="1000" b="0" dirty="0">
                <a:solidFill>
                  <a:srgbClr val="000000"/>
                </a:solidFill>
                <a:latin typeface="+mn-lt"/>
              </a:rPr>
            </a:br>
            <a:r>
              <a:rPr lang="de-DE" sz="1000" b="0" dirty="0">
                <a:solidFill>
                  <a:srgbClr val="000000"/>
                </a:solidFill>
                <a:latin typeface="+mn-lt"/>
              </a:rPr>
              <a:t>Telefax </a:t>
            </a:r>
            <a:r>
              <a:rPr lang="de-DE" sz="1000" b="0">
                <a:solidFill>
                  <a:srgbClr val="000000"/>
                </a:solidFill>
                <a:latin typeface="+mn-lt"/>
              </a:rPr>
              <a:t>0821 3201-271</a:t>
            </a:r>
            <a:endParaRPr lang="de-DE" sz="1000" b="0" dirty="0">
              <a:solidFill>
                <a:srgbClr val="FF0000"/>
              </a:solidFill>
              <a:latin typeface="+mn-lt"/>
            </a:endParaRPr>
          </a:p>
          <a:p>
            <a:pPr>
              <a:lnSpc>
                <a:spcPct val="100000"/>
              </a:lnSpc>
            </a:pPr>
            <a:r>
              <a:rPr lang="de-DE" sz="1000" dirty="0">
                <a:solidFill>
                  <a:srgbClr val="000000"/>
                </a:solidFill>
                <a:latin typeface="+mn-lt"/>
              </a:rPr>
              <a:t>E-Mail </a:t>
            </a:r>
            <a:r>
              <a:rPr lang="de-DE" sz="1000" u="sng" dirty="0">
                <a:solidFill>
                  <a:schemeClr val="accent3"/>
                </a:solidFill>
                <a:latin typeface="+mn-lt"/>
                <a:hlinkClick r:id="rId3">
                  <a:extLst>
                    <a:ext uri="{A12FA001-AC4F-418D-AE19-62706E023703}">
                      <ahyp:hlinkClr xmlns:ahyp="http://schemas.microsoft.com/office/drawing/2018/hyperlinkcolor" val="tx"/>
                    </a:ext>
                  </a:extLst>
                </a:hlinkClick>
              </a:rPr>
              <a:t>info@fuggerbank.de</a:t>
            </a:r>
            <a:r>
              <a:rPr lang="de-DE" sz="1000" dirty="0">
                <a:solidFill>
                  <a:schemeClr val="accent3"/>
                </a:solidFill>
                <a:latin typeface="+mn-lt"/>
              </a:rPr>
              <a:t>     </a:t>
            </a:r>
          </a:p>
          <a:p>
            <a:pPr>
              <a:lnSpc>
                <a:spcPct val="100000"/>
              </a:lnSpc>
            </a:pPr>
            <a:r>
              <a:rPr lang="de-DE" sz="1000" dirty="0">
                <a:solidFill>
                  <a:srgbClr val="000000"/>
                </a:solidFill>
                <a:latin typeface="+mn-lt"/>
              </a:rPr>
              <a:t>Homepage </a:t>
            </a:r>
            <a:r>
              <a:rPr lang="de-DE" sz="1000" dirty="0">
                <a:solidFill>
                  <a:schemeClr val="accent3"/>
                </a:solidFill>
                <a:latin typeface="+mn-lt"/>
                <a:hlinkClick r:id="rId4">
                  <a:extLst>
                    <a:ext uri="{A12FA001-AC4F-418D-AE19-62706E023703}">
                      <ahyp:hlinkClr xmlns:ahyp="http://schemas.microsoft.com/office/drawing/2018/hyperlinkcolor" val="tx"/>
                    </a:ext>
                  </a:extLst>
                </a:hlinkClick>
              </a:rPr>
              <a:t>www.fuggerbank.de</a:t>
            </a:r>
            <a:r>
              <a:rPr lang="de-DE" sz="1000" dirty="0">
                <a:solidFill>
                  <a:schemeClr val="accent3"/>
                </a:solidFill>
                <a:latin typeface="+mn-lt"/>
              </a:rPr>
              <a:t> </a:t>
            </a:r>
          </a:p>
          <a:p>
            <a:pPr>
              <a:lnSpc>
                <a:spcPts val="1100"/>
              </a:lnSpc>
            </a:pPr>
            <a:r>
              <a:rPr lang="de-DE" sz="1000" dirty="0">
                <a:solidFill>
                  <a:srgbClr val="000000"/>
                </a:solidFill>
                <a:latin typeface="+mn-lt"/>
              </a:rPr>
              <a:t>Vorstand </a:t>
            </a:r>
            <a:r>
              <a:rPr lang="de-DE" sz="1000" b="0" dirty="0">
                <a:solidFill>
                  <a:srgbClr val="000000"/>
                </a:solidFill>
                <a:latin typeface="+mn-lt"/>
              </a:rPr>
              <a:t>Dr. Martin Fritz (Vorsitzender)</a:t>
            </a:r>
            <a:br>
              <a:rPr lang="de-DE" sz="1000" b="0" dirty="0">
                <a:solidFill>
                  <a:srgbClr val="000000"/>
                </a:solidFill>
                <a:latin typeface="+mn-lt"/>
              </a:rPr>
            </a:br>
            <a:r>
              <a:rPr lang="de-DE" sz="1000" b="0" dirty="0">
                <a:solidFill>
                  <a:srgbClr val="000000"/>
                </a:solidFill>
                <a:latin typeface="+mn-lt"/>
              </a:rPr>
              <a:t>                   Jochen Hagen</a:t>
            </a:r>
          </a:p>
          <a:p>
            <a:pPr>
              <a:lnSpc>
                <a:spcPts val="600"/>
              </a:lnSpc>
            </a:pPr>
            <a:r>
              <a:rPr lang="de-DE" sz="1000" dirty="0">
                <a:solidFill>
                  <a:srgbClr val="000000"/>
                </a:solidFill>
                <a:latin typeface="+mn-lt"/>
              </a:rPr>
              <a:t>Vorsitzender des Aufsichtsrats </a:t>
            </a:r>
            <a:r>
              <a:rPr lang="de-DE" sz="1000" b="0" dirty="0">
                <a:solidFill>
                  <a:srgbClr val="000000"/>
                </a:solidFill>
                <a:latin typeface="+mn-lt"/>
              </a:rPr>
              <a:t>Dr. Jürgen Voß</a:t>
            </a:r>
          </a:p>
          <a:p>
            <a:pPr>
              <a:lnSpc>
                <a:spcPts val="600"/>
              </a:lnSpc>
            </a:pPr>
            <a:r>
              <a:rPr lang="en-US" sz="1000" b="0" dirty="0">
                <a:solidFill>
                  <a:srgbClr val="000000"/>
                </a:solidFill>
                <a:latin typeface="+mn-lt"/>
              </a:rPr>
              <a:t>BLZ 720 300 14 	BIC FUBKDE71</a:t>
            </a:r>
            <a:endParaRPr lang="de-DE" sz="1000" b="0" dirty="0">
              <a:solidFill>
                <a:srgbClr val="000000"/>
              </a:solidFill>
              <a:latin typeface="+mn-lt"/>
            </a:endParaRPr>
          </a:p>
          <a:p>
            <a:pPr>
              <a:lnSpc>
                <a:spcPts val="600"/>
              </a:lnSpc>
            </a:pPr>
            <a:r>
              <a:rPr lang="en-US" sz="1000" b="0" dirty="0" err="1">
                <a:solidFill>
                  <a:srgbClr val="000000"/>
                </a:solidFill>
                <a:latin typeface="+mn-lt"/>
              </a:rPr>
              <a:t>USt</a:t>
            </a:r>
            <a:r>
              <a:rPr lang="en-US" sz="1000" b="0" dirty="0">
                <a:solidFill>
                  <a:srgbClr val="000000"/>
                </a:solidFill>
                <a:latin typeface="+mn-lt"/>
              </a:rPr>
              <a:t>.-</a:t>
            </a:r>
            <a:r>
              <a:rPr lang="en-US" sz="1000" b="0" dirty="0" err="1">
                <a:solidFill>
                  <a:srgbClr val="000000"/>
                </a:solidFill>
                <a:latin typeface="+mn-lt"/>
              </a:rPr>
              <a:t>IdNr</a:t>
            </a:r>
            <a:r>
              <a:rPr lang="en-US" sz="1000" b="0" dirty="0">
                <a:solidFill>
                  <a:srgbClr val="000000"/>
                </a:solidFill>
                <a:latin typeface="+mn-lt"/>
              </a:rPr>
              <a:t>. </a:t>
            </a:r>
            <a:r>
              <a:rPr lang="de-DE" sz="1000" b="0" dirty="0">
                <a:solidFill>
                  <a:srgbClr val="000000"/>
                </a:solidFill>
                <a:latin typeface="+mn-lt"/>
              </a:rPr>
              <a:t>DE127460248 St.-Nr. 103/120/20616</a:t>
            </a:r>
          </a:p>
          <a:p>
            <a:pPr>
              <a:lnSpc>
                <a:spcPts val="600"/>
              </a:lnSpc>
            </a:pPr>
            <a:r>
              <a:rPr lang="de-DE" sz="1000" dirty="0">
                <a:solidFill>
                  <a:srgbClr val="000000"/>
                </a:solidFill>
                <a:latin typeface="+mn-lt"/>
              </a:rPr>
              <a:t>Handelsregister </a:t>
            </a:r>
            <a:r>
              <a:rPr lang="de-DE" sz="1000" b="0" dirty="0">
                <a:solidFill>
                  <a:srgbClr val="000000"/>
                </a:solidFill>
                <a:latin typeface="+mn-lt"/>
              </a:rPr>
              <a:t>Amtsgericht Augsburg HRB 30002</a:t>
            </a:r>
          </a:p>
          <a:p>
            <a:pPr>
              <a:lnSpc>
                <a:spcPts val="600"/>
              </a:lnSpc>
            </a:pPr>
            <a:r>
              <a:rPr lang="de-DE" sz="1000" dirty="0">
                <a:solidFill>
                  <a:srgbClr val="000000"/>
                </a:solidFill>
                <a:latin typeface="+mn-lt"/>
              </a:rPr>
              <a:t>Zuständige Aufsichtsbehörden</a:t>
            </a:r>
          </a:p>
          <a:p>
            <a:pPr>
              <a:lnSpc>
                <a:spcPts val="600"/>
              </a:lnSpc>
            </a:pPr>
            <a:r>
              <a:rPr lang="de-DE" sz="1000" b="0" dirty="0">
                <a:solidFill>
                  <a:srgbClr val="000000"/>
                </a:solidFill>
                <a:latin typeface="+mn-lt"/>
              </a:rPr>
              <a:t>Bundesanstalt für Finanzdienstleistungsaufsicht (BaFin)</a:t>
            </a:r>
            <a:br>
              <a:rPr lang="de-DE" sz="1000" b="0" dirty="0">
                <a:solidFill>
                  <a:srgbClr val="000000"/>
                </a:solidFill>
                <a:latin typeface="+mn-lt"/>
              </a:rPr>
            </a:br>
            <a:br>
              <a:rPr lang="de-DE" sz="1000" b="0" dirty="0">
                <a:solidFill>
                  <a:schemeClr val="accent3"/>
                </a:solidFill>
                <a:latin typeface="+mn-lt"/>
              </a:rPr>
            </a:br>
            <a:r>
              <a:rPr lang="de-DE" sz="1000" b="0" u="sng" dirty="0">
                <a:solidFill>
                  <a:schemeClr val="accent3"/>
                </a:solidFill>
                <a:latin typeface="+mn-lt"/>
                <a:hlinkClick r:id="rId5">
                  <a:extLst>
                    <a:ext uri="{A12FA001-AC4F-418D-AE19-62706E023703}">
                      <ahyp:hlinkClr xmlns:ahyp="http://schemas.microsoft.com/office/drawing/2018/hyperlinkcolor" val="tx"/>
                    </a:ext>
                  </a:extLst>
                </a:hlinkClick>
              </a:rPr>
              <a:t>www.bafin.de</a:t>
            </a:r>
            <a:endParaRPr lang="de-DE" sz="1000" b="0" dirty="0">
              <a:solidFill>
                <a:schemeClr val="accent3"/>
              </a:solidFill>
              <a:latin typeface="+mn-lt"/>
            </a:endParaRPr>
          </a:p>
          <a:p>
            <a:pPr>
              <a:lnSpc>
                <a:spcPts val="600"/>
              </a:lnSpc>
            </a:pPr>
            <a:r>
              <a:rPr lang="de-DE" sz="1000" b="0" dirty="0">
                <a:solidFill>
                  <a:srgbClr val="000000"/>
                </a:solidFill>
                <a:latin typeface="+mn-lt"/>
              </a:rPr>
              <a:t>Europäische Zentralbank </a:t>
            </a:r>
            <a:r>
              <a:rPr lang="de-DE" sz="1000" b="0" dirty="0">
                <a:solidFill>
                  <a:schemeClr val="accent3"/>
                </a:solidFill>
                <a:latin typeface="+mn-lt"/>
                <a:hlinkClick r:id="rId6">
                  <a:extLst>
                    <a:ext uri="{A12FA001-AC4F-418D-AE19-62706E023703}">
                      <ahyp:hlinkClr xmlns:ahyp="http://schemas.microsoft.com/office/drawing/2018/hyperlinkcolor" val="tx"/>
                    </a:ext>
                  </a:extLst>
                </a:hlinkClick>
              </a:rPr>
              <a:t>https://www.ecb.europa.eu/</a:t>
            </a:r>
            <a:r>
              <a:rPr lang="de-DE" sz="1000" b="0" dirty="0">
                <a:solidFill>
                  <a:schemeClr val="accent3"/>
                </a:solidFill>
                <a:latin typeface="+mn-lt"/>
              </a:rPr>
              <a:t> </a:t>
            </a:r>
          </a:p>
          <a:p>
            <a:pPr>
              <a:lnSpc>
                <a:spcPts val="600"/>
              </a:lnSpc>
            </a:pPr>
            <a:br>
              <a:rPr lang="de-DE" dirty="0">
                <a:solidFill>
                  <a:srgbClr val="000000"/>
                </a:solidFill>
                <a:latin typeface="+mn-lt"/>
              </a:rPr>
            </a:br>
            <a:endParaRPr lang="de-DE" dirty="0">
              <a:solidFill>
                <a:srgbClr val="000000"/>
              </a:solidFill>
              <a:latin typeface="+mn-lt"/>
            </a:endParaRPr>
          </a:p>
          <a:p>
            <a:pPr lvl="2"/>
            <a:endParaRPr lang="de-DE" dirty="0"/>
          </a:p>
        </p:txBody>
      </p:sp>
      <p:sp>
        <p:nvSpPr>
          <p:cNvPr id="14" name="Text 1">
            <a:extLst>
              <a:ext uri="{FF2B5EF4-FFF2-40B4-BE49-F238E27FC236}">
                <a16:creationId xmlns:a16="http://schemas.microsoft.com/office/drawing/2014/main" id="{8CCE4820-0FDA-9A4D-5A63-CD644FE440C8}"/>
              </a:ext>
            </a:extLst>
          </p:cNvPr>
          <p:cNvSpPr txBox="1">
            <a:spLocks/>
          </p:cNvSpPr>
          <p:nvPr/>
        </p:nvSpPr>
        <p:spPr>
          <a:xfrm>
            <a:off x="620040" y="1167747"/>
            <a:ext cx="4295957" cy="4791074"/>
          </a:xfrm>
          <a:prstGeom prst="rect">
            <a:avLst/>
          </a:prstGeom>
        </p:spPr>
        <p:txBody>
          <a:bodyPr vert="horz" lIns="0" tIns="0" rIns="0" bIns="0" rtlCol="0">
            <a:noAutofit/>
          </a:bodyPr>
          <a:lstStyle>
            <a:lvl1pPr marL="0" indent="0" algn="l" defTabSz="783001" rtl="0" eaLnBrk="1" latinLnBrk="0" hangingPunct="1">
              <a:lnSpc>
                <a:spcPts val="1600"/>
              </a:lnSpc>
              <a:spcBef>
                <a:spcPts val="1600"/>
              </a:spcBef>
              <a:spcAft>
                <a:spcPts val="300"/>
              </a:spcAft>
              <a:buClr>
                <a:schemeClr val="accent3"/>
              </a:buClr>
              <a:buFont typeface="Arial" panose="020B0604020202020204" pitchFamily="34" charset="0"/>
              <a:buNone/>
              <a:defRPr sz="1100" b="1" kern="1200">
                <a:solidFill>
                  <a:schemeClr val="accent1"/>
                </a:solidFill>
                <a:latin typeface="+mj-lt"/>
                <a:ea typeface="+mn-ea"/>
                <a:cs typeface="+mn-cs"/>
              </a:defRPr>
            </a:lvl1pPr>
            <a:lvl2pPr marL="0" indent="0" algn="l" defTabSz="783001" rtl="0" eaLnBrk="1" latinLnBrk="0" hangingPunct="1">
              <a:lnSpc>
                <a:spcPts val="1600"/>
              </a:lnSpc>
              <a:spcBef>
                <a:spcPts val="0"/>
              </a:spcBef>
              <a:buClr>
                <a:schemeClr val="tx2"/>
              </a:buClr>
              <a:buFont typeface="Symbol" panose="05050102010706020507" pitchFamily="18" charset="2"/>
              <a:buNone/>
              <a:defRPr sz="1100" kern="1200">
                <a:solidFill>
                  <a:schemeClr val="tx1"/>
                </a:solidFill>
                <a:latin typeface="+mn-lt"/>
                <a:ea typeface="+mn-ea"/>
                <a:cs typeface="+mn-cs"/>
              </a:defRPr>
            </a:lvl2pPr>
            <a:lvl3pPr marL="10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3pPr>
            <a:lvl4pPr marL="21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4pPr>
            <a:lvl5pPr marL="324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5pPr>
            <a:lvl6pPr marL="432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6pPr>
            <a:lvl7pPr marL="540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7pPr>
            <a:lvl8pPr marL="648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8pPr>
            <a:lvl9pPr marL="756000" indent="-108000" algn="l" defTabSz="783001" rtl="0" eaLnBrk="1" latinLnBrk="0" hangingPunct="1">
              <a:lnSpc>
                <a:spcPts val="1600"/>
              </a:lnSpc>
              <a:spcBef>
                <a:spcPts val="0"/>
              </a:spcBef>
              <a:buClr>
                <a:schemeClr val="tx2"/>
              </a:buClr>
              <a:buFontTx/>
              <a:buBlip>
                <a:blip r:embed="rId2"/>
              </a:buBlip>
              <a:defRPr sz="1100" kern="1200">
                <a:solidFill>
                  <a:schemeClr val="tx1"/>
                </a:solidFill>
                <a:latin typeface="+mn-lt"/>
                <a:ea typeface="+mn-ea"/>
                <a:cs typeface="+mn-cs"/>
              </a:defRPr>
            </a:lvl9pPr>
          </a:lstStyle>
          <a:p>
            <a:r>
              <a:rPr lang="de-DE" b="0" dirty="0">
                <a:solidFill>
                  <a:srgbClr val="000000"/>
                </a:solidFill>
                <a:latin typeface="+mn-lt"/>
              </a:rPr>
              <a:t>Die vorliegenden Inhalte sind als reine Kundeninformation der Fürst Fugger Privatbank zu verstehen. Sie stellen weder ein verbindliches Angebot noch eine Anlageberatung dar. Da jeder Anlageerfolg eine individuelle Analyse Ihrer Ziele und Vermögensverhältnisse voraussetzt, ersetzt dieses Dokument kein persönliches Beratungsgespräch.</a:t>
            </a:r>
          </a:p>
          <a:p>
            <a:r>
              <a:rPr lang="de-DE" b="0" dirty="0">
                <a:solidFill>
                  <a:srgbClr val="000000"/>
                </a:solidFill>
                <a:latin typeface="+mn-lt"/>
              </a:rPr>
              <a:t>Wir haben die Informationen mit gebotener Sorgfalt zusammengestellt. Bitte haben Sie Verständnis, dass wir für die Richtigkeit der genutzten Quellen keine Gewähr übernehmen können und unsere Haftung auf Vorsatz sowie grobe Fahrlässigkeit beschränkt ist. Die Vertraulichkeit bleibt gewahrt: Eine Weitergabe an Dritte oder eine Vervielfältigung ist nur nach unserer ausdrücklichen Zustimmung zulässig.</a:t>
            </a:r>
          </a:p>
          <a:p>
            <a:pPr lvl="2"/>
            <a:endParaRPr lang="de-DE" dirty="0"/>
          </a:p>
        </p:txBody>
      </p:sp>
    </p:spTree>
    <p:extLst>
      <p:ext uri="{BB962C8B-B14F-4D97-AF65-F5344CB8AC3E}">
        <p14:creationId xmlns:p14="http://schemas.microsoft.com/office/powerpoint/2010/main" val="14092415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19A067D8-C414-224B-80B2-E98E3602E963}"/>
              </a:ext>
            </a:extLst>
          </p:cNvPr>
          <p:cNvSpPr>
            <a:spLocks noGrp="1"/>
          </p:cNvSpPr>
          <p:nvPr>
            <p:ph type="body" sz="quarter" idx="10"/>
          </p:nvPr>
        </p:nvSpPr>
        <p:spPr/>
        <p:txBody>
          <a:bodyPr/>
          <a:lstStyle/>
          <a:p>
            <a:r>
              <a:rPr lang="de-DE" dirty="0"/>
              <a:t>VIELEN DANK.</a:t>
            </a:r>
          </a:p>
        </p:txBody>
      </p:sp>
    </p:spTree>
    <p:extLst>
      <p:ext uri="{BB962C8B-B14F-4D97-AF65-F5344CB8AC3E}">
        <p14:creationId xmlns:p14="http://schemas.microsoft.com/office/powerpoint/2010/main" val="1632853416"/>
      </p:ext>
    </p:extLst>
  </p:cSld>
  <p:clrMapOvr>
    <a:masterClrMapping/>
  </p:clrMapOvr>
</p:sld>
</file>

<file path=ppt/theme/theme1.xml><?xml version="1.0" encoding="utf-8"?>
<a:theme xmlns:a="http://schemas.openxmlformats.org/drawingml/2006/main" name="Office">
  <a:themeElements>
    <a:clrScheme name="Fürst Fugger Privatbank">
      <a:dk1>
        <a:sysClr val="windowText" lastClr="000000"/>
      </a:dk1>
      <a:lt1>
        <a:sysClr val="window" lastClr="FFFFFF"/>
      </a:lt1>
      <a:dk2>
        <a:srgbClr val="386FA7"/>
      </a:dk2>
      <a:lt2>
        <a:srgbClr val="9D9D9D"/>
      </a:lt2>
      <a:accent1>
        <a:srgbClr val="14355C"/>
      </a:accent1>
      <a:accent2>
        <a:srgbClr val="66A4CE"/>
      </a:accent2>
      <a:accent3>
        <a:srgbClr val="BB9256"/>
      </a:accent3>
      <a:accent4>
        <a:srgbClr val="98D0EF"/>
      </a:accent4>
      <a:accent5>
        <a:srgbClr val="D1E9F8"/>
      </a:accent5>
      <a:accent6>
        <a:srgbClr val="E6F4FC"/>
      </a:accent6>
      <a:hlink>
        <a:srgbClr val="BB9256"/>
      </a:hlink>
      <a:folHlink>
        <a:srgbClr val="9D9D9D"/>
      </a:folHlink>
    </a:clrScheme>
    <a:fontScheme name="Fürst Fugger Privatbank">
      <a:majorFont>
        <a:latin typeface="Noto Serif"/>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3445</Words>
  <Application>Microsoft Office PowerPoint</Application>
  <PresentationFormat>Benutzerdefiniert</PresentationFormat>
  <Paragraphs>656</Paragraphs>
  <Slides>35</Slides>
  <Notes>0</Notes>
  <HiddenSlides>0</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35</vt:i4>
      </vt:variant>
    </vt:vector>
  </HeadingPairs>
  <TitlesOfParts>
    <vt:vector size="46" baseType="lpstr">
      <vt:lpstr>Arial</vt:lpstr>
      <vt:lpstr>Calibri</vt:lpstr>
      <vt:lpstr>Gill Alt One MT</vt:lpstr>
      <vt:lpstr>Gill Sans</vt:lpstr>
      <vt:lpstr>Lucida Grande</vt:lpstr>
      <vt:lpstr>Noto Sans</vt:lpstr>
      <vt:lpstr>Noto Serif</vt:lpstr>
      <vt:lpstr>Open Sans</vt:lpstr>
      <vt:lpstr>Symbol</vt:lpstr>
      <vt:lpstr>Wingdings 2</vt:lpstr>
      <vt:lpstr>Office</vt:lpstr>
      <vt:lpstr>Unsere ESG-Vermögensverwaltung  auf ETF-Basis</vt:lpstr>
      <vt:lpstr>Inhalt</vt:lpstr>
      <vt:lpstr>PowerPoint-Präsentation</vt:lpstr>
      <vt:lpstr>NACHHALTIGKEIT  LIEGT UNS AM HERZEN</vt:lpstr>
      <vt:lpstr>Die drei Säulen der Nachhaltigkeit</vt:lpstr>
      <vt:lpstr>ESG und Nachhaltigkeit</vt:lpstr>
      <vt:lpstr>Investmentprozess und Risiken</vt:lpstr>
      <vt:lpstr>PowerPoint-Präsentation</vt:lpstr>
      <vt:lpstr>PowerPoint-Präsentation</vt:lpstr>
      <vt:lpstr>Nachhaltigkeits- und Investmentkonzept|SDG-Beitrag</vt:lpstr>
      <vt:lpstr>Nachhaltigkeitsprozess Offenlegungsverordnung: Nachteilige Auswirkungen auf Nachhaltigkeit (Principal Adverse Impacts on Sustainability – PAIs) </vt:lpstr>
      <vt:lpstr>PowerPoint-Präsentation</vt:lpstr>
      <vt:lpstr>Wir orientieren uns an den UN Global Compact Richtlinien </vt:lpstr>
      <vt:lpstr>Anlagerichtlinien</vt:lpstr>
      <vt:lpstr>PowerPoint-Präsentation</vt:lpstr>
      <vt:lpstr>Anlagestrategie ESG-ETF Ausgewogen</vt:lpstr>
      <vt:lpstr>Anlagestrategie ESG-ETF Ausgewogen | Wertentwicklung</vt:lpstr>
      <vt:lpstr>Anlagestrategie ESG-ETF Wachstum</vt:lpstr>
      <vt:lpstr>Anlagestrategie ESG-ETF Wachstum| Wertentwicklung</vt:lpstr>
      <vt:lpstr>Wertentwicklung der  ESG-ETF Vermögensverwaltungsstrategien </vt:lpstr>
      <vt:lpstr>PowerPoint-Präsentation</vt:lpstr>
      <vt:lpstr>Unsere Standorte</vt:lpstr>
      <vt:lpstr>Unsere Standorte</vt:lpstr>
      <vt:lpstr>PowerPoint-Präsentation</vt:lpstr>
      <vt:lpstr>Anlageklassen und Ausgestaltung</vt:lpstr>
      <vt:lpstr>Unser Risikomanagement</vt:lpstr>
      <vt:lpstr>Unser Service</vt:lpstr>
      <vt:lpstr>Unser Service</vt:lpstr>
      <vt:lpstr>Honorarübersicht</vt:lpstr>
      <vt:lpstr>Steuerlicher Hinweis zum Honorar</vt:lpstr>
      <vt:lpstr>Unser Reporting</vt:lpstr>
      <vt:lpstr>PowerPoint-Präsentation</vt:lpstr>
      <vt:lpstr>Risikohinweise</vt:lpstr>
      <vt:lpstr>Rechtliche Hinweise und Impressum</vt:lpstr>
      <vt:lpstr>PowerPoint-Präsentation</vt:lpstr>
    </vt:vector>
  </TitlesOfParts>
  <Company>Fürst Fugger Privatbank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zur Vermögensverwaltung</dc:title>
  <dc:creator>Fürst Fugger Privatbank</dc:creator>
  <cp:keywords>Vorlagen;Vermögensverwaltung</cp:keywords>
  <cp:lastModifiedBy>Fürst Fugger Privatbank</cp:lastModifiedBy>
  <cp:revision>195</cp:revision>
  <dcterms:created xsi:type="dcterms:W3CDTF">2023-08-14T05:18:02Z</dcterms:created>
  <dcterms:modified xsi:type="dcterms:W3CDTF">2026-07-20T08:57:09Z</dcterms:modified>
  <cp:category>Vorlagen;Design</cp:category>
</cp:coreProperties>
</file>