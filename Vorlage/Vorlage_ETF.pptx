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7"/>
  </p:notesMasterIdLst>
  <p:sldIdLst>
    <p:sldId id="551" r:id="rId2"/>
    <p:sldId id="337" r:id="rId3"/>
    <p:sldId id="557" r:id="rId4"/>
    <p:sldId id="339" r:id="rId5"/>
    <p:sldId id="535" r:id="rId6"/>
    <p:sldId id="366" r:id="rId7"/>
    <p:sldId id="536" r:id="rId8"/>
    <p:sldId id="257" r:id="rId9"/>
    <p:sldId id="258" r:id="rId10"/>
    <p:sldId id="556" r:id="rId11"/>
    <p:sldId id="555" r:id="rId12"/>
    <p:sldId id="259" r:id="rId13"/>
    <p:sldId id="544" r:id="rId14"/>
    <p:sldId id="545" r:id="rId15"/>
    <p:sldId id="558" r:id="rId16"/>
    <p:sldId id="273" r:id="rId17"/>
    <p:sldId id="278" r:id="rId18"/>
    <p:sldId id="274" r:id="rId19"/>
    <p:sldId id="279" r:id="rId20"/>
    <p:sldId id="564" r:id="rId21"/>
    <p:sldId id="559" r:id="rId22"/>
    <p:sldId id="553" r:id="rId23"/>
    <p:sldId id="554" r:id="rId24"/>
    <p:sldId id="560" r:id="rId25"/>
    <p:sldId id="548" r:id="rId26"/>
    <p:sldId id="549" r:id="rId27"/>
    <p:sldId id="538" r:id="rId28"/>
    <p:sldId id="539" r:id="rId29"/>
    <p:sldId id="542" r:id="rId30"/>
    <p:sldId id="532" r:id="rId31"/>
    <p:sldId id="563" r:id="rId32"/>
    <p:sldId id="561" r:id="rId33"/>
    <p:sldId id="312" r:id="rId34"/>
    <p:sldId id="311" r:id="rId35"/>
    <p:sldId id="562" r:id="rId36"/>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31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Designformatvorlage 1 - Akz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157" autoAdjust="0"/>
  </p:normalViewPr>
  <p:slideViewPr>
    <p:cSldViewPr snapToGrid="0" showGuides="1">
      <p:cViewPr varScale="1">
        <p:scale>
          <a:sx n="120" d="100"/>
          <a:sy n="120" d="100"/>
        </p:scale>
        <p:origin x="780" y="10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Master_Excel\FFPB_PPT_Verm&#246;gensverwaltung.xlsm"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01A-4CB0-8A51-3C0C98F4FAE2}"/>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D01A-4CB0-8A51-3C0C98F4FAE2}"/>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D01A-4CB0-8A51-3C0C98F4FAE2}"/>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D01A-4CB0-8A51-3C0C98F4FAE2}"/>
              </c:ext>
            </c:extLst>
          </c:dPt>
          <c:dLbls>
            <c:dLbl>
              <c:idx val="0"/>
              <c:layout>
                <c:manualLayout>
                  <c:x val="0.2662418378961241"/>
                  <c:y val="0.137952426767091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1A-4CB0-8A51-3C0C98F4FAE2}"/>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1A-4CB0-8A51-3C0C98F4FAE2}"/>
                </c:ext>
              </c:extLst>
            </c:dLbl>
            <c:dLbl>
              <c:idx val="2"/>
              <c:layout>
                <c:manualLayout>
                  <c:x val="-0.21318976731050654"/>
                  <c:y val="4.79121346645134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1A-4CB0-8A51-3C0C98F4FAE2}"/>
                </c:ext>
              </c:extLst>
            </c:dLbl>
            <c:dLbl>
              <c:idx val="3"/>
              <c:layout>
                <c:manualLayout>
                  <c:x val="-0.36681329214127395"/>
                  <c:y val="-1.02722011992592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01A-4CB0-8A51-3C0C98F4FAE2}"/>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S_Diagramm_ETF!$B$4:$B$7</c:f>
              <c:strCache>
                <c:ptCount val="4"/>
                <c:pt idx="0">
                  <c:v>EDELMETALLE</c:v>
                </c:pt>
                <c:pt idx="1">
                  <c:v>RENTEN</c:v>
                </c:pt>
                <c:pt idx="2">
                  <c:v>AKTIEN </c:v>
                </c:pt>
                <c:pt idx="3">
                  <c:v>LIQUIDITÄT</c:v>
                </c:pt>
              </c:strCache>
            </c:strRef>
          </c:cat>
          <c:val>
            <c:numRef>
              <c:f>S_Diagramm_ETF!$C$4:$C$7</c:f>
              <c:numCache>
                <c:formatCode>0.00%</c:formatCode>
                <c:ptCount val="4"/>
                <c:pt idx="0">
                  <c:v>0.1245</c:v>
                </c:pt>
                <c:pt idx="1">
                  <c:v>0.46460000000000001</c:v>
                </c:pt>
                <c:pt idx="2">
                  <c:v>0.3649</c:v>
                </c:pt>
                <c:pt idx="3">
                  <c:v>4.5999999999999999E-2</c:v>
                </c:pt>
              </c:numCache>
            </c:numRef>
          </c:val>
          <c:extLst>
            <c:ext xmlns:c16="http://schemas.microsoft.com/office/drawing/2014/chart" uri="{C3380CC4-5D6E-409C-BE32-E72D297353CC}">
              <c16:uniqueId val="{00000008-D01A-4CB0-8A51-3C0C98F4FAE2}"/>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27121538744224"/>
          <c:w val="0.23932142764716513"/>
          <c:h val="0.24772878461255779"/>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Tabelle1!$A$2:$A$206</c:f>
              <c:numCache>
                <c:formatCode>m/d/yyyy</c:formatCode>
                <c:ptCount val="205"/>
                <c:pt idx="0">
                  <c:v>42369</c:v>
                </c:pt>
                <c:pt idx="1">
                  <c:v>42400</c:v>
                </c:pt>
                <c:pt idx="2">
                  <c:v>42429</c:v>
                </c:pt>
                <c:pt idx="3">
                  <c:v>42460</c:v>
                </c:pt>
                <c:pt idx="4">
                  <c:v>42490</c:v>
                </c:pt>
                <c:pt idx="5">
                  <c:v>42521</c:v>
                </c:pt>
                <c:pt idx="6">
                  <c:v>42551</c:v>
                </c:pt>
                <c:pt idx="7">
                  <c:v>42582</c:v>
                </c:pt>
                <c:pt idx="8">
                  <c:v>42613</c:v>
                </c:pt>
                <c:pt idx="9">
                  <c:v>42643</c:v>
                </c:pt>
                <c:pt idx="10">
                  <c:v>42674</c:v>
                </c:pt>
                <c:pt idx="11">
                  <c:v>42704</c:v>
                </c:pt>
                <c:pt idx="12">
                  <c:v>42735</c:v>
                </c:pt>
                <c:pt idx="13">
                  <c:v>42766</c:v>
                </c:pt>
                <c:pt idx="14">
                  <c:v>42794</c:v>
                </c:pt>
                <c:pt idx="15">
                  <c:v>42825</c:v>
                </c:pt>
                <c:pt idx="16">
                  <c:v>42855</c:v>
                </c:pt>
                <c:pt idx="17">
                  <c:v>42886</c:v>
                </c:pt>
                <c:pt idx="18">
                  <c:v>42916</c:v>
                </c:pt>
                <c:pt idx="19">
                  <c:v>42947</c:v>
                </c:pt>
                <c:pt idx="20">
                  <c:v>42978</c:v>
                </c:pt>
                <c:pt idx="21">
                  <c:v>43008</c:v>
                </c:pt>
                <c:pt idx="22">
                  <c:v>43039</c:v>
                </c:pt>
                <c:pt idx="23">
                  <c:v>43069</c:v>
                </c:pt>
                <c:pt idx="24">
                  <c:v>43100</c:v>
                </c:pt>
                <c:pt idx="25">
                  <c:v>43131</c:v>
                </c:pt>
                <c:pt idx="26">
                  <c:v>43159</c:v>
                </c:pt>
                <c:pt idx="27">
                  <c:v>43190</c:v>
                </c:pt>
                <c:pt idx="28">
                  <c:v>43220</c:v>
                </c:pt>
                <c:pt idx="29">
                  <c:v>43251</c:v>
                </c:pt>
                <c:pt idx="30">
                  <c:v>43281</c:v>
                </c:pt>
                <c:pt idx="31">
                  <c:v>43312</c:v>
                </c:pt>
                <c:pt idx="32">
                  <c:v>43343</c:v>
                </c:pt>
                <c:pt idx="33">
                  <c:v>43373</c:v>
                </c:pt>
                <c:pt idx="34">
                  <c:v>43404</c:v>
                </c:pt>
                <c:pt idx="35">
                  <c:v>43434</c:v>
                </c:pt>
                <c:pt idx="36">
                  <c:v>43465</c:v>
                </c:pt>
                <c:pt idx="37">
                  <c:v>43496</c:v>
                </c:pt>
                <c:pt idx="38">
                  <c:v>43524</c:v>
                </c:pt>
                <c:pt idx="39">
                  <c:v>43555</c:v>
                </c:pt>
                <c:pt idx="40">
                  <c:v>43585</c:v>
                </c:pt>
                <c:pt idx="41">
                  <c:v>43616</c:v>
                </c:pt>
                <c:pt idx="42">
                  <c:v>43646</c:v>
                </c:pt>
                <c:pt idx="43">
                  <c:v>43677</c:v>
                </c:pt>
                <c:pt idx="44">
                  <c:v>43708</c:v>
                </c:pt>
                <c:pt idx="45">
                  <c:v>43738</c:v>
                </c:pt>
                <c:pt idx="46">
                  <c:v>43769</c:v>
                </c:pt>
                <c:pt idx="47">
                  <c:v>43799</c:v>
                </c:pt>
                <c:pt idx="48">
                  <c:v>43830</c:v>
                </c:pt>
                <c:pt idx="49">
                  <c:v>43861</c:v>
                </c:pt>
                <c:pt idx="50">
                  <c:v>43890</c:v>
                </c:pt>
                <c:pt idx="51">
                  <c:v>43921</c:v>
                </c:pt>
                <c:pt idx="52">
                  <c:v>43951</c:v>
                </c:pt>
                <c:pt idx="53">
                  <c:v>43982</c:v>
                </c:pt>
                <c:pt idx="54">
                  <c:v>44012</c:v>
                </c:pt>
                <c:pt idx="55">
                  <c:v>44043</c:v>
                </c:pt>
                <c:pt idx="56">
                  <c:v>44074</c:v>
                </c:pt>
                <c:pt idx="57">
                  <c:v>44104</c:v>
                </c:pt>
                <c:pt idx="58">
                  <c:v>44135</c:v>
                </c:pt>
                <c:pt idx="59">
                  <c:v>44165</c:v>
                </c:pt>
                <c:pt idx="60">
                  <c:v>44196</c:v>
                </c:pt>
                <c:pt idx="61">
                  <c:v>44227</c:v>
                </c:pt>
                <c:pt idx="62">
                  <c:v>44255</c:v>
                </c:pt>
                <c:pt idx="63">
                  <c:v>44286</c:v>
                </c:pt>
                <c:pt idx="64">
                  <c:v>44316</c:v>
                </c:pt>
                <c:pt idx="65">
                  <c:v>44347</c:v>
                </c:pt>
                <c:pt idx="66">
                  <c:v>44377</c:v>
                </c:pt>
                <c:pt idx="67">
                  <c:v>44408</c:v>
                </c:pt>
                <c:pt idx="68">
                  <c:v>44439</c:v>
                </c:pt>
                <c:pt idx="69">
                  <c:v>44469</c:v>
                </c:pt>
                <c:pt idx="70">
                  <c:v>44500</c:v>
                </c:pt>
                <c:pt idx="71">
                  <c:v>44530</c:v>
                </c:pt>
                <c:pt idx="72">
                  <c:v>44561</c:v>
                </c:pt>
                <c:pt idx="73">
                  <c:v>44592</c:v>
                </c:pt>
                <c:pt idx="74">
                  <c:v>44620</c:v>
                </c:pt>
                <c:pt idx="75">
                  <c:v>44651</c:v>
                </c:pt>
                <c:pt idx="76">
                  <c:v>44681</c:v>
                </c:pt>
                <c:pt idx="77">
                  <c:v>44712</c:v>
                </c:pt>
                <c:pt idx="78">
                  <c:v>44742</c:v>
                </c:pt>
                <c:pt idx="79">
                  <c:v>44773</c:v>
                </c:pt>
                <c:pt idx="80">
                  <c:v>44804</c:v>
                </c:pt>
                <c:pt idx="81">
                  <c:v>44834</c:v>
                </c:pt>
                <c:pt idx="82">
                  <c:v>44865</c:v>
                </c:pt>
                <c:pt idx="83">
                  <c:v>44895</c:v>
                </c:pt>
                <c:pt idx="84">
                  <c:v>44926</c:v>
                </c:pt>
                <c:pt idx="85">
                  <c:v>44957</c:v>
                </c:pt>
                <c:pt idx="86">
                  <c:v>44985</c:v>
                </c:pt>
                <c:pt idx="87">
                  <c:v>45016</c:v>
                </c:pt>
                <c:pt idx="88">
                  <c:v>45046</c:v>
                </c:pt>
                <c:pt idx="89">
                  <c:v>45077</c:v>
                </c:pt>
                <c:pt idx="90">
                  <c:v>45107</c:v>
                </c:pt>
                <c:pt idx="91">
                  <c:v>45138</c:v>
                </c:pt>
                <c:pt idx="92">
                  <c:v>45169</c:v>
                </c:pt>
                <c:pt idx="93">
                  <c:v>45199</c:v>
                </c:pt>
                <c:pt idx="94">
                  <c:v>45230</c:v>
                </c:pt>
                <c:pt idx="95">
                  <c:v>45260</c:v>
                </c:pt>
                <c:pt idx="96">
                  <c:v>45291</c:v>
                </c:pt>
                <c:pt idx="97">
                  <c:v>45322</c:v>
                </c:pt>
                <c:pt idx="98">
                  <c:v>45351</c:v>
                </c:pt>
                <c:pt idx="99">
                  <c:v>45382</c:v>
                </c:pt>
                <c:pt idx="100">
                  <c:v>45412</c:v>
                </c:pt>
                <c:pt idx="101">
                  <c:v>45443</c:v>
                </c:pt>
                <c:pt idx="102">
                  <c:v>45473</c:v>
                </c:pt>
                <c:pt idx="103">
                  <c:v>45504</c:v>
                </c:pt>
                <c:pt idx="104">
                  <c:v>45535</c:v>
                </c:pt>
                <c:pt idx="105">
                  <c:v>45565</c:v>
                </c:pt>
                <c:pt idx="106">
                  <c:v>45596</c:v>
                </c:pt>
                <c:pt idx="107">
                  <c:v>45626</c:v>
                </c:pt>
                <c:pt idx="108">
                  <c:v>45657</c:v>
                </c:pt>
                <c:pt idx="109">
                  <c:v>45688</c:v>
                </c:pt>
                <c:pt idx="110">
                  <c:v>45716</c:v>
                </c:pt>
                <c:pt idx="111">
                  <c:v>45747</c:v>
                </c:pt>
                <c:pt idx="112">
                  <c:v>45777</c:v>
                </c:pt>
                <c:pt idx="113">
                  <c:v>45808</c:v>
                </c:pt>
                <c:pt idx="114">
                  <c:v>45838</c:v>
                </c:pt>
                <c:pt idx="115">
                  <c:v>45869</c:v>
                </c:pt>
                <c:pt idx="116">
                  <c:v>45900</c:v>
                </c:pt>
                <c:pt idx="117">
                  <c:v>45930</c:v>
                </c:pt>
                <c:pt idx="118">
                  <c:v>45961</c:v>
                </c:pt>
                <c:pt idx="119">
                  <c:v>45991</c:v>
                </c:pt>
                <c:pt idx="120">
                  <c:v>46022</c:v>
                </c:pt>
                <c:pt idx="121">
                  <c:v>46053</c:v>
                </c:pt>
                <c:pt idx="122">
                  <c:v>46081</c:v>
                </c:pt>
                <c:pt idx="123">
                  <c:v>46112</c:v>
                </c:pt>
                <c:pt idx="124">
                  <c:v>46142</c:v>
                </c:pt>
                <c:pt idx="125">
                  <c:v>46173</c:v>
                </c:pt>
                <c:pt idx="126">
                  <c:v>46203</c:v>
                </c:pt>
                <c:pt idx="127">
                  <c:v>46223</c:v>
                </c:pt>
              </c:numCache>
            </c:numRef>
          </c:cat>
          <c:val>
            <c:numRef>
              <c:f>Tabelle1!$B$2:$B$206</c:f>
              <c:numCache>
                <c:formatCode>General</c:formatCode>
                <c:ptCount val="205"/>
                <c:pt idx="0">
                  <c:v>1</c:v>
                </c:pt>
                <c:pt idx="1">
                  <c:v>1.0019</c:v>
                </c:pt>
                <c:pt idx="2">
                  <c:v>1.00470532</c:v>
                </c:pt>
                <c:pt idx="3">
                  <c:v>1.0043034378720002</c:v>
                </c:pt>
                <c:pt idx="4">
                  <c:v>0.99837804758855531</c:v>
                </c:pt>
                <c:pt idx="5">
                  <c:v>0.99917675002662609</c:v>
                </c:pt>
                <c:pt idx="6">
                  <c:v>1.0041726337767591</c:v>
                </c:pt>
                <c:pt idx="7">
                  <c:v>1.0096717341624792</c:v>
                </c:pt>
                <c:pt idx="8">
                  <c:v>1.0094697998156468</c:v>
                </c:pt>
                <c:pt idx="9">
                  <c:v>1.0072489662560524</c:v>
                </c:pt>
                <c:pt idx="10">
                  <c:v>1.0089612894986877</c:v>
                </c:pt>
                <c:pt idx="11">
                  <c:v>1.0130980307856323</c:v>
                </c:pt>
                <c:pt idx="12">
                  <c:v>1.0314351051428523</c:v>
                </c:pt>
                <c:pt idx="13">
                  <c:v>1.0232461550549588</c:v>
                </c:pt>
                <c:pt idx="14">
                  <c:v>1.0350134858380908</c:v>
                </c:pt>
                <c:pt idx="15">
                  <c:v>1.0491931705940727</c:v>
                </c:pt>
                <c:pt idx="16">
                  <c:v>1.0545440557641026</c:v>
                </c:pt>
                <c:pt idx="17">
                  <c:v>1.0496931531075877</c:v>
                </c:pt>
                <c:pt idx="18">
                  <c:v>1.0380415591080936</c:v>
                </c:pt>
                <c:pt idx="19">
                  <c:v>1.0350610822815047</c:v>
                </c:pt>
                <c:pt idx="20">
                  <c:v>1.0354751067144172</c:v>
                </c:pt>
                <c:pt idx="21">
                  <c:v>1.0469688803989474</c:v>
                </c:pt>
                <c:pt idx="22">
                  <c:v>1.0547164501138997</c:v>
                </c:pt>
                <c:pt idx="23">
                  <c:v>1.0460677752229657</c:v>
                </c:pt>
                <c:pt idx="24">
                  <c:v>1.0418835041220738</c:v>
                </c:pt>
                <c:pt idx="25">
                  <c:v>1.0470714327954116</c:v>
                </c:pt>
                <c:pt idx="26">
                  <c:v>1.0269676612857397</c:v>
                </c:pt>
                <c:pt idx="27">
                  <c:v>1.0149521396486965</c:v>
                </c:pt>
                <c:pt idx="28">
                  <c:v>1.0273345557524105</c:v>
                </c:pt>
                <c:pt idx="29">
                  <c:v>1.0284646237637383</c:v>
                </c:pt>
                <c:pt idx="30">
                  <c:v>1.0259963086667054</c:v>
                </c:pt>
                <c:pt idx="31">
                  <c:v>1.0187681646721485</c:v>
                </c:pt>
                <c:pt idx="32">
                  <c:v>1.0181569037733451</c:v>
                </c:pt>
                <c:pt idx="33">
                  <c:v>1.0170369311791945</c:v>
                </c:pt>
                <c:pt idx="34">
                  <c:v>1.0118500428301807</c:v>
                </c:pt>
                <c:pt idx="35">
                  <c:v>1.008308567680275</c:v>
                </c:pt>
                <c:pt idx="36">
                  <c:v>0.98884821232404574</c:v>
                </c:pt>
                <c:pt idx="37">
                  <c:v>1.0037952710834566</c:v>
                </c:pt>
                <c:pt idx="38">
                  <c:v>1.017246127715975</c:v>
                </c:pt>
                <c:pt idx="39">
                  <c:v>1.0239599521589005</c:v>
                </c:pt>
                <c:pt idx="40">
                  <c:v>1.0399337274125793</c:v>
                </c:pt>
                <c:pt idx="41">
                  <c:v>1.0193430396098102</c:v>
                </c:pt>
                <c:pt idx="42">
                  <c:v>1.0453362871198604</c:v>
                </c:pt>
                <c:pt idx="43">
                  <c:v>1.0545927399423067</c:v>
                </c:pt>
                <c:pt idx="44">
                  <c:v>1.0552254955862721</c:v>
                </c:pt>
                <c:pt idx="45">
                  <c:v>1.0565972887305344</c:v>
                </c:pt>
                <c:pt idx="46">
                  <c:v>1.0542727746953273</c:v>
                </c:pt>
                <c:pt idx="47">
                  <c:v>1.0653426388296281</c:v>
                </c:pt>
                <c:pt idx="48">
                  <c:v>1.0678994611628192</c:v>
                </c:pt>
                <c:pt idx="49">
                  <c:v>1.0772495883824627</c:v>
                </c:pt>
                <c:pt idx="50">
                  <c:v>1.0490256491668422</c:v>
                </c:pt>
                <c:pt idx="51">
                  <c:v>0.99783319748750032</c:v>
                </c:pt>
                <c:pt idx="52">
                  <c:v>1.0407400249794627</c:v>
                </c:pt>
                <c:pt idx="53">
                  <c:v>1.0469844651293394</c:v>
                </c:pt>
                <c:pt idx="54">
                  <c:v>1.0633174227853572</c:v>
                </c:pt>
                <c:pt idx="55">
                  <c:v>1.0723104298885644</c:v>
                </c:pt>
                <c:pt idx="56">
                  <c:v>1.0862504654771157</c:v>
                </c:pt>
                <c:pt idx="57">
                  <c:v>1.0836434643599706</c:v>
                </c:pt>
                <c:pt idx="58">
                  <c:v>1.072481936677063</c:v>
                </c:pt>
                <c:pt idx="59">
                  <c:v>1.0911431223752441</c:v>
                </c:pt>
                <c:pt idx="60">
                  <c:v>1.1093652125189106</c:v>
                </c:pt>
                <c:pt idx="61">
                  <c:v>1.1092667563562997</c:v>
                </c:pt>
                <c:pt idx="62">
                  <c:v>1.1010581823592631</c:v>
                </c:pt>
                <c:pt idx="63">
                  <c:v>1.1257218856441107</c:v>
                </c:pt>
                <c:pt idx="64">
                  <c:v>1.1271853240954481</c:v>
                </c:pt>
                <c:pt idx="65">
                  <c:v>1.1342865916372493</c:v>
                </c:pt>
                <c:pt idx="66">
                  <c:v>1.1422265977787101</c:v>
                </c:pt>
                <c:pt idx="67">
                  <c:v>1.1468925934306362</c:v>
                </c:pt>
                <c:pt idx="68">
                  <c:v>1.1544620845472784</c:v>
                </c:pt>
                <c:pt idx="69">
                  <c:v>1.1396849698650733</c:v>
                </c:pt>
                <c:pt idx="70">
                  <c:v>1.1574640553949684</c:v>
                </c:pt>
                <c:pt idx="71">
                  <c:v>1.1608207011556138</c:v>
                </c:pt>
                <c:pt idx="72">
                  <c:v>1.1746344674993656</c:v>
                </c:pt>
                <c:pt idx="73">
                  <c:v>1.1390445114272192</c:v>
                </c:pt>
                <c:pt idx="74">
                  <c:v>1.1308433909449431</c:v>
                </c:pt>
                <c:pt idx="75">
                  <c:v>1.1393247163770304</c:v>
                </c:pt>
                <c:pt idx="76">
                  <c:v>1.1218930482164617</c:v>
                </c:pt>
                <c:pt idx="77">
                  <c:v>1.1039427594449984</c:v>
                </c:pt>
                <c:pt idx="78">
                  <c:v>1.0751298534234839</c:v>
                </c:pt>
                <c:pt idx="79">
                  <c:v>1.1134972061552175</c:v>
                </c:pt>
                <c:pt idx="80">
                  <c:v>1.0838781804714888</c:v>
                </c:pt>
                <c:pt idx="81">
                  <c:v>1.0530960401460985</c:v>
                </c:pt>
                <c:pt idx="82">
                  <c:v>1.0577296627227413</c:v>
                </c:pt>
                <c:pt idx="83">
                  <c:v>1.0748648832588497</c:v>
                </c:pt>
                <c:pt idx="84">
                  <c:v>1.0499280179672443</c:v>
                </c:pt>
                <c:pt idx="85">
                  <c:v>1.0720585319709603</c:v>
                </c:pt>
                <c:pt idx="86">
                  <c:v>1.0584433886149291</c:v>
                </c:pt>
                <c:pt idx="87">
                  <c:v>1.0737908177498456</c:v>
                </c:pt>
                <c:pt idx="88">
                  <c:v>1.0755088830582455</c:v>
                </c:pt>
                <c:pt idx="89">
                  <c:v>1.0780901043775852</c:v>
                </c:pt>
                <c:pt idx="90">
                  <c:v>1.0761495421897056</c:v>
                </c:pt>
                <c:pt idx="91">
                  <c:v>1.0806525554303057</c:v>
                </c:pt>
                <c:pt idx="92">
                  <c:v>1.0748170316309822</c:v>
                </c:pt>
                <c:pt idx="93">
                  <c:v>1.060199520000801</c:v>
                </c:pt>
                <c:pt idx="94">
                  <c:v>1.0567008615847984</c:v>
                </c:pt>
                <c:pt idx="95">
                  <c:v>1.0873451865707575</c:v>
                </c:pt>
                <c:pt idx="96">
                  <c:v>1.1165947720895109</c:v>
                </c:pt>
                <c:pt idx="97">
                  <c:v>1.114498365404913</c:v>
                </c:pt>
                <c:pt idx="98">
                  <c:v>1.1177304106645871</c:v>
                </c:pt>
                <c:pt idx="99">
                  <c:v>1.1455618978901352</c:v>
                </c:pt>
                <c:pt idx="100">
                  <c:v>1.135366396998913</c:v>
                </c:pt>
                <c:pt idx="101">
                  <c:v>1.1439951816161047</c:v>
                </c:pt>
                <c:pt idx="102">
                  <c:v>1.1616127074129927</c:v>
                </c:pt>
                <c:pt idx="103">
                  <c:v>1.1755927163467081</c:v>
                </c:pt>
                <c:pt idx="104">
                  <c:v>1.1829989504596923</c:v>
                </c:pt>
                <c:pt idx="105">
                  <c:v>1.1957753391246568</c:v>
                </c:pt>
                <c:pt idx="106">
                  <c:v>1.1941012536498823</c:v>
                </c:pt>
                <c:pt idx="107">
                  <c:v>1.227536088752079</c:v>
                </c:pt>
                <c:pt idx="108">
                  <c:v>1.2066679752432936</c:v>
                </c:pt>
                <c:pt idx="109">
                  <c:v>1.2273057684573767</c:v>
                </c:pt>
                <c:pt idx="110">
                  <c:v>1.2320922609543605</c:v>
                </c:pt>
                <c:pt idx="111">
                  <c:v>1.2046166035350783</c:v>
                </c:pt>
                <c:pt idx="112">
                  <c:v>1.1964252106310398</c:v>
                </c:pt>
                <c:pt idx="113">
                  <c:v>1.2115001682849909</c:v>
                </c:pt>
                <c:pt idx="114">
                  <c:v>1.2056849674772228</c:v>
                </c:pt>
                <c:pt idx="115">
                  <c:v>1.2142046388786587</c:v>
                </c:pt>
                <c:pt idx="116">
                  <c:v>1.2172401504758552</c:v>
                </c:pt>
                <c:pt idx="117">
                  <c:v>1.2457235699969904</c:v>
                </c:pt>
                <c:pt idx="118">
                  <c:v>1.2706380413969303</c:v>
                </c:pt>
                <c:pt idx="119">
                  <c:v>1.279405443882569</c:v>
                </c:pt>
                <c:pt idx="120">
                  <c:v>1.2887451036229118</c:v>
                </c:pt>
                <c:pt idx="121">
                  <c:v>1.3184049665243534</c:v>
                </c:pt>
                <c:pt idx="122">
                  <c:v>1.3499543460734769</c:v>
                </c:pt>
                <c:pt idx="123">
                  <c:v>1.2896770762032002</c:v>
                </c:pt>
                <c:pt idx="124">
                  <c:v>1.3276389312704382</c:v>
                </c:pt>
                <c:pt idx="125">
                  <c:v>1.3535453323636208</c:v>
                </c:pt>
                <c:pt idx="126">
                  <c:v>1.3530323343221717</c:v>
                </c:pt>
                <c:pt idx="127">
                  <c:v>1.3370652702820667</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35"/>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w="3175">
          <a:solidFill>
            <a:schemeClr val="tx1">
              <a:lumMod val="15000"/>
              <a:lumOff val="85000"/>
            </a:schemeClr>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5.9200000000000003E-2</c:v>
                </c:pt>
                <c:pt idx="1">
                  <c:v>-0.10680000000000001</c:v>
                </c:pt>
                <c:pt idx="2">
                  <c:v>6.3899999999999998E-2</c:v>
                </c:pt>
                <c:pt idx="3">
                  <c:v>8.0699999999999994E-2</c:v>
                </c:pt>
                <c:pt idx="4">
                  <c:v>6.8000000000000005E-2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4.58E-2</c:v>
                </c:pt>
                <c:pt idx="1">
                  <c:v>-0.1157</c:v>
                </c:pt>
                <c:pt idx="2">
                  <c:v>8.1000000000000003E-2</c:v>
                </c:pt>
                <c:pt idx="3">
                  <c:v>6.8400000000000002E-2</c:v>
                </c:pt>
                <c:pt idx="4">
                  <c:v>2.76E-2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max val="0.15000000000000002"/>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79AD-420F-BF07-D3D3FDDE5A56}"/>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9AD-420F-BF07-D3D3FDDE5A56}"/>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79AD-420F-BF07-D3D3FDDE5A56}"/>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79AD-420F-BF07-D3D3FDDE5A56}"/>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9AD-420F-BF07-D3D3FDDE5A56}"/>
                </c:ext>
              </c:extLst>
            </c:dLbl>
            <c:dLbl>
              <c:idx val="1"/>
              <c:layout>
                <c:manualLayout>
                  <c:x val="0.22334079321082709"/>
                  <c:y val="-1.71343239839651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9AD-420F-BF07-D3D3FDDE5A56}"/>
                </c:ext>
              </c:extLst>
            </c:dLbl>
            <c:dLbl>
              <c:idx val="2"/>
              <c:layout>
                <c:manualLayout>
                  <c:x val="-0.3183382951784553"/>
                  <c:y val="-0.2226806343845013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9AD-420F-BF07-D3D3FDDE5A56}"/>
                </c:ext>
              </c:extLst>
            </c:dLbl>
            <c:dLbl>
              <c:idx val="3"/>
              <c:layout>
                <c:manualLayout>
                  <c:x val="-0.3694793826780276"/>
                  <c:y val="-7.078600835249111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9AD-420F-BF07-D3D3FDDE5A56}"/>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S_Diagramm_ETF!$F$4:$F$7</c:f>
              <c:strCache>
                <c:ptCount val="4"/>
                <c:pt idx="0">
                  <c:v>EDELMETALLE</c:v>
                </c:pt>
                <c:pt idx="1">
                  <c:v>RENTEN</c:v>
                </c:pt>
                <c:pt idx="2">
                  <c:v>AKTIEN </c:v>
                </c:pt>
                <c:pt idx="3">
                  <c:v>LIQUIDITÄT</c:v>
                </c:pt>
              </c:strCache>
            </c:strRef>
          </c:cat>
          <c:val>
            <c:numRef>
              <c:f>S_Diagramm_ETF!$G$4:$G$7</c:f>
              <c:numCache>
                <c:formatCode>0.00%</c:formatCode>
                <c:ptCount val="4"/>
                <c:pt idx="0">
                  <c:v>8.5800000000000001E-2</c:v>
                </c:pt>
                <c:pt idx="1">
                  <c:v>0.1135</c:v>
                </c:pt>
                <c:pt idx="2">
                  <c:v>0.77129999999999999</c:v>
                </c:pt>
                <c:pt idx="3">
                  <c:v>2.9399999999999999E-2</c:v>
                </c:pt>
              </c:numCache>
            </c:numRef>
          </c:val>
          <c:extLst>
            <c:ext xmlns:c16="http://schemas.microsoft.com/office/drawing/2014/chart" uri="{C3380CC4-5D6E-409C-BE32-E72D297353CC}">
              <c16:uniqueId val="{00000008-79AD-420F-BF07-D3D3FDDE5A56}"/>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21698540072"/>
          <c:w val="0.26075351606611236"/>
          <c:h val="0.2480707830145993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42369</c:v>
                </c:pt>
                <c:pt idx="1">
                  <c:v>42400</c:v>
                </c:pt>
                <c:pt idx="2">
                  <c:v>42429</c:v>
                </c:pt>
                <c:pt idx="3">
                  <c:v>42460</c:v>
                </c:pt>
                <c:pt idx="4">
                  <c:v>42490</c:v>
                </c:pt>
                <c:pt idx="5">
                  <c:v>42521</c:v>
                </c:pt>
                <c:pt idx="6">
                  <c:v>42551</c:v>
                </c:pt>
                <c:pt idx="7">
                  <c:v>42582</c:v>
                </c:pt>
                <c:pt idx="8">
                  <c:v>42613</c:v>
                </c:pt>
                <c:pt idx="9">
                  <c:v>42643</c:v>
                </c:pt>
                <c:pt idx="10">
                  <c:v>42674</c:v>
                </c:pt>
                <c:pt idx="11">
                  <c:v>42704</c:v>
                </c:pt>
                <c:pt idx="12">
                  <c:v>42735</c:v>
                </c:pt>
                <c:pt idx="13">
                  <c:v>42766</c:v>
                </c:pt>
                <c:pt idx="14">
                  <c:v>42794</c:v>
                </c:pt>
                <c:pt idx="15">
                  <c:v>42825</c:v>
                </c:pt>
                <c:pt idx="16">
                  <c:v>42855</c:v>
                </c:pt>
                <c:pt idx="17">
                  <c:v>42886</c:v>
                </c:pt>
                <c:pt idx="18">
                  <c:v>42916</c:v>
                </c:pt>
                <c:pt idx="19">
                  <c:v>42947</c:v>
                </c:pt>
                <c:pt idx="20">
                  <c:v>42978</c:v>
                </c:pt>
                <c:pt idx="21">
                  <c:v>43008</c:v>
                </c:pt>
                <c:pt idx="22">
                  <c:v>43039</c:v>
                </c:pt>
                <c:pt idx="23">
                  <c:v>43069</c:v>
                </c:pt>
                <c:pt idx="24">
                  <c:v>43100</c:v>
                </c:pt>
                <c:pt idx="25">
                  <c:v>43131</c:v>
                </c:pt>
                <c:pt idx="26">
                  <c:v>43159</c:v>
                </c:pt>
                <c:pt idx="27">
                  <c:v>43190</c:v>
                </c:pt>
                <c:pt idx="28">
                  <c:v>43220</c:v>
                </c:pt>
                <c:pt idx="29">
                  <c:v>43251</c:v>
                </c:pt>
                <c:pt idx="30">
                  <c:v>43281</c:v>
                </c:pt>
                <c:pt idx="31">
                  <c:v>43312</c:v>
                </c:pt>
                <c:pt idx="32">
                  <c:v>43343</c:v>
                </c:pt>
                <c:pt idx="33">
                  <c:v>43373</c:v>
                </c:pt>
                <c:pt idx="34">
                  <c:v>43404</c:v>
                </c:pt>
                <c:pt idx="35">
                  <c:v>43434</c:v>
                </c:pt>
                <c:pt idx="36">
                  <c:v>43465</c:v>
                </c:pt>
                <c:pt idx="37">
                  <c:v>43496</c:v>
                </c:pt>
                <c:pt idx="38">
                  <c:v>43524</c:v>
                </c:pt>
                <c:pt idx="39">
                  <c:v>43555</c:v>
                </c:pt>
                <c:pt idx="40">
                  <c:v>43585</c:v>
                </c:pt>
                <c:pt idx="41">
                  <c:v>43616</c:v>
                </c:pt>
                <c:pt idx="42">
                  <c:v>43646</c:v>
                </c:pt>
                <c:pt idx="43">
                  <c:v>43677</c:v>
                </c:pt>
                <c:pt idx="44">
                  <c:v>43708</c:v>
                </c:pt>
                <c:pt idx="45">
                  <c:v>43738</c:v>
                </c:pt>
                <c:pt idx="46">
                  <c:v>43769</c:v>
                </c:pt>
                <c:pt idx="47">
                  <c:v>43799</c:v>
                </c:pt>
                <c:pt idx="48">
                  <c:v>43830</c:v>
                </c:pt>
                <c:pt idx="49">
                  <c:v>43861</c:v>
                </c:pt>
                <c:pt idx="50">
                  <c:v>43890</c:v>
                </c:pt>
                <c:pt idx="51">
                  <c:v>43921</c:v>
                </c:pt>
                <c:pt idx="52">
                  <c:v>43951</c:v>
                </c:pt>
                <c:pt idx="53">
                  <c:v>43982</c:v>
                </c:pt>
                <c:pt idx="54">
                  <c:v>44012</c:v>
                </c:pt>
                <c:pt idx="55">
                  <c:v>44043</c:v>
                </c:pt>
                <c:pt idx="56">
                  <c:v>44074</c:v>
                </c:pt>
                <c:pt idx="57">
                  <c:v>44104</c:v>
                </c:pt>
                <c:pt idx="58">
                  <c:v>44135</c:v>
                </c:pt>
                <c:pt idx="59">
                  <c:v>44165</c:v>
                </c:pt>
                <c:pt idx="60">
                  <c:v>44196</c:v>
                </c:pt>
                <c:pt idx="61">
                  <c:v>44227</c:v>
                </c:pt>
                <c:pt idx="62">
                  <c:v>44255</c:v>
                </c:pt>
                <c:pt idx="63">
                  <c:v>44286</c:v>
                </c:pt>
                <c:pt idx="64">
                  <c:v>44316</c:v>
                </c:pt>
                <c:pt idx="65">
                  <c:v>44347</c:v>
                </c:pt>
                <c:pt idx="66">
                  <c:v>44377</c:v>
                </c:pt>
                <c:pt idx="67">
                  <c:v>44408</c:v>
                </c:pt>
                <c:pt idx="68">
                  <c:v>44439</c:v>
                </c:pt>
                <c:pt idx="69">
                  <c:v>44469</c:v>
                </c:pt>
                <c:pt idx="70">
                  <c:v>44500</c:v>
                </c:pt>
                <c:pt idx="71">
                  <c:v>44530</c:v>
                </c:pt>
                <c:pt idx="72">
                  <c:v>44561</c:v>
                </c:pt>
                <c:pt idx="73">
                  <c:v>44592</c:v>
                </c:pt>
                <c:pt idx="74">
                  <c:v>44620</c:v>
                </c:pt>
                <c:pt idx="75">
                  <c:v>44651</c:v>
                </c:pt>
                <c:pt idx="76">
                  <c:v>44681</c:v>
                </c:pt>
                <c:pt idx="77">
                  <c:v>44712</c:v>
                </c:pt>
                <c:pt idx="78">
                  <c:v>44742</c:v>
                </c:pt>
                <c:pt idx="79">
                  <c:v>44773</c:v>
                </c:pt>
                <c:pt idx="80">
                  <c:v>44804</c:v>
                </c:pt>
                <c:pt idx="81">
                  <c:v>44834</c:v>
                </c:pt>
                <c:pt idx="82">
                  <c:v>44865</c:v>
                </c:pt>
                <c:pt idx="83">
                  <c:v>44895</c:v>
                </c:pt>
                <c:pt idx="84">
                  <c:v>44926</c:v>
                </c:pt>
                <c:pt idx="85">
                  <c:v>44957</c:v>
                </c:pt>
                <c:pt idx="86">
                  <c:v>44985</c:v>
                </c:pt>
                <c:pt idx="87">
                  <c:v>45016</c:v>
                </c:pt>
                <c:pt idx="88">
                  <c:v>45046</c:v>
                </c:pt>
                <c:pt idx="89">
                  <c:v>45077</c:v>
                </c:pt>
                <c:pt idx="90">
                  <c:v>45107</c:v>
                </c:pt>
                <c:pt idx="91">
                  <c:v>45138</c:v>
                </c:pt>
                <c:pt idx="92">
                  <c:v>45169</c:v>
                </c:pt>
                <c:pt idx="93">
                  <c:v>45199</c:v>
                </c:pt>
                <c:pt idx="94">
                  <c:v>45230</c:v>
                </c:pt>
                <c:pt idx="95">
                  <c:v>45260</c:v>
                </c:pt>
                <c:pt idx="96">
                  <c:v>45291</c:v>
                </c:pt>
                <c:pt idx="97">
                  <c:v>45322</c:v>
                </c:pt>
                <c:pt idx="98">
                  <c:v>45351</c:v>
                </c:pt>
                <c:pt idx="99">
                  <c:v>45382</c:v>
                </c:pt>
                <c:pt idx="100">
                  <c:v>45412</c:v>
                </c:pt>
                <c:pt idx="101">
                  <c:v>45443</c:v>
                </c:pt>
                <c:pt idx="102">
                  <c:v>45473</c:v>
                </c:pt>
                <c:pt idx="103">
                  <c:v>45504</c:v>
                </c:pt>
                <c:pt idx="104">
                  <c:v>45535</c:v>
                </c:pt>
                <c:pt idx="105">
                  <c:v>45565</c:v>
                </c:pt>
                <c:pt idx="106">
                  <c:v>45596</c:v>
                </c:pt>
                <c:pt idx="107">
                  <c:v>45626</c:v>
                </c:pt>
                <c:pt idx="108">
                  <c:v>45657</c:v>
                </c:pt>
                <c:pt idx="109">
                  <c:v>45688</c:v>
                </c:pt>
                <c:pt idx="110">
                  <c:v>45716</c:v>
                </c:pt>
                <c:pt idx="111">
                  <c:v>45747</c:v>
                </c:pt>
                <c:pt idx="112">
                  <c:v>45777</c:v>
                </c:pt>
                <c:pt idx="113">
                  <c:v>45808</c:v>
                </c:pt>
                <c:pt idx="114">
                  <c:v>45838</c:v>
                </c:pt>
                <c:pt idx="115">
                  <c:v>45869</c:v>
                </c:pt>
                <c:pt idx="116">
                  <c:v>45900</c:v>
                </c:pt>
                <c:pt idx="117">
                  <c:v>45930</c:v>
                </c:pt>
                <c:pt idx="118">
                  <c:v>45961</c:v>
                </c:pt>
                <c:pt idx="119">
                  <c:v>45991</c:v>
                </c:pt>
                <c:pt idx="120">
                  <c:v>46022</c:v>
                </c:pt>
                <c:pt idx="121">
                  <c:v>46053</c:v>
                </c:pt>
                <c:pt idx="122">
                  <c:v>46081</c:v>
                </c:pt>
                <c:pt idx="123">
                  <c:v>46112</c:v>
                </c:pt>
                <c:pt idx="124">
                  <c:v>46142</c:v>
                </c:pt>
                <c:pt idx="125">
                  <c:v>46173</c:v>
                </c:pt>
                <c:pt idx="126">
                  <c:v>46203</c:v>
                </c:pt>
                <c:pt idx="127">
                  <c:v>46223</c:v>
                </c:pt>
              </c:numCache>
            </c:numRef>
          </c:cat>
          <c:val>
            <c:numRef>
              <c:f>Tabelle1!$B$2:$B$290</c:f>
              <c:numCache>
                <c:formatCode>General</c:formatCode>
                <c:ptCount val="289"/>
                <c:pt idx="0">
                  <c:v>1</c:v>
                </c:pt>
                <c:pt idx="1">
                  <c:v>1</c:v>
                </c:pt>
                <c:pt idx="2">
                  <c:v>1.0044</c:v>
                </c:pt>
                <c:pt idx="3">
                  <c:v>1.0001815199999999</c:v>
                </c:pt>
                <c:pt idx="4">
                  <c:v>0.97897767177599992</c:v>
                </c:pt>
                <c:pt idx="5">
                  <c:v>0.97741130750115823</c:v>
                </c:pt>
                <c:pt idx="6">
                  <c:v>0.96929879364889859</c:v>
                </c:pt>
                <c:pt idx="7">
                  <c:v>0.97563645688129252</c:v>
                </c:pt>
                <c:pt idx="8">
                  <c:v>0.9769047842752383</c:v>
                </c:pt>
                <c:pt idx="9">
                  <c:v>0.97504866518511535</c:v>
                </c:pt>
                <c:pt idx="10">
                  <c:v>0.98041143284363352</c:v>
                </c:pt>
                <c:pt idx="11">
                  <c:v>1.0009020317900654</c:v>
                </c:pt>
                <c:pt idx="12">
                  <c:v>1.0396369404203409</c:v>
                </c:pt>
                <c:pt idx="13">
                  <c:v>1.0299292265254718</c:v>
                </c:pt>
                <c:pt idx="14">
                  <c:v>1.0492918959841506</c:v>
                </c:pt>
                <c:pt idx="15">
                  <c:v>1.0816100863804623</c:v>
                </c:pt>
                <c:pt idx="16">
                  <c:v>1.0888568739592113</c:v>
                </c:pt>
                <c:pt idx="17">
                  <c:v>1.0781860765944109</c:v>
                </c:pt>
                <c:pt idx="18">
                  <c:v>1.0591021830386897</c:v>
                </c:pt>
                <c:pt idx="19">
                  <c:v>1.0612979931172293</c:v>
                </c:pt>
                <c:pt idx="20">
                  <c:v>1.0604489547227354</c:v>
                </c:pt>
                <c:pt idx="21">
                  <c:v>1.0945954110648075</c:v>
                </c:pt>
                <c:pt idx="22">
                  <c:v>1.105869743798775</c:v>
                </c:pt>
                <c:pt idx="23">
                  <c:v>1.0836417619484195</c:v>
                </c:pt>
                <c:pt idx="24">
                  <c:v>1.0796322874292104</c:v>
                </c:pt>
                <c:pt idx="25">
                  <c:v>1.1130444775524977</c:v>
                </c:pt>
                <c:pt idx="26">
                  <c:v>1.0645157383312087</c:v>
                </c:pt>
                <c:pt idx="27">
                  <c:v>1.0336447819196037</c:v>
                </c:pt>
                <c:pt idx="28">
                  <c:v>1.061449826553241</c:v>
                </c:pt>
                <c:pt idx="29">
                  <c:v>1.0658017708421093</c:v>
                </c:pt>
                <c:pt idx="30">
                  <c:v>1.0612188232274882</c:v>
                </c:pt>
                <c:pt idx="31">
                  <c:v>1.0506777897173105</c:v>
                </c:pt>
                <c:pt idx="32">
                  <c:v>1.0504676541593672</c:v>
                </c:pt>
                <c:pt idx="33">
                  <c:v>1.0496272800360396</c:v>
                </c:pt>
                <c:pt idx="34">
                  <c:v>1.0364019763075856</c:v>
                </c:pt>
                <c:pt idx="35">
                  <c:v>1.0338109713668167</c:v>
                </c:pt>
                <c:pt idx="36">
                  <c:v>0.98491171242116626</c:v>
                </c:pt>
                <c:pt idx="37">
                  <c:v>1.0173470711625481</c:v>
                </c:pt>
                <c:pt idx="38">
                  <c:v>1.0434928908914256</c:v>
                </c:pt>
                <c:pt idx="39">
                  <c:v>1.0475625131659021</c:v>
                </c:pt>
                <c:pt idx="40">
                  <c:v>1.0802464635766782</c:v>
                </c:pt>
                <c:pt idx="41">
                  <c:v>1.0336878409965233</c:v>
                </c:pt>
                <c:pt idx="42">
                  <c:v>1.0779296805911744</c:v>
                </c:pt>
                <c:pt idx="43">
                  <c:v>1.0977055671489941</c:v>
                </c:pt>
                <c:pt idx="44">
                  <c:v>1.0895825459520916</c:v>
                </c:pt>
                <c:pt idx="45">
                  <c:v>1.1029844112673022</c:v>
                </c:pt>
                <c:pt idx="46">
                  <c:v>1.0976900860932191</c:v>
                </c:pt>
                <c:pt idx="47">
                  <c:v>1.1259007213058148</c:v>
                </c:pt>
                <c:pt idx="48">
                  <c:v>1.1318679951287356</c:v>
                </c:pt>
                <c:pt idx="49">
                  <c:v>1.1453333193261845</c:v>
                </c:pt>
                <c:pt idx="50">
                  <c:v>1.0853178533934924</c:v>
                </c:pt>
                <c:pt idx="51">
                  <c:v>1.0272533482369406</c:v>
                </c:pt>
                <c:pt idx="52">
                  <c:v>1.0801568956711431</c:v>
                </c:pt>
                <c:pt idx="53">
                  <c:v>1.0859897429077674</c:v>
                </c:pt>
                <c:pt idx="54">
                  <c:v>1.1053203603315258</c:v>
                </c:pt>
                <c:pt idx="55">
                  <c:v>1.1094764754184085</c:v>
                </c:pt>
                <c:pt idx="56">
                  <c:v>1.1291142090333144</c:v>
                </c:pt>
                <c:pt idx="57">
                  <c:v>1.1282109176660877</c:v>
                </c:pt>
                <c:pt idx="58">
                  <c:v>1.0965081908796706</c:v>
                </c:pt>
                <c:pt idx="59">
                  <c:v>1.1401492168766816</c:v>
                </c:pt>
                <c:pt idx="60">
                  <c:v>1.1754938425998587</c:v>
                </c:pt>
                <c:pt idx="61">
                  <c:v>1.1772311343371831</c:v>
                </c:pt>
                <c:pt idx="62">
                  <c:v>1.1754652876356773</c:v>
                </c:pt>
                <c:pt idx="63">
                  <c:v>1.2120222580811466</c:v>
                </c:pt>
                <c:pt idx="64">
                  <c:v>1.2149311115005412</c:v>
                </c:pt>
                <c:pt idx="65">
                  <c:v>1.2222206981695445</c:v>
                </c:pt>
                <c:pt idx="66">
                  <c:v>1.2533873259728681</c:v>
                </c:pt>
                <c:pt idx="67">
                  <c:v>1.2583489223720981</c:v>
                </c:pt>
                <c:pt idx="68">
                  <c:v>1.2838934054962516</c:v>
                </c:pt>
                <c:pt idx="69">
                  <c:v>1.2516676810182956</c:v>
                </c:pt>
                <c:pt idx="70">
                  <c:v>1.2974787181435652</c:v>
                </c:pt>
                <c:pt idx="71">
                  <c:v>1.2924185511428052</c:v>
                </c:pt>
                <c:pt idx="72">
                  <c:v>1.3295109635606037</c:v>
                </c:pt>
                <c:pt idx="73">
                  <c:v>1.2564129883219819</c:v>
                </c:pt>
                <c:pt idx="74">
                  <c:v>1.2435975758410978</c:v>
                </c:pt>
                <c:pt idx="75">
                  <c:v>1.27120544202477</c:v>
                </c:pt>
                <c:pt idx="76">
                  <c:v>1.2483237440683241</c:v>
                </c:pt>
                <c:pt idx="77">
                  <c:v>1.2219841130684825</c:v>
                </c:pt>
                <c:pt idx="78">
                  <c:v>1.1795812643450063</c:v>
                </c:pt>
                <c:pt idx="79">
                  <c:v>1.2350477704732898</c:v>
                </c:pt>
                <c:pt idx="80">
                  <c:v>1.2104703198408713</c:v>
                </c:pt>
                <c:pt idx="81">
                  <c:v>1.1642303536229499</c:v>
                </c:pt>
                <c:pt idx="82">
                  <c:v>1.1934525354988859</c:v>
                </c:pt>
                <c:pt idx="83">
                  <c:v>1.2092061089674713</c:v>
                </c:pt>
                <c:pt idx="84">
                  <c:v>1.1637399592702944</c:v>
                </c:pt>
                <c:pt idx="85">
                  <c:v>1.1904018527006552</c:v>
                </c:pt>
                <c:pt idx="86">
                  <c:v>1.1807595976937799</c:v>
                </c:pt>
                <c:pt idx="87">
                  <c:v>1.2113412712740488</c:v>
                </c:pt>
                <c:pt idx="88">
                  <c:v>1.2067381744432073</c:v>
                </c:pt>
                <c:pt idx="89">
                  <c:v>1.2055314362687641</c:v>
                </c:pt>
                <c:pt idx="90">
                  <c:v>1.2085452648594359</c:v>
                </c:pt>
                <c:pt idx="91">
                  <c:v>1.2159675456035699</c:v>
                </c:pt>
                <c:pt idx="92">
                  <c:v>1.2028350961110512</c:v>
                </c:pt>
                <c:pt idx="93">
                  <c:v>1.1838303015924965</c:v>
                </c:pt>
                <c:pt idx="94">
                  <c:v>1.1563654385955506</c:v>
                </c:pt>
                <c:pt idx="95">
                  <c:v>1.2067829717183167</c:v>
                </c:pt>
                <c:pt idx="96">
                  <c:v>1.2479342710539114</c:v>
                </c:pt>
                <c:pt idx="97">
                  <c:v>1.2516360184821385</c:v>
                </c:pt>
                <c:pt idx="98">
                  <c:v>1.2759177572406921</c:v>
                </c:pt>
                <c:pt idx="99">
                  <c:v>1.3164919419209462</c:v>
                </c:pt>
                <c:pt idx="100">
                  <c:v>1.2845011877322672</c:v>
                </c:pt>
                <c:pt idx="101">
                  <c:v>1.2974746497283631</c:v>
                </c:pt>
                <c:pt idx="102">
                  <c:v>1.3197912137036911</c:v>
                </c:pt>
                <c:pt idx="103">
                  <c:v>1.3433495528578627</c:v>
                </c:pt>
                <c:pt idx="104">
                  <c:v>1.3485886161140084</c:v>
                </c:pt>
                <c:pt idx="105">
                  <c:v>1.3556012769178014</c:v>
                </c:pt>
                <c:pt idx="106">
                  <c:v>1.3442142261916918</c:v>
                </c:pt>
                <c:pt idx="107">
                  <c:v>1.3989237451976937</c:v>
                </c:pt>
                <c:pt idx="108">
                  <c:v>1.3590544184595594</c:v>
                </c:pt>
                <c:pt idx="109">
                  <c:v>1.3881682860699629</c:v>
                </c:pt>
                <c:pt idx="110">
                  <c:v>1.3910834394707099</c:v>
                </c:pt>
                <c:pt idx="111">
                  <c:v>1.3287629013824223</c:v>
                </c:pt>
                <c:pt idx="112">
                  <c:v>1.2911589112732997</c:v>
                </c:pt>
                <c:pt idx="113">
                  <c:v>1.3318304169784088</c:v>
                </c:pt>
                <c:pt idx="114">
                  <c:v>1.3263699122687973</c:v>
                </c:pt>
                <c:pt idx="115">
                  <c:v>1.3516249901758293</c:v>
                </c:pt>
                <c:pt idx="116">
                  <c:v>1.3528414526669874</c:v>
                </c:pt>
                <c:pt idx="117">
                  <c:v>1.3953206742807309</c:v>
                </c:pt>
                <c:pt idx="118">
                  <c:v>1.437319826576581</c:v>
                </c:pt>
                <c:pt idx="119">
                  <c:v>1.4401944662297341</c:v>
                </c:pt>
                <c:pt idx="120">
                  <c:v>1.4486916135804895</c:v>
                </c:pt>
                <c:pt idx="121">
                  <c:v>1.4750919298223473</c:v>
                </c:pt>
                <c:pt idx="122">
                  <c:v>1.5116918468072915</c:v>
                </c:pt>
                <c:pt idx="123">
                  <c:v>1.4346014704807355</c:v>
                </c:pt>
                <c:pt idx="124">
                  <c:v>1.518320178229762</c:v>
                </c:pt>
                <c:pt idx="125">
                  <c:v>1.5733641478685367</c:v>
                </c:pt>
                <c:pt idx="126">
                  <c:v>1.5822979858727357</c:v>
                </c:pt>
                <c:pt idx="127">
                  <c:v>1.5681047109789676</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5"/>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0.1321</c:v>
                </c:pt>
                <c:pt idx="1">
                  <c:v>-0.12570000000000001</c:v>
                </c:pt>
                <c:pt idx="2">
                  <c:v>7.2900000000000006E-2</c:v>
                </c:pt>
                <c:pt idx="3">
                  <c:v>8.8999999999999996E-2</c:v>
                </c:pt>
                <c:pt idx="4">
                  <c:v>6.59E-2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0.1338</c:v>
                </c:pt>
                <c:pt idx="1">
                  <c:v>-0.14099999999999999</c:v>
                </c:pt>
                <c:pt idx="2">
                  <c:v>0.12989999999999999</c:v>
                </c:pt>
                <c:pt idx="3">
                  <c:v>0.13789999999999999</c:v>
                </c:pt>
                <c:pt idx="4">
                  <c:v>4.3499999999999997E-2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20.07.2026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20.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2" name="Untertitel 1">
            <a:extLst>
              <a:ext uri="{FF2B5EF4-FFF2-40B4-BE49-F238E27FC236}">
                <a16:creationId xmlns:a16="http://schemas.microsoft.com/office/drawing/2014/main" id="{0759291D-E925-7A7C-927A-DB96BB0BBF88}"/>
              </a:ext>
            </a:extLst>
          </p:cNvPr>
          <p:cNvSpPr>
            <a:spLocks noGrp="1"/>
          </p:cNvSpPr>
          <p:nvPr>
            <p:ph type="subTitle" idx="1"/>
          </p:nvPr>
        </p:nvSpPr>
        <p:spPr>
          <a:xfrm>
            <a:off x="1006475" y="2305508"/>
            <a:ext cx="6626225" cy="303222"/>
          </a:xfrm>
        </p:spPr>
        <p:txBody>
          <a:bodyPr/>
          <a:lstStyle>
            <a:lvl1pPr>
              <a:defRPr sz="1400"/>
            </a:lvl1pPr>
          </a:lstStyle>
          <a:p>
            <a:r>
              <a:rPr lang="de-DE" dirty="0"/>
              <a:t>Unabhängig. Werteorientiert. Persönlich.</a:t>
            </a:r>
          </a:p>
        </p:txBody>
      </p:sp>
      <p:sp>
        <p:nvSpPr>
          <p:cNvPr id="3" name="Titel 2">
            <a:extLst>
              <a:ext uri="{FF2B5EF4-FFF2-40B4-BE49-F238E27FC236}">
                <a16:creationId xmlns:a16="http://schemas.microsoft.com/office/drawing/2014/main" id="{394C6BC0-9A88-575F-3B5B-DE399B2C5D10}"/>
              </a:ext>
            </a:extLst>
          </p:cNvPr>
          <p:cNvSpPr>
            <a:spLocks noGrp="1"/>
          </p:cNvSpPr>
          <p:nvPr>
            <p:ph type="ctrTitle"/>
          </p:nvPr>
        </p:nvSpPr>
        <p:spPr>
          <a:xfrm>
            <a:off x="1006475" y="1041400"/>
            <a:ext cx="6626225" cy="931775"/>
          </a:xfrm>
        </p:spPr>
        <p:txBody>
          <a:bodyPr/>
          <a:lstStyle>
            <a:lvl1pPr>
              <a:defRPr sz="2000"/>
            </a:lvl1pPr>
          </a:lstStyle>
          <a:p>
            <a:r>
              <a:rPr lang="de-DE" dirty="0"/>
              <a:t>Unsere ESG-Vermögensverwaltung </a:t>
            </a:r>
            <a:br>
              <a:rPr lang="de-DE" dirty="0"/>
            </a:br>
            <a:r>
              <a:rPr lang="de-DE" dirty="0"/>
              <a:t>auf ETF-Basis</a:t>
            </a:r>
          </a:p>
        </p:txBody>
      </p:sp>
    </p:spTree>
    <p:extLst>
      <p:ext uri="{BB962C8B-B14F-4D97-AF65-F5344CB8AC3E}">
        <p14:creationId xmlns:p14="http://schemas.microsoft.com/office/powerpoint/2010/main" val="251300528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36234304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20.07.2026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20.07.2026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948002339"/>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811752780"/>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904871532"/>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1053545515"/>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20.07.2026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83" r:id="rId2"/>
    <p:sldLayoutId id="2147483662" r:id="rId3"/>
    <p:sldLayoutId id="2147483663" r:id="rId4"/>
    <p:sldLayoutId id="2147483664" r:id="rId5"/>
    <p:sldLayoutId id="2147483667" r:id="rId6"/>
    <p:sldLayoutId id="2147483668" r:id="rId7"/>
    <p:sldLayoutId id="2147483669" r:id="rId8"/>
    <p:sldLayoutId id="2147483670" r:id="rId9"/>
    <p:sldLayoutId id="2147483673" r:id="rId10"/>
    <p:sldLayoutId id="2147483677" r:id="rId11"/>
    <p:sldLayoutId id="2147483678" r:id="rId12"/>
    <p:sldLayoutId id="2147483650" r:id="rId13"/>
    <p:sldLayoutId id="2147483672" r:id="rId14"/>
    <p:sldLayoutId id="2147483671" r:id="rId15"/>
    <p:sldLayoutId id="2147483665" r:id="rId16"/>
    <p:sldLayoutId id="2147483660" r:id="rId17"/>
    <p:sldLayoutId id="2147483666" r:id="rId18"/>
    <p:sldLayoutId id="2147483661" r:id="rId19"/>
    <p:sldLayoutId id="2147483654" r:id="rId20"/>
    <p:sldLayoutId id="2147483655" r:id="rId21"/>
    <p:sldLayoutId id="2147483674" r:id="rId22"/>
    <p:sldLayoutId id="2147483675" r:id="rId23"/>
    <p:sldLayoutId id="2147483676" r:id="rId24"/>
    <p:sldLayoutId id="2147483679" r:id="rId25"/>
    <p:sldLayoutId id="2147483680" r:id="rId26"/>
    <p:sldLayoutId id="2147483681" r:id="rId27"/>
    <p:sldLayoutId id="2147483685" r:id="rId28"/>
    <p:sldLayoutId id="2147483684" r:id="rId29"/>
    <p:sldLayoutId id="2147483682"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g"/><Relationship Id="rId1" Type="http://schemas.openxmlformats.org/officeDocument/2006/relationships/slideLayout" Target="../slideLayouts/slideLayout15.xml"/><Relationship Id="rId4" Type="http://schemas.openxmlformats.org/officeDocument/2006/relationships/image" Target="../media/image2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2.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33.jpg"/><Relationship Id="rId1" Type="http://schemas.openxmlformats.org/officeDocument/2006/relationships/slideLayout" Target="../slideLayouts/slideLayout20.xml"/><Relationship Id="rId4" Type="http://schemas.openxmlformats.org/officeDocument/2006/relationships/image" Target="../media/image35.jpg"/></Relationships>
</file>

<file path=ppt/slides/_rels/slide23.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image" Target="../media/image36.png"/><Relationship Id="rId1" Type="http://schemas.openxmlformats.org/officeDocument/2006/relationships/slideLayout" Target="../slideLayouts/slideLayout20.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3" Type="http://schemas.openxmlformats.org/officeDocument/2006/relationships/hyperlink" Target="mailto:info@fuggerbank.de" TargetMode="External"/><Relationship Id="rId2" Type="http://schemas.openxmlformats.org/officeDocument/2006/relationships/image" Target="../media/image2.png"/><Relationship Id="rId1" Type="http://schemas.openxmlformats.org/officeDocument/2006/relationships/slideLayout" Target="../slideLayouts/slideLayout15.xml"/><Relationship Id="rId6" Type="http://schemas.openxmlformats.org/officeDocument/2006/relationships/hyperlink" Target="https://www.ecb.europa.eu/" TargetMode="External"/><Relationship Id="rId5" Type="http://schemas.openxmlformats.org/officeDocument/2006/relationships/hyperlink" Target="http://www.bafin.de/" TargetMode="External"/><Relationship Id="rId4" Type="http://schemas.openxmlformats.org/officeDocument/2006/relationships/hyperlink" Target="http://www.fuggerbank.d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1">
            <a:extLst>
              <a:ext uri="{FF2B5EF4-FFF2-40B4-BE49-F238E27FC236}">
                <a16:creationId xmlns:a16="http://schemas.microsoft.com/office/drawing/2014/main" id="{69B4EA7D-A5FE-7752-00E6-26B915E51571}"/>
              </a:ext>
            </a:extLst>
          </p:cNvPr>
          <p:cNvSpPr>
            <a:spLocks noGrp="1"/>
          </p:cNvSpPr>
          <p:nvPr>
            <p:ph type="subTitle" idx="1"/>
          </p:nvPr>
        </p:nvSpPr>
        <p:spPr>
          <a:xfrm>
            <a:off x="1006475" y="2305508"/>
            <a:ext cx="6626225" cy="303222"/>
          </a:xfrm>
        </p:spPr>
        <p:txBody>
          <a:bodyPr/>
          <a:lstStyle>
            <a:lvl1pPr>
              <a:defRPr sz="1400"/>
            </a:lvl1pPr>
          </a:lstStyle>
          <a:p>
            <a:r>
              <a:rPr lang="de-DE" b="0" dirty="0">
                <a:latin typeface="+mn-lt"/>
              </a:rPr>
              <a:t>Unabhängig. Werteorientiert. Persönlich.</a:t>
            </a:r>
          </a:p>
        </p:txBody>
      </p:sp>
      <p:sp>
        <p:nvSpPr>
          <p:cNvPr id="4" name="Titel 2">
            <a:extLst>
              <a:ext uri="{FF2B5EF4-FFF2-40B4-BE49-F238E27FC236}">
                <a16:creationId xmlns:a16="http://schemas.microsoft.com/office/drawing/2014/main" id="{C0103192-9984-CD70-9080-F88F2B387A98}"/>
              </a:ext>
            </a:extLst>
          </p:cNvPr>
          <p:cNvSpPr>
            <a:spLocks noGrp="1"/>
          </p:cNvSpPr>
          <p:nvPr>
            <p:ph type="ctrTitle"/>
          </p:nvPr>
        </p:nvSpPr>
        <p:spPr>
          <a:xfrm>
            <a:off x="1006475" y="1041400"/>
            <a:ext cx="6626225" cy="931775"/>
          </a:xfrm>
        </p:spPr>
        <p:txBody>
          <a:bodyPr/>
          <a:lstStyle>
            <a:lvl1pPr>
              <a:defRPr sz="2000"/>
            </a:lvl1pPr>
          </a:lstStyle>
          <a:p>
            <a:pPr>
              <a:lnSpc>
                <a:spcPts val="3500"/>
              </a:lnSpc>
            </a:pPr>
            <a:r>
              <a:rPr lang="de-DE" sz="2770" dirty="0"/>
              <a:t>Unsere ESG-Vermögensverwaltung </a:t>
            </a:r>
            <a:br>
              <a:rPr lang="de-DE" sz="2770" dirty="0"/>
            </a:br>
            <a:r>
              <a:rPr lang="de-DE" sz="2770" dirty="0"/>
              <a:t>auf ETF-Basis</a:t>
            </a:r>
          </a:p>
        </p:txBody>
      </p:sp>
      <p:cxnSp>
        <p:nvCxnSpPr>
          <p:cNvPr id="5" name="Linie">
            <a:extLst>
              <a:ext uri="{FF2B5EF4-FFF2-40B4-BE49-F238E27FC236}">
                <a16:creationId xmlns:a16="http://schemas.microsoft.com/office/drawing/2014/main" id="{22604EF2-EE09-5391-9718-B12B2ABBE27C}"/>
              </a:ext>
            </a:extLst>
          </p:cNvPr>
          <p:cNvCxnSpPr>
            <a:cxnSpLocks/>
          </p:cNvCxnSpPr>
          <p:nvPr/>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7633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4802062-068E-513B-DEE5-E01E722CDD6D}"/>
              </a:ext>
            </a:extLst>
          </p:cNvPr>
          <p:cNvSpPr>
            <a:spLocks noGrp="1"/>
          </p:cNvSpPr>
          <p:nvPr>
            <p:ph type="sldNum" sz="quarter" idx="12"/>
          </p:nvPr>
        </p:nvSpPr>
        <p:spPr/>
        <p:txBody>
          <a:bodyPr/>
          <a:lstStyle/>
          <a:p>
            <a:fld id="{3AE71D6B-ACB6-4F4C-A895-DCAEF1760EAA}" type="slidenum">
              <a:rPr lang="de-DE" smtClean="0"/>
              <a:t>2</a:t>
            </a:fld>
            <a:endParaRPr lang="de-DE"/>
          </a:p>
        </p:txBody>
      </p:sp>
      <p:sp>
        <p:nvSpPr>
          <p:cNvPr id="3" name="Inhaltsplatzhalter 2">
            <a:extLst>
              <a:ext uri="{FF2B5EF4-FFF2-40B4-BE49-F238E27FC236}">
                <a16:creationId xmlns:a16="http://schemas.microsoft.com/office/drawing/2014/main" id="{767F741E-DD97-58D5-B310-D22C8EF6583B}"/>
              </a:ext>
            </a:extLst>
          </p:cNvPr>
          <p:cNvSpPr>
            <a:spLocks noGrp="1"/>
          </p:cNvSpPr>
          <p:nvPr>
            <p:ph idx="1"/>
          </p:nvPr>
        </p:nvSpPr>
        <p:spPr/>
        <p:txBody>
          <a:bodyPr/>
          <a:lstStyle/>
          <a:p>
            <a:pPr>
              <a:spcAft>
                <a:spcPts val="400"/>
              </a:spcAft>
            </a:pPr>
            <a:r>
              <a:rPr lang="de-DE" dirty="0"/>
              <a:t>ESG Basisinformationen	3</a:t>
            </a:r>
          </a:p>
          <a:p>
            <a:pPr>
              <a:spcAft>
                <a:spcPts val="400"/>
              </a:spcAft>
            </a:pPr>
            <a:r>
              <a:rPr lang="de-DE" sz="1000" b="0" dirty="0">
                <a:solidFill>
                  <a:schemeClr val="accent3"/>
                </a:solidFill>
              </a:rPr>
              <a:t>Idee – Richtlinien - Ratings</a:t>
            </a:r>
          </a:p>
          <a:p>
            <a:pPr>
              <a:lnSpc>
                <a:spcPct val="100000"/>
              </a:lnSpc>
              <a:spcAft>
                <a:spcPts val="400"/>
              </a:spcAft>
            </a:pPr>
            <a:r>
              <a:rPr lang="de-DE" dirty="0"/>
              <a:t>Unsere ESG-ETF Strategien	15</a:t>
            </a:r>
          </a:p>
          <a:p>
            <a:pPr>
              <a:lnSpc>
                <a:spcPct val="100000"/>
              </a:lnSpc>
            </a:pPr>
            <a:r>
              <a:rPr lang="de-DE" sz="1000" b="0" dirty="0">
                <a:solidFill>
                  <a:schemeClr val="accent3"/>
                </a:solidFill>
              </a:rPr>
              <a:t>Ausgewogen - Wachstum</a:t>
            </a:r>
            <a:endParaRPr lang="de-DE" dirty="0"/>
          </a:p>
          <a:p>
            <a:r>
              <a:rPr lang="de-DE" dirty="0"/>
              <a:t>Fürst Fugger Privatbank und ihre Standorte	21</a:t>
            </a:r>
          </a:p>
          <a:p>
            <a:r>
              <a:rPr lang="de-DE" dirty="0"/>
              <a:t>Anlagen	24</a:t>
            </a:r>
          </a:p>
          <a:p>
            <a:r>
              <a:rPr lang="de-DE" dirty="0"/>
              <a:t>Rechtliche Hinweise und Impressum	32</a:t>
            </a:r>
          </a:p>
        </p:txBody>
      </p:sp>
      <p:sp>
        <p:nvSpPr>
          <p:cNvPr id="4" name="Titel 3">
            <a:extLst>
              <a:ext uri="{FF2B5EF4-FFF2-40B4-BE49-F238E27FC236}">
                <a16:creationId xmlns:a16="http://schemas.microsoft.com/office/drawing/2014/main" id="{892A02E2-8440-A6BB-B240-BDB640380359}"/>
              </a:ext>
            </a:extLst>
          </p:cNvPr>
          <p:cNvSpPr>
            <a:spLocks noGrp="1"/>
          </p:cNvSpPr>
          <p:nvPr>
            <p:ph type="title"/>
          </p:nvPr>
        </p:nvSpPr>
        <p:spPr/>
        <p:txBody>
          <a:bodyPr/>
          <a:lstStyle/>
          <a:p>
            <a:r>
              <a:rPr lang="de-DE" dirty="0"/>
              <a:t>Inhalt</a:t>
            </a:r>
          </a:p>
        </p:txBody>
      </p:sp>
    </p:spTree>
    <p:extLst>
      <p:ext uri="{BB962C8B-B14F-4D97-AF65-F5344CB8AC3E}">
        <p14:creationId xmlns:p14="http://schemas.microsoft.com/office/powerpoint/2010/main" val="3430581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2AD8BD38-62DF-0B4B-8A13-0D6F3732D679}"/>
              </a:ext>
            </a:extLst>
          </p:cNvPr>
          <p:cNvSpPr>
            <a:spLocks noGrp="1"/>
          </p:cNvSpPr>
          <p:nvPr>
            <p:ph type="body" sz="quarter" idx="10"/>
          </p:nvPr>
        </p:nvSpPr>
        <p:spPr/>
        <p:txBody>
          <a:bodyPr/>
          <a:lstStyle/>
          <a:p>
            <a:r>
              <a:rPr lang="de-DE" dirty="0"/>
              <a:t>ESG BASIS-INFORMATIONEN</a:t>
            </a:r>
          </a:p>
        </p:txBody>
      </p:sp>
      <p:sp>
        <p:nvSpPr>
          <p:cNvPr id="3" name="Textplatzhalter 2">
            <a:extLst>
              <a:ext uri="{FF2B5EF4-FFF2-40B4-BE49-F238E27FC236}">
                <a16:creationId xmlns:a16="http://schemas.microsoft.com/office/drawing/2014/main" id="{8701283B-DF7B-9347-803C-7649CE5F59DF}"/>
              </a:ext>
            </a:extLst>
          </p:cNvPr>
          <p:cNvSpPr>
            <a:spLocks noGrp="1"/>
          </p:cNvSpPr>
          <p:nvPr>
            <p:ph type="body" sz="quarter" idx="11"/>
          </p:nvPr>
        </p:nvSpPr>
        <p:spPr/>
        <p:txBody>
          <a:bodyPr/>
          <a:lstStyle/>
          <a:p>
            <a:r>
              <a:rPr lang="de-DE" dirty="0"/>
              <a:t>Idee · Richtlinien · Ratings</a:t>
            </a:r>
          </a:p>
        </p:txBody>
      </p:sp>
    </p:spTree>
    <p:extLst>
      <p:ext uri="{BB962C8B-B14F-4D97-AF65-F5344CB8AC3E}">
        <p14:creationId xmlns:p14="http://schemas.microsoft.com/office/powerpoint/2010/main" val="21782788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1">
            <a:extLst>
              <a:ext uri="{FF2B5EF4-FFF2-40B4-BE49-F238E27FC236}">
                <a16:creationId xmlns:a16="http://schemas.microsoft.com/office/drawing/2014/main" id="{B23A2E22-AAF9-5C44-AA94-006618376FA0}"/>
              </a:ext>
            </a:extLst>
          </p:cNvPr>
          <p:cNvSpPr>
            <a:spLocks noGrp="1"/>
          </p:cNvSpPr>
          <p:nvPr>
            <p:ph type="subTitle" idx="1"/>
          </p:nvPr>
        </p:nvSpPr>
        <p:spPr>
          <a:xfrm>
            <a:off x="1006474" y="2556744"/>
            <a:ext cx="6626225" cy="303222"/>
          </a:xfrm>
        </p:spPr>
        <p:txBody>
          <a:bodyPr/>
          <a:lstStyle/>
          <a:p>
            <a:pPr>
              <a:lnSpc>
                <a:spcPct val="100000"/>
              </a:lnSpc>
            </a:pPr>
            <a:r>
              <a:rPr lang="de-DE" sz="2800" b="1" dirty="0">
                <a:solidFill>
                  <a:schemeClr val="accent3"/>
                </a:solidFill>
                <a:latin typeface="+mn-lt"/>
              </a:rPr>
              <a:t>ESG Kriterien </a:t>
            </a:r>
            <a:r>
              <a:rPr lang="de-DE" sz="2800" dirty="0"/>
              <a:t>sind fester Bestandteil </a:t>
            </a:r>
            <a:br>
              <a:rPr lang="de-DE" sz="2800" dirty="0"/>
            </a:br>
            <a:r>
              <a:rPr lang="de-DE" sz="2800" dirty="0"/>
              <a:t>unseres Analyse- und Anlageprozesses</a:t>
            </a:r>
          </a:p>
        </p:txBody>
      </p:sp>
      <p:sp>
        <p:nvSpPr>
          <p:cNvPr id="3" name="Titel 2">
            <a:extLst>
              <a:ext uri="{FF2B5EF4-FFF2-40B4-BE49-F238E27FC236}">
                <a16:creationId xmlns:a16="http://schemas.microsoft.com/office/drawing/2014/main" id="{5B895932-3C78-7B41-B1F2-0AF3D2248499}"/>
              </a:ext>
            </a:extLst>
          </p:cNvPr>
          <p:cNvSpPr>
            <a:spLocks noGrp="1"/>
          </p:cNvSpPr>
          <p:nvPr>
            <p:ph type="ctrTitle"/>
          </p:nvPr>
        </p:nvSpPr>
        <p:spPr/>
        <p:txBody>
          <a:bodyPr/>
          <a:lstStyle/>
          <a:p>
            <a:pPr>
              <a:lnSpc>
                <a:spcPct val="100000"/>
              </a:lnSpc>
            </a:pPr>
            <a:r>
              <a:rPr lang="de-DE" sz="3600" dirty="0"/>
              <a:t>NACHHALTIGKEIT </a:t>
            </a:r>
            <a:br>
              <a:rPr lang="de-DE" sz="3600" dirty="0"/>
            </a:br>
            <a:r>
              <a:rPr lang="de-DE" sz="3600" dirty="0"/>
              <a:t>LIEGT UNS AM HERZEN</a:t>
            </a:r>
          </a:p>
        </p:txBody>
      </p:sp>
    </p:spTree>
    <p:extLst>
      <p:ext uri="{BB962C8B-B14F-4D97-AF65-F5344CB8AC3E}">
        <p14:creationId xmlns:p14="http://schemas.microsoft.com/office/powerpoint/2010/main" val="41951342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6AFD509-F546-AB85-3556-B9437E9549F1}"/>
              </a:ext>
            </a:extLst>
          </p:cNvPr>
          <p:cNvSpPr>
            <a:spLocks noGrp="1"/>
          </p:cNvSpPr>
          <p:nvPr>
            <p:ph type="sldNum" sz="quarter" idx="12"/>
          </p:nvPr>
        </p:nvSpPr>
        <p:spPr/>
        <p:txBody>
          <a:bodyPr/>
          <a:lstStyle/>
          <a:p>
            <a:fld id="{3AE71D6B-ACB6-4F4C-A895-DCAEF1760EAA}" type="slidenum">
              <a:rPr lang="de-DE" smtClean="0"/>
              <a:t>5</a:t>
            </a:fld>
            <a:endParaRPr lang="de-DE"/>
          </a:p>
        </p:txBody>
      </p:sp>
      <p:sp>
        <p:nvSpPr>
          <p:cNvPr id="3" name="Inhaltsplatzhalter 2">
            <a:extLst>
              <a:ext uri="{FF2B5EF4-FFF2-40B4-BE49-F238E27FC236}">
                <a16:creationId xmlns:a16="http://schemas.microsoft.com/office/drawing/2014/main" id="{B75CF14F-1F60-CE48-3472-4DEC5EA7EA0A}"/>
              </a:ext>
            </a:extLst>
          </p:cNvPr>
          <p:cNvSpPr>
            <a:spLocks noGrp="1"/>
          </p:cNvSpPr>
          <p:nvPr>
            <p:ph idx="14"/>
          </p:nvPr>
        </p:nvSpPr>
        <p:spPr/>
        <p:txBody>
          <a:bodyPr/>
          <a:lstStyle/>
          <a:p>
            <a:pPr algn="ctr"/>
            <a:endParaRPr lang="de-DE" sz="2800" dirty="0"/>
          </a:p>
          <a:p>
            <a:pPr algn="ctr"/>
            <a:r>
              <a:rPr lang="de-DE" sz="2800" dirty="0" err="1"/>
              <a:t>G</a:t>
            </a:r>
            <a:r>
              <a:rPr lang="de-DE" sz="1800" dirty="0" err="1"/>
              <a:t>overnance</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eine gute Unternehmensführung</a:t>
            </a:r>
          </a:p>
          <a:p>
            <a:pPr algn="ctr">
              <a:lnSpc>
                <a:spcPct val="100000"/>
              </a:lnSpc>
              <a:spcBef>
                <a:spcPts val="800"/>
              </a:spcBef>
            </a:pPr>
            <a:r>
              <a:rPr lang="de-DE" sz="1200" b="0" dirty="0"/>
              <a:t>keine Korruption oder </a:t>
            </a:r>
            <a:br>
              <a:rPr lang="de-DE" sz="1200" b="0" dirty="0"/>
            </a:br>
            <a:r>
              <a:rPr lang="de-DE" sz="1200" b="0" dirty="0"/>
              <a:t>gesetzeswidrige Handlungen</a:t>
            </a:r>
          </a:p>
          <a:p>
            <a:pPr algn="ctr">
              <a:lnSpc>
                <a:spcPct val="100000"/>
              </a:lnSpc>
              <a:spcBef>
                <a:spcPts val="800"/>
              </a:spcBef>
            </a:pPr>
            <a:r>
              <a:rPr lang="de-DE" sz="1200" b="0" dirty="0"/>
              <a:t>Risiko- und Reputationsmanagement</a:t>
            </a:r>
          </a:p>
          <a:p>
            <a:pPr algn="ctr">
              <a:lnSpc>
                <a:spcPct val="100000"/>
              </a:lnSpc>
              <a:spcBef>
                <a:spcPts val="800"/>
              </a:spcBef>
            </a:pPr>
            <a:r>
              <a:rPr lang="de-DE" sz="1200" b="0" dirty="0"/>
              <a:t>Langfristige Entscheidungen</a:t>
            </a:r>
          </a:p>
          <a:p>
            <a:pPr algn="ctr">
              <a:lnSpc>
                <a:spcPct val="100000"/>
              </a:lnSpc>
              <a:spcBef>
                <a:spcPts val="800"/>
              </a:spcBef>
            </a:pPr>
            <a:r>
              <a:rPr lang="de-DE" sz="1200" b="0" dirty="0"/>
              <a:t>Compliance</a:t>
            </a:r>
          </a:p>
        </p:txBody>
      </p:sp>
      <p:sp>
        <p:nvSpPr>
          <p:cNvPr id="4" name="Inhaltsplatzhalter 3">
            <a:extLst>
              <a:ext uri="{FF2B5EF4-FFF2-40B4-BE49-F238E27FC236}">
                <a16:creationId xmlns:a16="http://schemas.microsoft.com/office/drawing/2014/main" id="{441953F8-05D0-F403-43DB-535718DB262A}"/>
              </a:ext>
            </a:extLst>
          </p:cNvPr>
          <p:cNvSpPr>
            <a:spLocks noGrp="1"/>
          </p:cNvSpPr>
          <p:nvPr>
            <p:ph idx="13"/>
          </p:nvPr>
        </p:nvSpPr>
        <p:spPr/>
        <p:txBody>
          <a:bodyPr/>
          <a:lstStyle/>
          <a:p>
            <a:pPr algn="ctr"/>
            <a:endParaRPr lang="de-DE" sz="2800" dirty="0"/>
          </a:p>
          <a:p>
            <a:pPr algn="ctr"/>
            <a:r>
              <a:rPr lang="de-DE" sz="2800" dirty="0" err="1"/>
              <a:t>S</a:t>
            </a:r>
            <a:r>
              <a:rPr lang="de-DE" sz="1800" dirty="0" err="1"/>
              <a:t>ocial</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die </a:t>
            </a:r>
            <a:br>
              <a:rPr lang="de-DE" sz="1600" dirty="0"/>
            </a:br>
            <a:r>
              <a:rPr lang="de-DE" sz="1600" dirty="0"/>
              <a:t>soziale Verpflichtung</a:t>
            </a:r>
          </a:p>
          <a:p>
            <a:pPr algn="ctr">
              <a:lnSpc>
                <a:spcPct val="100000"/>
              </a:lnSpc>
              <a:spcBef>
                <a:spcPts val="800"/>
              </a:spcBef>
            </a:pPr>
            <a:r>
              <a:rPr lang="de-DE" sz="1200" b="0" dirty="0"/>
              <a:t>gerechte Löhne</a:t>
            </a:r>
          </a:p>
          <a:p>
            <a:pPr algn="ctr">
              <a:lnSpc>
                <a:spcPct val="100000"/>
              </a:lnSpc>
              <a:spcBef>
                <a:spcPts val="800"/>
              </a:spcBef>
            </a:pPr>
            <a:r>
              <a:rPr lang="de-DE" sz="1200" b="0" dirty="0"/>
              <a:t>Sicherheit und Gesundheit</a:t>
            </a:r>
          </a:p>
          <a:p>
            <a:pPr algn="ctr">
              <a:lnSpc>
                <a:spcPct val="100000"/>
              </a:lnSpc>
              <a:spcBef>
                <a:spcPts val="800"/>
              </a:spcBef>
            </a:pPr>
            <a:r>
              <a:rPr lang="de-DE" sz="1200" b="0" dirty="0"/>
              <a:t>faire Bezahlung von Zulieferern</a:t>
            </a:r>
          </a:p>
          <a:p>
            <a:pPr algn="ctr">
              <a:lnSpc>
                <a:spcPct val="100000"/>
              </a:lnSpc>
              <a:spcBef>
                <a:spcPts val="800"/>
              </a:spcBef>
            </a:pPr>
            <a:r>
              <a:rPr lang="de-DE" sz="1200" b="0" dirty="0"/>
              <a:t>keine Diskriminierung </a:t>
            </a:r>
          </a:p>
        </p:txBody>
      </p:sp>
      <p:sp>
        <p:nvSpPr>
          <p:cNvPr id="5" name="Inhaltsplatzhalter 4">
            <a:extLst>
              <a:ext uri="{FF2B5EF4-FFF2-40B4-BE49-F238E27FC236}">
                <a16:creationId xmlns:a16="http://schemas.microsoft.com/office/drawing/2014/main" id="{A1A0A030-1BDB-DB8D-536E-A0B9F76BD0E1}"/>
              </a:ext>
            </a:extLst>
          </p:cNvPr>
          <p:cNvSpPr>
            <a:spLocks noGrp="1"/>
          </p:cNvSpPr>
          <p:nvPr>
            <p:ph idx="1"/>
          </p:nvPr>
        </p:nvSpPr>
        <p:spPr/>
        <p:txBody>
          <a:bodyPr/>
          <a:lstStyle/>
          <a:p>
            <a:pPr algn="ctr"/>
            <a:endParaRPr lang="de-DE" sz="2800" dirty="0"/>
          </a:p>
          <a:p>
            <a:pPr algn="ctr"/>
            <a:r>
              <a:rPr lang="de-DE" sz="2800" dirty="0"/>
              <a:t>E</a:t>
            </a:r>
            <a:r>
              <a:rPr lang="de-DE" sz="1800" dirty="0"/>
              <a:t>nvironment</a:t>
            </a:r>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den </a:t>
            </a:r>
            <a:br>
              <a:rPr lang="de-DE" sz="1600" dirty="0"/>
            </a:br>
            <a:r>
              <a:rPr lang="de-DE" sz="1600" dirty="0"/>
              <a:t>Schutz der Umwelt</a:t>
            </a:r>
          </a:p>
          <a:p>
            <a:pPr algn="ctr">
              <a:lnSpc>
                <a:spcPct val="100000"/>
              </a:lnSpc>
              <a:spcBef>
                <a:spcPts val="800"/>
              </a:spcBef>
            </a:pPr>
            <a:r>
              <a:rPr lang="de-DE" sz="1200" b="0" dirty="0"/>
              <a:t>niedrige/keine CO</a:t>
            </a:r>
            <a:r>
              <a:rPr lang="de-DE" sz="600" b="0" dirty="0"/>
              <a:t>2</a:t>
            </a:r>
            <a:r>
              <a:rPr lang="de-DE" sz="1200" b="0" dirty="0"/>
              <a:t>-Emissionen </a:t>
            </a:r>
          </a:p>
          <a:p>
            <a:pPr algn="ctr">
              <a:lnSpc>
                <a:spcPct val="100000"/>
              </a:lnSpc>
              <a:spcBef>
                <a:spcPts val="800"/>
              </a:spcBef>
            </a:pPr>
            <a:r>
              <a:rPr lang="de-DE" sz="1200" b="0" dirty="0"/>
              <a:t>niedriger Wasserverbrauch </a:t>
            </a:r>
          </a:p>
          <a:p>
            <a:pPr algn="ctr">
              <a:lnSpc>
                <a:spcPct val="100000"/>
              </a:lnSpc>
              <a:spcBef>
                <a:spcPts val="800"/>
              </a:spcBef>
            </a:pPr>
            <a:r>
              <a:rPr lang="de-DE" sz="1200" b="0" dirty="0"/>
              <a:t>keine Verschmutzung von Gewässern</a:t>
            </a:r>
          </a:p>
          <a:p>
            <a:pPr algn="ctr">
              <a:lnSpc>
                <a:spcPct val="100000"/>
              </a:lnSpc>
              <a:spcBef>
                <a:spcPts val="800"/>
              </a:spcBef>
            </a:pPr>
            <a:r>
              <a:rPr lang="de-DE" sz="1200" b="0" dirty="0"/>
              <a:t>Erhalt der Wälder/Arten</a:t>
            </a:r>
            <a:endParaRPr lang="de-DE" sz="900" b="0" dirty="0"/>
          </a:p>
        </p:txBody>
      </p:sp>
      <p:sp>
        <p:nvSpPr>
          <p:cNvPr id="6" name="Titel 5">
            <a:extLst>
              <a:ext uri="{FF2B5EF4-FFF2-40B4-BE49-F238E27FC236}">
                <a16:creationId xmlns:a16="http://schemas.microsoft.com/office/drawing/2014/main" id="{AE84A6B4-8D15-614D-2F0B-FF8375601825}"/>
              </a:ext>
            </a:extLst>
          </p:cNvPr>
          <p:cNvSpPr>
            <a:spLocks noGrp="1"/>
          </p:cNvSpPr>
          <p:nvPr>
            <p:ph type="title"/>
          </p:nvPr>
        </p:nvSpPr>
        <p:spPr/>
        <p:txBody>
          <a:bodyPr/>
          <a:lstStyle/>
          <a:p>
            <a:r>
              <a:rPr lang="de-DE" dirty="0"/>
              <a:t>Die drei Säulen der Nachhaltigkeit</a:t>
            </a:r>
          </a:p>
        </p:txBody>
      </p:sp>
      <p:pic>
        <p:nvPicPr>
          <p:cNvPr id="8" name="Grafik 7">
            <a:extLst>
              <a:ext uri="{FF2B5EF4-FFF2-40B4-BE49-F238E27FC236}">
                <a16:creationId xmlns:a16="http://schemas.microsoft.com/office/drawing/2014/main" id="{9C6049D3-1CDC-F567-7194-80A46CB2F4B8}"/>
              </a:ext>
            </a:extLst>
          </p:cNvPr>
          <p:cNvPicPr>
            <a:picLocks noChangeAspect="1"/>
          </p:cNvPicPr>
          <p:nvPr/>
        </p:nvPicPr>
        <p:blipFill>
          <a:blip r:embed="rId2"/>
          <a:stretch>
            <a:fillRect/>
          </a:stretch>
        </p:blipFill>
        <p:spPr>
          <a:xfrm>
            <a:off x="772318" y="1944460"/>
            <a:ext cx="2305050" cy="1285875"/>
          </a:xfrm>
          <a:prstGeom prst="rect">
            <a:avLst/>
          </a:prstGeom>
        </p:spPr>
      </p:pic>
      <p:pic>
        <p:nvPicPr>
          <p:cNvPr id="10" name="Grafik 9">
            <a:extLst>
              <a:ext uri="{FF2B5EF4-FFF2-40B4-BE49-F238E27FC236}">
                <a16:creationId xmlns:a16="http://schemas.microsoft.com/office/drawing/2014/main" id="{A15F0AE3-1BDA-7600-2812-284F899E248D}"/>
              </a:ext>
            </a:extLst>
          </p:cNvPr>
          <p:cNvPicPr>
            <a:picLocks noChangeAspect="1"/>
          </p:cNvPicPr>
          <p:nvPr/>
        </p:nvPicPr>
        <p:blipFill>
          <a:blip r:embed="rId3"/>
          <a:stretch>
            <a:fillRect/>
          </a:stretch>
        </p:blipFill>
        <p:spPr>
          <a:xfrm>
            <a:off x="4143375" y="1979865"/>
            <a:ext cx="2152650" cy="1266825"/>
          </a:xfrm>
          <a:prstGeom prst="rect">
            <a:avLst/>
          </a:prstGeom>
        </p:spPr>
      </p:pic>
      <p:pic>
        <p:nvPicPr>
          <p:cNvPr id="12" name="Grafik 11">
            <a:extLst>
              <a:ext uri="{FF2B5EF4-FFF2-40B4-BE49-F238E27FC236}">
                <a16:creationId xmlns:a16="http://schemas.microsoft.com/office/drawing/2014/main" id="{29FECEEF-5F14-6A00-8806-17B261A5C7B8}"/>
              </a:ext>
            </a:extLst>
          </p:cNvPr>
          <p:cNvPicPr>
            <a:picLocks noChangeAspect="1"/>
          </p:cNvPicPr>
          <p:nvPr/>
        </p:nvPicPr>
        <p:blipFill>
          <a:blip r:embed="rId4"/>
          <a:stretch>
            <a:fillRect/>
          </a:stretch>
        </p:blipFill>
        <p:spPr>
          <a:xfrm>
            <a:off x="7548676" y="1777932"/>
            <a:ext cx="2004790" cy="1618930"/>
          </a:xfrm>
          <a:prstGeom prst="rect">
            <a:avLst/>
          </a:prstGeom>
        </p:spPr>
      </p:pic>
    </p:spTree>
    <p:extLst>
      <p:ext uri="{BB962C8B-B14F-4D97-AF65-F5344CB8AC3E}">
        <p14:creationId xmlns:p14="http://schemas.microsoft.com/office/powerpoint/2010/main" val="1020417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6</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0" y="1050707"/>
            <a:ext cx="3960813" cy="4791074"/>
          </a:xfrm>
        </p:spPr>
        <p:txBody>
          <a:bodyPr/>
          <a:lstStyle/>
          <a:p>
            <a:pPr>
              <a:lnSpc>
                <a:spcPct val="100000"/>
              </a:lnSpc>
            </a:pPr>
            <a:r>
              <a:rPr lang="de-DE" b="0" dirty="0"/>
              <a:t>MSCI deckt mehr als 6.000 Unternehmen und 8.000 Anleihen-Emittenten ab. Es werden die gängigen Ausschlusskriterien im Bereich kontroverse Geschäftspraktiken berücksichtigt. In unseren ESG-Portfolien streben wir ein durchschnittliches ESG-MSCI-Rating von AA an.</a:t>
            </a:r>
          </a:p>
          <a:p>
            <a:pPr>
              <a:lnSpc>
                <a:spcPct val="100000"/>
              </a:lnSpc>
            </a:pPr>
            <a:r>
              <a:rPr lang="de-DE" b="0" dirty="0"/>
              <a:t>Darüber hinaus werden die sogenannten SDGs </a:t>
            </a:r>
            <a:br>
              <a:rPr lang="de-DE" b="0" dirty="0"/>
            </a:br>
            <a:r>
              <a:rPr lang="de-DE" b="0" dirty="0"/>
              <a:t>(</a:t>
            </a:r>
            <a:r>
              <a:rPr lang="de-DE" b="0" dirty="0" err="1"/>
              <a:t>Social</a:t>
            </a:r>
            <a:r>
              <a:rPr lang="de-DE" b="0" dirty="0"/>
              <a:t> Development Goals) der vereinten Nationen im Investmentprozess berücksichtigt. Die 17 Ziele umfassen alle drei Dimensionen der Nachhaltigkeit:</a:t>
            </a:r>
          </a:p>
          <a:p>
            <a:pPr>
              <a:lnSpc>
                <a:spcPct val="100000"/>
              </a:lnSpc>
            </a:pPr>
            <a:r>
              <a:rPr lang="de-DE" b="0" dirty="0"/>
              <a:t>Soziales, Umwelt und Wirtschaft</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05222" cy="4791074"/>
          </a:xfrm>
        </p:spPr>
        <p:txBody>
          <a:bodyPr/>
          <a:lstStyle/>
          <a:p>
            <a:pPr>
              <a:lnSpc>
                <a:spcPct val="100000"/>
              </a:lnSpc>
            </a:pPr>
            <a:r>
              <a:rPr lang="de-DE" b="0" dirty="0"/>
              <a:t>Unser Investmentprozess ist darauf ausgelegt, auf nachhaltige Anlagen und Investments zu achten und dabei einen langfristigen Mehrwert für Kunden zu erzielen. Wir investieren in Unternehmen, die respektvoll und wertschätzend mit Menschen, der Umwelt und damit verbunden unserer gemeinsamen Zukunft umgehen.</a:t>
            </a:r>
          </a:p>
          <a:p>
            <a:pPr>
              <a:lnSpc>
                <a:spcPct val="100000"/>
              </a:lnSpc>
            </a:pPr>
            <a:r>
              <a:rPr lang="de-DE" b="0" dirty="0"/>
              <a:t>Dabei ist uns Transparenz und klare Nachvollziehbarkeit unserer Investmententscheidungen besonders wichtig. </a:t>
            </a:r>
          </a:p>
          <a:p>
            <a:pPr>
              <a:lnSpc>
                <a:spcPct val="100000"/>
              </a:lnSpc>
            </a:pPr>
            <a:r>
              <a:rPr lang="de-DE" b="0" dirty="0"/>
              <a:t>Wir setzen hierbei auf die Unterstützung von MSCI ESG Research, dem weltweit größten Anbieter von ESG (Umwelt, Soziales und Unternehmensführung) Research. 300 Vollzeit-Mitarbeiter inklusive 150 ESG-Analysten in 18 Büros weltweit sorgen für eine klare ESG Bewertung.</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ESG und Nachhaltigkeit</a:t>
            </a:r>
          </a:p>
        </p:txBody>
      </p:sp>
      <p:sp>
        <p:nvSpPr>
          <p:cNvPr id="10" name="Textfeld 9">
            <a:extLst>
              <a:ext uri="{FF2B5EF4-FFF2-40B4-BE49-F238E27FC236}">
                <a16:creationId xmlns:a16="http://schemas.microsoft.com/office/drawing/2014/main" id="{37AF4E8D-2511-A440-933C-1A24FE54EAE7}"/>
              </a:ext>
            </a:extLst>
          </p:cNvPr>
          <p:cNvSpPr txBox="1"/>
          <p:nvPr/>
        </p:nvSpPr>
        <p:spPr>
          <a:xfrm>
            <a:off x="2282308" y="6136928"/>
            <a:ext cx="7097917" cy="200055"/>
          </a:xfrm>
          <a:prstGeom prst="rect">
            <a:avLst/>
          </a:prstGeom>
          <a:noFill/>
        </p:spPr>
        <p:txBody>
          <a:bodyPr wrap="square" rtlCol="0">
            <a:spAutoFit/>
          </a:bodyPr>
          <a:lstStyle/>
          <a:p>
            <a:pPr algn="r"/>
            <a:r>
              <a:rPr lang="de-DE" sz="700" dirty="0">
                <a:solidFill>
                  <a:schemeClr val="bg1">
                    <a:lumMod val="50000"/>
                  </a:schemeClr>
                </a:solidFill>
              </a:rPr>
              <a:t>Quelle: www.17ziele.de</a:t>
            </a:r>
          </a:p>
        </p:txBody>
      </p:sp>
    </p:spTree>
    <p:extLst>
      <p:ext uri="{BB962C8B-B14F-4D97-AF65-F5344CB8AC3E}">
        <p14:creationId xmlns:p14="http://schemas.microsoft.com/office/powerpoint/2010/main" val="1956502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7</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50707"/>
            <a:ext cx="4302124" cy="4791074"/>
          </a:xfrm>
        </p:spPr>
        <p:txBody>
          <a:bodyPr/>
          <a:lstStyle/>
          <a:p>
            <a:pPr marL="41101" defTabSz="521926">
              <a:lnSpc>
                <a:spcPct val="100000"/>
              </a:lnSpc>
              <a:spcBef>
                <a:spcPts val="400"/>
              </a:spcBef>
              <a:spcAft>
                <a:spcPts val="13"/>
              </a:spcAft>
              <a:defRPr/>
            </a:pPr>
            <a:r>
              <a:rPr lang="de-DE" b="0" dirty="0">
                <a:solidFill>
                  <a:srgbClr val="1A314C"/>
                </a:solidFill>
                <a:latin typeface="+mj-lt"/>
                <a:cs typeface="Noto Serif"/>
              </a:rPr>
              <a:t>Unsere ESG-Vermögensverwaltungen werden als Produkt </a:t>
            </a:r>
            <a:br>
              <a:rPr lang="de-DE" b="0" dirty="0">
                <a:solidFill>
                  <a:srgbClr val="1A314C"/>
                </a:solidFill>
                <a:latin typeface="+mj-lt"/>
                <a:cs typeface="Noto Serif"/>
              </a:rPr>
            </a:br>
            <a:r>
              <a:rPr lang="de-DE" b="0" dirty="0">
                <a:solidFill>
                  <a:srgbClr val="1A314C"/>
                </a:solidFill>
                <a:latin typeface="+mj-lt"/>
                <a:cs typeface="Noto Serif"/>
              </a:rPr>
              <a:t>bzw. Dienstleistung nach Artikel 8 gemäß </a:t>
            </a:r>
            <a:r>
              <a:rPr lang="de-DE" b="0" dirty="0" err="1">
                <a:solidFill>
                  <a:srgbClr val="1A314C"/>
                </a:solidFill>
                <a:latin typeface="+mj-lt"/>
                <a:cs typeface="Noto Serif"/>
              </a:rPr>
              <a:t>Sustainable</a:t>
            </a:r>
            <a:r>
              <a:rPr lang="de-DE" b="0" dirty="0">
                <a:solidFill>
                  <a:srgbClr val="1A314C"/>
                </a:solidFill>
                <a:latin typeface="+mj-lt"/>
                <a:cs typeface="Noto Serif"/>
              </a:rPr>
              <a:t> </a:t>
            </a:r>
            <a:r>
              <a:rPr lang="de-DE" b="0" dirty="0" err="1">
                <a:solidFill>
                  <a:srgbClr val="1A314C"/>
                </a:solidFill>
                <a:latin typeface="+mj-lt"/>
                <a:cs typeface="Noto Serif"/>
              </a:rPr>
              <a:t>Finance</a:t>
            </a:r>
            <a:r>
              <a:rPr lang="de-DE" b="0" dirty="0">
                <a:solidFill>
                  <a:srgbClr val="1A314C"/>
                </a:solidFill>
                <a:latin typeface="+mj-lt"/>
                <a:cs typeface="Noto Serif"/>
              </a:rPr>
              <a:t> </a:t>
            </a:r>
            <a:r>
              <a:rPr lang="de-DE" b="0" dirty="0" err="1">
                <a:solidFill>
                  <a:srgbClr val="1A314C"/>
                </a:solidFill>
                <a:latin typeface="+mj-lt"/>
                <a:cs typeface="Noto Serif"/>
              </a:rPr>
              <a:t>Disclosure</a:t>
            </a:r>
            <a:r>
              <a:rPr lang="de-DE" b="0" dirty="0">
                <a:solidFill>
                  <a:srgbClr val="1A314C"/>
                </a:solidFill>
                <a:latin typeface="+mj-lt"/>
                <a:cs typeface="Noto Serif"/>
              </a:rPr>
              <a:t> Regulation (im Folgenden: SFDR) eingestuft, wobei eine weitere Anpassung der Vermögensverwaltung an die jeweils gültigen regulatorischen Vorgaben zur Erreichung </a:t>
            </a:r>
            <a:br>
              <a:rPr lang="de-DE" b="0" dirty="0">
                <a:solidFill>
                  <a:srgbClr val="1A314C"/>
                </a:solidFill>
                <a:latin typeface="+mj-lt"/>
                <a:cs typeface="Noto Serif"/>
              </a:rPr>
            </a:br>
            <a:r>
              <a:rPr lang="de-DE" b="0" dirty="0">
                <a:solidFill>
                  <a:srgbClr val="1A314C"/>
                </a:solidFill>
                <a:latin typeface="+mj-lt"/>
                <a:cs typeface="Noto Serif"/>
              </a:rPr>
              <a:t>der Einstufung nach Art. 8 SFDR erforderlich werden kann. </a:t>
            </a:r>
            <a:br>
              <a:rPr lang="de-DE" b="0" dirty="0">
                <a:solidFill>
                  <a:srgbClr val="1A314C"/>
                </a:solidFill>
                <a:latin typeface="+mj-lt"/>
                <a:cs typeface="Noto Serif"/>
              </a:rPr>
            </a:br>
            <a:r>
              <a:rPr lang="de-DE" b="0" dirty="0">
                <a:solidFill>
                  <a:srgbClr val="1A314C"/>
                </a:solidFill>
                <a:latin typeface="+mj-lt"/>
                <a:cs typeface="Noto Serif"/>
              </a:rPr>
              <a:t>In diesem Fall erfolgt eine Reallokation zur Gewährleistung der aktuell geltenden Vorgaben.</a:t>
            </a:r>
          </a:p>
          <a:p>
            <a:pPr marL="41101" defTabSz="521926">
              <a:lnSpc>
                <a:spcPct val="100000"/>
              </a:lnSpc>
              <a:spcBef>
                <a:spcPts val="0"/>
              </a:spcBef>
              <a:spcAft>
                <a:spcPts val="1213"/>
              </a:spcAft>
              <a:defRPr/>
            </a:pPr>
            <a:br>
              <a:rPr lang="de-DE" b="0" dirty="0">
                <a:solidFill>
                  <a:srgbClr val="1A314C"/>
                </a:solidFill>
                <a:latin typeface="+mj-lt"/>
                <a:cs typeface="Noto Serif"/>
              </a:rPr>
            </a:br>
            <a:r>
              <a:rPr lang="de-DE" b="0" dirty="0">
                <a:solidFill>
                  <a:srgbClr val="1A314C"/>
                </a:solidFill>
                <a:latin typeface="+mj-lt"/>
                <a:cs typeface="Noto Serif"/>
              </a:rPr>
              <a:t>Ein eingeschränktes Produktangebot und dadurch eingeschränkte Diversifikationsmöglichkeiten können zu höheren Wertschwankungen führen! Zudem bleiben rechtliche Unsicherheiten aufgrund fehlender delegierter Rechtsakte und einer lückenhaften Datenbasis. Die Fürst Fugger Privatbank Aktiengesellschaft kann daher keine Gewährleistung für die Erreichung der Nachhaltigkeitsziele übernehmen.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Investmentprozess und Risiken</a:t>
            </a:r>
          </a:p>
        </p:txBody>
      </p:sp>
      <p:sp>
        <p:nvSpPr>
          <p:cNvPr id="10" name="Inhaltsplatzhalter 4">
            <a:extLst>
              <a:ext uri="{FF2B5EF4-FFF2-40B4-BE49-F238E27FC236}">
                <a16:creationId xmlns:a16="http://schemas.microsoft.com/office/drawing/2014/main" id="{BB4380A7-B448-E540-AF86-1F8C4F4909FB}"/>
              </a:ext>
            </a:extLst>
          </p:cNvPr>
          <p:cNvSpPr>
            <a:spLocks noGrp="1"/>
          </p:cNvSpPr>
          <p:nvPr>
            <p:ph idx="1"/>
          </p:nvPr>
        </p:nvSpPr>
        <p:spPr>
          <a:xfrm>
            <a:off x="644984" y="1050707"/>
            <a:ext cx="3951400" cy="4791074"/>
          </a:xfrm>
        </p:spPr>
        <p:txBody>
          <a:bodyPr/>
          <a:lstStyle/>
          <a:p>
            <a:pPr marL="41101" defTabSz="521926">
              <a:lnSpc>
                <a:spcPct val="100000"/>
              </a:lnSpc>
              <a:spcAft>
                <a:spcPts val="1713"/>
              </a:spcAft>
              <a:defRPr/>
            </a:pPr>
            <a:r>
              <a:rPr lang="de-DE" b="0" dirty="0">
                <a:solidFill>
                  <a:srgbClr val="1A314C"/>
                </a:solidFill>
                <a:cs typeface="Noto Serif"/>
              </a:rPr>
              <a:t>Wir richten unsere nachhaltige Vermögensverwaltung im Sinne der Offenlegungsverordnung (</a:t>
            </a:r>
            <a:r>
              <a:rPr lang="de-DE" b="0" dirty="0" err="1">
                <a:solidFill>
                  <a:srgbClr val="1A314C"/>
                </a:solidFill>
                <a:cs typeface="Noto Serif"/>
              </a:rPr>
              <a:t>Sustainable</a:t>
            </a:r>
            <a:r>
              <a:rPr lang="de-DE" b="0" dirty="0">
                <a:solidFill>
                  <a:srgbClr val="1A314C"/>
                </a:solidFill>
                <a:cs typeface="Noto Serif"/>
              </a:rPr>
              <a:t> </a:t>
            </a:r>
            <a:r>
              <a:rPr lang="de-DE" b="0" dirty="0" err="1">
                <a:solidFill>
                  <a:srgbClr val="1A314C"/>
                </a:solidFill>
                <a:cs typeface="Noto Serif"/>
              </a:rPr>
              <a:t>Finance</a:t>
            </a:r>
            <a:r>
              <a:rPr lang="de-DE" b="0" dirty="0">
                <a:solidFill>
                  <a:srgbClr val="1A314C"/>
                </a:solidFill>
                <a:cs typeface="Noto Serif"/>
              </a:rPr>
              <a:t> </a:t>
            </a:r>
            <a:r>
              <a:rPr lang="de-DE" b="0" dirty="0" err="1">
                <a:solidFill>
                  <a:srgbClr val="1A314C"/>
                </a:solidFill>
                <a:cs typeface="Noto Serif"/>
              </a:rPr>
              <a:t>Diclosure</a:t>
            </a:r>
            <a:r>
              <a:rPr lang="de-DE" b="0" dirty="0">
                <a:solidFill>
                  <a:srgbClr val="1A314C"/>
                </a:solidFill>
                <a:cs typeface="Noto Serif"/>
              </a:rPr>
              <a:t> Regulation – kurz SFDR) aus und greifen bei der Bewertung auf die </a:t>
            </a:r>
            <a:r>
              <a:rPr lang="de-DE" b="0" dirty="0" err="1">
                <a:solidFill>
                  <a:srgbClr val="1A314C"/>
                </a:solidFill>
                <a:cs typeface="Noto Serif"/>
              </a:rPr>
              <a:t>Sustainable</a:t>
            </a:r>
            <a:r>
              <a:rPr lang="de-DE" b="0" dirty="0">
                <a:solidFill>
                  <a:srgbClr val="1A314C"/>
                </a:solidFill>
                <a:cs typeface="Noto Serif"/>
              </a:rPr>
              <a:t> Development Goals (SDGs) der Vereinten Nationen zurück. Das bedeutet, die Unter-nehmen müssen zu einem der 17 Nachhaltigkeitsziele einen positiven Beitrag leisten und dürfen gleichzeitig kein anderes Ziel erheblich beeinträchtigen (DNSH-Test). Die Kriterien beziehen wir hierbei ebenfalls von MSCI ESG Research. Für die Berechnung des Mindestanteils an nachhaltigen Investitionen im Sinne der Offenlegungs-verordnung gelten die nachhaltigen Umsatzanteile der jeweiligen Unternehmen. </a:t>
            </a:r>
          </a:p>
          <a:p>
            <a:pPr marL="41101" defTabSz="521926">
              <a:lnSpc>
                <a:spcPct val="100000"/>
              </a:lnSpc>
              <a:spcBef>
                <a:spcPts val="0"/>
              </a:spcBef>
              <a:spcAft>
                <a:spcPts val="913"/>
              </a:spcAft>
              <a:defRPr/>
            </a:pPr>
            <a:r>
              <a:rPr lang="de-DE" b="0" dirty="0">
                <a:solidFill>
                  <a:srgbClr val="1A314C"/>
                </a:solidFill>
                <a:cs typeface="Noto Serif"/>
              </a:rPr>
              <a:t>Wir streben hier einen gewichteten Anteil von ca. 20-40% auf Portfolioebene an. Zudem werden die Global </a:t>
            </a:r>
            <a:r>
              <a:rPr lang="de-DE" b="0" dirty="0" err="1">
                <a:solidFill>
                  <a:srgbClr val="1A314C"/>
                </a:solidFill>
                <a:cs typeface="Noto Serif"/>
              </a:rPr>
              <a:t>Norms</a:t>
            </a:r>
            <a:r>
              <a:rPr lang="de-DE" b="0" dirty="0">
                <a:solidFill>
                  <a:srgbClr val="1A314C"/>
                </a:solidFill>
                <a:cs typeface="Noto Serif"/>
              </a:rPr>
              <a:t> und die Mindeststandards des UN Global </a:t>
            </a:r>
            <a:r>
              <a:rPr lang="de-DE" b="0" dirty="0" err="1">
                <a:solidFill>
                  <a:srgbClr val="1A314C"/>
                </a:solidFill>
                <a:cs typeface="Noto Serif"/>
              </a:rPr>
              <a:t>Compacts</a:t>
            </a:r>
            <a:r>
              <a:rPr lang="de-DE" b="0" dirty="0">
                <a:solidFill>
                  <a:srgbClr val="1A314C"/>
                </a:solidFill>
                <a:cs typeface="Noto Serif"/>
              </a:rPr>
              <a:t> in unseren Anlageentscheidungen berücksichtigt. </a:t>
            </a:r>
          </a:p>
        </p:txBody>
      </p:sp>
    </p:spTree>
    <p:extLst>
      <p:ext uri="{BB962C8B-B14F-4D97-AF65-F5344CB8AC3E}">
        <p14:creationId xmlns:p14="http://schemas.microsoft.com/office/powerpoint/2010/main" val="1366242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ADDD8A9-F08F-69A9-F3BC-C98C60A45FE6}"/>
              </a:ext>
            </a:extLst>
          </p:cNvPr>
          <p:cNvSpPr>
            <a:spLocks noGrp="1"/>
          </p:cNvSpPr>
          <p:nvPr>
            <p:ph type="sldNum" sz="quarter" idx="12"/>
          </p:nvPr>
        </p:nvSpPr>
        <p:spPr/>
        <p:txBody>
          <a:bodyPr/>
          <a:lstStyle/>
          <a:p>
            <a:fld id="{3AE71D6B-ACB6-4F4C-A895-DCAEF1760EAA}" type="slidenum">
              <a:rPr lang="de-DE" smtClean="0"/>
              <a:t>8</a:t>
            </a:fld>
            <a:endParaRPr lang="de-DE"/>
          </a:p>
        </p:txBody>
      </p:sp>
      <p:pic>
        <p:nvPicPr>
          <p:cNvPr id="3" name="Grafik" descr="Ein Bild, das Reihe, Symmetrie enthält.&#10;&#10;Automatisch generierte Beschreibung">
            <a:extLst>
              <a:ext uri="{FF2B5EF4-FFF2-40B4-BE49-F238E27FC236}">
                <a16:creationId xmlns:a16="http://schemas.microsoft.com/office/drawing/2014/main" id="{9B5F9D1A-CF39-A0A5-EAAE-F87E2AE6D9E0}"/>
              </a:ext>
            </a:extLst>
          </p:cNvPr>
          <p:cNvPicPr>
            <a:picLocks noGrp="1" noRot="1" noChangeAspect="1" noMove="1" noResize="1" noEditPoints="1" noAdjustHandles="1" noChangeArrowheads="1" noChangeShapeType="1" noCrop="1"/>
          </p:cNvPicPr>
          <p:nvPr/>
        </p:nvPicPr>
        <p:blipFill rotWithShape="1">
          <a:blip r:embed="rId2"/>
          <a:srcRect l="9394" t="16493" r="39321" b="13212"/>
          <a:stretch/>
        </p:blipFill>
        <p:spPr>
          <a:xfrm>
            <a:off x="980660" y="1099931"/>
            <a:ext cx="5353879" cy="4678018"/>
          </a:xfrm>
          <a:prstGeom prst="rect">
            <a:avLst/>
          </a:prstGeom>
        </p:spPr>
      </p:pic>
      <p:pic>
        <p:nvPicPr>
          <p:cNvPr id="21" name="Klammer" descr="Ein Bild, das Schwarz, Dunkelheit enthält.&#10;&#10;Automatisch generierte Beschreibung">
            <a:extLst>
              <a:ext uri="{FF2B5EF4-FFF2-40B4-BE49-F238E27FC236}">
                <a16:creationId xmlns:a16="http://schemas.microsoft.com/office/drawing/2014/main" id="{2B1C6B2D-EE25-82CC-CA50-704BC91353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1496" y="1252371"/>
            <a:ext cx="533400" cy="2870200"/>
          </a:xfrm>
          <a:prstGeom prst="rect">
            <a:avLst/>
          </a:prstGeom>
        </p:spPr>
      </p:pic>
      <p:sp>
        <p:nvSpPr>
          <p:cNvPr id="7" name="Pyramide 3">
            <a:extLst>
              <a:ext uri="{FF2B5EF4-FFF2-40B4-BE49-F238E27FC236}">
                <a16:creationId xmlns:a16="http://schemas.microsoft.com/office/drawing/2014/main" id="{6CDE6EF8-7DEC-1494-ED26-B96572B9B655}"/>
              </a:ext>
            </a:extLst>
          </p:cNvPr>
          <p:cNvSpPr txBox="1"/>
          <p:nvPr/>
        </p:nvSpPr>
        <p:spPr>
          <a:xfrm>
            <a:off x="2735881" y="4854792"/>
            <a:ext cx="226867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Normbasierte ausschlüsse</a:t>
            </a:r>
          </a:p>
        </p:txBody>
      </p:sp>
      <p:sp>
        <p:nvSpPr>
          <p:cNvPr id="6" name="Pyramide 2">
            <a:extLst>
              <a:ext uri="{FF2B5EF4-FFF2-40B4-BE49-F238E27FC236}">
                <a16:creationId xmlns:a16="http://schemas.microsoft.com/office/drawing/2014/main" id="{052580C3-21CD-B7F6-0B35-0023BEE27589}"/>
              </a:ext>
            </a:extLst>
          </p:cNvPr>
          <p:cNvSpPr txBox="1"/>
          <p:nvPr/>
        </p:nvSpPr>
        <p:spPr>
          <a:xfrm>
            <a:off x="3150219" y="3351249"/>
            <a:ext cx="144000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ESG-Merkmale</a:t>
            </a:r>
          </a:p>
        </p:txBody>
      </p:sp>
      <p:sp>
        <p:nvSpPr>
          <p:cNvPr id="5" name="Pyramide 1">
            <a:extLst>
              <a:ext uri="{FF2B5EF4-FFF2-40B4-BE49-F238E27FC236}">
                <a16:creationId xmlns:a16="http://schemas.microsoft.com/office/drawing/2014/main" id="{A4A605B4-E5DD-6EB7-BB4D-6C29D94896FC}"/>
              </a:ext>
            </a:extLst>
          </p:cNvPr>
          <p:cNvSpPr txBox="1"/>
          <p:nvPr/>
        </p:nvSpPr>
        <p:spPr>
          <a:xfrm>
            <a:off x="3150219" y="2134627"/>
            <a:ext cx="1440000" cy="3693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Nachhaltige</a:t>
            </a:r>
            <a:br>
              <a:rPr lang="de-DE" sz="900" b="1" cap="all" baseline="0" dirty="0">
                <a:solidFill>
                  <a:schemeClr val="bg1"/>
                </a:solidFill>
              </a:rPr>
            </a:br>
            <a:r>
              <a:rPr lang="de-DE" sz="900" b="1" cap="all" baseline="0" dirty="0">
                <a:solidFill>
                  <a:schemeClr val="bg1"/>
                </a:solidFill>
              </a:rPr>
              <a:t>investitionen</a:t>
            </a:r>
          </a:p>
        </p:txBody>
      </p:sp>
      <p:sp>
        <p:nvSpPr>
          <p:cNvPr id="10" name="Bulletpoint 3">
            <a:extLst>
              <a:ext uri="{FF2B5EF4-FFF2-40B4-BE49-F238E27FC236}">
                <a16:creationId xmlns:a16="http://schemas.microsoft.com/office/drawing/2014/main" id="{B8707CB9-AEBB-F7F9-96E5-CF33E5F3847A}"/>
              </a:ext>
            </a:extLst>
          </p:cNvPr>
          <p:cNvSpPr txBox="1">
            <a:spLocks/>
          </p:cNvSpPr>
          <p:nvPr/>
        </p:nvSpPr>
        <p:spPr>
          <a:xfrm>
            <a:off x="6359223" y="4485831"/>
            <a:ext cx="1770525"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UN Global Compact</a:t>
            </a:r>
          </a:p>
          <a:p>
            <a:pPr lvl="2">
              <a:buFont typeface="Arial" panose="020B0604020202020204" pitchFamily="34" charset="0"/>
              <a:buChar char="•"/>
            </a:pPr>
            <a:r>
              <a:rPr lang="de-DE" dirty="0">
                <a:solidFill>
                  <a:schemeClr val="accent1"/>
                </a:solidFill>
              </a:rPr>
              <a:t>Freedom House Index</a:t>
            </a:r>
          </a:p>
          <a:p>
            <a:pPr lvl="2">
              <a:buFont typeface="Arial" panose="020B0604020202020204" pitchFamily="34" charset="0"/>
              <a:buChar char="•"/>
            </a:pPr>
            <a:r>
              <a:rPr lang="de-DE" dirty="0">
                <a:solidFill>
                  <a:schemeClr val="accent1"/>
                </a:solidFill>
              </a:rPr>
              <a:t>EU-Sanktionsliste</a:t>
            </a:r>
          </a:p>
        </p:txBody>
      </p:sp>
      <p:sp>
        <p:nvSpPr>
          <p:cNvPr id="9" name="Bulletpoint 2">
            <a:extLst>
              <a:ext uri="{FF2B5EF4-FFF2-40B4-BE49-F238E27FC236}">
                <a16:creationId xmlns:a16="http://schemas.microsoft.com/office/drawing/2014/main" id="{E0D46A8D-3737-C43B-79EF-332093B721CC}"/>
              </a:ext>
            </a:extLst>
          </p:cNvPr>
          <p:cNvSpPr txBox="1">
            <a:spLocks/>
          </p:cNvSpPr>
          <p:nvPr/>
        </p:nvSpPr>
        <p:spPr>
          <a:xfrm>
            <a:off x="5532952" y="2987755"/>
            <a:ext cx="2638032"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Mindest-MSCI-ESG-Rating (&gt; BB)</a:t>
            </a:r>
          </a:p>
          <a:p>
            <a:pPr lvl="2">
              <a:buFont typeface="Arial" panose="020B0604020202020204" pitchFamily="34" charset="0"/>
              <a:buChar char="•"/>
            </a:pPr>
            <a:r>
              <a:rPr lang="de-DE" dirty="0">
                <a:solidFill>
                  <a:schemeClr val="accent1"/>
                </a:solidFill>
              </a:rPr>
              <a:t>MSCI-ESG-Rating AA (Depotebene)</a:t>
            </a:r>
          </a:p>
          <a:p>
            <a:pPr lvl="2">
              <a:buFont typeface="Arial" panose="020B0604020202020204" pitchFamily="34" charset="0"/>
              <a:buChar char="•"/>
            </a:pPr>
            <a:r>
              <a:rPr lang="de-DE" dirty="0">
                <a:solidFill>
                  <a:schemeClr val="accent1"/>
                </a:solidFill>
              </a:rPr>
              <a:t>PAI-Berücksichtigung</a:t>
            </a:r>
          </a:p>
        </p:txBody>
      </p:sp>
      <p:sp>
        <p:nvSpPr>
          <p:cNvPr id="8" name="Bulletpoint 1">
            <a:extLst>
              <a:ext uri="{FF2B5EF4-FFF2-40B4-BE49-F238E27FC236}">
                <a16:creationId xmlns:a16="http://schemas.microsoft.com/office/drawing/2014/main" id="{1DB6DCC9-954B-BFBB-857F-CD7F1220F4C3}"/>
              </a:ext>
            </a:extLst>
          </p:cNvPr>
          <p:cNvSpPr txBox="1">
            <a:spLocks/>
          </p:cNvSpPr>
          <p:nvPr/>
        </p:nvSpPr>
        <p:spPr>
          <a:xfrm>
            <a:off x="4707920" y="1626981"/>
            <a:ext cx="2413849"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Positives Screening SDG-Beitrag</a:t>
            </a:r>
          </a:p>
          <a:p>
            <a:pPr lvl="2">
              <a:buFont typeface="Arial" panose="020B0604020202020204" pitchFamily="34" charset="0"/>
              <a:buChar char="•"/>
            </a:pPr>
            <a:r>
              <a:rPr lang="de-DE" dirty="0">
                <a:solidFill>
                  <a:schemeClr val="accent1"/>
                </a:solidFill>
              </a:rPr>
              <a:t>Nachhaltige Umsatzanteile</a:t>
            </a:r>
            <a:br>
              <a:rPr lang="de-DE" dirty="0">
                <a:solidFill>
                  <a:schemeClr val="accent1"/>
                </a:solidFill>
              </a:rPr>
            </a:br>
            <a:r>
              <a:rPr lang="de-DE" dirty="0">
                <a:solidFill>
                  <a:schemeClr val="accent1"/>
                </a:solidFill>
              </a:rPr>
              <a:t>(20 - 40%, </a:t>
            </a:r>
            <a:r>
              <a:rPr lang="de-DE" dirty="0" err="1">
                <a:solidFill>
                  <a:schemeClr val="accent1"/>
                </a:solidFill>
              </a:rPr>
              <a:t>activity-based</a:t>
            </a:r>
            <a:r>
              <a:rPr lang="de-DE" dirty="0">
                <a:solidFill>
                  <a:schemeClr val="accent1"/>
                </a:solidFill>
              </a:rPr>
              <a:t>)</a:t>
            </a:r>
          </a:p>
        </p:txBody>
      </p:sp>
      <p:sp>
        <p:nvSpPr>
          <p:cNvPr id="11" name="Artikel">
            <a:extLst>
              <a:ext uri="{FF2B5EF4-FFF2-40B4-BE49-F238E27FC236}">
                <a16:creationId xmlns:a16="http://schemas.microsoft.com/office/drawing/2014/main" id="{26C4B910-4DD4-9CCF-5644-4CCC8EFC0790}"/>
              </a:ext>
            </a:extLst>
          </p:cNvPr>
          <p:cNvSpPr txBox="1">
            <a:spLocks/>
          </p:cNvSpPr>
          <p:nvPr/>
        </p:nvSpPr>
        <p:spPr>
          <a:xfrm>
            <a:off x="8659813" y="2529359"/>
            <a:ext cx="862843" cy="22885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marL="0" lvl="2" indent="0">
              <a:buNone/>
            </a:pPr>
            <a:r>
              <a:rPr lang="de-DE" dirty="0">
                <a:solidFill>
                  <a:schemeClr val="accent1"/>
                </a:solidFill>
              </a:rPr>
              <a:t>Artikel 8+</a:t>
            </a:r>
          </a:p>
        </p:txBody>
      </p:sp>
      <p:sp>
        <p:nvSpPr>
          <p:cNvPr id="13" name="Titel 2">
            <a:extLst>
              <a:ext uri="{FF2B5EF4-FFF2-40B4-BE49-F238E27FC236}">
                <a16:creationId xmlns:a16="http://schemas.microsoft.com/office/drawing/2014/main" id="{29FA5807-6494-1346-B397-92B9D26C0E02}"/>
              </a:ext>
            </a:extLst>
          </p:cNvPr>
          <p:cNvSpPr txBox="1">
            <a:spLocks/>
          </p:cNvSpPr>
          <p:nvPr/>
        </p:nvSpPr>
        <p:spPr>
          <a:xfrm>
            <a:off x="275650" y="322580"/>
            <a:ext cx="9756774" cy="360000"/>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Nachhaltigkeitsprozess</a:t>
            </a:r>
            <a:br>
              <a:rPr lang="de-DE" dirty="0"/>
            </a:br>
            <a:r>
              <a:rPr lang="de-DE" sz="1200" b="0" dirty="0">
                <a:solidFill>
                  <a:schemeClr val="accent3"/>
                </a:solidFill>
              </a:rPr>
              <a:t>Nachhaltigkeitspyramide</a:t>
            </a:r>
            <a:endParaRPr lang="de-DE" dirty="0"/>
          </a:p>
        </p:txBody>
      </p:sp>
    </p:spTree>
    <p:extLst>
      <p:ext uri="{BB962C8B-B14F-4D97-AF65-F5344CB8AC3E}">
        <p14:creationId xmlns:p14="http://schemas.microsoft.com/office/powerpoint/2010/main" val="1651747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625EFFC-F15E-928C-6A76-FBCF20BC39F9}"/>
              </a:ext>
            </a:extLst>
          </p:cNvPr>
          <p:cNvSpPr>
            <a:spLocks noGrp="1"/>
          </p:cNvSpPr>
          <p:nvPr>
            <p:ph type="sldNum" sz="quarter" idx="12"/>
          </p:nvPr>
        </p:nvSpPr>
        <p:spPr/>
        <p:txBody>
          <a:bodyPr/>
          <a:lstStyle/>
          <a:p>
            <a:fld id="{3AE71D6B-ACB6-4F4C-A895-DCAEF1760EAA}" type="slidenum">
              <a:rPr lang="de-DE" smtClean="0"/>
              <a:t>9</a:t>
            </a:fld>
            <a:endParaRPr lang="de-DE"/>
          </a:p>
        </p:txBody>
      </p:sp>
      <p:grpSp>
        <p:nvGrpSpPr>
          <p:cNvPr id="4" name="Gruppieren 3">
            <a:extLst>
              <a:ext uri="{FF2B5EF4-FFF2-40B4-BE49-F238E27FC236}">
                <a16:creationId xmlns:a16="http://schemas.microsoft.com/office/drawing/2014/main" id="{7AABF23C-581D-AF68-BB80-150A18AF4928}"/>
              </a:ext>
            </a:extLst>
          </p:cNvPr>
          <p:cNvGrpSpPr>
            <a:grpSpLocks noGrp="1" noUngrp="1" noRot="1" noMove="1" noResize="1"/>
          </p:cNvGrpSpPr>
          <p:nvPr/>
        </p:nvGrpSpPr>
        <p:grpSpPr>
          <a:xfrm>
            <a:off x="1530927" y="1064563"/>
            <a:ext cx="7377546" cy="4530437"/>
            <a:chOff x="2753591" y="976745"/>
            <a:chExt cx="7377546" cy="4530437"/>
          </a:xfrm>
        </p:grpSpPr>
        <p:pic>
          <p:nvPicPr>
            <p:cNvPr id="3" name="Grafik" descr="Ein Bild, das Text, Screenshot, Multimedia, Anzeigegerät enthält.&#10;&#10;Automatisch generierte Beschreibung">
              <a:extLst>
                <a:ext uri="{FF2B5EF4-FFF2-40B4-BE49-F238E27FC236}">
                  <a16:creationId xmlns:a16="http://schemas.microsoft.com/office/drawing/2014/main" id="{C704968F-3EA0-660D-5062-3D43717FA1CF}"/>
                </a:ext>
              </a:extLst>
            </p:cNvPr>
            <p:cNvPicPr>
              <a:picLocks noGrp="1" noRot="1" noChangeAspect="1" noMove="1" noResize="1" noEditPoints="1" noAdjustHandles="1" noChangeArrowheads="1" noChangeShapeType="1" noCrop="1"/>
            </p:cNvPicPr>
            <p:nvPr/>
          </p:nvPicPr>
          <p:blipFill rotWithShape="1">
            <a:blip r:embed="rId2"/>
            <a:srcRect l="26377" t="14642" r="2953" b="17281"/>
            <a:stretch/>
          </p:blipFill>
          <p:spPr>
            <a:xfrm>
              <a:off x="2753591" y="976745"/>
              <a:ext cx="7377546" cy="4530437"/>
            </a:xfrm>
            <a:prstGeom prst="rect">
              <a:avLst/>
            </a:prstGeom>
          </p:spPr>
        </p:pic>
        <p:sp>
          <p:nvSpPr>
            <p:cNvPr id="5" name="Überschrift">
              <a:extLst>
                <a:ext uri="{FF2B5EF4-FFF2-40B4-BE49-F238E27FC236}">
                  <a16:creationId xmlns:a16="http://schemas.microsoft.com/office/drawing/2014/main" id="{571E8765-D5BF-64E7-9082-4D10F86D8C12}"/>
                </a:ext>
              </a:extLst>
            </p:cNvPr>
            <p:cNvSpPr txBox="1">
              <a:spLocks noGrp="1" noRot="1" noMove="1" noResize="1" noEditPoints="1" noAdjustHandles="1" noChangeArrowheads="1" noChangeShapeType="1"/>
            </p:cNvSpPr>
            <p:nvPr/>
          </p:nvSpPr>
          <p:spPr>
            <a:xfrm>
              <a:off x="4849729" y="1043474"/>
              <a:ext cx="318527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Verbindung von esg und un sdgs</a:t>
              </a:r>
            </a:p>
          </p:txBody>
        </p:sp>
        <p:sp>
          <p:nvSpPr>
            <p:cNvPr id="6" name="Quelle">
              <a:extLst>
                <a:ext uri="{FF2B5EF4-FFF2-40B4-BE49-F238E27FC236}">
                  <a16:creationId xmlns:a16="http://schemas.microsoft.com/office/drawing/2014/main" id="{1C4EA012-F223-F360-1480-306B606B5892}"/>
                </a:ext>
              </a:extLst>
            </p:cNvPr>
            <p:cNvSpPr txBox="1">
              <a:spLocks noGrp="1" noRot="1" noMove="1" noResize="1" noEditPoints="1" noAdjustHandles="1" noChangeArrowheads="1" noChangeShapeType="1"/>
            </p:cNvSpPr>
            <p:nvPr/>
          </p:nvSpPr>
          <p:spPr>
            <a:xfrm>
              <a:off x="2807888" y="5288075"/>
              <a:ext cx="1728000" cy="108000"/>
            </a:xfrm>
            <a:prstGeom prst="rect">
              <a:avLst/>
            </a:prstGeom>
            <a:noFill/>
          </p:spPr>
          <p:txBody>
            <a:bodyPr wrap="square" lIns="36000" tIns="0" rIns="36000" bIns="0" rtlCol="0">
              <a:noAutofit/>
            </a:bodyPr>
            <a:lstStyle/>
            <a:p>
              <a:r>
                <a:rPr lang="de-DE" sz="600" dirty="0">
                  <a:solidFill>
                    <a:schemeClr val="bg2"/>
                  </a:solidFill>
                </a:rPr>
                <a:t>Bildquelle: www.17ziele.de/downloads</a:t>
              </a:r>
            </a:p>
          </p:txBody>
        </p:sp>
      </p:grpSp>
      <p:sp>
        <p:nvSpPr>
          <p:cNvPr id="7" name="Titel 2">
            <a:extLst>
              <a:ext uri="{FF2B5EF4-FFF2-40B4-BE49-F238E27FC236}">
                <a16:creationId xmlns:a16="http://schemas.microsoft.com/office/drawing/2014/main" id="{1ECA1A57-4439-0640-999E-95AA33800DEB}"/>
              </a:ext>
            </a:extLst>
          </p:cNvPr>
          <p:cNvSpPr txBox="1">
            <a:spLocks/>
          </p:cNvSpPr>
          <p:nvPr/>
        </p:nvSpPr>
        <p:spPr>
          <a:xfrm>
            <a:off x="275650" y="322579"/>
            <a:ext cx="9756774" cy="71438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Anlagestrategie kombiniert </a:t>
            </a:r>
            <a:r>
              <a:rPr lang="de-DE" sz="1200" dirty="0">
                <a:solidFill>
                  <a:schemeClr val="accent3"/>
                </a:solidFill>
                <a:latin typeface="+mn-lt"/>
              </a:rPr>
              <a:t>ESG-Integration</a:t>
            </a:r>
            <a:r>
              <a:rPr lang="de-DE" sz="1200" b="0" dirty="0">
                <a:solidFill>
                  <a:schemeClr val="accent3"/>
                </a:solidFill>
              </a:rPr>
              <a:t> mit positiver Wirkung auf die </a:t>
            </a:r>
            <a:r>
              <a:rPr lang="de-DE" sz="1200" dirty="0">
                <a:solidFill>
                  <a:schemeClr val="accent3"/>
                </a:solidFill>
                <a:latin typeface="+mn-lt"/>
              </a:rPr>
              <a:t>UN-Ziele für nachhaltige Entwicklung (SDGs)</a:t>
            </a:r>
            <a:endParaRPr lang="de-DE" dirty="0">
              <a:latin typeface="+mn-lt"/>
            </a:endParaRPr>
          </a:p>
        </p:txBody>
      </p:sp>
    </p:spTree>
    <p:extLst>
      <p:ext uri="{BB962C8B-B14F-4D97-AF65-F5344CB8AC3E}">
        <p14:creationId xmlns:p14="http://schemas.microsoft.com/office/powerpoint/2010/main" val="13250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C68E8EC2-C3DF-4D4D-8CD0-EEE3551FE49F}"/>
              </a:ext>
            </a:extLst>
          </p:cNvPr>
          <p:cNvSpPr>
            <a:spLocks noGrp="1"/>
          </p:cNvSpPr>
          <p:nvPr>
            <p:ph type="sldNum" sz="quarter" idx="12"/>
          </p:nvPr>
        </p:nvSpPr>
        <p:spPr/>
        <p:txBody>
          <a:bodyPr/>
          <a:lstStyle/>
          <a:p>
            <a:fld id="{3AE71D6B-ACB6-4F4C-A895-DCAEF1760EAA}" type="slidenum">
              <a:rPr lang="de-DE" smtClean="0"/>
              <a:t>10</a:t>
            </a:fld>
            <a:endParaRPr lang="de-DE"/>
          </a:p>
        </p:txBody>
      </p:sp>
      <p:sp>
        <p:nvSpPr>
          <p:cNvPr id="3" name="Titel 2">
            <a:extLst>
              <a:ext uri="{FF2B5EF4-FFF2-40B4-BE49-F238E27FC236}">
                <a16:creationId xmlns:a16="http://schemas.microsoft.com/office/drawing/2014/main" id="{B6E0CDA3-1440-E64A-9A4E-96CD2B88FCB5}"/>
              </a:ext>
            </a:extLst>
          </p:cNvPr>
          <p:cNvSpPr>
            <a:spLocks noGrp="1"/>
          </p:cNvSpPr>
          <p:nvPr>
            <p:ph type="title"/>
          </p:nvPr>
        </p:nvSpPr>
        <p:spPr/>
        <p:txBody>
          <a:bodyPr/>
          <a:lstStyle/>
          <a:p>
            <a:r>
              <a:rPr lang="de-DE" dirty="0"/>
              <a:t>Nachhaltigkeits- und </a:t>
            </a:r>
            <a:r>
              <a:rPr lang="de-DE" dirty="0" err="1"/>
              <a:t>Investmentkonzept|</a:t>
            </a:r>
            <a:r>
              <a:rPr lang="de-DE" b="0" dirty="0" err="1"/>
              <a:t>SDG-Beitrag</a:t>
            </a:r>
            <a:endParaRPr lang="de-DE" b="0" dirty="0"/>
          </a:p>
        </p:txBody>
      </p:sp>
      <p:graphicFrame>
        <p:nvGraphicFramePr>
          <p:cNvPr id="4" name="Tabelle 6">
            <a:extLst>
              <a:ext uri="{FF2B5EF4-FFF2-40B4-BE49-F238E27FC236}">
                <a16:creationId xmlns:a16="http://schemas.microsoft.com/office/drawing/2014/main" id="{CADACF6B-78BB-034C-8E53-CB988BC7C87E}"/>
              </a:ext>
            </a:extLst>
          </p:cNvPr>
          <p:cNvGraphicFramePr>
            <a:graphicFrameLocks noGrp="1"/>
          </p:cNvGraphicFramePr>
          <p:nvPr>
            <p:extLst>
              <p:ext uri="{D42A27DB-BD31-4B8C-83A1-F6EECF244321}">
                <p14:modId xmlns:p14="http://schemas.microsoft.com/office/powerpoint/2010/main" val="2489067497"/>
              </p:ext>
            </p:extLst>
          </p:nvPr>
        </p:nvGraphicFramePr>
        <p:xfrm>
          <a:off x="2784494" y="1338880"/>
          <a:ext cx="4959864" cy="4449882"/>
        </p:xfrm>
        <a:graphic>
          <a:graphicData uri="http://schemas.openxmlformats.org/drawingml/2006/table">
            <a:tbl>
              <a:tblPr firstRow="1" bandRow="1">
                <a:tableStyleId>{7E9639D4-E3E2-4D34-9284-5A2195B3D0D7}</a:tableStyleId>
              </a:tblPr>
              <a:tblGrid>
                <a:gridCol w="4959864">
                  <a:extLst>
                    <a:ext uri="{9D8B030D-6E8A-4147-A177-3AD203B41FA5}">
                      <a16:colId xmlns:a16="http://schemas.microsoft.com/office/drawing/2014/main" val="839331929"/>
                    </a:ext>
                  </a:extLst>
                </a:gridCol>
              </a:tblGrid>
              <a:tr h="315977">
                <a:tc>
                  <a:txBody>
                    <a:bodyPr/>
                    <a:lstStyle/>
                    <a:p>
                      <a:pPr algn="ctr"/>
                      <a:r>
                        <a:rPr lang="de-DE" sz="1100" b="1" dirty="0"/>
                        <a:t>SDG Beitrag</a:t>
                      </a:r>
                      <a:endParaRPr lang="de-DE" sz="1100" b="1" dirty="0">
                        <a:latin typeface="Noto Serif" panose="02020502060505020204" pitchFamily="18"/>
                        <a:ea typeface="Noto Serif" panose="02020502060505020204" pitchFamily="18"/>
                        <a:cs typeface="Noto Serif" panose="02020502060505020204" pitchFamily="18"/>
                      </a:endParaRPr>
                    </a:p>
                  </a:txBody>
                  <a:tcPr marL="104394" marR="104394" marT="52197" marB="52197" anchor="ctr">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750023869"/>
                  </a:ext>
                </a:extLst>
              </a:tr>
              <a:tr h="800354">
                <a:tc>
                  <a:txBody>
                    <a:bodyPr/>
                    <a:lstStyle/>
                    <a:p>
                      <a:pPr algn="just"/>
                      <a:endParaRPr lang="de-DE" sz="1100" dirty="0">
                        <a:solidFill>
                          <a:schemeClr val="accent1"/>
                        </a:solidFill>
                        <a:latin typeface="+mn-lt"/>
                      </a:endParaRPr>
                    </a:p>
                    <a:p>
                      <a:pPr algn="l"/>
                      <a:r>
                        <a:rPr lang="de-DE" sz="1100" dirty="0">
                          <a:solidFill>
                            <a:schemeClr val="accent1"/>
                          </a:solidFill>
                          <a:latin typeface="+mn-lt"/>
                        </a:rPr>
                        <a:t>Die SDGs sind 17 politische Zielsetzungen der Vereinten Nationen, welche weltweit die Sicherung einer nachhaltigen Entwicklung auf ökonomischer, sozialer sowie ökologischer Ebene fördern sollen.</a:t>
                      </a:r>
                      <a:endParaRPr lang="de-DE" sz="1100" i="0"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98362618"/>
                  </a:ext>
                </a:extLst>
              </a:tr>
              <a:tr h="3333551">
                <a:tc>
                  <a:txBody>
                    <a:bodyPr/>
                    <a:lstStyle/>
                    <a:p>
                      <a:r>
                        <a:rPr lang="de-DE" sz="1100" b="1" dirty="0">
                          <a:solidFill>
                            <a:schemeClr val="accent1"/>
                          </a:solidFill>
                          <a:latin typeface="+mn-lt"/>
                        </a:rPr>
                        <a:t>MSCI SDG Ausrichtungs-Skala:</a:t>
                      </a:r>
                    </a:p>
                    <a:p>
                      <a:endParaRPr lang="de-DE" sz="1100" b="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0" indent="0">
                        <a:buFont typeface="Arial" panose="020B0604020202020204" pitchFamily="34" charset="0"/>
                        <a:buNone/>
                      </a:pPr>
                      <a:endParaRPr lang="de-DE" sz="1100" dirty="0">
                        <a:solidFill>
                          <a:schemeClr val="accent1"/>
                        </a:solidFill>
                        <a:latin typeface="+mn-lt"/>
                      </a:endParaRPr>
                    </a:p>
                    <a:p>
                      <a:pPr marL="0" indent="0">
                        <a:spcAft>
                          <a:spcPts val="400"/>
                        </a:spcAft>
                        <a:buFont typeface="Arial" panose="020B0604020202020204" pitchFamily="34" charset="0"/>
                        <a:buNone/>
                      </a:pPr>
                      <a:r>
                        <a:rPr lang="de-DE" sz="1100" b="1" dirty="0">
                          <a:solidFill>
                            <a:schemeClr val="accent1"/>
                          </a:solidFill>
                          <a:latin typeface="+mn-lt"/>
                        </a:rPr>
                        <a:t>Nachhaltiges Investments nach Art. 2(17) SFDR:</a:t>
                      </a:r>
                    </a:p>
                    <a:p>
                      <a:pPr marL="171450" indent="-171450">
                        <a:spcAft>
                          <a:spcPts val="400"/>
                        </a:spcAft>
                        <a:buFont typeface="Arial" panose="020B0604020202020204" pitchFamily="34" charset="0"/>
                        <a:buChar char="•"/>
                      </a:pPr>
                      <a:r>
                        <a:rPr lang="de-DE" sz="1100" dirty="0">
                          <a:solidFill>
                            <a:schemeClr val="accent1"/>
                          </a:solidFill>
                          <a:latin typeface="+mn-lt"/>
                        </a:rPr>
                        <a:t>Positiver Beitrag, wenn </a:t>
                      </a:r>
                      <a:r>
                        <a:rPr lang="de-DE" sz="1100" b="1" dirty="0">
                          <a:solidFill>
                            <a:schemeClr val="accent1"/>
                          </a:solidFill>
                          <a:latin typeface="+mn-lt"/>
                        </a:rPr>
                        <a:t>ein Score &gt;= 2</a:t>
                      </a:r>
                      <a:endParaRPr lang="de-DE" sz="1100" kern="1200" dirty="0">
                        <a:solidFill>
                          <a:schemeClr val="accent1"/>
                        </a:solidFill>
                        <a:latin typeface="+mn-lt"/>
                      </a:endParaRP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Alle Unternehmen Ihrer Vermögensverwaltung leisten einen nachhaltigen Beitrag, da sie einen MSCI SDG Wert von größer </a:t>
                      </a:r>
                      <a:br>
                        <a:rPr lang="de-DE" sz="1100" kern="1200" dirty="0">
                          <a:solidFill>
                            <a:schemeClr val="accent1"/>
                          </a:solidFill>
                          <a:latin typeface="+mn-lt"/>
                        </a:rPr>
                      </a:br>
                      <a:r>
                        <a:rPr lang="de-DE" sz="1100" kern="1200" dirty="0">
                          <a:solidFill>
                            <a:schemeClr val="accent1"/>
                          </a:solidFill>
                          <a:latin typeface="+mn-lt"/>
                        </a:rPr>
                        <a:t>gleich 2 liefern bzw. bei Fonds als SDG </a:t>
                      </a:r>
                      <a:r>
                        <a:rPr lang="de-DE" sz="1100" kern="1200" dirty="0" err="1">
                          <a:solidFill>
                            <a:schemeClr val="accent1"/>
                          </a:solidFill>
                          <a:latin typeface="+mn-lt"/>
                        </a:rPr>
                        <a:t>aligned</a:t>
                      </a:r>
                      <a:r>
                        <a:rPr lang="de-DE" sz="1100" kern="1200" dirty="0">
                          <a:solidFill>
                            <a:schemeClr val="accent1"/>
                          </a:solidFill>
                          <a:latin typeface="+mn-lt"/>
                        </a:rPr>
                        <a:t> gelten </a:t>
                      </a: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Den DNSH-Test führen wir über die Berücksichtigung von nachteiligen Auswirkungen auf Nachhaltigkeitsfaktoren (PAIs) durch</a:t>
                      </a:r>
                      <a:endParaRPr lang="de-DE" sz="1100"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Einhaltung der Minimum Safeguards: </a:t>
                      </a:r>
                      <a:r>
                        <a:rPr lang="de-DE" sz="1100" b="1" dirty="0">
                          <a:solidFill>
                            <a:schemeClr val="accent1"/>
                          </a:solidFill>
                          <a:latin typeface="+mn-lt"/>
                        </a:rPr>
                        <a:t>Global </a:t>
                      </a:r>
                      <a:r>
                        <a:rPr lang="de-DE" sz="1100" b="1" dirty="0" err="1">
                          <a:solidFill>
                            <a:schemeClr val="accent1"/>
                          </a:solidFill>
                          <a:latin typeface="+mn-lt"/>
                        </a:rPr>
                        <a:t>Norms</a:t>
                      </a:r>
                      <a:endParaRPr lang="de-DE" sz="1100" b="1"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Zur weiteren Quantifizierung ziehen wir die nachhaltigen Umsatzanteile der Einzeltitel von MSCI ESG Research heran. </a:t>
                      </a:r>
                      <a:br>
                        <a:rPr lang="de-DE" sz="1100" dirty="0">
                          <a:solidFill>
                            <a:schemeClr val="accent1"/>
                          </a:solidFill>
                          <a:latin typeface="+mn-lt"/>
                        </a:rPr>
                      </a:br>
                      <a:r>
                        <a:rPr lang="de-DE" sz="1100" b="1" dirty="0">
                          <a:solidFill>
                            <a:schemeClr val="accent1"/>
                          </a:solidFill>
                          <a:latin typeface="+mn-lt"/>
                        </a:rPr>
                        <a:t>Der Mindestanteil am Gesamtportfolio liegt bei einer Bandbreite von 20-40% nachhaltiger Investitionen. </a:t>
                      </a:r>
                      <a:endParaRPr lang="de-DE" sz="1100" b="1"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20545700"/>
                  </a:ext>
                </a:extLst>
              </a:tr>
            </a:tbl>
          </a:graphicData>
        </a:graphic>
      </p:graphicFrame>
      <p:grpSp>
        <p:nvGrpSpPr>
          <p:cNvPr id="5" name="Gruppieren 4">
            <a:extLst>
              <a:ext uri="{FF2B5EF4-FFF2-40B4-BE49-F238E27FC236}">
                <a16:creationId xmlns:a16="http://schemas.microsoft.com/office/drawing/2014/main" id="{42D38182-1368-B742-8430-6819F0E97EE2}"/>
              </a:ext>
            </a:extLst>
          </p:cNvPr>
          <p:cNvGrpSpPr/>
          <p:nvPr/>
        </p:nvGrpSpPr>
        <p:grpSpPr>
          <a:xfrm>
            <a:off x="2842519" y="2811582"/>
            <a:ext cx="5023481" cy="438399"/>
            <a:chOff x="2521092" y="2278473"/>
            <a:chExt cx="4400129" cy="383999"/>
          </a:xfrm>
        </p:grpSpPr>
        <p:pic>
          <p:nvPicPr>
            <p:cNvPr id="6" name="Grafik 5">
              <a:extLst>
                <a:ext uri="{FF2B5EF4-FFF2-40B4-BE49-F238E27FC236}">
                  <a16:creationId xmlns:a16="http://schemas.microsoft.com/office/drawing/2014/main" id="{29E99345-E5A9-6A4E-ADA1-C11EE31FA554}"/>
                </a:ext>
              </a:extLst>
            </p:cNvPr>
            <p:cNvPicPr>
              <a:picLocks noChangeAspect="1"/>
            </p:cNvPicPr>
            <p:nvPr/>
          </p:nvPicPr>
          <p:blipFill>
            <a:blip r:embed="rId2"/>
            <a:stretch>
              <a:fillRect/>
            </a:stretch>
          </p:blipFill>
          <p:spPr>
            <a:xfrm>
              <a:off x="2592862" y="2363151"/>
              <a:ext cx="4150042" cy="299321"/>
            </a:xfrm>
            <a:prstGeom prst="rect">
              <a:avLst/>
            </a:prstGeom>
          </p:spPr>
        </p:pic>
        <p:sp>
          <p:nvSpPr>
            <p:cNvPr id="7" name="Textfeld 6">
              <a:extLst>
                <a:ext uri="{FF2B5EF4-FFF2-40B4-BE49-F238E27FC236}">
                  <a16:creationId xmlns:a16="http://schemas.microsoft.com/office/drawing/2014/main" id="{7461E96B-6DFC-1A4D-838D-642E446EAFDA}"/>
                </a:ext>
              </a:extLst>
            </p:cNvPr>
            <p:cNvSpPr txBox="1"/>
            <p:nvPr/>
          </p:nvSpPr>
          <p:spPr>
            <a:xfrm>
              <a:off x="2521092" y="2278473"/>
              <a:ext cx="4400129" cy="203931"/>
            </a:xfrm>
            <a:prstGeom prst="rect">
              <a:avLst/>
            </a:prstGeom>
            <a:solidFill>
              <a:schemeClr val="bg1"/>
            </a:solidFill>
          </p:spPr>
          <p:txBody>
            <a:bodyPr wrap="square" rtlCol="0">
              <a:spAutoFit/>
            </a:bodyPr>
            <a:lstStyle/>
            <a:p>
              <a:pPr defTabSz="521926">
                <a:defRPr/>
              </a:pPr>
              <a:r>
                <a:rPr lang="de-DE" sz="913" b="1" dirty="0">
                  <a:solidFill>
                    <a:prstClr val="black"/>
                  </a:solidFill>
                  <a:latin typeface="Gill Sans"/>
                </a:rPr>
                <a:t>stark pos. ausgerichtet  pos. ausgerichtet          neutral           negativ ausgerichtet                         SN</a:t>
              </a:r>
            </a:p>
          </p:txBody>
        </p:sp>
      </p:grpSp>
    </p:spTree>
    <p:extLst>
      <p:ext uri="{BB962C8B-B14F-4D97-AF65-F5344CB8AC3E}">
        <p14:creationId xmlns:p14="http://schemas.microsoft.com/office/powerpoint/2010/main" val="1925279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551C090-BB4A-194B-A0CE-6BA1F515F14D}"/>
              </a:ext>
            </a:extLst>
          </p:cNvPr>
          <p:cNvSpPr>
            <a:spLocks noGrp="1"/>
          </p:cNvSpPr>
          <p:nvPr>
            <p:ph type="sldNum" sz="quarter" idx="12"/>
          </p:nvPr>
        </p:nvSpPr>
        <p:spPr/>
        <p:txBody>
          <a:bodyPr/>
          <a:lstStyle/>
          <a:p>
            <a:fld id="{3AE71D6B-ACB6-4F4C-A895-DCAEF1760EAA}" type="slidenum">
              <a:rPr lang="de-DE" smtClean="0"/>
              <a:t>11</a:t>
            </a:fld>
            <a:endParaRPr lang="de-DE"/>
          </a:p>
        </p:txBody>
      </p:sp>
      <p:sp>
        <p:nvSpPr>
          <p:cNvPr id="3" name="Titel 2">
            <a:extLst>
              <a:ext uri="{FF2B5EF4-FFF2-40B4-BE49-F238E27FC236}">
                <a16:creationId xmlns:a16="http://schemas.microsoft.com/office/drawing/2014/main" id="{461CD48F-4692-AC4B-8E56-E6282E94CC33}"/>
              </a:ext>
            </a:extLst>
          </p:cNvPr>
          <p:cNvSpPr>
            <a:spLocks noGrp="1"/>
          </p:cNvSpPr>
          <p:nvPr>
            <p:ph type="title"/>
          </p:nvPr>
        </p:nvSpPr>
        <p:spPr/>
        <p:txBody>
          <a:bodyPr/>
          <a:lstStyle/>
          <a:p>
            <a:r>
              <a:rPr lang="de-DE" dirty="0"/>
              <a:t>Nachhaltigkeitsprozess</a:t>
            </a:r>
            <a:br>
              <a:rPr lang="de-DE" dirty="0"/>
            </a:br>
            <a:r>
              <a:rPr lang="de-DE" sz="1200" b="0" dirty="0">
                <a:solidFill>
                  <a:schemeClr val="accent3"/>
                </a:solidFill>
              </a:rPr>
              <a:t>Offenlegungsverordnung: Nachteilige Auswirkungen auf Nachhaltigkeit (</a:t>
            </a:r>
            <a:r>
              <a:rPr lang="de-DE" sz="1200" b="0" dirty="0" err="1">
                <a:solidFill>
                  <a:schemeClr val="accent3"/>
                </a:solidFill>
              </a:rPr>
              <a:t>Principal</a:t>
            </a:r>
            <a:r>
              <a:rPr lang="de-DE" sz="1200" b="0" dirty="0">
                <a:solidFill>
                  <a:schemeClr val="accent3"/>
                </a:solidFill>
              </a:rPr>
              <a:t> </a:t>
            </a:r>
            <a:r>
              <a:rPr lang="de-DE" sz="1200" b="0" dirty="0" err="1">
                <a:solidFill>
                  <a:schemeClr val="accent3"/>
                </a:solidFill>
              </a:rPr>
              <a:t>Adverse</a:t>
            </a:r>
            <a:r>
              <a:rPr lang="de-DE" sz="1200" b="0" dirty="0">
                <a:solidFill>
                  <a:schemeClr val="accent3"/>
                </a:solidFill>
              </a:rPr>
              <a:t> Impacts on </a:t>
            </a:r>
            <a:r>
              <a:rPr lang="de-DE" sz="1200" b="0" dirty="0" err="1">
                <a:solidFill>
                  <a:schemeClr val="accent3"/>
                </a:solidFill>
              </a:rPr>
              <a:t>Sustainability</a:t>
            </a:r>
            <a:r>
              <a:rPr lang="de-DE" sz="1200" b="0" dirty="0">
                <a:solidFill>
                  <a:schemeClr val="accent3"/>
                </a:solidFill>
              </a:rPr>
              <a:t> – PAIs)</a:t>
            </a:r>
            <a:br>
              <a:rPr lang="de-DE" sz="1800" dirty="0"/>
            </a:br>
            <a:endParaRPr lang="de-DE" dirty="0"/>
          </a:p>
        </p:txBody>
      </p:sp>
      <p:graphicFrame>
        <p:nvGraphicFramePr>
          <p:cNvPr id="4" name="Tabelle 3">
            <a:extLst>
              <a:ext uri="{FF2B5EF4-FFF2-40B4-BE49-F238E27FC236}">
                <a16:creationId xmlns:a16="http://schemas.microsoft.com/office/drawing/2014/main" id="{078DB0DC-F649-0E4A-BE39-B5DF946FC195}"/>
              </a:ext>
            </a:extLst>
          </p:cNvPr>
          <p:cNvGraphicFramePr>
            <a:graphicFrameLocks noGrp="1"/>
          </p:cNvGraphicFramePr>
          <p:nvPr>
            <p:extLst>
              <p:ext uri="{D42A27DB-BD31-4B8C-83A1-F6EECF244321}">
                <p14:modId xmlns:p14="http://schemas.microsoft.com/office/powerpoint/2010/main" val="1899016223"/>
              </p:ext>
            </p:extLst>
          </p:nvPr>
        </p:nvGraphicFramePr>
        <p:xfrm>
          <a:off x="1376502" y="1799641"/>
          <a:ext cx="7740511" cy="3299955"/>
        </p:xfrm>
        <a:graphic>
          <a:graphicData uri="http://schemas.openxmlformats.org/drawingml/2006/table">
            <a:tbl>
              <a:tblPr/>
              <a:tblGrid>
                <a:gridCol w="811075">
                  <a:extLst>
                    <a:ext uri="{9D8B030D-6E8A-4147-A177-3AD203B41FA5}">
                      <a16:colId xmlns:a16="http://schemas.microsoft.com/office/drawing/2014/main" val="1479323948"/>
                    </a:ext>
                  </a:extLst>
                </a:gridCol>
                <a:gridCol w="1543122">
                  <a:extLst>
                    <a:ext uri="{9D8B030D-6E8A-4147-A177-3AD203B41FA5}">
                      <a16:colId xmlns:a16="http://schemas.microsoft.com/office/drawing/2014/main" val="3746820492"/>
                    </a:ext>
                  </a:extLst>
                </a:gridCol>
                <a:gridCol w="5386314">
                  <a:extLst>
                    <a:ext uri="{9D8B030D-6E8A-4147-A177-3AD203B41FA5}">
                      <a16:colId xmlns:a16="http://schemas.microsoft.com/office/drawing/2014/main" val="1767937519"/>
                    </a:ext>
                  </a:extLst>
                </a:gridCol>
              </a:tblGrid>
              <a:tr h="369900">
                <a:tc gridSpan="2">
                  <a:txBody>
                    <a:bodyPr/>
                    <a:lstStyle/>
                    <a:p>
                      <a:pPr marL="108000" algn="ctr" fontAlgn="b"/>
                      <a:r>
                        <a:rPr lang="en-US" sz="1100" b="0" i="0" u="none" strike="noStrike" dirty="0">
                          <a:solidFill>
                            <a:schemeClr val="bg1"/>
                          </a:solidFill>
                          <a:effectLst/>
                          <a:latin typeface="+mn-lt"/>
                        </a:rPr>
                        <a:t> </a:t>
                      </a:r>
                      <a:r>
                        <a:rPr lang="en-US" sz="1100" b="1" i="0" u="none" strike="noStrike" dirty="0">
                          <a:solidFill>
                            <a:schemeClr val="bg1"/>
                          </a:solidFill>
                          <a:effectLst/>
                          <a:latin typeface="+mn-lt"/>
                        </a:rPr>
                        <a:t>Ebene</a:t>
                      </a: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pPr algn="l" fontAlgn="b"/>
                      <a:r>
                        <a:rPr lang="en-US" sz="1000" b="0" i="0" u="none" strike="noStrike" dirty="0">
                          <a:solidFill>
                            <a:srgbClr val="000000"/>
                          </a:solidFill>
                          <a:effectLst/>
                          <a:latin typeface="Gill Alt One MT"/>
                        </a:rPr>
                        <a:t> </a:t>
                      </a:r>
                    </a:p>
                  </a:txBody>
                  <a:tcPr marL="7694" marR="7694" marT="7694"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marL="108000" algn="l" fontAlgn="b"/>
                      <a:r>
                        <a:rPr lang="en-US" sz="1100" b="0" i="0" u="none" strike="noStrike" dirty="0">
                          <a:solidFill>
                            <a:schemeClr val="bg1"/>
                          </a:solidFill>
                          <a:effectLst/>
                          <a:latin typeface="+mn-lt"/>
                        </a:rPr>
                        <a:t> </a:t>
                      </a:r>
                      <a:r>
                        <a:rPr lang="en-US" sz="1100" b="1" i="0" u="none" strike="noStrike" dirty="0" err="1">
                          <a:solidFill>
                            <a:schemeClr val="bg1"/>
                          </a:solidFill>
                          <a:effectLst/>
                          <a:latin typeface="+mn-lt"/>
                        </a:rPr>
                        <a:t>Indikator</a:t>
                      </a:r>
                      <a:endParaRPr lang="en-US" sz="1100" b="1" i="0" u="none" strike="noStrike" dirty="0">
                        <a:solidFill>
                          <a:schemeClr val="bg1"/>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069420154"/>
                  </a:ext>
                </a:extLst>
              </a:tr>
              <a:tr h="197455">
                <a:tc rowSpan="8">
                  <a:txBody>
                    <a:bodyPr/>
                    <a:lstStyle/>
                    <a:p>
                      <a:pPr algn="ctr"/>
                      <a:r>
                        <a:rPr lang="en-US" sz="1100" b="1" dirty="0">
                          <a:solidFill>
                            <a:schemeClr val="accent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r>
                        <a:rPr lang="en-US" sz="1100" b="1" dirty="0">
                          <a:solidFill>
                            <a:schemeClr val="accent1"/>
                          </a:solidFill>
                        </a:rPr>
                        <a:t>THG </a:t>
                      </a:r>
                      <a:r>
                        <a:rPr lang="en-US" sz="1100" b="1" dirty="0" err="1">
                          <a:solidFill>
                            <a:schemeClr val="accent1"/>
                          </a:solidFill>
                        </a:rPr>
                        <a:t>Emissionen</a:t>
                      </a:r>
                      <a:endParaRPr lang="en-US" sz="1100" b="1"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08000" algn="l" fontAlgn="ctr"/>
                      <a:r>
                        <a:rPr lang="en-US" sz="1100" b="0" i="0" u="none" strike="noStrike" dirty="0">
                          <a:solidFill>
                            <a:schemeClr val="accent1"/>
                          </a:solidFill>
                          <a:effectLst/>
                          <a:latin typeface="+mn-lt"/>
                        </a:rPr>
                        <a:t>2. C02-Fußabdruck</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5353306"/>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3. THG-</a:t>
                      </a:r>
                      <a:r>
                        <a:rPr lang="en-US" sz="1100" b="0" i="0" u="none" strike="noStrike" dirty="0" err="1">
                          <a:solidFill>
                            <a:schemeClr val="accent1"/>
                          </a:solidFill>
                          <a:effectLst/>
                          <a:latin typeface="+mn-lt"/>
                        </a:rPr>
                        <a:t>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649596"/>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4. Beteiligung an Unternehmen, die im Bereich fossiler Brennstoffe tätig sind</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150509"/>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5. Anteil des Verbrauchs und der Produktion von nicht erneuerbarer Energie</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0160868"/>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6. </a:t>
                      </a:r>
                      <a:r>
                        <a:rPr lang="en-US" sz="1100" b="0" i="0" u="none" strike="noStrike" dirty="0" err="1">
                          <a:solidFill>
                            <a:schemeClr val="accent1"/>
                          </a:solidFill>
                          <a:effectLst/>
                          <a:latin typeface="+mn-lt"/>
                        </a:rPr>
                        <a:t>Energieverbrauchsintensität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8758046"/>
                  </a:ext>
                </a:extLst>
              </a:tr>
              <a:tr h="197455">
                <a:tc vMerge="1">
                  <a:txBody>
                    <a:bodyPr/>
                    <a:lstStyle/>
                    <a:p>
                      <a:endParaRPr lang="en-US"/>
                    </a:p>
                  </a:txBody>
                  <a:tcPr>
                    <a:lnT w="12700" cmpd="sng">
                      <a:noFill/>
                      <a:prstDash val="solid"/>
                    </a:lnT>
                  </a:tcPr>
                </a:tc>
                <a:tc>
                  <a:txBody>
                    <a:bodyPr/>
                    <a:lstStyle/>
                    <a:p>
                      <a:pPr marL="108000" algn="l" fontAlgn="ctr"/>
                      <a:r>
                        <a:rPr lang="en-US" sz="1100" b="1" i="0" u="none" strike="noStrike" dirty="0" err="1">
                          <a:solidFill>
                            <a:schemeClr val="accent1"/>
                          </a:solidFill>
                          <a:effectLst/>
                          <a:latin typeface="+mn-lt"/>
                        </a:rPr>
                        <a:t>Biodiversität</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7. Aktivitäten, die sich negativ auf biodiversitätssensible Gebiete auswirken</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17508082"/>
                  </a:ext>
                </a:extLst>
              </a:tr>
              <a:tr h="197455">
                <a:tc vMerge="1">
                  <a:txBody>
                    <a:bodyPr/>
                    <a:lstStyle/>
                    <a:p>
                      <a:endParaRPr lang="en-US"/>
                    </a:p>
                  </a:txBody>
                  <a:tcPr/>
                </a:tc>
                <a:tc>
                  <a:txBody>
                    <a:bodyPr/>
                    <a:lstStyle/>
                    <a:p>
                      <a:pPr marL="108000" algn="l" fontAlgn="ctr"/>
                      <a:r>
                        <a:rPr lang="en-US" sz="1100" b="1" i="0" u="none" strike="noStrike" dirty="0">
                          <a:solidFill>
                            <a:schemeClr val="accent1"/>
                          </a:solidFill>
                          <a:effectLst/>
                          <a:latin typeface="+mn-lt"/>
                        </a:rPr>
                        <a:t>Wasser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8. Giftstoffe im Wasser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71407330"/>
                  </a:ext>
                </a:extLst>
              </a:tr>
              <a:tr h="202292">
                <a:tc vMerge="1">
                  <a:txBody>
                    <a:bodyPr/>
                    <a:lstStyle/>
                    <a:p>
                      <a:endParaRPr lang="en-US"/>
                    </a:p>
                  </a:txBody>
                  <a:tcPr/>
                </a:tc>
                <a:tc>
                  <a:txBody>
                    <a:bodyPr/>
                    <a:lstStyle/>
                    <a:p>
                      <a:pPr marL="108000" algn="l" fontAlgn="ctr"/>
                      <a:r>
                        <a:rPr lang="en-US" sz="1100" b="1" i="0" u="none" strike="noStrike" dirty="0" err="1">
                          <a:solidFill>
                            <a:schemeClr val="accent1"/>
                          </a:solidFill>
                          <a:effectLst/>
                          <a:latin typeface="+mn-lt"/>
                        </a:rPr>
                        <a:t>Müll</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9. Verhältnis von gefährlichem Abfall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4966481"/>
                  </a:ext>
                </a:extLst>
              </a:tr>
              <a:tr h="202292">
                <a:tc>
                  <a:txBody>
                    <a:bodyPr/>
                    <a:lstStyle/>
                    <a:p>
                      <a:pPr algn="ctr" fontAlgn="ctr"/>
                      <a:endParaRPr lang="de-DE"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en-US" sz="1100" b="1"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de-DE" sz="1100" b="0"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44246914"/>
                  </a:ext>
                </a:extLst>
              </a:tr>
              <a:tr h="197455">
                <a:tc rowSpan="5">
                  <a:txBody>
                    <a:bodyPr/>
                    <a:lstStyle/>
                    <a:p>
                      <a:pPr algn="ctr" fontAlgn="ctr"/>
                      <a:r>
                        <a:rPr lang="en-US" sz="1100" b="1" i="0" u="none" strike="noStrike" dirty="0">
                          <a:solidFill>
                            <a:schemeClr val="bg1"/>
                          </a:solidFill>
                          <a:effectLst/>
                          <a:latin typeface="+mn-lt"/>
                        </a:rPr>
                        <a:t>S  </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&amp;</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G</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rowSpan="5">
                  <a:txBody>
                    <a:bodyPr/>
                    <a:lstStyle/>
                    <a:p>
                      <a:pPr marL="108000" algn="l" fontAlgn="ctr"/>
                      <a:r>
                        <a:rPr lang="en-US" sz="1100" b="1" i="0" u="none" strike="noStrike" dirty="0" err="1">
                          <a:solidFill>
                            <a:schemeClr val="accent1"/>
                          </a:solidFill>
                          <a:effectLst/>
                          <a:latin typeface="+mn-lt"/>
                        </a:rPr>
                        <a:t>Soziale</a:t>
                      </a:r>
                      <a:r>
                        <a:rPr lang="en-US" sz="1100" b="1" i="0" u="none" strike="noStrike" dirty="0">
                          <a:solidFill>
                            <a:schemeClr val="accent1"/>
                          </a:solidFill>
                          <a:effectLst/>
                          <a:latin typeface="+mn-lt"/>
                        </a:rPr>
                        <a:t> und </a:t>
                      </a:r>
                      <a:r>
                        <a:rPr lang="en-US" sz="1100" b="1" i="0" u="none" strike="noStrike" dirty="0" err="1">
                          <a:solidFill>
                            <a:schemeClr val="accent1"/>
                          </a:solidFill>
                          <a:effectLst/>
                          <a:latin typeface="+mn-lt"/>
                        </a:rPr>
                        <a:t>mitarbeiter</a:t>
                      </a:r>
                      <a:r>
                        <a:rPr lang="en-US" sz="1100" b="1" i="0" u="none" strike="noStrike" dirty="0">
                          <a:solidFill>
                            <a:schemeClr val="accent1"/>
                          </a:solidFill>
                          <a:effectLst/>
                          <a:latin typeface="+mn-lt"/>
                        </a:rPr>
                        <a:t>-</a:t>
                      </a:r>
                      <a:br>
                        <a:rPr lang="en-US" sz="1100" b="1" i="0" u="none" strike="noStrike" dirty="0">
                          <a:solidFill>
                            <a:schemeClr val="accent1"/>
                          </a:solidFill>
                          <a:effectLst/>
                          <a:latin typeface="+mn-lt"/>
                        </a:rPr>
                      </a:br>
                      <a:r>
                        <a:rPr lang="en-US" sz="1100" b="1" i="0" u="none" strike="noStrike" dirty="0" err="1">
                          <a:solidFill>
                            <a:schemeClr val="accent1"/>
                          </a:solidFill>
                          <a:effectLst/>
                          <a:latin typeface="+mn-lt"/>
                        </a:rPr>
                        <a:t>bezogene</a:t>
                      </a:r>
                      <a:r>
                        <a:rPr lang="en-US" sz="1100" b="1" i="0" u="none" strike="noStrike" dirty="0">
                          <a:solidFill>
                            <a:schemeClr val="accent1"/>
                          </a:solidFill>
                          <a:effectLst/>
                          <a:latin typeface="+mn-lt"/>
                        </a:rPr>
                        <a:t> </a:t>
                      </a:r>
                      <a:r>
                        <a:rPr lang="en-US" sz="1100" b="1" i="0" u="none" strike="noStrike" dirty="0" err="1">
                          <a:solidFill>
                            <a:schemeClr val="accent1"/>
                          </a:solidFill>
                          <a:effectLst/>
                          <a:latin typeface="+mn-lt"/>
                        </a:rPr>
                        <a:t>Themen</a:t>
                      </a:r>
                      <a:endParaRPr lang="en-US"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r>
                        <a:rPr lang="de-DE" sz="1100" b="0" i="0" u="none" strike="noStrike" dirty="0">
                          <a:solidFill>
                            <a:schemeClr val="accent1"/>
                          </a:solidFill>
                          <a:effectLst/>
                          <a:latin typeface="+mn-lt"/>
                        </a:rPr>
                        <a:t>10. Verstöße gegen UNGC-Prinzipien und OECD-Richtlinien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7903056"/>
                  </a:ext>
                </a:extLst>
              </a:tr>
              <a:tr h="197455">
                <a:tc vMerge="1">
                  <a:txBody>
                    <a:bodyPr/>
                    <a:lstStyle/>
                    <a:p>
                      <a:endParaRPr lang="en-US"/>
                    </a:p>
                  </a:txBody>
                  <a:tcPr/>
                </a:tc>
                <a:tc vMerge="1">
                  <a:txBody>
                    <a:bodyPr/>
                    <a:lstStyle/>
                    <a:p>
                      <a:endParaRPr lang="en-US"/>
                    </a:p>
                  </a:txBody>
                  <a:tcPr/>
                </a:tc>
                <a:tc>
                  <a:txBody>
                    <a:bodyPr/>
                    <a:lstStyle/>
                    <a:p>
                      <a:pPr marL="108000" marR="0" lvl="0" indent="0" algn="l" defTabSz="783001" rtl="0" eaLnBrk="1" fontAlgn="ctr" latinLnBrk="0" hangingPunct="1">
                        <a:lnSpc>
                          <a:spcPct val="100000"/>
                        </a:lnSpc>
                        <a:spcBef>
                          <a:spcPts val="0"/>
                        </a:spcBef>
                        <a:spcAft>
                          <a:spcPts val="0"/>
                        </a:spcAft>
                        <a:buClrTx/>
                        <a:buSzTx/>
                        <a:buFontTx/>
                        <a:buNone/>
                        <a:tabLst/>
                        <a:defRPr/>
                      </a:pPr>
                      <a:r>
                        <a:rPr lang="de-DE" sz="1100" b="0" i="0" u="none" strike="noStrike" dirty="0">
                          <a:solidFill>
                            <a:schemeClr val="accent1"/>
                          </a:solidFill>
                          <a:effectLst/>
                          <a:latin typeface="+mn-lt"/>
                        </a:rPr>
                        <a:t>11. Fehlende Prozesse zur Überwachung der Einhaltung</a:t>
                      </a:r>
                      <a:br>
                        <a:rPr lang="de-DE" sz="1100" b="0" i="0" u="none" strike="noStrike" dirty="0">
                          <a:solidFill>
                            <a:schemeClr val="accent1"/>
                          </a:solidFill>
                          <a:effectLst/>
                          <a:latin typeface="+mn-lt"/>
                        </a:rPr>
                      </a:br>
                      <a:r>
                        <a:rPr lang="de-DE" sz="1100" b="0" i="0" u="none" strike="noStrike" dirty="0">
                          <a:solidFill>
                            <a:schemeClr val="accent1"/>
                          </a:solidFill>
                          <a:effectLst/>
                          <a:latin typeface="+mn-lt"/>
                        </a:rPr>
                        <a:t>      </a:t>
                      </a:r>
                      <a:r>
                        <a:rPr lang="en-US" sz="1100" b="0" i="0" u="none" strike="noStrike" dirty="0">
                          <a:solidFill>
                            <a:schemeClr val="accent1"/>
                          </a:solidFill>
                          <a:effectLst/>
                          <a:latin typeface="+mn-lt"/>
                        </a:rPr>
                        <a:t>der UNGC-</a:t>
                      </a:r>
                      <a:r>
                        <a:rPr lang="en-US" sz="1100" b="0" i="0" u="none" strike="noStrike" dirty="0" err="1">
                          <a:solidFill>
                            <a:schemeClr val="accent1"/>
                          </a:solidFill>
                          <a:effectLst/>
                          <a:latin typeface="+mn-lt"/>
                        </a:rPr>
                        <a:t>Prinzipien</a:t>
                      </a:r>
                      <a:r>
                        <a:rPr lang="en-US" sz="1100" b="0" i="0" u="none" strike="noStrike" dirty="0">
                          <a:solidFill>
                            <a:schemeClr val="accent1"/>
                          </a:solidFill>
                          <a:effectLst/>
                          <a:latin typeface="+mn-lt"/>
                        </a:rPr>
                        <a:t> und OECD-</a:t>
                      </a:r>
                      <a:r>
                        <a:rPr lang="en-US" sz="1100" b="0" i="0" u="none" strike="noStrike" dirty="0" err="1">
                          <a:solidFill>
                            <a:schemeClr val="accent1"/>
                          </a:solidFill>
                          <a:effectLst/>
                          <a:latin typeface="+mn-lt"/>
                        </a:rPr>
                        <a:t>Richtlinien</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8044849"/>
                  </a:ext>
                </a:extLst>
              </a:tr>
              <a:tr h="197455">
                <a:tc vMerge="1">
                  <a:txBody>
                    <a:bodyPr/>
                    <a:lstStyle/>
                    <a:p>
                      <a:endParaRPr lang="en-US"/>
                    </a:p>
                  </a:txBody>
                  <a:tcPr>
                    <a:lnT w="12700" cap="flat" cmpd="sng" algn="ctr">
                      <a:solidFill>
                        <a:srgbClr val="000000"/>
                      </a:solidFill>
                      <a:prstDash val="solid"/>
                      <a:round/>
                      <a:headEnd type="none" w="med" len="med"/>
                      <a:tailEnd type="none" w="med" len="med"/>
                    </a:lnT>
                  </a:tcPr>
                </a:tc>
                <a:tc vMerge="1">
                  <a:txBody>
                    <a:bodyPr/>
                    <a:lstStyle/>
                    <a:p>
                      <a:endParaRPr lang="en-US"/>
                    </a:p>
                  </a:txBody>
                  <a:tcPr>
                    <a:lnT w="12700" cap="flat" cmpd="sng" algn="ctr">
                      <a:solidFill>
                        <a:srgbClr val="000000"/>
                      </a:solidFill>
                      <a:prstDash val="solid"/>
                      <a:round/>
                      <a:headEnd type="none" w="med" len="med"/>
                      <a:tailEnd type="none" w="med" len="med"/>
                    </a:lnT>
                  </a:tcPr>
                </a:tc>
                <a:tc>
                  <a:txBody>
                    <a:bodyPr/>
                    <a:lstStyle/>
                    <a:p>
                      <a:pPr marL="108000" algn="l" fontAlgn="ctr"/>
                      <a:r>
                        <a:rPr lang="de-DE" sz="1100" b="0" i="0" u="none" strike="noStrike" dirty="0">
                          <a:solidFill>
                            <a:schemeClr val="accent1"/>
                          </a:solidFill>
                          <a:effectLst/>
                          <a:latin typeface="+mn-lt"/>
                        </a:rPr>
                        <a:t>12. Unbereinigtes Gender Pay Gap </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748442"/>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13. </a:t>
                      </a:r>
                      <a:r>
                        <a:rPr lang="en-US" sz="1100" b="0" i="0" u="none" strike="noStrike" dirty="0" err="1">
                          <a:solidFill>
                            <a:schemeClr val="accent1"/>
                          </a:solidFill>
                          <a:effectLst/>
                          <a:latin typeface="+mn-lt"/>
                        </a:rPr>
                        <a:t>Geschlechtervielfalt</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im</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Vorstand</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43880347"/>
                  </a:ext>
                </a:extLst>
              </a:tr>
              <a:tr h="206857">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14. Investitionen in kontroversen Waffen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352160"/>
                  </a:ext>
                </a:extLst>
              </a:tr>
            </a:tbl>
          </a:graphicData>
        </a:graphic>
      </p:graphicFrame>
      <p:sp>
        <p:nvSpPr>
          <p:cNvPr id="16" name="Textfeld 15">
            <a:extLst>
              <a:ext uri="{FF2B5EF4-FFF2-40B4-BE49-F238E27FC236}">
                <a16:creationId xmlns:a16="http://schemas.microsoft.com/office/drawing/2014/main" id="{62714930-90CB-5840-8308-75C1C689798E}"/>
              </a:ext>
            </a:extLst>
          </p:cNvPr>
          <p:cNvSpPr txBox="1"/>
          <p:nvPr/>
        </p:nvSpPr>
        <p:spPr>
          <a:xfrm>
            <a:off x="1376502" y="5206890"/>
            <a:ext cx="5222448" cy="338554"/>
          </a:xfrm>
          <a:prstGeom prst="rect">
            <a:avLst/>
          </a:prstGeom>
          <a:noFill/>
        </p:spPr>
        <p:txBody>
          <a:bodyPr wrap="square">
            <a:spAutoFit/>
          </a:bodyPr>
          <a:lstStyle/>
          <a:p>
            <a:pPr algn="l" fontAlgn="t"/>
            <a:r>
              <a:rPr lang="de-DE" sz="800" b="0" i="1" u="none" strike="noStrike" dirty="0">
                <a:solidFill>
                  <a:schemeClr val="accent3"/>
                </a:solidFill>
                <a:effectLst/>
                <a:latin typeface="+mn-lt"/>
              </a:rPr>
              <a:t>Erweiterung um 4 soziale Indikatoren geplant: - Gewinne aus „Steueroasen“ - Tabakanbau und -herstellung</a:t>
            </a:r>
            <a:br>
              <a:rPr lang="de-DE" sz="800" b="0" i="1" u="none" strike="noStrike" dirty="0">
                <a:solidFill>
                  <a:schemeClr val="accent3"/>
                </a:solidFill>
                <a:effectLst/>
                <a:latin typeface="+mn-lt"/>
              </a:rPr>
            </a:br>
            <a:r>
              <a:rPr lang="de-DE" sz="800" b="0" i="1" u="none" strike="noStrike" dirty="0">
                <a:solidFill>
                  <a:schemeClr val="accent3"/>
                </a:solidFill>
                <a:effectLst/>
                <a:latin typeface="+mn-lt"/>
              </a:rPr>
              <a:t>- Behinderung von AN-Mitbestimmung - Anteil AN unterhalb des angemessenen Lohns </a:t>
            </a:r>
          </a:p>
        </p:txBody>
      </p:sp>
    </p:spTree>
    <p:extLst>
      <p:ext uri="{BB962C8B-B14F-4D97-AF65-F5344CB8AC3E}">
        <p14:creationId xmlns:p14="http://schemas.microsoft.com/office/powerpoint/2010/main" val="2220683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F0D1596-4451-0610-B886-AE23F1540AE1}"/>
              </a:ext>
            </a:extLst>
          </p:cNvPr>
          <p:cNvSpPr>
            <a:spLocks noGrp="1"/>
          </p:cNvSpPr>
          <p:nvPr>
            <p:ph type="sldNum" sz="quarter" idx="12"/>
          </p:nvPr>
        </p:nvSpPr>
        <p:spPr/>
        <p:txBody>
          <a:bodyPr/>
          <a:lstStyle/>
          <a:p>
            <a:fld id="{3AE71D6B-ACB6-4F4C-A895-DCAEF1760EAA}" type="slidenum">
              <a:rPr lang="de-DE" smtClean="0"/>
              <a:t>12</a:t>
            </a:fld>
            <a:endParaRPr lang="de-DE"/>
          </a:p>
        </p:txBody>
      </p:sp>
      <p:grpSp>
        <p:nvGrpSpPr>
          <p:cNvPr id="4" name="Gruppieren 3">
            <a:extLst>
              <a:ext uri="{FF2B5EF4-FFF2-40B4-BE49-F238E27FC236}">
                <a16:creationId xmlns:a16="http://schemas.microsoft.com/office/drawing/2014/main" id="{7A86ABF0-C26A-E9D8-6815-3892E8E76198}"/>
              </a:ext>
            </a:extLst>
          </p:cNvPr>
          <p:cNvGrpSpPr>
            <a:grpSpLocks noGrp="1" noUngrp="1" noRot="1" noMove="1" noResize="1"/>
          </p:cNvGrpSpPr>
          <p:nvPr/>
        </p:nvGrpSpPr>
        <p:grpSpPr>
          <a:xfrm>
            <a:off x="1089035" y="1012608"/>
            <a:ext cx="8261330" cy="4634346"/>
            <a:chOff x="1953490" y="976745"/>
            <a:chExt cx="8261330" cy="4634346"/>
          </a:xfrm>
        </p:grpSpPr>
        <p:pic>
          <p:nvPicPr>
            <p:cNvPr id="3" name="Grafik" descr="Ein Bild, das Screenshot, Text, Software, Multimedia enthält.&#10;&#10;Automatisch generierte Beschreibung">
              <a:extLst>
                <a:ext uri="{FF2B5EF4-FFF2-40B4-BE49-F238E27FC236}">
                  <a16:creationId xmlns:a16="http://schemas.microsoft.com/office/drawing/2014/main" id="{37B323CE-DD0A-8BD1-F3EA-96857B3B9484}"/>
                </a:ext>
              </a:extLst>
            </p:cNvPr>
            <p:cNvPicPr>
              <a:picLocks noGrp="1" noRot="1" noMove="1" noResize="1" noEditPoints="1" noAdjustHandles="1" noChangeArrowheads="1" noChangeShapeType="1" noCrop="1"/>
            </p:cNvPicPr>
            <p:nvPr/>
          </p:nvPicPr>
          <p:blipFill rotWithShape="1">
            <a:blip r:embed="rId2"/>
            <a:srcRect l="18712" t="14643" r="2853" b="15719"/>
            <a:stretch/>
          </p:blipFill>
          <p:spPr>
            <a:xfrm>
              <a:off x="1953490" y="976745"/>
              <a:ext cx="8188037" cy="4634346"/>
            </a:xfrm>
            <a:prstGeom prst="rect">
              <a:avLst/>
            </a:prstGeom>
          </p:spPr>
        </p:pic>
        <p:sp>
          <p:nvSpPr>
            <p:cNvPr id="6" name="Überschrift 2">
              <a:extLst>
                <a:ext uri="{FF2B5EF4-FFF2-40B4-BE49-F238E27FC236}">
                  <a16:creationId xmlns:a16="http://schemas.microsoft.com/office/drawing/2014/main" id="{B4EB193A-3114-ED67-A283-DEC6E7B1E483}"/>
                </a:ext>
              </a:extLst>
            </p:cNvPr>
            <p:cNvSpPr txBox="1">
              <a:spLocks noGrp="1" noRot="1" noMove="1" noResize="1" noEditPoints="1" noAdjustHandles="1" noChangeArrowheads="1" noChangeShapeType="1"/>
            </p:cNvSpPr>
            <p:nvPr/>
          </p:nvSpPr>
          <p:spPr>
            <a:xfrm>
              <a:off x="6804025"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SDG Beitrag</a:t>
              </a:r>
            </a:p>
          </p:txBody>
        </p:sp>
        <p:sp>
          <p:nvSpPr>
            <p:cNvPr id="5" name="Überschrift 1">
              <a:extLst>
                <a:ext uri="{FF2B5EF4-FFF2-40B4-BE49-F238E27FC236}">
                  <a16:creationId xmlns:a16="http://schemas.microsoft.com/office/drawing/2014/main" id="{1906997B-BFF2-1F54-4F08-362C7A419C60}"/>
                </a:ext>
              </a:extLst>
            </p:cNvPr>
            <p:cNvSpPr txBox="1">
              <a:spLocks noGrp="1" noRot="1" noMove="1" noResize="1" noEditPoints="1" noAdjustHandles="1" noChangeArrowheads="1" noChangeShapeType="1"/>
            </p:cNvSpPr>
            <p:nvPr/>
          </p:nvSpPr>
          <p:spPr>
            <a:xfrm>
              <a:off x="2671700"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 Rating</a:t>
              </a:r>
            </a:p>
          </p:txBody>
        </p:sp>
        <p:sp>
          <p:nvSpPr>
            <p:cNvPr id="7" name="Unternehmen">
              <a:extLst>
                <a:ext uri="{FF2B5EF4-FFF2-40B4-BE49-F238E27FC236}">
                  <a16:creationId xmlns:a16="http://schemas.microsoft.com/office/drawing/2014/main" id="{0D9AC59F-07BC-86B5-1150-2737735099AD}"/>
                </a:ext>
              </a:extLst>
            </p:cNvPr>
            <p:cNvSpPr txBox="1">
              <a:spLocks noGrp="1" noRot="1" noMove="1" noResize="1" noEditPoints="1" noAdjustHandles="1" noChangeArrowheads="1" noChangeShapeType="1"/>
            </p:cNvSpPr>
            <p:nvPr/>
          </p:nvSpPr>
          <p:spPr>
            <a:xfrm>
              <a:off x="4714723"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8" name="Klima">
              <a:extLst>
                <a:ext uri="{FF2B5EF4-FFF2-40B4-BE49-F238E27FC236}">
                  <a16:creationId xmlns:a16="http://schemas.microsoft.com/office/drawing/2014/main" id="{715EA875-3C9C-347C-25E8-CA043C34E17A}"/>
                </a:ext>
              </a:extLst>
            </p:cNvPr>
            <p:cNvSpPr txBox="1">
              <a:spLocks noGrp="1" noRot="1" noMove="1" noResize="1" noEditPoints="1" noAdjustHandles="1" noChangeArrowheads="1" noChangeShapeType="1"/>
            </p:cNvSpPr>
            <p:nvPr/>
          </p:nvSpPr>
          <p:spPr>
            <a:xfrm>
              <a:off x="2318851"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9" name="Unternehmen">
              <a:extLst>
                <a:ext uri="{FF2B5EF4-FFF2-40B4-BE49-F238E27FC236}">
                  <a16:creationId xmlns:a16="http://schemas.microsoft.com/office/drawing/2014/main" id="{4636296B-2A88-7EDE-CF5D-C2EC65D7754C}"/>
                </a:ext>
              </a:extLst>
            </p:cNvPr>
            <p:cNvSpPr txBox="1">
              <a:spLocks noGrp="1" noRot="1" noMove="1" noResize="1" noEditPoints="1" noAdjustHandles="1" noChangeArrowheads="1" noChangeShapeType="1"/>
            </p:cNvSpPr>
            <p:nvPr/>
          </p:nvSpPr>
          <p:spPr>
            <a:xfrm>
              <a:off x="6236830"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10" name="Klima">
              <a:extLst>
                <a:ext uri="{FF2B5EF4-FFF2-40B4-BE49-F238E27FC236}">
                  <a16:creationId xmlns:a16="http://schemas.microsoft.com/office/drawing/2014/main" id="{559B6355-9D33-0060-23EF-D8F8A3E6874A}"/>
                </a:ext>
              </a:extLst>
            </p:cNvPr>
            <p:cNvSpPr txBox="1">
              <a:spLocks noGrp="1" noRot="1" noMove="1" noResize="1" noEditPoints="1" noAdjustHandles="1" noChangeArrowheads="1" noChangeShapeType="1"/>
            </p:cNvSpPr>
            <p:nvPr/>
          </p:nvSpPr>
          <p:spPr>
            <a:xfrm>
              <a:off x="9071696"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12" name="Text">
              <a:extLst>
                <a:ext uri="{FF2B5EF4-FFF2-40B4-BE49-F238E27FC236}">
                  <a16:creationId xmlns:a16="http://schemas.microsoft.com/office/drawing/2014/main" id="{540A60A5-8435-15E1-DA6C-933766E37D67}"/>
                </a:ext>
              </a:extLst>
            </p:cNvPr>
            <p:cNvSpPr txBox="1">
              <a:spLocks noGrp="1" noRot="1" noMove="1" noResize="1" noEditPoints="1" noAdjustHandles="1" noChangeArrowheads="1" noChangeShapeType="1"/>
            </p:cNvSpPr>
            <p:nvPr/>
          </p:nvSpPr>
          <p:spPr>
            <a:xfrm>
              <a:off x="3242381"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Klimawandels auf das Unternehmen</a:t>
              </a:r>
              <a:endParaRPr lang="de-DE" sz="900" dirty="0">
                <a:solidFill>
                  <a:srgbClr val="1A314C"/>
                </a:solidFill>
              </a:endParaRPr>
            </a:p>
          </p:txBody>
        </p:sp>
        <p:sp>
          <p:nvSpPr>
            <p:cNvPr id="13" name="Text">
              <a:extLst>
                <a:ext uri="{FF2B5EF4-FFF2-40B4-BE49-F238E27FC236}">
                  <a16:creationId xmlns:a16="http://schemas.microsoft.com/office/drawing/2014/main" id="{E91CCFD0-D6ED-3978-3C0E-9913B9CD0052}"/>
                </a:ext>
              </a:extLst>
            </p:cNvPr>
            <p:cNvSpPr txBox="1">
              <a:spLocks noGrp="1" noRot="1" noMove="1" noResize="1" noEditPoints="1" noAdjustHandles="1" noChangeArrowheads="1" noChangeShapeType="1"/>
            </p:cNvSpPr>
            <p:nvPr/>
          </p:nvSpPr>
          <p:spPr>
            <a:xfrm>
              <a:off x="7362436"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Unternehmens auf das Klima</a:t>
              </a:r>
              <a:endParaRPr lang="de-DE" sz="900" dirty="0">
                <a:solidFill>
                  <a:srgbClr val="1A314C"/>
                </a:solidFill>
              </a:endParaRPr>
            </a:p>
          </p:txBody>
        </p:sp>
        <p:sp>
          <p:nvSpPr>
            <p:cNvPr id="14" name="Text">
              <a:extLst>
                <a:ext uri="{FF2B5EF4-FFF2-40B4-BE49-F238E27FC236}">
                  <a16:creationId xmlns:a16="http://schemas.microsoft.com/office/drawing/2014/main" id="{68CA545B-C624-1D96-2D76-37F76EF63698}"/>
                </a:ext>
              </a:extLst>
            </p:cNvPr>
            <p:cNvSpPr txBox="1">
              <a:spLocks noGrp="1" noRot="1" noMove="1" noResize="1" noEditPoints="1" noAdjustHandles="1" noChangeArrowheads="1" noChangeShapeType="1"/>
            </p:cNvSpPr>
            <p:nvPr/>
          </p:nvSpPr>
          <p:spPr>
            <a:xfrm>
              <a:off x="1963538" y="15157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Wie </a:t>
              </a:r>
              <a:r>
                <a:rPr lang="de-DE" sz="900" dirty="0">
                  <a:solidFill>
                    <a:schemeClr val="accent1"/>
                  </a:solidFill>
                </a:rPr>
                <a:t>verhält sich das Unternehmen?</a:t>
              </a:r>
            </a:p>
          </p:txBody>
        </p:sp>
        <p:sp>
          <p:nvSpPr>
            <p:cNvPr id="15" name="Text">
              <a:extLst>
                <a:ext uri="{FF2B5EF4-FFF2-40B4-BE49-F238E27FC236}">
                  <a16:creationId xmlns:a16="http://schemas.microsoft.com/office/drawing/2014/main" id="{5EEC63F6-A2A0-4F2A-BA8A-57CEC35491E7}"/>
                </a:ext>
              </a:extLst>
            </p:cNvPr>
            <p:cNvSpPr txBox="1">
              <a:spLocks noGrp="1" noRot="1" noMove="1" noResize="1" noEditPoints="1" noAdjustHandles="1" noChangeArrowheads="1" noChangeShapeType="1"/>
            </p:cNvSpPr>
            <p:nvPr/>
          </p:nvSpPr>
          <p:spPr>
            <a:xfrm>
              <a:off x="6087202" y="1516960"/>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Was </a:t>
              </a:r>
              <a:r>
                <a:rPr lang="de-DE" sz="900" dirty="0">
                  <a:solidFill>
                    <a:schemeClr val="accent1"/>
                  </a:solidFill>
                </a:rPr>
                <a:t>macht das Unternehmen?</a:t>
              </a:r>
            </a:p>
          </p:txBody>
        </p:sp>
        <p:sp>
          <p:nvSpPr>
            <p:cNvPr id="16" name="Text">
              <a:extLst>
                <a:ext uri="{FF2B5EF4-FFF2-40B4-BE49-F238E27FC236}">
                  <a16:creationId xmlns:a16="http://schemas.microsoft.com/office/drawing/2014/main" id="{9FDAC5D4-655D-3E87-9288-27E765FB4A02}"/>
                </a:ext>
              </a:extLst>
            </p:cNvPr>
            <p:cNvSpPr txBox="1">
              <a:spLocks noGrp="1" noRot="1" noMove="1" noResize="1" noEditPoints="1" noAdjustHandles="1" noChangeArrowheads="1" noChangeShapeType="1"/>
            </p:cNvSpPr>
            <p:nvPr/>
          </p:nvSpPr>
          <p:spPr>
            <a:xfrm>
              <a:off x="1963538" y="3216022"/>
              <a:ext cx="4123664" cy="413896"/>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welche Chancen und Risiken sich aus dem Umgang mit den Nach-</a:t>
              </a:r>
              <a:br>
                <a:rPr lang="de-DE" sz="900" dirty="0">
                  <a:solidFill>
                    <a:schemeClr val="accent1"/>
                  </a:solidFill>
                </a:rPr>
              </a:br>
              <a:r>
                <a:rPr lang="de-DE" sz="900" dirty="0">
                  <a:solidFill>
                    <a:schemeClr val="accent1"/>
                  </a:solidFill>
                </a:rPr>
                <a:t>haltigkeitsaspekten für das Unternehmen ergeben.</a:t>
              </a:r>
            </a:p>
          </p:txBody>
        </p:sp>
        <p:sp>
          <p:nvSpPr>
            <p:cNvPr id="21" name="Text">
              <a:extLst>
                <a:ext uri="{FF2B5EF4-FFF2-40B4-BE49-F238E27FC236}">
                  <a16:creationId xmlns:a16="http://schemas.microsoft.com/office/drawing/2014/main" id="{305997E2-5BA9-69D0-A798-75CC166C33CA}"/>
                </a:ext>
              </a:extLst>
            </p:cNvPr>
            <p:cNvSpPr txBox="1">
              <a:spLocks noGrp="1" noRot="1" noMove="1" noResize="1" noEditPoints="1" noAdjustHandles="1" noChangeArrowheads="1" noChangeShapeType="1"/>
            </p:cNvSpPr>
            <p:nvPr/>
          </p:nvSpPr>
          <p:spPr>
            <a:xfrm>
              <a:off x="6091156" y="3216022"/>
              <a:ext cx="4123664" cy="580608"/>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inwieweit die unternehmerische Tätigkeit einen positiven oder negativen Beitrag zu den UN-Zielen für nachhaltige Entwicklung (SDGs) liefert.</a:t>
              </a:r>
            </a:p>
          </p:txBody>
        </p:sp>
        <p:sp>
          <p:nvSpPr>
            <p:cNvPr id="22" name="Text">
              <a:extLst>
                <a:ext uri="{FF2B5EF4-FFF2-40B4-BE49-F238E27FC236}">
                  <a16:creationId xmlns:a16="http://schemas.microsoft.com/office/drawing/2014/main" id="{F5AC9477-F1A1-778E-9191-6D89424E2A29}"/>
                </a:ext>
              </a:extLst>
            </p:cNvPr>
            <p:cNvSpPr txBox="1">
              <a:spLocks noGrp="1" noRot="1" noMove="1" noResize="1" noEditPoints="1" noAdjustHandles="1" noChangeArrowheads="1" noChangeShapeType="1"/>
            </p:cNvSpPr>
            <p:nvPr/>
          </p:nvSpPr>
          <p:spPr>
            <a:xfrm>
              <a:off x="1963538" y="3961438"/>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sz="900" dirty="0">
                  <a:solidFill>
                    <a:schemeClr val="accent1"/>
                  </a:solidFill>
                </a:rPr>
                <a:t>ESG-Risiken minimieren &amp; steuern</a:t>
              </a:r>
            </a:p>
          </p:txBody>
        </p:sp>
        <p:sp>
          <p:nvSpPr>
            <p:cNvPr id="23" name="Text">
              <a:extLst>
                <a:ext uri="{FF2B5EF4-FFF2-40B4-BE49-F238E27FC236}">
                  <a16:creationId xmlns:a16="http://schemas.microsoft.com/office/drawing/2014/main" id="{1320501B-08AD-879B-2012-D1EBF84AB765}"/>
                </a:ext>
              </a:extLst>
            </p:cNvPr>
            <p:cNvSpPr txBox="1">
              <a:spLocks noGrp="1" noRot="1" noMove="1" noResize="1" noEditPoints="1" noAdjustHandles="1" noChangeArrowheads="1" noChangeShapeType="1"/>
            </p:cNvSpPr>
            <p:nvPr/>
          </p:nvSpPr>
          <p:spPr>
            <a:xfrm>
              <a:off x="6091784" y="3961438"/>
              <a:ext cx="3344695" cy="369332"/>
            </a:xfrm>
            <a:prstGeom prst="rect">
              <a:avLst/>
            </a:prstGeom>
            <a:noFill/>
          </p:spPr>
          <p:txBody>
            <a:bodyPr wrap="square">
              <a:spAutoFit/>
            </a:bodyPr>
            <a:lstStyle/>
            <a:p>
              <a:pPr>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dirty="0">
                  <a:solidFill>
                    <a:schemeClr val="accent1"/>
                  </a:solidFill>
                  <a:effectLst/>
                </a:rPr>
                <a:t>Ermittlung positiver Nachhaltigkeitsauswirkung</a:t>
              </a:r>
            </a:p>
            <a:p>
              <a:pPr algn="l" rtl="0">
                <a:defRPr sz="900" b="0" i="0" u="none" strike="noStrike" kern="1200" baseline="0">
                  <a:solidFill>
                    <a:prstClr val="black">
                      <a:lumMod val="75000"/>
                      <a:lumOff val="25000"/>
                    </a:prstClr>
                  </a:solidFill>
                  <a:latin typeface="+mn-lt"/>
                  <a:ea typeface="+mn-ea"/>
                  <a:cs typeface="+mn-cs"/>
                </a:defRPr>
              </a:pPr>
              <a:endParaRPr lang="de-DE" sz="900" dirty="0">
                <a:solidFill>
                  <a:schemeClr val="accent1"/>
                </a:solidFill>
              </a:endParaRPr>
            </a:p>
          </p:txBody>
        </p:sp>
        <p:sp>
          <p:nvSpPr>
            <p:cNvPr id="24" name="Text">
              <a:extLst>
                <a:ext uri="{FF2B5EF4-FFF2-40B4-BE49-F238E27FC236}">
                  <a16:creationId xmlns:a16="http://schemas.microsoft.com/office/drawing/2014/main" id="{794EE5DC-B976-5278-0C41-28719EC9AAF1}"/>
                </a:ext>
              </a:extLst>
            </p:cNvPr>
            <p:cNvSpPr txBox="1">
              <a:spLocks noGrp="1" noRot="1" noMove="1" noResize="1" noEditPoints="1" noAdjustHandles="1" noChangeArrowheads="1" noChangeShapeType="1"/>
            </p:cNvSpPr>
            <p:nvPr/>
          </p:nvSpPr>
          <p:spPr>
            <a:xfrm>
              <a:off x="2568825" y="4385670"/>
              <a:ext cx="1267716"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Outside-In-Prinzip</a:t>
              </a:r>
              <a:endParaRPr lang="de-DE" sz="900" dirty="0">
                <a:solidFill>
                  <a:schemeClr val="bg1"/>
                </a:solidFill>
              </a:endParaRPr>
            </a:p>
          </p:txBody>
        </p:sp>
        <p:sp>
          <p:nvSpPr>
            <p:cNvPr id="25" name="Text">
              <a:extLst>
                <a:ext uri="{FF2B5EF4-FFF2-40B4-BE49-F238E27FC236}">
                  <a16:creationId xmlns:a16="http://schemas.microsoft.com/office/drawing/2014/main" id="{AB639806-1A39-F27B-647B-A99330A92235}"/>
                </a:ext>
              </a:extLst>
            </p:cNvPr>
            <p:cNvSpPr txBox="1">
              <a:spLocks noGrp="1" noRot="1" noMove="1" noResize="1" noEditPoints="1" noAdjustHandles="1" noChangeArrowheads="1" noChangeShapeType="1"/>
            </p:cNvSpPr>
            <p:nvPr/>
          </p:nvSpPr>
          <p:spPr>
            <a:xfrm>
              <a:off x="5247509"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Doppelte Wesentlichkeit</a:t>
              </a:r>
              <a:endParaRPr lang="de-DE" sz="900" dirty="0">
                <a:solidFill>
                  <a:schemeClr val="bg1"/>
                </a:solidFill>
              </a:endParaRPr>
            </a:p>
          </p:txBody>
        </p:sp>
        <p:sp>
          <p:nvSpPr>
            <p:cNvPr id="26" name="Text">
              <a:extLst>
                <a:ext uri="{FF2B5EF4-FFF2-40B4-BE49-F238E27FC236}">
                  <a16:creationId xmlns:a16="http://schemas.microsoft.com/office/drawing/2014/main" id="{B3F0EAB7-6B47-27E6-96DC-52C68F6BE4E8}"/>
                </a:ext>
              </a:extLst>
            </p:cNvPr>
            <p:cNvSpPr txBox="1">
              <a:spLocks noGrp="1" noRot="1" noMove="1" noResize="1" noEditPoints="1" noAdjustHandles="1" noChangeArrowheads="1" noChangeShapeType="1"/>
            </p:cNvSpPr>
            <p:nvPr/>
          </p:nvSpPr>
          <p:spPr>
            <a:xfrm>
              <a:off x="8219811"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Inside-Out-Prinzip</a:t>
              </a:r>
              <a:endParaRPr lang="de-DE" sz="900" dirty="0">
                <a:solidFill>
                  <a:schemeClr val="bg1"/>
                </a:solidFill>
              </a:endParaRPr>
            </a:p>
          </p:txBody>
        </p:sp>
        <p:sp>
          <p:nvSpPr>
            <p:cNvPr id="27" name="Text">
              <a:extLst>
                <a:ext uri="{FF2B5EF4-FFF2-40B4-BE49-F238E27FC236}">
                  <a16:creationId xmlns:a16="http://schemas.microsoft.com/office/drawing/2014/main" id="{0FC4B48A-4C24-7B17-73DF-D95D1A2394CF}"/>
                </a:ext>
              </a:extLst>
            </p:cNvPr>
            <p:cNvSpPr txBox="1">
              <a:spLocks noGrp="1" noRot="1" noMove="1" noResize="1" noEditPoints="1" noAdjustHandles="1" noChangeArrowheads="1" noChangeShapeType="1"/>
            </p:cNvSpPr>
            <p:nvPr/>
          </p:nvSpPr>
          <p:spPr>
            <a:xfrm>
              <a:off x="2932541" y="4946538"/>
              <a:ext cx="6450517" cy="261610"/>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1100" b="1" dirty="0">
                  <a:solidFill>
                    <a:srgbClr val="1A314C"/>
                  </a:solidFill>
                </a:rPr>
                <a:t>ESG Strategie mit Anteil an auswirkungsbezogenen Investments iSd der SFDR Art. 2(17)</a:t>
              </a:r>
            </a:p>
          </p:txBody>
        </p:sp>
      </p:grpSp>
      <p:sp>
        <p:nvSpPr>
          <p:cNvPr id="28" name="Quelle">
            <a:extLst>
              <a:ext uri="{FF2B5EF4-FFF2-40B4-BE49-F238E27FC236}">
                <a16:creationId xmlns:a16="http://schemas.microsoft.com/office/drawing/2014/main" id="{E0849F0D-FE42-A05D-E520-B872AC885E99}"/>
              </a:ext>
            </a:extLst>
          </p:cNvPr>
          <p:cNvSpPr txBox="1"/>
          <p:nvPr/>
        </p:nvSpPr>
        <p:spPr>
          <a:xfrm>
            <a:off x="1208056" y="5439448"/>
            <a:ext cx="7465665" cy="128235"/>
          </a:xfrm>
          <a:prstGeom prst="rect">
            <a:avLst/>
          </a:prstGeom>
          <a:noFill/>
        </p:spPr>
        <p:txBody>
          <a:bodyPr wrap="square" lIns="36000" tIns="0" rIns="36000" bIns="0" rtlCol="0">
            <a:noAutofit/>
          </a:bodyPr>
          <a:lstStyle/>
          <a:p>
            <a:r>
              <a:rPr lang="de-DE" sz="700" dirty="0">
                <a:solidFill>
                  <a:schemeClr val="bg2"/>
                </a:solidFill>
              </a:rPr>
              <a:t>* Bildquelle: Mitteilung der Kommission — Leitlinien für die Berichterstattung über nichtfinanzielle Informationen: Nachtrag zur klimabezogenen Berichterstattung (europa.eu)</a:t>
            </a:r>
          </a:p>
        </p:txBody>
      </p:sp>
      <p:sp>
        <p:nvSpPr>
          <p:cNvPr id="29" name="Titel 2">
            <a:extLst>
              <a:ext uri="{FF2B5EF4-FFF2-40B4-BE49-F238E27FC236}">
                <a16:creationId xmlns:a16="http://schemas.microsoft.com/office/drawing/2014/main" id="{0D9B8879-E63F-9943-A464-90B6EAE5CB70}"/>
              </a:ext>
            </a:extLst>
          </p:cNvPr>
          <p:cNvSpPr txBox="1">
            <a:spLocks/>
          </p:cNvSpPr>
          <p:nvPr/>
        </p:nvSpPr>
        <p:spPr>
          <a:xfrm>
            <a:off x="275650" y="322579"/>
            <a:ext cx="9756774" cy="65416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Nachhaltigkeits- und Investmentkonzept – ESG Rating und SDG-Beitrag</a:t>
            </a:r>
            <a:endParaRPr lang="de-DE" dirty="0"/>
          </a:p>
        </p:txBody>
      </p:sp>
    </p:spTree>
    <p:extLst>
      <p:ext uri="{BB962C8B-B14F-4D97-AF65-F5344CB8AC3E}">
        <p14:creationId xmlns:p14="http://schemas.microsoft.com/office/powerpoint/2010/main" val="4124191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EDFB99CB-A3A5-F483-7E35-AF26AD5619BA}"/>
              </a:ext>
            </a:extLst>
          </p:cNvPr>
          <p:cNvPicPr>
            <a:picLocks noChangeAspect="1"/>
          </p:cNvPicPr>
          <p:nvPr/>
        </p:nvPicPr>
        <p:blipFill rotWithShape="1">
          <a:blip r:embed="rId2"/>
          <a:srcRect l="15001" t="6061"/>
          <a:stretch/>
        </p:blipFill>
        <p:spPr>
          <a:xfrm>
            <a:off x="8154972" y="3743324"/>
            <a:ext cx="2284428" cy="2743171"/>
          </a:xfrm>
          <a:prstGeom prst="rect">
            <a:avLst/>
          </a:prstGeom>
        </p:spPr>
      </p:pic>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13</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41399"/>
            <a:ext cx="3960812" cy="4709852"/>
          </a:xfrm>
        </p:spPr>
        <p:txBody>
          <a:bodyPr/>
          <a:lstStyle/>
          <a:p>
            <a:r>
              <a:rPr lang="de-DE" sz="1400" dirty="0"/>
              <a:t>Umwelt</a:t>
            </a:r>
          </a:p>
          <a:p>
            <a:pPr>
              <a:lnSpc>
                <a:spcPct val="100000"/>
              </a:lnSpc>
              <a:spcBef>
                <a:spcPts val="400"/>
              </a:spcBef>
              <a:spcAft>
                <a:spcPts val="400"/>
              </a:spcAft>
            </a:pPr>
            <a:r>
              <a:rPr lang="de-DE" b="0" dirty="0">
                <a:solidFill>
                  <a:schemeClr val="bg1">
                    <a:lumMod val="50000"/>
                  </a:schemeClr>
                </a:solidFill>
              </a:rPr>
              <a:t>07</a:t>
            </a:r>
            <a:r>
              <a:rPr lang="de-DE" b="0" dirty="0"/>
              <a:t> Unternehmen sollen im Umgang mit Umweltproblemen dem Vorsorgeprinzip folgen.</a:t>
            </a:r>
          </a:p>
          <a:p>
            <a:pPr>
              <a:lnSpc>
                <a:spcPct val="100000"/>
              </a:lnSpc>
              <a:spcBef>
                <a:spcPts val="400"/>
              </a:spcBef>
              <a:spcAft>
                <a:spcPts val="400"/>
              </a:spcAft>
            </a:pPr>
            <a:r>
              <a:rPr lang="de-DE" b="0" dirty="0">
                <a:solidFill>
                  <a:schemeClr val="bg1">
                    <a:lumMod val="50000"/>
                  </a:schemeClr>
                </a:solidFill>
              </a:rPr>
              <a:t>08</a:t>
            </a:r>
            <a:r>
              <a:rPr lang="de-DE" b="0" dirty="0"/>
              <a:t> Unternehmen sollen Initiativen ergreifen, um größeres Umweltbewusstsein zu fördern.</a:t>
            </a:r>
          </a:p>
          <a:p>
            <a:pPr>
              <a:lnSpc>
                <a:spcPct val="100000"/>
              </a:lnSpc>
              <a:spcBef>
                <a:spcPts val="400"/>
              </a:spcBef>
              <a:spcAft>
                <a:spcPts val="400"/>
              </a:spcAft>
            </a:pPr>
            <a:r>
              <a:rPr lang="de-DE" b="0" dirty="0">
                <a:solidFill>
                  <a:schemeClr val="bg1">
                    <a:lumMod val="50000"/>
                  </a:schemeClr>
                </a:solidFill>
              </a:rPr>
              <a:t>09</a:t>
            </a:r>
            <a:r>
              <a:rPr lang="de-DE" b="0" dirty="0"/>
              <a:t> Unternehmen sollen die Entwicklung und Verbreitung umweltfreundlicher Technologien beschleunigen. </a:t>
            </a:r>
          </a:p>
          <a:p>
            <a:r>
              <a:rPr lang="de-DE" sz="1400" dirty="0"/>
              <a:t>Korruptionsprävention</a:t>
            </a:r>
          </a:p>
          <a:p>
            <a:pPr>
              <a:spcBef>
                <a:spcPts val="400"/>
              </a:spcBef>
              <a:spcAft>
                <a:spcPts val="0"/>
              </a:spcAft>
            </a:pPr>
            <a:r>
              <a:rPr lang="de-DE" b="0" dirty="0">
                <a:solidFill>
                  <a:schemeClr val="bg1">
                    <a:lumMod val="50000"/>
                  </a:schemeClr>
                </a:solidFill>
              </a:rPr>
              <a:t>10</a:t>
            </a:r>
            <a:r>
              <a:rPr lang="de-DE" b="0" dirty="0"/>
              <a:t> Unternehmen sollen gegen aller Art der Korruption </a:t>
            </a:r>
          </a:p>
          <a:p>
            <a:pPr>
              <a:spcBef>
                <a:spcPts val="0"/>
              </a:spcBef>
              <a:spcAft>
                <a:spcPts val="0"/>
              </a:spcAft>
            </a:pPr>
            <a:r>
              <a:rPr lang="de-DE" b="0" dirty="0"/>
              <a:t>eintreten, einschließlich Erpressung und Bestechung.</a:t>
            </a:r>
            <a:endParaRPr lang="de-DE" sz="500" b="0" dirty="0"/>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41399"/>
            <a:ext cx="3823927" cy="4709851"/>
          </a:xfrm>
        </p:spPr>
        <p:txBody>
          <a:bodyPr/>
          <a:lstStyle/>
          <a:p>
            <a:r>
              <a:rPr lang="de-DE" sz="1400" dirty="0"/>
              <a:t>Menschenrechte</a:t>
            </a:r>
          </a:p>
          <a:p>
            <a:pPr>
              <a:lnSpc>
                <a:spcPct val="100000"/>
              </a:lnSpc>
              <a:spcBef>
                <a:spcPts val="400"/>
              </a:spcBef>
              <a:spcAft>
                <a:spcPts val="400"/>
              </a:spcAft>
            </a:pPr>
            <a:r>
              <a:rPr lang="de-DE" b="0" dirty="0">
                <a:solidFill>
                  <a:schemeClr val="bg1">
                    <a:lumMod val="50000"/>
                  </a:schemeClr>
                </a:solidFill>
              </a:rPr>
              <a:t>01</a:t>
            </a:r>
            <a:r>
              <a:rPr lang="de-DE" b="0" dirty="0"/>
              <a:t> Unternehmen sollen den Schutz der internationalen Menschenrechte unterstützen und achten.</a:t>
            </a:r>
          </a:p>
          <a:p>
            <a:pPr>
              <a:spcBef>
                <a:spcPts val="400"/>
              </a:spcBef>
              <a:spcAft>
                <a:spcPts val="400"/>
              </a:spcAft>
            </a:pPr>
            <a:r>
              <a:rPr lang="de-DE" b="0" dirty="0">
                <a:solidFill>
                  <a:schemeClr val="bg1">
                    <a:lumMod val="50000"/>
                  </a:schemeClr>
                </a:solidFill>
              </a:rPr>
              <a:t>02</a:t>
            </a:r>
            <a:r>
              <a:rPr lang="de-DE" b="0" dirty="0"/>
              <a:t> Unternehmen sollen sicherstellen, dass sie sich nicht an Menschenrechtsverletzungen mitschuldig machen.</a:t>
            </a:r>
          </a:p>
          <a:p>
            <a:r>
              <a:rPr lang="de-DE" sz="1400" dirty="0"/>
              <a:t>Arbeitsnormen</a:t>
            </a:r>
          </a:p>
          <a:p>
            <a:pPr>
              <a:lnSpc>
                <a:spcPct val="100000"/>
              </a:lnSpc>
              <a:spcBef>
                <a:spcPts val="400"/>
              </a:spcBef>
              <a:spcAft>
                <a:spcPts val="400"/>
              </a:spcAft>
            </a:pPr>
            <a:r>
              <a:rPr lang="de-DE" b="0" dirty="0">
                <a:solidFill>
                  <a:schemeClr val="bg1">
                    <a:lumMod val="50000"/>
                  </a:schemeClr>
                </a:solidFill>
              </a:rPr>
              <a:t>03</a:t>
            </a:r>
            <a:r>
              <a:rPr lang="de-DE" b="0" dirty="0"/>
              <a:t> Unternehmen sollen die Vereinigungsfreiheit </a:t>
            </a:r>
            <a:br>
              <a:rPr lang="de-DE" b="0" dirty="0"/>
            </a:br>
            <a:r>
              <a:rPr lang="de-DE" b="0" dirty="0"/>
              <a:t>und die wirksame Anerkennung des Rechts auf Kollektivverhandlungen wahren. </a:t>
            </a:r>
          </a:p>
          <a:p>
            <a:pPr>
              <a:lnSpc>
                <a:spcPct val="100000"/>
              </a:lnSpc>
              <a:spcBef>
                <a:spcPts val="400"/>
              </a:spcBef>
              <a:spcAft>
                <a:spcPts val="400"/>
              </a:spcAft>
            </a:pPr>
            <a:r>
              <a:rPr lang="de-DE" b="0" dirty="0">
                <a:solidFill>
                  <a:schemeClr val="bg1">
                    <a:lumMod val="50000"/>
                  </a:schemeClr>
                </a:solidFill>
              </a:rPr>
              <a:t>04</a:t>
            </a:r>
            <a:r>
              <a:rPr lang="de-DE" b="0" dirty="0"/>
              <a:t> Unternehmen sollen für die Beseitigung aller Formen von Zwangsarbeit eintreten.</a:t>
            </a:r>
          </a:p>
          <a:p>
            <a:pPr>
              <a:lnSpc>
                <a:spcPct val="100000"/>
              </a:lnSpc>
              <a:spcBef>
                <a:spcPts val="400"/>
              </a:spcBef>
              <a:spcAft>
                <a:spcPts val="400"/>
              </a:spcAft>
            </a:pPr>
            <a:r>
              <a:rPr lang="de-DE" b="0" dirty="0">
                <a:solidFill>
                  <a:schemeClr val="bg1">
                    <a:lumMod val="50000"/>
                  </a:schemeClr>
                </a:solidFill>
              </a:rPr>
              <a:t>05</a:t>
            </a:r>
            <a:r>
              <a:rPr lang="de-DE" b="0" dirty="0"/>
              <a:t> Unternehmen sollen für die Abschaffung von Kinderarbeit eintreten.</a:t>
            </a:r>
          </a:p>
          <a:p>
            <a:pPr>
              <a:lnSpc>
                <a:spcPct val="100000"/>
              </a:lnSpc>
              <a:spcBef>
                <a:spcPts val="400"/>
              </a:spcBef>
              <a:spcAft>
                <a:spcPts val="400"/>
              </a:spcAft>
            </a:pPr>
            <a:r>
              <a:rPr lang="de-DE" b="0" dirty="0">
                <a:solidFill>
                  <a:schemeClr val="bg1">
                    <a:lumMod val="50000"/>
                  </a:schemeClr>
                </a:solidFill>
              </a:rPr>
              <a:t>06</a:t>
            </a:r>
            <a:r>
              <a:rPr lang="de-DE" b="0" dirty="0"/>
              <a:t> Unternehmen sollen für die Beseitigung von Diskriminierung bei Anstellung und Erwerbstätigkeit eintreten.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Wir orientieren uns an den UN Global Compact Richtlinien </a:t>
            </a:r>
          </a:p>
        </p:txBody>
      </p:sp>
      <p:sp>
        <p:nvSpPr>
          <p:cNvPr id="8" name="Textfeld 7">
            <a:extLst>
              <a:ext uri="{FF2B5EF4-FFF2-40B4-BE49-F238E27FC236}">
                <a16:creationId xmlns:a16="http://schemas.microsoft.com/office/drawing/2014/main" id="{272A27AD-4C7A-1C14-5E0D-643DBD18BD6B}"/>
              </a:ext>
            </a:extLst>
          </p:cNvPr>
          <p:cNvSpPr txBox="1"/>
          <p:nvPr/>
        </p:nvSpPr>
        <p:spPr>
          <a:xfrm>
            <a:off x="3911097" y="6136928"/>
            <a:ext cx="7097917" cy="200055"/>
          </a:xfrm>
          <a:prstGeom prst="rect">
            <a:avLst/>
          </a:prstGeom>
          <a:noFill/>
        </p:spPr>
        <p:txBody>
          <a:bodyPr wrap="square" rtlCol="0">
            <a:spAutoFit/>
          </a:bodyPr>
          <a:lstStyle/>
          <a:p>
            <a:r>
              <a:rPr lang="de-DE" sz="700" dirty="0">
                <a:solidFill>
                  <a:schemeClr val="bg1">
                    <a:lumMod val="50000"/>
                  </a:schemeClr>
                </a:solidFill>
              </a:rPr>
              <a:t>Quelle: www.golbalcompact.de/de/ueber-uns/dgnc-ungc.php?navid=539859539859#anchor_a9245988_Accordion-4-Korruptionspraevention</a:t>
            </a:r>
          </a:p>
        </p:txBody>
      </p:sp>
    </p:spTree>
    <p:extLst>
      <p:ext uri="{BB962C8B-B14F-4D97-AF65-F5344CB8AC3E}">
        <p14:creationId xmlns:p14="http://schemas.microsoft.com/office/powerpoint/2010/main" val="2278228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636F020-41AD-8F42-B495-4235C6F976AC}"/>
              </a:ext>
            </a:extLst>
          </p:cNvPr>
          <p:cNvSpPr>
            <a:spLocks noGrp="1"/>
          </p:cNvSpPr>
          <p:nvPr>
            <p:ph type="sldNum" sz="quarter" idx="12"/>
          </p:nvPr>
        </p:nvSpPr>
        <p:spPr/>
        <p:txBody>
          <a:bodyPr/>
          <a:lstStyle/>
          <a:p>
            <a:fld id="{3AE71D6B-ACB6-4F4C-A895-DCAEF1760EAA}" type="slidenum">
              <a:rPr lang="de-DE" smtClean="0"/>
              <a:t>14</a:t>
            </a:fld>
            <a:endParaRPr lang="de-DE"/>
          </a:p>
        </p:txBody>
      </p:sp>
      <p:sp>
        <p:nvSpPr>
          <p:cNvPr id="3" name="Titel 2">
            <a:extLst>
              <a:ext uri="{FF2B5EF4-FFF2-40B4-BE49-F238E27FC236}">
                <a16:creationId xmlns:a16="http://schemas.microsoft.com/office/drawing/2014/main" id="{76CBB900-501F-9C4B-9050-1E02E638F96B}"/>
              </a:ext>
            </a:extLst>
          </p:cNvPr>
          <p:cNvSpPr>
            <a:spLocks noGrp="1"/>
          </p:cNvSpPr>
          <p:nvPr>
            <p:ph type="title"/>
          </p:nvPr>
        </p:nvSpPr>
        <p:spPr/>
        <p:txBody>
          <a:bodyPr/>
          <a:lstStyle/>
          <a:p>
            <a:r>
              <a:rPr lang="de-DE" dirty="0"/>
              <a:t>Anlagerichtlinien</a:t>
            </a:r>
          </a:p>
        </p:txBody>
      </p:sp>
      <p:graphicFrame>
        <p:nvGraphicFramePr>
          <p:cNvPr id="4" name="Tabelle 3">
            <a:extLst>
              <a:ext uri="{FF2B5EF4-FFF2-40B4-BE49-F238E27FC236}">
                <a16:creationId xmlns:a16="http://schemas.microsoft.com/office/drawing/2014/main" id="{568CC164-9CC4-B043-B51C-D886D56EE140}"/>
              </a:ext>
            </a:extLst>
          </p:cNvPr>
          <p:cNvGraphicFramePr>
            <a:graphicFrameLocks noGrp="1"/>
          </p:cNvGraphicFramePr>
          <p:nvPr>
            <p:extLst>
              <p:ext uri="{D42A27DB-BD31-4B8C-83A1-F6EECF244321}">
                <p14:modId xmlns:p14="http://schemas.microsoft.com/office/powerpoint/2010/main" val="282634227"/>
              </p:ext>
            </p:extLst>
          </p:nvPr>
        </p:nvGraphicFramePr>
        <p:xfrm>
          <a:off x="2356050" y="1193556"/>
          <a:ext cx="5727299" cy="4272449"/>
        </p:xfrm>
        <a:graphic>
          <a:graphicData uri="http://schemas.openxmlformats.org/drawingml/2006/table">
            <a:tbl>
              <a:tblPr firstRow="1" bandRow="1"/>
              <a:tblGrid>
                <a:gridCol w="1643377">
                  <a:extLst>
                    <a:ext uri="{9D8B030D-6E8A-4147-A177-3AD203B41FA5}">
                      <a16:colId xmlns:a16="http://schemas.microsoft.com/office/drawing/2014/main" val="20000"/>
                    </a:ext>
                  </a:extLst>
                </a:gridCol>
                <a:gridCol w="2041961">
                  <a:extLst>
                    <a:ext uri="{9D8B030D-6E8A-4147-A177-3AD203B41FA5}">
                      <a16:colId xmlns:a16="http://schemas.microsoft.com/office/drawing/2014/main" val="2318029501"/>
                    </a:ext>
                  </a:extLst>
                </a:gridCol>
                <a:gridCol w="2041961">
                  <a:extLst>
                    <a:ext uri="{9D8B030D-6E8A-4147-A177-3AD203B41FA5}">
                      <a16:colId xmlns:a16="http://schemas.microsoft.com/office/drawing/2014/main" val="3185518545"/>
                    </a:ext>
                  </a:extLst>
                </a:gridCol>
              </a:tblGrid>
              <a:tr h="3302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ESG-ETF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ESG-ETF Wachstum</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59307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Anlageziele</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Ausgewogene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Offensive </a:t>
                      </a:r>
                    </a:p>
                    <a:p>
                      <a:pPr algn="l"/>
                      <a:r>
                        <a:rPr lang="de-DE" sz="1100" b="0" kern="0" spc="20" dirty="0">
                          <a:solidFill>
                            <a:schemeClr val="accent1"/>
                          </a:solidFill>
                          <a:latin typeface="Noto Sans"/>
                          <a:ea typeface="+mn-ea"/>
                          <a:cs typeface="Noto Sans"/>
                        </a:rPr>
                        <a:t>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77049">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r>
                        <a:rPr lang="de-DE" sz="1100" b="1" kern="0" spc="20" dirty="0">
                          <a:solidFill>
                            <a:schemeClr val="accent1"/>
                          </a:solidFill>
                          <a:latin typeface="Noto Sans"/>
                          <a:ea typeface="+mn-ea"/>
                          <a:cs typeface="Noto Sans"/>
                        </a:rPr>
                        <a:t>Verwaltungs-</a:t>
                      </a:r>
                    </a:p>
                    <a:p>
                      <a:pPr marL="180000" algn="l"/>
                      <a:r>
                        <a:rPr lang="de-DE" sz="1100" b="1" kern="0" spc="20" dirty="0" err="1">
                          <a:solidFill>
                            <a:schemeClr val="accent1"/>
                          </a:solidFill>
                          <a:latin typeface="Noto Sans"/>
                          <a:ea typeface="+mn-ea"/>
                          <a:cs typeface="Noto Sans"/>
                        </a:rPr>
                        <a:t>grundsätze</a:t>
                      </a:r>
                      <a:endParaRPr lang="de-DE" sz="1100" b="1" kern="0" spc="20" dirty="0">
                        <a:solidFill>
                          <a:schemeClr val="accent1"/>
                        </a:solidFill>
                        <a:latin typeface="Noto Sans"/>
                        <a:ea typeface="+mn-ea"/>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r>
                        <a:rPr lang="de-DE" sz="1100" b="0" kern="0" spc="20" dirty="0">
                          <a:solidFill>
                            <a:schemeClr val="accent1"/>
                          </a:solidFill>
                          <a:latin typeface="Noto Sans"/>
                          <a:ea typeface="+mn-ea"/>
                          <a:cs typeface="Noto Sans"/>
                        </a:rPr>
                        <a:t>Ausgewogenes Verhältnis zwischen Ertragschancen und Risiken.</a:t>
                      </a:r>
                    </a:p>
                    <a:p>
                      <a:r>
                        <a:rPr lang="de-DE" sz="1100" b="0" kern="0" spc="20" dirty="0">
                          <a:solidFill>
                            <a:schemeClr val="accent1"/>
                          </a:solidFill>
                          <a:latin typeface="Noto Sans"/>
                          <a:ea typeface="+mn-ea"/>
                          <a:cs typeface="Noto Sans"/>
                        </a:rPr>
                        <a:t>Langfristig bedeutender realer Vermögenszuwachs.</a:t>
                      </a:r>
                      <a:endParaRPr lang="de-DE" sz="1800" b="0" i="0" u="none" strike="noStrike" kern="1200" baseline="0" dirty="0">
                        <a:solidFill>
                          <a:schemeClr val="dk1"/>
                        </a:solidFill>
                        <a:latin typeface="Gill Alt One MT"/>
                        <a:ea typeface=""/>
                        <a:cs typeface=""/>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Höhere Risiken spiegeln sich in höheren Ertragschancen wider.</a:t>
                      </a:r>
                    </a:p>
                    <a:p>
                      <a:pPr marL="0" algn="l" defTabSz="914400" rtl="0" eaLnBrk="1" latinLnBrk="0" hangingPunct="1"/>
                      <a:r>
                        <a:rPr lang="de-DE" sz="1100" b="0" kern="0" spc="20" dirty="0">
                          <a:solidFill>
                            <a:schemeClr val="accent1"/>
                          </a:solidFill>
                          <a:latin typeface="Noto Sans"/>
                          <a:ea typeface="+mn-ea"/>
                          <a:cs typeface="Noto Sans"/>
                        </a:rPr>
                        <a:t>Langfristig bedeutender realer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r h="5715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Anlageregion</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8578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Aktienanteil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40%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4"/>
                  </a:ext>
                </a:extLst>
              </a:tr>
              <a:tr h="600075">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marR="0" lvl="0" indent="0" algn="l" defTabSz="914400" rtl="0" eaLnBrk="1" fontAlgn="auto" latinLnBrk="0" hangingPunct="1">
                        <a:lnSpc>
                          <a:spcPts val="1180"/>
                        </a:lnSpc>
                        <a:spcBef>
                          <a:spcPts val="0"/>
                        </a:spcBef>
                        <a:spcAft>
                          <a:spcPts val="0"/>
                        </a:spcAft>
                        <a:buClrTx/>
                        <a:buSzTx/>
                        <a:buFontTx/>
                        <a:buNone/>
                        <a:tabLst/>
                        <a:defRPr/>
                      </a:pPr>
                      <a:r>
                        <a:rPr lang="de-DE" sz="1100" b="1" kern="0" spc="20" dirty="0">
                          <a:solidFill>
                            <a:schemeClr val="accent1"/>
                          </a:solidFill>
                          <a:latin typeface="Noto Sans"/>
                          <a:ea typeface="+mn-ea"/>
                          <a:cs typeface="Noto Sans"/>
                        </a:rPr>
                        <a:t>Rentenanteil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90080137"/>
                  </a:ext>
                </a:extLst>
              </a:tr>
              <a:tr h="685826">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Fremdwährungen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630979793"/>
                  </a:ext>
                </a:extLst>
              </a:tr>
            </a:tbl>
          </a:graphicData>
        </a:graphic>
      </p:graphicFrame>
    </p:spTree>
    <p:extLst>
      <p:ext uri="{BB962C8B-B14F-4D97-AF65-F5344CB8AC3E}">
        <p14:creationId xmlns:p14="http://schemas.microsoft.com/office/powerpoint/2010/main" val="11732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69846093-B1E4-0C42-AFF5-B5A773A0CB2D}"/>
              </a:ext>
            </a:extLst>
          </p:cNvPr>
          <p:cNvSpPr>
            <a:spLocks noGrp="1"/>
          </p:cNvSpPr>
          <p:nvPr>
            <p:ph type="body" sz="quarter" idx="10"/>
          </p:nvPr>
        </p:nvSpPr>
        <p:spPr/>
        <p:txBody>
          <a:bodyPr/>
          <a:lstStyle/>
          <a:p>
            <a:r>
              <a:rPr lang="de-DE" dirty="0"/>
              <a:t>UNSERE ESG-ETF STRATEGIEN</a:t>
            </a:r>
          </a:p>
        </p:txBody>
      </p:sp>
      <p:sp>
        <p:nvSpPr>
          <p:cNvPr id="3" name="Textplatzhalter 2">
            <a:extLst>
              <a:ext uri="{FF2B5EF4-FFF2-40B4-BE49-F238E27FC236}">
                <a16:creationId xmlns:a16="http://schemas.microsoft.com/office/drawing/2014/main" id="{5E8ECE67-38D9-AC42-9928-1A195021ED88}"/>
              </a:ext>
            </a:extLst>
          </p:cNvPr>
          <p:cNvSpPr>
            <a:spLocks noGrp="1"/>
          </p:cNvSpPr>
          <p:nvPr>
            <p:ph type="body" sz="quarter" idx="11"/>
          </p:nvPr>
        </p:nvSpPr>
        <p:spPr>
          <a:xfrm>
            <a:off x="1021200" y="4074419"/>
            <a:ext cx="8446650" cy="1827500"/>
          </a:xfrm>
        </p:spPr>
        <p:txBody>
          <a:bodyPr/>
          <a:lstStyle/>
          <a:p>
            <a:r>
              <a:rPr lang="de-DE" dirty="0">
                <a:solidFill>
                  <a:schemeClr val="accent3"/>
                </a:solidFill>
              </a:rPr>
              <a:t>Ausgewogen – Wachstum</a:t>
            </a:r>
          </a:p>
          <a:p>
            <a:endParaRPr lang="de-DE" dirty="0"/>
          </a:p>
        </p:txBody>
      </p:sp>
    </p:spTree>
    <p:extLst>
      <p:ext uri="{BB962C8B-B14F-4D97-AF65-F5344CB8AC3E}">
        <p14:creationId xmlns:p14="http://schemas.microsoft.com/office/powerpoint/2010/main" val="355345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graphicFrame>
        <p:nvGraphicFramePr>
          <p:cNvPr id="5" name="C_Kennzahlen">
            <a:extLst>
              <a:ext uri="{FF2B5EF4-FFF2-40B4-BE49-F238E27FC236}">
                <a16:creationId xmlns:a16="http://schemas.microsoft.com/office/drawing/2014/main" id="{00000000-0008-0000-0D00-000002000000}"/>
              </a:ext>
            </a:extLst>
          </p:cNvPr>
          <p:cNvGraphicFramePr>
            <a:graphicFrameLocks noGrp="1" noDrilldown="1" noMove="1" noResize="1"/>
          </p:cNvGraphicFramePr>
          <p:nvPr>
            <p:extLst>
              <p:ext uri="{D42A27DB-BD31-4B8C-83A1-F6EECF244321}">
                <p14:modId xmlns:p14="http://schemas.microsoft.com/office/powerpoint/2010/main" val="3497426947"/>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0E7E3946-C4CB-E008-6A4A-BA0E60CB6887}"/>
              </a:ext>
            </a:extLst>
          </p:cNvPr>
          <p:cNvGraphicFramePr>
            <a:graphicFrameLocks noGrp="1" noDrilldown="1" noMove="1" noResize="1"/>
          </p:cNvGraphicFramePr>
          <p:nvPr>
            <p:extLst>
              <p:ext uri="{D42A27DB-BD31-4B8C-83A1-F6EECF244321}">
                <p14:modId xmlns:p14="http://schemas.microsoft.com/office/powerpoint/2010/main" val="1597476170"/>
              </p:ext>
            </p:extLst>
          </p:nvPr>
        </p:nvGraphicFramePr>
        <p:xfrm>
          <a:off x="4508500" y="1040400"/>
          <a:ext cx="5613400" cy="4773826"/>
        </p:xfrm>
        <a:graphic>
          <a:graphicData uri="http://schemas.openxmlformats.org/drawingml/2006/table">
            <a:tbl>
              <a:tblPr/>
              <a:tblGrid>
                <a:gridCol w="3429000">
                  <a:extLst>
                    <a:ext uri="{9D8B030D-6E8A-4147-A177-3AD203B41FA5}">
                      <a16:colId xmlns:a16="http://schemas.microsoft.com/office/drawing/2014/main" val="2852546665"/>
                    </a:ext>
                  </a:extLst>
                </a:gridCol>
                <a:gridCol w="50800">
                  <a:extLst>
                    <a:ext uri="{9D8B030D-6E8A-4147-A177-3AD203B41FA5}">
                      <a16:colId xmlns:a16="http://schemas.microsoft.com/office/drawing/2014/main" val="907499476"/>
                    </a:ext>
                  </a:extLst>
                </a:gridCol>
                <a:gridCol w="571500">
                  <a:extLst>
                    <a:ext uri="{9D8B030D-6E8A-4147-A177-3AD203B41FA5}">
                      <a16:colId xmlns:a16="http://schemas.microsoft.com/office/drawing/2014/main" val="620423941"/>
                    </a:ext>
                  </a:extLst>
                </a:gridCol>
                <a:gridCol w="50800">
                  <a:extLst>
                    <a:ext uri="{9D8B030D-6E8A-4147-A177-3AD203B41FA5}">
                      <a16:colId xmlns:a16="http://schemas.microsoft.com/office/drawing/2014/main" val="617837219"/>
                    </a:ext>
                  </a:extLst>
                </a:gridCol>
                <a:gridCol w="571500">
                  <a:extLst>
                    <a:ext uri="{9D8B030D-6E8A-4147-A177-3AD203B41FA5}">
                      <a16:colId xmlns:a16="http://schemas.microsoft.com/office/drawing/2014/main" val="349345812"/>
                    </a:ext>
                  </a:extLst>
                </a:gridCol>
                <a:gridCol w="50800">
                  <a:extLst>
                    <a:ext uri="{9D8B030D-6E8A-4147-A177-3AD203B41FA5}">
                      <a16:colId xmlns:a16="http://schemas.microsoft.com/office/drawing/2014/main" val="1925593678"/>
                    </a:ext>
                  </a:extLst>
                </a:gridCol>
                <a:gridCol w="889000">
                  <a:extLst>
                    <a:ext uri="{9D8B030D-6E8A-4147-A177-3AD203B41FA5}">
                      <a16:colId xmlns:a16="http://schemas.microsoft.com/office/drawing/2014/main" val="2353082488"/>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510456559"/>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95933963"/>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Environmental Impact 100 ETF (Rize)</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A3CN9S</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9947076"/>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1777768"/>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MSCI Europe SRI ETF (iShares)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A1H7ZS</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57374435"/>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Stoxx Europe Select Dividend 30 ETF (Amundi)</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LYX0Y9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37677162"/>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95921658"/>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Deutschland Staatsanl. ETF 5-10 J. (Deka)</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ETFL20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51364778"/>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EUR Corp. Bond SRI 3-5Y ETF (BNPP Easy)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A2PP8C</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99318340"/>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Sustainable Euro Green Bond ETF (Franklin)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A2PB5T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69315039"/>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USD Corp. Greenbond ETF EUR Hdgd (Xtrackers)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DBX0KF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13,13%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11764871"/>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27261465"/>
                  </a:ext>
                </a:extLst>
              </a:tr>
              <a:tr h="325559">
                <a:tc>
                  <a:txBody>
                    <a:bodyPr/>
                    <a:lstStyle/>
                    <a:p>
                      <a:pPr algn="l" fontAlgn="ctr">
                        <a:buNone/>
                      </a:pPr>
                      <a:r>
                        <a:rPr lang="de-DE" sz="700" b="0" i="0" u="none" strike="noStrike">
                          <a:solidFill>
                            <a:srgbClr val="000000"/>
                          </a:solidFill>
                          <a:effectLst/>
                          <a:latin typeface="Noto Sans" panose="020B0502040504020204" pitchFamily="34" charset="0"/>
                        </a:rPr>
                        <a:t>Physical Gold ETC (Invesco)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A1AA5X</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17516921"/>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4,60%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71696304"/>
                  </a:ext>
                </a:extLst>
              </a:tr>
              <a:tr h="325559">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794794740"/>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184709622"/>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AUsgewogen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40 %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ESG-ETF Ausgewogen</a:t>
            </a:r>
          </a:p>
        </p:txBody>
      </p:sp>
    </p:spTree>
    <p:extLst>
      <p:ext uri="{BB962C8B-B14F-4D97-AF65-F5344CB8AC3E}">
        <p14:creationId xmlns:p14="http://schemas.microsoft.com/office/powerpoint/2010/main" val="35154200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20% EONIA Euro </a:t>
            </a:r>
            <a:r>
              <a:rPr lang="de-DE" dirty="0" err="1"/>
              <a:t>Overnight</a:t>
            </a:r>
            <a:r>
              <a:rPr lang="de-DE" dirty="0"/>
              <a:t> Index; 35% </a:t>
            </a:r>
            <a:r>
              <a:rPr lang="de-DE" dirty="0" err="1"/>
              <a:t>iBoxx</a:t>
            </a:r>
            <a:r>
              <a:rPr lang="de-DE" dirty="0"/>
              <a:t> Corp. 3-5 RE.; 25% </a:t>
            </a:r>
            <a:r>
              <a:rPr lang="de-DE" dirty="0" err="1"/>
              <a:t>iBoxx</a:t>
            </a:r>
            <a:r>
              <a:rPr lang="de-DE" dirty="0"/>
              <a:t> E Germany 7-10 TR; 20%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F2AA1C4A-347F-452B-B0F2-BA00ED1387E1}"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8022125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64854666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8891952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2015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33,71%</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2015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ESG-ETF Ausgewogen | </a:t>
            </a:r>
            <a:r>
              <a:rPr lang="de-DE" b="0" dirty="0"/>
              <a:t>Wertentwicklung</a:t>
            </a:r>
          </a:p>
        </p:txBody>
      </p:sp>
    </p:spTree>
    <p:extLst>
      <p:ext uri="{BB962C8B-B14F-4D97-AF65-F5344CB8AC3E}">
        <p14:creationId xmlns:p14="http://schemas.microsoft.com/office/powerpoint/2010/main" val="1925586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graphicFrame>
        <p:nvGraphicFramePr>
          <p:cNvPr id="5" name="C_Kennzahlen">
            <a:extLst>
              <a:ext uri="{FF2B5EF4-FFF2-40B4-BE49-F238E27FC236}">
                <a16:creationId xmlns:a16="http://schemas.microsoft.com/office/drawing/2014/main" id="{00000000-0008-0000-0D00-000003000000}"/>
              </a:ext>
            </a:extLst>
          </p:cNvPr>
          <p:cNvGraphicFramePr>
            <a:graphicFrameLocks noGrp="1" noDrilldown="1" noMove="1" noResize="1"/>
          </p:cNvGraphicFramePr>
          <p:nvPr>
            <p:extLst>
              <p:ext uri="{D42A27DB-BD31-4B8C-83A1-F6EECF244321}">
                <p14:modId xmlns:p14="http://schemas.microsoft.com/office/powerpoint/2010/main" val="3047114817"/>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8FEC1BC2-CAF3-3B31-A015-C4E592815347}"/>
              </a:ext>
            </a:extLst>
          </p:cNvPr>
          <p:cNvGraphicFramePr>
            <a:graphicFrameLocks noGrp="1" noDrilldown="1" noMove="1" noResize="1"/>
          </p:cNvGraphicFramePr>
          <p:nvPr>
            <p:extLst>
              <p:ext uri="{D42A27DB-BD31-4B8C-83A1-F6EECF244321}">
                <p14:modId xmlns:p14="http://schemas.microsoft.com/office/powerpoint/2010/main" val="1298958958"/>
              </p:ext>
            </p:extLst>
          </p:nvPr>
        </p:nvGraphicFramePr>
        <p:xfrm>
          <a:off x="4508500" y="1040400"/>
          <a:ext cx="5613400" cy="4773527"/>
        </p:xfrm>
        <a:graphic>
          <a:graphicData uri="http://schemas.openxmlformats.org/drawingml/2006/table">
            <a:tbl>
              <a:tblPr/>
              <a:tblGrid>
                <a:gridCol w="3429000">
                  <a:extLst>
                    <a:ext uri="{9D8B030D-6E8A-4147-A177-3AD203B41FA5}">
                      <a16:colId xmlns:a16="http://schemas.microsoft.com/office/drawing/2014/main" val="3514621160"/>
                    </a:ext>
                  </a:extLst>
                </a:gridCol>
                <a:gridCol w="50800">
                  <a:extLst>
                    <a:ext uri="{9D8B030D-6E8A-4147-A177-3AD203B41FA5}">
                      <a16:colId xmlns:a16="http://schemas.microsoft.com/office/drawing/2014/main" val="3632289141"/>
                    </a:ext>
                  </a:extLst>
                </a:gridCol>
                <a:gridCol w="571500">
                  <a:extLst>
                    <a:ext uri="{9D8B030D-6E8A-4147-A177-3AD203B41FA5}">
                      <a16:colId xmlns:a16="http://schemas.microsoft.com/office/drawing/2014/main" val="3246321000"/>
                    </a:ext>
                  </a:extLst>
                </a:gridCol>
                <a:gridCol w="50800">
                  <a:extLst>
                    <a:ext uri="{9D8B030D-6E8A-4147-A177-3AD203B41FA5}">
                      <a16:colId xmlns:a16="http://schemas.microsoft.com/office/drawing/2014/main" val="4201408870"/>
                    </a:ext>
                  </a:extLst>
                </a:gridCol>
                <a:gridCol w="571500">
                  <a:extLst>
                    <a:ext uri="{9D8B030D-6E8A-4147-A177-3AD203B41FA5}">
                      <a16:colId xmlns:a16="http://schemas.microsoft.com/office/drawing/2014/main" val="620137128"/>
                    </a:ext>
                  </a:extLst>
                </a:gridCol>
                <a:gridCol w="50800">
                  <a:extLst>
                    <a:ext uri="{9D8B030D-6E8A-4147-A177-3AD203B41FA5}">
                      <a16:colId xmlns:a16="http://schemas.microsoft.com/office/drawing/2014/main" val="822952335"/>
                    </a:ext>
                  </a:extLst>
                </a:gridCol>
                <a:gridCol w="889000">
                  <a:extLst>
                    <a:ext uri="{9D8B030D-6E8A-4147-A177-3AD203B41FA5}">
                      <a16:colId xmlns:a16="http://schemas.microsoft.com/office/drawing/2014/main" val="1972834599"/>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699407080"/>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51645003"/>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ECPI Circular Economy Leaders ETF (BNP)</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A2PHCA</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9,89%</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08417537"/>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Environmental Impact 100 ETF (Rize)</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A3CN9S</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8021972"/>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26,61%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381763"/>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MSCI Europe SRI ETF (iShares)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A1H7ZS</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92538376"/>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Stoxx Europe Select Dividend 30 ETF (Amundi)</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LYX0Y9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89671857"/>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US Equity Research Enhanced ETF (Fidelity)</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A2P0ZN</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4868938"/>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76233235"/>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USD Corp. Greenbond ETF EUR Hdgd (Xtrackers)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DBX0KF</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11,35%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6643711"/>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2722403"/>
                  </a:ext>
                </a:extLst>
              </a:tr>
              <a:tr h="350579">
                <a:tc>
                  <a:txBody>
                    <a:bodyPr/>
                    <a:lstStyle/>
                    <a:p>
                      <a:pPr algn="l" fontAlgn="ctr">
                        <a:buNone/>
                      </a:pPr>
                      <a:r>
                        <a:rPr lang="de-DE" sz="700" b="0" i="0" u="none" strike="noStrike">
                          <a:solidFill>
                            <a:srgbClr val="000000"/>
                          </a:solidFill>
                          <a:effectLst/>
                          <a:latin typeface="Noto Sans" panose="020B0502040504020204" pitchFamily="34" charset="0"/>
                        </a:rPr>
                        <a:t>Physical Gold ETC (Invesco)</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A1AA5X</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895410"/>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2,94%</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73061471"/>
                  </a:ext>
                </a:extLst>
              </a:tr>
              <a:tr h="350579">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762468655"/>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322940722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Wachstum</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ESG-ETF Wachstum</a:t>
            </a:r>
          </a:p>
        </p:txBody>
      </p:sp>
    </p:spTree>
    <p:extLst>
      <p:ext uri="{BB962C8B-B14F-4D97-AF65-F5344CB8AC3E}">
        <p14:creationId xmlns:p14="http://schemas.microsoft.com/office/powerpoint/2010/main" val="33945485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20% EONIA Euro </a:t>
            </a:r>
            <a:r>
              <a:rPr lang="de-DE" dirty="0" err="1"/>
              <a:t>Overnight</a:t>
            </a:r>
            <a:r>
              <a:rPr lang="de-DE" dirty="0"/>
              <a:t> Index; 15% </a:t>
            </a:r>
            <a:r>
              <a:rPr lang="de-DE" dirty="0" err="1"/>
              <a:t>iBoxx</a:t>
            </a:r>
            <a:r>
              <a:rPr lang="de-DE" dirty="0"/>
              <a:t> Corp. 3-5 RE.; 15% </a:t>
            </a:r>
            <a:r>
              <a:rPr lang="de-DE" dirty="0" err="1"/>
              <a:t>iBoxx</a:t>
            </a:r>
            <a:r>
              <a:rPr lang="de-DE" dirty="0"/>
              <a:t> E Germany 7-10 TR; 50%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1748B8D-878C-4DD9-9989-74412CFE83F7}"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60441343"/>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842412920"/>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494459409"/>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2015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56,81%</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2015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4,35%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8,82%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ESG-ETF Wachstum| </a:t>
            </a:r>
            <a:r>
              <a:rPr lang="de-DE" b="0" dirty="0"/>
              <a:t>Wertentwicklung</a:t>
            </a:r>
          </a:p>
        </p:txBody>
      </p:sp>
    </p:spTree>
    <p:extLst>
      <p:ext uri="{BB962C8B-B14F-4D97-AF65-F5344CB8AC3E}">
        <p14:creationId xmlns:p14="http://schemas.microsoft.com/office/powerpoint/2010/main" val="3487681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20</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a:t>
            </a:r>
            <a:br>
              <a:rPr lang="de-DE" dirty="0"/>
            </a:br>
            <a:r>
              <a:rPr lang="de-DE" dirty="0"/>
              <a:t>ESG-ETF Vermögensverwaltungsstrategien</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extLst>
              <p:ext uri="{D42A27DB-BD31-4B8C-83A1-F6EECF244321}">
                <p14:modId xmlns:p14="http://schemas.microsoft.com/office/powerpoint/2010/main" val="2972969794"/>
              </p:ext>
            </p:extLst>
          </p:nvPr>
        </p:nvGraphicFramePr>
        <p:xfrm>
          <a:off x="611247" y="1257899"/>
          <a:ext cx="4863215"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Ausgewogen</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Wachstum</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4,26%</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8,82%</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10,12%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16,02%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23,73%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28,96%</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16,58%</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24,62%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11247" y="4440116"/>
            <a:ext cx="486321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7E3AD4C-049A-3047-8C54-9FDEF19D9B92}"/>
              </a:ext>
            </a:extLst>
          </p:cNvPr>
          <p:cNvSpPr>
            <a:spLocks noGrp="1"/>
          </p:cNvSpPr>
          <p:nvPr>
            <p:ph type="body" sz="quarter" idx="10"/>
          </p:nvPr>
        </p:nvSpPr>
        <p:spPr>
          <a:xfrm>
            <a:off x="1036594" y="2084366"/>
            <a:ext cx="9056640" cy="1827500"/>
          </a:xfrm>
        </p:spPr>
        <p:txBody>
          <a:bodyPr/>
          <a:lstStyle/>
          <a:p>
            <a:r>
              <a:rPr lang="de-DE" dirty="0"/>
              <a:t>FÜRST FUGGER PRIVATBANK UND IHRE STANDORTE</a:t>
            </a:r>
          </a:p>
        </p:txBody>
      </p:sp>
      <p:sp>
        <p:nvSpPr>
          <p:cNvPr id="3" name="Textplatzhalter 2">
            <a:extLst>
              <a:ext uri="{FF2B5EF4-FFF2-40B4-BE49-F238E27FC236}">
                <a16:creationId xmlns:a16="http://schemas.microsoft.com/office/drawing/2014/main" id="{ECB80284-CCA2-BA4D-AC96-3F110BE2D51C}"/>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1887768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22</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4" name="Textfeld 3">
            <a:extLst>
              <a:ext uri="{FF2B5EF4-FFF2-40B4-BE49-F238E27FC236}">
                <a16:creationId xmlns:a16="http://schemas.microsoft.com/office/drawing/2014/main" id="{CC155EDF-421C-2440-9BC5-EDE77024BB03}"/>
              </a:ext>
            </a:extLst>
          </p:cNvPr>
          <p:cNvSpPr txBox="1"/>
          <p:nvPr/>
        </p:nvSpPr>
        <p:spPr>
          <a:xfrm>
            <a:off x="1724346" y="3706027"/>
            <a:ext cx="2130238" cy="1396536"/>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none" spc="40" baseline="0" dirty="0">
                <a:solidFill>
                  <a:schemeClr val="accent1"/>
                </a:solidFill>
                <a:latin typeface="Noto Sans"/>
                <a:cs typeface="Noto Sans"/>
              </a:rPr>
              <a:t>AUGSBURG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Maximilianstraße 38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86150 Augsburg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0821 32 01 - 999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0821 32 01 - 271</a:t>
            </a:r>
          </a:p>
        </p:txBody>
      </p:sp>
      <p:sp>
        <p:nvSpPr>
          <p:cNvPr id="6" name="Textfeld 5">
            <a:extLst>
              <a:ext uri="{FF2B5EF4-FFF2-40B4-BE49-F238E27FC236}">
                <a16:creationId xmlns:a16="http://schemas.microsoft.com/office/drawing/2014/main" id="{43EE6D5C-BB8F-8443-BA45-3E06266316B5}"/>
              </a:ext>
            </a:extLst>
          </p:cNvPr>
          <p:cNvSpPr txBox="1"/>
          <p:nvPr/>
        </p:nvSpPr>
        <p:spPr>
          <a:xfrm>
            <a:off x="4179174"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Köln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Im Zollhafen 24</a:t>
            </a:r>
          </a:p>
          <a:p>
            <a:pPr marL="36000" indent="0" algn="ctr">
              <a:lnSpc>
                <a:spcPts val="1020"/>
              </a:lnSpc>
              <a:spcBef>
                <a:spcPts val="0"/>
              </a:spcBef>
              <a:spcAft>
                <a:spcPts val="800"/>
              </a:spcAft>
              <a:buFont typeface="Lucida Grande"/>
              <a:buNone/>
            </a:pPr>
            <a:r>
              <a:rPr lang="de-DE" sz="1200" b="0" i="0" cap="none" spc="0" baseline="0">
                <a:solidFill>
                  <a:schemeClr val="accent1"/>
                </a:solidFill>
                <a:latin typeface="Noto Serif"/>
                <a:cs typeface="Noto Serif"/>
              </a:rPr>
              <a:t>50678 </a:t>
            </a:r>
            <a:r>
              <a:rPr lang="de-DE" sz="1200" b="0" i="0" cap="none" spc="0" baseline="0" dirty="0">
                <a:solidFill>
                  <a:schemeClr val="accent1"/>
                </a:solidFill>
                <a:latin typeface="Noto Serif"/>
                <a:cs typeface="Noto Serif"/>
              </a:rPr>
              <a:t>Köln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44 - 20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44 - 95</a:t>
            </a:r>
          </a:p>
        </p:txBody>
      </p:sp>
      <p:sp>
        <p:nvSpPr>
          <p:cNvPr id="7" name="Textfeld 6">
            <a:extLst>
              <a:ext uri="{FF2B5EF4-FFF2-40B4-BE49-F238E27FC236}">
                <a16:creationId xmlns:a16="http://schemas.microsoft.com/office/drawing/2014/main" id="{04FCE2F7-775C-784B-AED6-7282A7A2836B}"/>
              </a:ext>
            </a:extLst>
          </p:cNvPr>
          <p:cNvSpPr txBox="1"/>
          <p:nvPr/>
        </p:nvSpPr>
        <p:spPr>
          <a:xfrm>
            <a:off x="6605568"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Mannheim</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Friedrichsplatz 17</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68165 Mannheim</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0621 43 09 05 - 0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0621 43 09 05 - 90</a:t>
            </a:r>
          </a:p>
        </p:txBody>
      </p:sp>
      <p:grpSp>
        <p:nvGrpSpPr>
          <p:cNvPr id="8" name="Gruppieren 7">
            <a:extLst>
              <a:ext uri="{FF2B5EF4-FFF2-40B4-BE49-F238E27FC236}">
                <a16:creationId xmlns:a16="http://schemas.microsoft.com/office/drawing/2014/main" id="{6C513B55-BADA-FCED-FC8D-3DBC8E238CA1}"/>
              </a:ext>
            </a:extLst>
          </p:cNvPr>
          <p:cNvGrpSpPr/>
          <p:nvPr/>
        </p:nvGrpSpPr>
        <p:grpSpPr>
          <a:xfrm>
            <a:off x="1896896" y="1788403"/>
            <a:ext cx="6645608" cy="1656000"/>
            <a:chOff x="1896896" y="729000"/>
            <a:chExt cx="6645608" cy="1656000"/>
          </a:xfrm>
        </p:grpSpPr>
        <p:pic>
          <p:nvPicPr>
            <p:cNvPr id="9" name="Bild links">
              <a:extLst>
                <a:ext uri="{FF2B5EF4-FFF2-40B4-BE49-F238E27FC236}">
                  <a16:creationId xmlns:a16="http://schemas.microsoft.com/office/drawing/2014/main" id="{5C0489DA-40E3-F844-6DE5-B0406D36BDAB}"/>
                </a:ext>
              </a:extLst>
            </p:cNvPr>
            <p:cNvPicPr>
              <a:picLocks/>
            </p:cNvPicPr>
            <p:nvPr/>
          </p:nvPicPr>
          <p:blipFill>
            <a:blip r:embed="rId2">
              <a:extLst>
                <a:ext uri="{28A0092B-C50C-407E-A947-70E740481C1C}">
                  <a14:useLocalDpi xmlns:a14="http://schemas.microsoft.com/office/drawing/2010/main" val="0"/>
                </a:ext>
              </a:extLst>
            </a:blip>
            <a:srcRect l="16635" r="16635"/>
            <a:stretch>
              <a:fillRect/>
            </a:stretch>
          </p:blipFill>
          <p:spPr>
            <a:xfrm>
              <a:off x="1896896" y="729000"/>
              <a:ext cx="1656000" cy="1656000"/>
            </a:xfrm>
            <a:prstGeom prst="ellipse">
              <a:avLst/>
            </a:prstGeom>
          </p:spPr>
        </p:pic>
        <p:pic>
          <p:nvPicPr>
            <p:cNvPr id="10" name="Bild mitte">
              <a:extLst>
                <a:ext uri="{FF2B5EF4-FFF2-40B4-BE49-F238E27FC236}">
                  <a16:creationId xmlns:a16="http://schemas.microsoft.com/office/drawing/2014/main" id="{AC8797E9-450C-FB37-9811-063C8E0B1F2A}"/>
                </a:ext>
              </a:extLst>
            </p:cNvPr>
            <p:cNvPicPr>
              <a:picLocks/>
            </p:cNvPicPr>
            <p:nvPr/>
          </p:nvPicPr>
          <p:blipFill>
            <a:blip r:embed="rId3">
              <a:extLst>
                <a:ext uri="{28A0092B-C50C-407E-A947-70E740481C1C}">
                  <a14:useLocalDpi xmlns:a14="http://schemas.microsoft.com/office/drawing/2010/main" val="0"/>
                </a:ext>
              </a:extLst>
            </a:blip>
            <a:srcRect l="16699" r="16699"/>
            <a:stretch>
              <a:fillRect/>
            </a:stretch>
          </p:blipFill>
          <p:spPr>
            <a:xfrm>
              <a:off x="4391700" y="729000"/>
              <a:ext cx="1656000" cy="1656000"/>
            </a:xfrm>
            <a:prstGeom prst="ellipse">
              <a:avLst/>
            </a:prstGeom>
          </p:spPr>
        </p:pic>
        <p:pic>
          <p:nvPicPr>
            <p:cNvPr id="11" name="Bild rechts">
              <a:extLst>
                <a:ext uri="{FF2B5EF4-FFF2-40B4-BE49-F238E27FC236}">
                  <a16:creationId xmlns:a16="http://schemas.microsoft.com/office/drawing/2014/main" id="{6552B7C5-280E-3F45-6C29-214223E3ED7E}"/>
                </a:ext>
              </a:extLst>
            </p:cNvPr>
            <p:cNvPicPr>
              <a:picLocks/>
            </p:cNvPicPr>
            <p:nvPr/>
          </p:nvPicPr>
          <p:blipFill>
            <a:blip r:embed="rId4">
              <a:extLst>
                <a:ext uri="{28A0092B-C50C-407E-A947-70E740481C1C}">
                  <a14:useLocalDpi xmlns:a14="http://schemas.microsoft.com/office/drawing/2010/main" val="0"/>
                </a:ext>
              </a:extLst>
            </a:blip>
            <a:srcRect l="14239" r="14239"/>
            <a:stretch>
              <a:fillRect/>
            </a:stretch>
          </p:blipFill>
          <p:spPr>
            <a:xfrm>
              <a:off x="6886504" y="729000"/>
              <a:ext cx="1656000" cy="1656000"/>
            </a:xfrm>
            <a:prstGeom prst="ellipse">
              <a:avLst/>
            </a:prstGeom>
          </p:spPr>
        </p:pic>
      </p:grpSp>
    </p:spTree>
    <p:extLst>
      <p:ext uri="{BB962C8B-B14F-4D97-AF65-F5344CB8AC3E}">
        <p14:creationId xmlns:p14="http://schemas.microsoft.com/office/powerpoint/2010/main" val="533674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23</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12" name="Textfeld 11">
            <a:extLst>
              <a:ext uri="{FF2B5EF4-FFF2-40B4-BE49-F238E27FC236}">
                <a16:creationId xmlns:a16="http://schemas.microsoft.com/office/drawing/2014/main" id="{806F5079-8C17-A748-B4E6-0257C97714B8}"/>
              </a:ext>
            </a:extLst>
          </p:cNvPr>
          <p:cNvSpPr txBox="1"/>
          <p:nvPr/>
        </p:nvSpPr>
        <p:spPr>
          <a:xfrm>
            <a:off x="1600356" y="3696551"/>
            <a:ext cx="237821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München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err="1">
                <a:solidFill>
                  <a:schemeClr val="accent1"/>
                </a:solidFill>
                <a:latin typeface="Noto Serif"/>
                <a:cs typeface="Noto Serif"/>
              </a:rPr>
              <a:t>Prannerstraße</a:t>
            </a:r>
            <a:r>
              <a:rPr lang="de-DE" sz="1200" b="0" i="0" cap="none" spc="0" baseline="0">
                <a:solidFill>
                  <a:schemeClr val="accent1"/>
                </a:solidFill>
                <a:latin typeface="Noto Serif"/>
                <a:cs typeface="Noto Serif"/>
              </a:rPr>
              <a:t> 8</a:t>
            </a:r>
            <a:endParaRPr lang="de-DE" sz="1200" b="0" i="0" cap="none" spc="0" baseline="0" dirty="0">
              <a:solidFill>
                <a:schemeClr val="accent1"/>
              </a:solidFill>
              <a:latin typeface="Noto Serif"/>
              <a:cs typeface="Noto Serif"/>
            </a:endParaRP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80333 München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08929 07 29 - 0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08929 07 29 - 70</a:t>
            </a:r>
          </a:p>
        </p:txBody>
      </p:sp>
      <p:sp>
        <p:nvSpPr>
          <p:cNvPr id="13" name="Textfeld 12">
            <a:extLst>
              <a:ext uri="{FF2B5EF4-FFF2-40B4-BE49-F238E27FC236}">
                <a16:creationId xmlns:a16="http://schemas.microsoft.com/office/drawing/2014/main" id="{CB07010B-B23F-C14D-9B1A-1AB83DCA5AB4}"/>
              </a:ext>
            </a:extLst>
          </p:cNvPr>
          <p:cNvSpPr txBox="1"/>
          <p:nvPr/>
        </p:nvSpPr>
        <p:spPr>
          <a:xfrm>
            <a:off x="4179174"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Nürnberg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Rathenauplatz 2</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90489 Nürnberg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0911 521 25 - 0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0911 521 25 - 550</a:t>
            </a:r>
          </a:p>
        </p:txBody>
      </p:sp>
      <p:sp>
        <p:nvSpPr>
          <p:cNvPr id="14" name="Textfeld 13">
            <a:extLst>
              <a:ext uri="{FF2B5EF4-FFF2-40B4-BE49-F238E27FC236}">
                <a16:creationId xmlns:a16="http://schemas.microsoft.com/office/drawing/2014/main" id="{092A29A7-2788-7749-9732-41F51BAE98E9}"/>
              </a:ext>
            </a:extLst>
          </p:cNvPr>
          <p:cNvSpPr txBox="1"/>
          <p:nvPr/>
        </p:nvSpPr>
        <p:spPr>
          <a:xfrm>
            <a:off x="6605568"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Stuttgart</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Theodor-Heuss-Str. 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70174 Stuttgart</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0711 87 03 59 - 0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0711 87 03 59 - 15</a:t>
            </a:r>
          </a:p>
        </p:txBody>
      </p:sp>
      <p:grpSp>
        <p:nvGrpSpPr>
          <p:cNvPr id="4" name="Gruppieren 3">
            <a:extLst>
              <a:ext uri="{FF2B5EF4-FFF2-40B4-BE49-F238E27FC236}">
                <a16:creationId xmlns:a16="http://schemas.microsoft.com/office/drawing/2014/main" id="{419D86A5-C203-F26D-44FF-7562A9000EDA}"/>
              </a:ext>
            </a:extLst>
          </p:cNvPr>
          <p:cNvGrpSpPr/>
          <p:nvPr/>
        </p:nvGrpSpPr>
        <p:grpSpPr>
          <a:xfrm>
            <a:off x="1961465" y="1797879"/>
            <a:ext cx="6516470" cy="1656000"/>
            <a:chOff x="1961465" y="1776659"/>
            <a:chExt cx="6516470" cy="1656000"/>
          </a:xfrm>
        </p:grpSpPr>
        <p:pic>
          <p:nvPicPr>
            <p:cNvPr id="5" name="Bild rechts">
              <a:extLst>
                <a:ext uri="{FF2B5EF4-FFF2-40B4-BE49-F238E27FC236}">
                  <a16:creationId xmlns:a16="http://schemas.microsoft.com/office/drawing/2014/main" id="{E4764B8B-044C-6FC4-383E-6C1A134DFF6B}"/>
                </a:ext>
              </a:extLst>
            </p:cNvPr>
            <p:cNvPicPr>
              <a:picLocks/>
            </p:cNvPicPr>
            <p:nvPr/>
          </p:nvPicPr>
          <p:blipFill>
            <a:blip r:embed="rId2">
              <a:extLst>
                <a:ext uri="{28A0092B-C50C-407E-A947-70E740481C1C}">
                  <a14:useLocalDpi xmlns:a14="http://schemas.microsoft.com/office/drawing/2010/main" val="0"/>
                </a:ext>
              </a:extLst>
            </a:blip>
            <a:srcRect l="16699" r="16699"/>
            <a:stretch>
              <a:fillRect/>
            </a:stretch>
          </p:blipFill>
          <p:spPr>
            <a:xfrm>
              <a:off x="6821935" y="1776659"/>
              <a:ext cx="1656000" cy="1656000"/>
            </a:xfrm>
            <a:prstGeom prst="ellipse">
              <a:avLst/>
            </a:prstGeom>
          </p:spPr>
        </p:pic>
        <p:pic>
          <p:nvPicPr>
            <p:cNvPr id="6" name="Bild mitte">
              <a:extLst>
                <a:ext uri="{FF2B5EF4-FFF2-40B4-BE49-F238E27FC236}">
                  <a16:creationId xmlns:a16="http://schemas.microsoft.com/office/drawing/2014/main" id="{192D9ACE-BFBE-95A4-7120-8B4341C9DE26}"/>
                </a:ext>
              </a:extLst>
            </p:cNvPr>
            <p:cNvPicPr>
              <a:picLocks/>
            </p:cNvPicPr>
            <p:nvPr/>
          </p:nvPicPr>
          <p:blipFill>
            <a:blip r:embed="rId3">
              <a:extLst>
                <a:ext uri="{28A0092B-C50C-407E-A947-70E740481C1C}">
                  <a14:useLocalDpi xmlns:a14="http://schemas.microsoft.com/office/drawing/2010/main" val="0"/>
                </a:ext>
              </a:extLst>
            </a:blip>
            <a:srcRect l="16661" r="16661"/>
            <a:stretch>
              <a:fillRect/>
            </a:stretch>
          </p:blipFill>
          <p:spPr>
            <a:xfrm>
              <a:off x="4391700" y="1776659"/>
              <a:ext cx="1656000" cy="1656000"/>
            </a:xfrm>
            <a:prstGeom prst="ellipse">
              <a:avLst/>
            </a:prstGeom>
          </p:spPr>
        </p:pic>
        <p:pic>
          <p:nvPicPr>
            <p:cNvPr id="7" name="Bild links">
              <a:extLst>
                <a:ext uri="{FF2B5EF4-FFF2-40B4-BE49-F238E27FC236}">
                  <a16:creationId xmlns:a16="http://schemas.microsoft.com/office/drawing/2014/main" id="{047F1AA1-5181-0602-4FB5-195FC94E7C21}"/>
                </a:ext>
              </a:extLst>
            </p:cNvPr>
            <p:cNvPicPr>
              <a:picLocks/>
            </p:cNvPicPr>
            <p:nvPr/>
          </p:nvPicPr>
          <p:blipFill>
            <a:blip r:embed="rId4">
              <a:extLst>
                <a:ext uri="{28A0092B-C50C-407E-A947-70E740481C1C}">
                  <a14:useLocalDpi xmlns:a14="http://schemas.microsoft.com/office/drawing/2010/main" val="0"/>
                </a:ext>
              </a:extLst>
            </a:blip>
            <a:srcRect l="16629" r="16629"/>
            <a:stretch>
              <a:fillRect/>
            </a:stretch>
          </p:blipFill>
          <p:spPr>
            <a:xfrm>
              <a:off x="1961465" y="1776659"/>
              <a:ext cx="1656000" cy="1656000"/>
            </a:xfrm>
            <a:prstGeom prst="ellipse">
              <a:avLst/>
            </a:prstGeom>
          </p:spPr>
        </p:pic>
      </p:grpSp>
    </p:spTree>
    <p:extLst>
      <p:ext uri="{BB962C8B-B14F-4D97-AF65-F5344CB8AC3E}">
        <p14:creationId xmlns:p14="http://schemas.microsoft.com/office/powerpoint/2010/main" val="28481374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CD8A6D2-5907-5645-B842-365A15B542E5}"/>
              </a:ext>
            </a:extLst>
          </p:cNvPr>
          <p:cNvSpPr>
            <a:spLocks noGrp="1"/>
          </p:cNvSpPr>
          <p:nvPr>
            <p:ph type="body" sz="quarter" idx="10"/>
          </p:nvPr>
        </p:nvSpPr>
        <p:spPr/>
        <p:txBody>
          <a:bodyPr/>
          <a:lstStyle/>
          <a:p>
            <a:r>
              <a:rPr lang="de-DE" dirty="0"/>
              <a:t>ANLAGE</a:t>
            </a:r>
          </a:p>
        </p:txBody>
      </p:sp>
      <p:sp>
        <p:nvSpPr>
          <p:cNvPr id="3" name="Textplatzhalter 2">
            <a:extLst>
              <a:ext uri="{FF2B5EF4-FFF2-40B4-BE49-F238E27FC236}">
                <a16:creationId xmlns:a16="http://schemas.microsoft.com/office/drawing/2014/main" id="{76E093EA-4A69-8545-951A-A23B1BFC1A3A}"/>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32471122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25</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sz="1100" b="0" dirty="0">
                <a:solidFill>
                  <a:schemeClr val="accent1"/>
                </a:solidFill>
                <a:latin typeface="+mj-lt"/>
              </a:rPr>
              <a:t>Die Kombination verschiedener Anlageklassen – je nach individueller Risikobereitschaft – ermöglicht eine valide Portfoliodiversifikation, mit dem Ziel, auftretenden Marktvolatilitäten entgegenzuwirken. Dies kann durch unterschiedliche Finanzinstrumente erfolgen.  </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Anlageklassen und Ausgestaltung</a:t>
            </a:r>
          </a:p>
        </p:txBody>
      </p:sp>
      <p:graphicFrame>
        <p:nvGraphicFramePr>
          <p:cNvPr id="8" name="Tabelle 6">
            <a:extLst>
              <a:ext uri="{FF2B5EF4-FFF2-40B4-BE49-F238E27FC236}">
                <a16:creationId xmlns:a16="http://schemas.microsoft.com/office/drawing/2014/main" id="{E76E2850-91AE-F549-801B-B0DFAD1D6372}"/>
              </a:ext>
            </a:extLst>
          </p:cNvPr>
          <p:cNvGraphicFramePr>
            <a:graphicFrameLocks/>
          </p:cNvGraphicFramePr>
          <p:nvPr>
            <p:extLst>
              <p:ext uri="{D42A27DB-BD31-4B8C-83A1-F6EECF244321}">
                <p14:modId xmlns:p14="http://schemas.microsoft.com/office/powerpoint/2010/main" val="1136580470"/>
              </p:ext>
            </p:extLst>
          </p:nvPr>
        </p:nvGraphicFramePr>
        <p:xfrm>
          <a:off x="3671888" y="1041400"/>
          <a:ext cx="6468103" cy="3656012"/>
        </p:xfrm>
        <a:graphic>
          <a:graphicData uri="http://schemas.openxmlformats.org/drawingml/2006/table">
            <a:tbl>
              <a:tblPr firstRow="1" bandRow="1">
                <a:tableStyleId>{5C22544A-7EE6-4342-B048-85BDC9FD1C3A}</a:tableStyleId>
              </a:tblPr>
              <a:tblGrid>
                <a:gridCol w="2771511">
                  <a:extLst>
                    <a:ext uri="{9D8B030D-6E8A-4147-A177-3AD203B41FA5}">
                      <a16:colId xmlns:a16="http://schemas.microsoft.com/office/drawing/2014/main" val="936113419"/>
                    </a:ext>
                  </a:extLst>
                </a:gridCol>
                <a:gridCol w="3696592">
                  <a:extLst>
                    <a:ext uri="{9D8B030D-6E8A-4147-A177-3AD203B41FA5}">
                      <a16:colId xmlns:a16="http://schemas.microsoft.com/office/drawing/2014/main" val="798533310"/>
                    </a:ext>
                  </a:extLst>
                </a:gridCol>
              </a:tblGrid>
              <a:tr h="369756">
                <a:tc>
                  <a:txBody>
                    <a:bodyPr/>
                    <a:lstStyle/>
                    <a:p>
                      <a:pPr algn="l"/>
                      <a:r>
                        <a:rPr lang="de-DE" sz="1100" dirty="0">
                          <a:latin typeface="+mn-lt"/>
                        </a:rPr>
                        <a:t>Anlageklasse </a:t>
                      </a:r>
                    </a:p>
                  </a:txBody>
                  <a:tcPr marL="98466" marR="98466" marT="49233" marB="49233"/>
                </a:tc>
                <a:tc>
                  <a:txBody>
                    <a:bodyPr/>
                    <a:lstStyle/>
                    <a:p>
                      <a:pPr algn="l"/>
                      <a:r>
                        <a:rPr lang="de-DE" sz="1100" dirty="0">
                          <a:latin typeface="+mn-lt"/>
                        </a:rPr>
                        <a:t>Anlagelösung</a:t>
                      </a:r>
                    </a:p>
                  </a:txBody>
                  <a:tcPr marL="98466" marR="98466" marT="49233" marB="49233"/>
                </a:tc>
                <a:extLst>
                  <a:ext uri="{0D108BD9-81ED-4DB2-BD59-A6C34878D82A}">
                    <a16:rowId xmlns:a16="http://schemas.microsoft.com/office/drawing/2014/main" val="335809345"/>
                  </a:ext>
                </a:extLst>
              </a:tr>
              <a:tr h="403186">
                <a:tc>
                  <a:txBody>
                    <a:bodyPr/>
                    <a:lstStyle/>
                    <a:p>
                      <a:pPr algn="l"/>
                      <a:r>
                        <a:rPr lang="de-DE" sz="1100" dirty="0">
                          <a:solidFill>
                            <a:schemeClr val="accent1"/>
                          </a:solidFill>
                          <a:latin typeface="+mn-lt"/>
                        </a:rPr>
                        <a:t>Liquidität</a:t>
                      </a:r>
                    </a:p>
                  </a:txBody>
                  <a:tcPr marL="98466" marR="98466" marT="49233" marB="49233">
                    <a:noFill/>
                  </a:tcPr>
                </a:tc>
                <a:tc>
                  <a:txBody>
                    <a:bodyPr/>
                    <a:lstStyle/>
                    <a:p>
                      <a:pPr marL="171450" indent="-171450" algn="l">
                        <a:buFont typeface="Arial" panose="020B0604020202020204" pitchFamily="34" charset="0"/>
                        <a:buChar char="•"/>
                      </a:pPr>
                      <a:r>
                        <a:rPr lang="de-DE" sz="1100" dirty="0" err="1">
                          <a:solidFill>
                            <a:schemeClr val="accent1"/>
                          </a:solidFill>
                          <a:latin typeface="+mn-lt"/>
                        </a:rPr>
                        <a:t>Cashbestand</a:t>
                      </a:r>
                      <a:r>
                        <a:rPr lang="de-DE" sz="1100" dirty="0">
                          <a:solidFill>
                            <a:schemeClr val="accent1"/>
                          </a:solidFill>
                          <a:latin typeface="+mn-lt"/>
                        </a:rPr>
                        <a:t>/Kontoguthaben</a:t>
                      </a:r>
                    </a:p>
                  </a:txBody>
                  <a:tcPr marL="98466" marR="98466" marT="49233" marB="49233">
                    <a:noFill/>
                  </a:tcPr>
                </a:tc>
                <a:extLst>
                  <a:ext uri="{0D108BD9-81ED-4DB2-BD59-A6C34878D82A}">
                    <a16:rowId xmlns:a16="http://schemas.microsoft.com/office/drawing/2014/main" val="1873629640"/>
                  </a:ext>
                </a:extLst>
              </a:tr>
              <a:tr h="1100874">
                <a:tc>
                  <a:txBody>
                    <a:bodyPr/>
                    <a:lstStyle/>
                    <a:p>
                      <a:pPr algn="l"/>
                      <a:r>
                        <a:rPr lang="de-DE" sz="1100" dirty="0">
                          <a:solidFill>
                            <a:schemeClr val="accent1"/>
                          </a:solidFill>
                          <a:latin typeface="+mn-lt"/>
                        </a:rPr>
                        <a:t>Anleihen</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Staatsanleihen</a:t>
                      </a:r>
                    </a:p>
                    <a:p>
                      <a:pPr marL="171450" indent="-171450" algn="l">
                        <a:buFont typeface="Arial" panose="020B0604020202020204" pitchFamily="34" charset="0"/>
                        <a:buChar char="•"/>
                      </a:pPr>
                      <a:r>
                        <a:rPr lang="de-DE" sz="1100" dirty="0">
                          <a:solidFill>
                            <a:schemeClr val="accent1"/>
                          </a:solidFill>
                          <a:latin typeface="+mn-lt"/>
                        </a:rPr>
                        <a:t>Pfandbriefe</a:t>
                      </a:r>
                    </a:p>
                    <a:p>
                      <a:pPr marL="171450" indent="-171450" algn="l">
                        <a:buFont typeface="Arial" panose="020B0604020202020204" pitchFamily="34" charset="0"/>
                        <a:buChar char="•"/>
                      </a:pPr>
                      <a:r>
                        <a:rPr lang="de-DE" sz="1100" dirty="0">
                          <a:solidFill>
                            <a:schemeClr val="accent1"/>
                          </a:solidFill>
                          <a:latin typeface="+mn-lt"/>
                        </a:rPr>
                        <a:t>Unternehmens-/Bankanleihen</a:t>
                      </a:r>
                    </a:p>
                    <a:p>
                      <a:pPr marL="171450" indent="-171450" algn="l">
                        <a:buFont typeface="Arial" panose="020B0604020202020204" pitchFamily="34" charset="0"/>
                        <a:buChar char="•"/>
                      </a:pPr>
                      <a:r>
                        <a:rPr lang="de-DE" sz="1100" dirty="0">
                          <a:solidFill>
                            <a:schemeClr val="accent1"/>
                          </a:solidFill>
                          <a:latin typeface="+mn-lt"/>
                        </a:rPr>
                        <a:t>Strukturierte Anleihen</a:t>
                      </a:r>
                    </a:p>
                    <a:p>
                      <a:pPr marL="171450" indent="-171450" algn="l">
                        <a:buFont typeface="Arial" panose="020B0604020202020204" pitchFamily="34" charset="0"/>
                        <a:buChar char="•"/>
                      </a:pPr>
                      <a:r>
                        <a:rPr lang="de-DE" sz="1100" dirty="0">
                          <a:solidFill>
                            <a:schemeClr val="accent1"/>
                          </a:solidFill>
                          <a:latin typeface="+mn-lt"/>
                        </a:rPr>
                        <a:t>Investmentfonds (Sonderthemen)</a:t>
                      </a:r>
                    </a:p>
                  </a:txBody>
                  <a:tcPr marL="98466" marR="98466" marT="49233" marB="49233">
                    <a:solidFill>
                      <a:schemeClr val="bg1">
                        <a:lumMod val="95000"/>
                      </a:schemeClr>
                    </a:solidFill>
                  </a:tcPr>
                </a:tc>
                <a:extLst>
                  <a:ext uri="{0D108BD9-81ED-4DB2-BD59-A6C34878D82A}">
                    <a16:rowId xmlns:a16="http://schemas.microsoft.com/office/drawing/2014/main" val="528536032"/>
                  </a:ext>
                </a:extLst>
              </a:tr>
              <a:tr h="874122">
                <a:tc>
                  <a:txBody>
                    <a:bodyPr/>
                    <a:lstStyle/>
                    <a:p>
                      <a:pPr algn="l"/>
                      <a:r>
                        <a:rPr lang="de-DE" sz="1100" dirty="0">
                          <a:solidFill>
                            <a:schemeClr val="accent1"/>
                          </a:solidFill>
                          <a:latin typeface="+mn-lt"/>
                        </a:rPr>
                        <a:t>Aktien</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Einzeltitel</a:t>
                      </a:r>
                    </a:p>
                    <a:p>
                      <a:pPr marL="171450" indent="-171450" algn="l">
                        <a:buFont typeface="Arial" panose="020B0604020202020204" pitchFamily="34" charset="0"/>
                        <a:buChar char="•"/>
                      </a:pPr>
                      <a:r>
                        <a:rPr lang="de-DE" sz="1100" dirty="0">
                          <a:solidFill>
                            <a:schemeClr val="accent1"/>
                          </a:solidFill>
                          <a:latin typeface="+mn-lt"/>
                        </a:rPr>
                        <a:t>ETFs</a:t>
                      </a:r>
                    </a:p>
                    <a:p>
                      <a:pPr marL="171450" indent="-171450" algn="l">
                        <a:buFont typeface="Arial" panose="020B0604020202020204" pitchFamily="34" charset="0"/>
                        <a:buChar char="•"/>
                      </a:pPr>
                      <a:r>
                        <a:rPr lang="de-DE" sz="1100" dirty="0">
                          <a:solidFill>
                            <a:schemeClr val="accent1"/>
                          </a:solidFill>
                          <a:latin typeface="+mn-lt"/>
                        </a:rPr>
                        <a:t>Investmentfonds (Sonderthemen) </a:t>
                      </a:r>
                    </a:p>
                    <a:p>
                      <a:pPr marL="171450" indent="-171450" algn="l">
                        <a:buFont typeface="Arial" panose="020B0604020202020204" pitchFamily="34" charset="0"/>
                        <a:buChar char="•"/>
                      </a:pPr>
                      <a:r>
                        <a:rPr lang="de-DE" sz="1100" dirty="0">
                          <a:solidFill>
                            <a:schemeClr val="accent1"/>
                          </a:solidFill>
                          <a:latin typeface="+mn-lt"/>
                        </a:rPr>
                        <a:t>Rohstoffaktien</a:t>
                      </a:r>
                    </a:p>
                  </a:txBody>
                  <a:tcPr marL="98466" marR="98466" marT="49233" marB="49233">
                    <a:noFill/>
                  </a:tcPr>
                </a:tc>
                <a:extLst>
                  <a:ext uri="{0D108BD9-81ED-4DB2-BD59-A6C34878D82A}">
                    <a16:rowId xmlns:a16="http://schemas.microsoft.com/office/drawing/2014/main" val="93224363"/>
                  </a:ext>
                </a:extLst>
              </a:tr>
              <a:tr h="536741">
                <a:tc>
                  <a:txBody>
                    <a:bodyPr/>
                    <a:lstStyle/>
                    <a:p>
                      <a:pPr algn="l"/>
                      <a:r>
                        <a:rPr lang="de-DE" sz="1100" dirty="0">
                          <a:solidFill>
                            <a:schemeClr val="accent1"/>
                          </a:solidFill>
                          <a:latin typeface="+mn-lt"/>
                        </a:rPr>
                        <a:t>Risikoadjustierte Produkte</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Discountzertifikate</a:t>
                      </a:r>
                    </a:p>
                    <a:p>
                      <a:pPr marL="171450" indent="-171450" algn="l">
                        <a:buFont typeface="Arial" panose="020B0604020202020204" pitchFamily="34" charset="0"/>
                        <a:buChar char="•"/>
                      </a:pPr>
                      <a:r>
                        <a:rPr lang="de-DE" sz="1100" dirty="0">
                          <a:solidFill>
                            <a:schemeClr val="accent1"/>
                          </a:solidFill>
                          <a:latin typeface="+mn-lt"/>
                        </a:rPr>
                        <a:t>Aktienanleihen</a:t>
                      </a:r>
                    </a:p>
                  </a:txBody>
                  <a:tcPr marL="98466" marR="98466" marT="49233" marB="49233">
                    <a:solidFill>
                      <a:schemeClr val="bg1">
                        <a:lumMod val="95000"/>
                      </a:schemeClr>
                    </a:solidFill>
                  </a:tcPr>
                </a:tc>
                <a:extLst>
                  <a:ext uri="{0D108BD9-81ED-4DB2-BD59-A6C34878D82A}">
                    <a16:rowId xmlns:a16="http://schemas.microsoft.com/office/drawing/2014/main" val="2867354792"/>
                  </a:ext>
                </a:extLst>
              </a:tr>
              <a:tr h="371333">
                <a:tc>
                  <a:txBody>
                    <a:bodyPr/>
                    <a:lstStyle/>
                    <a:p>
                      <a:pPr algn="l"/>
                      <a:r>
                        <a:rPr lang="de-DE" sz="1100" dirty="0">
                          <a:solidFill>
                            <a:schemeClr val="accent1"/>
                          </a:solidFill>
                          <a:latin typeface="+mn-lt"/>
                        </a:rPr>
                        <a:t>Edelmetalle</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ETCs auf Edelmetalle</a:t>
                      </a:r>
                    </a:p>
                  </a:txBody>
                  <a:tcPr marL="98466" marR="98466" marT="49233" marB="49233">
                    <a:noFill/>
                  </a:tcPr>
                </a:tc>
                <a:extLst>
                  <a:ext uri="{0D108BD9-81ED-4DB2-BD59-A6C34878D82A}">
                    <a16:rowId xmlns:a16="http://schemas.microsoft.com/office/drawing/2014/main" val="1050036542"/>
                  </a:ext>
                </a:extLst>
              </a:tr>
            </a:tbl>
          </a:graphicData>
        </a:graphic>
      </p:graphicFrame>
    </p:spTree>
    <p:extLst>
      <p:ext uri="{BB962C8B-B14F-4D97-AF65-F5344CB8AC3E}">
        <p14:creationId xmlns:p14="http://schemas.microsoft.com/office/powerpoint/2010/main" val="5244337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26</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b="0" dirty="0">
                <a:solidFill>
                  <a:schemeClr val="accent1"/>
                </a:solidFill>
                <a:latin typeface="+mj-lt"/>
              </a:rPr>
              <a:t>Zu einer guten Vermögensverwaltung gehört auch ein konsequentes Risikomanagement. Gerade in turbulenten Marktphasen ist es wichtig, über Prozesse, Entscheidungskriterien und Ablaufpläne zu verfügen, die nahtlos ineinander greifen und dabei helfen, Ihr Vermögen zu schützen. Selbstverständlich nutzen wir dafür eine Palette gängiger Risikomanagementinstrumente, und überwachen Ihr Portfolio fortwährend nach Risikopositionen und Gefahrenquellen. Unser Risikomanagement ist integriert in allen Ebenen des Investmentprozesses und hilft uns dabei eine kontinuierliche Wertentwicklung Ihres Vermögens bei niedriger Schwankungsanfälligkeit sicherzustellen.</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Unser Risikomanagement</a:t>
            </a:r>
          </a:p>
        </p:txBody>
      </p:sp>
      <p:graphicFrame>
        <p:nvGraphicFramePr>
          <p:cNvPr id="6" name="Tabelle 6">
            <a:extLst>
              <a:ext uri="{FF2B5EF4-FFF2-40B4-BE49-F238E27FC236}">
                <a16:creationId xmlns:a16="http://schemas.microsoft.com/office/drawing/2014/main" id="{41FF7687-C208-E142-9348-792D5D220B92}"/>
              </a:ext>
            </a:extLst>
          </p:cNvPr>
          <p:cNvGraphicFramePr>
            <a:graphicFrameLocks/>
          </p:cNvGraphicFramePr>
          <p:nvPr>
            <p:extLst>
              <p:ext uri="{D42A27DB-BD31-4B8C-83A1-F6EECF244321}">
                <p14:modId xmlns:p14="http://schemas.microsoft.com/office/powerpoint/2010/main" val="2023876130"/>
              </p:ext>
            </p:extLst>
          </p:nvPr>
        </p:nvGraphicFramePr>
        <p:xfrm>
          <a:off x="3671888" y="1084314"/>
          <a:ext cx="6443662" cy="3613099"/>
        </p:xfrm>
        <a:graphic>
          <a:graphicData uri="http://schemas.openxmlformats.org/drawingml/2006/table">
            <a:tbl>
              <a:tblPr firstRow="1" bandRow="1">
                <a:tableStyleId>{5C22544A-7EE6-4342-B048-85BDC9FD1C3A}</a:tableStyleId>
              </a:tblPr>
              <a:tblGrid>
                <a:gridCol w="3249074">
                  <a:extLst>
                    <a:ext uri="{9D8B030D-6E8A-4147-A177-3AD203B41FA5}">
                      <a16:colId xmlns:a16="http://schemas.microsoft.com/office/drawing/2014/main" val="2926041861"/>
                    </a:ext>
                  </a:extLst>
                </a:gridCol>
                <a:gridCol w="3194588">
                  <a:extLst>
                    <a:ext uri="{9D8B030D-6E8A-4147-A177-3AD203B41FA5}">
                      <a16:colId xmlns:a16="http://schemas.microsoft.com/office/drawing/2014/main" val="562842418"/>
                    </a:ext>
                  </a:extLst>
                </a:gridCol>
              </a:tblGrid>
              <a:tr h="624747">
                <a:tc>
                  <a:txBody>
                    <a:bodyPr/>
                    <a:lstStyle/>
                    <a:p>
                      <a:endParaRPr lang="de-DE" sz="1100" b="0" dirty="0">
                        <a:solidFill>
                          <a:srgbClr val="1A314C"/>
                        </a:solidFill>
                      </a:endParaRPr>
                    </a:p>
                    <a:p>
                      <a:r>
                        <a:rPr lang="de-DE" sz="1100" b="0" dirty="0">
                          <a:solidFill>
                            <a:srgbClr val="1A314C"/>
                          </a:solidFill>
                        </a:rPr>
                        <a:t>Kursänderungsrisiko                                </a:t>
                      </a:r>
                    </a:p>
                  </a:txBody>
                  <a:tcPr>
                    <a:lnB w="12700" cap="flat" cmpd="sng" algn="ctr">
                      <a:solidFill>
                        <a:schemeClr val="tx1"/>
                      </a:solidFill>
                      <a:prstDash val="solid"/>
                      <a:round/>
                      <a:headEnd type="none" w="med" len="med"/>
                      <a:tailEnd type="none" w="med" len="med"/>
                    </a:lnB>
                    <a:solidFill>
                      <a:srgbClr val="FFFFFF"/>
                    </a:solidFill>
                  </a:tcPr>
                </a:tc>
                <a:tc>
                  <a:txBody>
                    <a:bodyPr/>
                    <a:lstStyle/>
                    <a:p>
                      <a:r>
                        <a:rPr lang="de-DE" sz="1100" b="0" dirty="0">
                          <a:solidFill>
                            <a:srgbClr val="1A314C"/>
                          </a:solidFill>
                        </a:rPr>
                        <a:t>Stopp-Loss-Strategie, in unsicheren Marktphasen enge, konsequenten </a:t>
                      </a:r>
                      <a:br>
                        <a:rPr lang="de-DE" sz="1100" b="0" dirty="0">
                          <a:solidFill>
                            <a:srgbClr val="1A314C"/>
                          </a:solidFill>
                        </a:rPr>
                      </a:br>
                      <a:r>
                        <a:rPr lang="de-DE" sz="1100" b="0" dirty="0">
                          <a:solidFill>
                            <a:srgbClr val="1A314C"/>
                          </a:solidFill>
                        </a:rPr>
                        <a:t>und aktive Strategie</a:t>
                      </a:r>
                    </a:p>
                  </a:txBody>
                  <a:tcPr anchor="ct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0613130"/>
                  </a:ext>
                </a:extLst>
              </a:tr>
              <a:tr h="949501">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Bonitäts-/Emittentenrisiko</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Hauptsächliche Investition in Titel im Investment Grade, kontinuierliche Überwachung der einzelnen Emittenten, konkrete Meinung zu jedem Emittenten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1993817"/>
                  </a:ext>
                </a:extLst>
              </a:tr>
              <a:tr h="637445">
                <a:tc>
                  <a:txBody>
                    <a:bodyPr/>
                    <a:lstStyle/>
                    <a:p>
                      <a:r>
                        <a:rPr lang="de-DE" sz="1100" dirty="0">
                          <a:solidFill>
                            <a:srgbClr val="1A314C"/>
                          </a:solidFill>
                        </a:rPr>
                        <a:t>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Breite und global-orientierte Diversifikation reduziert das Einzelwährungsrisiko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190649648"/>
                  </a:ext>
                </a:extLst>
              </a:tr>
              <a:tr h="465631">
                <a:tc>
                  <a:txBody>
                    <a:bodyPr/>
                    <a:lstStyle/>
                    <a:p>
                      <a:r>
                        <a:rPr lang="de-DE" sz="1100" dirty="0">
                          <a:solidFill>
                            <a:srgbClr val="1A314C"/>
                          </a:solidFill>
                        </a:rPr>
                        <a:t>Zinsänderungsrisiko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Aktives Zins- und Laufzeitmanagement (</a:t>
                      </a:r>
                      <a:r>
                        <a:rPr lang="de-DE" sz="1100" dirty="0" err="1">
                          <a:solidFill>
                            <a:srgbClr val="1A314C"/>
                          </a:solidFill>
                        </a:rPr>
                        <a:t>Durationsmanagement</a:t>
                      </a:r>
                      <a:r>
                        <a:rPr lang="de-DE" sz="1100" dirty="0">
                          <a:solidFill>
                            <a:srgbClr val="1A314C"/>
                          </a:solidFill>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77554919"/>
                  </a:ext>
                </a:extLst>
              </a:tr>
              <a:tr h="935775">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Liquiditätsrisiko</a:t>
                      </a:r>
                    </a:p>
                  </a:txBody>
                  <a:tcPr>
                    <a:lnT w="12700" cap="flat" cmpd="sng" algn="ctr">
                      <a:solidFill>
                        <a:schemeClr val="tx1"/>
                      </a:solidFill>
                      <a:prstDash val="solid"/>
                      <a:round/>
                      <a:headEnd type="none" w="med" len="med"/>
                      <a:tailEnd type="none" w="med" len="med"/>
                    </a:lnT>
                    <a:solidFill>
                      <a:srgbClr val="FFFFFF"/>
                    </a:solidFill>
                  </a:tcPr>
                </a:tc>
                <a:tc>
                  <a:txBody>
                    <a:bodyPr/>
                    <a:lstStyle/>
                    <a:p>
                      <a:r>
                        <a:rPr lang="de-DE" sz="1100" dirty="0">
                          <a:solidFill>
                            <a:srgbClr val="1A314C"/>
                          </a:solidFill>
                        </a:rPr>
                        <a:t>Wir investieren ausschließlich in liquide Anlagen, geschlossene oder beschränkt-verfügbare Produkte werden nicht </a:t>
                      </a:r>
                    </a:p>
                    <a:p>
                      <a:r>
                        <a:rPr lang="de-DE" sz="1100" dirty="0">
                          <a:solidFill>
                            <a:srgbClr val="1A314C"/>
                          </a:solidFill>
                        </a:rPr>
                        <a:t>erworben</a:t>
                      </a:r>
                    </a:p>
                  </a:txBody>
                  <a:tcPr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2430660365"/>
                  </a:ext>
                </a:extLst>
              </a:tr>
            </a:tbl>
          </a:graphicData>
        </a:graphic>
      </p:graphicFrame>
      <p:pic>
        <p:nvPicPr>
          <p:cNvPr id="9" name="Grafik 8">
            <a:extLst>
              <a:ext uri="{FF2B5EF4-FFF2-40B4-BE49-F238E27FC236}">
                <a16:creationId xmlns:a16="http://schemas.microsoft.com/office/drawing/2014/main" id="{3995B83B-6815-1643-9A07-10D00AA8D1D7}"/>
              </a:ext>
            </a:extLst>
          </p:cNvPr>
          <p:cNvPicPr>
            <a:picLocks noChangeAspect="1"/>
          </p:cNvPicPr>
          <p:nvPr/>
        </p:nvPicPr>
        <p:blipFill>
          <a:blip r:embed="rId2"/>
          <a:stretch>
            <a:fillRect/>
          </a:stretch>
        </p:blipFill>
        <p:spPr>
          <a:xfrm>
            <a:off x="6360379" y="1273973"/>
            <a:ext cx="228600" cy="209550"/>
          </a:xfrm>
          <a:prstGeom prst="rect">
            <a:avLst/>
          </a:prstGeom>
        </p:spPr>
      </p:pic>
      <p:pic>
        <p:nvPicPr>
          <p:cNvPr id="10" name="Grafik 9">
            <a:extLst>
              <a:ext uri="{FF2B5EF4-FFF2-40B4-BE49-F238E27FC236}">
                <a16:creationId xmlns:a16="http://schemas.microsoft.com/office/drawing/2014/main" id="{4AEE4103-808A-EF4F-803D-6EE049944D01}"/>
              </a:ext>
            </a:extLst>
          </p:cNvPr>
          <p:cNvPicPr>
            <a:picLocks noChangeAspect="1"/>
          </p:cNvPicPr>
          <p:nvPr/>
        </p:nvPicPr>
        <p:blipFill>
          <a:blip r:embed="rId2"/>
          <a:stretch>
            <a:fillRect/>
          </a:stretch>
        </p:blipFill>
        <p:spPr>
          <a:xfrm>
            <a:off x="6360379" y="2047631"/>
            <a:ext cx="228600" cy="209550"/>
          </a:xfrm>
          <a:prstGeom prst="rect">
            <a:avLst/>
          </a:prstGeom>
        </p:spPr>
      </p:pic>
      <p:pic>
        <p:nvPicPr>
          <p:cNvPr id="11" name="Grafik 10">
            <a:extLst>
              <a:ext uri="{FF2B5EF4-FFF2-40B4-BE49-F238E27FC236}">
                <a16:creationId xmlns:a16="http://schemas.microsoft.com/office/drawing/2014/main" id="{1A5D1D36-CCE0-014D-AF10-EC28B9A5764C}"/>
              </a:ext>
            </a:extLst>
          </p:cNvPr>
          <p:cNvPicPr>
            <a:picLocks noChangeAspect="1"/>
          </p:cNvPicPr>
          <p:nvPr/>
        </p:nvPicPr>
        <p:blipFill>
          <a:blip r:embed="rId2"/>
          <a:stretch>
            <a:fillRect/>
          </a:stretch>
        </p:blipFill>
        <p:spPr>
          <a:xfrm>
            <a:off x="6370327" y="2847971"/>
            <a:ext cx="228600" cy="209550"/>
          </a:xfrm>
          <a:prstGeom prst="rect">
            <a:avLst/>
          </a:prstGeom>
        </p:spPr>
      </p:pic>
      <p:pic>
        <p:nvPicPr>
          <p:cNvPr id="12" name="Grafik 11">
            <a:extLst>
              <a:ext uri="{FF2B5EF4-FFF2-40B4-BE49-F238E27FC236}">
                <a16:creationId xmlns:a16="http://schemas.microsoft.com/office/drawing/2014/main" id="{385AB819-FDA6-5F47-8B33-7ED9CFDCA106}"/>
              </a:ext>
            </a:extLst>
          </p:cNvPr>
          <p:cNvPicPr>
            <a:picLocks noChangeAspect="1"/>
          </p:cNvPicPr>
          <p:nvPr/>
        </p:nvPicPr>
        <p:blipFill>
          <a:blip r:embed="rId2"/>
          <a:stretch>
            <a:fillRect/>
          </a:stretch>
        </p:blipFill>
        <p:spPr>
          <a:xfrm>
            <a:off x="6370327" y="3438761"/>
            <a:ext cx="228600" cy="209550"/>
          </a:xfrm>
          <a:prstGeom prst="rect">
            <a:avLst/>
          </a:prstGeom>
        </p:spPr>
      </p:pic>
      <p:pic>
        <p:nvPicPr>
          <p:cNvPr id="13" name="Grafik 12">
            <a:extLst>
              <a:ext uri="{FF2B5EF4-FFF2-40B4-BE49-F238E27FC236}">
                <a16:creationId xmlns:a16="http://schemas.microsoft.com/office/drawing/2014/main" id="{06EAE3EB-F04A-7C47-B2FC-F45383CB5EAC}"/>
              </a:ext>
            </a:extLst>
          </p:cNvPr>
          <p:cNvPicPr>
            <a:picLocks noChangeAspect="1"/>
          </p:cNvPicPr>
          <p:nvPr/>
        </p:nvPicPr>
        <p:blipFill>
          <a:blip r:embed="rId2"/>
          <a:stretch>
            <a:fillRect/>
          </a:stretch>
        </p:blipFill>
        <p:spPr>
          <a:xfrm>
            <a:off x="6370327" y="4092146"/>
            <a:ext cx="228600" cy="209550"/>
          </a:xfrm>
          <a:prstGeom prst="rect">
            <a:avLst/>
          </a:prstGeom>
        </p:spPr>
      </p:pic>
    </p:spTree>
    <p:extLst>
      <p:ext uri="{BB962C8B-B14F-4D97-AF65-F5344CB8AC3E}">
        <p14:creationId xmlns:p14="http://schemas.microsoft.com/office/powerpoint/2010/main" val="1283139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CF1D031-CBB6-FD9D-F9E6-3D1B479045DA}"/>
              </a:ext>
            </a:extLst>
          </p:cNvPr>
          <p:cNvSpPr>
            <a:spLocks noGrp="1"/>
          </p:cNvSpPr>
          <p:nvPr>
            <p:ph type="sldNum" sz="quarter" idx="12"/>
          </p:nvPr>
        </p:nvSpPr>
        <p:spPr/>
        <p:txBody>
          <a:bodyPr/>
          <a:lstStyle/>
          <a:p>
            <a:fld id="{3AE71D6B-ACB6-4F4C-A895-DCAEF1760EAA}" type="slidenum">
              <a:rPr lang="de-DE" smtClean="0"/>
              <a:t>27</a:t>
            </a:fld>
            <a:endParaRPr lang="de-DE"/>
          </a:p>
        </p:txBody>
      </p:sp>
      <p:sp>
        <p:nvSpPr>
          <p:cNvPr id="3" name="Inhaltsplatzhalter 2">
            <a:extLst>
              <a:ext uri="{FF2B5EF4-FFF2-40B4-BE49-F238E27FC236}">
                <a16:creationId xmlns:a16="http://schemas.microsoft.com/office/drawing/2014/main" id="{5F05450D-2EA3-036E-8347-A8044FF79161}"/>
              </a:ext>
            </a:extLst>
          </p:cNvPr>
          <p:cNvSpPr>
            <a:spLocks noGrp="1"/>
          </p:cNvSpPr>
          <p:nvPr>
            <p:ph idx="1"/>
          </p:nvPr>
        </p:nvSpPr>
        <p:spPr/>
        <p:txBody>
          <a:bodyPr/>
          <a:lstStyle/>
          <a:p>
            <a:pPr>
              <a:spcAft>
                <a:spcPts val="0"/>
              </a:spcAft>
            </a:pPr>
            <a:r>
              <a:rPr lang="de-DE" dirty="0"/>
              <a:t>Vermögensverwaltungsbericht</a:t>
            </a:r>
          </a:p>
          <a:p>
            <a:pPr>
              <a:spcBef>
                <a:spcPts val="400"/>
              </a:spcBef>
            </a:pPr>
            <a:r>
              <a:rPr lang="de-DE" b="0" dirty="0"/>
              <a:t>Wir stellen Ihnen mindestens quartalsweise einen detaillierten und transparenten Vermögensverwaltungs-bericht zur Verfügung.  Folgende Bestandteile sind in dem Bericht enthalten:</a:t>
            </a:r>
          </a:p>
          <a:p>
            <a:pPr marL="171450" indent="-171450">
              <a:spcBef>
                <a:spcPts val="200"/>
              </a:spcBef>
              <a:buFont typeface="Arial" panose="020B0604020202020204" pitchFamily="34" charset="0"/>
              <a:buChar char="•"/>
            </a:pPr>
            <a:r>
              <a:rPr lang="de-DE" b="0" dirty="0"/>
              <a:t>Lagebericht</a:t>
            </a:r>
          </a:p>
          <a:p>
            <a:pPr marL="171450" indent="-171450">
              <a:spcBef>
                <a:spcPts val="200"/>
              </a:spcBef>
              <a:buFont typeface="Arial" panose="020B0604020202020204" pitchFamily="34" charset="0"/>
              <a:buChar char="•"/>
            </a:pPr>
            <a:r>
              <a:rPr lang="de-DE" b="0" dirty="0"/>
              <a:t>Wertentwicklung</a:t>
            </a:r>
          </a:p>
          <a:p>
            <a:pPr marL="171450" indent="-171450">
              <a:spcBef>
                <a:spcPts val="200"/>
              </a:spcBef>
              <a:buFont typeface="Arial" panose="020B0604020202020204" pitchFamily="34" charset="0"/>
              <a:buChar char="•"/>
            </a:pPr>
            <a:r>
              <a:rPr lang="de-DE" b="0" dirty="0"/>
              <a:t>Vermögensübersicht</a:t>
            </a:r>
          </a:p>
          <a:p>
            <a:pPr marL="171450" indent="-171450">
              <a:spcBef>
                <a:spcPts val="200"/>
              </a:spcBef>
              <a:buFont typeface="Arial" panose="020B0604020202020204" pitchFamily="34" charset="0"/>
              <a:buChar char="•"/>
            </a:pPr>
            <a:r>
              <a:rPr lang="de-DE" b="0" dirty="0"/>
              <a:t>Transaktionsliste</a:t>
            </a:r>
          </a:p>
          <a:p>
            <a:pPr marL="171450" indent="-171450">
              <a:spcBef>
                <a:spcPts val="200"/>
              </a:spcBef>
              <a:buFont typeface="Arial" panose="020B0604020202020204" pitchFamily="34" charset="0"/>
              <a:buChar char="•"/>
            </a:pPr>
            <a:r>
              <a:rPr lang="de-DE" b="0" dirty="0"/>
              <a:t>Honorarabrechnung </a:t>
            </a:r>
          </a:p>
          <a:p>
            <a:pPr marL="171450" indent="-171450">
              <a:spcBef>
                <a:spcPts val="200"/>
              </a:spcBef>
              <a:buFont typeface="Arial" panose="020B0604020202020204" pitchFamily="34" charset="0"/>
              <a:buChar char="•"/>
            </a:pPr>
            <a:r>
              <a:rPr lang="de-DE" b="0" dirty="0"/>
              <a:t>Risikokennzahlen</a:t>
            </a:r>
          </a:p>
          <a:p>
            <a:pPr marL="171450" indent="-171450">
              <a:spcBef>
                <a:spcPts val="200"/>
              </a:spcBef>
              <a:buFont typeface="Arial" panose="020B0604020202020204" pitchFamily="34" charset="0"/>
              <a:buChar char="•"/>
            </a:pPr>
            <a:r>
              <a:rPr lang="de-DE" b="0" dirty="0"/>
              <a:t>Fortlaufende Geeignetheitserklärung</a:t>
            </a:r>
          </a:p>
          <a:p>
            <a:pPr>
              <a:spcBef>
                <a:spcPts val="400"/>
              </a:spcBef>
            </a:pPr>
            <a:r>
              <a:rPr lang="de-DE" b="0" dirty="0"/>
              <a:t>Zusätzlich erhalten Sie einmal jährlich ein ausführliches </a:t>
            </a:r>
            <a:r>
              <a:rPr lang="de-DE" b="0" dirty="0" err="1"/>
              <a:t>Kostenreporting</a:t>
            </a:r>
            <a:r>
              <a:rPr lang="de-DE" b="0" dirty="0"/>
              <a:t>. Dieses enthält alle Kosten, die im Rahmen Ihres Vermögensverwaltungsvertrags angefallen sind.</a:t>
            </a:r>
          </a:p>
        </p:txBody>
      </p:sp>
      <p:sp>
        <p:nvSpPr>
          <p:cNvPr id="4" name="Titel 3">
            <a:extLst>
              <a:ext uri="{FF2B5EF4-FFF2-40B4-BE49-F238E27FC236}">
                <a16:creationId xmlns:a16="http://schemas.microsoft.com/office/drawing/2014/main" id="{72E82E3C-1E56-69D0-2735-EEDC7CB1B6BA}"/>
              </a:ext>
            </a:extLst>
          </p:cNvPr>
          <p:cNvSpPr>
            <a:spLocks noGrp="1"/>
          </p:cNvSpPr>
          <p:nvPr>
            <p:ph type="title"/>
          </p:nvPr>
        </p:nvSpPr>
        <p:spPr/>
        <p:txBody>
          <a:bodyPr/>
          <a:lstStyle/>
          <a:p>
            <a:r>
              <a:rPr lang="de-DE" dirty="0"/>
              <a:t>Unser Service</a:t>
            </a:r>
          </a:p>
        </p:txBody>
      </p:sp>
    </p:spTree>
    <p:extLst>
      <p:ext uri="{BB962C8B-B14F-4D97-AF65-F5344CB8AC3E}">
        <p14:creationId xmlns:p14="http://schemas.microsoft.com/office/powerpoint/2010/main" val="7844871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4520BB9-E68D-47AE-EB64-BAE575D3D3CA}"/>
              </a:ext>
            </a:extLst>
          </p:cNvPr>
          <p:cNvSpPr>
            <a:spLocks noGrp="1"/>
          </p:cNvSpPr>
          <p:nvPr>
            <p:ph type="sldNum" sz="quarter" idx="12"/>
          </p:nvPr>
        </p:nvSpPr>
        <p:spPr/>
        <p:txBody>
          <a:bodyPr/>
          <a:lstStyle/>
          <a:p>
            <a:fld id="{3AE71D6B-ACB6-4F4C-A895-DCAEF1760EAA}" type="slidenum">
              <a:rPr lang="de-DE" smtClean="0"/>
              <a:pPr/>
              <a:t>28</a:t>
            </a:fld>
            <a:endParaRPr lang="de-DE" dirty="0"/>
          </a:p>
        </p:txBody>
      </p:sp>
      <p:sp>
        <p:nvSpPr>
          <p:cNvPr id="3" name="Inhaltsplatzhalter 2">
            <a:extLst>
              <a:ext uri="{FF2B5EF4-FFF2-40B4-BE49-F238E27FC236}">
                <a16:creationId xmlns:a16="http://schemas.microsoft.com/office/drawing/2014/main" id="{CD355ADA-6D4A-3BBC-8EE3-ED00B5B315F8}"/>
              </a:ext>
            </a:extLst>
          </p:cNvPr>
          <p:cNvSpPr>
            <a:spLocks noGrp="1"/>
          </p:cNvSpPr>
          <p:nvPr>
            <p:ph idx="1"/>
          </p:nvPr>
        </p:nvSpPr>
        <p:spPr>
          <a:xfrm>
            <a:off x="1199324" y="1414864"/>
            <a:ext cx="4140201" cy="4954290"/>
          </a:xfrm>
        </p:spPr>
        <p:txBody>
          <a:bodyPr/>
          <a:lstStyle/>
          <a:p>
            <a:pPr>
              <a:spcAft>
                <a:spcPts val="0"/>
              </a:spcAft>
            </a:pPr>
            <a:r>
              <a:rPr lang="de-DE" dirty="0"/>
              <a:t>Steuerservice</a:t>
            </a:r>
          </a:p>
          <a:p>
            <a:pPr>
              <a:spcBef>
                <a:spcPts val="400"/>
              </a:spcBef>
            </a:pPr>
            <a:r>
              <a:rPr lang="de-DE" b="0" dirty="0"/>
              <a:t>Die Erstellung aller steuerlich relevanten und benötigten Unterlagen erfolgt automatisch und zeitnah mit dem Ablauf des Kalenderjahrs.</a:t>
            </a:r>
          </a:p>
          <a:p>
            <a:r>
              <a:rPr lang="de-DE" dirty="0"/>
              <a:t>Laufende Unterlagen </a:t>
            </a:r>
          </a:p>
          <a:p>
            <a:pPr>
              <a:spcBef>
                <a:spcPts val="400"/>
              </a:spcBef>
            </a:pPr>
            <a:r>
              <a:rPr lang="de-DE" b="0" dirty="0"/>
              <a:t>Nach jeder Wertpapiertransaktion und Ertragsausschüttung erhalten Sie eine entsprechende Dokumentation zugesandt.  Kontoauszüge werden monatlich erstellt. Somit ist für Sie ein hohes Maß an Transparenz gewährleistet.</a:t>
            </a:r>
          </a:p>
          <a:p>
            <a:r>
              <a:rPr lang="de-DE" dirty="0">
                <a:solidFill>
                  <a:srgbClr val="BB9256"/>
                </a:solidFill>
              </a:rPr>
              <a:t>&gt;&gt; Gerne stellen wir Ihnen in regelmäßigen Abständen oder auf Wunsch einen aktuellen Bericht zur Verfügung!</a:t>
            </a:r>
          </a:p>
        </p:txBody>
      </p:sp>
      <p:sp>
        <p:nvSpPr>
          <p:cNvPr id="4" name="Titel 3">
            <a:extLst>
              <a:ext uri="{FF2B5EF4-FFF2-40B4-BE49-F238E27FC236}">
                <a16:creationId xmlns:a16="http://schemas.microsoft.com/office/drawing/2014/main" id="{39B1E004-66AB-F74C-B2B6-5F103D42430F}"/>
              </a:ext>
            </a:extLst>
          </p:cNvPr>
          <p:cNvSpPr>
            <a:spLocks noGrp="1"/>
          </p:cNvSpPr>
          <p:nvPr>
            <p:ph type="title"/>
          </p:nvPr>
        </p:nvSpPr>
        <p:spPr>
          <a:xfrm>
            <a:off x="1195481" y="882000"/>
            <a:ext cx="3960375" cy="360000"/>
          </a:xfrm>
        </p:spPr>
        <p:txBody>
          <a:bodyPr/>
          <a:lstStyle/>
          <a:p>
            <a:r>
              <a:rPr lang="de-DE" dirty="0"/>
              <a:t>Unser Service</a:t>
            </a:r>
          </a:p>
        </p:txBody>
      </p:sp>
    </p:spTree>
    <p:extLst>
      <p:ext uri="{BB962C8B-B14F-4D97-AF65-F5344CB8AC3E}">
        <p14:creationId xmlns:p14="http://schemas.microsoft.com/office/powerpoint/2010/main" val="12513420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70DE09C2-2A59-8E9D-3394-09D12E785939}"/>
              </a:ext>
            </a:extLst>
          </p:cNvPr>
          <p:cNvSpPr>
            <a:spLocks noGrp="1"/>
          </p:cNvSpPr>
          <p:nvPr>
            <p:ph type="sldNum" sz="quarter" idx="12"/>
          </p:nvPr>
        </p:nvSpPr>
        <p:spPr/>
        <p:txBody>
          <a:bodyPr/>
          <a:lstStyle/>
          <a:p>
            <a:fld id="{3AE71D6B-ACB6-4F4C-A895-DCAEF1760EAA}" type="slidenum">
              <a:rPr lang="de-DE" smtClean="0"/>
              <a:t>29</a:t>
            </a:fld>
            <a:endParaRPr lang="de-DE"/>
          </a:p>
        </p:txBody>
      </p:sp>
      <p:sp>
        <p:nvSpPr>
          <p:cNvPr id="4" name="Titel 3">
            <a:extLst>
              <a:ext uri="{FF2B5EF4-FFF2-40B4-BE49-F238E27FC236}">
                <a16:creationId xmlns:a16="http://schemas.microsoft.com/office/drawing/2014/main" id="{9C97CBB2-7EB8-0455-7143-952C4A25AE92}"/>
              </a:ext>
            </a:extLst>
          </p:cNvPr>
          <p:cNvSpPr>
            <a:spLocks noGrp="1"/>
          </p:cNvSpPr>
          <p:nvPr>
            <p:ph type="title"/>
          </p:nvPr>
        </p:nvSpPr>
        <p:spPr/>
        <p:txBody>
          <a:bodyPr/>
          <a:lstStyle/>
          <a:p>
            <a:r>
              <a:rPr lang="de-DE" dirty="0"/>
              <a:t>Honorarübersicht</a:t>
            </a:r>
          </a:p>
        </p:txBody>
      </p:sp>
      <p:graphicFrame>
        <p:nvGraphicFramePr>
          <p:cNvPr id="5" name="Tabelle 4">
            <a:extLst>
              <a:ext uri="{FF2B5EF4-FFF2-40B4-BE49-F238E27FC236}">
                <a16:creationId xmlns:a16="http://schemas.microsoft.com/office/drawing/2014/main" id="{3F2EFFCC-2835-2877-8FFE-6F115FCCEF17}"/>
              </a:ext>
            </a:extLst>
          </p:cNvPr>
          <p:cNvGraphicFramePr>
            <a:graphicFrameLocks noGrp="1"/>
          </p:cNvGraphicFramePr>
          <p:nvPr>
            <p:extLst>
              <p:ext uri="{D42A27DB-BD31-4B8C-83A1-F6EECF244321}">
                <p14:modId xmlns:p14="http://schemas.microsoft.com/office/powerpoint/2010/main" val="2941105216"/>
              </p:ext>
            </p:extLst>
          </p:nvPr>
        </p:nvGraphicFramePr>
        <p:xfrm>
          <a:off x="2683655" y="2175898"/>
          <a:ext cx="5107013" cy="2307765"/>
        </p:xfrm>
        <a:graphic>
          <a:graphicData uri="http://schemas.openxmlformats.org/drawingml/2006/table">
            <a:tbl>
              <a:tblPr firstRow="1" bandRow="1"/>
              <a:tblGrid>
                <a:gridCol w="1775134">
                  <a:extLst>
                    <a:ext uri="{9D8B030D-6E8A-4147-A177-3AD203B41FA5}">
                      <a16:colId xmlns:a16="http://schemas.microsoft.com/office/drawing/2014/main" val="20000"/>
                    </a:ext>
                  </a:extLst>
                </a:gridCol>
                <a:gridCol w="1651865">
                  <a:extLst>
                    <a:ext uri="{9D8B030D-6E8A-4147-A177-3AD203B41FA5}">
                      <a16:colId xmlns:a16="http://schemas.microsoft.com/office/drawing/2014/main" val="3953192555"/>
                    </a:ext>
                  </a:extLst>
                </a:gridCol>
                <a:gridCol w="1680014">
                  <a:extLst>
                    <a:ext uri="{9D8B030D-6E8A-4147-A177-3AD203B41FA5}">
                      <a16:colId xmlns:a16="http://schemas.microsoft.com/office/drawing/2014/main" val="2318029501"/>
                    </a:ext>
                  </a:extLst>
                </a:gridCol>
              </a:tblGrid>
              <a:tr h="450592">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ea typeface="Noto Sans bold" panose="020B0802040504020204" pitchFamily="34" charset="0"/>
                          <a:cs typeface="Noto Sans bold" panose="020B0802040504020204" pitchFamily="34" charset="0"/>
                        </a:rPr>
                        <a:t>ESG-ETF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ESG-ETF Wachstum</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1857173">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lnSpc>
                          <a:spcPts val="1180"/>
                        </a:lnSpc>
                      </a:pPr>
                      <a:r>
                        <a:rPr lang="de-DE" sz="1000" b="1" kern="0" spc="20" dirty="0">
                          <a:solidFill>
                            <a:schemeClr val="accent1"/>
                          </a:solidFill>
                          <a:latin typeface="+mj-lt"/>
                          <a:ea typeface="Noto Sans bold" panose="020B0802040504020204" pitchFamily="34" charset="0"/>
                          <a:cs typeface="Noto Sans bold" panose="020B0802040504020204" pitchFamily="34" charset="0"/>
                        </a:rPr>
                        <a:t>All-in-Fee jährlich</a:t>
                      </a:r>
                    </a:p>
                    <a:p>
                      <a:pPr algn="l">
                        <a:lnSpc>
                          <a:spcPct val="100000"/>
                        </a:lnSpc>
                      </a:pPr>
                      <a:r>
                        <a:rPr lang="de-DE" sz="1000" b="0" kern="0" spc="20" dirty="0">
                          <a:solidFill>
                            <a:schemeClr val="accent1"/>
                          </a:solidFill>
                          <a:latin typeface="+mj-lt"/>
                          <a:ea typeface="+mn-ea"/>
                          <a:cs typeface="Noto Sans"/>
                        </a:rPr>
                        <a:t>Die Belastung erfolgt halbjährlich. Als Berechnungsgrundlage dient das durchschnittlich verfügbare Anlage-volumen zum Stichtag 30.06. und 31.12.</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1,25 % netto des durchschnittlich verfügbaren Anlage-volumens = 1,4875 %* brutto </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mn-ea"/>
                          <a:cs typeface="Noto Sans"/>
                        </a:rPr>
                        <a:t>Mindestens 500 € netto bzw. mindestens </a:t>
                      </a:r>
                    </a:p>
                    <a:p>
                      <a:pPr algn="l"/>
                      <a:r>
                        <a:rPr lang="de-DE" sz="1000" b="0" kern="0" spc="20" dirty="0">
                          <a:solidFill>
                            <a:schemeClr val="accent1"/>
                          </a:solidFill>
                          <a:latin typeface="+mj-lt"/>
                          <a:ea typeface="+mn-ea"/>
                          <a:cs typeface="Noto Sans"/>
                        </a:rPr>
                        <a:t>595 €*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500 € netto bzw. mindestens </a:t>
                      </a:r>
                    </a:p>
                    <a:p>
                      <a:pPr algn="l"/>
                      <a:r>
                        <a:rPr lang="de-DE" sz="1000" b="0" kern="0" spc="20" dirty="0">
                          <a:solidFill>
                            <a:schemeClr val="accent1"/>
                          </a:solidFill>
                          <a:latin typeface="+mj-lt"/>
                          <a:ea typeface=""/>
                          <a:cs typeface="Noto Sans"/>
                        </a:rPr>
                        <a:t>595 €*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6" name="Textfeld 5">
            <a:extLst>
              <a:ext uri="{FF2B5EF4-FFF2-40B4-BE49-F238E27FC236}">
                <a16:creationId xmlns:a16="http://schemas.microsoft.com/office/drawing/2014/main" id="{00DA0E0E-D75D-8B4F-2AE4-1CF616A0B5A1}"/>
              </a:ext>
            </a:extLst>
          </p:cNvPr>
          <p:cNvSpPr txBox="1"/>
          <p:nvPr/>
        </p:nvSpPr>
        <p:spPr>
          <a:xfrm>
            <a:off x="7757359" y="5512475"/>
            <a:ext cx="2571184" cy="200055"/>
          </a:xfrm>
          <a:prstGeom prst="rect">
            <a:avLst/>
          </a:prstGeom>
          <a:noFill/>
        </p:spPr>
        <p:txBody>
          <a:bodyPr wrap="square" rtlCol="0">
            <a:spAutoFit/>
          </a:bodyPr>
          <a:lstStyle/>
          <a:p>
            <a:r>
              <a:rPr lang="de-DE" sz="700" dirty="0">
                <a:solidFill>
                  <a:schemeClr val="bg1">
                    <a:lumMod val="50000"/>
                  </a:schemeClr>
                </a:solidFill>
                <a:latin typeface="+mj-lt"/>
              </a:rPr>
              <a:t>*inklusive 19% gesetzliche Umsatzsteuer</a:t>
            </a:r>
          </a:p>
        </p:txBody>
      </p:sp>
    </p:spTree>
    <p:extLst>
      <p:ext uri="{BB962C8B-B14F-4D97-AF65-F5344CB8AC3E}">
        <p14:creationId xmlns:p14="http://schemas.microsoft.com/office/powerpoint/2010/main" val="4482435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30</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781801" y="1050707"/>
            <a:ext cx="3823927" cy="4791074"/>
          </a:xfrm>
        </p:spPr>
        <p:txBody>
          <a:bodyPr/>
          <a:lstStyle/>
          <a:p>
            <a:r>
              <a:rPr lang="de-DE" b="0" dirty="0"/>
              <a:t>Im Rahmen der Belastung der Vermögensverwaltungs-gebühr werden wir den steuerlich abzugsfähigen Transaktionskostenteil in den allgemeinen Verlust-verrechnungstopf für Ihre Konten und Depots einstellen, damit erfolgt automatisch die Verrechnung mit Ihren abgeltungssteuerpflichtigen Erträgen und damit eine Steuerminderung.</a:t>
            </a:r>
          </a:p>
          <a:p>
            <a:r>
              <a:rPr lang="de-DE" b="0" dirty="0"/>
              <a:t>Die Bank übernimmt keine Gewähr dafür, dass der Transaktionskostenanteil der All-in-Fee sowohl dem Grunde als auch der Höhe nach als Steuer mindernd anerkannt wird.</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23927" cy="4791074"/>
          </a:xfrm>
        </p:spPr>
        <p:txBody>
          <a:bodyPr/>
          <a:lstStyle/>
          <a:p>
            <a:r>
              <a:rPr lang="de-DE" b="0" dirty="0"/>
              <a:t>Mit der Einführung der Abgeltungssteuer zum 01. Januar 2009 sind die Werbungskosten bei der Ermittlung aus Kapitalvermögen grundsätzlich nicht mehr abzugsfähig. Hingegen wirken sich Anschaffungsnebenkosten und Veräußerungskosten steuermindernd aus. </a:t>
            </a:r>
          </a:p>
          <a:p>
            <a:r>
              <a:rPr lang="de-DE" b="0" dirty="0"/>
              <a:t>Bei Pauschalgebühren (All-in-Fee) im Rahmen von Vermögensverwaltungsverträgen werden sämtliche Management- und eigene Transaktionsleistungen der Bank, sowie alle Dienstleistungen abgegolten, die sie im Zusammenhang mit der Führung der verwalteten Konten und Depots erbringt. Es gilt ein Anteil der Transaktionskosten (Anschaffungsnebenkosten und Veräußerungskosten) an der All-in-Fee in Höhe von 50% als vereinbart und wird im Vermögensverwaltungs-vertrag festgeschrieben.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Steuerlicher Hinweis zum Honorar</a:t>
            </a:r>
          </a:p>
        </p:txBody>
      </p:sp>
    </p:spTree>
    <p:extLst>
      <p:ext uri="{BB962C8B-B14F-4D97-AF65-F5344CB8AC3E}">
        <p14:creationId xmlns:p14="http://schemas.microsoft.com/office/powerpoint/2010/main" val="8436986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BD092B-3E1D-4D44-8BCC-43FEAC72E7AA}"/>
              </a:ext>
            </a:extLst>
          </p:cNvPr>
          <p:cNvSpPr>
            <a:spLocks noGrp="1"/>
          </p:cNvSpPr>
          <p:nvPr>
            <p:ph type="title"/>
          </p:nvPr>
        </p:nvSpPr>
        <p:spPr/>
        <p:txBody>
          <a:bodyPr/>
          <a:lstStyle/>
          <a:p>
            <a:r>
              <a:rPr lang="de-DE" dirty="0"/>
              <a:t>Unser Reporting</a:t>
            </a:r>
          </a:p>
        </p:txBody>
      </p:sp>
    </p:spTree>
    <p:extLst>
      <p:ext uri="{BB962C8B-B14F-4D97-AF65-F5344CB8AC3E}">
        <p14:creationId xmlns:p14="http://schemas.microsoft.com/office/powerpoint/2010/main" val="2141748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952F355-56A8-9B4C-9C8A-5B39F231AADD}"/>
              </a:ext>
            </a:extLst>
          </p:cNvPr>
          <p:cNvSpPr>
            <a:spLocks noGrp="1"/>
          </p:cNvSpPr>
          <p:nvPr>
            <p:ph type="body" sz="quarter" idx="10"/>
          </p:nvPr>
        </p:nvSpPr>
        <p:spPr>
          <a:xfrm>
            <a:off x="1036594" y="2084366"/>
            <a:ext cx="7423194" cy="1827500"/>
          </a:xfrm>
        </p:spPr>
        <p:txBody>
          <a:bodyPr/>
          <a:lstStyle/>
          <a:p>
            <a:r>
              <a:rPr lang="de-DE" dirty="0"/>
              <a:t>RECHTLICHE HINWEISE </a:t>
            </a:r>
            <a:br>
              <a:rPr lang="de-DE" dirty="0"/>
            </a:br>
            <a:r>
              <a:rPr lang="de-DE" dirty="0"/>
              <a:t>UND IMPRESSUM</a:t>
            </a:r>
          </a:p>
        </p:txBody>
      </p:sp>
      <p:sp>
        <p:nvSpPr>
          <p:cNvPr id="3" name="Textplatzhalter 2">
            <a:extLst>
              <a:ext uri="{FF2B5EF4-FFF2-40B4-BE49-F238E27FC236}">
                <a16:creationId xmlns:a16="http://schemas.microsoft.com/office/drawing/2014/main" id="{41FB8F5F-EAD0-9448-8FEA-C366C8E028CD}"/>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98593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33</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34</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a:t>
            </a:r>
            <a:r>
              <a:rPr lang="de-DE" sz="1000" b="0">
                <a:solidFill>
                  <a:srgbClr val="000000"/>
                </a:solidFill>
                <a:latin typeface="+mn-lt"/>
              </a:rPr>
              <a:t>0821 3201-271</a:t>
            </a:r>
            <a:endParaRPr lang="de-DE" sz="1000" b="0" dirty="0">
              <a:solidFill>
                <a:srgbClr val="FF0000"/>
              </a:solidFill>
              <a:latin typeface="+mn-lt"/>
            </a:endParaRP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19A067D8-C414-224B-80B2-E98E3602E963}"/>
              </a:ext>
            </a:extLst>
          </p:cNvPr>
          <p:cNvSpPr>
            <a:spLocks noGrp="1"/>
          </p:cNvSpPr>
          <p:nvPr>
            <p:ph type="body" sz="quarter" idx="10"/>
          </p:nvPr>
        </p:nvSpPr>
        <p:spPr/>
        <p:txBody>
          <a:bodyPr/>
          <a:lstStyle/>
          <a:p>
            <a:r>
              <a:rPr lang="de-DE" dirty="0"/>
              <a:t>VIELEN DANK.</a:t>
            </a:r>
          </a:p>
        </p:txBody>
      </p:sp>
    </p:spTree>
    <p:extLst>
      <p:ext uri="{BB962C8B-B14F-4D97-AF65-F5344CB8AC3E}">
        <p14:creationId xmlns:p14="http://schemas.microsoft.com/office/powerpoint/2010/main" val="1632853416"/>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3445</Words>
  <Application>Microsoft Office PowerPoint</Application>
  <PresentationFormat>Benutzerdefiniert</PresentationFormat>
  <Paragraphs>656</Paragraphs>
  <Slides>35</Slides>
  <Notes>0</Notes>
  <HiddenSlides>0</HiddenSlides>
  <MMClips>0</MMClips>
  <ScaleCrop>false</ScaleCrop>
  <HeadingPairs>
    <vt:vector size="6" baseType="variant">
      <vt:variant>
        <vt:lpstr>Verwendete Schriftarten</vt:lpstr>
      </vt:variant>
      <vt:variant>
        <vt:i4>10</vt:i4>
      </vt:variant>
      <vt:variant>
        <vt:lpstr>Design</vt:lpstr>
      </vt:variant>
      <vt:variant>
        <vt:i4>1</vt:i4>
      </vt:variant>
      <vt:variant>
        <vt:lpstr>Folientitel</vt:lpstr>
      </vt:variant>
      <vt:variant>
        <vt:i4>35</vt:i4>
      </vt:variant>
    </vt:vector>
  </HeadingPairs>
  <TitlesOfParts>
    <vt:vector size="46" baseType="lpstr">
      <vt:lpstr>Arial</vt:lpstr>
      <vt:lpstr>Calibri</vt:lpstr>
      <vt:lpstr>Gill Alt One MT</vt:lpstr>
      <vt:lpstr>Gill Sans</vt:lpstr>
      <vt:lpstr>Lucida Grande</vt:lpstr>
      <vt:lpstr>Noto Sans</vt:lpstr>
      <vt:lpstr>Noto Serif</vt:lpstr>
      <vt:lpstr>Open Sans</vt:lpstr>
      <vt:lpstr>Symbol</vt:lpstr>
      <vt:lpstr>Wingdings 2</vt:lpstr>
      <vt:lpstr>Office</vt:lpstr>
      <vt:lpstr>Unsere ESG-Vermögensverwaltung  auf ETF-Basis</vt:lpstr>
      <vt:lpstr>Inhalt</vt:lpstr>
      <vt:lpstr>PowerPoint-Präsentation</vt:lpstr>
      <vt:lpstr>NACHHALTIGKEIT  LIEGT UNS AM HERZEN</vt:lpstr>
      <vt:lpstr>Die drei Säulen der Nachhaltigkeit</vt:lpstr>
      <vt:lpstr>ESG und Nachhaltigkeit</vt:lpstr>
      <vt:lpstr>Investmentprozess und Risiken</vt:lpstr>
      <vt:lpstr>PowerPoint-Präsentation</vt:lpstr>
      <vt:lpstr>PowerPoint-Präsentation</vt:lpstr>
      <vt:lpstr>Nachhaltigkeits- und Investmentkonzept|SDG-Beitrag</vt:lpstr>
      <vt:lpstr>Nachhaltigkeitsprozess Offenlegungsverordnung: Nachteilige Auswirkungen auf Nachhaltigkeit (Principal Adverse Impacts on Sustainability – PAIs) </vt:lpstr>
      <vt:lpstr>PowerPoint-Präsentation</vt:lpstr>
      <vt:lpstr>Wir orientieren uns an den UN Global Compact Richtlinien </vt:lpstr>
      <vt:lpstr>Anlagerichtlinien</vt:lpstr>
      <vt:lpstr>PowerPoint-Präsentation</vt:lpstr>
      <vt:lpstr>Anlagestrategie ESG-ETF Ausgewogen</vt:lpstr>
      <vt:lpstr>Anlagestrategie ESG-ETF Ausgewogen | Wertentwicklung</vt:lpstr>
      <vt:lpstr>Anlagestrategie ESG-ETF Wachstum</vt:lpstr>
      <vt:lpstr>Anlagestrategie ESG-ETF Wachstum| Wertentwicklung</vt:lpstr>
      <vt:lpstr>Wertentwicklung der  ESG-ETF Vermögensverwaltungsstrategien </vt:lpstr>
      <vt:lpstr>PowerPoint-Präsentation</vt:lpstr>
      <vt:lpstr>Unsere Standorte</vt:lpstr>
      <vt:lpstr>Unsere Standorte</vt:lpstr>
      <vt:lpstr>PowerPoint-Präsentation</vt:lpstr>
      <vt:lpstr>Anlageklassen und Ausgestaltung</vt:lpstr>
      <vt:lpstr>Unser Risikomanagement</vt:lpstr>
      <vt:lpstr>Unser Service</vt:lpstr>
      <vt:lpstr>Unser Service</vt:lpstr>
      <vt:lpstr>Honorarübersicht</vt:lpstr>
      <vt:lpstr>Steuerlicher Hinweis zum Honorar</vt:lpstr>
      <vt:lpstr>Unser Reporting</vt:lpstr>
      <vt:lpstr>PowerPoint-Präsentation</vt:lpstr>
      <vt:lpstr>Risikohinweise</vt:lpstr>
      <vt:lpstr>Rechtliche Hinweise und Impressum</vt:lpstr>
      <vt:lpstr>PowerPoint-Präsentation</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Tobias Mutsuddi</cp:lastModifiedBy>
  <cp:revision>195</cp:revision>
  <dcterms:created xsi:type="dcterms:W3CDTF">2023-08-14T05:18:02Z</dcterms:created>
  <dcterms:modified xsi:type="dcterms:W3CDTF">2026-07-20T08:57:09Z</dcterms:modified>
  <cp:category>Vorlagen;Design</cp:category>
</cp:coreProperties>
</file>