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7"/>
  </p:notesMasterIdLst>
  <p:sldIdLst>
    <p:sldId id="551" r:id="rId2"/>
    <p:sldId id="337" r:id="rId3"/>
    <p:sldId id="557" r:id="rId4"/>
    <p:sldId id="339" r:id="rId5"/>
    <p:sldId id="535" r:id="rId6"/>
    <p:sldId id="366" r:id="rId7"/>
    <p:sldId id="536" r:id="rId8"/>
    <p:sldId id="257" r:id="rId9"/>
    <p:sldId id="258" r:id="rId10"/>
    <p:sldId id="556" r:id="rId11"/>
    <p:sldId id="555" r:id="rId12"/>
    <p:sldId id="259" r:id="rId13"/>
    <p:sldId id="544" r:id="rId14"/>
    <p:sldId id="545" r:id="rId15"/>
    <p:sldId id="558" r:id="rId16"/>
    <p:sldId id="273" r:id="rId17"/>
    <p:sldId id="278" r:id="rId18"/>
    <p:sldId id="274" r:id="rId19"/>
    <p:sldId id="279" r:id="rId20"/>
    <p:sldId id="564" r:id="rId21"/>
    <p:sldId id="559" r:id="rId22"/>
    <p:sldId id="553" r:id="rId23"/>
    <p:sldId id="554" r:id="rId24"/>
    <p:sldId id="560" r:id="rId25"/>
    <p:sldId id="548" r:id="rId26"/>
    <p:sldId id="549" r:id="rId27"/>
    <p:sldId id="538" r:id="rId28"/>
    <p:sldId id="539" r:id="rId29"/>
    <p:sldId id="542" r:id="rId30"/>
    <p:sldId id="532" r:id="rId31"/>
    <p:sldId id="563" r:id="rId32"/>
    <p:sldId id="561" r:id="rId33"/>
    <p:sldId id="312" r:id="rId34"/>
    <p:sldId id="311" r:id="rId35"/>
    <p:sldId id="562" r:id="rId36"/>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57"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01A-4CB0-8A51-3C0C98F4FAE2}"/>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D01A-4CB0-8A51-3C0C98F4FAE2}"/>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D01A-4CB0-8A51-3C0C98F4FAE2}"/>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D01A-4CB0-8A51-3C0C98F4FAE2}"/>
              </c:ext>
            </c:extLst>
          </c:dPt>
          <c:dLbls>
            <c:dLbl>
              <c:idx val="0"/>
              <c:layout>
                <c:manualLayout>
                  <c:x val="0.2662418378961241"/>
                  <c:y val="0.137952426767091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1A-4CB0-8A51-3C0C98F4FAE2}"/>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1A-4CB0-8A51-3C0C98F4FAE2}"/>
                </c:ext>
              </c:extLst>
            </c:dLbl>
            <c:dLbl>
              <c:idx val="2"/>
              <c:layout>
                <c:manualLayout>
                  <c:x val="-0.21318976731050654"/>
                  <c:y val="4.79121346645134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1A-4CB0-8A51-3C0C98F4FAE2}"/>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01A-4CB0-8A51-3C0C98F4FAE2}"/>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S_Diagramm_ETF!$B$4:$B$7</c:f>
              <c:strCache>
                <c:ptCount val="4"/>
                <c:pt idx="0">
                  <c:v>EDELMETALLE</c:v>
                </c:pt>
                <c:pt idx="1">
                  <c:v>RENTEN</c:v>
                </c:pt>
                <c:pt idx="2">
                  <c:v>AKTIEN </c:v>
                </c:pt>
                <c:pt idx="3">
                  <c:v>LIQUIDITÄT</c:v>
                </c:pt>
              </c:strCache>
            </c:strRef>
          </c:cat>
          <c:val>
            <c:numRef>
              <c:f>S_Diagramm_ETF!$C$4:$C$7</c:f>
              <c:numCache>
                <c:formatCode>0.00%</c:formatCode>
                <c:ptCount val="4"/>
                <c:pt idx="0">
                  <c:v>0.1245</c:v>
                </c:pt>
                <c:pt idx="1">
                  <c:v>0.46460000000000001</c:v>
                </c:pt>
                <c:pt idx="2">
                  <c:v>0.3649</c:v>
                </c:pt>
                <c:pt idx="3">
                  <c:v>4.5999999999999999E-2</c:v>
                </c:pt>
              </c:numCache>
            </c:numRef>
          </c:val>
          <c:extLst>
            <c:ext xmlns:c16="http://schemas.microsoft.com/office/drawing/2014/chart" uri="{C3380CC4-5D6E-409C-BE32-E72D297353CC}">
              <c16:uniqueId val="{00000008-D01A-4CB0-8A51-3C0C98F4FAE2}"/>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21538744224"/>
          <c:w val="0.23932142764716513"/>
          <c:h val="0.24772878461255779"/>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42369</c:v>
                </c:pt>
                <c:pt idx="1">
                  <c:v>42400</c:v>
                </c:pt>
                <c:pt idx="2">
                  <c:v>42429</c:v>
                </c:pt>
                <c:pt idx="3">
                  <c:v>42460</c:v>
                </c:pt>
                <c:pt idx="4">
                  <c:v>42490</c:v>
                </c:pt>
                <c:pt idx="5">
                  <c:v>42521</c:v>
                </c:pt>
                <c:pt idx="6">
                  <c:v>42551</c:v>
                </c:pt>
                <c:pt idx="7">
                  <c:v>42582</c:v>
                </c:pt>
                <c:pt idx="8">
                  <c:v>42613</c:v>
                </c:pt>
                <c:pt idx="9">
                  <c:v>42643</c:v>
                </c:pt>
                <c:pt idx="10">
                  <c:v>42674</c:v>
                </c:pt>
                <c:pt idx="11">
                  <c:v>42704</c:v>
                </c:pt>
                <c:pt idx="12">
                  <c:v>42735</c:v>
                </c:pt>
                <c:pt idx="13">
                  <c:v>42766</c:v>
                </c:pt>
                <c:pt idx="14">
                  <c:v>42794</c:v>
                </c:pt>
                <c:pt idx="15">
                  <c:v>42825</c:v>
                </c:pt>
                <c:pt idx="16">
                  <c:v>42855</c:v>
                </c:pt>
                <c:pt idx="17">
                  <c:v>42886</c:v>
                </c:pt>
                <c:pt idx="18">
                  <c:v>42916</c:v>
                </c:pt>
                <c:pt idx="19">
                  <c:v>42947</c:v>
                </c:pt>
                <c:pt idx="20">
                  <c:v>42978</c:v>
                </c:pt>
                <c:pt idx="21">
                  <c:v>43008</c:v>
                </c:pt>
                <c:pt idx="22">
                  <c:v>43039</c:v>
                </c:pt>
                <c:pt idx="23">
                  <c:v>43069</c:v>
                </c:pt>
                <c:pt idx="24">
                  <c:v>43100</c:v>
                </c:pt>
                <c:pt idx="25">
                  <c:v>43131</c:v>
                </c:pt>
                <c:pt idx="26">
                  <c:v>43159</c:v>
                </c:pt>
                <c:pt idx="27">
                  <c:v>43190</c:v>
                </c:pt>
                <c:pt idx="28">
                  <c:v>43220</c:v>
                </c:pt>
                <c:pt idx="29">
                  <c:v>43251</c:v>
                </c:pt>
                <c:pt idx="30">
                  <c:v>43281</c:v>
                </c:pt>
                <c:pt idx="31">
                  <c:v>43312</c:v>
                </c:pt>
                <c:pt idx="32">
                  <c:v>43343</c:v>
                </c:pt>
                <c:pt idx="33">
                  <c:v>43373</c:v>
                </c:pt>
                <c:pt idx="34">
                  <c:v>43404</c:v>
                </c:pt>
                <c:pt idx="35">
                  <c:v>43434</c:v>
                </c:pt>
                <c:pt idx="36">
                  <c:v>43465</c:v>
                </c:pt>
                <c:pt idx="37">
                  <c:v>43496</c:v>
                </c:pt>
                <c:pt idx="38">
                  <c:v>43524</c:v>
                </c:pt>
                <c:pt idx="39">
                  <c:v>43555</c:v>
                </c:pt>
                <c:pt idx="40">
                  <c:v>43585</c:v>
                </c:pt>
                <c:pt idx="41">
                  <c:v>43616</c:v>
                </c:pt>
                <c:pt idx="42">
                  <c:v>43646</c:v>
                </c:pt>
                <c:pt idx="43">
                  <c:v>43677</c:v>
                </c:pt>
                <c:pt idx="44">
                  <c:v>43708</c:v>
                </c:pt>
                <c:pt idx="45">
                  <c:v>43738</c:v>
                </c:pt>
                <c:pt idx="46">
                  <c:v>43769</c:v>
                </c:pt>
                <c:pt idx="47">
                  <c:v>43799</c:v>
                </c:pt>
                <c:pt idx="48">
                  <c:v>43830</c:v>
                </c:pt>
                <c:pt idx="49">
                  <c:v>43861</c:v>
                </c:pt>
                <c:pt idx="50">
                  <c:v>43890</c:v>
                </c:pt>
                <c:pt idx="51">
                  <c:v>43921</c:v>
                </c:pt>
                <c:pt idx="52">
                  <c:v>43951</c:v>
                </c:pt>
                <c:pt idx="53">
                  <c:v>43982</c:v>
                </c:pt>
                <c:pt idx="54">
                  <c:v>44012</c:v>
                </c:pt>
                <c:pt idx="55">
                  <c:v>44043</c:v>
                </c:pt>
                <c:pt idx="56">
                  <c:v>44074</c:v>
                </c:pt>
                <c:pt idx="57">
                  <c:v>44104</c:v>
                </c:pt>
                <c:pt idx="58">
                  <c:v>44135</c:v>
                </c:pt>
                <c:pt idx="59">
                  <c:v>44165</c:v>
                </c:pt>
                <c:pt idx="60">
                  <c:v>44196</c:v>
                </c:pt>
                <c:pt idx="61">
                  <c:v>44227</c:v>
                </c:pt>
                <c:pt idx="62">
                  <c:v>44255</c:v>
                </c:pt>
                <c:pt idx="63">
                  <c:v>44286</c:v>
                </c:pt>
                <c:pt idx="64">
                  <c:v>44316</c:v>
                </c:pt>
                <c:pt idx="65">
                  <c:v>44347</c:v>
                </c:pt>
                <c:pt idx="66">
                  <c:v>44377</c:v>
                </c:pt>
                <c:pt idx="67">
                  <c:v>44408</c:v>
                </c:pt>
                <c:pt idx="68">
                  <c:v>44439</c:v>
                </c:pt>
                <c:pt idx="69">
                  <c:v>44469</c:v>
                </c:pt>
                <c:pt idx="70">
                  <c:v>44500</c:v>
                </c:pt>
                <c:pt idx="71">
                  <c:v>44530</c:v>
                </c:pt>
                <c:pt idx="72">
                  <c:v>44561</c:v>
                </c:pt>
                <c:pt idx="73">
                  <c:v>44592</c:v>
                </c:pt>
                <c:pt idx="74">
                  <c:v>44620</c:v>
                </c:pt>
                <c:pt idx="75">
                  <c:v>44651</c:v>
                </c:pt>
                <c:pt idx="76">
                  <c:v>44681</c:v>
                </c:pt>
                <c:pt idx="77">
                  <c:v>44712</c:v>
                </c:pt>
                <c:pt idx="78">
                  <c:v>44742</c:v>
                </c:pt>
                <c:pt idx="79">
                  <c:v>44773</c:v>
                </c:pt>
                <c:pt idx="80">
                  <c:v>44804</c:v>
                </c:pt>
                <c:pt idx="81">
                  <c:v>44834</c:v>
                </c:pt>
                <c:pt idx="82">
                  <c:v>44865</c:v>
                </c:pt>
                <c:pt idx="83">
                  <c:v>44895</c:v>
                </c:pt>
                <c:pt idx="84">
                  <c:v>44926</c:v>
                </c:pt>
                <c:pt idx="85">
                  <c:v>44957</c:v>
                </c:pt>
                <c:pt idx="86">
                  <c:v>44985</c:v>
                </c:pt>
                <c:pt idx="87">
                  <c:v>45016</c:v>
                </c:pt>
                <c:pt idx="88">
                  <c:v>45046</c:v>
                </c:pt>
                <c:pt idx="89">
                  <c:v>45077</c:v>
                </c:pt>
                <c:pt idx="90">
                  <c:v>45107</c:v>
                </c:pt>
                <c:pt idx="91">
                  <c:v>45138</c:v>
                </c:pt>
                <c:pt idx="92">
                  <c:v>45169</c:v>
                </c:pt>
                <c:pt idx="93">
                  <c:v>45199</c:v>
                </c:pt>
                <c:pt idx="94">
                  <c:v>45230</c:v>
                </c:pt>
                <c:pt idx="95">
                  <c:v>45260</c:v>
                </c:pt>
                <c:pt idx="96">
                  <c:v>45291</c:v>
                </c:pt>
                <c:pt idx="97">
                  <c:v>45322</c:v>
                </c:pt>
                <c:pt idx="98">
                  <c:v>45351</c:v>
                </c:pt>
                <c:pt idx="99">
                  <c:v>45382</c:v>
                </c:pt>
                <c:pt idx="100">
                  <c:v>45412</c:v>
                </c:pt>
                <c:pt idx="101">
                  <c:v>45443</c:v>
                </c:pt>
                <c:pt idx="102">
                  <c:v>45473</c:v>
                </c:pt>
                <c:pt idx="103">
                  <c:v>45504</c:v>
                </c:pt>
                <c:pt idx="104">
                  <c:v>45535</c:v>
                </c:pt>
                <c:pt idx="105">
                  <c:v>45565</c:v>
                </c:pt>
                <c:pt idx="106">
                  <c:v>45596</c:v>
                </c:pt>
                <c:pt idx="107">
                  <c:v>45626</c:v>
                </c:pt>
                <c:pt idx="108">
                  <c:v>45657</c:v>
                </c:pt>
                <c:pt idx="109">
                  <c:v>45688</c:v>
                </c:pt>
                <c:pt idx="110">
                  <c:v>45716</c:v>
                </c:pt>
                <c:pt idx="111">
                  <c:v>45747</c:v>
                </c:pt>
                <c:pt idx="112">
                  <c:v>45777</c:v>
                </c:pt>
                <c:pt idx="113">
                  <c:v>45808</c:v>
                </c:pt>
                <c:pt idx="114">
                  <c:v>45838</c:v>
                </c:pt>
                <c:pt idx="115">
                  <c:v>45869</c:v>
                </c:pt>
                <c:pt idx="116">
                  <c:v>45900</c:v>
                </c:pt>
                <c:pt idx="117">
                  <c:v>45930</c:v>
                </c:pt>
                <c:pt idx="118">
                  <c:v>45961</c:v>
                </c:pt>
                <c:pt idx="119">
                  <c:v>45991</c:v>
                </c:pt>
                <c:pt idx="120">
                  <c:v>46022</c:v>
                </c:pt>
                <c:pt idx="121">
                  <c:v>46053</c:v>
                </c:pt>
                <c:pt idx="122">
                  <c:v>46081</c:v>
                </c:pt>
                <c:pt idx="123">
                  <c:v>46112</c:v>
                </c:pt>
                <c:pt idx="124">
                  <c:v>46142</c:v>
                </c:pt>
                <c:pt idx="125">
                  <c:v>46173</c:v>
                </c:pt>
                <c:pt idx="126">
                  <c:v>46203</c:v>
                </c:pt>
                <c:pt idx="127">
                  <c:v>46223</c:v>
                </c:pt>
              </c:numCache>
            </c:numRef>
          </c:cat>
          <c:val>
            <c:numRef>
              <c:f>Tabelle1!$B$2:$B$206</c:f>
              <c:numCache>
                <c:formatCode>General</c:formatCode>
                <c:ptCount val="205"/>
                <c:pt idx="0">
                  <c:v>1</c:v>
                </c:pt>
                <c:pt idx="1">
                  <c:v>1.0019</c:v>
                </c:pt>
                <c:pt idx="2">
                  <c:v>1.00470532</c:v>
                </c:pt>
                <c:pt idx="3">
                  <c:v>1.0043034378720002</c:v>
                </c:pt>
                <c:pt idx="4">
                  <c:v>0.99837804758855531</c:v>
                </c:pt>
                <c:pt idx="5">
                  <c:v>0.99917675002662609</c:v>
                </c:pt>
                <c:pt idx="6">
                  <c:v>1.0041726337767591</c:v>
                </c:pt>
                <c:pt idx="7">
                  <c:v>1.0096717341624792</c:v>
                </c:pt>
                <c:pt idx="8">
                  <c:v>1.0094697998156468</c:v>
                </c:pt>
                <c:pt idx="9">
                  <c:v>1.0072489662560524</c:v>
                </c:pt>
                <c:pt idx="10">
                  <c:v>1.0089612894986877</c:v>
                </c:pt>
                <c:pt idx="11">
                  <c:v>1.0130980307856323</c:v>
                </c:pt>
                <c:pt idx="12">
                  <c:v>1.0314351051428523</c:v>
                </c:pt>
                <c:pt idx="13">
                  <c:v>1.0232461550549588</c:v>
                </c:pt>
                <c:pt idx="14">
                  <c:v>1.0350134858380908</c:v>
                </c:pt>
                <c:pt idx="15">
                  <c:v>1.0491931705940727</c:v>
                </c:pt>
                <c:pt idx="16">
                  <c:v>1.0545440557641026</c:v>
                </c:pt>
                <c:pt idx="17">
                  <c:v>1.0496931531075877</c:v>
                </c:pt>
                <c:pt idx="18">
                  <c:v>1.0380415591080936</c:v>
                </c:pt>
                <c:pt idx="19">
                  <c:v>1.0350610822815047</c:v>
                </c:pt>
                <c:pt idx="20">
                  <c:v>1.0354751067144172</c:v>
                </c:pt>
                <c:pt idx="21">
                  <c:v>1.0469688803989474</c:v>
                </c:pt>
                <c:pt idx="22">
                  <c:v>1.0547164501138997</c:v>
                </c:pt>
                <c:pt idx="23">
                  <c:v>1.0460677752229657</c:v>
                </c:pt>
                <c:pt idx="24">
                  <c:v>1.0418835041220738</c:v>
                </c:pt>
                <c:pt idx="25">
                  <c:v>1.0470714327954116</c:v>
                </c:pt>
                <c:pt idx="26">
                  <c:v>1.0269676612857397</c:v>
                </c:pt>
                <c:pt idx="27">
                  <c:v>1.0149521396486965</c:v>
                </c:pt>
                <c:pt idx="28">
                  <c:v>1.0273345557524105</c:v>
                </c:pt>
                <c:pt idx="29">
                  <c:v>1.0284646237637383</c:v>
                </c:pt>
                <c:pt idx="30">
                  <c:v>1.0259963086667054</c:v>
                </c:pt>
                <c:pt idx="31">
                  <c:v>1.0187681646721485</c:v>
                </c:pt>
                <c:pt idx="32">
                  <c:v>1.0181569037733451</c:v>
                </c:pt>
                <c:pt idx="33">
                  <c:v>1.0170369311791945</c:v>
                </c:pt>
                <c:pt idx="34">
                  <c:v>1.0118500428301807</c:v>
                </c:pt>
                <c:pt idx="35">
                  <c:v>1.008308567680275</c:v>
                </c:pt>
                <c:pt idx="36">
                  <c:v>0.98884821232404574</c:v>
                </c:pt>
                <c:pt idx="37">
                  <c:v>1.0037952710834566</c:v>
                </c:pt>
                <c:pt idx="38">
                  <c:v>1.017246127715975</c:v>
                </c:pt>
                <c:pt idx="39">
                  <c:v>1.0239599521589005</c:v>
                </c:pt>
                <c:pt idx="40">
                  <c:v>1.0399337274125793</c:v>
                </c:pt>
                <c:pt idx="41">
                  <c:v>1.0193430396098102</c:v>
                </c:pt>
                <c:pt idx="42">
                  <c:v>1.0453362871198604</c:v>
                </c:pt>
                <c:pt idx="43">
                  <c:v>1.0545927399423067</c:v>
                </c:pt>
                <c:pt idx="44">
                  <c:v>1.0552254955862721</c:v>
                </c:pt>
                <c:pt idx="45">
                  <c:v>1.0565972887305344</c:v>
                </c:pt>
                <c:pt idx="46">
                  <c:v>1.0542727746953273</c:v>
                </c:pt>
                <c:pt idx="47">
                  <c:v>1.0653426388296281</c:v>
                </c:pt>
                <c:pt idx="48">
                  <c:v>1.0678994611628192</c:v>
                </c:pt>
                <c:pt idx="49">
                  <c:v>1.0772495883824627</c:v>
                </c:pt>
                <c:pt idx="50">
                  <c:v>1.0490256491668422</c:v>
                </c:pt>
                <c:pt idx="51">
                  <c:v>0.99783319748750032</c:v>
                </c:pt>
                <c:pt idx="52">
                  <c:v>1.0407400249794627</c:v>
                </c:pt>
                <c:pt idx="53">
                  <c:v>1.0469844651293394</c:v>
                </c:pt>
                <c:pt idx="54">
                  <c:v>1.0633174227853572</c:v>
                </c:pt>
                <c:pt idx="55">
                  <c:v>1.0723104298885644</c:v>
                </c:pt>
                <c:pt idx="56">
                  <c:v>1.0862504654771157</c:v>
                </c:pt>
                <c:pt idx="57">
                  <c:v>1.0836434643599706</c:v>
                </c:pt>
                <c:pt idx="58">
                  <c:v>1.072481936677063</c:v>
                </c:pt>
                <c:pt idx="59">
                  <c:v>1.0911431223752441</c:v>
                </c:pt>
                <c:pt idx="60">
                  <c:v>1.1093652125189106</c:v>
                </c:pt>
                <c:pt idx="61">
                  <c:v>1.1092667563562997</c:v>
                </c:pt>
                <c:pt idx="62">
                  <c:v>1.1010581823592631</c:v>
                </c:pt>
                <c:pt idx="63">
                  <c:v>1.1257218856441107</c:v>
                </c:pt>
                <c:pt idx="64">
                  <c:v>1.1271853240954481</c:v>
                </c:pt>
                <c:pt idx="65">
                  <c:v>1.1342865916372493</c:v>
                </c:pt>
                <c:pt idx="66">
                  <c:v>1.1422265977787101</c:v>
                </c:pt>
                <c:pt idx="67">
                  <c:v>1.1468925934306362</c:v>
                </c:pt>
                <c:pt idx="68">
                  <c:v>1.1544620845472784</c:v>
                </c:pt>
                <c:pt idx="69">
                  <c:v>1.1396849698650733</c:v>
                </c:pt>
                <c:pt idx="70">
                  <c:v>1.1574640553949684</c:v>
                </c:pt>
                <c:pt idx="71">
                  <c:v>1.1608207011556138</c:v>
                </c:pt>
                <c:pt idx="72">
                  <c:v>1.1746344674993656</c:v>
                </c:pt>
                <c:pt idx="73">
                  <c:v>1.1390445114272192</c:v>
                </c:pt>
                <c:pt idx="74">
                  <c:v>1.1308433909449431</c:v>
                </c:pt>
                <c:pt idx="75">
                  <c:v>1.1393247163770304</c:v>
                </c:pt>
                <c:pt idx="76">
                  <c:v>1.1218930482164617</c:v>
                </c:pt>
                <c:pt idx="77">
                  <c:v>1.1039427594449984</c:v>
                </c:pt>
                <c:pt idx="78">
                  <c:v>1.0751298534234839</c:v>
                </c:pt>
                <c:pt idx="79">
                  <c:v>1.1134972061552175</c:v>
                </c:pt>
                <c:pt idx="80">
                  <c:v>1.0838781804714888</c:v>
                </c:pt>
                <c:pt idx="81">
                  <c:v>1.0530960401460985</c:v>
                </c:pt>
                <c:pt idx="82">
                  <c:v>1.0577296627227413</c:v>
                </c:pt>
                <c:pt idx="83">
                  <c:v>1.0748648832588497</c:v>
                </c:pt>
                <c:pt idx="84">
                  <c:v>1.0499280179672443</c:v>
                </c:pt>
                <c:pt idx="85">
                  <c:v>1.0720585319709603</c:v>
                </c:pt>
                <c:pt idx="86">
                  <c:v>1.0584433886149291</c:v>
                </c:pt>
                <c:pt idx="87">
                  <c:v>1.0737908177498456</c:v>
                </c:pt>
                <c:pt idx="88">
                  <c:v>1.0755088830582455</c:v>
                </c:pt>
                <c:pt idx="89">
                  <c:v>1.0780901043775852</c:v>
                </c:pt>
                <c:pt idx="90">
                  <c:v>1.0761495421897056</c:v>
                </c:pt>
                <c:pt idx="91">
                  <c:v>1.0806525554303057</c:v>
                </c:pt>
                <c:pt idx="92">
                  <c:v>1.0748170316309822</c:v>
                </c:pt>
                <c:pt idx="93">
                  <c:v>1.060199520000801</c:v>
                </c:pt>
                <c:pt idx="94">
                  <c:v>1.0567008615847984</c:v>
                </c:pt>
                <c:pt idx="95">
                  <c:v>1.0873451865707575</c:v>
                </c:pt>
                <c:pt idx="96">
                  <c:v>1.1165947720895109</c:v>
                </c:pt>
                <c:pt idx="97">
                  <c:v>1.114498365404913</c:v>
                </c:pt>
                <c:pt idx="98">
                  <c:v>1.1177304106645871</c:v>
                </c:pt>
                <c:pt idx="99">
                  <c:v>1.1455618978901352</c:v>
                </c:pt>
                <c:pt idx="100">
                  <c:v>1.135366396998913</c:v>
                </c:pt>
                <c:pt idx="101">
                  <c:v>1.1439951816161047</c:v>
                </c:pt>
                <c:pt idx="102">
                  <c:v>1.1616127074129927</c:v>
                </c:pt>
                <c:pt idx="103">
                  <c:v>1.1755927163467081</c:v>
                </c:pt>
                <c:pt idx="104">
                  <c:v>1.1829989504596923</c:v>
                </c:pt>
                <c:pt idx="105">
                  <c:v>1.1957753391246568</c:v>
                </c:pt>
                <c:pt idx="106">
                  <c:v>1.1941012536498823</c:v>
                </c:pt>
                <c:pt idx="107">
                  <c:v>1.227536088752079</c:v>
                </c:pt>
                <c:pt idx="108">
                  <c:v>1.2066679752432936</c:v>
                </c:pt>
                <c:pt idx="109">
                  <c:v>1.2273057684573767</c:v>
                </c:pt>
                <c:pt idx="110">
                  <c:v>1.2320922609543605</c:v>
                </c:pt>
                <c:pt idx="111">
                  <c:v>1.2046166035350783</c:v>
                </c:pt>
                <c:pt idx="112">
                  <c:v>1.1964252106310398</c:v>
                </c:pt>
                <c:pt idx="113">
                  <c:v>1.2115001682849909</c:v>
                </c:pt>
                <c:pt idx="114">
                  <c:v>1.2056849674772228</c:v>
                </c:pt>
                <c:pt idx="115">
                  <c:v>1.2142046388786587</c:v>
                </c:pt>
                <c:pt idx="116">
                  <c:v>1.2172401504758552</c:v>
                </c:pt>
                <c:pt idx="117">
                  <c:v>1.2457235699969904</c:v>
                </c:pt>
                <c:pt idx="118">
                  <c:v>1.2706380413969303</c:v>
                </c:pt>
                <c:pt idx="119">
                  <c:v>1.279405443882569</c:v>
                </c:pt>
                <c:pt idx="120">
                  <c:v>1.2887451036229118</c:v>
                </c:pt>
                <c:pt idx="121">
                  <c:v>1.3184049665243534</c:v>
                </c:pt>
                <c:pt idx="122">
                  <c:v>1.3499543460734769</c:v>
                </c:pt>
                <c:pt idx="123">
                  <c:v>1.2896770762032002</c:v>
                </c:pt>
                <c:pt idx="124">
                  <c:v>1.3276389312704382</c:v>
                </c:pt>
                <c:pt idx="125">
                  <c:v>1.3535453323636208</c:v>
                </c:pt>
                <c:pt idx="126">
                  <c:v>1.3530323343221717</c:v>
                </c:pt>
                <c:pt idx="127">
                  <c:v>1.3370652702820667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5"/>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5.9200000000000003E-2</c:v>
                </c:pt>
                <c:pt idx="1">
                  <c:v>-0.10680000000000001</c:v>
                </c:pt>
                <c:pt idx="2">
                  <c:v>6.3899999999999998E-2</c:v>
                </c:pt>
                <c:pt idx="3">
                  <c:v>8.0699999999999994E-2</c:v>
                </c:pt>
                <c:pt idx="4">
                  <c:v>6.8000000000000005E-2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4.58E-2</c:v>
                </c:pt>
                <c:pt idx="1">
                  <c:v>-0.1157</c:v>
                </c:pt>
                <c:pt idx="2">
                  <c:v>8.1000000000000003E-2</c:v>
                </c:pt>
                <c:pt idx="3">
                  <c:v>6.8400000000000002E-2</c:v>
                </c:pt>
                <c:pt idx="4">
                  <c:v>2.76E-2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max val="0.15000000000000002"/>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9AD-420F-BF07-D3D3FDDE5A56}"/>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9AD-420F-BF07-D3D3FDDE5A56}"/>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9AD-420F-BF07-D3D3FDDE5A56}"/>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9AD-420F-BF07-D3D3FDDE5A56}"/>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9AD-420F-BF07-D3D3FDDE5A56}"/>
                </c:ext>
              </c:extLst>
            </c:dLbl>
            <c:dLbl>
              <c:idx val="1"/>
              <c:layout>
                <c:manualLayout>
                  <c:x val="0.22334079321082709"/>
                  <c:y val="-1.71343239839651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9AD-420F-BF07-D3D3FDDE5A56}"/>
                </c:ext>
              </c:extLst>
            </c:dLbl>
            <c:dLbl>
              <c:idx val="2"/>
              <c:layout>
                <c:manualLayout>
                  <c:x val="-0.3183382951784553"/>
                  <c:y val="-0.2226806343845013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9AD-420F-BF07-D3D3FDDE5A56}"/>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9AD-420F-BF07-D3D3FDDE5A56}"/>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S_Diagramm_ETF!$F$4:$F$7</c:f>
              <c:strCache>
                <c:ptCount val="4"/>
                <c:pt idx="0">
                  <c:v>EDELMETALLE</c:v>
                </c:pt>
                <c:pt idx="1">
                  <c:v>RENTEN</c:v>
                </c:pt>
                <c:pt idx="2">
                  <c:v>AKTIEN </c:v>
                </c:pt>
                <c:pt idx="3">
                  <c:v>LIQUIDITÄT</c:v>
                </c:pt>
              </c:strCache>
            </c:strRef>
          </c:cat>
          <c:val>
            <c:numRef>
              <c:f>S_Diagramm_ETF!$G$4:$G$7</c:f>
              <c:numCache>
                <c:formatCode>0.00%</c:formatCode>
                <c:ptCount val="4"/>
                <c:pt idx="0">
                  <c:v>8.5800000000000001E-2</c:v>
                </c:pt>
                <c:pt idx="1">
                  <c:v>0.1135</c:v>
                </c:pt>
                <c:pt idx="2">
                  <c:v>0.77129999999999999</c:v>
                </c:pt>
                <c:pt idx="3">
                  <c:v>2.9399999999999999E-2</c:v>
                </c:pt>
              </c:numCache>
            </c:numRef>
          </c:val>
          <c:extLst>
            <c:ext xmlns:c16="http://schemas.microsoft.com/office/drawing/2014/chart" uri="{C3380CC4-5D6E-409C-BE32-E72D297353CC}">
              <c16:uniqueId val="{00000008-79AD-420F-BF07-D3D3FDDE5A56}"/>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21698540072"/>
          <c:w val="0.26075351606611236"/>
          <c:h val="0.2480707830145993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42369</c:v>
                </c:pt>
                <c:pt idx="1">
                  <c:v>42400</c:v>
                </c:pt>
                <c:pt idx="2">
                  <c:v>42429</c:v>
                </c:pt>
                <c:pt idx="3">
                  <c:v>42460</c:v>
                </c:pt>
                <c:pt idx="4">
                  <c:v>42490</c:v>
                </c:pt>
                <c:pt idx="5">
                  <c:v>42521</c:v>
                </c:pt>
                <c:pt idx="6">
                  <c:v>42551</c:v>
                </c:pt>
                <c:pt idx="7">
                  <c:v>42582</c:v>
                </c:pt>
                <c:pt idx="8">
                  <c:v>42613</c:v>
                </c:pt>
                <c:pt idx="9">
                  <c:v>42643</c:v>
                </c:pt>
                <c:pt idx="10">
                  <c:v>42674</c:v>
                </c:pt>
                <c:pt idx="11">
                  <c:v>42704</c:v>
                </c:pt>
                <c:pt idx="12">
                  <c:v>42735</c:v>
                </c:pt>
                <c:pt idx="13">
                  <c:v>42766</c:v>
                </c:pt>
                <c:pt idx="14">
                  <c:v>42794</c:v>
                </c:pt>
                <c:pt idx="15">
                  <c:v>42825</c:v>
                </c:pt>
                <c:pt idx="16">
                  <c:v>42855</c:v>
                </c:pt>
                <c:pt idx="17">
                  <c:v>42886</c:v>
                </c:pt>
                <c:pt idx="18">
                  <c:v>42916</c:v>
                </c:pt>
                <c:pt idx="19">
                  <c:v>42947</c:v>
                </c:pt>
                <c:pt idx="20">
                  <c:v>42978</c:v>
                </c:pt>
                <c:pt idx="21">
                  <c:v>43008</c:v>
                </c:pt>
                <c:pt idx="22">
                  <c:v>43039</c:v>
                </c:pt>
                <c:pt idx="23">
                  <c:v>43069</c:v>
                </c:pt>
                <c:pt idx="24">
                  <c:v>43100</c:v>
                </c:pt>
                <c:pt idx="25">
                  <c:v>43131</c:v>
                </c:pt>
                <c:pt idx="26">
                  <c:v>43159</c:v>
                </c:pt>
                <c:pt idx="27">
                  <c:v>43190</c:v>
                </c:pt>
                <c:pt idx="28">
                  <c:v>43220</c:v>
                </c:pt>
                <c:pt idx="29">
                  <c:v>43251</c:v>
                </c:pt>
                <c:pt idx="30">
                  <c:v>43281</c:v>
                </c:pt>
                <c:pt idx="31">
                  <c:v>43312</c:v>
                </c:pt>
                <c:pt idx="32">
                  <c:v>43343</c:v>
                </c:pt>
                <c:pt idx="33">
                  <c:v>43373</c:v>
                </c:pt>
                <c:pt idx="34">
                  <c:v>43404</c:v>
                </c:pt>
                <c:pt idx="35">
                  <c:v>43434</c:v>
                </c:pt>
                <c:pt idx="36">
                  <c:v>43465</c:v>
                </c:pt>
                <c:pt idx="37">
                  <c:v>43496</c:v>
                </c:pt>
                <c:pt idx="38">
                  <c:v>43524</c:v>
                </c:pt>
                <c:pt idx="39">
                  <c:v>43555</c:v>
                </c:pt>
                <c:pt idx="40">
                  <c:v>43585</c:v>
                </c:pt>
                <c:pt idx="41">
                  <c:v>43616</c:v>
                </c:pt>
                <c:pt idx="42">
                  <c:v>43646</c:v>
                </c:pt>
                <c:pt idx="43">
                  <c:v>43677</c:v>
                </c:pt>
                <c:pt idx="44">
                  <c:v>43708</c:v>
                </c:pt>
                <c:pt idx="45">
                  <c:v>43738</c:v>
                </c:pt>
                <c:pt idx="46">
                  <c:v>43769</c:v>
                </c:pt>
                <c:pt idx="47">
                  <c:v>43799</c:v>
                </c:pt>
                <c:pt idx="48">
                  <c:v>43830</c:v>
                </c:pt>
                <c:pt idx="49">
                  <c:v>43861</c:v>
                </c:pt>
                <c:pt idx="50">
                  <c:v>43890</c:v>
                </c:pt>
                <c:pt idx="51">
                  <c:v>43921</c:v>
                </c:pt>
                <c:pt idx="52">
                  <c:v>43951</c:v>
                </c:pt>
                <c:pt idx="53">
                  <c:v>43982</c:v>
                </c:pt>
                <c:pt idx="54">
                  <c:v>44012</c:v>
                </c:pt>
                <c:pt idx="55">
                  <c:v>44043</c:v>
                </c:pt>
                <c:pt idx="56">
                  <c:v>44074</c:v>
                </c:pt>
                <c:pt idx="57">
                  <c:v>44104</c:v>
                </c:pt>
                <c:pt idx="58">
                  <c:v>44135</c:v>
                </c:pt>
                <c:pt idx="59">
                  <c:v>44165</c:v>
                </c:pt>
                <c:pt idx="60">
                  <c:v>44196</c:v>
                </c:pt>
                <c:pt idx="61">
                  <c:v>44227</c:v>
                </c:pt>
                <c:pt idx="62">
                  <c:v>44255</c:v>
                </c:pt>
                <c:pt idx="63">
                  <c:v>44286</c:v>
                </c:pt>
                <c:pt idx="64">
                  <c:v>44316</c:v>
                </c:pt>
                <c:pt idx="65">
                  <c:v>44347</c:v>
                </c:pt>
                <c:pt idx="66">
                  <c:v>44377</c:v>
                </c:pt>
                <c:pt idx="67">
                  <c:v>44408</c:v>
                </c:pt>
                <c:pt idx="68">
                  <c:v>44439</c:v>
                </c:pt>
                <c:pt idx="69">
                  <c:v>44469</c:v>
                </c:pt>
                <c:pt idx="70">
                  <c:v>44500</c:v>
                </c:pt>
                <c:pt idx="71">
                  <c:v>44530</c:v>
                </c:pt>
                <c:pt idx="72">
                  <c:v>44561</c:v>
                </c:pt>
                <c:pt idx="73">
                  <c:v>44592</c:v>
                </c:pt>
                <c:pt idx="74">
                  <c:v>44620</c:v>
                </c:pt>
                <c:pt idx="75">
                  <c:v>44651</c:v>
                </c:pt>
                <c:pt idx="76">
                  <c:v>44681</c:v>
                </c:pt>
                <c:pt idx="77">
                  <c:v>44712</c:v>
                </c:pt>
                <c:pt idx="78">
                  <c:v>44742</c:v>
                </c:pt>
                <c:pt idx="79">
                  <c:v>44773</c:v>
                </c:pt>
                <c:pt idx="80">
                  <c:v>44804</c:v>
                </c:pt>
                <c:pt idx="81">
                  <c:v>44834</c:v>
                </c:pt>
                <c:pt idx="82">
                  <c:v>44865</c:v>
                </c:pt>
                <c:pt idx="83">
                  <c:v>44895</c:v>
                </c:pt>
                <c:pt idx="84">
                  <c:v>44926</c:v>
                </c:pt>
                <c:pt idx="85">
                  <c:v>44957</c:v>
                </c:pt>
                <c:pt idx="86">
                  <c:v>44985</c:v>
                </c:pt>
                <c:pt idx="87">
                  <c:v>45016</c:v>
                </c:pt>
                <c:pt idx="88">
                  <c:v>45046</c:v>
                </c:pt>
                <c:pt idx="89">
                  <c:v>45077</c:v>
                </c:pt>
                <c:pt idx="90">
                  <c:v>45107</c:v>
                </c:pt>
                <c:pt idx="91">
                  <c:v>45138</c:v>
                </c:pt>
                <c:pt idx="92">
                  <c:v>45169</c:v>
                </c:pt>
                <c:pt idx="93">
                  <c:v>45199</c:v>
                </c:pt>
                <c:pt idx="94">
                  <c:v>45230</c:v>
                </c:pt>
                <c:pt idx="95">
                  <c:v>45260</c:v>
                </c:pt>
                <c:pt idx="96">
                  <c:v>45291</c:v>
                </c:pt>
                <c:pt idx="97">
                  <c:v>45322</c:v>
                </c:pt>
                <c:pt idx="98">
                  <c:v>45351</c:v>
                </c:pt>
                <c:pt idx="99">
                  <c:v>45382</c:v>
                </c:pt>
                <c:pt idx="100">
                  <c:v>45412</c:v>
                </c:pt>
                <c:pt idx="101">
                  <c:v>45443</c:v>
                </c:pt>
                <c:pt idx="102">
                  <c:v>45473</c:v>
                </c:pt>
                <c:pt idx="103">
                  <c:v>45504</c:v>
                </c:pt>
                <c:pt idx="104">
                  <c:v>45535</c:v>
                </c:pt>
                <c:pt idx="105">
                  <c:v>45565</c:v>
                </c:pt>
                <c:pt idx="106">
                  <c:v>45596</c:v>
                </c:pt>
                <c:pt idx="107">
                  <c:v>45626</c:v>
                </c:pt>
                <c:pt idx="108">
                  <c:v>45657</c:v>
                </c:pt>
                <c:pt idx="109">
                  <c:v>45688</c:v>
                </c:pt>
                <c:pt idx="110">
                  <c:v>45716</c:v>
                </c:pt>
                <c:pt idx="111">
                  <c:v>45747</c:v>
                </c:pt>
                <c:pt idx="112">
                  <c:v>45777</c:v>
                </c:pt>
                <c:pt idx="113">
                  <c:v>45808</c:v>
                </c:pt>
                <c:pt idx="114">
                  <c:v>45838</c:v>
                </c:pt>
                <c:pt idx="115">
                  <c:v>45869</c:v>
                </c:pt>
                <c:pt idx="116">
                  <c:v>45900</c:v>
                </c:pt>
                <c:pt idx="117">
                  <c:v>45930</c:v>
                </c:pt>
                <c:pt idx="118">
                  <c:v>45961</c:v>
                </c:pt>
                <c:pt idx="119">
                  <c:v>45991</c:v>
                </c:pt>
                <c:pt idx="120">
                  <c:v>46022</c:v>
                </c:pt>
                <c:pt idx="121">
                  <c:v>46053</c:v>
                </c:pt>
                <c:pt idx="122">
                  <c:v>46081</c:v>
                </c:pt>
                <c:pt idx="123">
                  <c:v>46112</c:v>
                </c:pt>
                <c:pt idx="124">
                  <c:v>46142</c:v>
                </c:pt>
                <c:pt idx="125">
                  <c:v>46173</c:v>
                </c:pt>
                <c:pt idx="126">
                  <c:v>46203</c:v>
                </c:pt>
                <c:pt idx="127">
                  <c:v>46223</c:v>
                </c:pt>
              </c:numCache>
            </c:numRef>
          </c:cat>
          <c:val>
            <c:numRef>
              <c:f>Tabelle1!$B$2:$B$290</c:f>
              <c:numCache>
                <c:formatCode>General</c:formatCode>
                <c:ptCount val="289"/>
                <c:pt idx="0">
                  <c:v>1</c:v>
                </c:pt>
                <c:pt idx="1">
                  <c:v>1</c:v>
                </c:pt>
                <c:pt idx="2">
                  <c:v>1.0044</c:v>
                </c:pt>
                <c:pt idx="3">
                  <c:v>1.0001815199999999</c:v>
                </c:pt>
                <c:pt idx="4">
                  <c:v>0.97897767177599992</c:v>
                </c:pt>
                <c:pt idx="5">
                  <c:v>0.97741130750115823</c:v>
                </c:pt>
                <c:pt idx="6">
                  <c:v>0.96929879364889859</c:v>
                </c:pt>
                <c:pt idx="7">
                  <c:v>0.97563645688129252</c:v>
                </c:pt>
                <c:pt idx="8">
                  <c:v>0.9769047842752383</c:v>
                </c:pt>
                <c:pt idx="9">
                  <c:v>0.97504866518511535</c:v>
                </c:pt>
                <c:pt idx="10">
                  <c:v>0.98041143284363352</c:v>
                </c:pt>
                <c:pt idx="11">
                  <c:v>1.0009020317900654</c:v>
                </c:pt>
                <c:pt idx="12">
                  <c:v>1.0396369404203409</c:v>
                </c:pt>
                <c:pt idx="13">
                  <c:v>1.0299292265254718</c:v>
                </c:pt>
                <c:pt idx="14">
                  <c:v>1.0492918959841506</c:v>
                </c:pt>
                <c:pt idx="15">
                  <c:v>1.0816100863804623</c:v>
                </c:pt>
                <c:pt idx="16">
                  <c:v>1.0888568739592113</c:v>
                </c:pt>
                <c:pt idx="17">
                  <c:v>1.0781860765944109</c:v>
                </c:pt>
                <c:pt idx="18">
                  <c:v>1.0591021830386897</c:v>
                </c:pt>
                <c:pt idx="19">
                  <c:v>1.0612979931172293</c:v>
                </c:pt>
                <c:pt idx="20">
                  <c:v>1.0604489547227354</c:v>
                </c:pt>
                <c:pt idx="21">
                  <c:v>1.0945954110648075</c:v>
                </c:pt>
                <c:pt idx="22">
                  <c:v>1.105869743798775</c:v>
                </c:pt>
                <c:pt idx="23">
                  <c:v>1.0836417619484195</c:v>
                </c:pt>
                <c:pt idx="24">
                  <c:v>1.0796322874292104</c:v>
                </c:pt>
                <c:pt idx="25">
                  <c:v>1.1130444775524977</c:v>
                </c:pt>
                <c:pt idx="26">
                  <c:v>1.0645157383312087</c:v>
                </c:pt>
                <c:pt idx="27">
                  <c:v>1.0336447819196037</c:v>
                </c:pt>
                <c:pt idx="28">
                  <c:v>1.061449826553241</c:v>
                </c:pt>
                <c:pt idx="29">
                  <c:v>1.0658017708421093</c:v>
                </c:pt>
                <c:pt idx="30">
                  <c:v>1.0612188232274882</c:v>
                </c:pt>
                <c:pt idx="31">
                  <c:v>1.0506777897173105</c:v>
                </c:pt>
                <c:pt idx="32">
                  <c:v>1.0504676541593672</c:v>
                </c:pt>
                <c:pt idx="33">
                  <c:v>1.0496272800360396</c:v>
                </c:pt>
                <c:pt idx="34">
                  <c:v>1.0364019763075856</c:v>
                </c:pt>
                <c:pt idx="35">
                  <c:v>1.0338109713668167</c:v>
                </c:pt>
                <c:pt idx="36">
                  <c:v>0.98491171242116626</c:v>
                </c:pt>
                <c:pt idx="37">
                  <c:v>1.0173470711625481</c:v>
                </c:pt>
                <c:pt idx="38">
                  <c:v>1.0434928908914256</c:v>
                </c:pt>
                <c:pt idx="39">
                  <c:v>1.0475625131659021</c:v>
                </c:pt>
                <c:pt idx="40">
                  <c:v>1.0802464635766782</c:v>
                </c:pt>
                <c:pt idx="41">
                  <c:v>1.0336878409965233</c:v>
                </c:pt>
                <c:pt idx="42">
                  <c:v>1.0779296805911744</c:v>
                </c:pt>
                <c:pt idx="43">
                  <c:v>1.0977055671489941</c:v>
                </c:pt>
                <c:pt idx="44">
                  <c:v>1.0895825459520916</c:v>
                </c:pt>
                <c:pt idx="45">
                  <c:v>1.1029844112673022</c:v>
                </c:pt>
                <c:pt idx="46">
                  <c:v>1.0976900860932191</c:v>
                </c:pt>
                <c:pt idx="47">
                  <c:v>1.1259007213058148</c:v>
                </c:pt>
                <c:pt idx="48">
                  <c:v>1.1318679951287356</c:v>
                </c:pt>
                <c:pt idx="49">
                  <c:v>1.1453333193261845</c:v>
                </c:pt>
                <c:pt idx="50">
                  <c:v>1.0853178533934924</c:v>
                </c:pt>
                <c:pt idx="51">
                  <c:v>1.0272533482369406</c:v>
                </c:pt>
                <c:pt idx="52">
                  <c:v>1.0801568956711431</c:v>
                </c:pt>
                <c:pt idx="53">
                  <c:v>1.0859897429077674</c:v>
                </c:pt>
                <c:pt idx="54">
                  <c:v>1.1053203603315258</c:v>
                </c:pt>
                <c:pt idx="55">
                  <c:v>1.1094764754184085</c:v>
                </c:pt>
                <c:pt idx="56">
                  <c:v>1.1291142090333144</c:v>
                </c:pt>
                <c:pt idx="57">
                  <c:v>1.1282109176660877</c:v>
                </c:pt>
                <c:pt idx="58">
                  <c:v>1.0965081908796706</c:v>
                </c:pt>
                <c:pt idx="59">
                  <c:v>1.1401492168766816</c:v>
                </c:pt>
                <c:pt idx="60">
                  <c:v>1.1754938425998587</c:v>
                </c:pt>
                <c:pt idx="61">
                  <c:v>1.1772311343371831</c:v>
                </c:pt>
                <c:pt idx="62">
                  <c:v>1.1754652876356773</c:v>
                </c:pt>
                <c:pt idx="63">
                  <c:v>1.2120222580811466</c:v>
                </c:pt>
                <c:pt idx="64">
                  <c:v>1.2149311115005412</c:v>
                </c:pt>
                <c:pt idx="65">
                  <c:v>1.2222206981695445</c:v>
                </c:pt>
                <c:pt idx="66">
                  <c:v>1.2533873259728681</c:v>
                </c:pt>
                <c:pt idx="67">
                  <c:v>1.2583489223720981</c:v>
                </c:pt>
                <c:pt idx="68">
                  <c:v>1.2838934054962516</c:v>
                </c:pt>
                <c:pt idx="69">
                  <c:v>1.2516676810182956</c:v>
                </c:pt>
                <c:pt idx="70">
                  <c:v>1.2974787181435652</c:v>
                </c:pt>
                <c:pt idx="71">
                  <c:v>1.2924185511428052</c:v>
                </c:pt>
                <c:pt idx="72">
                  <c:v>1.3295109635606037</c:v>
                </c:pt>
                <c:pt idx="73">
                  <c:v>1.2564129883219819</c:v>
                </c:pt>
                <c:pt idx="74">
                  <c:v>1.2435975758410978</c:v>
                </c:pt>
                <c:pt idx="75">
                  <c:v>1.27120544202477</c:v>
                </c:pt>
                <c:pt idx="76">
                  <c:v>1.2483237440683241</c:v>
                </c:pt>
                <c:pt idx="77">
                  <c:v>1.2219841130684825</c:v>
                </c:pt>
                <c:pt idx="78">
                  <c:v>1.1795812643450063</c:v>
                </c:pt>
                <c:pt idx="79">
                  <c:v>1.2350477704732898</c:v>
                </c:pt>
                <c:pt idx="80">
                  <c:v>1.2104703198408713</c:v>
                </c:pt>
                <c:pt idx="81">
                  <c:v>1.1642303536229499</c:v>
                </c:pt>
                <c:pt idx="82">
                  <c:v>1.1934525354988859</c:v>
                </c:pt>
                <c:pt idx="83">
                  <c:v>1.2092061089674713</c:v>
                </c:pt>
                <c:pt idx="84">
                  <c:v>1.1637399592702944</c:v>
                </c:pt>
                <c:pt idx="85">
                  <c:v>1.1904018527006552</c:v>
                </c:pt>
                <c:pt idx="86">
                  <c:v>1.1807595976937799</c:v>
                </c:pt>
                <c:pt idx="87">
                  <c:v>1.2113412712740488</c:v>
                </c:pt>
                <c:pt idx="88">
                  <c:v>1.2067381744432073</c:v>
                </c:pt>
                <c:pt idx="89">
                  <c:v>1.2055314362687641</c:v>
                </c:pt>
                <c:pt idx="90">
                  <c:v>1.2085452648594359</c:v>
                </c:pt>
                <c:pt idx="91">
                  <c:v>1.2159675456035699</c:v>
                </c:pt>
                <c:pt idx="92">
                  <c:v>1.2028350961110512</c:v>
                </c:pt>
                <c:pt idx="93">
                  <c:v>1.1838303015924965</c:v>
                </c:pt>
                <c:pt idx="94">
                  <c:v>1.1563654385955506</c:v>
                </c:pt>
                <c:pt idx="95">
                  <c:v>1.2067829717183167</c:v>
                </c:pt>
                <c:pt idx="96">
                  <c:v>1.2479342710539114</c:v>
                </c:pt>
                <c:pt idx="97">
                  <c:v>1.2516360184821385</c:v>
                </c:pt>
                <c:pt idx="98">
                  <c:v>1.2759177572406921</c:v>
                </c:pt>
                <c:pt idx="99">
                  <c:v>1.3164919419209462</c:v>
                </c:pt>
                <c:pt idx="100">
                  <c:v>1.2845011877322672</c:v>
                </c:pt>
                <c:pt idx="101">
                  <c:v>1.2974746497283631</c:v>
                </c:pt>
                <c:pt idx="102">
                  <c:v>1.3197912137036911</c:v>
                </c:pt>
                <c:pt idx="103">
                  <c:v>1.3433495528578627</c:v>
                </c:pt>
                <c:pt idx="104">
                  <c:v>1.3485886161140084</c:v>
                </c:pt>
                <c:pt idx="105">
                  <c:v>1.3556012769178014</c:v>
                </c:pt>
                <c:pt idx="106">
                  <c:v>1.3442142261916918</c:v>
                </c:pt>
                <c:pt idx="107">
                  <c:v>1.3989237451976937</c:v>
                </c:pt>
                <c:pt idx="108">
                  <c:v>1.3590544184595594</c:v>
                </c:pt>
                <c:pt idx="109">
                  <c:v>1.3881682860699629</c:v>
                </c:pt>
                <c:pt idx="110">
                  <c:v>1.3910834394707099</c:v>
                </c:pt>
                <c:pt idx="111">
                  <c:v>1.3287629013824223</c:v>
                </c:pt>
                <c:pt idx="112">
                  <c:v>1.2911589112732997</c:v>
                </c:pt>
                <c:pt idx="113">
                  <c:v>1.3318304169784088</c:v>
                </c:pt>
                <c:pt idx="114">
                  <c:v>1.3263699122687973</c:v>
                </c:pt>
                <c:pt idx="115">
                  <c:v>1.3516249901758293</c:v>
                </c:pt>
                <c:pt idx="116">
                  <c:v>1.3528414526669874</c:v>
                </c:pt>
                <c:pt idx="117">
                  <c:v>1.3953206742807309</c:v>
                </c:pt>
                <c:pt idx="118">
                  <c:v>1.437319826576581</c:v>
                </c:pt>
                <c:pt idx="119">
                  <c:v>1.4401944662297341</c:v>
                </c:pt>
                <c:pt idx="120">
                  <c:v>1.4486916135804895</c:v>
                </c:pt>
                <c:pt idx="121">
                  <c:v>1.4750919298223473</c:v>
                </c:pt>
                <c:pt idx="122">
                  <c:v>1.5116918468072915</c:v>
                </c:pt>
                <c:pt idx="123">
                  <c:v>1.4346014704807355</c:v>
                </c:pt>
                <c:pt idx="124">
                  <c:v>1.518320178229762</c:v>
                </c:pt>
                <c:pt idx="125">
                  <c:v>1.5733641478685367</c:v>
                </c:pt>
                <c:pt idx="126">
                  <c:v>1.5822979858727357</c:v>
                </c:pt>
                <c:pt idx="127">
                  <c:v>1.5681047109789676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0.1321</c:v>
                </c:pt>
                <c:pt idx="1">
                  <c:v>-0.12570000000000001</c:v>
                </c:pt>
                <c:pt idx="2">
                  <c:v>7.2900000000000006E-2</c:v>
                </c:pt>
                <c:pt idx="3">
                  <c:v>8.8999999999999996E-2</c:v>
                </c:pt>
                <c:pt idx="4">
                  <c:v>6.59E-2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0.1338</c:v>
                </c:pt>
                <c:pt idx="1">
                  <c:v>-0.14099999999999999</c:v>
                </c:pt>
                <c:pt idx="2">
                  <c:v>0.12989999999999999</c:v>
                </c:pt>
                <c:pt idx="3">
                  <c:v>0.13789999999999999</c:v>
                </c:pt>
                <c:pt idx="4">
                  <c:v>4.3499999999999997E-2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2" name="Untertitel 1">
            <a:extLst>
              <a:ext uri="{FF2B5EF4-FFF2-40B4-BE49-F238E27FC236}">
                <a16:creationId xmlns:a16="http://schemas.microsoft.com/office/drawing/2014/main" id="{0759291D-E925-7A7C-927A-DB96BB0BBF88}"/>
              </a:ext>
            </a:extLst>
          </p:cNvPr>
          <p:cNvSpPr>
            <a:spLocks noGrp="1"/>
          </p:cNvSpPr>
          <p:nvPr>
            <p:ph type="subTitle" idx="1"/>
          </p:nvPr>
        </p:nvSpPr>
        <p:spPr>
          <a:xfrm>
            <a:off x="1006475" y="2305508"/>
            <a:ext cx="6626225" cy="303222"/>
          </a:xfrm>
        </p:spPr>
        <p:txBody>
          <a:bodyPr/>
          <a:lstStyle>
            <a:lvl1pPr>
              <a:defRPr sz="1400"/>
            </a:lvl1pPr>
          </a:lstStyle>
          <a:p>
            <a:r>
              <a:rPr lang="de-DE" dirty="0"/>
              <a:t>Unabhängig. Werteorientiert. Persönlich.</a:t>
            </a:r>
          </a:p>
        </p:txBody>
      </p:sp>
      <p:sp>
        <p:nvSpPr>
          <p:cNvPr id="3" name="Titel 2">
            <a:extLst>
              <a:ext uri="{FF2B5EF4-FFF2-40B4-BE49-F238E27FC236}">
                <a16:creationId xmlns:a16="http://schemas.microsoft.com/office/drawing/2014/main" id="{394C6BC0-9A88-575F-3B5B-DE399B2C5D10}"/>
              </a:ext>
            </a:extLst>
          </p:cNvPr>
          <p:cNvSpPr>
            <a:spLocks noGrp="1"/>
          </p:cNvSpPr>
          <p:nvPr>
            <p:ph type="ctrTitle"/>
          </p:nvPr>
        </p:nvSpPr>
        <p:spPr>
          <a:xfrm>
            <a:off x="1006475" y="1041400"/>
            <a:ext cx="6626225" cy="931775"/>
          </a:xfrm>
        </p:spPr>
        <p:txBody>
          <a:bodyPr/>
          <a:lstStyle>
            <a:lvl1pPr>
              <a:defRPr sz="2000"/>
            </a:lvl1pPr>
          </a:lstStyle>
          <a:p>
            <a:r>
              <a:rPr lang="de-DE" dirty="0"/>
              <a:t>Unsere ESG-Vermögensverwaltung </a:t>
            </a:r>
            <a:br>
              <a:rPr lang="de-DE" dirty="0"/>
            </a:br>
            <a:r>
              <a:rPr lang="de-DE" dirty="0"/>
              <a:t>auf ETF-Basis</a:t>
            </a: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g"/><Relationship Id="rId1" Type="http://schemas.openxmlformats.org/officeDocument/2006/relationships/slideLayout" Target="../slideLayouts/slideLayout15.xml"/><Relationship Id="rId4" Type="http://schemas.openxmlformats.org/officeDocument/2006/relationships/image" Target="../media/image2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2.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jpg"/><Relationship Id="rId1" Type="http://schemas.openxmlformats.org/officeDocument/2006/relationships/slideLayout" Target="../slideLayouts/slideLayout20.xml"/><Relationship Id="rId4" Type="http://schemas.openxmlformats.org/officeDocument/2006/relationships/image" Target="../media/image35.jpg"/></Relationships>
</file>

<file path=ppt/slides/_rels/slide23.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image" Target="../media/image36.png"/><Relationship Id="rId1" Type="http://schemas.openxmlformats.org/officeDocument/2006/relationships/slideLayout" Target="../slideLayouts/slideLayout20.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3" Type="http://schemas.openxmlformats.org/officeDocument/2006/relationships/hyperlink" Target="mailto:info@fuggerbank.de" TargetMode="External"/><Relationship Id="rId2" Type="http://schemas.openxmlformats.org/officeDocument/2006/relationships/image" Target="../media/image2.png"/><Relationship Id="rId1" Type="http://schemas.openxmlformats.org/officeDocument/2006/relationships/slideLayout" Target="../slideLayouts/slideLayout15.xml"/><Relationship Id="rId6" Type="http://schemas.openxmlformats.org/officeDocument/2006/relationships/hyperlink" Target="https://www.ecb.europa.eu/" TargetMode="External"/><Relationship Id="rId5" Type="http://schemas.openxmlformats.org/officeDocument/2006/relationships/hyperlink" Target="http://www.bafin.de/" TargetMode="External"/><Relationship Id="rId4" Type="http://schemas.openxmlformats.org/officeDocument/2006/relationships/hyperlink" Target="http://www.fuggerbank.d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1">
            <a:extLst>
              <a:ext uri="{FF2B5EF4-FFF2-40B4-BE49-F238E27FC236}">
                <a16:creationId xmlns:a16="http://schemas.microsoft.com/office/drawing/2014/main" id="{69B4EA7D-A5FE-7752-00E6-26B915E51571}"/>
              </a:ext>
            </a:extLst>
          </p:cNvPr>
          <p:cNvSpPr>
            <a:spLocks noGrp="1"/>
          </p:cNvSpPr>
          <p:nvPr>
            <p:ph type="subTitle" idx="1"/>
          </p:nvPr>
        </p:nvSpPr>
        <p:spPr>
          <a:xfrm>
            <a:off x="1006475" y="2305508"/>
            <a:ext cx="6626225" cy="303222"/>
          </a:xfrm>
        </p:spPr>
        <p:txBody>
          <a:bodyPr/>
          <a:lstStyle>
            <a:lvl1pPr>
              <a:defRPr sz="1400"/>
            </a:lvl1pPr>
          </a:lstStyle>
          <a:p>
            <a:r>
              <a:rPr lang="de-DE" b="0" dirty="0">
                <a:latin typeface="+mn-lt"/>
              </a:rPr>
              <a:t>Unabhängig. Werteorientiert. Persönlich.</a:t>
            </a:r>
          </a:p>
        </p:txBody>
      </p:sp>
      <p:sp>
        <p:nvSpPr>
          <p:cNvPr id="4" name="Titel 2">
            <a:extLst>
              <a:ext uri="{FF2B5EF4-FFF2-40B4-BE49-F238E27FC236}">
                <a16:creationId xmlns:a16="http://schemas.microsoft.com/office/drawing/2014/main" id="{C0103192-9984-CD70-9080-F88F2B387A98}"/>
              </a:ext>
            </a:extLst>
          </p:cNvPr>
          <p:cNvSpPr>
            <a:spLocks noGrp="1"/>
          </p:cNvSpPr>
          <p:nvPr>
            <p:ph type="ctrTitle"/>
          </p:nvPr>
        </p:nvSpPr>
        <p:spPr>
          <a:xfrm>
            <a:off x="1006475" y="1041400"/>
            <a:ext cx="6626225" cy="931775"/>
          </a:xfrm>
        </p:spPr>
        <p:txBody>
          <a:bodyPr/>
          <a:lstStyle>
            <a:lvl1pPr>
              <a:defRPr sz="2000"/>
            </a:lvl1pPr>
          </a:lstStyle>
          <a:p>
            <a:pPr>
              <a:lnSpc>
                <a:spcPts val="3500"/>
              </a:lnSpc>
            </a:pPr>
            <a:r>
              <a:rPr lang="de-DE" sz="2770" dirty="0"/>
              <a:t>Unsere ESG-Vermögensverwaltung </a:t>
            </a:r>
            <a:br>
              <a:rPr lang="de-DE" sz="2770" dirty="0"/>
            </a:br>
            <a:r>
              <a:rPr lang="de-DE" sz="2770" dirty="0"/>
              <a:t>auf ETF-Basis</a:t>
            </a:r>
          </a:p>
        </p:txBody>
      </p:sp>
      <p:cxnSp>
        <p:nvCxnSpPr>
          <p:cNvPr id="5" name="Linie">
            <a:extLst>
              <a:ext uri="{FF2B5EF4-FFF2-40B4-BE49-F238E27FC236}">
                <a16:creationId xmlns:a16="http://schemas.microsoft.com/office/drawing/2014/main" id="{22604EF2-EE09-5391-9718-B12B2ABBE27C}"/>
              </a:ext>
            </a:extLst>
          </p:cNvPr>
          <p:cNvCxnSpPr>
            <a:cxnSpLocks/>
          </p:cNvCxnSpPr>
          <p:nvPr/>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fld id="{3AE71D6B-ACB6-4F4C-A895-DCAEF1760EAA}" type="slidenum">
              <a:rPr lang="de-DE" smtClean="0"/>
              <a:t>2</a:t>
            </a:fld>
            <a:endParaRPr lang="de-DE"/>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3</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ESG-ETF Strategien	15</a:t>
            </a:r>
          </a:p>
          <a:p>
            <a:pPr>
              <a:lnSpc>
                <a:spcPct val="100000"/>
              </a:lnSpc>
            </a:pPr>
            <a:r>
              <a:rPr lang="de-DE" sz="1000" b="0" dirty="0">
                <a:solidFill>
                  <a:schemeClr val="accent3"/>
                </a:solidFill>
              </a:rPr>
              <a:t>Ausgewogen - Wachstum</a:t>
            </a:r>
            <a:endParaRPr lang="de-DE" dirty="0"/>
          </a:p>
          <a:p>
            <a:r>
              <a:rPr lang="de-DE" dirty="0"/>
              <a:t>Fürst Fugger Privatbank und ihre Standorte	21</a:t>
            </a:r>
          </a:p>
          <a:p>
            <a:r>
              <a:rPr lang="de-DE" dirty="0"/>
              <a:t>Anlagen	24</a:t>
            </a:r>
          </a:p>
          <a:p>
            <a:r>
              <a:rPr lang="de-DE" dirty="0"/>
              <a:t>Rechtliche Hinweise und Impressum	32</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spTree>
    <p:extLst>
      <p:ext uri="{BB962C8B-B14F-4D97-AF65-F5344CB8AC3E}">
        <p14:creationId xmlns:p14="http://schemas.microsoft.com/office/powerpoint/2010/main" val="3430581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7AABF23C-581D-AF68-BB80-150A18AF4928}"/>
              </a:ext>
            </a:extLst>
          </p:cNvPr>
          <p:cNvGrpSpPr>
            <a:grpSpLocks noGrp="1" noUngrp="1" noRot="1" noMove="1" noResize="1"/>
          </p:cNvGrpSpPr>
          <p:nvPr/>
        </p:nvGrpSpPr>
        <p:grpSpPr>
          <a:xfrm>
            <a:off x="1530927" y="1064563"/>
            <a:ext cx="7377546" cy="4530437"/>
            <a:chOff x="2753591" y="976745"/>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2753591" y="976745"/>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4849729" y="1043474"/>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sp>
          <p:nvSpPr>
            <p:cNvPr id="6" name="Quelle">
              <a:extLst>
                <a:ext uri="{FF2B5EF4-FFF2-40B4-BE49-F238E27FC236}">
                  <a16:creationId xmlns:a16="http://schemas.microsoft.com/office/drawing/2014/main" id="{1C4EA012-F223-F360-1480-306B606B5892}"/>
                </a:ext>
              </a:extLst>
            </p:cNvPr>
            <p:cNvSpPr txBox="1">
              <a:spLocks noGrp="1" noRot="1" noMove="1" noResize="1" noEditPoints="1" noAdjustHandles="1" noChangeArrowheads="1" noChangeShapeType="1"/>
            </p:cNvSpPr>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gr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2489067497"/>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582"/>
            <a:ext cx="5023481" cy="438399"/>
            <a:chOff x="2521092" y="2278473"/>
            <a:chExt cx="4400129" cy="383999"/>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473"/>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1899016223"/>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a:t>
                      </a:r>
                      <a:r>
                        <a:rPr lang="en-US" sz="1100" b="1" i="0" u="none" strike="noStrike" dirty="0" err="1">
                          <a:solidFill>
                            <a:schemeClr val="accent1"/>
                          </a:solidFill>
                          <a:effectLst/>
                          <a:latin typeface="+mn-lt"/>
                        </a:rPr>
                        <a:t>mitarbeiter</a:t>
                      </a:r>
                      <a:r>
                        <a:rPr lang="en-US" sz="1100" b="1" i="0" u="none" strike="noStrike" dirty="0">
                          <a:solidFill>
                            <a:schemeClr val="accent1"/>
                          </a:solidFill>
                          <a:effectLst/>
                          <a:latin typeface="+mn-lt"/>
                        </a:rPr>
                        <a:t>-</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4" name="Gruppieren 3">
            <a:extLst>
              <a:ext uri="{FF2B5EF4-FFF2-40B4-BE49-F238E27FC236}">
                <a16:creationId xmlns:a16="http://schemas.microsoft.com/office/drawing/2014/main" id="{7A86ABF0-C26A-E9D8-6815-3892E8E76198}"/>
              </a:ext>
            </a:extLst>
          </p:cNvPr>
          <p:cNvGrpSpPr>
            <a:grpSpLocks noGrp="1" noUngrp="1" noRot="1" noMove="1" noResize="1"/>
          </p:cNvGrpSpPr>
          <p:nvPr/>
        </p:nvGrpSpPr>
        <p:grpSpPr>
          <a:xfrm>
            <a:off x="1089035" y="1012608"/>
            <a:ext cx="8261330" cy="4634346"/>
            <a:chOff x="1953490" y="976745"/>
            <a:chExt cx="8261330"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6091156" y="3216022"/>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sp>
        <p:nvSpPr>
          <p:cNvPr id="28" name="Quelle">
            <a:extLst>
              <a:ext uri="{FF2B5EF4-FFF2-40B4-BE49-F238E27FC236}">
                <a16:creationId xmlns:a16="http://schemas.microsoft.com/office/drawing/2014/main" id="{E0849F0D-FE42-A05D-E520-B872AC885E99}"/>
              </a:ext>
            </a:extLst>
          </p:cNvPr>
          <p:cNvSpPr txBox="1"/>
          <p:nvPr/>
        </p:nvSpPr>
        <p:spPr>
          <a:xfrm>
            <a:off x="1208056" y="543944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82634227"/>
              </p:ext>
            </p:extLst>
          </p:nvPr>
        </p:nvGraphicFramePr>
        <p:xfrm>
          <a:off x="2356050" y="1193556"/>
          <a:ext cx="5727299" cy="427244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ESG-ETF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ESG-ETF Wachstum</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Ausgewogene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Offensive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r>
                        <a:rPr lang="de-DE" sz="1100" b="0" kern="0" spc="20" dirty="0">
                          <a:solidFill>
                            <a:schemeClr val="accent1"/>
                          </a:solidFill>
                          <a:latin typeface="Noto Sans"/>
                          <a:ea typeface="+mn-ea"/>
                          <a:cs typeface="Noto Sans"/>
                        </a:rPr>
                        <a:t>Ausgewogenes Verhältnis zwischen Ertragschancen und Risiken.</a:t>
                      </a:r>
                    </a:p>
                    <a:p>
                      <a:r>
                        <a:rPr lang="de-DE" sz="1100" b="0" kern="0" spc="20" dirty="0">
                          <a:solidFill>
                            <a:schemeClr val="accent1"/>
                          </a:solidFill>
                          <a:latin typeface="Noto Sans"/>
                          <a:ea typeface="+mn-ea"/>
                          <a:cs typeface="Noto Sans"/>
                        </a:rPr>
                        <a:t>Langfristig bedeutender realer Vermögenszuwachs.</a:t>
                      </a:r>
                      <a:endParaRPr lang="de-DE" sz="1800" b="0" i="0" u="none" strike="noStrike" kern="1200" baseline="0" dirty="0">
                        <a:solidFill>
                          <a:schemeClr val="dk1"/>
                        </a:solidFill>
                        <a:latin typeface="Gill Alt One MT"/>
                        <a:ea typeface=""/>
                        <a:cs typeface=""/>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Höhere Risiken spiegeln sich in höheren Ertragschancen wider.</a:t>
                      </a:r>
                    </a:p>
                    <a:p>
                      <a:pPr marL="0" algn="l" defTabSz="914400" rtl="0" eaLnBrk="1" latinLnBrk="0" hangingPunct="1"/>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40%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ESG-ETF 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Ausgewogen – Wachstum</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0D00-000002000000}"/>
              </a:ext>
            </a:extLst>
          </p:cNvPr>
          <p:cNvGraphicFramePr>
            <a:graphicFrameLocks noGrp="1" noDrilldown="1" noMove="1" noResize="1"/>
          </p:cNvGraphicFramePr>
          <p:nvPr>
            <p:extLst>
              <p:ext uri="{D42A27DB-BD31-4B8C-83A1-F6EECF244321}">
                <p14:modId xmlns:p14="http://schemas.microsoft.com/office/powerpoint/2010/main" val="3497426947"/>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0E7E3946-C4CB-E008-6A4A-BA0E60CB6887}"/>
              </a:ext>
            </a:extLst>
          </p:cNvPr>
          <p:cNvGraphicFramePr>
            <a:graphicFrameLocks noGrp="1" noDrilldown="1" noMove="1" noResize="1"/>
          </p:cNvGraphicFramePr>
          <p:nvPr>
            <p:extLst>
              <p:ext uri="{D42A27DB-BD31-4B8C-83A1-F6EECF244321}">
                <p14:modId xmlns:p14="http://schemas.microsoft.com/office/powerpoint/2010/main" val="1597476170"/>
              </p:ext>
            </p:extLst>
          </p:nvPr>
        </p:nvGraphicFramePr>
        <p:xfrm>
          <a:off x="4508500" y="1040400"/>
          <a:ext cx="5613400" cy="4773826"/>
        </p:xfrm>
        <a:graphic>
          <a:graphicData uri="http://schemas.openxmlformats.org/drawingml/2006/table">
            <a:tbl>
              <a:tblPr/>
              <a:tblGrid>
                <a:gridCol w="3429000">
                  <a:extLst>
                    <a:ext uri="{9D8B030D-6E8A-4147-A177-3AD203B41FA5}">
                      <a16:colId xmlns:a16="http://schemas.microsoft.com/office/drawing/2014/main" val="2852546665"/>
                    </a:ext>
                  </a:extLst>
                </a:gridCol>
                <a:gridCol w="50800">
                  <a:extLst>
                    <a:ext uri="{9D8B030D-6E8A-4147-A177-3AD203B41FA5}">
                      <a16:colId xmlns:a16="http://schemas.microsoft.com/office/drawing/2014/main" val="907499476"/>
                    </a:ext>
                  </a:extLst>
                </a:gridCol>
                <a:gridCol w="571500">
                  <a:extLst>
                    <a:ext uri="{9D8B030D-6E8A-4147-A177-3AD203B41FA5}">
                      <a16:colId xmlns:a16="http://schemas.microsoft.com/office/drawing/2014/main" val="620423941"/>
                    </a:ext>
                  </a:extLst>
                </a:gridCol>
                <a:gridCol w="50800">
                  <a:extLst>
                    <a:ext uri="{9D8B030D-6E8A-4147-A177-3AD203B41FA5}">
                      <a16:colId xmlns:a16="http://schemas.microsoft.com/office/drawing/2014/main" val="617837219"/>
                    </a:ext>
                  </a:extLst>
                </a:gridCol>
                <a:gridCol w="571500">
                  <a:extLst>
                    <a:ext uri="{9D8B030D-6E8A-4147-A177-3AD203B41FA5}">
                      <a16:colId xmlns:a16="http://schemas.microsoft.com/office/drawing/2014/main" val="349345812"/>
                    </a:ext>
                  </a:extLst>
                </a:gridCol>
                <a:gridCol w="50800">
                  <a:extLst>
                    <a:ext uri="{9D8B030D-6E8A-4147-A177-3AD203B41FA5}">
                      <a16:colId xmlns:a16="http://schemas.microsoft.com/office/drawing/2014/main" val="1925593678"/>
                    </a:ext>
                  </a:extLst>
                </a:gridCol>
                <a:gridCol w="889000">
                  <a:extLst>
                    <a:ext uri="{9D8B030D-6E8A-4147-A177-3AD203B41FA5}">
                      <a16:colId xmlns:a16="http://schemas.microsoft.com/office/drawing/2014/main" val="2353082488"/>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510456559"/>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5933963"/>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Environmental Impact 100 ETF (Rize)</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A3CN9S</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9947076"/>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1777768"/>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MSCI Europe SRI ETF (iShares)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A1H7ZS</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57374435"/>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Stoxx Europe Select Dividend 30 ETF (Amundi)</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LYX0Y9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37677162"/>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5921658"/>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Deutschland Staatsanl. ETF 5-10 J. (Deka)</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ETFL20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1364778"/>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EUR Corp. Bond SRI 3-5Y ETF (BNPP Easy)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A2PP8C</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9318340"/>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Sustainable Euro Green Bond ETF (Franklin)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A2PB5T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9315039"/>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USD Corp. Greenbond ETF EUR Hdgd (Xtrackers)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DBX0KF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11764871"/>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27261465"/>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Physical Gold ETC (Invesco)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A1AA5X</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17516921"/>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4,60%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71696304"/>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794794740"/>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184709622"/>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AUsgewogen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40 %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ESG-ETF Ausgewogen</a:t>
            </a:r>
          </a:p>
        </p:txBody>
      </p:sp>
    </p:spTree>
    <p:extLst>
      <p:ext uri="{BB962C8B-B14F-4D97-AF65-F5344CB8AC3E}">
        <p14:creationId xmlns:p14="http://schemas.microsoft.com/office/powerpoint/2010/main" val="35154200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20% EONIA Euro </a:t>
            </a:r>
            <a:r>
              <a:rPr lang="de-DE" dirty="0" err="1"/>
              <a:t>Overnight</a:t>
            </a:r>
            <a:r>
              <a:rPr lang="de-DE" dirty="0"/>
              <a:t> Index; 35% </a:t>
            </a:r>
            <a:r>
              <a:rPr lang="de-DE" dirty="0" err="1"/>
              <a:t>iBoxx</a:t>
            </a:r>
            <a:r>
              <a:rPr lang="de-DE" dirty="0"/>
              <a:t> Corp. 3-5 RE.; 25% </a:t>
            </a:r>
            <a:r>
              <a:rPr lang="de-DE" dirty="0" err="1"/>
              <a:t>iBoxx</a:t>
            </a:r>
            <a:r>
              <a:rPr lang="de-DE" dirty="0"/>
              <a:t> E Germany 7-10 TR; 20%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F2AA1C4A-347F-452B-B0F2-BA00ED1387E1}"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8022125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6485466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8891952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2015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33,71%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2015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ESG-ETF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0D00-000003000000}"/>
              </a:ext>
            </a:extLst>
          </p:cNvPr>
          <p:cNvGraphicFramePr>
            <a:graphicFrameLocks noGrp="1" noDrilldown="1" noMove="1" noResize="1"/>
          </p:cNvGraphicFramePr>
          <p:nvPr>
            <p:extLst>
              <p:ext uri="{D42A27DB-BD31-4B8C-83A1-F6EECF244321}">
                <p14:modId xmlns:p14="http://schemas.microsoft.com/office/powerpoint/2010/main" val="3047114817"/>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FEC1BC2-CAF3-3B31-A015-C4E592815347}"/>
              </a:ext>
            </a:extLst>
          </p:cNvPr>
          <p:cNvGraphicFramePr>
            <a:graphicFrameLocks noGrp="1" noDrilldown="1" noMove="1" noResize="1"/>
          </p:cNvGraphicFramePr>
          <p:nvPr>
            <p:extLst>
              <p:ext uri="{D42A27DB-BD31-4B8C-83A1-F6EECF244321}">
                <p14:modId xmlns:p14="http://schemas.microsoft.com/office/powerpoint/2010/main" val="1298958958"/>
              </p:ext>
            </p:extLst>
          </p:nvPr>
        </p:nvGraphicFramePr>
        <p:xfrm>
          <a:off x="4508500" y="1040400"/>
          <a:ext cx="5613400" cy="4773527"/>
        </p:xfrm>
        <a:graphic>
          <a:graphicData uri="http://schemas.openxmlformats.org/drawingml/2006/table">
            <a:tbl>
              <a:tblPr/>
              <a:tblGrid>
                <a:gridCol w="3429000">
                  <a:extLst>
                    <a:ext uri="{9D8B030D-6E8A-4147-A177-3AD203B41FA5}">
                      <a16:colId xmlns:a16="http://schemas.microsoft.com/office/drawing/2014/main" val="3514621160"/>
                    </a:ext>
                  </a:extLst>
                </a:gridCol>
                <a:gridCol w="50800">
                  <a:extLst>
                    <a:ext uri="{9D8B030D-6E8A-4147-A177-3AD203B41FA5}">
                      <a16:colId xmlns:a16="http://schemas.microsoft.com/office/drawing/2014/main" val="3632289141"/>
                    </a:ext>
                  </a:extLst>
                </a:gridCol>
                <a:gridCol w="571500">
                  <a:extLst>
                    <a:ext uri="{9D8B030D-6E8A-4147-A177-3AD203B41FA5}">
                      <a16:colId xmlns:a16="http://schemas.microsoft.com/office/drawing/2014/main" val="3246321000"/>
                    </a:ext>
                  </a:extLst>
                </a:gridCol>
                <a:gridCol w="50800">
                  <a:extLst>
                    <a:ext uri="{9D8B030D-6E8A-4147-A177-3AD203B41FA5}">
                      <a16:colId xmlns:a16="http://schemas.microsoft.com/office/drawing/2014/main" val="4201408870"/>
                    </a:ext>
                  </a:extLst>
                </a:gridCol>
                <a:gridCol w="571500">
                  <a:extLst>
                    <a:ext uri="{9D8B030D-6E8A-4147-A177-3AD203B41FA5}">
                      <a16:colId xmlns:a16="http://schemas.microsoft.com/office/drawing/2014/main" val="620137128"/>
                    </a:ext>
                  </a:extLst>
                </a:gridCol>
                <a:gridCol w="50800">
                  <a:extLst>
                    <a:ext uri="{9D8B030D-6E8A-4147-A177-3AD203B41FA5}">
                      <a16:colId xmlns:a16="http://schemas.microsoft.com/office/drawing/2014/main" val="822952335"/>
                    </a:ext>
                  </a:extLst>
                </a:gridCol>
                <a:gridCol w="889000">
                  <a:extLst>
                    <a:ext uri="{9D8B030D-6E8A-4147-A177-3AD203B41FA5}">
                      <a16:colId xmlns:a16="http://schemas.microsoft.com/office/drawing/2014/main" val="1972834599"/>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99407080"/>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51645003"/>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ECPI Circular Economy Leaders ETF (BNP)</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A2PHCA</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9,89%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08417537"/>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Environmental Impact 100 ETF (Rize)</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A3CN9S</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021972"/>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26,61%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381763"/>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MSCI Europe SRI ETF (iShares)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A1H7ZS</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2538376"/>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Stoxx Europe Select Dividend 30 ETF (Amundi)</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LYX0Y9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89671857"/>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US Equity Research Enhanced ETF (Fidelity)</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A2P0ZN</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4868938"/>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233235"/>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USD Corp. Greenbond ETF EUR Hdgd (Xtrackers)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DBX0KF</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11,35%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643711"/>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2722403"/>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Physical Gold ETC (Invesco)</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A1AA5X</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895410"/>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2,94%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73061471"/>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762468655"/>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322940722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Wachstum</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ESG-ETF Wachstum</a:t>
            </a:r>
          </a:p>
        </p:txBody>
      </p:sp>
    </p:spTree>
    <p:extLst>
      <p:ext uri="{BB962C8B-B14F-4D97-AF65-F5344CB8AC3E}">
        <p14:creationId xmlns:p14="http://schemas.microsoft.com/office/powerpoint/2010/main" val="33945485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20% EONIA Euro </a:t>
            </a:r>
            <a:r>
              <a:rPr lang="de-DE" dirty="0" err="1"/>
              <a:t>Overnight</a:t>
            </a:r>
            <a:r>
              <a:rPr lang="de-DE" dirty="0"/>
              <a:t> Index; 15% </a:t>
            </a:r>
            <a:r>
              <a:rPr lang="de-DE" dirty="0" err="1"/>
              <a:t>iBoxx</a:t>
            </a:r>
            <a:r>
              <a:rPr lang="de-DE" dirty="0"/>
              <a:t> Corp. 3-5 RE.; 15% </a:t>
            </a:r>
            <a:r>
              <a:rPr lang="de-DE" dirty="0" err="1"/>
              <a:t>iBoxx</a:t>
            </a:r>
            <a:r>
              <a:rPr lang="de-DE" dirty="0"/>
              <a:t> E Germany 7-10 TR; 50%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1748B8D-878C-4DD9-9989-74412CFE83F7}"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6044134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842412920"/>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49445940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2015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56,81%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2015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4,35%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8,82%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ESG-ETF Wachstum|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20</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a:t>
            </a:r>
            <a:br>
              <a:rPr lang="de-DE" dirty="0"/>
            </a:br>
            <a:r>
              <a:rPr lang="de-DE" dirty="0"/>
              <a:t>ESG-ETF Vermögensverwaltungsstrategien</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extLst>
              <p:ext uri="{D42A27DB-BD31-4B8C-83A1-F6EECF244321}">
                <p14:modId xmlns:p14="http://schemas.microsoft.com/office/powerpoint/2010/main" val="2972969794"/>
              </p:ext>
            </p:extLst>
          </p:nvPr>
        </p:nvGraphicFramePr>
        <p:xfrm>
          <a:off x="611247" y="1257899"/>
          <a:ext cx="4863215"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Wachstum</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4,26%</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8,82%</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10,12%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16,02%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23,73%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28,96%</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16,58%</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24,62%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11247" y="4440116"/>
            <a:ext cx="486321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a:xfrm>
            <a:off x="1036594" y="2084366"/>
            <a:ext cx="9056640" cy="1827500"/>
          </a:xfrm>
        </p:spPr>
        <p:txBody>
          <a:bodyPr/>
          <a:lstStyle/>
          <a:p>
            <a:r>
              <a:rPr lang="de-DE" dirty="0"/>
              <a:t>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22</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8" name="Gruppieren 7">
            <a:extLst>
              <a:ext uri="{FF2B5EF4-FFF2-40B4-BE49-F238E27FC236}">
                <a16:creationId xmlns:a16="http://schemas.microsoft.com/office/drawing/2014/main" id="{6C513B55-BADA-FCED-FC8D-3DBC8E238CA1}"/>
              </a:ext>
            </a:extLst>
          </p:cNvPr>
          <p:cNvGrpSpPr/>
          <p:nvPr/>
        </p:nvGrpSpPr>
        <p:grpSpPr>
          <a:xfrm>
            <a:off x="1896896" y="1788403"/>
            <a:ext cx="6645608" cy="1656000"/>
            <a:chOff x="1896896" y="729000"/>
            <a:chExt cx="6645608" cy="1656000"/>
          </a:xfrm>
        </p:grpSpPr>
        <p:pic>
          <p:nvPicPr>
            <p:cNvPr id="9" name="Bild links">
              <a:extLst>
                <a:ext uri="{FF2B5EF4-FFF2-40B4-BE49-F238E27FC236}">
                  <a16:creationId xmlns:a16="http://schemas.microsoft.com/office/drawing/2014/main" id="{5C0489DA-40E3-F844-6DE5-B0406D36BDAB}"/>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10" name="Bild mitte">
              <a:extLst>
                <a:ext uri="{FF2B5EF4-FFF2-40B4-BE49-F238E27FC236}">
                  <a16:creationId xmlns:a16="http://schemas.microsoft.com/office/drawing/2014/main" id="{AC8797E9-450C-FB37-9811-063C8E0B1F2A}"/>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1" name="Bild rechts">
              <a:extLst>
                <a:ext uri="{FF2B5EF4-FFF2-40B4-BE49-F238E27FC236}">
                  <a16:creationId xmlns:a16="http://schemas.microsoft.com/office/drawing/2014/main" id="{6552B7C5-280E-3F45-6C29-214223E3ED7E}"/>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23</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a:solidFill>
                  <a:schemeClr val="accent1"/>
                </a:solidFill>
                <a:latin typeface="Noto Serif"/>
                <a:cs typeface="Noto Serif"/>
              </a:rPr>
              <a:t> 8</a:t>
            </a:r>
            <a:endParaRPr lang="de-DE" sz="1200" b="0" i="0" cap="none" spc="0" baseline="0" dirty="0">
              <a:solidFill>
                <a:schemeClr val="accent1"/>
              </a:solidFill>
              <a:latin typeface="Noto Serif"/>
              <a:cs typeface="Noto Serif"/>
            </a:endParaRP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4" name="Gruppieren 3">
            <a:extLst>
              <a:ext uri="{FF2B5EF4-FFF2-40B4-BE49-F238E27FC236}">
                <a16:creationId xmlns:a16="http://schemas.microsoft.com/office/drawing/2014/main" id="{419D86A5-C203-F26D-44FF-7562A9000EDA}"/>
              </a:ext>
            </a:extLst>
          </p:cNvPr>
          <p:cNvGrpSpPr/>
          <p:nvPr/>
        </p:nvGrpSpPr>
        <p:grpSpPr>
          <a:xfrm>
            <a:off x="1961465" y="1797879"/>
            <a:ext cx="6516470" cy="1656000"/>
            <a:chOff x="1961465" y="1776659"/>
            <a:chExt cx="6516470" cy="1656000"/>
          </a:xfrm>
        </p:grpSpPr>
        <p:pic>
          <p:nvPicPr>
            <p:cNvPr id="5" name="Bild rechts">
              <a:extLst>
                <a:ext uri="{FF2B5EF4-FFF2-40B4-BE49-F238E27FC236}">
                  <a16:creationId xmlns:a16="http://schemas.microsoft.com/office/drawing/2014/main" id="{E4764B8B-044C-6FC4-383E-6C1A134DFF6B}"/>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6" name="Bild mitte">
              <a:extLst>
                <a:ext uri="{FF2B5EF4-FFF2-40B4-BE49-F238E27FC236}">
                  <a16:creationId xmlns:a16="http://schemas.microsoft.com/office/drawing/2014/main" id="{192D9ACE-BFBE-95A4-7120-8B4341C9DE2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7" name="Bild links">
              <a:extLst>
                <a:ext uri="{FF2B5EF4-FFF2-40B4-BE49-F238E27FC236}">
                  <a16:creationId xmlns:a16="http://schemas.microsoft.com/office/drawing/2014/main" id="{047F1AA1-5181-0602-4FB5-195FC94E7C21}"/>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25</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greifen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a:t>
            </a:r>
          </a:p>
          <a:p>
            <a:pPr marL="171450" indent="-171450">
              <a:spcBef>
                <a:spcPts val="200"/>
              </a:spcBef>
              <a:buFont typeface="Arial" panose="020B0604020202020204" pitchFamily="34" charset="0"/>
              <a:buChar char="•"/>
            </a:pPr>
            <a:r>
              <a:rPr lang="de-DE" b="0" dirty="0"/>
              <a:t>Fortlaufende 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28</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941105216"/>
              </p:ext>
            </p:extLst>
          </p:nvPr>
        </p:nvGraphicFramePr>
        <p:xfrm>
          <a:off x="2683655" y="2175898"/>
          <a:ext cx="5107013" cy="2307765"/>
        </p:xfrm>
        <a:graphic>
          <a:graphicData uri="http://schemas.openxmlformats.org/drawingml/2006/table">
            <a:tbl>
              <a:tblPr firstRow="1" bandRow="1"/>
              <a:tblGrid>
                <a:gridCol w="1775134">
                  <a:extLst>
                    <a:ext uri="{9D8B030D-6E8A-4147-A177-3AD203B41FA5}">
                      <a16:colId xmlns:a16="http://schemas.microsoft.com/office/drawing/2014/main" val="20000"/>
                    </a:ext>
                  </a:extLst>
                </a:gridCol>
                <a:gridCol w="1651865">
                  <a:extLst>
                    <a:ext uri="{9D8B030D-6E8A-4147-A177-3AD203B41FA5}">
                      <a16:colId xmlns:a16="http://schemas.microsoft.com/office/drawing/2014/main" val="3953192555"/>
                    </a:ext>
                  </a:extLst>
                </a:gridCol>
                <a:gridCol w="1680014">
                  <a:extLst>
                    <a:ext uri="{9D8B030D-6E8A-4147-A177-3AD203B41FA5}">
                      <a16:colId xmlns:a16="http://schemas.microsoft.com/office/drawing/2014/main" val="2318029501"/>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ESG-ETF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ESG-ETF Wachstum</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500 € netto bzw. mindestens </a:t>
                      </a:r>
                    </a:p>
                    <a:p>
                      <a:pPr algn="l"/>
                      <a:r>
                        <a:rPr lang="de-DE" sz="1000" b="0" kern="0" spc="20" dirty="0">
                          <a:solidFill>
                            <a:schemeClr val="accent1"/>
                          </a:solidFill>
                          <a:latin typeface="+mj-lt"/>
                          <a:ea typeface="+mn-ea"/>
                          <a:cs typeface="Noto Sans"/>
                        </a:rPr>
                        <a:t>595 €*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500 € netto bzw. mindestens </a:t>
                      </a:r>
                    </a:p>
                    <a:p>
                      <a:pPr algn="l"/>
                      <a:r>
                        <a:rPr lang="de-DE" sz="1000" b="0" kern="0" spc="20" dirty="0">
                          <a:solidFill>
                            <a:schemeClr val="accent1"/>
                          </a:solidFill>
                          <a:latin typeface="+mj-lt"/>
                          <a:ea typeface=""/>
                          <a:cs typeface="Noto Sans"/>
                        </a:rPr>
                        <a:t>595 €*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r>
              <a:rPr lang="de-DE" b="0" dirty="0"/>
              <a:t>Im Rahmen der Belastung der Vermögensverwaltungs-gebühr werden wir den steuerlich abzugsfähigen Transaktionskostenteil in den allgemeinen Verlust-verrechnungstopf für Ihre Konten und Depots einstellen, damit erfolgt automatisch die Verrechnung mit Ihren abgeltungssteuerpflichtigen Erträgen und damit eine Steuerminderung.</a:t>
            </a:r>
          </a:p>
          <a:p>
            <a:r>
              <a:rPr lang="de-DE" b="0" dirty="0"/>
              <a:t>Die Bank übernimmt keine Gewähr dafür, dass der Transaktionskostenanteil der All-in-Fee sowohl dem Grunde als auch der Höhe nach als Steuer mindernd anerkannt wird.</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r>
              <a:rPr lang="de-DE" b="0" dirty="0"/>
              <a:t>Mit der Einführung der Abgeltungssteuer zum 01. Januar 2009 sind die Werbungskosten bei der Ermittlung aus Kapitalvermögen grundsätzlich nicht mehr abzugsfähig. Hingegen wirken sich Anschaffungsnebenkosten und Veräußerungskosten steuermindernd aus. </a:t>
            </a:r>
          </a:p>
          <a:p>
            <a:r>
              <a:rPr lang="de-DE" b="0" dirty="0"/>
              <a:t>Bei Pauschalgebühren (All-in-Fee) im Rahmen von Vermögensverwaltungsverträgen werden sämtliche Management- und eigene Transaktionsleistungen der Bank, sowie alle Dienstleistungen abgegolten, die sie im Zusammenhang mit der Führung der verwalteten Konten und Depots erbringt. Es gilt ein Anteil der Transaktionskosten (Anschaffungsnebenkosten und Veräußerungskosten) an der All-in-Fee in Höhe von 50% als vereinbart und wird im Vermögensverwaltungs-vertrag festgeschrieben.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Steuerlicher Hinweis zum Honorar</a:t>
            </a:r>
          </a:p>
        </p:txBody>
      </p:sp>
    </p:spTree>
    <p:extLst>
      <p:ext uri="{BB962C8B-B14F-4D97-AF65-F5344CB8AC3E}">
        <p14:creationId xmlns:p14="http://schemas.microsoft.com/office/powerpoint/2010/main" val="8436986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98593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33</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3445</Words>
  <Application>Microsoft Office PowerPoint</Application>
  <PresentationFormat>Benutzerdefiniert</PresentationFormat>
  <Paragraphs>656</Paragraphs>
  <Slides>35</Slides>
  <Notes>0</Notes>
  <HiddenSlides>0</HiddenSlides>
  <MMClips>0</MMClips>
  <ScaleCrop>false</ScaleCrop>
  <HeadingPairs>
    <vt:vector size="6" baseType="variant">
      <vt:variant>
        <vt:lpstr>Verwendete Schriftarten</vt:lpstr>
      </vt:variant>
      <vt:variant>
        <vt:i4>10</vt:i4>
      </vt:variant>
      <vt:variant>
        <vt:lpstr>Design</vt:lpstr>
      </vt:variant>
      <vt:variant>
        <vt:i4>1</vt:i4>
      </vt:variant>
      <vt:variant>
        <vt:lpstr>Folientitel</vt:lpstr>
      </vt:variant>
      <vt:variant>
        <vt:i4>35</vt:i4>
      </vt:variant>
    </vt:vector>
  </HeadingPairs>
  <TitlesOfParts>
    <vt:vector size="46" baseType="lpstr">
      <vt:lpstr>Arial</vt:lpstr>
      <vt:lpstr>Calibri</vt:lpstr>
      <vt:lpstr>Gill Alt One MT</vt:lpstr>
      <vt:lpstr>Gill Sans</vt:lpstr>
      <vt:lpstr>Lucida Grande</vt:lpstr>
      <vt:lpstr>Noto Sans</vt:lpstr>
      <vt:lpstr>Noto Serif</vt:lpstr>
      <vt:lpstr>Open Sans</vt:lpstr>
      <vt:lpstr>Symbol</vt:lpstr>
      <vt:lpstr>Wingdings 2</vt:lpstr>
      <vt:lpstr>Office</vt:lpstr>
      <vt:lpstr>Unsere ESG-Vermögensverwaltung  auf ETF-Basis</vt:lpstr>
      <vt:lpstr>Inhalt</vt:lpstr>
      <vt:lpstr>PowerPoint-Präsentation</vt:lpstr>
      <vt:lpstr>NACHHALTIGKEIT  LIEGT UNS AM HERZEN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ESG-ETF Ausgewogen</vt:lpstr>
      <vt:lpstr>Anlagestrategie ESG-ETF Ausgewogen | Wertentwicklung</vt:lpstr>
      <vt:lpstr>Anlagestrategie ESG-ETF Wachstum</vt:lpstr>
      <vt:lpstr>Anlagestrategie ESG-ETF Wachstum| Wertentwicklung</vt:lpstr>
      <vt:lpstr>Wertentwicklung der  ESG-ETF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Steuerlicher Hinweis zum Honorar</vt:lpstr>
      <vt:lpstr>Unser Reporting</vt:lpstr>
      <vt:lpstr>PowerPoint-Präsentation</vt:lpstr>
      <vt:lpstr>Risikohinweise</vt:lpstr>
      <vt:lpstr>Rechtliche Hinweise und Impressum</vt:lpstr>
      <vt:lpstr>PowerPoint-Präsentation</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195</cp:revision>
  <dcterms:created xsi:type="dcterms:W3CDTF">2023-08-14T05:18:02Z</dcterms:created>
  <dcterms:modified xsi:type="dcterms:W3CDTF">2026-07-20T08:57:09Z</dcterms:modified>
  <cp:category>Vorlagen;Design</cp:category>
</cp:coreProperties>
</file>