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3.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drawings/drawing4.xml" ContentType="application/vnd.openxmlformats-officedocument.drawingml.chartshapes+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drawings/drawing5.xml" ContentType="application/vnd.openxmlformats-officedocument.drawingml.chartshapes+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drawings/drawing6.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9"/>
  </p:notesMasterIdLst>
  <p:sldIdLst>
    <p:sldId id="256" r:id="rId2"/>
    <p:sldId id="267" r:id="rId3"/>
    <p:sldId id="268" r:id="rId4"/>
    <p:sldId id="269" r:id="rId5"/>
    <p:sldId id="270" r:id="rId6"/>
    <p:sldId id="271" r:id="rId7"/>
    <p:sldId id="257" r:id="rId8"/>
    <p:sldId id="302" r:id="rId9"/>
    <p:sldId id="272" r:id="rId10"/>
    <p:sldId id="303" r:id="rId11"/>
    <p:sldId id="273" r:id="rId12"/>
    <p:sldId id="304" r:id="rId13"/>
    <p:sldId id="274" r:id="rId14"/>
    <p:sldId id="305" r:id="rId15"/>
    <p:sldId id="275" r:id="rId16"/>
    <p:sldId id="306" r:id="rId17"/>
    <p:sldId id="307" r:id="rId18"/>
    <p:sldId id="309" r:id="rId19"/>
    <p:sldId id="308" r:id="rId20"/>
    <p:sldId id="283" r:id="rId21"/>
    <p:sldId id="284" r:id="rId22"/>
    <p:sldId id="285" r:id="rId23"/>
    <p:sldId id="300" r:id="rId24"/>
    <p:sldId id="286" r:id="rId25"/>
    <p:sldId id="287" r:id="rId26"/>
    <p:sldId id="288" r:id="rId27"/>
    <p:sldId id="289" r:id="rId28"/>
    <p:sldId id="290" r:id="rId29"/>
    <p:sldId id="310" r:id="rId30"/>
    <p:sldId id="292" r:id="rId31"/>
    <p:sldId id="293" r:id="rId32"/>
    <p:sldId id="294" r:id="rId33"/>
    <p:sldId id="295" r:id="rId34"/>
    <p:sldId id="296" r:id="rId35"/>
    <p:sldId id="297" r:id="rId36"/>
    <p:sldId id="298" r:id="rId37"/>
    <p:sldId id="299" r:id="rId38"/>
  </p:sldIdLst>
  <p:sldSz cx="10439400" cy="6659563"/>
  <p:notesSz cx="6858000" cy="9144000"/>
  <p:defaultTextStyle>
    <a:defPPr>
      <a:defRPr lang="de-DE"/>
    </a:defPPr>
    <a:lvl1pPr marL="0" algn="l" defTabSz="820674" rtl="0" eaLnBrk="1" latinLnBrk="0" hangingPunct="1">
      <a:defRPr sz="1616" kern="1200">
        <a:solidFill>
          <a:schemeClr val="tx1"/>
        </a:solidFill>
        <a:latin typeface="+mn-lt"/>
        <a:ea typeface="+mn-ea"/>
        <a:cs typeface="+mn-cs"/>
      </a:defRPr>
    </a:lvl1pPr>
    <a:lvl2pPr marL="410337" algn="l" defTabSz="820674" rtl="0" eaLnBrk="1" latinLnBrk="0" hangingPunct="1">
      <a:defRPr sz="1616" kern="1200">
        <a:solidFill>
          <a:schemeClr val="tx1"/>
        </a:solidFill>
        <a:latin typeface="+mn-lt"/>
        <a:ea typeface="+mn-ea"/>
        <a:cs typeface="+mn-cs"/>
      </a:defRPr>
    </a:lvl2pPr>
    <a:lvl3pPr marL="820674" algn="l" defTabSz="820674" rtl="0" eaLnBrk="1" latinLnBrk="0" hangingPunct="1">
      <a:defRPr sz="1616" kern="1200">
        <a:solidFill>
          <a:schemeClr val="tx1"/>
        </a:solidFill>
        <a:latin typeface="+mn-lt"/>
        <a:ea typeface="+mn-ea"/>
        <a:cs typeface="+mn-cs"/>
      </a:defRPr>
    </a:lvl3pPr>
    <a:lvl4pPr marL="1231011" algn="l" defTabSz="820674" rtl="0" eaLnBrk="1" latinLnBrk="0" hangingPunct="1">
      <a:defRPr sz="1616" kern="1200">
        <a:solidFill>
          <a:schemeClr val="tx1"/>
        </a:solidFill>
        <a:latin typeface="+mn-lt"/>
        <a:ea typeface="+mn-ea"/>
        <a:cs typeface="+mn-cs"/>
      </a:defRPr>
    </a:lvl4pPr>
    <a:lvl5pPr marL="1641348" algn="l" defTabSz="820674" rtl="0" eaLnBrk="1" latinLnBrk="0" hangingPunct="1">
      <a:defRPr sz="1616" kern="1200">
        <a:solidFill>
          <a:schemeClr val="tx1"/>
        </a:solidFill>
        <a:latin typeface="+mn-lt"/>
        <a:ea typeface="+mn-ea"/>
        <a:cs typeface="+mn-cs"/>
      </a:defRPr>
    </a:lvl5pPr>
    <a:lvl6pPr marL="2051685" algn="l" defTabSz="820674" rtl="0" eaLnBrk="1" latinLnBrk="0" hangingPunct="1">
      <a:defRPr sz="1616" kern="1200">
        <a:solidFill>
          <a:schemeClr val="tx1"/>
        </a:solidFill>
        <a:latin typeface="+mn-lt"/>
        <a:ea typeface="+mn-ea"/>
        <a:cs typeface="+mn-cs"/>
      </a:defRPr>
    </a:lvl6pPr>
    <a:lvl7pPr marL="2462022" algn="l" defTabSz="820674" rtl="0" eaLnBrk="1" latinLnBrk="0" hangingPunct="1">
      <a:defRPr sz="1616" kern="1200">
        <a:solidFill>
          <a:schemeClr val="tx1"/>
        </a:solidFill>
        <a:latin typeface="+mn-lt"/>
        <a:ea typeface="+mn-ea"/>
        <a:cs typeface="+mn-cs"/>
      </a:defRPr>
    </a:lvl7pPr>
    <a:lvl8pPr marL="2872359" algn="l" defTabSz="820674" rtl="0" eaLnBrk="1" latinLnBrk="0" hangingPunct="1">
      <a:defRPr sz="1616" kern="1200">
        <a:solidFill>
          <a:schemeClr val="tx1"/>
        </a:solidFill>
        <a:latin typeface="+mn-lt"/>
        <a:ea typeface="+mn-ea"/>
        <a:cs typeface="+mn-cs"/>
      </a:defRPr>
    </a:lvl8pPr>
    <a:lvl9pPr marL="3282696" algn="l" defTabSz="820674" rtl="0" eaLnBrk="1" latinLnBrk="0" hangingPunct="1">
      <a:defRPr sz="161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161" autoAdjust="0"/>
  </p:normalViewPr>
  <p:slideViewPr>
    <p:cSldViewPr snapToGrid="0" showGuides="1">
      <p:cViewPr varScale="1">
        <p:scale>
          <a:sx n="90" d="100"/>
          <a:sy n="90" d="100"/>
        </p:scale>
        <p:origin x="140" y="64"/>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3.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chartUserShapes" Target="../drawings/drawing4.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chartUserShapes" Target="../drawings/drawing5.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7.xml"/><Relationship Id="rId1" Type="http://schemas.microsoft.com/office/2011/relationships/chartStyle" Target="style17.xml"/><Relationship Id="rId4" Type="http://schemas.openxmlformats.org/officeDocument/2006/relationships/chartUserShapes" Target="../drawings/drawing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01BF-4BBD-A3BF-16F02751C2AD}"/>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01BF-4BBD-A3BF-16F02751C2AD}"/>
              </c:ext>
            </c:extLst>
          </c:dPt>
          <c:dPt>
            <c:idx val="2"/>
            <c:bubble3D val="0"/>
            <c:spPr>
              <a:solidFill>
                <a:srgbClr val="9FD0EF"/>
              </a:solidFill>
              <a:ln w="19050">
                <a:solidFill>
                  <a:schemeClr val="lt1"/>
                </a:solidFill>
              </a:ln>
              <a:effectLst/>
            </c:spPr>
            <c:extLst>
              <c:ext xmlns:c16="http://schemas.microsoft.com/office/drawing/2014/chart" uri="{C3380CC4-5D6E-409C-BE32-E72D297353CC}">
                <c16:uniqueId val="{00000005-01BF-4BBD-A3BF-16F02751C2AD}"/>
              </c:ext>
            </c:extLst>
          </c:dPt>
          <c:dLbls>
            <c:dLbl>
              <c:idx val="0"/>
              <c:layout>
                <c:manualLayout>
                  <c:x val="0.31794380796645916"/>
                  <c:y val="4.71776968961043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1BF-4BBD-A3BF-16F02751C2AD}"/>
                </c:ext>
              </c:extLst>
            </c:dLbl>
            <c:dLbl>
              <c:idx val="1"/>
              <c:layout>
                <c:manualLayout>
                  <c:x val="0.2735762010246543"/>
                  <c:y val="7.59159037093437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BF-4BBD-A3BF-16F02751C2AD}"/>
                </c:ext>
              </c:extLst>
            </c:dLbl>
            <c:dLbl>
              <c:idx val="2"/>
              <c:layout>
                <c:manualLayout>
                  <c:x val="-0.17922550806711762"/>
                  <c:y val="-6.50820194747763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1BF-4BBD-A3BF-16F02751C2AD}"/>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[0]!R_LegendeK</c:f>
              <c:strCache>
                <c:ptCount val="3"/>
                <c:pt idx="0">
                  <c:v>EDELMETALLE</c:v>
                </c:pt>
                <c:pt idx="1">
                  <c:v>RENTEN</c:v>
                </c:pt>
                <c:pt idx="2">
                  <c:v>LIQUIDITÄT</c:v>
                </c:pt>
              </c:strCache>
            </c:strRef>
          </c:cat>
          <c:val>
            <c:numRef>
              <c:f>[0]!R_DatenK</c:f>
              <c:numCache>
                <c:formatCode>0.00%</c:formatCode>
                <c:ptCount val="3"/>
                <c:pt idx="0">
                  <c:v>8.2199999999999995E-2</c:v>
                </c:pt>
                <c:pt idx="1">
                  <c:v>0.90700000000000014</c:v>
                </c:pt>
                <c:pt idx="2">
                  <c:v>1.0800000000000001E-2</c:v>
                </c:pt>
              </c:numCache>
            </c:numRef>
          </c:val>
          <c:extLst>
            <c:ext xmlns:c16="http://schemas.microsoft.com/office/drawing/2014/chart" uri="{C3380CC4-5D6E-409C-BE32-E72D297353CC}">
              <c16:uniqueId val="{00000006-01BF-4BBD-A3BF-16F02751C2AD}"/>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8795474420907241"/>
          <c:w val="0.24018367431850249"/>
          <c:h val="0.21204525579092756"/>
        </c:manualLayout>
      </c:layout>
      <c:overlay val="0"/>
      <c:spPr>
        <a:noFill/>
        <a:ln>
          <a:noFill/>
        </a:ln>
        <a:effectLst/>
      </c:spPr>
      <c:txPr>
        <a:bodyPr rot="0" spcFirstLastPara="1" vertOverflow="ellipsis" vert="horz" wrap="square" anchor="t" anchorCtr="0"/>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Tabelle1!$A$2:$A$234</c:f>
              <c:numCache>
                <c:formatCode>m/d/yyyy</c:formatCode>
                <c:ptCount val="233"/>
                <c:pt idx="0">
                  <c:v>39813</c:v>
                </c:pt>
                <c:pt idx="1">
                  <c:v>39844</c:v>
                </c:pt>
                <c:pt idx="2">
                  <c:v>39872</c:v>
                </c:pt>
                <c:pt idx="3">
                  <c:v>39903</c:v>
                </c:pt>
                <c:pt idx="4">
                  <c:v>39933</c:v>
                </c:pt>
                <c:pt idx="5">
                  <c:v>39964</c:v>
                </c:pt>
                <c:pt idx="6">
                  <c:v>39994</c:v>
                </c:pt>
                <c:pt idx="7">
                  <c:v>40025</c:v>
                </c:pt>
                <c:pt idx="8">
                  <c:v>40056</c:v>
                </c:pt>
                <c:pt idx="9">
                  <c:v>40086</c:v>
                </c:pt>
                <c:pt idx="10">
                  <c:v>40117</c:v>
                </c:pt>
                <c:pt idx="11">
                  <c:v>40147</c:v>
                </c:pt>
                <c:pt idx="12">
                  <c:v>40178</c:v>
                </c:pt>
                <c:pt idx="13">
                  <c:v>40209</c:v>
                </c:pt>
                <c:pt idx="14">
                  <c:v>40237</c:v>
                </c:pt>
                <c:pt idx="15">
                  <c:v>40268</c:v>
                </c:pt>
                <c:pt idx="16">
                  <c:v>40298</c:v>
                </c:pt>
                <c:pt idx="17">
                  <c:v>40329</c:v>
                </c:pt>
                <c:pt idx="18">
                  <c:v>40359</c:v>
                </c:pt>
                <c:pt idx="19">
                  <c:v>40390</c:v>
                </c:pt>
                <c:pt idx="20">
                  <c:v>40421</c:v>
                </c:pt>
                <c:pt idx="21">
                  <c:v>40451</c:v>
                </c:pt>
                <c:pt idx="22">
                  <c:v>40482</c:v>
                </c:pt>
                <c:pt idx="23">
                  <c:v>40512</c:v>
                </c:pt>
                <c:pt idx="24">
                  <c:v>40543</c:v>
                </c:pt>
                <c:pt idx="25">
                  <c:v>40574</c:v>
                </c:pt>
                <c:pt idx="26">
                  <c:v>40602</c:v>
                </c:pt>
                <c:pt idx="27">
                  <c:v>40633</c:v>
                </c:pt>
                <c:pt idx="28">
                  <c:v>40663</c:v>
                </c:pt>
                <c:pt idx="29">
                  <c:v>40694</c:v>
                </c:pt>
                <c:pt idx="30">
                  <c:v>40724</c:v>
                </c:pt>
                <c:pt idx="31">
                  <c:v>40755</c:v>
                </c:pt>
                <c:pt idx="32">
                  <c:v>40786</c:v>
                </c:pt>
                <c:pt idx="33">
                  <c:v>40816</c:v>
                </c:pt>
                <c:pt idx="34">
                  <c:v>40847</c:v>
                </c:pt>
                <c:pt idx="35">
                  <c:v>40877</c:v>
                </c:pt>
                <c:pt idx="36">
                  <c:v>40908</c:v>
                </c:pt>
                <c:pt idx="37">
                  <c:v>40939</c:v>
                </c:pt>
                <c:pt idx="38">
                  <c:v>40968</c:v>
                </c:pt>
                <c:pt idx="39">
                  <c:v>40999</c:v>
                </c:pt>
                <c:pt idx="40">
                  <c:v>41029</c:v>
                </c:pt>
                <c:pt idx="41">
                  <c:v>41060</c:v>
                </c:pt>
                <c:pt idx="42">
                  <c:v>41090</c:v>
                </c:pt>
                <c:pt idx="43">
                  <c:v>41121</c:v>
                </c:pt>
                <c:pt idx="44">
                  <c:v>41152</c:v>
                </c:pt>
                <c:pt idx="45">
                  <c:v>41182</c:v>
                </c:pt>
                <c:pt idx="46">
                  <c:v>41213</c:v>
                </c:pt>
                <c:pt idx="47">
                  <c:v>41243</c:v>
                </c:pt>
                <c:pt idx="48">
                  <c:v>41274</c:v>
                </c:pt>
                <c:pt idx="49">
                  <c:v>41305</c:v>
                </c:pt>
                <c:pt idx="50">
                  <c:v>41333</c:v>
                </c:pt>
                <c:pt idx="51">
                  <c:v>41364</c:v>
                </c:pt>
                <c:pt idx="52">
                  <c:v>41394</c:v>
                </c:pt>
                <c:pt idx="53">
                  <c:v>41425</c:v>
                </c:pt>
                <c:pt idx="54">
                  <c:v>41455</c:v>
                </c:pt>
                <c:pt idx="55">
                  <c:v>41486</c:v>
                </c:pt>
                <c:pt idx="56">
                  <c:v>41517</c:v>
                </c:pt>
                <c:pt idx="57">
                  <c:v>41547</c:v>
                </c:pt>
                <c:pt idx="58">
                  <c:v>41578</c:v>
                </c:pt>
                <c:pt idx="59">
                  <c:v>41608</c:v>
                </c:pt>
                <c:pt idx="60">
                  <c:v>41639</c:v>
                </c:pt>
                <c:pt idx="61">
                  <c:v>41670</c:v>
                </c:pt>
                <c:pt idx="62">
                  <c:v>41698</c:v>
                </c:pt>
                <c:pt idx="63">
                  <c:v>41729</c:v>
                </c:pt>
                <c:pt idx="64">
                  <c:v>41759</c:v>
                </c:pt>
                <c:pt idx="65">
                  <c:v>41790</c:v>
                </c:pt>
                <c:pt idx="66">
                  <c:v>41820</c:v>
                </c:pt>
                <c:pt idx="67">
                  <c:v>41851</c:v>
                </c:pt>
                <c:pt idx="68">
                  <c:v>41882</c:v>
                </c:pt>
                <c:pt idx="69">
                  <c:v>41912</c:v>
                </c:pt>
                <c:pt idx="70">
                  <c:v>41943</c:v>
                </c:pt>
                <c:pt idx="71">
                  <c:v>41973</c:v>
                </c:pt>
                <c:pt idx="72">
                  <c:v>42004</c:v>
                </c:pt>
                <c:pt idx="73">
                  <c:v>42035</c:v>
                </c:pt>
                <c:pt idx="74">
                  <c:v>42063</c:v>
                </c:pt>
                <c:pt idx="75">
                  <c:v>42094</c:v>
                </c:pt>
                <c:pt idx="76">
                  <c:v>42124</c:v>
                </c:pt>
                <c:pt idx="77">
                  <c:v>42155</c:v>
                </c:pt>
                <c:pt idx="78">
                  <c:v>42185</c:v>
                </c:pt>
                <c:pt idx="79">
                  <c:v>42216</c:v>
                </c:pt>
                <c:pt idx="80">
                  <c:v>42247</c:v>
                </c:pt>
                <c:pt idx="81">
                  <c:v>42277</c:v>
                </c:pt>
                <c:pt idx="82">
                  <c:v>42308</c:v>
                </c:pt>
                <c:pt idx="83">
                  <c:v>42338</c:v>
                </c:pt>
                <c:pt idx="84">
                  <c:v>42369</c:v>
                </c:pt>
                <c:pt idx="85">
                  <c:v>42400</c:v>
                </c:pt>
                <c:pt idx="86">
                  <c:v>42429</c:v>
                </c:pt>
                <c:pt idx="87">
                  <c:v>42460</c:v>
                </c:pt>
                <c:pt idx="88">
                  <c:v>42490</c:v>
                </c:pt>
                <c:pt idx="89">
                  <c:v>42521</c:v>
                </c:pt>
                <c:pt idx="90">
                  <c:v>42551</c:v>
                </c:pt>
                <c:pt idx="91">
                  <c:v>42582</c:v>
                </c:pt>
                <c:pt idx="92">
                  <c:v>42613</c:v>
                </c:pt>
                <c:pt idx="93">
                  <c:v>42643</c:v>
                </c:pt>
                <c:pt idx="94">
                  <c:v>42674</c:v>
                </c:pt>
                <c:pt idx="95">
                  <c:v>42704</c:v>
                </c:pt>
                <c:pt idx="96">
                  <c:v>42735</c:v>
                </c:pt>
                <c:pt idx="97">
                  <c:v>42766</c:v>
                </c:pt>
                <c:pt idx="98">
                  <c:v>42794</c:v>
                </c:pt>
                <c:pt idx="99">
                  <c:v>42825</c:v>
                </c:pt>
                <c:pt idx="100">
                  <c:v>42855</c:v>
                </c:pt>
                <c:pt idx="101">
                  <c:v>42886</c:v>
                </c:pt>
                <c:pt idx="102">
                  <c:v>42916</c:v>
                </c:pt>
                <c:pt idx="103">
                  <c:v>42947</c:v>
                </c:pt>
                <c:pt idx="104">
                  <c:v>42978</c:v>
                </c:pt>
                <c:pt idx="105">
                  <c:v>43008</c:v>
                </c:pt>
                <c:pt idx="106">
                  <c:v>43039</c:v>
                </c:pt>
                <c:pt idx="107">
                  <c:v>43069</c:v>
                </c:pt>
                <c:pt idx="108">
                  <c:v>43100</c:v>
                </c:pt>
                <c:pt idx="109">
                  <c:v>43131</c:v>
                </c:pt>
                <c:pt idx="110">
                  <c:v>43159</c:v>
                </c:pt>
                <c:pt idx="111">
                  <c:v>43190</c:v>
                </c:pt>
                <c:pt idx="112">
                  <c:v>43220</c:v>
                </c:pt>
                <c:pt idx="113">
                  <c:v>43251</c:v>
                </c:pt>
                <c:pt idx="114">
                  <c:v>43281</c:v>
                </c:pt>
                <c:pt idx="115">
                  <c:v>43312</c:v>
                </c:pt>
                <c:pt idx="116">
                  <c:v>43343</c:v>
                </c:pt>
                <c:pt idx="117">
                  <c:v>43373</c:v>
                </c:pt>
                <c:pt idx="118">
                  <c:v>43404</c:v>
                </c:pt>
                <c:pt idx="119">
                  <c:v>43434</c:v>
                </c:pt>
                <c:pt idx="120">
                  <c:v>43465</c:v>
                </c:pt>
                <c:pt idx="121">
                  <c:v>43496</c:v>
                </c:pt>
                <c:pt idx="122">
                  <c:v>43524</c:v>
                </c:pt>
                <c:pt idx="123">
                  <c:v>43555</c:v>
                </c:pt>
                <c:pt idx="124">
                  <c:v>43585</c:v>
                </c:pt>
                <c:pt idx="125">
                  <c:v>43616</c:v>
                </c:pt>
                <c:pt idx="126">
                  <c:v>43646</c:v>
                </c:pt>
                <c:pt idx="127">
                  <c:v>43677</c:v>
                </c:pt>
                <c:pt idx="128">
                  <c:v>43708</c:v>
                </c:pt>
                <c:pt idx="129">
                  <c:v>43738</c:v>
                </c:pt>
                <c:pt idx="130">
                  <c:v>43769</c:v>
                </c:pt>
                <c:pt idx="131">
                  <c:v>43799</c:v>
                </c:pt>
                <c:pt idx="132">
                  <c:v>43830</c:v>
                </c:pt>
                <c:pt idx="133">
                  <c:v>43861</c:v>
                </c:pt>
                <c:pt idx="134">
                  <c:v>43890</c:v>
                </c:pt>
                <c:pt idx="135">
                  <c:v>43921</c:v>
                </c:pt>
                <c:pt idx="136">
                  <c:v>43951</c:v>
                </c:pt>
                <c:pt idx="137">
                  <c:v>43982</c:v>
                </c:pt>
                <c:pt idx="138">
                  <c:v>44012</c:v>
                </c:pt>
                <c:pt idx="139">
                  <c:v>44043</c:v>
                </c:pt>
                <c:pt idx="140">
                  <c:v>44074</c:v>
                </c:pt>
                <c:pt idx="141">
                  <c:v>44104</c:v>
                </c:pt>
                <c:pt idx="142">
                  <c:v>44135</c:v>
                </c:pt>
                <c:pt idx="143">
                  <c:v>44165</c:v>
                </c:pt>
                <c:pt idx="144">
                  <c:v>44196</c:v>
                </c:pt>
                <c:pt idx="145">
                  <c:v>44227</c:v>
                </c:pt>
                <c:pt idx="146">
                  <c:v>44255</c:v>
                </c:pt>
                <c:pt idx="147">
                  <c:v>44286</c:v>
                </c:pt>
                <c:pt idx="148">
                  <c:v>44316</c:v>
                </c:pt>
                <c:pt idx="149">
                  <c:v>44347</c:v>
                </c:pt>
                <c:pt idx="150">
                  <c:v>44377</c:v>
                </c:pt>
                <c:pt idx="151">
                  <c:v>44408</c:v>
                </c:pt>
                <c:pt idx="152">
                  <c:v>44439</c:v>
                </c:pt>
                <c:pt idx="153">
                  <c:v>44469</c:v>
                </c:pt>
                <c:pt idx="154">
                  <c:v>44500</c:v>
                </c:pt>
                <c:pt idx="155">
                  <c:v>44530</c:v>
                </c:pt>
                <c:pt idx="156">
                  <c:v>44561</c:v>
                </c:pt>
                <c:pt idx="157">
                  <c:v>44592</c:v>
                </c:pt>
                <c:pt idx="158">
                  <c:v>44620</c:v>
                </c:pt>
                <c:pt idx="159">
                  <c:v>44651</c:v>
                </c:pt>
                <c:pt idx="160">
                  <c:v>44681</c:v>
                </c:pt>
                <c:pt idx="161">
                  <c:v>44712</c:v>
                </c:pt>
                <c:pt idx="162">
                  <c:v>44742</c:v>
                </c:pt>
                <c:pt idx="163">
                  <c:v>44773</c:v>
                </c:pt>
                <c:pt idx="164">
                  <c:v>44804</c:v>
                </c:pt>
                <c:pt idx="165">
                  <c:v>44834</c:v>
                </c:pt>
                <c:pt idx="166">
                  <c:v>44865</c:v>
                </c:pt>
                <c:pt idx="167">
                  <c:v>44895</c:v>
                </c:pt>
                <c:pt idx="168">
                  <c:v>44926</c:v>
                </c:pt>
                <c:pt idx="169">
                  <c:v>44957</c:v>
                </c:pt>
                <c:pt idx="170">
                  <c:v>44985</c:v>
                </c:pt>
                <c:pt idx="171">
                  <c:v>45016</c:v>
                </c:pt>
                <c:pt idx="172">
                  <c:v>45046</c:v>
                </c:pt>
                <c:pt idx="173">
                  <c:v>45077</c:v>
                </c:pt>
                <c:pt idx="174">
                  <c:v>45107</c:v>
                </c:pt>
                <c:pt idx="175">
                  <c:v>45138</c:v>
                </c:pt>
                <c:pt idx="176">
                  <c:v>45169</c:v>
                </c:pt>
                <c:pt idx="177">
                  <c:v>45199</c:v>
                </c:pt>
                <c:pt idx="178">
                  <c:v>45230</c:v>
                </c:pt>
                <c:pt idx="179">
                  <c:v>45260</c:v>
                </c:pt>
                <c:pt idx="180">
                  <c:v>45291</c:v>
                </c:pt>
                <c:pt idx="181">
                  <c:v>45322</c:v>
                </c:pt>
                <c:pt idx="182">
                  <c:v>45351</c:v>
                </c:pt>
                <c:pt idx="183">
                  <c:v>45382</c:v>
                </c:pt>
                <c:pt idx="184">
                  <c:v>45412</c:v>
                </c:pt>
                <c:pt idx="185">
                  <c:v>45443</c:v>
                </c:pt>
                <c:pt idx="186">
                  <c:v>45473</c:v>
                </c:pt>
                <c:pt idx="187">
                  <c:v>45504</c:v>
                </c:pt>
                <c:pt idx="188">
                  <c:v>45535</c:v>
                </c:pt>
                <c:pt idx="189">
                  <c:v>45565</c:v>
                </c:pt>
                <c:pt idx="190">
                  <c:v>45596</c:v>
                </c:pt>
                <c:pt idx="191">
                  <c:v>45626</c:v>
                </c:pt>
                <c:pt idx="192">
                  <c:v>45657</c:v>
                </c:pt>
                <c:pt idx="193" formatCode="mmm\-yy">
                  <c:v>45688</c:v>
                </c:pt>
                <c:pt idx="194" formatCode="mmm\-yy">
                  <c:v>45716</c:v>
                </c:pt>
                <c:pt idx="195" formatCode="mmm\-yy">
                  <c:v>45747</c:v>
                </c:pt>
                <c:pt idx="196" formatCode="mmm\-yy">
                  <c:v>45777</c:v>
                </c:pt>
                <c:pt idx="197" formatCode="mmm\-yy">
                  <c:v>45808</c:v>
                </c:pt>
                <c:pt idx="198" formatCode="mmm\-yy">
                  <c:v>45838</c:v>
                </c:pt>
                <c:pt idx="199" formatCode="mmm\-yy">
                  <c:v>45869</c:v>
                </c:pt>
                <c:pt idx="200" formatCode="mmm\-yy">
                  <c:v>45900</c:v>
                </c:pt>
                <c:pt idx="201" formatCode="mmm\-yy">
                  <c:v>45930</c:v>
                </c:pt>
                <c:pt idx="202" formatCode="mmm\-yy">
                  <c:v>45961</c:v>
                </c:pt>
                <c:pt idx="203" formatCode="mmm\-yy">
                  <c:v>45991</c:v>
                </c:pt>
                <c:pt idx="204" formatCode="mmm\-yy">
                  <c:v>46022</c:v>
                </c:pt>
                <c:pt idx="205" formatCode="mmm\-yy">
                  <c:v>46053</c:v>
                </c:pt>
                <c:pt idx="206" formatCode="mmm\-yy">
                  <c:v>46081</c:v>
                </c:pt>
                <c:pt idx="207" formatCode="mmm\-yy">
                  <c:v>46112</c:v>
                </c:pt>
                <c:pt idx="208" formatCode="mmm\-yy">
                  <c:v>46142</c:v>
                </c:pt>
                <c:pt idx="209" formatCode="mmm\-yy">
                  <c:v>46173</c:v>
                </c:pt>
                <c:pt idx="210" formatCode="mmm\-yy">
                  <c:v>46203</c:v>
                </c:pt>
                <c:pt idx="211" formatCode="mmm\-yy">
                  <c:v>46209</c:v>
                </c:pt>
              </c:numCache>
            </c:numRef>
          </c:cat>
          <c:val>
            <c:numRef>
              <c:f>Tabelle1!$B$2:$B$234</c:f>
              <c:numCache>
                <c:formatCode>General</c:formatCode>
                <c:ptCount val="233"/>
                <c:pt idx="0">
                  <c:v>1</c:v>
                </c:pt>
                <c:pt idx="1">
                  <c:v>1.0000632264141394</c:v>
                </c:pt>
                <c:pt idx="2">
                  <c:v>1.0031282187893142</c:v>
                </c:pt>
                <c:pt idx="3">
                  <c:v>1.0070689232716816</c:v>
                </c:pt>
                <c:pt idx="4">
                  <c:v>1.0131989080220309</c:v>
                </c:pt>
                <c:pt idx="5">
                  <c:v>1.0175774685579948</c:v>
                </c:pt>
                <c:pt idx="6">
                  <c:v>1.0301001516908515</c:v>
                </c:pt>
                <c:pt idx="7">
                  <c:v>1.0376684935772649</c:v>
                </c:pt>
                <c:pt idx="8">
                  <c:v>1.0463883968846368</c:v>
                </c:pt>
                <c:pt idx="9">
                  <c:v>1.057898669250368</c:v>
                </c:pt>
                <c:pt idx="10">
                  <c:v>1.0638282034993809</c:v>
                </c:pt>
                <c:pt idx="11">
                  <c:v>1.0725481068067528</c:v>
                </c:pt>
                <c:pt idx="12">
                  <c:v>1.0762104661958491</c:v>
                </c:pt>
                <c:pt idx="13">
                  <c:v>1.0766726210711401</c:v>
                </c:pt>
                <c:pt idx="14">
                  <c:v>1.0853554647894559</c:v>
                </c:pt>
                <c:pt idx="15">
                  <c:v>1.0940383085077716</c:v>
                </c:pt>
                <c:pt idx="16">
                  <c:v>1.0983797303669294</c:v>
                </c:pt>
                <c:pt idx="17">
                  <c:v>1.1027211522260874</c:v>
                </c:pt>
                <c:pt idx="18">
                  <c:v>1.1101883978238389</c:v>
                </c:pt>
                <c:pt idx="19">
                  <c:v>1.1066805289616395</c:v>
                </c:pt>
                <c:pt idx="20">
                  <c:v>1.1153264705941524</c:v>
                </c:pt>
                <c:pt idx="21">
                  <c:v>1.1110034997778959</c:v>
                </c:pt>
                <c:pt idx="22">
                  <c:v>1.1239724122266654</c:v>
                </c:pt>
                <c:pt idx="23">
                  <c:v>1.1248370063899165</c:v>
                </c:pt>
                <c:pt idx="24">
                  <c:v>1.1252693034715422</c:v>
                </c:pt>
                <c:pt idx="25">
                  <c:v>1.1123081723702422</c:v>
                </c:pt>
                <c:pt idx="26">
                  <c:v>1.1168710464519467</c:v>
                </c:pt>
                <c:pt idx="27">
                  <c:v>1.1134273678997169</c:v>
                </c:pt>
                <c:pt idx="28">
                  <c:v>1.1183346098366445</c:v>
                </c:pt>
                <c:pt idx="29">
                  <c:v>1.1226392080269318</c:v>
                </c:pt>
                <c:pt idx="30">
                  <c:v>1.1338311633216787</c:v>
                </c:pt>
                <c:pt idx="31">
                  <c:v>1.1390423314138314</c:v>
                </c:pt>
                <c:pt idx="32">
                  <c:v>1.1443573479373248</c:v>
                </c:pt>
                <c:pt idx="33">
                  <c:v>1.1371563578087207</c:v>
                </c:pt>
                <c:pt idx="34">
                  <c:v>1.1475292126368288</c:v>
                </c:pt>
                <c:pt idx="35">
                  <c:v>1.1386137010490334</c:v>
                </c:pt>
                <c:pt idx="36">
                  <c:v>1.1453860608128397</c:v>
                </c:pt>
                <c:pt idx="37">
                  <c:v>1.1438472778032156</c:v>
                </c:pt>
                <c:pt idx="38">
                  <c:v>1.1523834515181648</c:v>
                </c:pt>
                <c:pt idx="39">
                  <c:v>1.160919625233114</c:v>
                </c:pt>
                <c:pt idx="40">
                  <c:v>1.1643340947190937</c:v>
                </c:pt>
                <c:pt idx="41">
                  <c:v>1.1592123904901241</c:v>
                </c:pt>
                <c:pt idx="42">
                  <c:v>1.1665534998849805</c:v>
                </c:pt>
                <c:pt idx="43">
                  <c:v>1.1792983651785289</c:v>
                </c:pt>
                <c:pt idx="44">
                  <c:v>1.1882846187211893</c:v>
                </c:pt>
                <c:pt idx="45">
                  <c:v>1.197470058823904</c:v>
                </c:pt>
                <c:pt idx="46">
                  <c:v>1.1999488218456695</c:v>
                </c:pt>
                <c:pt idx="47">
                  <c:v>1.2039566509106339</c:v>
                </c:pt>
                <c:pt idx="48">
                  <c:v>1.2036556617479064</c:v>
                </c:pt>
                <c:pt idx="49">
                  <c:v>1.1915766070581504</c:v>
                </c:pt>
                <c:pt idx="50">
                  <c:v>1.1992980234718873</c:v>
                </c:pt>
                <c:pt idx="51">
                  <c:v>1.2041431874867137</c:v>
                </c:pt>
                <c:pt idx="52">
                  <c:v>1.2079723628229213</c:v>
                </c:pt>
                <c:pt idx="53">
                  <c:v>1.202004979350576</c:v>
                </c:pt>
                <c:pt idx="54">
                  <c:v>1.1738420026843921</c:v>
                </c:pt>
                <c:pt idx="55">
                  <c:v>1.1846560690878023</c:v>
                </c:pt>
                <c:pt idx="56">
                  <c:v>1.1897974764276433</c:v>
                </c:pt>
                <c:pt idx="57">
                  <c:v>1.1887147607240942</c:v>
                </c:pt>
                <c:pt idx="58">
                  <c:v>1.2032289679525354</c:v>
                </c:pt>
                <c:pt idx="59">
                  <c:v>1.2047450364521557</c:v>
                </c:pt>
                <c:pt idx="60">
                  <c:v>1.200130862962544</c:v>
                </c:pt>
                <c:pt idx="61">
                  <c:v>1.2049490583413514</c:v>
                </c:pt>
                <c:pt idx="62">
                  <c:v>1.2168780540189308</c:v>
                </c:pt>
                <c:pt idx="63">
                  <c:v>1.2205286881809874</c:v>
                </c:pt>
                <c:pt idx="64">
                  <c:v>1.2299267590799809</c:v>
                </c:pt>
                <c:pt idx="65">
                  <c:v>1.2400121585044368</c:v>
                </c:pt>
                <c:pt idx="66">
                  <c:v>1.2537762934638361</c:v>
                </c:pt>
                <c:pt idx="67">
                  <c:v>1.2553142068098062</c:v>
                </c:pt>
                <c:pt idx="68">
                  <c:v>1.2625950292093031</c:v>
                </c:pt>
                <c:pt idx="69">
                  <c:v>1.2632263267239077</c:v>
                </c:pt>
                <c:pt idx="70">
                  <c:v>1.2656264567446831</c:v>
                </c:pt>
                <c:pt idx="71">
                  <c:v>1.2766374069183617</c:v>
                </c:pt>
                <c:pt idx="72">
                  <c:v>1.2784246992880475</c:v>
                </c:pt>
                <c:pt idx="73">
                  <c:v>1.2915770686730879</c:v>
                </c:pt>
                <c:pt idx="74">
                  <c:v>1.2972600077752494</c:v>
                </c:pt>
                <c:pt idx="75">
                  <c:v>1.2932385017511461</c:v>
                </c:pt>
                <c:pt idx="76">
                  <c:v>1.2907813485978188</c:v>
                </c:pt>
                <c:pt idx="77">
                  <c:v>1.2883288640354829</c:v>
                </c:pt>
                <c:pt idx="78">
                  <c:v>1.2625622867547732</c:v>
                </c:pt>
                <c:pt idx="79">
                  <c:v>1.2685111646093901</c:v>
                </c:pt>
                <c:pt idx="80">
                  <c:v>1.2663546956295542</c:v>
                </c:pt>
                <c:pt idx="81">
                  <c:v>1.2614159123165989</c:v>
                </c:pt>
                <c:pt idx="82">
                  <c:v>1.2810940005487379</c:v>
                </c:pt>
                <c:pt idx="83">
                  <c:v>1.2876275799515366</c:v>
                </c:pt>
                <c:pt idx="84">
                  <c:v>1.2792580006818517</c:v>
                </c:pt>
                <c:pt idx="85">
                  <c:v>1.2752223574485508</c:v>
                </c:pt>
                <c:pt idx="86">
                  <c:v>1.2818535137072835</c:v>
                </c:pt>
                <c:pt idx="87">
                  <c:v>1.2977484972772537</c:v>
                </c:pt>
                <c:pt idx="88">
                  <c:v>1.3090389092035657</c:v>
                </c:pt>
                <c:pt idx="89">
                  <c:v>1.3052426963668753</c:v>
                </c:pt>
                <c:pt idx="90">
                  <c:v>1.3129436282754399</c:v>
                </c:pt>
                <c:pt idx="91">
                  <c:v>1.3240978721638166</c:v>
                </c:pt>
                <c:pt idx="92">
                  <c:v>1.3284673951419572</c:v>
                </c:pt>
                <c:pt idx="93">
                  <c:v>1.3243491462170172</c:v>
                </c:pt>
                <c:pt idx="94">
                  <c:v>1.3228923621561786</c:v>
                </c:pt>
                <c:pt idx="95">
                  <c:v>1.3133675371486542</c:v>
                </c:pt>
                <c:pt idx="96">
                  <c:v>1.3209850688641165</c:v>
                </c:pt>
                <c:pt idx="97">
                  <c:v>1.3190539207919441</c:v>
                </c:pt>
                <c:pt idx="98">
                  <c:v>1.3375206756830313</c:v>
                </c:pt>
                <c:pt idx="99">
                  <c:v>1.3363169070749166</c:v>
                </c:pt>
                <c:pt idx="100">
                  <c:v>1.3400585944147263</c:v>
                </c:pt>
                <c:pt idx="101">
                  <c:v>1.3442127760574121</c:v>
                </c:pt>
                <c:pt idx="102">
                  <c:v>1.338567082397971</c:v>
                </c:pt>
                <c:pt idx="103">
                  <c:v>1.3388761240731195</c:v>
                </c:pt>
                <c:pt idx="104">
                  <c:v>1.3457043923058927</c:v>
                </c:pt>
                <c:pt idx="105">
                  <c:v>1.3447623992312785</c:v>
                </c:pt>
                <c:pt idx="106">
                  <c:v>1.3574031657840526</c:v>
                </c:pt>
                <c:pt idx="107">
                  <c:v>1.3540096578695926</c:v>
                </c:pt>
                <c:pt idx="108">
                  <c:v>1.3500830298617708</c:v>
                </c:pt>
                <c:pt idx="109">
                  <c:v>1.3446140460202551</c:v>
                </c:pt>
                <c:pt idx="110">
                  <c:v>1.3420592793328165</c:v>
                </c:pt>
                <c:pt idx="111">
                  <c:v>1.3428645149004161</c:v>
                </c:pt>
                <c:pt idx="112">
                  <c:v>1.345818816833197</c:v>
                </c:pt>
                <c:pt idx="113">
                  <c:v>1.3427234335544806</c:v>
                </c:pt>
                <c:pt idx="114">
                  <c:v>1.3377553568503291</c:v>
                </c:pt>
                <c:pt idx="115">
                  <c:v>1.3348672433665409</c:v>
                </c:pt>
                <c:pt idx="116">
                  <c:v>1.3367360575072542</c:v>
                </c:pt>
                <c:pt idx="117">
                  <c:v>1.3337952381807383</c:v>
                </c:pt>
                <c:pt idx="118">
                  <c:v>1.3329949610378298</c:v>
                </c:pt>
                <c:pt idx="119">
                  <c:v>1.3167324225131682</c:v>
                </c:pt>
                <c:pt idx="120">
                  <c:v>1.3227893916567288</c:v>
                </c:pt>
                <c:pt idx="121">
                  <c:v>1.3375836335616917</c:v>
                </c:pt>
                <c:pt idx="122">
                  <c:v>1.3414626260990206</c:v>
                </c:pt>
                <c:pt idx="123">
                  <c:v>1.3536699359965219</c:v>
                </c:pt>
                <c:pt idx="124">
                  <c:v>1.3649053964652929</c:v>
                </c:pt>
                <c:pt idx="125">
                  <c:v>1.363131019449888</c:v>
                </c:pt>
                <c:pt idx="126">
                  <c:v>1.3848048026591413</c:v>
                </c:pt>
                <c:pt idx="127">
                  <c:v>1.3953285228965895</c:v>
                </c:pt>
                <c:pt idx="128">
                  <c:v>1.4091422752732659</c:v>
                </c:pt>
                <c:pt idx="129">
                  <c:v>1.3985737082087164</c:v>
                </c:pt>
                <c:pt idx="130">
                  <c:v>1.3973149918713286</c:v>
                </c:pt>
                <c:pt idx="131">
                  <c:v>1.3922846579005916</c:v>
                </c:pt>
                <c:pt idx="132">
                  <c:v>1.3995245381216748</c:v>
                </c:pt>
                <c:pt idx="133">
                  <c:v>1.4062581055200531</c:v>
                </c:pt>
                <c:pt idx="134">
                  <c:v>1.3923361502754046</c:v>
                </c:pt>
                <c:pt idx="135">
                  <c:v>1.2944549189110437</c:v>
                </c:pt>
                <c:pt idx="136">
                  <c:v>1.3577537644457938</c:v>
                </c:pt>
                <c:pt idx="137">
                  <c:v>1.3603334965982408</c:v>
                </c:pt>
                <c:pt idx="138">
                  <c:v>1.3765214652077598</c:v>
                </c:pt>
                <c:pt idx="139">
                  <c:v>1.3984958753349335</c:v>
                </c:pt>
                <c:pt idx="140">
                  <c:v>1.3991951232726008</c:v>
                </c:pt>
                <c:pt idx="141">
                  <c:v>1.36603419885104</c:v>
                </c:pt>
                <c:pt idx="142">
                  <c:v>1.3732741801049506</c:v>
                </c:pt>
                <c:pt idx="143">
                  <c:v>1.3838483912917587</c:v>
                </c:pt>
                <c:pt idx="144">
                  <c:v>1.3893837848569257</c:v>
                </c:pt>
                <c:pt idx="145">
                  <c:v>1.3816803811963811</c:v>
                </c:pt>
                <c:pt idx="146">
                  <c:v>1.3594353270591195</c:v>
                </c:pt>
                <c:pt idx="147">
                  <c:v>1.3663684472271211</c:v>
                </c:pt>
                <c:pt idx="148">
                  <c:v>1.3689645472768528</c:v>
                </c:pt>
                <c:pt idx="149">
                  <c:v>1.3778628168341522</c:v>
                </c:pt>
                <c:pt idx="150">
                  <c:v>1.3800673973410869</c:v>
                </c:pt>
                <c:pt idx="151">
                  <c:v>1.3919293181330279</c:v>
                </c:pt>
                <c:pt idx="152">
                  <c:v>1.3874751443150022</c:v>
                </c:pt>
                <c:pt idx="153">
                  <c:v>1.3781790608480917</c:v>
                </c:pt>
                <c:pt idx="154">
                  <c:v>1.3768008817872437</c:v>
                </c:pt>
                <c:pt idx="155">
                  <c:v>1.3807936043444267</c:v>
                </c:pt>
                <c:pt idx="156">
                  <c:v>1.3820363185883364</c:v>
                </c:pt>
                <c:pt idx="157">
                  <c:v>1.3611624911941818</c:v>
                </c:pt>
                <c:pt idx="158">
                  <c:v>1.347959215029598</c:v>
                </c:pt>
                <c:pt idx="159">
                  <c:v>1.3369059494663553</c:v>
                </c:pt>
                <c:pt idx="160">
                  <c:v>1.3221999840222254</c:v>
                </c:pt>
                <c:pt idx="161">
                  <c:v>1.3010447842778698</c:v>
                </c:pt>
                <c:pt idx="162">
                  <c:v>1.2595414556594058</c:v>
                </c:pt>
                <c:pt idx="163">
                  <c:v>1.3098743696314479</c:v>
                </c:pt>
                <c:pt idx="164">
                  <c:v>1.2718880129121359</c:v>
                </c:pt>
                <c:pt idx="165">
                  <c:v>1.2295341420821617</c:v>
                </c:pt>
                <c:pt idx="166">
                  <c:v>1.2342063718220739</c:v>
                </c:pt>
                <c:pt idx="167">
                  <c:v>1.2611120707277952</c:v>
                </c:pt>
                <c:pt idx="168">
                  <c:v>1.2467353931214984</c:v>
                </c:pt>
                <c:pt idx="169">
                  <c:v>1.2588168824485424</c:v>
                </c:pt>
                <c:pt idx="170">
                  <c:v>1.2425781446649562</c:v>
                </c:pt>
                <c:pt idx="171">
                  <c:v>1.258110371473268</c:v>
                </c:pt>
                <c:pt idx="172">
                  <c:v>1.2599975370304779</c:v>
                </c:pt>
                <c:pt idx="173">
                  <c:v>1.2621395328434297</c:v>
                </c:pt>
                <c:pt idx="174">
                  <c:v>1.2577220444784778</c:v>
                </c:pt>
                <c:pt idx="175">
                  <c:v>1.264524780029602</c:v>
                </c:pt>
                <c:pt idx="176">
                  <c:v>1.2671802820676641</c:v>
                </c:pt>
                <c:pt idx="177">
                  <c:v>1.2581833020649837</c:v>
                </c:pt>
                <c:pt idx="178">
                  <c:v>1.271142590076253</c:v>
                </c:pt>
                <c:pt idx="179">
                  <c:v>1.2917351000354882</c:v>
                </c:pt>
                <c:pt idx="180">
                  <c:v>1.3217033543563117</c:v>
                </c:pt>
                <c:pt idx="181">
                  <c:v>1.3193763303880481</c:v>
                </c:pt>
                <c:pt idx="182">
                  <c:v>1.3094810079101378</c:v>
                </c:pt>
                <c:pt idx="183">
                  <c:v>1.3305636521374911</c:v>
                </c:pt>
                <c:pt idx="184">
                  <c:v>1.3244430593376586</c:v>
                </c:pt>
                <c:pt idx="185">
                  <c:v>1.3248403922554599</c:v>
                </c:pt>
                <c:pt idx="186">
                  <c:v>1.3357040834719547</c:v>
                </c:pt>
                <c:pt idx="187">
                  <c:v>1.35330281958675</c:v>
                </c:pt>
                <c:pt idx="188">
                  <c:v>1.3560094252259236</c:v>
                </c:pt>
                <c:pt idx="189">
                  <c:v>1.371874735501067</c:v>
                </c:pt>
                <c:pt idx="190">
                  <c:v>1.3728350478159177</c:v>
                </c:pt>
                <c:pt idx="191">
                  <c:v>1.3926038725044669</c:v>
                </c:pt>
                <c:pt idx="192">
                  <c:v>1.3857801135291949</c:v>
                </c:pt>
                <c:pt idx="193">
                  <c:v>1.4000369500481775</c:v>
                </c:pt>
                <c:pt idx="194">
                  <c:v>1.4081571643584569</c:v>
                </c:pt>
                <c:pt idx="195">
                  <c:v>1.4001306685216137</c:v>
                </c:pt>
                <c:pt idx="196">
                  <c:v>1.415812132009056</c:v>
                </c:pt>
                <c:pt idx="197">
                  <c:v>1.4227496114559002</c:v>
                </c:pt>
                <c:pt idx="198">
                  <c:v>1.4233187113004824</c:v>
                </c:pt>
                <c:pt idx="199">
                  <c:v>1.426907040103542</c:v>
                </c:pt>
                <c:pt idx="200">
                  <c:v>1.430616998407811</c:v>
                </c:pt>
                <c:pt idx="201">
                  <c:v>1.4443509215925261</c:v>
                </c:pt>
                <c:pt idx="202">
                  <c:v>1.4618275677437957</c:v>
                </c:pt>
                <c:pt idx="203">
                  <c:v>1.4682596090418685</c:v>
                </c:pt>
                <c:pt idx="204">
                  <c:v>1.470021520572719</c:v>
                </c:pt>
                <c:pt idx="205">
                  <c:v>1.4983929359197725</c:v>
                </c:pt>
                <c:pt idx="206">
                  <c:v>1.5150041791022442</c:v>
                </c:pt>
                <c:pt idx="207">
                  <c:v>1.4704625270288907</c:v>
                </c:pt>
                <c:pt idx="208">
                  <c:v>1.4772246260235251</c:v>
                </c:pt>
                <c:pt idx="209">
                  <c:v>1.4872207723634199</c:v>
                </c:pt>
                <c:pt idx="210">
                  <c:v>1.4785476453920408</c:v>
                </c:pt>
                <c:pt idx="211">
                  <c:v>1.4753870991228093</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no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in val="0.70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Tabelle1!$B$4:$B$8</c:f>
              <c:numCache>
                <c:formatCode>0.00%</c:formatCode>
                <c:ptCount val="5"/>
                <c:pt idx="0">
                  <c:v>-5.3110256862079304E-3</c:v>
                </c:pt>
                <c:pt idx="1">
                  <c:v>-9.8315264985904899E-2</c:v>
                </c:pt>
                <c:pt idx="2">
                  <c:v>6.0389939109671942E-2</c:v>
                </c:pt>
                <c:pt idx="3">
                  <c:v>4.8500000000000001E-2</c:v>
                </c:pt>
                <c:pt idx="4">
                  <c:v>6.08E-2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Tabelle1!$C$4:$C$8</c:f>
              <c:numCache>
                <c:formatCode>0.00%</c:formatCode>
                <c:ptCount val="5"/>
                <c:pt idx="0">
                  <c:v>-1.12E-2</c:v>
                </c:pt>
                <c:pt idx="1">
                  <c:v>-0.12790000000000001</c:v>
                </c:pt>
                <c:pt idx="2">
                  <c:v>6.8699999999999997E-2</c:v>
                </c:pt>
                <c:pt idx="3">
                  <c:v>2.8400000000000002E-2</c:v>
                </c:pt>
                <c:pt idx="4">
                  <c:v>2.0799999999999999E-2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DE55-4A31-9B50-93DCB200852F}"/>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DE55-4A31-9B50-93DCB200852F}"/>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DE55-4A31-9B50-93DCB200852F}"/>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DE55-4A31-9B50-93DCB200852F}"/>
              </c:ext>
            </c:extLst>
          </c:dPt>
          <c:dLbls>
            <c:dLbl>
              <c:idx val="0"/>
              <c:layout>
                <c:manualLayout>
                  <c:x val="0.17892114123647629"/>
                  <c:y val="-5.3695853158049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E55-4A31-9B50-93DCB200852F}"/>
                </c:ext>
              </c:extLst>
            </c:dLbl>
            <c:dLbl>
              <c:idx val="1"/>
              <c:layout>
                <c:manualLayout>
                  <c:x val="0.12599270861601955"/>
                  <c:y val="8.054377973707353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E55-4A31-9B50-93DCB200852F}"/>
                </c:ext>
              </c:extLst>
            </c:dLbl>
            <c:dLbl>
              <c:idx val="2"/>
              <c:layout>
                <c:manualLayout>
                  <c:x val="-0.10973558492362996"/>
                  <c:y val="-5.81705075878864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E55-4A31-9B50-93DCB200852F}"/>
                </c:ext>
              </c:extLst>
            </c:dLbl>
            <c:dLbl>
              <c:idx val="3"/>
              <c:layout>
                <c:manualLayout>
                  <c:x val="-0.23388755432364922"/>
                  <c:y val="-6.71199206096450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E55-4A31-9B50-93DCB200852F}"/>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[0]!R_LegendeD</c:f>
              <c:strCache>
                <c:ptCount val="4"/>
                <c:pt idx="0">
                  <c:v>EDELMETALLE</c:v>
                </c:pt>
                <c:pt idx="1">
                  <c:v>RENTEN</c:v>
                </c:pt>
                <c:pt idx="2">
                  <c:v>AKTIEN </c:v>
                </c:pt>
                <c:pt idx="3">
                  <c:v>LIQUIDITÄT</c:v>
                </c:pt>
              </c:strCache>
            </c:strRef>
          </c:cat>
          <c:val>
            <c:numRef>
              <c:f>[0]!R_DatenD</c:f>
              <c:numCache>
                <c:formatCode>0.00%</c:formatCode>
                <c:ptCount val="4"/>
                <c:pt idx="0">
                  <c:v>7.9100000000000004E-2</c:v>
                </c:pt>
                <c:pt idx="1">
                  <c:v>0.6543000000000001</c:v>
                </c:pt>
                <c:pt idx="2">
                  <c:v>0.22509999999999999</c:v>
                </c:pt>
                <c:pt idx="3">
                  <c:v>4.1500000000000002E-2</c:v>
                </c:pt>
              </c:numCache>
            </c:numRef>
          </c:val>
          <c:extLst>
            <c:ext xmlns:c16="http://schemas.microsoft.com/office/drawing/2014/chart" uri="{C3380CC4-5D6E-409C-BE32-E72D297353CC}">
              <c16:uniqueId val="{00000008-DE55-4A31-9B50-93DCB200852F}"/>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5370094201321258"/>
          <c:w val="0.24439683374600693"/>
          <c:h val="0.24629905798678742"/>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Tabelle1!$A$2:$A$290</c:f>
              <c:numCache>
                <c:formatCode>m/d/yyyy</c:formatCode>
                <c:ptCount val="289"/>
                <c:pt idx="0">
                  <c:v>39813</c:v>
                </c:pt>
                <c:pt idx="1">
                  <c:v>39844</c:v>
                </c:pt>
                <c:pt idx="2">
                  <c:v>39872</c:v>
                </c:pt>
                <c:pt idx="3">
                  <c:v>39903</c:v>
                </c:pt>
                <c:pt idx="4">
                  <c:v>39933</c:v>
                </c:pt>
                <c:pt idx="5">
                  <c:v>39964</c:v>
                </c:pt>
                <c:pt idx="6">
                  <c:v>39994</c:v>
                </c:pt>
                <c:pt idx="7">
                  <c:v>40025</c:v>
                </c:pt>
                <c:pt idx="8">
                  <c:v>40056</c:v>
                </c:pt>
                <c:pt idx="9">
                  <c:v>40086</c:v>
                </c:pt>
                <c:pt idx="10">
                  <c:v>40117</c:v>
                </c:pt>
                <c:pt idx="11">
                  <c:v>40147</c:v>
                </c:pt>
                <c:pt idx="12">
                  <c:v>40178</c:v>
                </c:pt>
                <c:pt idx="13">
                  <c:v>40209</c:v>
                </c:pt>
                <c:pt idx="14">
                  <c:v>40237</c:v>
                </c:pt>
                <c:pt idx="15">
                  <c:v>40268</c:v>
                </c:pt>
                <c:pt idx="16">
                  <c:v>40298</c:v>
                </c:pt>
                <c:pt idx="17">
                  <c:v>40329</c:v>
                </c:pt>
                <c:pt idx="18">
                  <c:v>40359</c:v>
                </c:pt>
                <c:pt idx="19">
                  <c:v>40390</c:v>
                </c:pt>
                <c:pt idx="20">
                  <c:v>40421</c:v>
                </c:pt>
                <c:pt idx="21">
                  <c:v>40451</c:v>
                </c:pt>
                <c:pt idx="22">
                  <c:v>40482</c:v>
                </c:pt>
                <c:pt idx="23">
                  <c:v>40512</c:v>
                </c:pt>
                <c:pt idx="24">
                  <c:v>40543</c:v>
                </c:pt>
                <c:pt idx="25">
                  <c:v>40574</c:v>
                </c:pt>
                <c:pt idx="26">
                  <c:v>40602</c:v>
                </c:pt>
                <c:pt idx="27">
                  <c:v>40633</c:v>
                </c:pt>
                <c:pt idx="28">
                  <c:v>40663</c:v>
                </c:pt>
                <c:pt idx="29">
                  <c:v>40694</c:v>
                </c:pt>
                <c:pt idx="30">
                  <c:v>40724</c:v>
                </c:pt>
                <c:pt idx="31">
                  <c:v>40755</c:v>
                </c:pt>
                <c:pt idx="32">
                  <c:v>40786</c:v>
                </c:pt>
                <c:pt idx="33">
                  <c:v>40816</c:v>
                </c:pt>
                <c:pt idx="34">
                  <c:v>40847</c:v>
                </c:pt>
                <c:pt idx="35">
                  <c:v>40877</c:v>
                </c:pt>
                <c:pt idx="36">
                  <c:v>40908</c:v>
                </c:pt>
                <c:pt idx="37">
                  <c:v>40939</c:v>
                </c:pt>
                <c:pt idx="38">
                  <c:v>40968</c:v>
                </c:pt>
                <c:pt idx="39">
                  <c:v>40999</c:v>
                </c:pt>
                <c:pt idx="40">
                  <c:v>41029</c:v>
                </c:pt>
                <c:pt idx="41">
                  <c:v>41060</c:v>
                </c:pt>
                <c:pt idx="42">
                  <c:v>41090</c:v>
                </c:pt>
                <c:pt idx="43">
                  <c:v>41121</c:v>
                </c:pt>
                <c:pt idx="44">
                  <c:v>41152</c:v>
                </c:pt>
                <c:pt idx="45">
                  <c:v>41182</c:v>
                </c:pt>
                <c:pt idx="46">
                  <c:v>41213</c:v>
                </c:pt>
                <c:pt idx="47">
                  <c:v>41243</c:v>
                </c:pt>
                <c:pt idx="48">
                  <c:v>41274</c:v>
                </c:pt>
                <c:pt idx="49">
                  <c:v>41305</c:v>
                </c:pt>
                <c:pt idx="50">
                  <c:v>41333</c:v>
                </c:pt>
                <c:pt idx="51">
                  <c:v>41364</c:v>
                </c:pt>
                <c:pt idx="52">
                  <c:v>41394</c:v>
                </c:pt>
                <c:pt idx="53">
                  <c:v>41425</c:v>
                </c:pt>
                <c:pt idx="54">
                  <c:v>41455</c:v>
                </c:pt>
                <c:pt idx="55">
                  <c:v>41486</c:v>
                </c:pt>
                <c:pt idx="56">
                  <c:v>41517</c:v>
                </c:pt>
                <c:pt idx="57">
                  <c:v>41547</c:v>
                </c:pt>
                <c:pt idx="58">
                  <c:v>41578</c:v>
                </c:pt>
                <c:pt idx="59">
                  <c:v>41608</c:v>
                </c:pt>
                <c:pt idx="60">
                  <c:v>41639</c:v>
                </c:pt>
                <c:pt idx="61">
                  <c:v>41670</c:v>
                </c:pt>
                <c:pt idx="62">
                  <c:v>41698</c:v>
                </c:pt>
                <c:pt idx="63">
                  <c:v>41729</c:v>
                </c:pt>
                <c:pt idx="64">
                  <c:v>41759</c:v>
                </c:pt>
                <c:pt idx="65">
                  <c:v>41790</c:v>
                </c:pt>
                <c:pt idx="66">
                  <c:v>41820</c:v>
                </c:pt>
                <c:pt idx="67">
                  <c:v>41851</c:v>
                </c:pt>
                <c:pt idx="68">
                  <c:v>41882</c:v>
                </c:pt>
                <c:pt idx="69">
                  <c:v>41912</c:v>
                </c:pt>
                <c:pt idx="70">
                  <c:v>41943</c:v>
                </c:pt>
                <c:pt idx="71">
                  <c:v>41973</c:v>
                </c:pt>
                <c:pt idx="72">
                  <c:v>42004</c:v>
                </c:pt>
                <c:pt idx="73">
                  <c:v>42035</c:v>
                </c:pt>
                <c:pt idx="74">
                  <c:v>42063</c:v>
                </c:pt>
                <c:pt idx="75">
                  <c:v>42094</c:v>
                </c:pt>
                <c:pt idx="76">
                  <c:v>42124</c:v>
                </c:pt>
                <c:pt idx="77">
                  <c:v>42155</c:v>
                </c:pt>
                <c:pt idx="78">
                  <c:v>42185</c:v>
                </c:pt>
                <c:pt idx="79">
                  <c:v>42216</c:v>
                </c:pt>
                <c:pt idx="80">
                  <c:v>42247</c:v>
                </c:pt>
                <c:pt idx="81">
                  <c:v>42277</c:v>
                </c:pt>
                <c:pt idx="82">
                  <c:v>42308</c:v>
                </c:pt>
                <c:pt idx="83">
                  <c:v>42338</c:v>
                </c:pt>
                <c:pt idx="84">
                  <c:v>42369</c:v>
                </c:pt>
                <c:pt idx="85">
                  <c:v>42400</c:v>
                </c:pt>
                <c:pt idx="86">
                  <c:v>42429</c:v>
                </c:pt>
                <c:pt idx="87">
                  <c:v>42460</c:v>
                </c:pt>
                <c:pt idx="88">
                  <c:v>42490</c:v>
                </c:pt>
                <c:pt idx="89">
                  <c:v>42521</c:v>
                </c:pt>
                <c:pt idx="90">
                  <c:v>42551</c:v>
                </c:pt>
                <c:pt idx="91">
                  <c:v>42582</c:v>
                </c:pt>
                <c:pt idx="92">
                  <c:v>42613</c:v>
                </c:pt>
                <c:pt idx="93">
                  <c:v>42643</c:v>
                </c:pt>
                <c:pt idx="94">
                  <c:v>42674</c:v>
                </c:pt>
                <c:pt idx="95">
                  <c:v>42704</c:v>
                </c:pt>
                <c:pt idx="96">
                  <c:v>42735</c:v>
                </c:pt>
                <c:pt idx="97">
                  <c:v>42766</c:v>
                </c:pt>
                <c:pt idx="98">
                  <c:v>42794</c:v>
                </c:pt>
                <c:pt idx="99">
                  <c:v>42825</c:v>
                </c:pt>
                <c:pt idx="100">
                  <c:v>42855</c:v>
                </c:pt>
                <c:pt idx="101">
                  <c:v>42886</c:v>
                </c:pt>
                <c:pt idx="102">
                  <c:v>42916</c:v>
                </c:pt>
                <c:pt idx="103">
                  <c:v>42947</c:v>
                </c:pt>
                <c:pt idx="104">
                  <c:v>42978</c:v>
                </c:pt>
                <c:pt idx="105">
                  <c:v>43008</c:v>
                </c:pt>
                <c:pt idx="106">
                  <c:v>43039</c:v>
                </c:pt>
                <c:pt idx="107">
                  <c:v>43069</c:v>
                </c:pt>
                <c:pt idx="108">
                  <c:v>43100</c:v>
                </c:pt>
                <c:pt idx="109">
                  <c:v>43131</c:v>
                </c:pt>
                <c:pt idx="110">
                  <c:v>43159</c:v>
                </c:pt>
                <c:pt idx="111">
                  <c:v>43190</c:v>
                </c:pt>
                <c:pt idx="112">
                  <c:v>43220</c:v>
                </c:pt>
                <c:pt idx="113">
                  <c:v>43251</c:v>
                </c:pt>
                <c:pt idx="114">
                  <c:v>43281</c:v>
                </c:pt>
                <c:pt idx="115">
                  <c:v>43312</c:v>
                </c:pt>
                <c:pt idx="116">
                  <c:v>43343</c:v>
                </c:pt>
                <c:pt idx="117">
                  <c:v>43373</c:v>
                </c:pt>
                <c:pt idx="118">
                  <c:v>43404</c:v>
                </c:pt>
                <c:pt idx="119">
                  <c:v>43434</c:v>
                </c:pt>
                <c:pt idx="120">
                  <c:v>43465</c:v>
                </c:pt>
                <c:pt idx="121">
                  <c:v>43496</c:v>
                </c:pt>
                <c:pt idx="122">
                  <c:v>43524</c:v>
                </c:pt>
                <c:pt idx="123">
                  <c:v>43555</c:v>
                </c:pt>
                <c:pt idx="124">
                  <c:v>43585</c:v>
                </c:pt>
                <c:pt idx="125">
                  <c:v>43616</c:v>
                </c:pt>
                <c:pt idx="126">
                  <c:v>43646</c:v>
                </c:pt>
                <c:pt idx="127">
                  <c:v>43677</c:v>
                </c:pt>
                <c:pt idx="128">
                  <c:v>43708</c:v>
                </c:pt>
                <c:pt idx="129">
                  <c:v>43738</c:v>
                </c:pt>
                <c:pt idx="130">
                  <c:v>43769</c:v>
                </c:pt>
                <c:pt idx="131">
                  <c:v>43799</c:v>
                </c:pt>
                <c:pt idx="132">
                  <c:v>43830</c:v>
                </c:pt>
                <c:pt idx="133">
                  <c:v>43861</c:v>
                </c:pt>
                <c:pt idx="134">
                  <c:v>43890</c:v>
                </c:pt>
                <c:pt idx="135">
                  <c:v>43921</c:v>
                </c:pt>
                <c:pt idx="136">
                  <c:v>43951</c:v>
                </c:pt>
                <c:pt idx="137">
                  <c:v>43982</c:v>
                </c:pt>
                <c:pt idx="138">
                  <c:v>44012</c:v>
                </c:pt>
                <c:pt idx="139">
                  <c:v>44043</c:v>
                </c:pt>
                <c:pt idx="140">
                  <c:v>44074</c:v>
                </c:pt>
                <c:pt idx="141">
                  <c:v>44104</c:v>
                </c:pt>
                <c:pt idx="142">
                  <c:v>44135</c:v>
                </c:pt>
                <c:pt idx="143">
                  <c:v>44165</c:v>
                </c:pt>
                <c:pt idx="144">
                  <c:v>44196</c:v>
                </c:pt>
                <c:pt idx="145">
                  <c:v>44227</c:v>
                </c:pt>
                <c:pt idx="146">
                  <c:v>44255</c:v>
                </c:pt>
                <c:pt idx="147">
                  <c:v>44286</c:v>
                </c:pt>
                <c:pt idx="148">
                  <c:v>44316</c:v>
                </c:pt>
                <c:pt idx="149">
                  <c:v>44347</c:v>
                </c:pt>
                <c:pt idx="150">
                  <c:v>44377</c:v>
                </c:pt>
                <c:pt idx="151">
                  <c:v>44408</c:v>
                </c:pt>
                <c:pt idx="152">
                  <c:v>44439</c:v>
                </c:pt>
                <c:pt idx="153">
                  <c:v>44469</c:v>
                </c:pt>
                <c:pt idx="154">
                  <c:v>44500</c:v>
                </c:pt>
                <c:pt idx="155">
                  <c:v>44530</c:v>
                </c:pt>
                <c:pt idx="156">
                  <c:v>44561</c:v>
                </c:pt>
                <c:pt idx="157">
                  <c:v>44592</c:v>
                </c:pt>
                <c:pt idx="158">
                  <c:v>44620</c:v>
                </c:pt>
                <c:pt idx="159">
                  <c:v>44651</c:v>
                </c:pt>
                <c:pt idx="160">
                  <c:v>44681</c:v>
                </c:pt>
                <c:pt idx="161">
                  <c:v>44712</c:v>
                </c:pt>
                <c:pt idx="162">
                  <c:v>44742</c:v>
                </c:pt>
                <c:pt idx="163">
                  <c:v>44773</c:v>
                </c:pt>
                <c:pt idx="164">
                  <c:v>44804</c:v>
                </c:pt>
                <c:pt idx="165">
                  <c:v>44834</c:v>
                </c:pt>
                <c:pt idx="166">
                  <c:v>44865</c:v>
                </c:pt>
                <c:pt idx="167">
                  <c:v>44895</c:v>
                </c:pt>
                <c:pt idx="168">
                  <c:v>44926</c:v>
                </c:pt>
                <c:pt idx="169">
                  <c:v>44957</c:v>
                </c:pt>
                <c:pt idx="170">
                  <c:v>44985</c:v>
                </c:pt>
                <c:pt idx="171">
                  <c:v>45016</c:v>
                </c:pt>
                <c:pt idx="172">
                  <c:v>45046</c:v>
                </c:pt>
                <c:pt idx="173">
                  <c:v>45077</c:v>
                </c:pt>
                <c:pt idx="174">
                  <c:v>45107</c:v>
                </c:pt>
                <c:pt idx="175">
                  <c:v>45138</c:v>
                </c:pt>
                <c:pt idx="176">
                  <c:v>45169</c:v>
                </c:pt>
                <c:pt idx="177">
                  <c:v>45199</c:v>
                </c:pt>
                <c:pt idx="178">
                  <c:v>45230</c:v>
                </c:pt>
                <c:pt idx="179">
                  <c:v>45260</c:v>
                </c:pt>
                <c:pt idx="180">
                  <c:v>45291</c:v>
                </c:pt>
                <c:pt idx="181">
                  <c:v>45322</c:v>
                </c:pt>
                <c:pt idx="182">
                  <c:v>45351</c:v>
                </c:pt>
                <c:pt idx="183">
                  <c:v>45382</c:v>
                </c:pt>
                <c:pt idx="184">
                  <c:v>45412</c:v>
                </c:pt>
                <c:pt idx="185">
                  <c:v>45443</c:v>
                </c:pt>
                <c:pt idx="186">
                  <c:v>45473</c:v>
                </c:pt>
                <c:pt idx="187">
                  <c:v>45504</c:v>
                </c:pt>
                <c:pt idx="188">
                  <c:v>45535</c:v>
                </c:pt>
                <c:pt idx="189">
                  <c:v>45565</c:v>
                </c:pt>
                <c:pt idx="190">
                  <c:v>45596</c:v>
                </c:pt>
                <c:pt idx="191">
                  <c:v>45626</c:v>
                </c:pt>
                <c:pt idx="192">
                  <c:v>45657</c:v>
                </c:pt>
                <c:pt idx="193">
                  <c:v>45688</c:v>
                </c:pt>
                <c:pt idx="194">
                  <c:v>45716</c:v>
                </c:pt>
                <c:pt idx="195">
                  <c:v>45747</c:v>
                </c:pt>
                <c:pt idx="196">
                  <c:v>45777</c:v>
                </c:pt>
                <c:pt idx="197">
                  <c:v>45808</c:v>
                </c:pt>
                <c:pt idx="198">
                  <c:v>45838</c:v>
                </c:pt>
                <c:pt idx="199">
                  <c:v>45869</c:v>
                </c:pt>
                <c:pt idx="200">
                  <c:v>45900</c:v>
                </c:pt>
                <c:pt idx="201">
                  <c:v>45930</c:v>
                </c:pt>
                <c:pt idx="202">
                  <c:v>45961</c:v>
                </c:pt>
                <c:pt idx="203">
                  <c:v>45991</c:v>
                </c:pt>
                <c:pt idx="204">
                  <c:v>46022</c:v>
                </c:pt>
                <c:pt idx="205">
                  <c:v>46053</c:v>
                </c:pt>
                <c:pt idx="206">
                  <c:v>46081</c:v>
                </c:pt>
                <c:pt idx="207">
                  <c:v>46112</c:v>
                </c:pt>
                <c:pt idx="208">
                  <c:v>46142</c:v>
                </c:pt>
                <c:pt idx="209">
                  <c:v>46173</c:v>
                </c:pt>
                <c:pt idx="210">
                  <c:v>46203</c:v>
                </c:pt>
                <c:pt idx="211">
                  <c:v>46209</c:v>
                </c:pt>
              </c:numCache>
            </c:numRef>
          </c:cat>
          <c:val>
            <c:numRef>
              <c:f>Tabelle1!$B$2:$B$290</c:f>
              <c:numCache>
                <c:formatCode>General</c:formatCode>
                <c:ptCount val="289"/>
                <c:pt idx="0">
                  <c:v>1</c:v>
                </c:pt>
                <c:pt idx="1">
                  <c:v>0.99305555555555558</c:v>
                </c:pt>
                <c:pt idx="2">
                  <c:v>1.0001388888888889</c:v>
                </c:pt>
                <c:pt idx="3">
                  <c:v>1.0069444444444444</c:v>
                </c:pt>
                <c:pt idx="4">
                  <c:v>1.0243055555555556</c:v>
                </c:pt>
                <c:pt idx="5">
                  <c:v>1.0410009166666667</c:v>
                </c:pt>
                <c:pt idx="6">
                  <c:v>1.0625</c:v>
                </c:pt>
                <c:pt idx="7">
                  <c:v>1.0765624999999999</c:v>
                </c:pt>
                <c:pt idx="8">
                  <c:v>1.0987148437499998</c:v>
                </c:pt>
                <c:pt idx="9">
                  <c:v>1.1110677083333333</c:v>
                </c:pt>
                <c:pt idx="10">
                  <c:v>1.1214192708333333</c:v>
                </c:pt>
                <c:pt idx="11">
                  <c:v>1.1279752604166666</c:v>
                </c:pt>
                <c:pt idx="12">
                  <c:v>1.1317708333333332</c:v>
                </c:pt>
                <c:pt idx="13">
                  <c:v>1.1315551757812499</c:v>
                </c:pt>
                <c:pt idx="14">
                  <c:v>1.1246972656249998</c:v>
                </c:pt>
                <c:pt idx="15">
                  <c:v>1.1349841308593749</c:v>
                </c:pt>
                <c:pt idx="16">
                  <c:v>1.1384130859374997</c:v>
                </c:pt>
                <c:pt idx="17">
                  <c:v>1.1486999511718747</c:v>
                </c:pt>
                <c:pt idx="18">
                  <c:v>1.1555578613281248</c:v>
                </c:pt>
                <c:pt idx="19">
                  <c:v>1.158558197021484</c:v>
                </c:pt>
                <c:pt idx="20">
                  <c:v>1.1653732452392573</c:v>
                </c:pt>
                <c:pt idx="21">
                  <c:v>1.1721882934570307</c:v>
                </c:pt>
                <c:pt idx="22">
                  <c:v>1.1824108657836909</c:v>
                </c:pt>
                <c:pt idx="23">
                  <c:v>1.192428986663818</c:v>
                </c:pt>
                <c:pt idx="24">
                  <c:v>1.1899074188232419</c:v>
                </c:pt>
                <c:pt idx="25">
                  <c:v>1.1817932520389556</c:v>
                </c:pt>
                <c:pt idx="26">
                  <c:v>1.1784950668599126</c:v>
                </c:pt>
                <c:pt idx="27">
                  <c:v>1.1851794791221615</c:v>
                </c:pt>
                <c:pt idx="28">
                  <c:v>1.191951933288574</c:v>
                </c:pt>
                <c:pt idx="29">
                  <c:v>1.1930355259551999</c:v>
                </c:pt>
                <c:pt idx="30">
                  <c:v>1.1999434292049405</c:v>
                </c:pt>
                <c:pt idx="31">
                  <c:v>1.1623601180868206</c:v>
                </c:pt>
                <c:pt idx="32">
                  <c:v>1.152264928595012</c:v>
                </c:pt>
                <c:pt idx="33">
                  <c:v>1.1703016671537096</c:v>
                </c:pt>
                <c:pt idx="34">
                  <c:v>1.1534763513340289</c:v>
                </c:pt>
                <c:pt idx="35">
                  <c:v>1.1718495962091202</c:v>
                </c:pt>
                <c:pt idx="36">
                  <c:v>1.18450223370552</c:v>
                </c:pt>
                <c:pt idx="37">
                  <c:v>1.1904752208215068</c:v>
                </c:pt>
                <c:pt idx="38">
                  <c:v>1.1971632838598298</c:v>
                </c:pt>
                <c:pt idx="39">
                  <c:v>1.1837871577831838</c:v>
                </c:pt>
                <c:pt idx="40">
                  <c:v>1.1770990947448607</c:v>
                </c:pt>
                <c:pt idx="41">
                  <c:v>1.20151052483474</c:v>
                </c:pt>
                <c:pt idx="42">
                  <c:v>1.2283402548542997</c:v>
                </c:pt>
                <c:pt idx="43">
                  <c:v>1.228817157958247</c:v>
                </c:pt>
                <c:pt idx="44">
                  <c:v>1.2343099706543204</c:v>
                </c:pt>
                <c:pt idx="45">
                  <c:v>1.2399137379210909</c:v>
                </c:pt>
                <c:pt idx="46">
                  <c:v>1.2326478434168733</c:v>
                </c:pt>
                <c:pt idx="47">
                  <c:v>1.230429077298723</c:v>
                </c:pt>
                <c:pt idx="48">
                  <c:v>1.2277221333286659</c:v>
                </c:pt>
                <c:pt idx="49">
                  <c:v>1.2341526349325083</c:v>
                </c:pt>
                <c:pt idx="50">
                  <c:v>1.2455562052792846</c:v>
                </c:pt>
                <c:pt idx="51">
                  <c:v>1.2484583512375853</c:v>
                </c:pt>
                <c:pt idx="52">
                  <c:v>1.245362174526516</c:v>
                </c:pt>
                <c:pt idx="53">
                  <c:v>1.2142530274068437</c:v>
                </c:pt>
                <c:pt idx="54">
                  <c:v>1.2330132366802795</c:v>
                </c:pt>
                <c:pt idx="55">
                  <c:v>1.2231626168691134</c:v>
                </c:pt>
                <c:pt idx="56">
                  <c:v>1.2270889688692632</c:v>
                </c:pt>
                <c:pt idx="57">
                  <c:v>1.244145505536546</c:v>
                </c:pt>
                <c:pt idx="58">
                  <c:v>1.2435109913287223</c:v>
                </c:pt>
                <c:pt idx="59">
                  <c:v>1.2400415956629152</c:v>
                </c:pt>
                <c:pt idx="60">
                  <c:v>1.2433897079712048</c:v>
                </c:pt>
                <c:pt idx="61">
                  <c:v>1.255759104209816</c:v>
                </c:pt>
                <c:pt idx="62">
                  <c:v>1.2617867479100229</c:v>
                </c:pt>
                <c:pt idx="63">
                  <c:v>1.269862183096647</c:v>
                </c:pt>
                <c:pt idx="64">
                  <c:v>1.2895450469346452</c:v>
                </c:pt>
                <c:pt idx="65">
                  <c:v>1.3028273609180721</c:v>
                </c:pt>
                <c:pt idx="66">
                  <c:v>1.3107746078196723</c:v>
                </c:pt>
                <c:pt idx="67">
                  <c:v>1.3189948030789613</c:v>
                </c:pt>
                <c:pt idx="68">
                  <c:v>1.3238750838503535</c:v>
                </c:pt>
                <c:pt idx="69">
                  <c:v>1.3251989589342037</c:v>
                </c:pt>
                <c:pt idx="70">
                  <c:v>1.3412338663373076</c:v>
                </c:pt>
                <c:pt idx="71">
                  <c:v>1.3396243856977028</c:v>
                </c:pt>
                <c:pt idx="72">
                  <c:v>1.380348967022913</c:v>
                </c:pt>
                <c:pt idx="73">
                  <c:v>1.3946295398048694</c:v>
                </c:pt>
                <c:pt idx="74">
                  <c:v>1.4055076502153474</c:v>
                </c:pt>
                <c:pt idx="75">
                  <c:v>1.3942635890136246</c:v>
                </c:pt>
                <c:pt idx="76">
                  <c:v>1.394403015372526</c:v>
                </c:pt>
                <c:pt idx="77">
                  <c:v>1.3592640593851384</c:v>
                </c:pt>
                <c:pt idx="78">
                  <c:v>1.3738081848205592</c:v>
                </c:pt>
                <c:pt idx="79">
                  <c:v>1.32931654812503</c:v>
                </c:pt>
                <c:pt idx="80">
                  <c:v>1.3209418538718423</c:v>
                </c:pt>
                <c:pt idx="81">
                  <c:v>1.3600417327464489</c:v>
                </c:pt>
                <c:pt idx="82">
                  <c:v>1.3786743044850753</c:v>
                </c:pt>
                <c:pt idx="83">
                  <c:v>1.3531688298521014</c:v>
                </c:pt>
                <c:pt idx="84">
                  <c:v>1.3357129519470092</c:v>
                </c:pt>
                <c:pt idx="85">
                  <c:v>1.3244445435561465</c:v>
                </c:pt>
                <c:pt idx="86">
                  <c:v>1.3399405447157535</c:v>
                </c:pt>
                <c:pt idx="87">
                  <c:v>1.3495881166377071</c:v>
                </c:pt>
                <c:pt idx="88">
                  <c:v>1.3506677871310171</c:v>
                </c:pt>
                <c:pt idx="89">
                  <c:v>1.3512080542458695</c:v>
                </c:pt>
                <c:pt idx="90">
                  <c:v>1.3743137119734739</c:v>
                </c:pt>
                <c:pt idx="91">
                  <c:v>1.3762403280084468</c:v>
                </c:pt>
                <c:pt idx="92">
                  <c:v>1.3692215023356036</c:v>
                </c:pt>
                <c:pt idx="93">
                  <c:v>1.3719599453402749</c:v>
                </c:pt>
                <c:pt idx="94">
                  <c:v>1.3678440655042541</c:v>
                </c:pt>
                <c:pt idx="95">
                  <c:v>1.3883617264868178</c:v>
                </c:pt>
                <c:pt idx="96">
                  <c:v>1.3946093542560083</c:v>
                </c:pt>
                <c:pt idx="97">
                  <c:v>1.4134723174031674</c:v>
                </c:pt>
                <c:pt idx="98">
                  <c:v>1.4223771930028073</c:v>
                </c:pt>
                <c:pt idx="99">
                  <c:v>1.4270710377397167</c:v>
                </c:pt>
                <c:pt idx="100">
                  <c:v>1.430496008230292</c:v>
                </c:pt>
                <c:pt idx="101">
                  <c:v>1.4190520401644497</c:v>
                </c:pt>
                <c:pt idx="102">
                  <c:v>1.4177748933283016</c:v>
                </c:pt>
                <c:pt idx="103">
                  <c:v>1.4129996502657101</c:v>
                </c:pt>
                <c:pt idx="104">
                  <c:v>1.4163908494263477</c:v>
                </c:pt>
                <c:pt idx="105">
                  <c:v>1.4370701558279724</c:v>
                </c:pt>
                <c:pt idx="106">
                  <c:v>1.4321841172981573</c:v>
                </c:pt>
                <c:pt idx="107">
                  <c:v>1.429319749063561</c:v>
                </c:pt>
                <c:pt idx="108">
                  <c:v>1.4318925246118754</c:v>
                </c:pt>
                <c:pt idx="109">
                  <c:v>1.4105635905249536</c:v>
                </c:pt>
                <c:pt idx="110">
                  <c:v>1.4002664763141215</c:v>
                </c:pt>
                <c:pt idx="111">
                  <c:v>1.4110485281817402</c:v>
                </c:pt>
                <c:pt idx="112">
                  <c:v>1.4169749320001035</c:v>
                </c:pt>
                <c:pt idx="113">
                  <c:v>1.410173452326503</c:v>
                </c:pt>
                <c:pt idx="114">
                  <c:v>1.4200446664927884</c:v>
                </c:pt>
                <c:pt idx="115">
                  <c:v>1.4182252342638444</c:v>
                </c:pt>
                <c:pt idx="116">
                  <c:v>1.4165233639827277</c:v>
                </c:pt>
                <c:pt idx="117">
                  <c:v>1.4013665639881125</c:v>
                </c:pt>
                <c:pt idx="118">
                  <c:v>1.3886141282558206</c:v>
                </c:pt>
                <c:pt idx="119">
                  <c:v>1.3701455603500183</c:v>
                </c:pt>
                <c:pt idx="120">
                  <c:v>1.410290825268274</c:v>
                </c:pt>
                <c:pt idx="121">
                  <c:v>1.4110065478620974</c:v>
                </c:pt>
                <c:pt idx="122">
                  <c:v>1.4293496329843045</c:v>
                </c:pt>
                <c:pt idx="123">
                  <c:v>1.4372110559657183</c:v>
                </c:pt>
                <c:pt idx="124">
                  <c:v>1.4303124428970828</c:v>
                </c:pt>
                <c:pt idx="125">
                  <c:v>1.4546277544263331</c:v>
                </c:pt>
                <c:pt idx="126">
                  <c:v>1.4738288407847608</c:v>
                </c:pt>
                <c:pt idx="127">
                  <c:v>1.4805817403046315</c:v>
                </c:pt>
                <c:pt idx="128">
                  <c:v>1.4709579589926516</c:v>
                </c:pt>
                <c:pt idx="129">
                  <c:v>1.472428916951644</c:v>
                </c:pt>
                <c:pt idx="130">
                  <c:v>1.4736068600852053</c:v>
                </c:pt>
                <c:pt idx="131">
                  <c:v>1.4827432226177335</c:v>
                </c:pt>
                <c:pt idx="132">
                  <c:v>1.5002395926446228</c:v>
                </c:pt>
                <c:pt idx="133">
                  <c:v>1.458362279715439</c:v>
                </c:pt>
                <c:pt idx="134">
                  <c:v>1.3724647414401996</c:v>
                </c:pt>
                <c:pt idx="135">
                  <c:v>1.4546753794524676</c:v>
                </c:pt>
                <c:pt idx="136">
                  <c:v>1.4600576783564418</c:v>
                </c:pt>
                <c:pt idx="137">
                  <c:v>1.4860467050311865</c:v>
                </c:pt>
                <c:pt idx="138">
                  <c:v>1.5093776383001762</c:v>
                </c:pt>
                <c:pt idx="139">
                  <c:v>1.5054938209646251</c:v>
                </c:pt>
                <c:pt idx="140">
                  <c:v>1.5079026110781686</c:v>
                </c:pt>
                <c:pt idx="141">
                  <c:v>1.5059423376837671</c:v>
                </c:pt>
                <c:pt idx="142">
                  <c:v>1.529886820852939</c:v>
                </c:pt>
                <c:pt idx="143">
                  <c:v>1.536159356818436</c:v>
                </c:pt>
                <c:pt idx="144">
                  <c:v>1.5373882843038906</c:v>
                </c:pt>
                <c:pt idx="145">
                  <c:v>1.5053212472963446</c:v>
                </c:pt>
                <c:pt idx="146">
                  <c:v>1.5271484053821416</c:v>
                </c:pt>
                <c:pt idx="147">
                  <c:v>1.5344787177279757</c:v>
                </c:pt>
                <c:pt idx="148">
                  <c:v>1.5442993815214348</c:v>
                </c:pt>
                <c:pt idx="149">
                  <c:v>1.5595879453984971</c:v>
                </c:pt>
                <c:pt idx="150">
                  <c:v>1.5781470419487393</c:v>
                </c:pt>
                <c:pt idx="151">
                  <c:v>1.5700087349217902</c:v>
                </c:pt>
                <c:pt idx="152">
                  <c:v>1.5495986213678068</c:v>
                </c:pt>
                <c:pt idx="153">
                  <c:v>1.5612206110280655</c:v>
                </c:pt>
                <c:pt idx="154">
                  <c:v>1.5733981317940844</c:v>
                </c:pt>
                <c:pt idx="155">
                  <c:v>1.5839398992771045</c:v>
                </c:pt>
                <c:pt idx="156">
                  <c:v>1.5516275253318517</c:v>
                </c:pt>
                <c:pt idx="157">
                  <c:v>1.5271273267068617</c:v>
                </c:pt>
                <c:pt idx="158">
                  <c:v>1.5226986574594117</c:v>
                </c:pt>
                <c:pt idx="159">
                  <c:v>1.5068625914218339</c:v>
                </c:pt>
                <c:pt idx="160">
                  <c:v>1.4740129869288379</c:v>
                </c:pt>
                <c:pt idx="161">
                  <c:v>1.4324458206974446</c:v>
                </c:pt>
                <c:pt idx="162">
                  <c:v>1.5006302417626431</c:v>
                </c:pt>
                <c:pt idx="163">
                  <c:v>1.4529261442709098</c:v>
                </c:pt>
                <c:pt idx="164">
                  <c:v>1.4062872150398136</c:v>
                </c:pt>
                <c:pt idx="165">
                  <c:v>1.4072716160903413</c:v>
                </c:pt>
                <c:pt idx="166">
                  <c:v>1.4361206842201932</c:v>
                </c:pt>
                <c:pt idx="167">
                  <c:v>1.4030899084831288</c:v>
                </c:pt>
                <c:pt idx="168">
                  <c:v>1.4434988978474428</c:v>
                </c:pt>
                <c:pt idx="169">
                  <c:v>1.4172633053790655</c:v>
                </c:pt>
                <c:pt idx="170">
                  <c:v>1.4380970759681377</c:v>
                </c:pt>
                <c:pt idx="171">
                  <c:v>1.4359399303541855</c:v>
                </c:pt>
                <c:pt idx="172">
                  <c:v>1.4465658858388066</c:v>
                </c:pt>
                <c:pt idx="173">
                  <c:v>1.4432387843013774</c:v>
                </c:pt>
                <c:pt idx="174">
                  <c:v>1.4602690019561337</c:v>
                </c:pt>
                <c:pt idx="175">
                  <c:v>1.4540446053352958</c:v>
                </c:pt>
                <c:pt idx="176">
                  <c:v>1.4395041592819429</c:v>
                </c:pt>
                <c:pt idx="177">
                  <c:v>1.4467016800783523</c:v>
                </c:pt>
                <c:pt idx="178">
                  <c:v>1.4772270855280054</c:v>
                </c:pt>
                <c:pt idx="179">
                  <c:v>1.5126805355806776</c:v>
                </c:pt>
                <c:pt idx="180">
                  <c:v>1.5202439382585808</c:v>
                </c:pt>
                <c:pt idx="181">
                  <c:v>1.5235837241604426</c:v>
                </c:pt>
                <c:pt idx="182">
                  <c:v>1.5286115504501723</c:v>
                </c:pt>
                <c:pt idx="183">
                  <c:v>1.562546726870166</c:v>
                </c:pt>
                <c:pt idx="184">
                  <c:v>1.5559840306173114</c:v>
                </c:pt>
                <c:pt idx="185">
                  <c:v>1.5608075811122253</c:v>
                </c:pt>
                <c:pt idx="186">
                  <c:v>1.586560906200577</c:v>
                </c:pt>
                <c:pt idx="187">
                  <c:v>1.5941456589327825</c:v>
                </c:pt>
                <c:pt idx="188">
                  <c:v>1.5984498522119008</c:v>
                </c:pt>
                <c:pt idx="189">
                  <c:v>1.6158729556010105</c:v>
                </c:pt>
                <c:pt idx="190">
                  <c:v>1.621043749058934</c:v>
                </c:pt>
                <c:pt idx="191">
                  <c:v>1.6589761727869132</c:v>
                </c:pt>
                <c:pt idx="192">
                  <c:v>1.6495200086020279</c:v>
                </c:pt>
                <c:pt idx="193">
                  <c:v>1.670355508210682</c:v>
                </c:pt>
                <c:pt idx="194">
                  <c:v>1.6787072857517353</c:v>
                </c:pt>
                <c:pt idx="195">
                  <c:v>1.6568840910369627</c:v>
                </c:pt>
                <c:pt idx="196">
                  <c:v>1.66931072171974</c:v>
                </c:pt>
                <c:pt idx="197">
                  <c:v>1.6925141407516444</c:v>
                </c:pt>
                <c:pt idx="198">
                  <c:v>1.6980994374161249</c:v>
                </c:pt>
                <c:pt idx="199">
                  <c:v>1.7058799167759358</c:v>
                </c:pt>
                <c:pt idx="200">
                  <c:v>1.7051975648092255</c:v>
                </c:pt>
                <c:pt idx="201">
                  <c:v>1.7394720358618909</c:v>
                </c:pt>
                <c:pt idx="202">
                  <c:v>1.7730438461540257</c:v>
                </c:pt>
                <c:pt idx="203">
                  <c:v>1.7693204540771021</c:v>
                </c:pt>
                <c:pt idx="204">
                  <c:v>1.776751599984226</c:v>
                </c:pt>
                <c:pt idx="205">
                  <c:v>1.8236578422238097</c:v>
                </c:pt>
                <c:pt idx="206">
                  <c:v>1.8527965684635508</c:v>
                </c:pt>
                <c:pt idx="207">
                  <c:v>1.7756855490242354</c:v>
                </c:pt>
                <c:pt idx="208">
                  <c:v>1.8272113454237779</c:v>
                </c:pt>
                <c:pt idx="209">
                  <c:v>1.8741175876633616</c:v>
                </c:pt>
                <c:pt idx="210">
                  <c:v>1.8801585431033081</c:v>
                </c:pt>
                <c:pt idx="211">
                  <c:v>1.868876170443408</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in val="0.70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Tabelle1!$B$4:$B$8</c:f>
              <c:numCache>
                <c:formatCode>0.00%</c:formatCode>
                <c:ptCount val="5"/>
                <c:pt idx="0">
                  <c:v>3.1301629461534711E-2</c:v>
                </c:pt>
                <c:pt idx="1">
                  <c:v>-0.11488617755711915</c:v>
                </c:pt>
                <c:pt idx="2">
                  <c:v>7.8606812768200349E-2</c:v>
                </c:pt>
                <c:pt idx="3">
                  <c:v>8.5000000000000006E-2</c:v>
                </c:pt>
                <c:pt idx="4">
                  <c:v>7.7100000000000002E-2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Tabelle1!$C$4:$C$8</c:f>
              <c:numCache>
                <c:formatCode>0.00%</c:formatCode>
                <c:ptCount val="5"/>
                <c:pt idx="0">
                  <c:v>1.6500000000000001E-2</c:v>
                </c:pt>
                <c:pt idx="1">
                  <c:v>-0.12659999999999999</c:v>
                </c:pt>
                <c:pt idx="2">
                  <c:v>8.4500000000000006E-2</c:v>
                </c:pt>
                <c:pt idx="3">
                  <c:v>5.2499999999999998E-2</c:v>
                </c:pt>
                <c:pt idx="4">
                  <c:v>3.7699999999999997E-2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36C1-49E4-B592-14FCA73A64D0}"/>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36C1-49E4-B592-14FCA73A64D0}"/>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36C1-49E4-B592-14FCA73A64D0}"/>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36C1-49E4-B592-14FCA73A64D0}"/>
              </c:ext>
            </c:extLst>
          </c:dPt>
          <c:dLbls>
            <c:dLbl>
              <c:idx val="0"/>
              <c:layout>
                <c:manualLayout>
                  <c:x val="0.19540315363252411"/>
                  <c:y val="-5.81705075878864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6C1-49E4-B592-14FCA73A64D0}"/>
                </c:ext>
              </c:extLst>
            </c:dLbl>
            <c:dLbl>
              <c:idx val="1"/>
              <c:layout>
                <c:manualLayout>
                  <c:x val="6.1063485510163787E-2"/>
                  <c:y val="0.1476635961846348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6C1-49E4-B592-14FCA73A64D0}"/>
                </c:ext>
              </c:extLst>
            </c:dLbl>
            <c:dLbl>
              <c:idx val="2"/>
              <c:layout>
                <c:manualLayout>
                  <c:x val="-0.14248146619038216"/>
                  <c:y val="-1.34239632895122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6C1-49E4-B592-14FCA73A64D0}"/>
                </c:ext>
              </c:extLst>
            </c:dLbl>
            <c:dLbl>
              <c:idx val="3"/>
              <c:layout>
                <c:manualLayout>
                  <c:x val="-0.21982854783658962"/>
                  <c:y val="-5.81705075878864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6C1-49E4-B592-14FCA73A64D0}"/>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[0]!R_LegendeDp</c:f>
              <c:strCache>
                <c:ptCount val="4"/>
                <c:pt idx="0">
                  <c:v>EDELMETALLE</c:v>
                </c:pt>
                <c:pt idx="1">
                  <c:v>RENTEN</c:v>
                </c:pt>
                <c:pt idx="2">
                  <c:v>AKTIEN </c:v>
                </c:pt>
                <c:pt idx="3">
                  <c:v>LIQUIDITÄT</c:v>
                </c:pt>
              </c:strCache>
            </c:strRef>
          </c:cat>
          <c:val>
            <c:numRef>
              <c:f>[0]!R_DatenDp</c:f>
              <c:numCache>
                <c:formatCode>0.00%</c:formatCode>
                <c:ptCount val="4"/>
                <c:pt idx="0">
                  <c:v>7.8299999999999995E-2</c:v>
                </c:pt>
                <c:pt idx="1">
                  <c:v>0.41710000000000019</c:v>
                </c:pt>
                <c:pt idx="2">
                  <c:v>0.47099999999999986</c:v>
                </c:pt>
                <c:pt idx="3">
                  <c:v>3.3599999999999998E-2</c:v>
                </c:pt>
              </c:numCache>
            </c:numRef>
          </c:val>
          <c:extLst>
            <c:ext xmlns:c16="http://schemas.microsoft.com/office/drawing/2014/chart" uri="{C3380CC4-5D6E-409C-BE32-E72D297353CC}">
              <c16:uniqueId val="{00000008-36C1-49E4-B592-14FCA73A64D0}"/>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5370094201321258"/>
          <c:w val="0.24600007748033939"/>
          <c:h val="0.24629905798678742"/>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Tabelle1!$A$2:$A$213</c:f>
              <c:numCache>
                <c:formatCode>m/d/yyyy</c:formatCode>
                <c:ptCount val="212"/>
                <c:pt idx="0">
                  <c:v>39813</c:v>
                </c:pt>
                <c:pt idx="1">
                  <c:v>39844</c:v>
                </c:pt>
                <c:pt idx="2">
                  <c:v>39872</c:v>
                </c:pt>
                <c:pt idx="3">
                  <c:v>39903</c:v>
                </c:pt>
                <c:pt idx="4">
                  <c:v>39933</c:v>
                </c:pt>
                <c:pt idx="5">
                  <c:v>39964</c:v>
                </c:pt>
                <c:pt idx="6">
                  <c:v>39994</c:v>
                </c:pt>
                <c:pt idx="7">
                  <c:v>40025</c:v>
                </c:pt>
                <c:pt idx="8">
                  <c:v>40056</c:v>
                </c:pt>
                <c:pt idx="9">
                  <c:v>40086</c:v>
                </c:pt>
                <c:pt idx="10">
                  <c:v>40117</c:v>
                </c:pt>
                <c:pt idx="11">
                  <c:v>40147</c:v>
                </c:pt>
                <c:pt idx="12">
                  <c:v>40178</c:v>
                </c:pt>
                <c:pt idx="13">
                  <c:v>40209</c:v>
                </c:pt>
                <c:pt idx="14">
                  <c:v>40237</c:v>
                </c:pt>
                <c:pt idx="15">
                  <c:v>40268</c:v>
                </c:pt>
                <c:pt idx="16">
                  <c:v>40298</c:v>
                </c:pt>
                <c:pt idx="17">
                  <c:v>40329</c:v>
                </c:pt>
                <c:pt idx="18">
                  <c:v>40359</c:v>
                </c:pt>
                <c:pt idx="19">
                  <c:v>40390</c:v>
                </c:pt>
                <c:pt idx="20">
                  <c:v>40421</c:v>
                </c:pt>
                <c:pt idx="21">
                  <c:v>40451</c:v>
                </c:pt>
                <c:pt idx="22">
                  <c:v>40482</c:v>
                </c:pt>
                <c:pt idx="23">
                  <c:v>40512</c:v>
                </c:pt>
                <c:pt idx="24">
                  <c:v>40543</c:v>
                </c:pt>
                <c:pt idx="25">
                  <c:v>40574</c:v>
                </c:pt>
                <c:pt idx="26">
                  <c:v>40602</c:v>
                </c:pt>
                <c:pt idx="27">
                  <c:v>40633</c:v>
                </c:pt>
                <c:pt idx="28">
                  <c:v>40663</c:v>
                </c:pt>
                <c:pt idx="29">
                  <c:v>40694</c:v>
                </c:pt>
                <c:pt idx="30">
                  <c:v>40724</c:v>
                </c:pt>
                <c:pt idx="31">
                  <c:v>40755</c:v>
                </c:pt>
                <c:pt idx="32">
                  <c:v>40786</c:v>
                </c:pt>
                <c:pt idx="33">
                  <c:v>40816</c:v>
                </c:pt>
                <c:pt idx="34">
                  <c:v>40847</c:v>
                </c:pt>
                <c:pt idx="35">
                  <c:v>40877</c:v>
                </c:pt>
                <c:pt idx="36">
                  <c:v>40908</c:v>
                </c:pt>
                <c:pt idx="37">
                  <c:v>40939</c:v>
                </c:pt>
                <c:pt idx="38">
                  <c:v>40968</c:v>
                </c:pt>
                <c:pt idx="39">
                  <c:v>40999</c:v>
                </c:pt>
                <c:pt idx="40">
                  <c:v>41029</c:v>
                </c:pt>
                <c:pt idx="41">
                  <c:v>41060</c:v>
                </c:pt>
                <c:pt idx="42">
                  <c:v>41090</c:v>
                </c:pt>
                <c:pt idx="43">
                  <c:v>41121</c:v>
                </c:pt>
                <c:pt idx="44">
                  <c:v>41152</c:v>
                </c:pt>
                <c:pt idx="45">
                  <c:v>41182</c:v>
                </c:pt>
                <c:pt idx="46">
                  <c:v>41213</c:v>
                </c:pt>
                <c:pt idx="47">
                  <c:v>41243</c:v>
                </c:pt>
                <c:pt idx="48">
                  <c:v>41274</c:v>
                </c:pt>
                <c:pt idx="49">
                  <c:v>41305</c:v>
                </c:pt>
                <c:pt idx="50">
                  <c:v>41333</c:v>
                </c:pt>
                <c:pt idx="51">
                  <c:v>41364</c:v>
                </c:pt>
                <c:pt idx="52">
                  <c:v>41394</c:v>
                </c:pt>
                <c:pt idx="53">
                  <c:v>41425</c:v>
                </c:pt>
                <c:pt idx="54">
                  <c:v>41455</c:v>
                </c:pt>
                <c:pt idx="55">
                  <c:v>41486</c:v>
                </c:pt>
                <c:pt idx="56">
                  <c:v>41517</c:v>
                </c:pt>
                <c:pt idx="57">
                  <c:v>41547</c:v>
                </c:pt>
                <c:pt idx="58">
                  <c:v>41578</c:v>
                </c:pt>
                <c:pt idx="59">
                  <c:v>41608</c:v>
                </c:pt>
                <c:pt idx="60">
                  <c:v>41639</c:v>
                </c:pt>
                <c:pt idx="61">
                  <c:v>41670</c:v>
                </c:pt>
                <c:pt idx="62">
                  <c:v>41698</c:v>
                </c:pt>
                <c:pt idx="63">
                  <c:v>41729</c:v>
                </c:pt>
                <c:pt idx="64">
                  <c:v>41759</c:v>
                </c:pt>
                <c:pt idx="65">
                  <c:v>41790</c:v>
                </c:pt>
                <c:pt idx="66">
                  <c:v>41820</c:v>
                </c:pt>
                <c:pt idx="67">
                  <c:v>41851</c:v>
                </c:pt>
                <c:pt idx="68">
                  <c:v>41882</c:v>
                </c:pt>
                <c:pt idx="69">
                  <c:v>41912</c:v>
                </c:pt>
                <c:pt idx="70">
                  <c:v>41943</c:v>
                </c:pt>
                <c:pt idx="71">
                  <c:v>41973</c:v>
                </c:pt>
                <c:pt idx="72">
                  <c:v>42004</c:v>
                </c:pt>
                <c:pt idx="73">
                  <c:v>42035</c:v>
                </c:pt>
                <c:pt idx="74">
                  <c:v>42063</c:v>
                </c:pt>
                <c:pt idx="75">
                  <c:v>42094</c:v>
                </c:pt>
                <c:pt idx="76">
                  <c:v>42124</c:v>
                </c:pt>
                <c:pt idx="77">
                  <c:v>42155</c:v>
                </c:pt>
                <c:pt idx="78">
                  <c:v>42185</c:v>
                </c:pt>
                <c:pt idx="79">
                  <c:v>42216</c:v>
                </c:pt>
                <c:pt idx="80">
                  <c:v>42247</c:v>
                </c:pt>
                <c:pt idx="81">
                  <c:v>42277</c:v>
                </c:pt>
                <c:pt idx="82">
                  <c:v>42308</c:v>
                </c:pt>
                <c:pt idx="83">
                  <c:v>42338</c:v>
                </c:pt>
                <c:pt idx="84">
                  <c:v>42369</c:v>
                </c:pt>
                <c:pt idx="85">
                  <c:v>42400</c:v>
                </c:pt>
                <c:pt idx="86">
                  <c:v>42429</c:v>
                </c:pt>
                <c:pt idx="87">
                  <c:v>42460</c:v>
                </c:pt>
                <c:pt idx="88">
                  <c:v>42490</c:v>
                </c:pt>
                <c:pt idx="89">
                  <c:v>42521</c:v>
                </c:pt>
                <c:pt idx="90">
                  <c:v>42551</c:v>
                </c:pt>
                <c:pt idx="91">
                  <c:v>42582</c:v>
                </c:pt>
                <c:pt idx="92">
                  <c:v>42613</c:v>
                </c:pt>
                <c:pt idx="93">
                  <c:v>42643</c:v>
                </c:pt>
                <c:pt idx="94">
                  <c:v>42674</c:v>
                </c:pt>
                <c:pt idx="95">
                  <c:v>42704</c:v>
                </c:pt>
                <c:pt idx="96">
                  <c:v>42735</c:v>
                </c:pt>
                <c:pt idx="97">
                  <c:v>42766</c:v>
                </c:pt>
                <c:pt idx="98">
                  <c:v>42794</c:v>
                </c:pt>
                <c:pt idx="99">
                  <c:v>42825</c:v>
                </c:pt>
                <c:pt idx="100">
                  <c:v>42855</c:v>
                </c:pt>
                <c:pt idx="101">
                  <c:v>42886</c:v>
                </c:pt>
                <c:pt idx="102">
                  <c:v>42916</c:v>
                </c:pt>
                <c:pt idx="103">
                  <c:v>42947</c:v>
                </c:pt>
                <c:pt idx="104">
                  <c:v>42978</c:v>
                </c:pt>
                <c:pt idx="105">
                  <c:v>43008</c:v>
                </c:pt>
                <c:pt idx="106">
                  <c:v>43039</c:v>
                </c:pt>
                <c:pt idx="107">
                  <c:v>43069</c:v>
                </c:pt>
                <c:pt idx="108">
                  <c:v>43100</c:v>
                </c:pt>
                <c:pt idx="109">
                  <c:v>43131</c:v>
                </c:pt>
                <c:pt idx="110">
                  <c:v>43159</c:v>
                </c:pt>
                <c:pt idx="111">
                  <c:v>43190</c:v>
                </c:pt>
                <c:pt idx="112">
                  <c:v>43220</c:v>
                </c:pt>
                <c:pt idx="113">
                  <c:v>43251</c:v>
                </c:pt>
                <c:pt idx="114">
                  <c:v>43281</c:v>
                </c:pt>
                <c:pt idx="115">
                  <c:v>43312</c:v>
                </c:pt>
                <c:pt idx="116">
                  <c:v>43343</c:v>
                </c:pt>
                <c:pt idx="117">
                  <c:v>43373</c:v>
                </c:pt>
                <c:pt idx="118">
                  <c:v>43404</c:v>
                </c:pt>
                <c:pt idx="119">
                  <c:v>43434</c:v>
                </c:pt>
                <c:pt idx="120">
                  <c:v>43465</c:v>
                </c:pt>
                <c:pt idx="121">
                  <c:v>43496</c:v>
                </c:pt>
                <c:pt idx="122">
                  <c:v>43524</c:v>
                </c:pt>
                <c:pt idx="123">
                  <c:v>43555</c:v>
                </c:pt>
                <c:pt idx="124">
                  <c:v>43585</c:v>
                </c:pt>
                <c:pt idx="125">
                  <c:v>43616</c:v>
                </c:pt>
                <c:pt idx="126">
                  <c:v>43646</c:v>
                </c:pt>
                <c:pt idx="127">
                  <c:v>43677</c:v>
                </c:pt>
                <c:pt idx="128">
                  <c:v>43708</c:v>
                </c:pt>
                <c:pt idx="129">
                  <c:v>43738</c:v>
                </c:pt>
                <c:pt idx="130">
                  <c:v>43769</c:v>
                </c:pt>
                <c:pt idx="131">
                  <c:v>43799</c:v>
                </c:pt>
                <c:pt idx="132">
                  <c:v>43830</c:v>
                </c:pt>
                <c:pt idx="133">
                  <c:v>43861</c:v>
                </c:pt>
                <c:pt idx="134">
                  <c:v>43890</c:v>
                </c:pt>
                <c:pt idx="135">
                  <c:v>43921</c:v>
                </c:pt>
                <c:pt idx="136">
                  <c:v>43951</c:v>
                </c:pt>
                <c:pt idx="137">
                  <c:v>43982</c:v>
                </c:pt>
                <c:pt idx="138">
                  <c:v>44012</c:v>
                </c:pt>
                <c:pt idx="139">
                  <c:v>44043</c:v>
                </c:pt>
                <c:pt idx="140">
                  <c:v>44074</c:v>
                </c:pt>
                <c:pt idx="141">
                  <c:v>44104</c:v>
                </c:pt>
                <c:pt idx="142">
                  <c:v>44135</c:v>
                </c:pt>
                <c:pt idx="143">
                  <c:v>44165</c:v>
                </c:pt>
                <c:pt idx="144">
                  <c:v>44196</c:v>
                </c:pt>
                <c:pt idx="145">
                  <c:v>44227</c:v>
                </c:pt>
                <c:pt idx="146">
                  <c:v>44255</c:v>
                </c:pt>
                <c:pt idx="147">
                  <c:v>44286</c:v>
                </c:pt>
                <c:pt idx="148">
                  <c:v>44316</c:v>
                </c:pt>
                <c:pt idx="149">
                  <c:v>44347</c:v>
                </c:pt>
                <c:pt idx="150">
                  <c:v>44377</c:v>
                </c:pt>
                <c:pt idx="151">
                  <c:v>44408</c:v>
                </c:pt>
                <c:pt idx="152">
                  <c:v>44439</c:v>
                </c:pt>
                <c:pt idx="153">
                  <c:v>44469</c:v>
                </c:pt>
                <c:pt idx="154">
                  <c:v>44500</c:v>
                </c:pt>
                <c:pt idx="155">
                  <c:v>44530</c:v>
                </c:pt>
                <c:pt idx="156">
                  <c:v>44561</c:v>
                </c:pt>
                <c:pt idx="157">
                  <c:v>44592</c:v>
                </c:pt>
                <c:pt idx="158">
                  <c:v>44620</c:v>
                </c:pt>
                <c:pt idx="159">
                  <c:v>44651</c:v>
                </c:pt>
                <c:pt idx="160">
                  <c:v>44681</c:v>
                </c:pt>
                <c:pt idx="161">
                  <c:v>44712</c:v>
                </c:pt>
                <c:pt idx="162">
                  <c:v>44742</c:v>
                </c:pt>
                <c:pt idx="163">
                  <c:v>44773</c:v>
                </c:pt>
                <c:pt idx="164">
                  <c:v>44804</c:v>
                </c:pt>
                <c:pt idx="165">
                  <c:v>44834</c:v>
                </c:pt>
                <c:pt idx="166">
                  <c:v>44865</c:v>
                </c:pt>
                <c:pt idx="167">
                  <c:v>44895</c:v>
                </c:pt>
                <c:pt idx="168">
                  <c:v>44926</c:v>
                </c:pt>
                <c:pt idx="169">
                  <c:v>44957</c:v>
                </c:pt>
                <c:pt idx="170">
                  <c:v>44985</c:v>
                </c:pt>
                <c:pt idx="171">
                  <c:v>45016</c:v>
                </c:pt>
                <c:pt idx="172">
                  <c:v>45046</c:v>
                </c:pt>
                <c:pt idx="173">
                  <c:v>45077</c:v>
                </c:pt>
                <c:pt idx="174">
                  <c:v>45107</c:v>
                </c:pt>
                <c:pt idx="175">
                  <c:v>45138</c:v>
                </c:pt>
                <c:pt idx="176">
                  <c:v>45169</c:v>
                </c:pt>
                <c:pt idx="177">
                  <c:v>45199</c:v>
                </c:pt>
                <c:pt idx="178">
                  <c:v>45230</c:v>
                </c:pt>
                <c:pt idx="179">
                  <c:v>45260</c:v>
                </c:pt>
                <c:pt idx="180">
                  <c:v>45291</c:v>
                </c:pt>
                <c:pt idx="181">
                  <c:v>45322</c:v>
                </c:pt>
                <c:pt idx="182">
                  <c:v>45351</c:v>
                </c:pt>
                <c:pt idx="183">
                  <c:v>45382</c:v>
                </c:pt>
                <c:pt idx="184">
                  <c:v>45412</c:v>
                </c:pt>
                <c:pt idx="185">
                  <c:v>45443</c:v>
                </c:pt>
                <c:pt idx="186">
                  <c:v>45473</c:v>
                </c:pt>
                <c:pt idx="187">
                  <c:v>45504</c:v>
                </c:pt>
                <c:pt idx="188">
                  <c:v>45535</c:v>
                </c:pt>
                <c:pt idx="189">
                  <c:v>45565</c:v>
                </c:pt>
                <c:pt idx="190">
                  <c:v>45596</c:v>
                </c:pt>
                <c:pt idx="191">
                  <c:v>45626</c:v>
                </c:pt>
                <c:pt idx="192">
                  <c:v>45657</c:v>
                </c:pt>
                <c:pt idx="193">
                  <c:v>45688</c:v>
                </c:pt>
                <c:pt idx="194">
                  <c:v>45716</c:v>
                </c:pt>
                <c:pt idx="195">
                  <c:v>45747</c:v>
                </c:pt>
                <c:pt idx="196">
                  <c:v>45777</c:v>
                </c:pt>
                <c:pt idx="197">
                  <c:v>45808</c:v>
                </c:pt>
                <c:pt idx="198">
                  <c:v>45838</c:v>
                </c:pt>
                <c:pt idx="199">
                  <c:v>45869</c:v>
                </c:pt>
                <c:pt idx="200">
                  <c:v>45900</c:v>
                </c:pt>
                <c:pt idx="201">
                  <c:v>45930</c:v>
                </c:pt>
                <c:pt idx="202">
                  <c:v>45961</c:v>
                </c:pt>
                <c:pt idx="203">
                  <c:v>45991</c:v>
                </c:pt>
                <c:pt idx="204">
                  <c:v>46022</c:v>
                </c:pt>
                <c:pt idx="205">
                  <c:v>46053</c:v>
                </c:pt>
                <c:pt idx="206">
                  <c:v>46081</c:v>
                </c:pt>
                <c:pt idx="207">
                  <c:v>46112</c:v>
                </c:pt>
                <c:pt idx="208">
                  <c:v>46142</c:v>
                </c:pt>
                <c:pt idx="209">
                  <c:v>46173</c:v>
                </c:pt>
                <c:pt idx="210">
                  <c:v>46203</c:v>
                </c:pt>
                <c:pt idx="211">
                  <c:v>46209</c:v>
                </c:pt>
              </c:numCache>
            </c:numRef>
          </c:cat>
          <c:val>
            <c:numRef>
              <c:f>Tabelle1!$B$2:$B$213</c:f>
              <c:numCache>
                <c:formatCode>General</c:formatCode>
                <c:ptCount val="212"/>
                <c:pt idx="0">
                  <c:v>1</c:v>
                </c:pt>
                <c:pt idx="1">
                  <c:v>0.9739489568992904</c:v>
                </c:pt>
                <c:pt idx="2">
                  <c:v>0.98453881181827807</c:v>
                </c:pt>
                <c:pt idx="3">
                  <c:v>1.0464894630943558</c:v>
                </c:pt>
                <c:pt idx="4">
                  <c:v>1.0584559991528117</c:v>
                </c:pt>
                <c:pt idx="5">
                  <c:v>1.0535846658900774</c:v>
                </c:pt>
                <c:pt idx="6">
                  <c:v>1.1124642592396483</c:v>
                </c:pt>
                <c:pt idx="7">
                  <c:v>1.1190789473684208</c:v>
                </c:pt>
                <c:pt idx="8">
                  <c:v>1.1413554484803556</c:v>
                </c:pt>
                <c:pt idx="9">
                  <c:v>1.1364167902149738</c:v>
                </c:pt>
                <c:pt idx="10">
                  <c:v>1.1630014825796886</c:v>
                </c:pt>
                <c:pt idx="11">
                  <c:v>1.1840170496664195</c:v>
                </c:pt>
                <c:pt idx="12">
                  <c:v>1.1716178650852482</c:v>
                </c:pt>
                <c:pt idx="13">
                  <c:v>1.1707746417253519</c:v>
                </c:pt>
                <c:pt idx="14">
                  <c:v>1.2179017356838395</c:v>
                </c:pt>
                <c:pt idx="15">
                  <c:v>1.2173804182727943</c:v>
                </c:pt>
                <c:pt idx="16">
                  <c:v>1.1990300454040026</c:v>
                </c:pt>
                <c:pt idx="17">
                  <c:v>1.2110203458580426</c:v>
                </c:pt>
                <c:pt idx="18">
                  <c:v>1.2199870053280204</c:v>
                </c:pt>
                <c:pt idx="19">
                  <c:v>1.2062904329876294</c:v>
                </c:pt>
                <c:pt idx="20">
                  <c:v>1.2232571251840247</c:v>
                </c:pt>
                <c:pt idx="21">
                  <c:v>1.2473622427557329</c:v>
                </c:pt>
                <c:pt idx="22">
                  <c:v>1.2543972126908236</c:v>
                </c:pt>
                <c:pt idx="23">
                  <c:v>1.2806748945071924</c:v>
                </c:pt>
                <c:pt idx="24">
                  <c:v>1.283882013154072</c:v>
                </c:pt>
                <c:pt idx="25">
                  <c:v>1.2893299766361583</c:v>
                </c:pt>
                <c:pt idx="26">
                  <c:v>1.2741372348732483</c:v>
                </c:pt>
                <c:pt idx="27">
                  <c:v>1.3052412940229901</c:v>
                </c:pt>
                <c:pt idx="28">
                  <c:v>1.308320903839796</c:v>
                </c:pt>
                <c:pt idx="29">
                  <c:v>1.3057545623257911</c:v>
                </c:pt>
                <c:pt idx="30">
                  <c:v>1.3089368258031573</c:v>
                </c:pt>
                <c:pt idx="31">
                  <c:v>1.2614106446516362</c:v>
                </c:pt>
                <c:pt idx="32">
                  <c:v>1.2375758504939747</c:v>
                </c:pt>
                <c:pt idx="33">
                  <c:v>1.2729206093517038</c:v>
                </c:pt>
                <c:pt idx="34">
                  <c:v>1.2564195980117843</c:v>
                </c:pt>
                <c:pt idx="35">
                  <c:v>1.2657905427233433</c:v>
                </c:pt>
                <c:pt idx="36">
                  <c:v>1.293597802573949</c:v>
                </c:pt>
                <c:pt idx="37">
                  <c:v>1.2936792890497015</c:v>
                </c:pt>
                <c:pt idx="38">
                  <c:v>1.311871654051963</c:v>
                </c:pt>
                <c:pt idx="39">
                  <c:v>1.2936792890497015</c:v>
                </c:pt>
                <c:pt idx="40">
                  <c:v>1.2785189848811502</c:v>
                </c:pt>
                <c:pt idx="41">
                  <c:v>1.3072224941069408</c:v>
                </c:pt>
                <c:pt idx="42">
                  <c:v>1.3472365746515542</c:v>
                </c:pt>
                <c:pt idx="43">
                  <c:v>1.3524627343548452</c:v>
                </c:pt>
                <c:pt idx="44">
                  <c:v>1.3587111121875648</c:v>
                </c:pt>
                <c:pt idx="45">
                  <c:v>1.3639285628583651</c:v>
                </c:pt>
                <c:pt idx="46">
                  <c:v>1.3666155021271962</c:v>
                </c:pt>
                <c:pt idx="47">
                  <c:v>1.3684604330550678</c:v>
                </c:pt>
                <c:pt idx="48">
                  <c:v>1.3666677498877657</c:v>
                </c:pt>
                <c:pt idx="49">
                  <c:v>1.3699894153538517</c:v>
                </c:pt>
                <c:pt idx="50">
                  <c:v>1.3756063719568024</c:v>
                </c:pt>
                <c:pt idx="51">
                  <c:v>1.3822918189245126</c:v>
                </c:pt>
                <c:pt idx="52">
                  <c:v>1.3775920267401693</c:v>
                </c:pt>
                <c:pt idx="53">
                  <c:v>1.3380826874132612</c:v>
                </c:pt>
                <c:pt idx="54">
                  <c:v>1.3351389055009522</c:v>
                </c:pt>
                <c:pt idx="55">
                  <c:v>1.316352656625196</c:v>
                </c:pt>
                <c:pt idx="56">
                  <c:v>1.3287790257037377</c:v>
                </c:pt>
                <c:pt idx="57">
                  <c:v>1.3549559725101015</c:v>
                </c:pt>
                <c:pt idx="58">
                  <c:v>1.362923113628461</c:v>
                </c:pt>
                <c:pt idx="59">
                  <c:v>1.3601427504766588</c:v>
                </c:pt>
                <c:pt idx="60">
                  <c:v>1.3544301509246568</c:v>
                </c:pt>
                <c:pt idx="61">
                  <c:v>1.3737686368980515</c:v>
                </c:pt>
                <c:pt idx="62">
                  <c:v>1.3755545361260191</c:v>
                </c:pt>
                <c:pt idx="63">
                  <c:v>1.3895851923945044</c:v>
                </c:pt>
                <c:pt idx="64">
                  <c:v>1.4182106473578311</c:v>
                </c:pt>
                <c:pt idx="65">
                  <c:v>1.4295563325366938</c:v>
                </c:pt>
                <c:pt idx="66">
                  <c:v>1.4261253973386059</c:v>
                </c:pt>
                <c:pt idx="67">
                  <c:v>1.4324783224929951</c:v>
                </c:pt>
                <c:pt idx="68">
                  <c:v>1.4362027661314769</c:v>
                </c:pt>
                <c:pt idx="69">
                  <c:v>1.433330360599214</c:v>
                </c:pt>
                <c:pt idx="70">
                  <c:v>1.4576969767294006</c:v>
                </c:pt>
                <c:pt idx="71">
                  <c:v>1.4505542615434266</c:v>
                </c:pt>
                <c:pt idx="72">
                  <c:v>1.5217764757852088</c:v>
                </c:pt>
                <c:pt idx="73">
                  <c:v>1.5576981616737664</c:v>
                </c:pt>
                <c:pt idx="74">
                  <c:v>1.586982887113233</c:v>
                </c:pt>
                <c:pt idx="75">
                  <c:v>1.5715891531082347</c:v>
                </c:pt>
                <c:pt idx="76">
                  <c:v>1.5796042577890868</c:v>
                </c:pt>
                <c:pt idx="77">
                  <c:v>1.5222646232313428</c:v>
                </c:pt>
                <c:pt idx="78">
                  <c:v>1.5519487833843542</c:v>
                </c:pt>
                <c:pt idx="79">
                  <c:v>1.464773026713845</c:v>
                </c:pt>
                <c:pt idx="80">
                  <c:v>1.4384071122329958</c:v>
                </c:pt>
                <c:pt idx="81">
                  <c:v>1.5011216623263546</c:v>
                </c:pt>
                <c:pt idx="82">
                  <c:v>1.5246892724248784</c:v>
                </c:pt>
                <c:pt idx="83">
                  <c:v>1.481083159233527</c:v>
                </c:pt>
                <c:pt idx="84">
                  <c:v>1.4407976973023751</c:v>
                </c:pt>
                <c:pt idx="85">
                  <c:v>1.4156211262998284</c:v>
                </c:pt>
                <c:pt idx="86">
                  <c:v>1.4309098344638664</c:v>
                </c:pt>
                <c:pt idx="87">
                  <c:v>1.4404969303547743</c:v>
                </c:pt>
                <c:pt idx="88">
                  <c:v>1.4536054524210029</c:v>
                </c:pt>
                <c:pt idx="89">
                  <c:v>1.4460467040684137</c:v>
                </c:pt>
                <c:pt idx="90">
                  <c:v>1.4738108007865274</c:v>
                </c:pt>
                <c:pt idx="91">
                  <c:v>1.4786212823950247</c:v>
                </c:pt>
                <c:pt idx="92">
                  <c:v>1.4715239002395284</c:v>
                </c:pt>
                <c:pt idx="93">
                  <c:v>1.4743197956499836</c:v>
                </c:pt>
                <c:pt idx="94">
                  <c:v>1.4846400342195334</c:v>
                </c:pt>
                <c:pt idx="95">
                  <c:v>1.5257645631674146</c:v>
                </c:pt>
                <c:pt idx="96">
                  <c:v>1.5294263981190164</c:v>
                </c:pt>
                <c:pt idx="97">
                  <c:v>1.5536915891096934</c:v>
                </c:pt>
                <c:pt idx="98">
                  <c:v>1.5752879021983182</c:v>
                </c:pt>
                <c:pt idx="99">
                  <c:v>1.583951985660409</c:v>
                </c:pt>
                <c:pt idx="100">
                  <c:v>1.5956732303542962</c:v>
                </c:pt>
                <c:pt idx="101">
                  <c:v>1.5760464496209383</c:v>
                </c:pt>
                <c:pt idx="102">
                  <c:v>1.5646989151836677</c:v>
                </c:pt>
                <c:pt idx="103">
                  <c:v>1.5531935275904305</c:v>
                </c:pt>
                <c:pt idx="104">
                  <c:v>1.5606488565228644</c:v>
                </c:pt>
                <c:pt idx="105">
                  <c:v>1.5981044290794133</c:v>
                </c:pt>
                <c:pt idx="106">
                  <c:v>1.5849999727609621</c:v>
                </c:pt>
                <c:pt idx="107">
                  <c:v>1.5854754727527902</c:v>
                </c:pt>
                <c:pt idx="108">
                  <c:v>1.6094161523913573</c:v>
                </c:pt>
                <c:pt idx="109">
                  <c:v>1.5752247500002639</c:v>
                </c:pt>
                <c:pt idx="110">
                  <c:v>1.5456105247002587</c:v>
                </c:pt>
                <c:pt idx="111">
                  <c:v>1.5732769530923933</c:v>
                </c:pt>
                <c:pt idx="112">
                  <c:v>1.5861778241077509</c:v>
                </c:pt>
                <c:pt idx="113">
                  <c:v>1.5793572594640877</c:v>
                </c:pt>
                <c:pt idx="114">
                  <c:v>1.594519089154943</c:v>
                </c:pt>
                <c:pt idx="115">
                  <c:v>1.590072374045062</c:v>
                </c:pt>
                <c:pt idx="116">
                  <c:v>1.5881642871962078</c:v>
                </c:pt>
                <c:pt idx="117">
                  <c:v>1.5513188757332559</c:v>
                </c:pt>
                <c:pt idx="118">
                  <c:v>1.5424763581415764</c:v>
                </c:pt>
                <c:pt idx="119">
                  <c:v>1.5066909066326919</c:v>
                </c:pt>
                <c:pt idx="120">
                  <c:v>1.5732866447058569</c:v>
                </c:pt>
                <c:pt idx="121">
                  <c:v>1.5777973755127268</c:v>
                </c:pt>
                <c:pt idx="122">
                  <c:v>1.6049354903715458</c:v>
                </c:pt>
                <c:pt idx="123">
                  <c:v>1.6320589001588248</c:v>
                </c:pt>
                <c:pt idx="124">
                  <c:v>1.6131270169169825</c:v>
                </c:pt>
                <c:pt idx="125">
                  <c:v>1.6453895572553221</c:v>
                </c:pt>
                <c:pt idx="126">
                  <c:v>1.6903086921683925</c:v>
                </c:pt>
                <c:pt idx="127">
                  <c:v>1.6946517713220499</c:v>
                </c:pt>
                <c:pt idx="128">
                  <c:v>1.6827892089227956</c:v>
                </c:pt>
                <c:pt idx="129">
                  <c:v>1.6753849364035354</c:v>
                </c:pt>
                <c:pt idx="130">
                  <c:v>1.6916361702866498</c:v>
                </c:pt>
                <c:pt idx="131">
                  <c:v>1.7085525319895163</c:v>
                </c:pt>
                <c:pt idx="132">
                  <c:v>1.7398190433249243</c:v>
                </c:pt>
                <c:pt idx="133">
                  <c:v>1.6571093943650159</c:v>
                </c:pt>
                <c:pt idx="134">
                  <c:v>1.5545343228538215</c:v>
                </c:pt>
                <c:pt idx="135">
                  <c:v>1.6746998260104218</c:v>
                </c:pt>
                <c:pt idx="136">
                  <c:v>1.6932889940791376</c:v>
                </c:pt>
                <c:pt idx="137">
                  <c:v>1.6902410738897951</c:v>
                </c:pt>
                <c:pt idx="138">
                  <c:v>1.7064673881991372</c:v>
                </c:pt>
                <c:pt idx="139">
                  <c:v>1.7269377870328118</c:v>
                </c:pt>
                <c:pt idx="140">
                  <c:v>1.7139857536300658</c:v>
                </c:pt>
                <c:pt idx="141">
                  <c:v>1.6977028889705803</c:v>
                </c:pt>
                <c:pt idx="142">
                  <c:v>1.7535573140177123</c:v>
                </c:pt>
                <c:pt idx="143">
                  <c:v>1.7639033021704169</c:v>
                </c:pt>
                <c:pt idx="144">
                  <c:v>1.7732519896719203</c:v>
                </c:pt>
                <c:pt idx="145">
                  <c:v>1.747192721744699</c:v>
                </c:pt>
                <c:pt idx="146">
                  <c:v>1.7824860147239419</c:v>
                </c:pt>
                <c:pt idx="147">
                  <c:v>1.8081538133359665</c:v>
                </c:pt>
                <c:pt idx="148">
                  <c:v>1.8197259977413165</c:v>
                </c:pt>
                <c:pt idx="149">
                  <c:v>1.8876017774570677</c:v>
                </c:pt>
                <c:pt idx="150">
                  <c:v>1.8994936686550472</c:v>
                </c:pt>
                <c:pt idx="151">
                  <c:v>1.9200178402068899</c:v>
                </c:pt>
                <c:pt idx="152">
                  <c:v>1.8873775369233727</c:v>
                </c:pt>
                <c:pt idx="153">
                  <c:v>1.9156881999772231</c:v>
                </c:pt>
                <c:pt idx="154">
                  <c:v>1.9371439078169681</c:v>
                </c:pt>
                <c:pt idx="155">
                  <c:v>1.9474107705283983</c:v>
                </c:pt>
                <c:pt idx="156">
                  <c:v>1.864061589549783</c:v>
                </c:pt>
                <c:pt idx="157">
                  <c:v>1.8227956931034259</c:v>
                </c:pt>
                <c:pt idx="158">
                  <c:v>1.8415704887423912</c:v>
                </c:pt>
                <c:pt idx="159">
                  <c:v>1.7940579701328374</c:v>
                </c:pt>
                <c:pt idx="160">
                  <c:v>1.7721704628972168</c:v>
                </c:pt>
                <c:pt idx="161">
                  <c:v>1.7301700229265526</c:v>
                </c:pt>
                <c:pt idx="162">
                  <c:v>1.832769105286097</c:v>
                </c:pt>
                <c:pt idx="163">
                  <c:v>1.7831031243980873</c:v>
                </c:pt>
                <c:pt idx="164">
                  <c:v>1.7365641328512971</c:v>
                </c:pt>
                <c:pt idx="165">
                  <c:v>1.74715717406169</c:v>
                </c:pt>
                <c:pt idx="166">
                  <c:v>1.7808773075210809</c:v>
                </c:pt>
                <c:pt idx="167">
                  <c:v>1.7260262864494316</c:v>
                </c:pt>
                <c:pt idx="168">
                  <c:v>1.7532975017753327</c:v>
                </c:pt>
                <c:pt idx="169">
                  <c:v>1.7176151361706393</c:v>
                </c:pt>
                <c:pt idx="170">
                  <c:v>1.7450969783493695</c:v>
                </c:pt>
                <c:pt idx="171">
                  <c:v>1.7498087401909126</c:v>
                </c:pt>
                <c:pt idx="172">
                  <c:v>1.76958157895507</c:v>
                </c:pt>
                <c:pt idx="173">
                  <c:v>1.7773677379024722</c:v>
                </c:pt>
                <c:pt idx="174">
                  <c:v>1.7985184139835115</c:v>
                </c:pt>
                <c:pt idx="175">
                  <c:v>1.7826168583892368</c:v>
                </c:pt>
                <c:pt idx="176">
                  <c:v>1.754094988655009</c:v>
                </c:pt>
                <c:pt idx="177">
                  <c:v>1.7597080926187052</c:v>
                </c:pt>
                <c:pt idx="178">
                  <c:v>1.8228816131437169</c:v>
                </c:pt>
                <c:pt idx="179">
                  <c:v>1.8637141612781361</c:v>
                </c:pt>
                <c:pt idx="180">
                  <c:v>1.8730327320845266</c:v>
                </c:pt>
                <c:pt idx="181">
                  <c:v>1.8635347235775808</c:v>
                </c:pt>
                <c:pt idx="182">
                  <c:v>1.8676344999694514</c:v>
                </c:pt>
                <c:pt idx="183">
                  <c:v>1.9066680610188127</c:v>
                </c:pt>
                <c:pt idx="184">
                  <c:v>1.9039987257333864</c:v>
                </c:pt>
                <c:pt idx="185">
                  <c:v>1.9350339049628404</c:v>
                </c:pt>
                <c:pt idx="186">
                  <c:v>1.9760566237480528</c:v>
                </c:pt>
                <c:pt idx="187">
                  <c:v>1.9656440403762903</c:v>
                </c:pt>
                <c:pt idx="188">
                  <c:v>1.9719341013054945</c:v>
                </c:pt>
                <c:pt idx="189">
                  <c:v>1.9975692446224658</c:v>
                </c:pt>
                <c:pt idx="190">
                  <c:v>1.9949724046044566</c:v>
                </c:pt>
                <c:pt idx="191">
                  <c:v>2.0454452064409496</c:v>
                </c:pt>
                <c:pt idx="192">
                  <c:v>2.0407406824661356</c:v>
                </c:pt>
                <c:pt idx="193" formatCode="0%">
                  <c:v>2.0921524502572999</c:v>
                </c:pt>
                <c:pt idx="194" formatCode="0%">
                  <c:v>2.0890142215819139</c:v>
                </c:pt>
                <c:pt idx="195" formatCode="0%">
                  <c:v>2.0307307247997786</c:v>
                </c:pt>
                <c:pt idx="196" formatCode="0%">
                  <c:v>2.0238262403354592</c:v>
                </c:pt>
                <c:pt idx="197" formatCode="0%">
                  <c:v>2.0584336690451952</c:v>
                </c:pt>
                <c:pt idx="198" formatCode="0%">
                  <c:v>2.0650206567861402</c:v>
                </c:pt>
                <c:pt idx="199" formatCode="0%">
                  <c:v>2.0953245251713781</c:v>
                </c:pt>
                <c:pt idx="200" formatCode="0%">
                  <c:v>2.0905052787634841</c:v>
                </c:pt>
                <c:pt idx="201" formatCode="0%">
                  <c:v>2.1327334853945064</c:v>
                </c:pt>
                <c:pt idx="202" formatCode="0%">
                  <c:v>2.2026871437154458</c:v>
                </c:pt>
                <c:pt idx="203" formatCode="0%">
                  <c:v>2.2130397732909084</c:v>
                </c:pt>
                <c:pt idx="204" formatCode="0%">
                  <c:v>2.2212280204520849</c:v>
                </c:pt>
                <c:pt idx="205" formatCode="0%">
                  <c:v>2.2692065456938502</c:v>
                </c:pt>
                <c:pt idx="206" formatCode="0%">
                  <c:v>2.2929736855126874</c:v>
                </c:pt>
                <c:pt idx="207" formatCode="0%">
                  <c:v>2.1899087053637105</c:v>
                </c:pt>
                <c:pt idx="208" formatCode="0%">
                  <c:v>2.2963055275433657</c:v>
                </c:pt>
                <c:pt idx="209" formatCode="0%">
                  <c:v>2.3589441577201145</c:v>
                </c:pt>
                <c:pt idx="210" formatCode="0%">
                  <c:v>2.3347327722971865</c:v>
                </c:pt>
                <c:pt idx="211" formatCode="0%">
                  <c:v>2.3272916584286718</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in val="0.70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2"/>
      </c:valAx>
      <c:spPr>
        <a:noFill/>
        <a:ln w="3175">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Tabelle1!$B$4:$B$8</c:f>
              <c:numCache>
                <c:formatCode>0.00%</c:formatCode>
                <c:ptCount val="5"/>
                <c:pt idx="0">
                  <c:v>0.10486921642840658</c:v>
                </c:pt>
                <c:pt idx="1">
                  <c:v>-0.114572153197325</c:v>
                </c:pt>
                <c:pt idx="2">
                  <c:v>8.0407627875725474E-2</c:v>
                </c:pt>
                <c:pt idx="3">
                  <c:v>8.9499999999999996E-2</c:v>
                </c:pt>
                <c:pt idx="4">
                  <c:v>8.8400000000000006E-2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Tabelle1!$C$4:$C$8</c:f>
              <c:numCache>
                <c:formatCode>0.00%</c:formatCode>
                <c:ptCount val="5"/>
                <c:pt idx="0">
                  <c:v>6.7699999999999996E-2</c:v>
                </c:pt>
                <c:pt idx="1">
                  <c:v>-0.12529999999999999</c:v>
                </c:pt>
                <c:pt idx="2">
                  <c:v>0.1128</c:v>
                </c:pt>
                <c:pt idx="3">
                  <c:v>9.6799999999999997E-2</c:v>
                </c:pt>
                <c:pt idx="4">
                  <c:v>6.8000000000000005E-2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569A-4BE3-820C-242013A4CDB8}"/>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569A-4BE3-820C-242013A4CDB8}"/>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569A-4BE3-820C-242013A4CDB8}"/>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569A-4BE3-820C-242013A4CDB8}"/>
              </c:ext>
            </c:extLst>
          </c:dPt>
          <c:dLbls>
            <c:dLbl>
              <c:idx val="0"/>
              <c:layout>
                <c:manualLayout>
                  <c:x val="0.1831159118916082"/>
                  <c:y val="-6.26451620177238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69A-4BE3-820C-242013A4CDB8}"/>
                </c:ext>
              </c:extLst>
            </c:dLbl>
            <c:dLbl>
              <c:idx val="1"/>
              <c:layout>
                <c:manualLayout>
                  <c:x val="0.13021575956736567"/>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69A-4BE3-820C-242013A4CDB8}"/>
                </c:ext>
              </c:extLst>
            </c:dLbl>
            <c:dLbl>
              <c:idx val="2"/>
              <c:layout>
                <c:manualLayout>
                  <c:x val="-0.16276969945920727"/>
                  <c:y val="-2.68479265790245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69A-4BE3-820C-242013A4CDB8}"/>
                </c:ext>
              </c:extLst>
            </c:dLbl>
            <c:dLbl>
              <c:idx val="3"/>
              <c:layout>
                <c:manualLayout>
                  <c:x val="-0.20753136681048934"/>
                  <c:y val="-6.71198164475612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69A-4BE3-820C-242013A4CDB8}"/>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[0]!R_LegendeA</c:f>
              <c:strCache>
                <c:ptCount val="4"/>
                <c:pt idx="0">
                  <c:v>EDELMETALLE</c:v>
                </c:pt>
                <c:pt idx="1">
                  <c:v>RENTEN</c:v>
                </c:pt>
                <c:pt idx="2">
                  <c:v>AKTIEN </c:v>
                </c:pt>
                <c:pt idx="3">
                  <c:v>LIQUIDITÄT</c:v>
                </c:pt>
              </c:strCache>
            </c:strRef>
          </c:cat>
          <c:val>
            <c:numRef>
              <c:f>[0]!R_DatenA</c:f>
              <c:numCache>
                <c:formatCode>0.00%</c:formatCode>
                <c:ptCount val="4"/>
                <c:pt idx="0">
                  <c:v>7.7299999999999994E-2</c:v>
                </c:pt>
                <c:pt idx="1">
                  <c:v>0.19429999999999997</c:v>
                </c:pt>
                <c:pt idx="2">
                  <c:v>0.68430000000000013</c:v>
                </c:pt>
                <c:pt idx="3">
                  <c:v>4.41E-2</c:v>
                </c:pt>
              </c:numCache>
            </c:numRef>
          </c:val>
          <c:extLst>
            <c:ext xmlns:c16="http://schemas.microsoft.com/office/drawing/2014/chart" uri="{C3380CC4-5D6E-409C-BE32-E72D297353CC}">
              <c16:uniqueId val="{00000008-569A-4BE3-820C-242013A4CDB8}"/>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53392275162585"/>
          <c:w val="0.24579852262830235"/>
          <c:h val="0.246607724837415"/>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Tabelle1!$A$2:$A$290</c:f>
              <c:numCache>
                <c:formatCode>m/d/yyyy</c:formatCode>
                <c:ptCount val="289"/>
                <c:pt idx="0">
                  <c:v>39813</c:v>
                </c:pt>
                <c:pt idx="1">
                  <c:v>39844</c:v>
                </c:pt>
                <c:pt idx="2">
                  <c:v>39872</c:v>
                </c:pt>
                <c:pt idx="3">
                  <c:v>39903</c:v>
                </c:pt>
                <c:pt idx="4">
                  <c:v>39933</c:v>
                </c:pt>
                <c:pt idx="5">
                  <c:v>39964</c:v>
                </c:pt>
                <c:pt idx="6">
                  <c:v>39994</c:v>
                </c:pt>
                <c:pt idx="7">
                  <c:v>40025</c:v>
                </c:pt>
                <c:pt idx="8">
                  <c:v>40056</c:v>
                </c:pt>
                <c:pt idx="9">
                  <c:v>40086</c:v>
                </c:pt>
                <c:pt idx="10">
                  <c:v>40117</c:v>
                </c:pt>
                <c:pt idx="11">
                  <c:v>40147</c:v>
                </c:pt>
                <c:pt idx="12">
                  <c:v>40178</c:v>
                </c:pt>
                <c:pt idx="13">
                  <c:v>40209</c:v>
                </c:pt>
                <c:pt idx="14">
                  <c:v>40237</c:v>
                </c:pt>
                <c:pt idx="15">
                  <c:v>40268</c:v>
                </c:pt>
                <c:pt idx="16">
                  <c:v>40298</c:v>
                </c:pt>
                <c:pt idx="17">
                  <c:v>40329</c:v>
                </c:pt>
                <c:pt idx="18">
                  <c:v>40359</c:v>
                </c:pt>
                <c:pt idx="19">
                  <c:v>40390</c:v>
                </c:pt>
                <c:pt idx="20">
                  <c:v>40421</c:v>
                </c:pt>
                <c:pt idx="21">
                  <c:v>40451</c:v>
                </c:pt>
                <c:pt idx="22">
                  <c:v>40482</c:v>
                </c:pt>
                <c:pt idx="23">
                  <c:v>40512</c:v>
                </c:pt>
                <c:pt idx="24">
                  <c:v>40543</c:v>
                </c:pt>
                <c:pt idx="25">
                  <c:v>40574</c:v>
                </c:pt>
                <c:pt idx="26">
                  <c:v>40602</c:v>
                </c:pt>
                <c:pt idx="27">
                  <c:v>40633</c:v>
                </c:pt>
                <c:pt idx="28">
                  <c:v>40663</c:v>
                </c:pt>
                <c:pt idx="29">
                  <c:v>40694</c:v>
                </c:pt>
                <c:pt idx="30">
                  <c:v>40724</c:v>
                </c:pt>
                <c:pt idx="31">
                  <c:v>40755</c:v>
                </c:pt>
                <c:pt idx="32">
                  <c:v>40786</c:v>
                </c:pt>
                <c:pt idx="33">
                  <c:v>40816</c:v>
                </c:pt>
                <c:pt idx="34">
                  <c:v>40847</c:v>
                </c:pt>
                <c:pt idx="35">
                  <c:v>40877</c:v>
                </c:pt>
                <c:pt idx="36">
                  <c:v>40908</c:v>
                </c:pt>
                <c:pt idx="37">
                  <c:v>40939</c:v>
                </c:pt>
                <c:pt idx="38">
                  <c:v>40968</c:v>
                </c:pt>
                <c:pt idx="39">
                  <c:v>40999</c:v>
                </c:pt>
                <c:pt idx="40">
                  <c:v>41029</c:v>
                </c:pt>
                <c:pt idx="41">
                  <c:v>41060</c:v>
                </c:pt>
                <c:pt idx="42">
                  <c:v>41090</c:v>
                </c:pt>
                <c:pt idx="43">
                  <c:v>41121</c:v>
                </c:pt>
                <c:pt idx="44">
                  <c:v>41152</c:v>
                </c:pt>
                <c:pt idx="45">
                  <c:v>41182</c:v>
                </c:pt>
                <c:pt idx="46">
                  <c:v>41213</c:v>
                </c:pt>
                <c:pt idx="47">
                  <c:v>41243</c:v>
                </c:pt>
                <c:pt idx="48">
                  <c:v>41274</c:v>
                </c:pt>
                <c:pt idx="49">
                  <c:v>41305</c:v>
                </c:pt>
                <c:pt idx="50">
                  <c:v>41333</c:v>
                </c:pt>
                <c:pt idx="51">
                  <c:v>41364</c:v>
                </c:pt>
                <c:pt idx="52">
                  <c:v>41394</c:v>
                </c:pt>
                <c:pt idx="53">
                  <c:v>41425</c:v>
                </c:pt>
                <c:pt idx="54">
                  <c:v>41455</c:v>
                </c:pt>
                <c:pt idx="55">
                  <c:v>41486</c:v>
                </c:pt>
                <c:pt idx="56">
                  <c:v>41517</c:v>
                </c:pt>
                <c:pt idx="57">
                  <c:v>41547</c:v>
                </c:pt>
                <c:pt idx="58">
                  <c:v>41578</c:v>
                </c:pt>
                <c:pt idx="59">
                  <c:v>41608</c:v>
                </c:pt>
                <c:pt idx="60">
                  <c:v>41639</c:v>
                </c:pt>
                <c:pt idx="61">
                  <c:v>41670</c:v>
                </c:pt>
                <c:pt idx="62">
                  <c:v>41698</c:v>
                </c:pt>
                <c:pt idx="63">
                  <c:v>41729</c:v>
                </c:pt>
                <c:pt idx="64">
                  <c:v>41759</c:v>
                </c:pt>
                <c:pt idx="65">
                  <c:v>41790</c:v>
                </c:pt>
                <c:pt idx="66">
                  <c:v>41820</c:v>
                </c:pt>
                <c:pt idx="67">
                  <c:v>41851</c:v>
                </c:pt>
                <c:pt idx="68">
                  <c:v>41882</c:v>
                </c:pt>
                <c:pt idx="69">
                  <c:v>41912</c:v>
                </c:pt>
                <c:pt idx="70">
                  <c:v>41943</c:v>
                </c:pt>
                <c:pt idx="71">
                  <c:v>41973</c:v>
                </c:pt>
                <c:pt idx="72">
                  <c:v>42004</c:v>
                </c:pt>
                <c:pt idx="73">
                  <c:v>42035</c:v>
                </c:pt>
                <c:pt idx="74">
                  <c:v>42063</c:v>
                </c:pt>
                <c:pt idx="75">
                  <c:v>42094</c:v>
                </c:pt>
                <c:pt idx="76">
                  <c:v>42124</c:v>
                </c:pt>
                <c:pt idx="77">
                  <c:v>42155</c:v>
                </c:pt>
                <c:pt idx="78">
                  <c:v>42185</c:v>
                </c:pt>
                <c:pt idx="79">
                  <c:v>42216</c:v>
                </c:pt>
                <c:pt idx="80">
                  <c:v>42247</c:v>
                </c:pt>
                <c:pt idx="81">
                  <c:v>42277</c:v>
                </c:pt>
                <c:pt idx="82">
                  <c:v>42308</c:v>
                </c:pt>
                <c:pt idx="83">
                  <c:v>42338</c:v>
                </c:pt>
                <c:pt idx="84">
                  <c:v>42369</c:v>
                </c:pt>
                <c:pt idx="85">
                  <c:v>42400</c:v>
                </c:pt>
                <c:pt idx="86">
                  <c:v>42429</c:v>
                </c:pt>
                <c:pt idx="87">
                  <c:v>42460</c:v>
                </c:pt>
                <c:pt idx="88">
                  <c:v>42490</c:v>
                </c:pt>
                <c:pt idx="89">
                  <c:v>42521</c:v>
                </c:pt>
                <c:pt idx="90">
                  <c:v>42551</c:v>
                </c:pt>
                <c:pt idx="91">
                  <c:v>42582</c:v>
                </c:pt>
                <c:pt idx="92">
                  <c:v>42613</c:v>
                </c:pt>
                <c:pt idx="93">
                  <c:v>42643</c:v>
                </c:pt>
                <c:pt idx="94">
                  <c:v>42674</c:v>
                </c:pt>
                <c:pt idx="95">
                  <c:v>42704</c:v>
                </c:pt>
                <c:pt idx="96">
                  <c:v>42735</c:v>
                </c:pt>
                <c:pt idx="97">
                  <c:v>42766</c:v>
                </c:pt>
                <c:pt idx="98">
                  <c:v>42794</c:v>
                </c:pt>
                <c:pt idx="99">
                  <c:v>42825</c:v>
                </c:pt>
                <c:pt idx="100">
                  <c:v>42855</c:v>
                </c:pt>
                <c:pt idx="101">
                  <c:v>42886</c:v>
                </c:pt>
                <c:pt idx="102">
                  <c:v>42916</c:v>
                </c:pt>
                <c:pt idx="103">
                  <c:v>42947</c:v>
                </c:pt>
                <c:pt idx="104">
                  <c:v>42978</c:v>
                </c:pt>
                <c:pt idx="105">
                  <c:v>43008</c:v>
                </c:pt>
                <c:pt idx="106">
                  <c:v>43039</c:v>
                </c:pt>
                <c:pt idx="107">
                  <c:v>43069</c:v>
                </c:pt>
                <c:pt idx="108">
                  <c:v>43100</c:v>
                </c:pt>
                <c:pt idx="109">
                  <c:v>43131</c:v>
                </c:pt>
                <c:pt idx="110">
                  <c:v>43159</c:v>
                </c:pt>
                <c:pt idx="111">
                  <c:v>43190</c:v>
                </c:pt>
                <c:pt idx="112">
                  <c:v>43220</c:v>
                </c:pt>
                <c:pt idx="113">
                  <c:v>43251</c:v>
                </c:pt>
                <c:pt idx="114">
                  <c:v>43281</c:v>
                </c:pt>
                <c:pt idx="115">
                  <c:v>43312</c:v>
                </c:pt>
                <c:pt idx="116">
                  <c:v>43343</c:v>
                </c:pt>
                <c:pt idx="117">
                  <c:v>43373</c:v>
                </c:pt>
                <c:pt idx="118">
                  <c:v>43404</c:v>
                </c:pt>
                <c:pt idx="119">
                  <c:v>43434</c:v>
                </c:pt>
                <c:pt idx="120">
                  <c:v>43465</c:v>
                </c:pt>
                <c:pt idx="121">
                  <c:v>43496</c:v>
                </c:pt>
                <c:pt idx="122">
                  <c:v>43524</c:v>
                </c:pt>
                <c:pt idx="123">
                  <c:v>43555</c:v>
                </c:pt>
                <c:pt idx="124">
                  <c:v>43585</c:v>
                </c:pt>
                <c:pt idx="125">
                  <c:v>43616</c:v>
                </c:pt>
                <c:pt idx="126">
                  <c:v>43646</c:v>
                </c:pt>
                <c:pt idx="127">
                  <c:v>43677</c:v>
                </c:pt>
                <c:pt idx="128">
                  <c:v>43708</c:v>
                </c:pt>
                <c:pt idx="129">
                  <c:v>43738</c:v>
                </c:pt>
                <c:pt idx="130">
                  <c:v>43769</c:v>
                </c:pt>
                <c:pt idx="131">
                  <c:v>43799</c:v>
                </c:pt>
                <c:pt idx="132">
                  <c:v>43830</c:v>
                </c:pt>
                <c:pt idx="133">
                  <c:v>43861</c:v>
                </c:pt>
                <c:pt idx="134">
                  <c:v>43890</c:v>
                </c:pt>
                <c:pt idx="135">
                  <c:v>43921</c:v>
                </c:pt>
                <c:pt idx="136">
                  <c:v>43951</c:v>
                </c:pt>
                <c:pt idx="137">
                  <c:v>43982</c:v>
                </c:pt>
                <c:pt idx="138">
                  <c:v>44012</c:v>
                </c:pt>
                <c:pt idx="139">
                  <c:v>44043</c:v>
                </c:pt>
                <c:pt idx="140">
                  <c:v>44074</c:v>
                </c:pt>
                <c:pt idx="141">
                  <c:v>44104</c:v>
                </c:pt>
                <c:pt idx="142">
                  <c:v>44135</c:v>
                </c:pt>
                <c:pt idx="143">
                  <c:v>44165</c:v>
                </c:pt>
                <c:pt idx="144">
                  <c:v>44196</c:v>
                </c:pt>
                <c:pt idx="145">
                  <c:v>44227</c:v>
                </c:pt>
                <c:pt idx="146">
                  <c:v>44255</c:v>
                </c:pt>
                <c:pt idx="147">
                  <c:v>44286</c:v>
                </c:pt>
                <c:pt idx="148">
                  <c:v>44316</c:v>
                </c:pt>
                <c:pt idx="149">
                  <c:v>44347</c:v>
                </c:pt>
                <c:pt idx="150">
                  <c:v>44377</c:v>
                </c:pt>
                <c:pt idx="151">
                  <c:v>44408</c:v>
                </c:pt>
                <c:pt idx="152">
                  <c:v>44439</c:v>
                </c:pt>
                <c:pt idx="153">
                  <c:v>44469</c:v>
                </c:pt>
                <c:pt idx="154">
                  <c:v>44500</c:v>
                </c:pt>
                <c:pt idx="155">
                  <c:v>44530</c:v>
                </c:pt>
                <c:pt idx="156">
                  <c:v>44561</c:v>
                </c:pt>
                <c:pt idx="157">
                  <c:v>44592</c:v>
                </c:pt>
                <c:pt idx="158">
                  <c:v>44620</c:v>
                </c:pt>
                <c:pt idx="159">
                  <c:v>44651</c:v>
                </c:pt>
                <c:pt idx="160">
                  <c:v>44681</c:v>
                </c:pt>
                <c:pt idx="161">
                  <c:v>44712</c:v>
                </c:pt>
                <c:pt idx="162">
                  <c:v>44742</c:v>
                </c:pt>
                <c:pt idx="163">
                  <c:v>44773</c:v>
                </c:pt>
                <c:pt idx="164">
                  <c:v>44804</c:v>
                </c:pt>
                <c:pt idx="165">
                  <c:v>44834</c:v>
                </c:pt>
                <c:pt idx="166">
                  <c:v>44865</c:v>
                </c:pt>
                <c:pt idx="167">
                  <c:v>44895</c:v>
                </c:pt>
                <c:pt idx="168">
                  <c:v>44926</c:v>
                </c:pt>
                <c:pt idx="169">
                  <c:v>44957</c:v>
                </c:pt>
                <c:pt idx="170">
                  <c:v>44985</c:v>
                </c:pt>
                <c:pt idx="171">
                  <c:v>45016</c:v>
                </c:pt>
                <c:pt idx="172">
                  <c:v>45046</c:v>
                </c:pt>
                <c:pt idx="173">
                  <c:v>45077</c:v>
                </c:pt>
                <c:pt idx="174">
                  <c:v>45107</c:v>
                </c:pt>
                <c:pt idx="175">
                  <c:v>45138</c:v>
                </c:pt>
                <c:pt idx="176">
                  <c:v>45169</c:v>
                </c:pt>
                <c:pt idx="177">
                  <c:v>45199</c:v>
                </c:pt>
                <c:pt idx="178">
                  <c:v>45230</c:v>
                </c:pt>
                <c:pt idx="179">
                  <c:v>45260</c:v>
                </c:pt>
                <c:pt idx="180">
                  <c:v>45291</c:v>
                </c:pt>
                <c:pt idx="181">
                  <c:v>45322</c:v>
                </c:pt>
                <c:pt idx="182">
                  <c:v>45351</c:v>
                </c:pt>
                <c:pt idx="183">
                  <c:v>45382</c:v>
                </c:pt>
                <c:pt idx="184">
                  <c:v>45412</c:v>
                </c:pt>
                <c:pt idx="185">
                  <c:v>45443</c:v>
                </c:pt>
                <c:pt idx="186">
                  <c:v>45473</c:v>
                </c:pt>
                <c:pt idx="187">
                  <c:v>45504</c:v>
                </c:pt>
                <c:pt idx="188">
                  <c:v>45535</c:v>
                </c:pt>
                <c:pt idx="189">
                  <c:v>45565</c:v>
                </c:pt>
                <c:pt idx="190">
                  <c:v>45596</c:v>
                </c:pt>
                <c:pt idx="191">
                  <c:v>45626</c:v>
                </c:pt>
                <c:pt idx="192">
                  <c:v>45657</c:v>
                </c:pt>
                <c:pt idx="193">
                  <c:v>45688</c:v>
                </c:pt>
                <c:pt idx="194">
                  <c:v>45716</c:v>
                </c:pt>
                <c:pt idx="195">
                  <c:v>45747</c:v>
                </c:pt>
                <c:pt idx="196">
                  <c:v>45777</c:v>
                </c:pt>
                <c:pt idx="197">
                  <c:v>45808</c:v>
                </c:pt>
                <c:pt idx="198">
                  <c:v>45838</c:v>
                </c:pt>
                <c:pt idx="199">
                  <c:v>45869</c:v>
                </c:pt>
                <c:pt idx="200">
                  <c:v>45900</c:v>
                </c:pt>
                <c:pt idx="201">
                  <c:v>45930</c:v>
                </c:pt>
                <c:pt idx="202">
                  <c:v>45961</c:v>
                </c:pt>
                <c:pt idx="203">
                  <c:v>45991</c:v>
                </c:pt>
                <c:pt idx="204">
                  <c:v>46022</c:v>
                </c:pt>
                <c:pt idx="205">
                  <c:v>46053</c:v>
                </c:pt>
                <c:pt idx="206">
                  <c:v>46081</c:v>
                </c:pt>
                <c:pt idx="207">
                  <c:v>46112</c:v>
                </c:pt>
                <c:pt idx="208">
                  <c:v>46142</c:v>
                </c:pt>
                <c:pt idx="209">
                  <c:v>46173</c:v>
                </c:pt>
                <c:pt idx="210">
                  <c:v>46203</c:v>
                </c:pt>
                <c:pt idx="211">
                  <c:v>46209</c:v>
                </c:pt>
              </c:numCache>
            </c:numRef>
          </c:cat>
          <c:val>
            <c:numRef>
              <c:f>Tabelle1!$B$2:$B$290</c:f>
              <c:numCache>
                <c:formatCode>General</c:formatCode>
                <c:ptCount val="289"/>
                <c:pt idx="0">
                  <c:v>1</c:v>
                </c:pt>
                <c:pt idx="1">
                  <c:v>0.96825396825396826</c:v>
                </c:pt>
                <c:pt idx="2">
                  <c:v>0.99119047619047618</c:v>
                </c:pt>
                <c:pt idx="3">
                  <c:v>1.0079365079365081</c:v>
                </c:pt>
                <c:pt idx="4">
                  <c:v>1.0301587301587303</c:v>
                </c:pt>
                <c:pt idx="5">
                  <c:v>1.0616746031746032</c:v>
                </c:pt>
                <c:pt idx="6">
                  <c:v>1.0873015873015872</c:v>
                </c:pt>
                <c:pt idx="7">
                  <c:v>1.1024999999999996</c:v>
                </c:pt>
                <c:pt idx="8">
                  <c:v>1.1459699999999997</c:v>
                </c:pt>
                <c:pt idx="9">
                  <c:v>1.1576249999999995</c:v>
                </c:pt>
                <c:pt idx="10">
                  <c:v>1.1733749999999994</c:v>
                </c:pt>
                <c:pt idx="11">
                  <c:v>1.1849512499999992</c:v>
                </c:pt>
                <c:pt idx="12">
                  <c:v>1.1891249999999991</c:v>
                </c:pt>
                <c:pt idx="13">
                  <c:v>1.1877232499999992</c:v>
                </c:pt>
                <c:pt idx="14">
                  <c:v>1.1783464874999992</c:v>
                </c:pt>
                <c:pt idx="15">
                  <c:v>1.1877232499999992</c:v>
                </c:pt>
                <c:pt idx="16">
                  <c:v>1.2033511874999991</c:v>
                </c:pt>
                <c:pt idx="17">
                  <c:v>1.2135093468749991</c:v>
                </c:pt>
                <c:pt idx="18">
                  <c:v>1.222886109374999</c:v>
                </c:pt>
                <c:pt idx="19">
                  <c:v>1.2211621525195304</c:v>
                </c:pt>
                <c:pt idx="20">
                  <c:v>1.2405456787499993</c:v>
                </c:pt>
                <c:pt idx="21">
                  <c:v>1.259929204980468</c:v>
                </c:pt>
                <c:pt idx="22">
                  <c:v>1.2793127312109367</c:v>
                </c:pt>
                <c:pt idx="23">
                  <c:v>1.2986962574414054</c:v>
                </c:pt>
                <c:pt idx="24">
                  <c:v>1.2870661417031239</c:v>
                </c:pt>
                <c:pt idx="25">
                  <c:v>1.284784700665798</c:v>
                </c:pt>
                <c:pt idx="26">
                  <c:v>1.2829613834558711</c:v>
                </c:pt>
                <c:pt idx="27">
                  <c:v>1.284784700665798</c:v>
                </c:pt>
                <c:pt idx="28">
                  <c:v>1.3001713437875442</c:v>
                </c:pt>
                <c:pt idx="29">
                  <c:v>1.3020331276052757</c:v>
                </c:pt>
                <c:pt idx="30">
                  <c:v>1.2992481452002398</c:v>
                </c:pt>
                <c:pt idx="31">
                  <c:v>1.2013914414090108</c:v>
                </c:pt>
                <c:pt idx="32">
                  <c:v>1.161085514285872</c:v>
                </c:pt>
                <c:pt idx="33">
                  <c:v>1.2181855777103188</c:v>
                </c:pt>
                <c:pt idx="34">
                  <c:v>1.212307630004861</c:v>
                </c:pt>
                <c:pt idx="35">
                  <c:v>1.2226894597183964</c:v>
                </c:pt>
                <c:pt idx="36">
                  <c:v>1.2519265242793096</c:v>
                </c:pt>
                <c:pt idx="37">
                  <c:v>1.2535858994513536</c:v>
                </c:pt>
                <c:pt idx="38">
                  <c:v>1.2687349737649649</c:v>
                </c:pt>
                <c:pt idx="39">
                  <c:v>1.2573731680297562</c:v>
                </c:pt>
                <c:pt idx="40">
                  <c:v>1.2422240937161446</c:v>
                </c:pt>
                <c:pt idx="41">
                  <c:v>1.2438147465190739</c:v>
                </c:pt>
                <c:pt idx="42">
                  <c:v>1.2839028957993837</c:v>
                </c:pt>
                <c:pt idx="43">
                  <c:v>1.2925013989170153</c:v>
                </c:pt>
                <c:pt idx="44">
                  <c:v>1.3104671683619618</c:v>
                </c:pt>
                <c:pt idx="45">
                  <c:v>1.3188803675828458</c:v>
                </c:pt>
                <c:pt idx="46">
                  <c:v>1.3169284246388231</c:v>
                </c:pt>
                <c:pt idx="47">
                  <c:v>1.3219327526524507</c:v>
                </c:pt>
                <c:pt idx="48">
                  <c:v>1.3221442618928749</c:v>
                </c:pt>
                <c:pt idx="49">
                  <c:v>1.3122518562270482</c:v>
                </c:pt>
                <c:pt idx="50">
                  <c:v>1.3076327296931289</c:v>
                </c:pt>
                <c:pt idx="51">
                  <c:v>1.3249457870342658</c:v>
                </c:pt>
                <c:pt idx="52">
                  <c:v>1.3411366245518244</c:v>
                </c:pt>
                <c:pt idx="53">
                  <c:v>1.2942504881574926</c:v>
                </c:pt>
                <c:pt idx="54">
                  <c:v>1.3153597136193413</c:v>
                </c:pt>
                <c:pt idx="55">
                  <c:v>1.3054136573172008</c:v>
                </c:pt>
                <c:pt idx="56">
                  <c:v>1.3176323291496899</c:v>
                </c:pt>
                <c:pt idx="57">
                  <c:v>1.3495058551918209</c:v>
                </c:pt>
                <c:pt idx="58">
                  <c:v>1.3724474547300818</c:v>
                </c:pt>
                <c:pt idx="59">
                  <c:v>1.3750825538431635</c:v>
                </c:pt>
                <c:pt idx="60">
                  <c:v>1.3495060183416807</c:v>
                </c:pt>
                <c:pt idx="61">
                  <c:v>1.3714522924896615</c:v>
                </c:pt>
                <c:pt idx="62">
                  <c:v>1.3634978691932214</c:v>
                </c:pt>
                <c:pt idx="63">
                  <c:v>1.3750876010813637</c:v>
                </c:pt>
                <c:pt idx="64">
                  <c:v>1.3987391078199634</c:v>
                </c:pt>
                <c:pt idx="65">
                  <c:v>1.4075511641992291</c:v>
                </c:pt>
                <c:pt idx="66">
                  <c:v>1.3953054690706959</c:v>
                </c:pt>
                <c:pt idx="67">
                  <c:v>1.3969522783505663</c:v>
                </c:pt>
                <c:pt idx="68">
                  <c:v>1.3970919735784013</c:v>
                </c:pt>
                <c:pt idx="69">
                  <c:v>1.3929006976576661</c:v>
                </c:pt>
                <c:pt idx="70">
                  <c:v>1.4277232150991077</c:v>
                </c:pt>
                <c:pt idx="71">
                  <c:v>1.4252960856334391</c:v>
                </c:pt>
                <c:pt idx="72">
                  <c:v>1.5095310842943752</c:v>
                </c:pt>
                <c:pt idx="73">
                  <c:v>1.5611905212290369</c:v>
                </c:pt>
                <c:pt idx="74">
                  <c:v>1.6066211653968017</c:v>
                </c:pt>
                <c:pt idx="75">
                  <c:v>1.5854137660135639</c:v>
                </c:pt>
                <c:pt idx="76">
                  <c:v>1.5925481279606248</c:v>
                </c:pt>
                <c:pt idx="77">
                  <c:v>1.5310757702213447</c:v>
                </c:pt>
                <c:pt idx="78">
                  <c:v>1.555266767390842</c:v>
                </c:pt>
                <c:pt idx="79">
                  <c:v>1.4473798947020677</c:v>
                </c:pt>
                <c:pt idx="80">
                  <c:v>1.4030900699241846</c:v>
                </c:pt>
                <c:pt idx="81">
                  <c:v>1.4853111480217418</c:v>
                </c:pt>
                <c:pt idx="82">
                  <c:v>1.5138291220637594</c:v>
                </c:pt>
                <c:pt idx="83">
                  <c:v>1.4519135109713517</c:v>
                </c:pt>
                <c:pt idx="84">
                  <c:v>1.3832380019024066</c:v>
                </c:pt>
                <c:pt idx="85">
                  <c:v>1.3598907426396964</c:v>
                </c:pt>
                <c:pt idx="86">
                  <c:v>1.3898083389777698</c:v>
                </c:pt>
                <c:pt idx="87">
                  <c:v>1.4081538090522765</c:v>
                </c:pt>
                <c:pt idx="88">
                  <c:v>1.426459808569956</c:v>
                </c:pt>
                <c:pt idx="89">
                  <c:v>1.4107687506756865</c:v>
                </c:pt>
                <c:pt idx="90">
                  <c:v>1.4434985856913627</c:v>
                </c:pt>
                <c:pt idx="91">
                  <c:v>1.4598118519079779</c:v>
                </c:pt>
                <c:pt idx="92">
                  <c:v>1.4529507362040104</c:v>
                </c:pt>
                <c:pt idx="93">
                  <c:v>1.4618137356948548</c:v>
                </c:pt>
                <c:pt idx="94">
                  <c:v>1.4844718485981252</c:v>
                </c:pt>
                <c:pt idx="95">
                  <c:v>1.5361314689293399</c:v>
                </c:pt>
                <c:pt idx="96">
                  <c:v>1.5358242426355542</c:v>
                </c:pt>
                <c:pt idx="97">
                  <c:v>1.567810546972076</c:v>
                </c:pt>
                <c:pt idx="98">
                  <c:v>1.5938362020518124</c:v>
                </c:pt>
                <c:pt idx="99">
                  <c:v>1.6011678485812506</c:v>
                </c:pt>
                <c:pt idx="100">
                  <c:v>1.6112552060273124</c:v>
                </c:pt>
                <c:pt idx="101">
                  <c:v>1.5861196248132865</c:v>
                </c:pt>
                <c:pt idx="102">
                  <c:v>1.5785062506141827</c:v>
                </c:pt>
                <c:pt idx="103">
                  <c:v>1.5703451365225698</c:v>
                </c:pt>
                <c:pt idx="104">
                  <c:v>1.5901314852427542</c:v>
                </c:pt>
                <c:pt idx="105">
                  <c:v>1.6381534560970854</c:v>
                </c:pt>
                <c:pt idx="106">
                  <c:v>1.6263587512131865</c:v>
                </c:pt>
                <c:pt idx="107">
                  <c:v>1.6270092947136716</c:v>
                </c:pt>
                <c:pt idx="108">
                  <c:v>1.6481604155449492</c:v>
                </c:pt>
                <c:pt idx="109">
                  <c:v>1.5997357319678021</c:v>
                </c:pt>
                <c:pt idx="110">
                  <c:v>1.5587824972294264</c:v>
                </c:pt>
                <c:pt idx="111">
                  <c:v>1.5971285466612701</c:v>
                </c:pt>
                <c:pt idx="112">
                  <c:v>1.6099055750345603</c:v>
                </c:pt>
                <c:pt idx="113">
                  <c:v>1.5930015664966974</c:v>
                </c:pt>
                <c:pt idx="114">
                  <c:v>1.6175337906207468</c:v>
                </c:pt>
                <c:pt idx="115">
                  <c:v>1.6133438928429018</c:v>
                </c:pt>
                <c:pt idx="116">
                  <c:v>1.6149572367357445</c:v>
                </c:pt>
                <c:pt idx="117">
                  <c:v>1.56279411798918</c:v>
                </c:pt>
                <c:pt idx="118">
                  <c:v>1.5529485150458482</c:v>
                </c:pt>
                <c:pt idx="119">
                  <c:v>1.4936258817710968</c:v>
                </c:pt>
                <c:pt idx="120">
                  <c:v>1.5781651066793407</c:v>
                </c:pt>
                <c:pt idx="121">
                  <c:v>1.5913024632016375</c:v>
                </c:pt>
                <c:pt idx="122">
                  <c:v>1.6232876427119904</c:v>
                </c:pt>
                <c:pt idx="123">
                  <c:v>1.6640321625440613</c:v>
                </c:pt>
                <c:pt idx="124">
                  <c:v>1.6272570517518374</c:v>
                </c:pt>
                <c:pt idx="125">
                  <c:v>1.6777020203561444</c:v>
                </c:pt>
                <c:pt idx="126">
                  <c:v>1.7206511920772618</c:v>
                </c:pt>
                <c:pt idx="127">
                  <c:v>1.7114137040874757</c:v>
                </c:pt>
                <c:pt idx="128">
                  <c:v>1.7098734317537969</c:v>
                </c:pt>
                <c:pt idx="129">
                  <c:v>1.7079925709788677</c:v>
                </c:pt>
                <c:pt idx="130">
                  <c:v>1.7339540580577466</c:v>
                </c:pt>
                <c:pt idx="131">
                  <c:v>1.7525073664789643</c:v>
                </c:pt>
                <c:pt idx="132">
                  <c:v>1.7786197262395007</c:v>
                </c:pt>
                <c:pt idx="133">
                  <c:v>1.6810057407514902</c:v>
                </c:pt>
                <c:pt idx="134">
                  <c:v>1.5685464566952156</c:v>
                </c:pt>
                <c:pt idx="135">
                  <c:v>1.698578957955249</c:v>
                </c:pt>
                <c:pt idx="136">
                  <c:v>1.7276246581362835</c:v>
                </c:pt>
                <c:pt idx="137">
                  <c:v>1.7336713444397607</c:v>
                </c:pt>
                <c:pt idx="138">
                  <c:v>1.7491010194052743</c:v>
                </c:pt>
                <c:pt idx="139">
                  <c:v>1.7810167782513113</c:v>
                </c:pt>
                <c:pt idx="140">
                  <c:v>1.7626723054353228</c:v>
                </c:pt>
                <c:pt idx="141">
                  <c:v>1.7170190927245479</c:v>
                </c:pt>
                <c:pt idx="142">
                  <c:v>1.7798619915182663</c:v>
                </c:pt>
                <c:pt idx="143">
                  <c:v>1.8019322802130928</c:v>
                </c:pt>
                <c:pt idx="144">
                  <c:v>1.8219337285234583</c:v>
                </c:pt>
                <c:pt idx="145">
                  <c:v>1.7985938920425517</c:v>
                </c:pt>
                <c:pt idx="146">
                  <c:v>1.851652411857807</c:v>
                </c:pt>
                <c:pt idx="147">
                  <c:v>1.8944255825717222</c:v>
                </c:pt>
                <c:pt idx="148">
                  <c:v>1.9107176425818388</c:v>
                </c:pt>
                <c:pt idx="149">
                  <c:v>1.9963177929695051</c:v>
                </c:pt>
                <c:pt idx="150">
                  <c:v>2.0194750793679512</c:v>
                </c:pt>
                <c:pt idx="151">
                  <c:v>2.0565247225821741</c:v>
                </c:pt>
                <c:pt idx="152">
                  <c:v>2.0036720372118122</c:v>
                </c:pt>
                <c:pt idx="153">
                  <c:v>2.0729990896993407</c:v>
                </c:pt>
                <c:pt idx="154">
                  <c:v>2.131664963937832</c:v>
                </c:pt>
                <c:pt idx="155">
                  <c:v>2.1527684470808164</c:v>
                </c:pt>
                <c:pt idx="156">
                  <c:v>2.0285537076842535</c:v>
                </c:pt>
                <c:pt idx="157">
                  <c:v>1.968550103287807</c:v>
                </c:pt>
                <c:pt idx="158">
                  <c:v>2.0020154550436997</c:v>
                </c:pt>
                <c:pt idx="159">
                  <c:v>1.91452737965829</c:v>
                </c:pt>
                <c:pt idx="160">
                  <c:v>1.9041889318081353</c:v>
                </c:pt>
                <c:pt idx="161">
                  <c:v>1.8466824260675296</c:v>
                </c:pt>
                <c:pt idx="162">
                  <c:v>1.9733648404957622</c:v>
                </c:pt>
                <c:pt idx="163">
                  <c:v>1.9069656030180917</c:v>
                </c:pt>
                <c:pt idx="164">
                  <c:v>1.8514729039702653</c:v>
                </c:pt>
                <c:pt idx="165">
                  <c:v>1.8918350132768171</c:v>
                </c:pt>
                <c:pt idx="166">
                  <c:v>1.9366715030914778</c:v>
                </c:pt>
                <c:pt idx="167">
                  <c:v>1.8677259975814213</c:v>
                </c:pt>
                <c:pt idx="168">
                  <c:v>1.9002244299393383</c:v>
                </c:pt>
                <c:pt idx="169">
                  <c:v>1.8619289694747172</c:v>
                </c:pt>
                <c:pt idx="170">
                  <c:v>1.8971194269977891</c:v>
                </c:pt>
                <c:pt idx="171">
                  <c:v>1.9056564644192791</c:v>
                </c:pt>
                <c:pt idx="172">
                  <c:v>1.9289054732851942</c:v>
                </c:pt>
                <c:pt idx="173">
                  <c:v>1.9518594484172882</c:v>
                </c:pt>
                <c:pt idx="174">
                  <c:v>1.9762576915225043</c:v>
                </c:pt>
                <c:pt idx="175">
                  <c:v>1.9552549634994065</c:v>
                </c:pt>
                <c:pt idx="176">
                  <c:v>1.9163453897257683</c:v>
                </c:pt>
                <c:pt idx="177">
                  <c:v>1.9155788515698782</c:v>
                </c:pt>
                <c:pt idx="178">
                  <c:v>2.0023545735459933</c:v>
                </c:pt>
                <c:pt idx="179">
                  <c:v>2.0492096705669698</c:v>
                </c:pt>
                <c:pt idx="180">
                  <c:v>2.0594557189198044</c:v>
                </c:pt>
                <c:pt idx="181">
                  <c:v>2.051260217859149</c:v>
                </c:pt>
                <c:pt idx="182">
                  <c:v>2.0691061817545235</c:v>
                </c:pt>
                <c:pt idx="183">
                  <c:v>2.1146265177531229</c:v>
                </c:pt>
                <c:pt idx="184">
                  <c:v>2.1061680116821107</c:v>
                </c:pt>
                <c:pt idx="185">
                  <c:v>2.1461852039040705</c:v>
                </c:pt>
                <c:pt idx="186">
                  <c:v>2.1976936487977681</c:v>
                </c:pt>
                <c:pt idx="187">
                  <c:v>2.1848047799133226</c:v>
                </c:pt>
                <c:pt idx="188">
                  <c:v>2.1950733623789151</c:v>
                </c:pt>
                <c:pt idx="189">
                  <c:v>2.2207557207187487</c:v>
                </c:pt>
                <c:pt idx="190">
                  <c:v>2.2023234482367831</c:v>
                </c:pt>
                <c:pt idx="191">
                  <c:v>2.2752203543734204</c:v>
                </c:pt>
                <c:pt idx="192">
                  <c:v>2.2456424897665661</c:v>
                </c:pt>
                <c:pt idx="193">
                  <c:v>2.3073412364675914</c:v>
                </c:pt>
                <c:pt idx="194">
                  <c:v>2.2939586572960793</c:v>
                </c:pt>
                <c:pt idx="195">
                  <c:v>2.2049530613929917</c:v>
                </c:pt>
                <c:pt idx="196">
                  <c:v>2.191943838330773</c:v>
                </c:pt>
                <c:pt idx="197">
                  <c:v>2.2395090196225507</c:v>
                </c:pt>
                <c:pt idx="198">
                  <c:v>2.2466754484853428</c:v>
                </c:pt>
                <c:pt idx="199">
                  <c:v>2.2965874779151205</c:v>
                </c:pt>
                <c:pt idx="200">
                  <c:v>2.2972764541584949</c:v>
                </c:pt>
                <c:pt idx="201">
                  <c:v>2.345519259695823</c:v>
                </c:pt>
                <c:pt idx="202">
                  <c:v>2.4142429740049107</c:v>
                </c:pt>
                <c:pt idx="203">
                  <c:v>2.4106216095439037</c:v>
                </c:pt>
                <c:pt idx="204">
                  <c:v>2.4248442770402128</c:v>
                </c:pt>
                <c:pt idx="205">
                  <c:v>2.4730986781533129</c:v>
                </c:pt>
                <c:pt idx="206">
                  <c:v>2.4932248856527468</c:v>
                </c:pt>
                <c:pt idx="207">
                  <c:v>2.3727101250838483</c:v>
                </c:pt>
                <c:pt idx="208">
                  <c:v>2.5165033907123329</c:v>
                </c:pt>
                <c:pt idx="209">
                  <c:v>2.5834290927586423</c:v>
                </c:pt>
                <c:pt idx="210">
                  <c:v>2.5666976672470652</c:v>
                </c:pt>
                <c:pt idx="211">
                  <c:v>2.5651215184669889</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in val="0.70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Tabelle1!$B$4:$B$8</c:f>
              <c:numCache>
                <c:formatCode>0.00%</c:formatCode>
                <c:ptCount val="5"/>
                <c:pt idx="0">
                  <c:v>0.1962938121646208</c:v>
                </c:pt>
                <c:pt idx="1">
                  <c:v>-0.13345842840727815</c:v>
                </c:pt>
                <c:pt idx="2">
                  <c:v>9.7948266839820511E-2</c:v>
                </c:pt>
                <c:pt idx="3">
                  <c:v>9.0399999999999994E-2</c:v>
                </c:pt>
                <c:pt idx="4">
                  <c:v>7.9799999999999996E-2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Tabelle1!$C$4:$C$8</c:f>
              <c:numCache>
                <c:formatCode>0.00%</c:formatCode>
                <c:ptCount val="5"/>
                <c:pt idx="0">
                  <c:v>0.1028</c:v>
                </c:pt>
                <c:pt idx="1">
                  <c:v>-0.12529999999999999</c:v>
                </c:pt>
                <c:pt idx="2">
                  <c:v>0.13170000000000001</c:v>
                </c:pt>
                <c:pt idx="3">
                  <c:v>0.127</c:v>
                </c:pt>
                <c:pt idx="4">
                  <c:v>8.7999999999999995E-2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14355C"/>
              </a:solidFill>
              <a:ln w="19050">
                <a:solidFill>
                  <a:schemeClr val="lt1"/>
                </a:solidFill>
              </a:ln>
              <a:effectLst/>
            </c:spPr>
            <c:extLst>
              <c:ext xmlns:c16="http://schemas.microsoft.com/office/drawing/2014/chart" uri="{C3380CC4-5D6E-409C-BE32-E72D297353CC}">
                <c16:uniqueId val="{00000001-7522-4527-8D9F-12C28F54E407}"/>
              </c:ext>
            </c:extLst>
          </c:dPt>
          <c:dPt>
            <c:idx val="1"/>
            <c:bubble3D val="0"/>
            <c:spPr>
              <a:solidFill>
                <a:srgbClr val="9FD0EF"/>
              </a:solidFill>
              <a:ln w="19050">
                <a:solidFill>
                  <a:schemeClr val="lt1"/>
                </a:solidFill>
              </a:ln>
              <a:effectLst/>
            </c:spPr>
            <c:extLst>
              <c:ext xmlns:c16="http://schemas.microsoft.com/office/drawing/2014/chart" uri="{C3380CC4-5D6E-409C-BE32-E72D297353CC}">
                <c16:uniqueId val="{00000003-7522-4527-8D9F-12C28F54E407}"/>
              </c:ext>
            </c:extLst>
          </c:dPt>
          <c:dPt>
            <c:idx val="2"/>
            <c:bubble3D val="0"/>
            <c:spPr>
              <a:solidFill>
                <a:srgbClr val="9FD0EF"/>
              </a:solidFill>
              <a:ln w="19050">
                <a:solidFill>
                  <a:schemeClr val="lt1"/>
                </a:solidFill>
              </a:ln>
              <a:effectLst/>
            </c:spPr>
            <c:extLst>
              <c:ext xmlns:c16="http://schemas.microsoft.com/office/drawing/2014/chart" uri="{C3380CC4-5D6E-409C-BE32-E72D297353CC}">
                <c16:uniqueId val="{00000005-7522-4527-8D9F-12C28F54E407}"/>
              </c:ext>
            </c:extLst>
          </c:dPt>
          <c:dLbls>
            <c:dLbl>
              <c:idx val="0"/>
              <c:layout>
                <c:manualLayout>
                  <c:x val="0.27551865966700345"/>
                  <c:y val="-4.44999808848879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522-4527-8D9F-12C28F54E407}"/>
                </c:ext>
              </c:extLst>
            </c:dLbl>
            <c:dLbl>
              <c:idx val="1"/>
              <c:layout>
                <c:manualLayout>
                  <c:x val="-0.36045675839732638"/>
                  <c:y val="0.1036395775586424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522-4527-8D9F-12C28F54E407}"/>
                </c:ext>
              </c:extLst>
            </c:dLbl>
            <c:dLbl>
              <c:idx val="2"/>
              <c:layout>
                <c:manualLayout>
                  <c:x val="-0.16737688353907659"/>
                  <c:y val="-3.273194470277289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522-4527-8D9F-12C28F54E407}"/>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[0]!R_LegendeO</c:f>
              <c:strCache>
                <c:ptCount val="2"/>
                <c:pt idx="0">
                  <c:v>AKTIEN </c:v>
                </c:pt>
                <c:pt idx="1">
                  <c:v>LIQUIDITÄT</c:v>
                </c:pt>
              </c:strCache>
            </c:strRef>
          </c:cat>
          <c:val>
            <c:numRef>
              <c:f>[0]!R_DatenO</c:f>
              <c:numCache>
                <c:formatCode>0.00%</c:formatCode>
                <c:ptCount val="2"/>
                <c:pt idx="0">
                  <c:v>0.98819999999999997</c:v>
                </c:pt>
                <c:pt idx="1">
                  <c:v>1.18E-2</c:v>
                </c:pt>
              </c:numCache>
            </c:numRef>
          </c:val>
          <c:extLst>
            <c:ext xmlns:c16="http://schemas.microsoft.com/office/drawing/2014/chart" uri="{C3380CC4-5D6E-409C-BE32-E72D297353CC}">
              <c16:uniqueId val="{00000006-7522-4527-8D9F-12C28F54E407}"/>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82134975095542362"/>
          <c:w val="0.24574480930202802"/>
          <c:h val="0.16069886431736549"/>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Tabelle1!$A$2:$A$290</c:f>
              <c:numCache>
                <c:formatCode>m/d/yyyy</c:formatCode>
                <c:ptCount val="289"/>
                <c:pt idx="0">
                  <c:v>43465</c:v>
                </c:pt>
                <c:pt idx="1">
                  <c:v>43496</c:v>
                </c:pt>
                <c:pt idx="2">
                  <c:v>43524</c:v>
                </c:pt>
                <c:pt idx="3">
                  <c:v>43555</c:v>
                </c:pt>
                <c:pt idx="4">
                  <c:v>43585</c:v>
                </c:pt>
                <c:pt idx="5">
                  <c:v>43616</c:v>
                </c:pt>
                <c:pt idx="6">
                  <c:v>43646</c:v>
                </c:pt>
                <c:pt idx="7">
                  <c:v>43677</c:v>
                </c:pt>
                <c:pt idx="8">
                  <c:v>43708</c:v>
                </c:pt>
                <c:pt idx="9">
                  <c:v>43738</c:v>
                </c:pt>
                <c:pt idx="10">
                  <c:v>43769</c:v>
                </c:pt>
                <c:pt idx="11">
                  <c:v>43799</c:v>
                </c:pt>
                <c:pt idx="12">
                  <c:v>43830</c:v>
                </c:pt>
                <c:pt idx="13">
                  <c:v>43861</c:v>
                </c:pt>
                <c:pt idx="14">
                  <c:v>43890</c:v>
                </c:pt>
                <c:pt idx="15">
                  <c:v>43921</c:v>
                </c:pt>
                <c:pt idx="16">
                  <c:v>43951</c:v>
                </c:pt>
                <c:pt idx="17">
                  <c:v>43982</c:v>
                </c:pt>
                <c:pt idx="18">
                  <c:v>44012</c:v>
                </c:pt>
                <c:pt idx="19">
                  <c:v>44043</c:v>
                </c:pt>
                <c:pt idx="20">
                  <c:v>44074</c:v>
                </c:pt>
                <c:pt idx="21">
                  <c:v>44104</c:v>
                </c:pt>
                <c:pt idx="22">
                  <c:v>44135</c:v>
                </c:pt>
                <c:pt idx="23">
                  <c:v>44165</c:v>
                </c:pt>
                <c:pt idx="24">
                  <c:v>44196</c:v>
                </c:pt>
                <c:pt idx="25">
                  <c:v>44227</c:v>
                </c:pt>
                <c:pt idx="26">
                  <c:v>44255</c:v>
                </c:pt>
                <c:pt idx="27">
                  <c:v>44286</c:v>
                </c:pt>
                <c:pt idx="28">
                  <c:v>44316</c:v>
                </c:pt>
                <c:pt idx="29">
                  <c:v>44347</c:v>
                </c:pt>
                <c:pt idx="30">
                  <c:v>44377</c:v>
                </c:pt>
                <c:pt idx="31">
                  <c:v>44408</c:v>
                </c:pt>
                <c:pt idx="32">
                  <c:v>44439</c:v>
                </c:pt>
                <c:pt idx="33">
                  <c:v>44469</c:v>
                </c:pt>
                <c:pt idx="34">
                  <c:v>44500</c:v>
                </c:pt>
                <c:pt idx="35">
                  <c:v>44530</c:v>
                </c:pt>
                <c:pt idx="36">
                  <c:v>44561</c:v>
                </c:pt>
                <c:pt idx="37">
                  <c:v>44592</c:v>
                </c:pt>
                <c:pt idx="38">
                  <c:v>44620</c:v>
                </c:pt>
                <c:pt idx="39">
                  <c:v>44651</c:v>
                </c:pt>
                <c:pt idx="40">
                  <c:v>44681</c:v>
                </c:pt>
                <c:pt idx="41">
                  <c:v>44712</c:v>
                </c:pt>
                <c:pt idx="42">
                  <c:v>44742</c:v>
                </c:pt>
                <c:pt idx="43">
                  <c:v>44773</c:v>
                </c:pt>
                <c:pt idx="44">
                  <c:v>44804</c:v>
                </c:pt>
                <c:pt idx="45">
                  <c:v>44834</c:v>
                </c:pt>
                <c:pt idx="46">
                  <c:v>44865</c:v>
                </c:pt>
                <c:pt idx="47">
                  <c:v>44895</c:v>
                </c:pt>
                <c:pt idx="48">
                  <c:v>44926</c:v>
                </c:pt>
                <c:pt idx="49">
                  <c:v>44957</c:v>
                </c:pt>
                <c:pt idx="50">
                  <c:v>44985</c:v>
                </c:pt>
                <c:pt idx="51">
                  <c:v>45016</c:v>
                </c:pt>
                <c:pt idx="52">
                  <c:v>45046</c:v>
                </c:pt>
                <c:pt idx="53">
                  <c:v>45077</c:v>
                </c:pt>
                <c:pt idx="54">
                  <c:v>45107</c:v>
                </c:pt>
                <c:pt idx="55">
                  <c:v>45138</c:v>
                </c:pt>
                <c:pt idx="56">
                  <c:v>45169</c:v>
                </c:pt>
                <c:pt idx="57">
                  <c:v>45199</c:v>
                </c:pt>
                <c:pt idx="58">
                  <c:v>45230</c:v>
                </c:pt>
                <c:pt idx="59">
                  <c:v>45260</c:v>
                </c:pt>
                <c:pt idx="60">
                  <c:v>45291</c:v>
                </c:pt>
                <c:pt idx="61">
                  <c:v>45322</c:v>
                </c:pt>
                <c:pt idx="62">
                  <c:v>45351</c:v>
                </c:pt>
                <c:pt idx="63">
                  <c:v>45382</c:v>
                </c:pt>
                <c:pt idx="64">
                  <c:v>45412</c:v>
                </c:pt>
                <c:pt idx="65">
                  <c:v>45443</c:v>
                </c:pt>
                <c:pt idx="66">
                  <c:v>45473</c:v>
                </c:pt>
                <c:pt idx="67">
                  <c:v>45504</c:v>
                </c:pt>
                <c:pt idx="68">
                  <c:v>45535</c:v>
                </c:pt>
                <c:pt idx="69">
                  <c:v>45565</c:v>
                </c:pt>
                <c:pt idx="70">
                  <c:v>45596</c:v>
                </c:pt>
                <c:pt idx="71">
                  <c:v>45626</c:v>
                </c:pt>
                <c:pt idx="72">
                  <c:v>45657</c:v>
                </c:pt>
                <c:pt idx="73">
                  <c:v>45688</c:v>
                </c:pt>
                <c:pt idx="74">
                  <c:v>45716</c:v>
                </c:pt>
                <c:pt idx="75">
                  <c:v>45747</c:v>
                </c:pt>
                <c:pt idx="76">
                  <c:v>45777</c:v>
                </c:pt>
                <c:pt idx="77">
                  <c:v>45808</c:v>
                </c:pt>
                <c:pt idx="78">
                  <c:v>45838</c:v>
                </c:pt>
                <c:pt idx="79">
                  <c:v>45869</c:v>
                </c:pt>
                <c:pt idx="80">
                  <c:v>45900</c:v>
                </c:pt>
                <c:pt idx="81">
                  <c:v>45930</c:v>
                </c:pt>
                <c:pt idx="82">
                  <c:v>45961</c:v>
                </c:pt>
                <c:pt idx="83">
                  <c:v>45991</c:v>
                </c:pt>
                <c:pt idx="84">
                  <c:v>46022</c:v>
                </c:pt>
                <c:pt idx="85">
                  <c:v>46053</c:v>
                </c:pt>
                <c:pt idx="86">
                  <c:v>46081</c:v>
                </c:pt>
                <c:pt idx="87">
                  <c:v>46112</c:v>
                </c:pt>
                <c:pt idx="88">
                  <c:v>46142</c:v>
                </c:pt>
                <c:pt idx="89">
                  <c:v>46173</c:v>
                </c:pt>
                <c:pt idx="90">
                  <c:v>46203</c:v>
                </c:pt>
                <c:pt idx="91">
                  <c:v>46209</c:v>
                </c:pt>
              </c:numCache>
            </c:numRef>
          </c:cat>
          <c:val>
            <c:numRef>
              <c:f>Tabelle1!$B$2:$B$290</c:f>
              <c:numCache>
                <c:formatCode>0.0000000</c:formatCode>
                <c:ptCount val="289"/>
                <c:pt idx="0" formatCode="General">
                  <c:v>1</c:v>
                </c:pt>
                <c:pt idx="1">
                  <c:v>1.0754999999999999</c:v>
                </c:pt>
                <c:pt idx="2">
                  <c:v>1.1016346499999998</c:v>
                </c:pt>
                <c:pt idx="3">
                  <c:v>1.1376581030549997</c:v>
                </c:pt>
                <c:pt idx="4">
                  <c:v>1.1733805674909268</c:v>
                </c:pt>
                <c:pt idx="5">
                  <c:v>1.1154155674568751</c:v>
                </c:pt>
                <c:pt idx="6">
                  <c:v>1.1788827132451711</c:v>
                </c:pt>
                <c:pt idx="7">
                  <c:v>1.190567857642993</c:v>
                </c:pt>
                <c:pt idx="8">
                  <c:v>1.1785431222807987</c:v>
                </c:pt>
                <c:pt idx="9">
                  <c:v>1.1991676269207128</c:v>
                </c:pt>
                <c:pt idx="10">
                  <c:v>1.1923323714472647</c:v>
                </c:pt>
                <c:pt idx="11">
                  <c:v>1.2378794680365501</c:v>
                </c:pt>
                <c:pt idx="12">
                  <c:v>1.2476587158340389</c:v>
                </c:pt>
                <c:pt idx="13">
                  <c:v>1.2641109362989165</c:v>
                </c:pt>
                <c:pt idx="14">
                  <c:v>1.1614651282714445</c:v>
                </c:pt>
                <c:pt idx="15">
                  <c:v>1.0648312295992604</c:v>
                </c:pt>
                <c:pt idx="16">
                  <c:v>1.1134940167919467</c:v>
                </c:pt>
                <c:pt idx="17">
                  <c:v>1.1799696095944261</c:v>
                </c:pt>
                <c:pt idx="18">
                  <c:v>1.2068729166931789</c:v>
                </c:pt>
                <c:pt idx="19">
                  <c:v>1.23140945772877</c:v>
                </c:pt>
                <c:pt idx="20">
                  <c:v>1.3086188307283637</c:v>
                </c:pt>
                <c:pt idx="21">
                  <c:v>1.3112360683898205</c:v>
                </c:pt>
                <c:pt idx="22">
                  <c:v>1.2618024686115243</c:v>
                </c:pt>
                <c:pt idx="23">
                  <c:v>1.3373844364813547</c:v>
                </c:pt>
                <c:pt idx="24">
                  <c:v>1.352363142169946</c:v>
                </c:pt>
                <c:pt idx="25">
                  <c:v>1.3684515979089278</c:v>
                </c:pt>
                <c:pt idx="26">
                  <c:v>1.3780307590942902</c:v>
                </c:pt>
                <c:pt idx="27">
                  <c:v>1.4546492692999329</c:v>
                </c:pt>
                <c:pt idx="28">
                  <c:v>1.5141444244143001</c:v>
                </c:pt>
                <c:pt idx="29">
                  <c:v>1.5407933662839919</c:v>
                </c:pt>
                <c:pt idx="30">
                  <c:v>1.6367847930034847</c:v>
                </c:pt>
                <c:pt idx="31">
                  <c:v>1.6643773836869786</c:v>
                </c:pt>
                <c:pt idx="32">
                  <c:v>1.7098148862616334</c:v>
                </c:pt>
                <c:pt idx="33">
                  <c:v>1.6383446240158972</c:v>
                </c:pt>
                <c:pt idx="34">
                  <c:v>1.7101041185477937</c:v>
                </c:pt>
                <c:pt idx="35">
                  <c:v>1.7241269723198855</c:v>
                </c:pt>
                <c:pt idx="36">
                  <c:v>1.777230083067338</c:v>
                </c:pt>
                <c:pt idx="37">
                  <c:v>1.6405436283938937</c:v>
                </c:pt>
                <c:pt idx="38">
                  <c:v>1.5457202066727267</c:v>
                </c:pt>
                <c:pt idx="39">
                  <c:v>1.5611774087394539</c:v>
                </c:pt>
                <c:pt idx="40">
                  <c:v>1.4901438366418087</c:v>
                </c:pt>
                <c:pt idx="41">
                  <c:v>1.4907398941764654</c:v>
                </c:pt>
                <c:pt idx="42">
                  <c:v>1.3971214288221834</c:v>
                </c:pt>
                <c:pt idx="43">
                  <c:v>1.5238140765334933</c:v>
                </c:pt>
                <c:pt idx="44">
                  <c:v>1.4683472441476741</c:v>
                </c:pt>
                <c:pt idx="45">
                  <c:v>1.3649755981596778</c:v>
                </c:pt>
                <c:pt idx="46">
                  <c:v>1.4685772460599975</c:v>
                </c:pt>
                <c:pt idx="47">
                  <c:v>1.5051448194868913</c:v>
                </c:pt>
                <c:pt idx="48">
                  <c:v>1.4333494115973666</c:v>
                </c:pt>
                <c:pt idx="49">
                  <c:v>1.4886596061932915</c:v>
                </c:pt>
                <c:pt idx="50">
                  <c:v>1.5039928001370824</c:v>
                </c:pt>
                <c:pt idx="51">
                  <c:v>1.5318166669396183</c:v>
                </c:pt>
                <c:pt idx="52">
                  <c:v>1.5307443952727604</c:v>
                </c:pt>
                <c:pt idx="53">
                  <c:v>1.5295197997565422</c:v>
                </c:pt>
                <c:pt idx="54">
                  <c:v>1.5862649843275098</c:v>
                </c:pt>
                <c:pt idx="55">
                  <c:v>1.5886093650044721</c:v>
                </c:pt>
                <c:pt idx="56">
                  <c:v>1.5628738932913997</c:v>
                </c:pt>
                <c:pt idx="57">
                  <c:v>1.5273966559136849</c:v>
                </c:pt>
                <c:pt idx="58">
                  <c:v>1.4953213261394975</c:v>
                </c:pt>
                <c:pt idx="59">
                  <c:v>1.5896761018188996</c:v>
                </c:pt>
                <c:pt idx="60">
                  <c:v>1.6327563241781917</c:v>
                </c:pt>
                <c:pt idx="61">
                  <c:v>1.6589849217697903</c:v>
                </c:pt>
                <c:pt idx="62">
                  <c:v>1.7328097507885458</c:v>
                </c:pt>
                <c:pt idx="63">
                  <c:v>1.776823118458575</c:v>
                </c:pt>
                <c:pt idx="64">
                  <c:v>1.7121467569466828</c:v>
                </c:pt>
                <c:pt idx="65">
                  <c:v>1.7636823743307781</c:v>
                </c:pt>
                <c:pt idx="66">
                  <c:v>1.7940177111692677</c:v>
                </c:pt>
                <c:pt idx="67">
                  <c:v>1.7599987848725487</c:v>
                </c:pt>
                <c:pt idx="68">
                  <c:v>1.7819987696834554</c:v>
                </c:pt>
                <c:pt idx="69">
                  <c:v>1.7657825808793359</c:v>
                </c:pt>
                <c:pt idx="70">
                  <c:v>1.7422976725536408</c:v>
                </c:pt>
                <c:pt idx="71">
                  <c:v>1.8247083524654277</c:v>
                </c:pt>
                <c:pt idx="72">
                  <c:v>1.8077385647874993</c:v>
                </c:pt>
                <c:pt idx="73">
                  <c:v>1.8959711205922887</c:v>
                </c:pt>
                <c:pt idx="74">
                  <c:v>1.9784458643380534</c:v>
                </c:pt>
                <c:pt idx="75">
                  <c:v>1.8617175583421084</c:v>
                </c:pt>
                <c:pt idx="76">
                  <c:v>1.8602281842954347</c:v>
                </c:pt>
                <c:pt idx="77">
                  <c:v>1.9640289169791201</c:v>
                </c:pt>
                <c:pt idx="78">
                  <c:v>1.9636361111957243</c:v>
                </c:pt>
                <c:pt idx="79">
                  <c:v>1.9558219194730264</c:v>
                </c:pt>
                <c:pt idx="80">
                  <c:v>1.929613905752088</c:v>
                </c:pt>
                <c:pt idx="81">
                  <c:v>1.9568214618231925</c:v>
                </c:pt>
                <c:pt idx="82">
                  <c:v>1.9579955547002863</c:v>
                </c:pt>
                <c:pt idx="83">
                  <c:v>1.9607367484768667</c:v>
                </c:pt>
                <c:pt idx="84">
                  <c:v>1.9601485274523238</c:v>
                </c:pt>
                <c:pt idx="85">
                  <c:v>1.9523985274523239</c:v>
                </c:pt>
                <c:pt idx="86">
                  <c:v>1.9973036935837272</c:v>
                </c:pt>
                <c:pt idx="87">
                  <c:v>1.8799645420838427</c:v>
                </c:pt>
                <c:pt idx="88">
                  <c:v>1.9561080846544834</c:v>
                </c:pt>
                <c:pt idx="89">
                  <c:v>1.9926179371178416</c:v>
                </c:pt>
                <c:pt idx="90">
                  <c:v>2.0146800404780532</c:v>
                </c:pt>
                <c:pt idx="91">
                  <c:v>2.0048204279144191</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in val="0.70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Tabelle1!$B$4:$B$8</c:f>
              <c:numCache>
                <c:formatCode>0.00%</c:formatCode>
                <c:ptCount val="5"/>
                <c:pt idx="0">
                  <c:v>0.31409999999999999</c:v>
                </c:pt>
                <c:pt idx="1">
                  <c:v>-0.19339999999999999</c:v>
                </c:pt>
                <c:pt idx="2">
                  <c:v>0.1391</c:v>
                </c:pt>
                <c:pt idx="3">
                  <c:v>0.1072</c:v>
                </c:pt>
                <c:pt idx="4">
                  <c:v>8.43E-2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Tabelle1!$C$4:$C$8</c:f>
              <c:numCache>
                <c:formatCode>0.00%</c:formatCode>
                <c:ptCount val="5"/>
                <c:pt idx="0">
                  <c:v>0.29260000000000003</c:v>
                </c:pt>
                <c:pt idx="1">
                  <c:v>-0.1419</c:v>
                </c:pt>
                <c:pt idx="2">
                  <c:v>0.18820000000000001</c:v>
                </c:pt>
                <c:pt idx="3">
                  <c:v>0.26079999999999998</c:v>
                </c:pt>
                <c:pt idx="4">
                  <c:v>7.9000000000000001E-2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1122809534912923E-2"/>
          <c:y val="8.0244861213211657E-2"/>
          <c:w val="0.94195561545695194"/>
          <c:h val="0.86157772334674443"/>
        </c:manualLayout>
      </c:layout>
      <c:lineChart>
        <c:grouping val="standard"/>
        <c:varyColors val="0"/>
        <c:ser>
          <c:idx val="0"/>
          <c:order val="0"/>
          <c:tx>
            <c:strRef>
              <c:f>Tabelle1!$B$1</c:f>
              <c:strCache>
                <c:ptCount val="1"/>
                <c:pt idx="0">
                  <c:v>Konservativ</c:v>
                </c:pt>
              </c:strCache>
            </c:strRef>
          </c:tx>
          <c:spPr>
            <a:ln w="15875" cap="rnd">
              <a:solidFill>
                <a:schemeClr val="accent5"/>
              </a:solidFill>
              <a:round/>
            </a:ln>
            <a:effectLst/>
          </c:spPr>
          <c:marker>
            <c:symbol val="none"/>
          </c:marker>
          <c:cat>
            <c:numRef>
              <c:f>Tabelle1!$A$2:$A$501</c:f>
              <c:numCache>
                <c:formatCode>m/d/yyyy</c:formatCode>
                <c:ptCount val="500"/>
                <c:pt idx="0">
                  <c:v>39813</c:v>
                </c:pt>
                <c:pt idx="1">
                  <c:v>39844</c:v>
                </c:pt>
                <c:pt idx="2">
                  <c:v>39872</c:v>
                </c:pt>
                <c:pt idx="3">
                  <c:v>39903</c:v>
                </c:pt>
                <c:pt idx="4">
                  <c:v>39933</c:v>
                </c:pt>
                <c:pt idx="5">
                  <c:v>39964</c:v>
                </c:pt>
                <c:pt idx="6">
                  <c:v>39994</c:v>
                </c:pt>
                <c:pt idx="7">
                  <c:v>40025</c:v>
                </c:pt>
                <c:pt idx="8">
                  <c:v>40056</c:v>
                </c:pt>
                <c:pt idx="9">
                  <c:v>40086</c:v>
                </c:pt>
                <c:pt idx="10">
                  <c:v>40117</c:v>
                </c:pt>
                <c:pt idx="11">
                  <c:v>40147</c:v>
                </c:pt>
                <c:pt idx="12">
                  <c:v>40178</c:v>
                </c:pt>
                <c:pt idx="13">
                  <c:v>40209</c:v>
                </c:pt>
                <c:pt idx="14">
                  <c:v>40237</c:v>
                </c:pt>
                <c:pt idx="15">
                  <c:v>40268</c:v>
                </c:pt>
                <c:pt idx="16">
                  <c:v>40298</c:v>
                </c:pt>
                <c:pt idx="17">
                  <c:v>40329</c:v>
                </c:pt>
                <c:pt idx="18">
                  <c:v>40359</c:v>
                </c:pt>
                <c:pt idx="19">
                  <c:v>40390</c:v>
                </c:pt>
                <c:pt idx="20">
                  <c:v>40421</c:v>
                </c:pt>
                <c:pt idx="21">
                  <c:v>40451</c:v>
                </c:pt>
                <c:pt idx="22">
                  <c:v>40482</c:v>
                </c:pt>
                <c:pt idx="23">
                  <c:v>40512</c:v>
                </c:pt>
                <c:pt idx="24">
                  <c:v>40543</c:v>
                </c:pt>
                <c:pt idx="25">
                  <c:v>40574</c:v>
                </c:pt>
                <c:pt idx="26">
                  <c:v>40602</c:v>
                </c:pt>
                <c:pt idx="27">
                  <c:v>40633</c:v>
                </c:pt>
                <c:pt idx="28">
                  <c:v>40663</c:v>
                </c:pt>
                <c:pt idx="29">
                  <c:v>40694</c:v>
                </c:pt>
                <c:pt idx="30">
                  <c:v>40724</c:v>
                </c:pt>
                <c:pt idx="31">
                  <c:v>40755</c:v>
                </c:pt>
                <c:pt idx="32">
                  <c:v>40786</c:v>
                </c:pt>
                <c:pt idx="33">
                  <c:v>40816</c:v>
                </c:pt>
                <c:pt idx="34">
                  <c:v>40847</c:v>
                </c:pt>
                <c:pt idx="35">
                  <c:v>40877</c:v>
                </c:pt>
                <c:pt idx="36">
                  <c:v>40908</c:v>
                </c:pt>
                <c:pt idx="37">
                  <c:v>40939</c:v>
                </c:pt>
                <c:pt idx="38">
                  <c:v>40968</c:v>
                </c:pt>
                <c:pt idx="39">
                  <c:v>40999</c:v>
                </c:pt>
                <c:pt idx="40">
                  <c:v>41029</c:v>
                </c:pt>
                <c:pt idx="41">
                  <c:v>41060</c:v>
                </c:pt>
                <c:pt idx="42">
                  <c:v>41090</c:v>
                </c:pt>
                <c:pt idx="43">
                  <c:v>41121</c:v>
                </c:pt>
                <c:pt idx="44">
                  <c:v>41152</c:v>
                </c:pt>
                <c:pt idx="45">
                  <c:v>41182</c:v>
                </c:pt>
                <c:pt idx="46">
                  <c:v>41213</c:v>
                </c:pt>
                <c:pt idx="47">
                  <c:v>41243</c:v>
                </c:pt>
                <c:pt idx="48">
                  <c:v>41274</c:v>
                </c:pt>
                <c:pt idx="49">
                  <c:v>41305</c:v>
                </c:pt>
                <c:pt idx="50">
                  <c:v>41333</c:v>
                </c:pt>
                <c:pt idx="51">
                  <c:v>41364</c:v>
                </c:pt>
                <c:pt idx="52">
                  <c:v>41394</c:v>
                </c:pt>
                <c:pt idx="53">
                  <c:v>41425</c:v>
                </c:pt>
                <c:pt idx="54">
                  <c:v>41455</c:v>
                </c:pt>
                <c:pt idx="55">
                  <c:v>41486</c:v>
                </c:pt>
                <c:pt idx="56">
                  <c:v>41517</c:v>
                </c:pt>
                <c:pt idx="57">
                  <c:v>41547</c:v>
                </c:pt>
                <c:pt idx="58">
                  <c:v>41578</c:v>
                </c:pt>
                <c:pt idx="59">
                  <c:v>41608</c:v>
                </c:pt>
                <c:pt idx="60">
                  <c:v>41639</c:v>
                </c:pt>
                <c:pt idx="61">
                  <c:v>41670</c:v>
                </c:pt>
                <c:pt idx="62">
                  <c:v>41698</c:v>
                </c:pt>
                <c:pt idx="63">
                  <c:v>41729</c:v>
                </c:pt>
                <c:pt idx="64">
                  <c:v>41759</c:v>
                </c:pt>
                <c:pt idx="65">
                  <c:v>41790</c:v>
                </c:pt>
                <c:pt idx="66">
                  <c:v>41820</c:v>
                </c:pt>
                <c:pt idx="67">
                  <c:v>41851</c:v>
                </c:pt>
                <c:pt idx="68">
                  <c:v>41882</c:v>
                </c:pt>
                <c:pt idx="69">
                  <c:v>41912</c:v>
                </c:pt>
                <c:pt idx="70">
                  <c:v>41943</c:v>
                </c:pt>
                <c:pt idx="71">
                  <c:v>41973</c:v>
                </c:pt>
                <c:pt idx="72">
                  <c:v>42004</c:v>
                </c:pt>
                <c:pt idx="73">
                  <c:v>42035</c:v>
                </c:pt>
                <c:pt idx="74">
                  <c:v>42063</c:v>
                </c:pt>
                <c:pt idx="75">
                  <c:v>42094</c:v>
                </c:pt>
                <c:pt idx="76">
                  <c:v>42124</c:v>
                </c:pt>
                <c:pt idx="77">
                  <c:v>42155</c:v>
                </c:pt>
                <c:pt idx="78">
                  <c:v>42185</c:v>
                </c:pt>
                <c:pt idx="79">
                  <c:v>42216</c:v>
                </c:pt>
                <c:pt idx="80">
                  <c:v>42247</c:v>
                </c:pt>
                <c:pt idx="81">
                  <c:v>42277</c:v>
                </c:pt>
                <c:pt idx="82">
                  <c:v>42308</c:v>
                </c:pt>
                <c:pt idx="83">
                  <c:v>42338</c:v>
                </c:pt>
                <c:pt idx="84">
                  <c:v>42369</c:v>
                </c:pt>
                <c:pt idx="85">
                  <c:v>42400</c:v>
                </c:pt>
                <c:pt idx="86">
                  <c:v>42429</c:v>
                </c:pt>
                <c:pt idx="87">
                  <c:v>42460</c:v>
                </c:pt>
                <c:pt idx="88">
                  <c:v>42490</c:v>
                </c:pt>
                <c:pt idx="89">
                  <c:v>42521</c:v>
                </c:pt>
                <c:pt idx="90">
                  <c:v>42551</c:v>
                </c:pt>
                <c:pt idx="91">
                  <c:v>42582</c:v>
                </c:pt>
                <c:pt idx="92">
                  <c:v>42613</c:v>
                </c:pt>
                <c:pt idx="93">
                  <c:v>42643</c:v>
                </c:pt>
                <c:pt idx="94">
                  <c:v>42674</c:v>
                </c:pt>
                <c:pt idx="95">
                  <c:v>42704</c:v>
                </c:pt>
                <c:pt idx="96">
                  <c:v>42735</c:v>
                </c:pt>
                <c:pt idx="97">
                  <c:v>42766</c:v>
                </c:pt>
                <c:pt idx="98">
                  <c:v>42794</c:v>
                </c:pt>
                <c:pt idx="99">
                  <c:v>42825</c:v>
                </c:pt>
                <c:pt idx="100">
                  <c:v>42855</c:v>
                </c:pt>
                <c:pt idx="101">
                  <c:v>42886</c:v>
                </c:pt>
                <c:pt idx="102">
                  <c:v>42916</c:v>
                </c:pt>
                <c:pt idx="103">
                  <c:v>42947</c:v>
                </c:pt>
                <c:pt idx="104">
                  <c:v>42978</c:v>
                </c:pt>
                <c:pt idx="105">
                  <c:v>43008</c:v>
                </c:pt>
                <c:pt idx="106">
                  <c:v>43039</c:v>
                </c:pt>
                <c:pt idx="107">
                  <c:v>43069</c:v>
                </c:pt>
                <c:pt idx="108">
                  <c:v>43100</c:v>
                </c:pt>
                <c:pt idx="109">
                  <c:v>43131</c:v>
                </c:pt>
                <c:pt idx="110">
                  <c:v>43159</c:v>
                </c:pt>
                <c:pt idx="111">
                  <c:v>43190</c:v>
                </c:pt>
                <c:pt idx="112">
                  <c:v>43220</c:v>
                </c:pt>
                <c:pt idx="113">
                  <c:v>43251</c:v>
                </c:pt>
                <c:pt idx="114">
                  <c:v>43281</c:v>
                </c:pt>
                <c:pt idx="115">
                  <c:v>43312</c:v>
                </c:pt>
                <c:pt idx="116">
                  <c:v>43343</c:v>
                </c:pt>
                <c:pt idx="117">
                  <c:v>43373</c:v>
                </c:pt>
                <c:pt idx="118">
                  <c:v>43404</c:v>
                </c:pt>
                <c:pt idx="119">
                  <c:v>43434</c:v>
                </c:pt>
                <c:pt idx="120">
                  <c:v>43465</c:v>
                </c:pt>
                <c:pt idx="121">
                  <c:v>43496</c:v>
                </c:pt>
                <c:pt idx="122">
                  <c:v>43524</c:v>
                </c:pt>
                <c:pt idx="123">
                  <c:v>43555</c:v>
                </c:pt>
                <c:pt idx="124">
                  <c:v>43585</c:v>
                </c:pt>
                <c:pt idx="125">
                  <c:v>43616</c:v>
                </c:pt>
                <c:pt idx="126">
                  <c:v>43646</c:v>
                </c:pt>
                <c:pt idx="127">
                  <c:v>43677</c:v>
                </c:pt>
                <c:pt idx="128">
                  <c:v>43708</c:v>
                </c:pt>
                <c:pt idx="129">
                  <c:v>43738</c:v>
                </c:pt>
                <c:pt idx="130">
                  <c:v>43769</c:v>
                </c:pt>
                <c:pt idx="131">
                  <c:v>43799</c:v>
                </c:pt>
                <c:pt idx="132">
                  <c:v>43830</c:v>
                </c:pt>
                <c:pt idx="133">
                  <c:v>43861</c:v>
                </c:pt>
                <c:pt idx="134">
                  <c:v>43890</c:v>
                </c:pt>
                <c:pt idx="135">
                  <c:v>43921</c:v>
                </c:pt>
                <c:pt idx="136">
                  <c:v>43951</c:v>
                </c:pt>
                <c:pt idx="137">
                  <c:v>43982</c:v>
                </c:pt>
                <c:pt idx="138">
                  <c:v>44012</c:v>
                </c:pt>
                <c:pt idx="139">
                  <c:v>44043</c:v>
                </c:pt>
                <c:pt idx="140">
                  <c:v>44074</c:v>
                </c:pt>
                <c:pt idx="141">
                  <c:v>44104</c:v>
                </c:pt>
                <c:pt idx="142">
                  <c:v>44135</c:v>
                </c:pt>
                <c:pt idx="143">
                  <c:v>44165</c:v>
                </c:pt>
                <c:pt idx="144">
                  <c:v>44196</c:v>
                </c:pt>
                <c:pt idx="145">
                  <c:v>44227</c:v>
                </c:pt>
                <c:pt idx="146">
                  <c:v>44255</c:v>
                </c:pt>
                <c:pt idx="147">
                  <c:v>44286</c:v>
                </c:pt>
                <c:pt idx="148">
                  <c:v>44316</c:v>
                </c:pt>
                <c:pt idx="149">
                  <c:v>44347</c:v>
                </c:pt>
                <c:pt idx="150">
                  <c:v>44377</c:v>
                </c:pt>
                <c:pt idx="151">
                  <c:v>44408</c:v>
                </c:pt>
                <c:pt idx="152">
                  <c:v>44439</c:v>
                </c:pt>
                <c:pt idx="153">
                  <c:v>44469</c:v>
                </c:pt>
                <c:pt idx="154">
                  <c:v>44500</c:v>
                </c:pt>
                <c:pt idx="155">
                  <c:v>44530</c:v>
                </c:pt>
                <c:pt idx="156">
                  <c:v>44561</c:v>
                </c:pt>
                <c:pt idx="157">
                  <c:v>44592</c:v>
                </c:pt>
                <c:pt idx="158">
                  <c:v>44620</c:v>
                </c:pt>
                <c:pt idx="159">
                  <c:v>44651</c:v>
                </c:pt>
                <c:pt idx="160">
                  <c:v>44681</c:v>
                </c:pt>
                <c:pt idx="161">
                  <c:v>44712</c:v>
                </c:pt>
                <c:pt idx="162">
                  <c:v>44742</c:v>
                </c:pt>
                <c:pt idx="163">
                  <c:v>44773</c:v>
                </c:pt>
                <c:pt idx="164">
                  <c:v>44804</c:v>
                </c:pt>
                <c:pt idx="165">
                  <c:v>44834</c:v>
                </c:pt>
                <c:pt idx="166">
                  <c:v>44865</c:v>
                </c:pt>
                <c:pt idx="167">
                  <c:v>44895</c:v>
                </c:pt>
                <c:pt idx="168">
                  <c:v>44926</c:v>
                </c:pt>
                <c:pt idx="169">
                  <c:v>44957</c:v>
                </c:pt>
                <c:pt idx="170">
                  <c:v>44985</c:v>
                </c:pt>
                <c:pt idx="171">
                  <c:v>45016</c:v>
                </c:pt>
                <c:pt idx="172">
                  <c:v>45046</c:v>
                </c:pt>
                <c:pt idx="173">
                  <c:v>45077</c:v>
                </c:pt>
                <c:pt idx="174">
                  <c:v>45107</c:v>
                </c:pt>
                <c:pt idx="175">
                  <c:v>45138</c:v>
                </c:pt>
                <c:pt idx="176">
                  <c:v>45169</c:v>
                </c:pt>
                <c:pt idx="177">
                  <c:v>45199</c:v>
                </c:pt>
                <c:pt idx="178">
                  <c:v>45230</c:v>
                </c:pt>
                <c:pt idx="179">
                  <c:v>45260</c:v>
                </c:pt>
                <c:pt idx="180">
                  <c:v>45291</c:v>
                </c:pt>
                <c:pt idx="181">
                  <c:v>45322</c:v>
                </c:pt>
                <c:pt idx="182">
                  <c:v>45351</c:v>
                </c:pt>
                <c:pt idx="183">
                  <c:v>45382</c:v>
                </c:pt>
                <c:pt idx="184">
                  <c:v>45412</c:v>
                </c:pt>
                <c:pt idx="185">
                  <c:v>45443</c:v>
                </c:pt>
                <c:pt idx="186">
                  <c:v>45473</c:v>
                </c:pt>
                <c:pt idx="187">
                  <c:v>45504</c:v>
                </c:pt>
                <c:pt idx="188">
                  <c:v>45535</c:v>
                </c:pt>
                <c:pt idx="189">
                  <c:v>45565</c:v>
                </c:pt>
                <c:pt idx="190">
                  <c:v>45596</c:v>
                </c:pt>
                <c:pt idx="191">
                  <c:v>45626</c:v>
                </c:pt>
                <c:pt idx="192">
                  <c:v>45657</c:v>
                </c:pt>
                <c:pt idx="193" formatCode="mmm\-yy">
                  <c:v>45688</c:v>
                </c:pt>
                <c:pt idx="194" formatCode="mmm\-yy">
                  <c:v>45716</c:v>
                </c:pt>
                <c:pt idx="195" formatCode="mmm\-yy">
                  <c:v>45747</c:v>
                </c:pt>
                <c:pt idx="196" formatCode="mmm\-yy">
                  <c:v>45777</c:v>
                </c:pt>
                <c:pt idx="197" formatCode="mmm\-yy">
                  <c:v>45808</c:v>
                </c:pt>
                <c:pt idx="198" formatCode="mmm\-yy">
                  <c:v>45838</c:v>
                </c:pt>
                <c:pt idx="199" formatCode="mmm\-yy">
                  <c:v>45869</c:v>
                </c:pt>
                <c:pt idx="200" formatCode="mmm\-yy">
                  <c:v>45900</c:v>
                </c:pt>
                <c:pt idx="201" formatCode="mmm\-yy">
                  <c:v>45930</c:v>
                </c:pt>
                <c:pt idx="202" formatCode="mmm\-yy">
                  <c:v>45961</c:v>
                </c:pt>
                <c:pt idx="203" formatCode="mmm\-yy">
                  <c:v>45991</c:v>
                </c:pt>
                <c:pt idx="204" formatCode="mmm\-yy">
                  <c:v>46022</c:v>
                </c:pt>
                <c:pt idx="205" formatCode="mmm\-yy">
                  <c:v>46053</c:v>
                </c:pt>
                <c:pt idx="206" formatCode="mmm\-yy">
                  <c:v>46081</c:v>
                </c:pt>
                <c:pt idx="207" formatCode="mmm\-yy">
                  <c:v>46112</c:v>
                </c:pt>
                <c:pt idx="208" formatCode="mmm\-yy">
                  <c:v>46142</c:v>
                </c:pt>
                <c:pt idx="209" formatCode="mmm\-yy">
                  <c:v>46173</c:v>
                </c:pt>
                <c:pt idx="210" formatCode="mmm\-yy">
                  <c:v>46203</c:v>
                </c:pt>
                <c:pt idx="211" formatCode="mmm\-yy">
                  <c:v>46209</c:v>
                </c:pt>
              </c:numCache>
            </c:numRef>
          </c:cat>
          <c:val>
            <c:numRef>
              <c:f>Tabelle1!$B$2:$B$501</c:f>
              <c:numCache>
                <c:formatCode>0.00%</c:formatCode>
                <c:ptCount val="500"/>
                <c:pt idx="0">
                  <c:v>1</c:v>
                </c:pt>
                <c:pt idx="1">
                  <c:v>1.0001</c:v>
                </c:pt>
                <c:pt idx="2">
                  <c:v>1.0031000000000001</c:v>
                </c:pt>
                <c:pt idx="3">
                  <c:v>1.0071000000000001</c:v>
                </c:pt>
                <c:pt idx="4">
                  <c:v>1.0132000000000001</c:v>
                </c:pt>
                <c:pt idx="5">
                  <c:v>1.0176000000000001</c:v>
                </c:pt>
                <c:pt idx="6">
                  <c:v>1.0301</c:v>
                </c:pt>
                <c:pt idx="7">
                  <c:v>1.0377000000000001</c:v>
                </c:pt>
                <c:pt idx="8">
                  <c:v>1.0464</c:v>
                </c:pt>
                <c:pt idx="9">
                  <c:v>1.0579000000000001</c:v>
                </c:pt>
                <c:pt idx="10">
                  <c:v>1.0638000000000001</c:v>
                </c:pt>
                <c:pt idx="11">
                  <c:v>1.0725</c:v>
                </c:pt>
                <c:pt idx="12">
                  <c:v>1.0762</c:v>
                </c:pt>
                <c:pt idx="13">
                  <c:v>1.0767</c:v>
                </c:pt>
                <c:pt idx="14">
                  <c:v>1.0853999999999999</c:v>
                </c:pt>
                <c:pt idx="15">
                  <c:v>1.0940000000000001</c:v>
                </c:pt>
                <c:pt idx="16">
                  <c:v>1.0984</c:v>
                </c:pt>
                <c:pt idx="17">
                  <c:v>1.1027</c:v>
                </c:pt>
                <c:pt idx="18">
                  <c:v>1.1102000000000001</c:v>
                </c:pt>
                <c:pt idx="19">
                  <c:v>1.1067</c:v>
                </c:pt>
                <c:pt idx="20">
                  <c:v>1.1153</c:v>
                </c:pt>
                <c:pt idx="21">
                  <c:v>1.111</c:v>
                </c:pt>
                <c:pt idx="22">
                  <c:v>1.1240000000000001</c:v>
                </c:pt>
                <c:pt idx="23">
                  <c:v>1.1248</c:v>
                </c:pt>
                <c:pt idx="24">
                  <c:v>1.1253</c:v>
                </c:pt>
                <c:pt idx="25">
                  <c:v>1.1123000000000001</c:v>
                </c:pt>
                <c:pt idx="26">
                  <c:v>1.1169</c:v>
                </c:pt>
                <c:pt idx="27">
                  <c:v>1.1133999999999999</c:v>
                </c:pt>
                <c:pt idx="28">
                  <c:v>1.1183000000000001</c:v>
                </c:pt>
                <c:pt idx="29">
                  <c:v>1.1226</c:v>
                </c:pt>
                <c:pt idx="30">
                  <c:v>1.1337999999999999</c:v>
                </c:pt>
                <c:pt idx="31">
                  <c:v>1.139</c:v>
                </c:pt>
                <c:pt idx="32">
                  <c:v>1.1444000000000001</c:v>
                </c:pt>
                <c:pt idx="33">
                  <c:v>1.1372</c:v>
                </c:pt>
                <c:pt idx="34">
                  <c:v>1.1475</c:v>
                </c:pt>
                <c:pt idx="35">
                  <c:v>1.1386000000000001</c:v>
                </c:pt>
                <c:pt idx="36">
                  <c:v>1.1454</c:v>
                </c:pt>
                <c:pt idx="37">
                  <c:v>1.1437999999999999</c:v>
                </c:pt>
                <c:pt idx="38">
                  <c:v>1.1524000000000001</c:v>
                </c:pt>
                <c:pt idx="39">
                  <c:v>1.1609</c:v>
                </c:pt>
                <c:pt idx="40">
                  <c:v>1.1642999999999999</c:v>
                </c:pt>
                <c:pt idx="41">
                  <c:v>1.1592</c:v>
                </c:pt>
                <c:pt idx="42">
                  <c:v>1.1666000000000001</c:v>
                </c:pt>
                <c:pt idx="43">
                  <c:v>1.1793</c:v>
                </c:pt>
                <c:pt idx="44">
                  <c:v>1.1882999999999999</c:v>
                </c:pt>
                <c:pt idx="45">
                  <c:v>1.1975</c:v>
                </c:pt>
                <c:pt idx="46">
                  <c:v>1.1999</c:v>
                </c:pt>
                <c:pt idx="47">
                  <c:v>1.204</c:v>
                </c:pt>
                <c:pt idx="48">
                  <c:v>1.2037</c:v>
                </c:pt>
                <c:pt idx="49">
                  <c:v>1.1916</c:v>
                </c:pt>
                <c:pt idx="50">
                  <c:v>1.1993</c:v>
                </c:pt>
                <c:pt idx="51">
                  <c:v>1.2040999999999999</c:v>
                </c:pt>
                <c:pt idx="52">
                  <c:v>1.208</c:v>
                </c:pt>
                <c:pt idx="53">
                  <c:v>1.202</c:v>
                </c:pt>
                <c:pt idx="54">
                  <c:v>1.1738</c:v>
                </c:pt>
                <c:pt idx="55">
                  <c:v>1.1847000000000001</c:v>
                </c:pt>
                <c:pt idx="56">
                  <c:v>1.1898</c:v>
                </c:pt>
                <c:pt idx="57">
                  <c:v>1.1887000000000001</c:v>
                </c:pt>
                <c:pt idx="58">
                  <c:v>1.2032</c:v>
                </c:pt>
                <c:pt idx="59">
                  <c:v>1.2047000000000001</c:v>
                </c:pt>
                <c:pt idx="60">
                  <c:v>1.2000999999999999</c:v>
                </c:pt>
                <c:pt idx="61">
                  <c:v>1.2049000000000001</c:v>
                </c:pt>
                <c:pt idx="62">
                  <c:v>1.2169000000000001</c:v>
                </c:pt>
                <c:pt idx="63">
                  <c:v>1.2204999999999999</c:v>
                </c:pt>
                <c:pt idx="64">
                  <c:v>1.2299</c:v>
                </c:pt>
                <c:pt idx="65">
                  <c:v>1.24</c:v>
                </c:pt>
                <c:pt idx="66">
                  <c:v>1.2538</c:v>
                </c:pt>
                <c:pt idx="67">
                  <c:v>1.2553000000000001</c:v>
                </c:pt>
                <c:pt idx="68">
                  <c:v>1.2625999999999999</c:v>
                </c:pt>
                <c:pt idx="69">
                  <c:v>1.2632000000000001</c:v>
                </c:pt>
                <c:pt idx="70">
                  <c:v>1.2656000000000001</c:v>
                </c:pt>
                <c:pt idx="71">
                  <c:v>1.2766</c:v>
                </c:pt>
                <c:pt idx="72">
                  <c:v>1.2784</c:v>
                </c:pt>
                <c:pt idx="73">
                  <c:v>1.2916000000000001</c:v>
                </c:pt>
                <c:pt idx="74">
                  <c:v>1.2972999999999999</c:v>
                </c:pt>
                <c:pt idx="75">
                  <c:v>1.2931999999999999</c:v>
                </c:pt>
                <c:pt idx="76">
                  <c:v>1.2907999999999999</c:v>
                </c:pt>
                <c:pt idx="77">
                  <c:v>1.2883</c:v>
                </c:pt>
                <c:pt idx="78">
                  <c:v>1.2625999999999999</c:v>
                </c:pt>
                <c:pt idx="79">
                  <c:v>1.2685</c:v>
                </c:pt>
                <c:pt idx="80">
                  <c:v>1.2664</c:v>
                </c:pt>
                <c:pt idx="81">
                  <c:v>1.2614000000000001</c:v>
                </c:pt>
                <c:pt idx="82">
                  <c:v>1.2810999999999999</c:v>
                </c:pt>
                <c:pt idx="83">
                  <c:v>1.2876000000000001</c:v>
                </c:pt>
                <c:pt idx="84">
                  <c:v>1.2793000000000001</c:v>
                </c:pt>
                <c:pt idx="85">
                  <c:v>1.2751999999999999</c:v>
                </c:pt>
                <c:pt idx="86">
                  <c:v>1.2819</c:v>
                </c:pt>
                <c:pt idx="87">
                  <c:v>1.2977000000000001</c:v>
                </c:pt>
                <c:pt idx="88">
                  <c:v>1.3089999999999999</c:v>
                </c:pt>
                <c:pt idx="89">
                  <c:v>1.3051999999999999</c:v>
                </c:pt>
                <c:pt idx="90">
                  <c:v>1.3129</c:v>
                </c:pt>
                <c:pt idx="91">
                  <c:v>1.3241000000000001</c:v>
                </c:pt>
                <c:pt idx="92">
                  <c:v>1.3285</c:v>
                </c:pt>
                <c:pt idx="93">
                  <c:v>1.3243</c:v>
                </c:pt>
                <c:pt idx="94">
                  <c:v>1.3229</c:v>
                </c:pt>
                <c:pt idx="95">
                  <c:v>1.3133999999999999</c:v>
                </c:pt>
                <c:pt idx="96">
                  <c:v>1.321</c:v>
                </c:pt>
                <c:pt idx="97">
                  <c:v>1.3190999999999999</c:v>
                </c:pt>
                <c:pt idx="98">
                  <c:v>1.3374999999999999</c:v>
                </c:pt>
                <c:pt idx="99">
                  <c:v>1.3363</c:v>
                </c:pt>
                <c:pt idx="100">
                  <c:v>1.3401000000000001</c:v>
                </c:pt>
                <c:pt idx="101">
                  <c:v>1.3442000000000001</c:v>
                </c:pt>
                <c:pt idx="102">
                  <c:v>1.3386</c:v>
                </c:pt>
                <c:pt idx="103">
                  <c:v>1.3389</c:v>
                </c:pt>
                <c:pt idx="104">
                  <c:v>1.3456999999999999</c:v>
                </c:pt>
                <c:pt idx="105">
                  <c:v>1.3448</c:v>
                </c:pt>
                <c:pt idx="106">
                  <c:v>1.3573999999999999</c:v>
                </c:pt>
                <c:pt idx="107">
                  <c:v>1.3540000000000001</c:v>
                </c:pt>
                <c:pt idx="108">
                  <c:v>1.3501000000000001</c:v>
                </c:pt>
                <c:pt idx="109">
                  <c:v>1.3446</c:v>
                </c:pt>
                <c:pt idx="110">
                  <c:v>1.3421000000000001</c:v>
                </c:pt>
                <c:pt idx="111">
                  <c:v>1.3429</c:v>
                </c:pt>
                <c:pt idx="112">
                  <c:v>1.3458000000000001</c:v>
                </c:pt>
                <c:pt idx="113">
                  <c:v>1.3427</c:v>
                </c:pt>
                <c:pt idx="114">
                  <c:v>1.3378000000000001</c:v>
                </c:pt>
                <c:pt idx="115">
                  <c:v>1.3349</c:v>
                </c:pt>
                <c:pt idx="116">
                  <c:v>1.3367</c:v>
                </c:pt>
                <c:pt idx="117">
                  <c:v>1.3338000000000001</c:v>
                </c:pt>
                <c:pt idx="118">
                  <c:v>1.333</c:v>
                </c:pt>
                <c:pt idx="119">
                  <c:v>1.3167</c:v>
                </c:pt>
                <c:pt idx="120">
                  <c:v>1.3228</c:v>
                </c:pt>
                <c:pt idx="121">
                  <c:v>1.3375999999999999</c:v>
                </c:pt>
                <c:pt idx="122">
                  <c:v>1.3414999999999999</c:v>
                </c:pt>
                <c:pt idx="123">
                  <c:v>1.3536999999999999</c:v>
                </c:pt>
                <c:pt idx="124">
                  <c:v>1.3649</c:v>
                </c:pt>
                <c:pt idx="125">
                  <c:v>1.3631</c:v>
                </c:pt>
                <c:pt idx="126">
                  <c:v>1.3848</c:v>
                </c:pt>
                <c:pt idx="127">
                  <c:v>1.3953</c:v>
                </c:pt>
                <c:pt idx="128">
                  <c:v>1.4091</c:v>
                </c:pt>
                <c:pt idx="129">
                  <c:v>1.3986000000000001</c:v>
                </c:pt>
                <c:pt idx="130">
                  <c:v>1.3973</c:v>
                </c:pt>
                <c:pt idx="131">
                  <c:v>1.3923000000000001</c:v>
                </c:pt>
                <c:pt idx="132">
                  <c:v>1.3995</c:v>
                </c:pt>
                <c:pt idx="133">
                  <c:v>1.4063000000000001</c:v>
                </c:pt>
                <c:pt idx="134">
                  <c:v>1.3923000000000001</c:v>
                </c:pt>
                <c:pt idx="135">
                  <c:v>1.2945</c:v>
                </c:pt>
                <c:pt idx="136">
                  <c:v>1.3577999999999999</c:v>
                </c:pt>
                <c:pt idx="137">
                  <c:v>1.3603000000000001</c:v>
                </c:pt>
                <c:pt idx="138">
                  <c:v>1.3765000000000001</c:v>
                </c:pt>
                <c:pt idx="139">
                  <c:v>1.3985000000000001</c:v>
                </c:pt>
                <c:pt idx="140">
                  <c:v>1.3992</c:v>
                </c:pt>
                <c:pt idx="141">
                  <c:v>1.3660000000000001</c:v>
                </c:pt>
                <c:pt idx="142">
                  <c:v>1.3733</c:v>
                </c:pt>
                <c:pt idx="143">
                  <c:v>1.3837999999999999</c:v>
                </c:pt>
                <c:pt idx="144">
                  <c:v>1.3894</c:v>
                </c:pt>
                <c:pt idx="145">
                  <c:v>1.3816999999999999</c:v>
                </c:pt>
                <c:pt idx="146">
                  <c:v>1.3593999999999999</c:v>
                </c:pt>
                <c:pt idx="147">
                  <c:v>1.3664000000000001</c:v>
                </c:pt>
                <c:pt idx="148">
                  <c:v>1.369</c:v>
                </c:pt>
                <c:pt idx="149">
                  <c:v>1.3778999999999999</c:v>
                </c:pt>
                <c:pt idx="150">
                  <c:v>1.3801000000000001</c:v>
                </c:pt>
                <c:pt idx="151">
                  <c:v>1.3918999999999999</c:v>
                </c:pt>
                <c:pt idx="152">
                  <c:v>1.3875</c:v>
                </c:pt>
                <c:pt idx="153">
                  <c:v>1.3782000000000001</c:v>
                </c:pt>
                <c:pt idx="154">
                  <c:v>1.3768</c:v>
                </c:pt>
                <c:pt idx="155">
                  <c:v>1.3808</c:v>
                </c:pt>
                <c:pt idx="156">
                  <c:v>1.3819999999999999</c:v>
                </c:pt>
                <c:pt idx="157">
                  <c:v>1.3612</c:v>
                </c:pt>
                <c:pt idx="158">
                  <c:v>1.3480000000000001</c:v>
                </c:pt>
                <c:pt idx="159">
                  <c:v>1.3369</c:v>
                </c:pt>
                <c:pt idx="160">
                  <c:v>1.3222</c:v>
                </c:pt>
                <c:pt idx="161">
                  <c:v>1.3009999999999999</c:v>
                </c:pt>
                <c:pt idx="162">
                  <c:v>1.2595000000000001</c:v>
                </c:pt>
                <c:pt idx="163">
                  <c:v>1.3099000000000001</c:v>
                </c:pt>
                <c:pt idx="164">
                  <c:v>1.2719</c:v>
                </c:pt>
                <c:pt idx="165">
                  <c:v>1.2295</c:v>
                </c:pt>
                <c:pt idx="166">
                  <c:v>1.2342</c:v>
                </c:pt>
                <c:pt idx="167">
                  <c:v>1.2611000000000001</c:v>
                </c:pt>
                <c:pt idx="168">
                  <c:v>1.2466999999999999</c:v>
                </c:pt>
                <c:pt idx="169">
                  <c:v>1.2587999999999999</c:v>
                </c:pt>
                <c:pt idx="170">
                  <c:v>1.2425999999999999</c:v>
                </c:pt>
                <c:pt idx="171">
                  <c:v>1.2581</c:v>
                </c:pt>
                <c:pt idx="172">
                  <c:v>1.26</c:v>
                </c:pt>
                <c:pt idx="173">
                  <c:v>1.2621</c:v>
                </c:pt>
                <c:pt idx="174">
                  <c:v>1.2577</c:v>
                </c:pt>
                <c:pt idx="175">
                  <c:v>1.2645</c:v>
                </c:pt>
                <c:pt idx="176">
                  <c:v>1.2672000000000001</c:v>
                </c:pt>
                <c:pt idx="177">
                  <c:v>1.2582</c:v>
                </c:pt>
                <c:pt idx="178">
                  <c:v>1.2710999999999999</c:v>
                </c:pt>
                <c:pt idx="179">
                  <c:v>1.2917000000000001</c:v>
                </c:pt>
                <c:pt idx="180">
                  <c:v>1.3217000000000001</c:v>
                </c:pt>
                <c:pt idx="181">
                  <c:v>1.3193999999999999</c:v>
                </c:pt>
                <c:pt idx="182">
                  <c:v>1.3095000000000001</c:v>
                </c:pt>
                <c:pt idx="183">
                  <c:v>1.3306</c:v>
                </c:pt>
                <c:pt idx="184">
                  <c:v>1.3244</c:v>
                </c:pt>
                <c:pt idx="185">
                  <c:v>1.3248</c:v>
                </c:pt>
                <c:pt idx="186">
                  <c:v>1.3357000000000001</c:v>
                </c:pt>
                <c:pt idx="187">
                  <c:v>1.3532999999999999</c:v>
                </c:pt>
                <c:pt idx="188">
                  <c:v>1.3560000000000001</c:v>
                </c:pt>
                <c:pt idx="189">
                  <c:v>1.3718999999999999</c:v>
                </c:pt>
                <c:pt idx="190">
                  <c:v>1.3728</c:v>
                </c:pt>
                <c:pt idx="191">
                  <c:v>1.3926000000000001</c:v>
                </c:pt>
                <c:pt idx="192">
                  <c:v>1.3857999999999999</c:v>
                </c:pt>
                <c:pt idx="193">
                  <c:v>1.4</c:v>
                </c:pt>
                <c:pt idx="194">
                  <c:v>1.4081999999999999</c:v>
                </c:pt>
                <c:pt idx="195">
                  <c:v>1.4000999999999999</c:v>
                </c:pt>
                <c:pt idx="196">
                  <c:v>1.4157999999999999</c:v>
                </c:pt>
                <c:pt idx="197">
                  <c:v>1.4227000000000001</c:v>
                </c:pt>
                <c:pt idx="198">
                  <c:v>1.4233</c:v>
                </c:pt>
                <c:pt idx="199">
                  <c:v>1.4269000000000001</c:v>
                </c:pt>
                <c:pt idx="200">
                  <c:v>1.4306000000000001</c:v>
                </c:pt>
                <c:pt idx="201">
                  <c:v>1.4443999999999999</c:v>
                </c:pt>
                <c:pt idx="202" formatCode="General">
                  <c:v>1.4618</c:v>
                </c:pt>
                <c:pt idx="203" formatCode="General">
                  <c:v>1.4682999999999999</c:v>
                </c:pt>
                <c:pt idx="204" formatCode="General">
                  <c:v>1.47</c:v>
                </c:pt>
                <c:pt idx="205" formatCode="General">
                  <c:v>1.4984</c:v>
                </c:pt>
                <c:pt idx="206" formatCode="General">
                  <c:v>1.5149999999999999</c:v>
                </c:pt>
                <c:pt idx="207" formatCode="General">
                  <c:v>1.4704999999999999</c:v>
                </c:pt>
                <c:pt idx="208" formatCode="General">
                  <c:v>1.4772000000000001</c:v>
                </c:pt>
                <c:pt idx="209" formatCode="General">
                  <c:v>1.4872000000000001</c:v>
                </c:pt>
                <c:pt idx="210" formatCode="General">
                  <c:v>1.4784999999999999</c:v>
                </c:pt>
                <c:pt idx="211" formatCode="General">
                  <c:v>1.4754</c:v>
                </c:pt>
              </c:numCache>
            </c:numRef>
          </c:val>
          <c:smooth val="0"/>
          <c:extLst>
            <c:ext xmlns:c16="http://schemas.microsoft.com/office/drawing/2014/chart" uri="{C3380CC4-5D6E-409C-BE32-E72D297353CC}">
              <c16:uniqueId val="{00000000-7398-4BAC-A985-7A3F61432C7B}"/>
            </c:ext>
          </c:extLst>
        </c:ser>
        <c:ser>
          <c:idx val="1"/>
          <c:order val="1"/>
          <c:tx>
            <c:strRef>
              <c:f>Tabelle1!$C$1</c:f>
              <c:strCache>
                <c:ptCount val="1"/>
                <c:pt idx="0">
                  <c:v>Defensiv</c:v>
                </c:pt>
              </c:strCache>
            </c:strRef>
          </c:tx>
          <c:spPr>
            <a:ln w="15875" cap="rnd">
              <a:solidFill>
                <a:schemeClr val="accent4"/>
              </a:solidFill>
              <a:round/>
            </a:ln>
            <a:effectLst/>
          </c:spPr>
          <c:marker>
            <c:symbol val="none"/>
          </c:marker>
          <c:cat>
            <c:numRef>
              <c:f>Tabelle1!$A$2:$A$501</c:f>
              <c:numCache>
                <c:formatCode>m/d/yyyy</c:formatCode>
                <c:ptCount val="500"/>
                <c:pt idx="0">
                  <c:v>39813</c:v>
                </c:pt>
                <c:pt idx="1">
                  <c:v>39844</c:v>
                </c:pt>
                <c:pt idx="2">
                  <c:v>39872</c:v>
                </c:pt>
                <c:pt idx="3">
                  <c:v>39903</c:v>
                </c:pt>
                <c:pt idx="4">
                  <c:v>39933</c:v>
                </c:pt>
                <c:pt idx="5">
                  <c:v>39964</c:v>
                </c:pt>
                <c:pt idx="6">
                  <c:v>39994</c:v>
                </c:pt>
                <c:pt idx="7">
                  <c:v>40025</c:v>
                </c:pt>
                <c:pt idx="8">
                  <c:v>40056</c:v>
                </c:pt>
                <c:pt idx="9">
                  <c:v>40086</c:v>
                </c:pt>
                <c:pt idx="10">
                  <c:v>40117</c:v>
                </c:pt>
                <c:pt idx="11">
                  <c:v>40147</c:v>
                </c:pt>
                <c:pt idx="12">
                  <c:v>40178</c:v>
                </c:pt>
                <c:pt idx="13">
                  <c:v>40209</c:v>
                </c:pt>
                <c:pt idx="14">
                  <c:v>40237</c:v>
                </c:pt>
                <c:pt idx="15">
                  <c:v>40268</c:v>
                </c:pt>
                <c:pt idx="16">
                  <c:v>40298</c:v>
                </c:pt>
                <c:pt idx="17">
                  <c:v>40329</c:v>
                </c:pt>
                <c:pt idx="18">
                  <c:v>40359</c:v>
                </c:pt>
                <c:pt idx="19">
                  <c:v>40390</c:v>
                </c:pt>
                <c:pt idx="20">
                  <c:v>40421</c:v>
                </c:pt>
                <c:pt idx="21">
                  <c:v>40451</c:v>
                </c:pt>
                <c:pt idx="22">
                  <c:v>40482</c:v>
                </c:pt>
                <c:pt idx="23">
                  <c:v>40512</c:v>
                </c:pt>
                <c:pt idx="24">
                  <c:v>40543</c:v>
                </c:pt>
                <c:pt idx="25">
                  <c:v>40574</c:v>
                </c:pt>
                <c:pt idx="26">
                  <c:v>40602</c:v>
                </c:pt>
                <c:pt idx="27">
                  <c:v>40633</c:v>
                </c:pt>
                <c:pt idx="28">
                  <c:v>40663</c:v>
                </c:pt>
                <c:pt idx="29">
                  <c:v>40694</c:v>
                </c:pt>
                <c:pt idx="30">
                  <c:v>40724</c:v>
                </c:pt>
                <c:pt idx="31">
                  <c:v>40755</c:v>
                </c:pt>
                <c:pt idx="32">
                  <c:v>40786</c:v>
                </c:pt>
                <c:pt idx="33">
                  <c:v>40816</c:v>
                </c:pt>
                <c:pt idx="34">
                  <c:v>40847</c:v>
                </c:pt>
                <c:pt idx="35">
                  <c:v>40877</c:v>
                </c:pt>
                <c:pt idx="36">
                  <c:v>40908</c:v>
                </c:pt>
                <c:pt idx="37">
                  <c:v>40939</c:v>
                </c:pt>
                <c:pt idx="38">
                  <c:v>40968</c:v>
                </c:pt>
                <c:pt idx="39">
                  <c:v>40999</c:v>
                </c:pt>
                <c:pt idx="40">
                  <c:v>41029</c:v>
                </c:pt>
                <c:pt idx="41">
                  <c:v>41060</c:v>
                </c:pt>
                <c:pt idx="42">
                  <c:v>41090</c:v>
                </c:pt>
                <c:pt idx="43">
                  <c:v>41121</c:v>
                </c:pt>
                <c:pt idx="44">
                  <c:v>41152</c:v>
                </c:pt>
                <c:pt idx="45">
                  <c:v>41182</c:v>
                </c:pt>
                <c:pt idx="46">
                  <c:v>41213</c:v>
                </c:pt>
                <c:pt idx="47">
                  <c:v>41243</c:v>
                </c:pt>
                <c:pt idx="48">
                  <c:v>41274</c:v>
                </c:pt>
                <c:pt idx="49">
                  <c:v>41305</c:v>
                </c:pt>
                <c:pt idx="50">
                  <c:v>41333</c:v>
                </c:pt>
                <c:pt idx="51">
                  <c:v>41364</c:v>
                </c:pt>
                <c:pt idx="52">
                  <c:v>41394</c:v>
                </c:pt>
                <c:pt idx="53">
                  <c:v>41425</c:v>
                </c:pt>
                <c:pt idx="54">
                  <c:v>41455</c:v>
                </c:pt>
                <c:pt idx="55">
                  <c:v>41486</c:v>
                </c:pt>
                <c:pt idx="56">
                  <c:v>41517</c:v>
                </c:pt>
                <c:pt idx="57">
                  <c:v>41547</c:v>
                </c:pt>
                <c:pt idx="58">
                  <c:v>41578</c:v>
                </c:pt>
                <c:pt idx="59">
                  <c:v>41608</c:v>
                </c:pt>
                <c:pt idx="60">
                  <c:v>41639</c:v>
                </c:pt>
                <c:pt idx="61">
                  <c:v>41670</c:v>
                </c:pt>
                <c:pt idx="62">
                  <c:v>41698</c:v>
                </c:pt>
                <c:pt idx="63">
                  <c:v>41729</c:v>
                </c:pt>
                <c:pt idx="64">
                  <c:v>41759</c:v>
                </c:pt>
                <c:pt idx="65">
                  <c:v>41790</c:v>
                </c:pt>
                <c:pt idx="66">
                  <c:v>41820</c:v>
                </c:pt>
                <c:pt idx="67">
                  <c:v>41851</c:v>
                </c:pt>
                <c:pt idx="68">
                  <c:v>41882</c:v>
                </c:pt>
                <c:pt idx="69">
                  <c:v>41912</c:v>
                </c:pt>
                <c:pt idx="70">
                  <c:v>41943</c:v>
                </c:pt>
                <c:pt idx="71">
                  <c:v>41973</c:v>
                </c:pt>
                <c:pt idx="72">
                  <c:v>42004</c:v>
                </c:pt>
                <c:pt idx="73">
                  <c:v>42035</c:v>
                </c:pt>
                <c:pt idx="74">
                  <c:v>42063</c:v>
                </c:pt>
                <c:pt idx="75">
                  <c:v>42094</c:v>
                </c:pt>
                <c:pt idx="76">
                  <c:v>42124</c:v>
                </c:pt>
                <c:pt idx="77">
                  <c:v>42155</c:v>
                </c:pt>
                <c:pt idx="78">
                  <c:v>42185</c:v>
                </c:pt>
                <c:pt idx="79">
                  <c:v>42216</c:v>
                </c:pt>
                <c:pt idx="80">
                  <c:v>42247</c:v>
                </c:pt>
                <c:pt idx="81">
                  <c:v>42277</c:v>
                </c:pt>
                <c:pt idx="82">
                  <c:v>42308</c:v>
                </c:pt>
                <c:pt idx="83">
                  <c:v>42338</c:v>
                </c:pt>
                <c:pt idx="84">
                  <c:v>42369</c:v>
                </c:pt>
                <c:pt idx="85">
                  <c:v>42400</c:v>
                </c:pt>
                <c:pt idx="86">
                  <c:v>42429</c:v>
                </c:pt>
                <c:pt idx="87">
                  <c:v>42460</c:v>
                </c:pt>
                <c:pt idx="88">
                  <c:v>42490</c:v>
                </c:pt>
                <c:pt idx="89">
                  <c:v>42521</c:v>
                </c:pt>
                <c:pt idx="90">
                  <c:v>42551</c:v>
                </c:pt>
                <c:pt idx="91">
                  <c:v>42582</c:v>
                </c:pt>
                <c:pt idx="92">
                  <c:v>42613</c:v>
                </c:pt>
                <c:pt idx="93">
                  <c:v>42643</c:v>
                </c:pt>
                <c:pt idx="94">
                  <c:v>42674</c:v>
                </c:pt>
                <c:pt idx="95">
                  <c:v>42704</c:v>
                </c:pt>
                <c:pt idx="96">
                  <c:v>42735</c:v>
                </c:pt>
                <c:pt idx="97">
                  <c:v>42766</c:v>
                </c:pt>
                <c:pt idx="98">
                  <c:v>42794</c:v>
                </c:pt>
                <c:pt idx="99">
                  <c:v>42825</c:v>
                </c:pt>
                <c:pt idx="100">
                  <c:v>42855</c:v>
                </c:pt>
                <c:pt idx="101">
                  <c:v>42886</c:v>
                </c:pt>
                <c:pt idx="102">
                  <c:v>42916</c:v>
                </c:pt>
                <c:pt idx="103">
                  <c:v>42947</c:v>
                </c:pt>
                <c:pt idx="104">
                  <c:v>42978</c:v>
                </c:pt>
                <c:pt idx="105">
                  <c:v>43008</c:v>
                </c:pt>
                <c:pt idx="106">
                  <c:v>43039</c:v>
                </c:pt>
                <c:pt idx="107">
                  <c:v>43069</c:v>
                </c:pt>
                <c:pt idx="108">
                  <c:v>43100</c:v>
                </c:pt>
                <c:pt idx="109">
                  <c:v>43131</c:v>
                </c:pt>
                <c:pt idx="110">
                  <c:v>43159</c:v>
                </c:pt>
                <c:pt idx="111">
                  <c:v>43190</c:v>
                </c:pt>
                <c:pt idx="112">
                  <c:v>43220</c:v>
                </c:pt>
                <c:pt idx="113">
                  <c:v>43251</c:v>
                </c:pt>
                <c:pt idx="114">
                  <c:v>43281</c:v>
                </c:pt>
                <c:pt idx="115">
                  <c:v>43312</c:v>
                </c:pt>
                <c:pt idx="116">
                  <c:v>43343</c:v>
                </c:pt>
                <c:pt idx="117">
                  <c:v>43373</c:v>
                </c:pt>
                <c:pt idx="118">
                  <c:v>43404</c:v>
                </c:pt>
                <c:pt idx="119">
                  <c:v>43434</c:v>
                </c:pt>
                <c:pt idx="120">
                  <c:v>43465</c:v>
                </c:pt>
                <c:pt idx="121">
                  <c:v>43496</c:v>
                </c:pt>
                <c:pt idx="122">
                  <c:v>43524</c:v>
                </c:pt>
                <c:pt idx="123">
                  <c:v>43555</c:v>
                </c:pt>
                <c:pt idx="124">
                  <c:v>43585</c:v>
                </c:pt>
                <c:pt idx="125">
                  <c:v>43616</c:v>
                </c:pt>
                <c:pt idx="126">
                  <c:v>43646</c:v>
                </c:pt>
                <c:pt idx="127">
                  <c:v>43677</c:v>
                </c:pt>
                <c:pt idx="128">
                  <c:v>43708</c:v>
                </c:pt>
                <c:pt idx="129">
                  <c:v>43738</c:v>
                </c:pt>
                <c:pt idx="130">
                  <c:v>43769</c:v>
                </c:pt>
                <c:pt idx="131">
                  <c:v>43799</c:v>
                </c:pt>
                <c:pt idx="132">
                  <c:v>43830</c:v>
                </c:pt>
                <c:pt idx="133">
                  <c:v>43861</c:v>
                </c:pt>
                <c:pt idx="134">
                  <c:v>43890</c:v>
                </c:pt>
                <c:pt idx="135">
                  <c:v>43921</c:v>
                </c:pt>
                <c:pt idx="136">
                  <c:v>43951</c:v>
                </c:pt>
                <c:pt idx="137">
                  <c:v>43982</c:v>
                </c:pt>
                <c:pt idx="138">
                  <c:v>44012</c:v>
                </c:pt>
                <c:pt idx="139">
                  <c:v>44043</c:v>
                </c:pt>
                <c:pt idx="140">
                  <c:v>44074</c:v>
                </c:pt>
                <c:pt idx="141">
                  <c:v>44104</c:v>
                </c:pt>
                <c:pt idx="142">
                  <c:v>44135</c:v>
                </c:pt>
                <c:pt idx="143">
                  <c:v>44165</c:v>
                </c:pt>
                <c:pt idx="144">
                  <c:v>44196</c:v>
                </c:pt>
                <c:pt idx="145">
                  <c:v>44227</c:v>
                </c:pt>
                <c:pt idx="146">
                  <c:v>44255</c:v>
                </c:pt>
                <c:pt idx="147">
                  <c:v>44286</c:v>
                </c:pt>
                <c:pt idx="148">
                  <c:v>44316</c:v>
                </c:pt>
                <c:pt idx="149">
                  <c:v>44347</c:v>
                </c:pt>
                <c:pt idx="150">
                  <c:v>44377</c:v>
                </c:pt>
                <c:pt idx="151">
                  <c:v>44408</c:v>
                </c:pt>
                <c:pt idx="152">
                  <c:v>44439</c:v>
                </c:pt>
                <c:pt idx="153">
                  <c:v>44469</c:v>
                </c:pt>
                <c:pt idx="154">
                  <c:v>44500</c:v>
                </c:pt>
                <c:pt idx="155">
                  <c:v>44530</c:v>
                </c:pt>
                <c:pt idx="156">
                  <c:v>44561</c:v>
                </c:pt>
                <c:pt idx="157">
                  <c:v>44592</c:v>
                </c:pt>
                <c:pt idx="158">
                  <c:v>44620</c:v>
                </c:pt>
                <c:pt idx="159">
                  <c:v>44651</c:v>
                </c:pt>
                <c:pt idx="160">
                  <c:v>44681</c:v>
                </c:pt>
                <c:pt idx="161">
                  <c:v>44712</c:v>
                </c:pt>
                <c:pt idx="162">
                  <c:v>44742</c:v>
                </c:pt>
                <c:pt idx="163">
                  <c:v>44773</c:v>
                </c:pt>
                <c:pt idx="164">
                  <c:v>44804</c:v>
                </c:pt>
                <c:pt idx="165">
                  <c:v>44834</c:v>
                </c:pt>
                <c:pt idx="166">
                  <c:v>44865</c:v>
                </c:pt>
                <c:pt idx="167">
                  <c:v>44895</c:v>
                </c:pt>
                <c:pt idx="168">
                  <c:v>44926</c:v>
                </c:pt>
                <c:pt idx="169">
                  <c:v>44957</c:v>
                </c:pt>
                <c:pt idx="170">
                  <c:v>44985</c:v>
                </c:pt>
                <c:pt idx="171">
                  <c:v>45016</c:v>
                </c:pt>
                <c:pt idx="172">
                  <c:v>45046</c:v>
                </c:pt>
                <c:pt idx="173">
                  <c:v>45077</c:v>
                </c:pt>
                <c:pt idx="174">
                  <c:v>45107</c:v>
                </c:pt>
                <c:pt idx="175">
                  <c:v>45138</c:v>
                </c:pt>
                <c:pt idx="176">
                  <c:v>45169</c:v>
                </c:pt>
                <c:pt idx="177">
                  <c:v>45199</c:v>
                </c:pt>
                <c:pt idx="178">
                  <c:v>45230</c:v>
                </c:pt>
                <c:pt idx="179">
                  <c:v>45260</c:v>
                </c:pt>
                <c:pt idx="180">
                  <c:v>45291</c:v>
                </c:pt>
                <c:pt idx="181">
                  <c:v>45322</c:v>
                </c:pt>
                <c:pt idx="182">
                  <c:v>45351</c:v>
                </c:pt>
                <c:pt idx="183">
                  <c:v>45382</c:v>
                </c:pt>
                <c:pt idx="184">
                  <c:v>45412</c:v>
                </c:pt>
                <c:pt idx="185">
                  <c:v>45443</c:v>
                </c:pt>
                <c:pt idx="186">
                  <c:v>45473</c:v>
                </c:pt>
                <c:pt idx="187">
                  <c:v>45504</c:v>
                </c:pt>
                <c:pt idx="188">
                  <c:v>45535</c:v>
                </c:pt>
                <c:pt idx="189">
                  <c:v>45565</c:v>
                </c:pt>
                <c:pt idx="190">
                  <c:v>45596</c:v>
                </c:pt>
                <c:pt idx="191">
                  <c:v>45626</c:v>
                </c:pt>
                <c:pt idx="192">
                  <c:v>45657</c:v>
                </c:pt>
                <c:pt idx="193" formatCode="mmm\-yy">
                  <c:v>45688</c:v>
                </c:pt>
                <c:pt idx="194" formatCode="mmm\-yy">
                  <c:v>45716</c:v>
                </c:pt>
                <c:pt idx="195" formatCode="mmm\-yy">
                  <c:v>45747</c:v>
                </c:pt>
                <c:pt idx="196" formatCode="mmm\-yy">
                  <c:v>45777</c:v>
                </c:pt>
                <c:pt idx="197" formatCode="mmm\-yy">
                  <c:v>45808</c:v>
                </c:pt>
                <c:pt idx="198" formatCode="mmm\-yy">
                  <c:v>45838</c:v>
                </c:pt>
                <c:pt idx="199" formatCode="mmm\-yy">
                  <c:v>45869</c:v>
                </c:pt>
                <c:pt idx="200" formatCode="mmm\-yy">
                  <c:v>45900</c:v>
                </c:pt>
                <c:pt idx="201" formatCode="mmm\-yy">
                  <c:v>45930</c:v>
                </c:pt>
                <c:pt idx="202" formatCode="mmm\-yy">
                  <c:v>45961</c:v>
                </c:pt>
                <c:pt idx="203" formatCode="mmm\-yy">
                  <c:v>45991</c:v>
                </c:pt>
                <c:pt idx="204" formatCode="mmm\-yy">
                  <c:v>46022</c:v>
                </c:pt>
                <c:pt idx="205" formatCode="mmm\-yy">
                  <c:v>46053</c:v>
                </c:pt>
                <c:pt idx="206" formatCode="mmm\-yy">
                  <c:v>46081</c:v>
                </c:pt>
                <c:pt idx="207" formatCode="mmm\-yy">
                  <c:v>46112</c:v>
                </c:pt>
                <c:pt idx="208" formatCode="mmm\-yy">
                  <c:v>46142</c:v>
                </c:pt>
                <c:pt idx="209" formatCode="mmm\-yy">
                  <c:v>46173</c:v>
                </c:pt>
                <c:pt idx="210" formatCode="mmm\-yy">
                  <c:v>46203</c:v>
                </c:pt>
                <c:pt idx="211" formatCode="mmm\-yy">
                  <c:v>46209</c:v>
                </c:pt>
              </c:numCache>
            </c:numRef>
          </c:cat>
          <c:val>
            <c:numRef>
              <c:f>Tabelle1!$C$2:$C$501</c:f>
              <c:numCache>
                <c:formatCode>0.00%</c:formatCode>
                <c:ptCount val="500"/>
                <c:pt idx="0">
                  <c:v>1</c:v>
                </c:pt>
                <c:pt idx="1">
                  <c:v>0.99309999999999998</c:v>
                </c:pt>
                <c:pt idx="2">
                  <c:v>1.0001</c:v>
                </c:pt>
                <c:pt idx="3">
                  <c:v>1.0068999999999999</c:v>
                </c:pt>
                <c:pt idx="4">
                  <c:v>1.0243</c:v>
                </c:pt>
                <c:pt idx="5">
                  <c:v>1.0409999999999999</c:v>
                </c:pt>
                <c:pt idx="6">
                  <c:v>1.0625</c:v>
                </c:pt>
                <c:pt idx="7">
                  <c:v>1.0766</c:v>
                </c:pt>
                <c:pt idx="8">
                  <c:v>1.0987</c:v>
                </c:pt>
                <c:pt idx="9">
                  <c:v>1.1111</c:v>
                </c:pt>
                <c:pt idx="10">
                  <c:v>1.1214</c:v>
                </c:pt>
                <c:pt idx="11">
                  <c:v>1.1279999999999999</c:v>
                </c:pt>
                <c:pt idx="12">
                  <c:v>1.1317999999999999</c:v>
                </c:pt>
                <c:pt idx="13">
                  <c:v>1.1315999999999999</c:v>
                </c:pt>
                <c:pt idx="14">
                  <c:v>1.1247</c:v>
                </c:pt>
                <c:pt idx="15">
                  <c:v>1.135</c:v>
                </c:pt>
                <c:pt idx="16">
                  <c:v>1.1384000000000001</c:v>
                </c:pt>
                <c:pt idx="17">
                  <c:v>1.1487000000000001</c:v>
                </c:pt>
                <c:pt idx="18">
                  <c:v>1.1556</c:v>
                </c:pt>
                <c:pt idx="19">
                  <c:v>1.1586000000000001</c:v>
                </c:pt>
                <c:pt idx="20">
                  <c:v>1.1654</c:v>
                </c:pt>
                <c:pt idx="21">
                  <c:v>1.1721999999999999</c:v>
                </c:pt>
                <c:pt idx="22">
                  <c:v>1.1823999999999999</c:v>
                </c:pt>
                <c:pt idx="23">
                  <c:v>1.1923999999999999</c:v>
                </c:pt>
                <c:pt idx="24">
                  <c:v>1.1899</c:v>
                </c:pt>
                <c:pt idx="25">
                  <c:v>1.1818</c:v>
                </c:pt>
                <c:pt idx="26">
                  <c:v>1.1785000000000001</c:v>
                </c:pt>
                <c:pt idx="27">
                  <c:v>1.1852</c:v>
                </c:pt>
                <c:pt idx="28">
                  <c:v>1.1919999999999999</c:v>
                </c:pt>
                <c:pt idx="29">
                  <c:v>1.1930000000000001</c:v>
                </c:pt>
                <c:pt idx="30">
                  <c:v>1.1999</c:v>
                </c:pt>
                <c:pt idx="31">
                  <c:v>1.1624000000000001</c:v>
                </c:pt>
                <c:pt idx="32">
                  <c:v>1.1523000000000001</c:v>
                </c:pt>
                <c:pt idx="33">
                  <c:v>1.1702999999999999</c:v>
                </c:pt>
                <c:pt idx="34">
                  <c:v>1.1535</c:v>
                </c:pt>
                <c:pt idx="35">
                  <c:v>1.1718</c:v>
                </c:pt>
                <c:pt idx="36">
                  <c:v>1.1845000000000001</c:v>
                </c:pt>
                <c:pt idx="37">
                  <c:v>1.1904999999999999</c:v>
                </c:pt>
                <c:pt idx="38">
                  <c:v>1.1972</c:v>
                </c:pt>
                <c:pt idx="39">
                  <c:v>1.1838</c:v>
                </c:pt>
                <c:pt idx="40">
                  <c:v>1.1771</c:v>
                </c:pt>
                <c:pt idx="41">
                  <c:v>1.2015</c:v>
                </c:pt>
                <c:pt idx="42">
                  <c:v>1.2282999999999999</c:v>
                </c:pt>
                <c:pt idx="43">
                  <c:v>1.2287999999999999</c:v>
                </c:pt>
                <c:pt idx="44">
                  <c:v>1.2343</c:v>
                </c:pt>
                <c:pt idx="45">
                  <c:v>1.2399</c:v>
                </c:pt>
                <c:pt idx="46">
                  <c:v>1.2325999999999999</c:v>
                </c:pt>
                <c:pt idx="47">
                  <c:v>1.2303999999999999</c:v>
                </c:pt>
                <c:pt idx="48">
                  <c:v>1.2277</c:v>
                </c:pt>
                <c:pt idx="49">
                  <c:v>1.2342</c:v>
                </c:pt>
                <c:pt idx="50">
                  <c:v>1.2456</c:v>
                </c:pt>
                <c:pt idx="51">
                  <c:v>1.2484999999999999</c:v>
                </c:pt>
                <c:pt idx="52">
                  <c:v>1.2454000000000001</c:v>
                </c:pt>
                <c:pt idx="53">
                  <c:v>1.2142999999999999</c:v>
                </c:pt>
                <c:pt idx="54">
                  <c:v>1.2330000000000001</c:v>
                </c:pt>
                <c:pt idx="55">
                  <c:v>1.2232000000000001</c:v>
                </c:pt>
                <c:pt idx="56">
                  <c:v>1.2271000000000001</c:v>
                </c:pt>
                <c:pt idx="57">
                  <c:v>1.2441</c:v>
                </c:pt>
                <c:pt idx="58">
                  <c:v>1.2435</c:v>
                </c:pt>
                <c:pt idx="59">
                  <c:v>1.24</c:v>
                </c:pt>
                <c:pt idx="60">
                  <c:v>1.2434000000000001</c:v>
                </c:pt>
                <c:pt idx="61">
                  <c:v>1.2558</c:v>
                </c:pt>
                <c:pt idx="62">
                  <c:v>1.2618</c:v>
                </c:pt>
                <c:pt idx="63">
                  <c:v>1.2699</c:v>
                </c:pt>
                <c:pt idx="64">
                  <c:v>1.2895000000000001</c:v>
                </c:pt>
                <c:pt idx="65">
                  <c:v>1.3028</c:v>
                </c:pt>
                <c:pt idx="66">
                  <c:v>1.3108</c:v>
                </c:pt>
                <c:pt idx="67">
                  <c:v>1.319</c:v>
                </c:pt>
                <c:pt idx="68">
                  <c:v>1.3239000000000001</c:v>
                </c:pt>
                <c:pt idx="69">
                  <c:v>1.3251999999999999</c:v>
                </c:pt>
                <c:pt idx="70">
                  <c:v>1.3411999999999999</c:v>
                </c:pt>
                <c:pt idx="71">
                  <c:v>1.3395999999999999</c:v>
                </c:pt>
                <c:pt idx="72">
                  <c:v>1.3803000000000001</c:v>
                </c:pt>
                <c:pt idx="73">
                  <c:v>1.3946000000000001</c:v>
                </c:pt>
                <c:pt idx="74">
                  <c:v>1.4055</c:v>
                </c:pt>
                <c:pt idx="75">
                  <c:v>1.3943000000000001</c:v>
                </c:pt>
                <c:pt idx="76">
                  <c:v>1.3944000000000001</c:v>
                </c:pt>
                <c:pt idx="77">
                  <c:v>1.3593</c:v>
                </c:pt>
                <c:pt idx="78">
                  <c:v>1.3737999999999999</c:v>
                </c:pt>
                <c:pt idx="79">
                  <c:v>1.3292999999999999</c:v>
                </c:pt>
                <c:pt idx="80">
                  <c:v>1.3209</c:v>
                </c:pt>
                <c:pt idx="81">
                  <c:v>1.36</c:v>
                </c:pt>
                <c:pt idx="82">
                  <c:v>1.3787</c:v>
                </c:pt>
                <c:pt idx="83">
                  <c:v>1.3532</c:v>
                </c:pt>
                <c:pt idx="84">
                  <c:v>1.3357000000000001</c:v>
                </c:pt>
                <c:pt idx="85">
                  <c:v>1.3244</c:v>
                </c:pt>
                <c:pt idx="86">
                  <c:v>1.3399000000000001</c:v>
                </c:pt>
                <c:pt idx="87">
                  <c:v>1.3495999999999999</c:v>
                </c:pt>
                <c:pt idx="88">
                  <c:v>1.3507</c:v>
                </c:pt>
                <c:pt idx="89">
                  <c:v>1.3512</c:v>
                </c:pt>
                <c:pt idx="90">
                  <c:v>1.3743000000000001</c:v>
                </c:pt>
                <c:pt idx="91">
                  <c:v>1.3762000000000001</c:v>
                </c:pt>
                <c:pt idx="92">
                  <c:v>1.3692</c:v>
                </c:pt>
                <c:pt idx="93">
                  <c:v>1.3720000000000001</c:v>
                </c:pt>
                <c:pt idx="94">
                  <c:v>1.3677999999999999</c:v>
                </c:pt>
                <c:pt idx="95">
                  <c:v>1.3884000000000001</c:v>
                </c:pt>
                <c:pt idx="96">
                  <c:v>1.3946000000000001</c:v>
                </c:pt>
                <c:pt idx="97">
                  <c:v>1.4135</c:v>
                </c:pt>
                <c:pt idx="98">
                  <c:v>1.4224000000000001</c:v>
                </c:pt>
                <c:pt idx="99">
                  <c:v>1.4271</c:v>
                </c:pt>
                <c:pt idx="100">
                  <c:v>1.4305000000000001</c:v>
                </c:pt>
                <c:pt idx="101">
                  <c:v>1.4191</c:v>
                </c:pt>
                <c:pt idx="102">
                  <c:v>1.4177999999999999</c:v>
                </c:pt>
                <c:pt idx="103">
                  <c:v>1.413</c:v>
                </c:pt>
                <c:pt idx="104">
                  <c:v>1.4164000000000001</c:v>
                </c:pt>
                <c:pt idx="105">
                  <c:v>1.4371</c:v>
                </c:pt>
                <c:pt idx="106">
                  <c:v>1.4321999999999999</c:v>
                </c:pt>
                <c:pt idx="107">
                  <c:v>1.4293</c:v>
                </c:pt>
                <c:pt idx="108">
                  <c:v>1.4319</c:v>
                </c:pt>
                <c:pt idx="109">
                  <c:v>1.4106000000000001</c:v>
                </c:pt>
                <c:pt idx="110">
                  <c:v>1.4003000000000001</c:v>
                </c:pt>
                <c:pt idx="111">
                  <c:v>1.411</c:v>
                </c:pt>
                <c:pt idx="112">
                  <c:v>1.417</c:v>
                </c:pt>
                <c:pt idx="113">
                  <c:v>1.4101999999999999</c:v>
                </c:pt>
                <c:pt idx="114">
                  <c:v>1.42</c:v>
                </c:pt>
                <c:pt idx="115">
                  <c:v>1.4181999999999999</c:v>
                </c:pt>
                <c:pt idx="116">
                  <c:v>1.4165000000000001</c:v>
                </c:pt>
                <c:pt idx="117">
                  <c:v>1.4014</c:v>
                </c:pt>
                <c:pt idx="118">
                  <c:v>1.3886000000000001</c:v>
                </c:pt>
                <c:pt idx="119">
                  <c:v>1.3701000000000001</c:v>
                </c:pt>
                <c:pt idx="120">
                  <c:v>1.4103000000000001</c:v>
                </c:pt>
                <c:pt idx="121">
                  <c:v>1.411</c:v>
                </c:pt>
                <c:pt idx="122">
                  <c:v>1.4293</c:v>
                </c:pt>
                <c:pt idx="123">
                  <c:v>1.4372</c:v>
                </c:pt>
                <c:pt idx="124">
                  <c:v>1.4302999999999999</c:v>
                </c:pt>
                <c:pt idx="125">
                  <c:v>1.4545999999999999</c:v>
                </c:pt>
                <c:pt idx="126">
                  <c:v>1.4738</c:v>
                </c:pt>
                <c:pt idx="127">
                  <c:v>1.4805999999999999</c:v>
                </c:pt>
                <c:pt idx="128">
                  <c:v>1.4710000000000001</c:v>
                </c:pt>
                <c:pt idx="129">
                  <c:v>1.4723999999999999</c:v>
                </c:pt>
                <c:pt idx="130">
                  <c:v>1.4736</c:v>
                </c:pt>
                <c:pt idx="131">
                  <c:v>1.4826999999999999</c:v>
                </c:pt>
                <c:pt idx="132">
                  <c:v>1.5002</c:v>
                </c:pt>
                <c:pt idx="133">
                  <c:v>1.4583999999999999</c:v>
                </c:pt>
                <c:pt idx="134">
                  <c:v>1.3725000000000001</c:v>
                </c:pt>
                <c:pt idx="135">
                  <c:v>1.4547000000000001</c:v>
                </c:pt>
                <c:pt idx="136">
                  <c:v>1.4601</c:v>
                </c:pt>
                <c:pt idx="137">
                  <c:v>1.486</c:v>
                </c:pt>
                <c:pt idx="138">
                  <c:v>1.5094000000000001</c:v>
                </c:pt>
                <c:pt idx="139">
                  <c:v>1.5055000000000001</c:v>
                </c:pt>
                <c:pt idx="140">
                  <c:v>1.5079</c:v>
                </c:pt>
                <c:pt idx="141">
                  <c:v>1.5059</c:v>
                </c:pt>
                <c:pt idx="142">
                  <c:v>1.5299</c:v>
                </c:pt>
                <c:pt idx="143">
                  <c:v>1.5362</c:v>
                </c:pt>
                <c:pt idx="144">
                  <c:v>1.5374000000000001</c:v>
                </c:pt>
                <c:pt idx="145">
                  <c:v>1.5053000000000001</c:v>
                </c:pt>
                <c:pt idx="146">
                  <c:v>1.5270999999999999</c:v>
                </c:pt>
                <c:pt idx="147">
                  <c:v>1.5345</c:v>
                </c:pt>
                <c:pt idx="148">
                  <c:v>1.5443</c:v>
                </c:pt>
                <c:pt idx="149">
                  <c:v>1.5596000000000001</c:v>
                </c:pt>
                <c:pt idx="150">
                  <c:v>1.5781000000000001</c:v>
                </c:pt>
                <c:pt idx="151">
                  <c:v>1.57</c:v>
                </c:pt>
                <c:pt idx="152">
                  <c:v>1.5496000000000001</c:v>
                </c:pt>
                <c:pt idx="153">
                  <c:v>1.5611999999999999</c:v>
                </c:pt>
                <c:pt idx="154">
                  <c:v>1.5733999999999999</c:v>
                </c:pt>
                <c:pt idx="155">
                  <c:v>1.5839000000000001</c:v>
                </c:pt>
                <c:pt idx="156">
                  <c:v>1.5516000000000001</c:v>
                </c:pt>
                <c:pt idx="157">
                  <c:v>1.5270999999999999</c:v>
                </c:pt>
                <c:pt idx="158">
                  <c:v>1.5226999999999999</c:v>
                </c:pt>
                <c:pt idx="159">
                  <c:v>1.5068999999999999</c:v>
                </c:pt>
                <c:pt idx="160">
                  <c:v>1.474</c:v>
                </c:pt>
                <c:pt idx="161">
                  <c:v>1.4323999999999999</c:v>
                </c:pt>
                <c:pt idx="162">
                  <c:v>1.5005999999999999</c:v>
                </c:pt>
                <c:pt idx="163">
                  <c:v>1.4529000000000001</c:v>
                </c:pt>
                <c:pt idx="164">
                  <c:v>1.4063000000000001</c:v>
                </c:pt>
                <c:pt idx="165">
                  <c:v>1.4073</c:v>
                </c:pt>
                <c:pt idx="166">
                  <c:v>1.4360999999999999</c:v>
                </c:pt>
                <c:pt idx="167">
                  <c:v>1.4031</c:v>
                </c:pt>
                <c:pt idx="168">
                  <c:v>1.4435</c:v>
                </c:pt>
                <c:pt idx="169">
                  <c:v>1.4173</c:v>
                </c:pt>
                <c:pt idx="170">
                  <c:v>1.4380999999999999</c:v>
                </c:pt>
                <c:pt idx="171">
                  <c:v>1.4359</c:v>
                </c:pt>
                <c:pt idx="172">
                  <c:v>1.4466000000000001</c:v>
                </c:pt>
                <c:pt idx="173">
                  <c:v>1.4432</c:v>
                </c:pt>
                <c:pt idx="174">
                  <c:v>1.4602999999999999</c:v>
                </c:pt>
                <c:pt idx="175">
                  <c:v>1.454</c:v>
                </c:pt>
                <c:pt idx="176">
                  <c:v>1.4395</c:v>
                </c:pt>
                <c:pt idx="177">
                  <c:v>1.4467000000000001</c:v>
                </c:pt>
                <c:pt idx="178">
                  <c:v>1.4772000000000001</c:v>
                </c:pt>
                <c:pt idx="179">
                  <c:v>1.5126999999999999</c:v>
                </c:pt>
                <c:pt idx="180">
                  <c:v>1.5202</c:v>
                </c:pt>
                <c:pt idx="181">
                  <c:v>1.5236000000000001</c:v>
                </c:pt>
                <c:pt idx="182">
                  <c:v>1.5286</c:v>
                </c:pt>
                <c:pt idx="183">
                  <c:v>1.5625</c:v>
                </c:pt>
                <c:pt idx="184">
                  <c:v>1.556</c:v>
                </c:pt>
                <c:pt idx="185">
                  <c:v>1.5608</c:v>
                </c:pt>
                <c:pt idx="186">
                  <c:v>1.5866</c:v>
                </c:pt>
                <c:pt idx="187">
                  <c:v>1.5941000000000001</c:v>
                </c:pt>
                <c:pt idx="188">
                  <c:v>1.5984</c:v>
                </c:pt>
                <c:pt idx="189">
                  <c:v>1.6158999999999999</c:v>
                </c:pt>
                <c:pt idx="190">
                  <c:v>1.621</c:v>
                </c:pt>
                <c:pt idx="191">
                  <c:v>1.659</c:v>
                </c:pt>
                <c:pt idx="192">
                  <c:v>1.6495</c:v>
                </c:pt>
                <c:pt idx="193">
                  <c:v>1.6704000000000001</c:v>
                </c:pt>
                <c:pt idx="194">
                  <c:v>1.6787000000000001</c:v>
                </c:pt>
                <c:pt idx="195">
                  <c:v>1.6569</c:v>
                </c:pt>
                <c:pt idx="196">
                  <c:v>1.6693</c:v>
                </c:pt>
                <c:pt idx="197">
                  <c:v>1.6924999999999999</c:v>
                </c:pt>
                <c:pt idx="198">
                  <c:v>1.6980999999999999</c:v>
                </c:pt>
                <c:pt idx="199">
                  <c:v>1.7059</c:v>
                </c:pt>
                <c:pt idx="200">
                  <c:v>1.7052</c:v>
                </c:pt>
                <c:pt idx="201">
                  <c:v>1.7395</c:v>
                </c:pt>
                <c:pt idx="202" formatCode="General">
                  <c:v>1.7729999999999999</c:v>
                </c:pt>
                <c:pt idx="203" formatCode="General">
                  <c:v>1.7693000000000001</c:v>
                </c:pt>
                <c:pt idx="204" formatCode="General">
                  <c:v>1.7767999999999999</c:v>
                </c:pt>
                <c:pt idx="205" formatCode="General">
                  <c:v>1.8237000000000001</c:v>
                </c:pt>
                <c:pt idx="206" formatCode="General">
                  <c:v>1.8528</c:v>
                </c:pt>
                <c:pt idx="207" formatCode="General">
                  <c:v>1.7757000000000001</c:v>
                </c:pt>
                <c:pt idx="208" formatCode="General">
                  <c:v>1.8271999999999999</c:v>
                </c:pt>
                <c:pt idx="209" formatCode="General">
                  <c:v>1.8741000000000001</c:v>
                </c:pt>
                <c:pt idx="210" formatCode="General">
                  <c:v>1.8802000000000001</c:v>
                </c:pt>
                <c:pt idx="211" formatCode="General">
                  <c:v>1.8689</c:v>
                </c:pt>
              </c:numCache>
            </c:numRef>
          </c:val>
          <c:smooth val="0"/>
          <c:extLst>
            <c:ext xmlns:c16="http://schemas.microsoft.com/office/drawing/2014/chart" uri="{C3380CC4-5D6E-409C-BE32-E72D297353CC}">
              <c16:uniqueId val="{00000001-7398-4BAC-A985-7A3F61432C7B}"/>
            </c:ext>
          </c:extLst>
        </c:ser>
        <c:ser>
          <c:idx val="2"/>
          <c:order val="2"/>
          <c:tx>
            <c:strRef>
              <c:f>Tabelle1!$D$1</c:f>
              <c:strCache>
                <c:ptCount val="1"/>
                <c:pt idx="0">
                  <c:v>Defensiv Plus</c:v>
                </c:pt>
              </c:strCache>
            </c:strRef>
          </c:tx>
          <c:spPr>
            <a:ln w="15875" cap="rnd">
              <a:solidFill>
                <a:schemeClr val="accent2"/>
              </a:solidFill>
              <a:round/>
            </a:ln>
            <a:effectLst/>
          </c:spPr>
          <c:marker>
            <c:symbol val="none"/>
          </c:marker>
          <c:cat>
            <c:numRef>
              <c:f>Tabelle1!$A$2:$A$501</c:f>
              <c:numCache>
                <c:formatCode>m/d/yyyy</c:formatCode>
                <c:ptCount val="500"/>
                <c:pt idx="0">
                  <c:v>39813</c:v>
                </c:pt>
                <c:pt idx="1">
                  <c:v>39844</c:v>
                </c:pt>
                <c:pt idx="2">
                  <c:v>39872</c:v>
                </c:pt>
                <c:pt idx="3">
                  <c:v>39903</c:v>
                </c:pt>
                <c:pt idx="4">
                  <c:v>39933</c:v>
                </c:pt>
                <c:pt idx="5">
                  <c:v>39964</c:v>
                </c:pt>
                <c:pt idx="6">
                  <c:v>39994</c:v>
                </c:pt>
                <c:pt idx="7">
                  <c:v>40025</c:v>
                </c:pt>
                <c:pt idx="8">
                  <c:v>40056</c:v>
                </c:pt>
                <c:pt idx="9">
                  <c:v>40086</c:v>
                </c:pt>
                <c:pt idx="10">
                  <c:v>40117</c:v>
                </c:pt>
                <c:pt idx="11">
                  <c:v>40147</c:v>
                </c:pt>
                <c:pt idx="12">
                  <c:v>40178</c:v>
                </c:pt>
                <c:pt idx="13">
                  <c:v>40209</c:v>
                </c:pt>
                <c:pt idx="14">
                  <c:v>40237</c:v>
                </c:pt>
                <c:pt idx="15">
                  <c:v>40268</c:v>
                </c:pt>
                <c:pt idx="16">
                  <c:v>40298</c:v>
                </c:pt>
                <c:pt idx="17">
                  <c:v>40329</c:v>
                </c:pt>
                <c:pt idx="18">
                  <c:v>40359</c:v>
                </c:pt>
                <c:pt idx="19">
                  <c:v>40390</c:v>
                </c:pt>
                <c:pt idx="20">
                  <c:v>40421</c:v>
                </c:pt>
                <c:pt idx="21">
                  <c:v>40451</c:v>
                </c:pt>
                <c:pt idx="22">
                  <c:v>40482</c:v>
                </c:pt>
                <c:pt idx="23">
                  <c:v>40512</c:v>
                </c:pt>
                <c:pt idx="24">
                  <c:v>40543</c:v>
                </c:pt>
                <c:pt idx="25">
                  <c:v>40574</c:v>
                </c:pt>
                <c:pt idx="26">
                  <c:v>40602</c:v>
                </c:pt>
                <c:pt idx="27">
                  <c:v>40633</c:v>
                </c:pt>
                <c:pt idx="28">
                  <c:v>40663</c:v>
                </c:pt>
                <c:pt idx="29">
                  <c:v>40694</c:v>
                </c:pt>
                <c:pt idx="30">
                  <c:v>40724</c:v>
                </c:pt>
                <c:pt idx="31">
                  <c:v>40755</c:v>
                </c:pt>
                <c:pt idx="32">
                  <c:v>40786</c:v>
                </c:pt>
                <c:pt idx="33">
                  <c:v>40816</c:v>
                </c:pt>
                <c:pt idx="34">
                  <c:v>40847</c:v>
                </c:pt>
                <c:pt idx="35">
                  <c:v>40877</c:v>
                </c:pt>
                <c:pt idx="36">
                  <c:v>40908</c:v>
                </c:pt>
                <c:pt idx="37">
                  <c:v>40939</c:v>
                </c:pt>
                <c:pt idx="38">
                  <c:v>40968</c:v>
                </c:pt>
                <c:pt idx="39">
                  <c:v>40999</c:v>
                </c:pt>
                <c:pt idx="40">
                  <c:v>41029</c:v>
                </c:pt>
                <c:pt idx="41">
                  <c:v>41060</c:v>
                </c:pt>
                <c:pt idx="42">
                  <c:v>41090</c:v>
                </c:pt>
                <c:pt idx="43">
                  <c:v>41121</c:v>
                </c:pt>
                <c:pt idx="44">
                  <c:v>41152</c:v>
                </c:pt>
                <c:pt idx="45">
                  <c:v>41182</c:v>
                </c:pt>
                <c:pt idx="46">
                  <c:v>41213</c:v>
                </c:pt>
                <c:pt idx="47">
                  <c:v>41243</c:v>
                </c:pt>
                <c:pt idx="48">
                  <c:v>41274</c:v>
                </c:pt>
                <c:pt idx="49">
                  <c:v>41305</c:v>
                </c:pt>
                <c:pt idx="50">
                  <c:v>41333</c:v>
                </c:pt>
                <c:pt idx="51">
                  <c:v>41364</c:v>
                </c:pt>
                <c:pt idx="52">
                  <c:v>41394</c:v>
                </c:pt>
                <c:pt idx="53">
                  <c:v>41425</c:v>
                </c:pt>
                <c:pt idx="54">
                  <c:v>41455</c:v>
                </c:pt>
                <c:pt idx="55">
                  <c:v>41486</c:v>
                </c:pt>
                <c:pt idx="56">
                  <c:v>41517</c:v>
                </c:pt>
                <c:pt idx="57">
                  <c:v>41547</c:v>
                </c:pt>
                <c:pt idx="58">
                  <c:v>41578</c:v>
                </c:pt>
                <c:pt idx="59">
                  <c:v>41608</c:v>
                </c:pt>
                <c:pt idx="60">
                  <c:v>41639</c:v>
                </c:pt>
                <c:pt idx="61">
                  <c:v>41670</c:v>
                </c:pt>
                <c:pt idx="62">
                  <c:v>41698</c:v>
                </c:pt>
                <c:pt idx="63">
                  <c:v>41729</c:v>
                </c:pt>
                <c:pt idx="64">
                  <c:v>41759</c:v>
                </c:pt>
                <c:pt idx="65">
                  <c:v>41790</c:v>
                </c:pt>
                <c:pt idx="66">
                  <c:v>41820</c:v>
                </c:pt>
                <c:pt idx="67">
                  <c:v>41851</c:v>
                </c:pt>
                <c:pt idx="68">
                  <c:v>41882</c:v>
                </c:pt>
                <c:pt idx="69">
                  <c:v>41912</c:v>
                </c:pt>
                <c:pt idx="70">
                  <c:v>41943</c:v>
                </c:pt>
                <c:pt idx="71">
                  <c:v>41973</c:v>
                </c:pt>
                <c:pt idx="72">
                  <c:v>42004</c:v>
                </c:pt>
                <c:pt idx="73">
                  <c:v>42035</c:v>
                </c:pt>
                <c:pt idx="74">
                  <c:v>42063</c:v>
                </c:pt>
                <c:pt idx="75">
                  <c:v>42094</c:v>
                </c:pt>
                <c:pt idx="76">
                  <c:v>42124</c:v>
                </c:pt>
                <c:pt idx="77">
                  <c:v>42155</c:v>
                </c:pt>
                <c:pt idx="78">
                  <c:v>42185</c:v>
                </c:pt>
                <c:pt idx="79">
                  <c:v>42216</c:v>
                </c:pt>
                <c:pt idx="80">
                  <c:v>42247</c:v>
                </c:pt>
                <c:pt idx="81">
                  <c:v>42277</c:v>
                </c:pt>
                <c:pt idx="82">
                  <c:v>42308</c:v>
                </c:pt>
                <c:pt idx="83">
                  <c:v>42338</c:v>
                </c:pt>
                <c:pt idx="84">
                  <c:v>42369</c:v>
                </c:pt>
                <c:pt idx="85">
                  <c:v>42400</c:v>
                </c:pt>
                <c:pt idx="86">
                  <c:v>42429</c:v>
                </c:pt>
                <c:pt idx="87">
                  <c:v>42460</c:v>
                </c:pt>
                <c:pt idx="88">
                  <c:v>42490</c:v>
                </c:pt>
                <c:pt idx="89">
                  <c:v>42521</c:v>
                </c:pt>
                <c:pt idx="90">
                  <c:v>42551</c:v>
                </c:pt>
                <c:pt idx="91">
                  <c:v>42582</c:v>
                </c:pt>
                <c:pt idx="92">
                  <c:v>42613</c:v>
                </c:pt>
                <c:pt idx="93">
                  <c:v>42643</c:v>
                </c:pt>
                <c:pt idx="94">
                  <c:v>42674</c:v>
                </c:pt>
                <c:pt idx="95">
                  <c:v>42704</c:v>
                </c:pt>
                <c:pt idx="96">
                  <c:v>42735</c:v>
                </c:pt>
                <c:pt idx="97">
                  <c:v>42766</c:v>
                </c:pt>
                <c:pt idx="98">
                  <c:v>42794</c:v>
                </c:pt>
                <c:pt idx="99">
                  <c:v>42825</c:v>
                </c:pt>
                <c:pt idx="100">
                  <c:v>42855</c:v>
                </c:pt>
                <c:pt idx="101">
                  <c:v>42886</c:v>
                </c:pt>
                <c:pt idx="102">
                  <c:v>42916</c:v>
                </c:pt>
                <c:pt idx="103">
                  <c:v>42947</c:v>
                </c:pt>
                <c:pt idx="104">
                  <c:v>42978</c:v>
                </c:pt>
                <c:pt idx="105">
                  <c:v>43008</c:v>
                </c:pt>
                <c:pt idx="106">
                  <c:v>43039</c:v>
                </c:pt>
                <c:pt idx="107">
                  <c:v>43069</c:v>
                </c:pt>
                <c:pt idx="108">
                  <c:v>43100</c:v>
                </c:pt>
                <c:pt idx="109">
                  <c:v>43131</c:v>
                </c:pt>
                <c:pt idx="110">
                  <c:v>43159</c:v>
                </c:pt>
                <c:pt idx="111">
                  <c:v>43190</c:v>
                </c:pt>
                <c:pt idx="112">
                  <c:v>43220</c:v>
                </c:pt>
                <c:pt idx="113">
                  <c:v>43251</c:v>
                </c:pt>
                <c:pt idx="114">
                  <c:v>43281</c:v>
                </c:pt>
                <c:pt idx="115">
                  <c:v>43312</c:v>
                </c:pt>
                <c:pt idx="116">
                  <c:v>43343</c:v>
                </c:pt>
                <c:pt idx="117">
                  <c:v>43373</c:v>
                </c:pt>
                <c:pt idx="118">
                  <c:v>43404</c:v>
                </c:pt>
                <c:pt idx="119">
                  <c:v>43434</c:v>
                </c:pt>
                <c:pt idx="120">
                  <c:v>43465</c:v>
                </c:pt>
                <c:pt idx="121">
                  <c:v>43496</c:v>
                </c:pt>
                <c:pt idx="122">
                  <c:v>43524</c:v>
                </c:pt>
                <c:pt idx="123">
                  <c:v>43555</c:v>
                </c:pt>
                <c:pt idx="124">
                  <c:v>43585</c:v>
                </c:pt>
                <c:pt idx="125">
                  <c:v>43616</c:v>
                </c:pt>
                <c:pt idx="126">
                  <c:v>43646</c:v>
                </c:pt>
                <c:pt idx="127">
                  <c:v>43677</c:v>
                </c:pt>
                <c:pt idx="128">
                  <c:v>43708</c:v>
                </c:pt>
                <c:pt idx="129">
                  <c:v>43738</c:v>
                </c:pt>
                <c:pt idx="130">
                  <c:v>43769</c:v>
                </c:pt>
                <c:pt idx="131">
                  <c:v>43799</c:v>
                </c:pt>
                <c:pt idx="132">
                  <c:v>43830</c:v>
                </c:pt>
                <c:pt idx="133">
                  <c:v>43861</c:v>
                </c:pt>
                <c:pt idx="134">
                  <c:v>43890</c:v>
                </c:pt>
                <c:pt idx="135">
                  <c:v>43921</c:v>
                </c:pt>
                <c:pt idx="136">
                  <c:v>43951</c:v>
                </c:pt>
                <c:pt idx="137">
                  <c:v>43982</c:v>
                </c:pt>
                <c:pt idx="138">
                  <c:v>44012</c:v>
                </c:pt>
                <c:pt idx="139">
                  <c:v>44043</c:v>
                </c:pt>
                <c:pt idx="140">
                  <c:v>44074</c:v>
                </c:pt>
                <c:pt idx="141">
                  <c:v>44104</c:v>
                </c:pt>
                <c:pt idx="142">
                  <c:v>44135</c:v>
                </c:pt>
                <c:pt idx="143">
                  <c:v>44165</c:v>
                </c:pt>
                <c:pt idx="144">
                  <c:v>44196</c:v>
                </c:pt>
                <c:pt idx="145">
                  <c:v>44227</c:v>
                </c:pt>
                <c:pt idx="146">
                  <c:v>44255</c:v>
                </c:pt>
                <c:pt idx="147">
                  <c:v>44286</c:v>
                </c:pt>
                <c:pt idx="148">
                  <c:v>44316</c:v>
                </c:pt>
                <c:pt idx="149">
                  <c:v>44347</c:v>
                </c:pt>
                <c:pt idx="150">
                  <c:v>44377</c:v>
                </c:pt>
                <c:pt idx="151">
                  <c:v>44408</c:v>
                </c:pt>
                <c:pt idx="152">
                  <c:v>44439</c:v>
                </c:pt>
                <c:pt idx="153">
                  <c:v>44469</c:v>
                </c:pt>
                <c:pt idx="154">
                  <c:v>44500</c:v>
                </c:pt>
                <c:pt idx="155">
                  <c:v>44530</c:v>
                </c:pt>
                <c:pt idx="156">
                  <c:v>44561</c:v>
                </c:pt>
                <c:pt idx="157">
                  <c:v>44592</c:v>
                </c:pt>
                <c:pt idx="158">
                  <c:v>44620</c:v>
                </c:pt>
                <c:pt idx="159">
                  <c:v>44651</c:v>
                </c:pt>
                <c:pt idx="160">
                  <c:v>44681</c:v>
                </c:pt>
                <c:pt idx="161">
                  <c:v>44712</c:v>
                </c:pt>
                <c:pt idx="162">
                  <c:v>44742</c:v>
                </c:pt>
                <c:pt idx="163">
                  <c:v>44773</c:v>
                </c:pt>
                <c:pt idx="164">
                  <c:v>44804</c:v>
                </c:pt>
                <c:pt idx="165">
                  <c:v>44834</c:v>
                </c:pt>
                <c:pt idx="166">
                  <c:v>44865</c:v>
                </c:pt>
                <c:pt idx="167">
                  <c:v>44895</c:v>
                </c:pt>
                <c:pt idx="168">
                  <c:v>44926</c:v>
                </c:pt>
                <c:pt idx="169">
                  <c:v>44957</c:v>
                </c:pt>
                <c:pt idx="170">
                  <c:v>44985</c:v>
                </c:pt>
                <c:pt idx="171">
                  <c:v>45016</c:v>
                </c:pt>
                <c:pt idx="172">
                  <c:v>45046</c:v>
                </c:pt>
                <c:pt idx="173">
                  <c:v>45077</c:v>
                </c:pt>
                <c:pt idx="174">
                  <c:v>45107</c:v>
                </c:pt>
                <c:pt idx="175">
                  <c:v>45138</c:v>
                </c:pt>
                <c:pt idx="176">
                  <c:v>45169</c:v>
                </c:pt>
                <c:pt idx="177">
                  <c:v>45199</c:v>
                </c:pt>
                <c:pt idx="178">
                  <c:v>45230</c:v>
                </c:pt>
                <c:pt idx="179">
                  <c:v>45260</c:v>
                </c:pt>
                <c:pt idx="180">
                  <c:v>45291</c:v>
                </c:pt>
                <c:pt idx="181">
                  <c:v>45322</c:v>
                </c:pt>
                <c:pt idx="182">
                  <c:v>45351</c:v>
                </c:pt>
                <c:pt idx="183">
                  <c:v>45382</c:v>
                </c:pt>
                <c:pt idx="184">
                  <c:v>45412</c:v>
                </c:pt>
                <c:pt idx="185">
                  <c:v>45443</c:v>
                </c:pt>
                <c:pt idx="186">
                  <c:v>45473</c:v>
                </c:pt>
                <c:pt idx="187">
                  <c:v>45504</c:v>
                </c:pt>
                <c:pt idx="188">
                  <c:v>45535</c:v>
                </c:pt>
                <c:pt idx="189">
                  <c:v>45565</c:v>
                </c:pt>
                <c:pt idx="190">
                  <c:v>45596</c:v>
                </c:pt>
                <c:pt idx="191">
                  <c:v>45626</c:v>
                </c:pt>
                <c:pt idx="192">
                  <c:v>45657</c:v>
                </c:pt>
                <c:pt idx="193" formatCode="mmm\-yy">
                  <c:v>45688</c:v>
                </c:pt>
                <c:pt idx="194" formatCode="mmm\-yy">
                  <c:v>45716</c:v>
                </c:pt>
                <c:pt idx="195" formatCode="mmm\-yy">
                  <c:v>45747</c:v>
                </c:pt>
                <c:pt idx="196" formatCode="mmm\-yy">
                  <c:v>45777</c:v>
                </c:pt>
                <c:pt idx="197" formatCode="mmm\-yy">
                  <c:v>45808</c:v>
                </c:pt>
                <c:pt idx="198" formatCode="mmm\-yy">
                  <c:v>45838</c:v>
                </c:pt>
                <c:pt idx="199" formatCode="mmm\-yy">
                  <c:v>45869</c:v>
                </c:pt>
                <c:pt idx="200" formatCode="mmm\-yy">
                  <c:v>45900</c:v>
                </c:pt>
                <c:pt idx="201" formatCode="mmm\-yy">
                  <c:v>45930</c:v>
                </c:pt>
                <c:pt idx="202" formatCode="mmm\-yy">
                  <c:v>45961</c:v>
                </c:pt>
                <c:pt idx="203" formatCode="mmm\-yy">
                  <c:v>45991</c:v>
                </c:pt>
                <c:pt idx="204" formatCode="mmm\-yy">
                  <c:v>46022</c:v>
                </c:pt>
                <c:pt idx="205" formatCode="mmm\-yy">
                  <c:v>46053</c:v>
                </c:pt>
                <c:pt idx="206" formatCode="mmm\-yy">
                  <c:v>46081</c:v>
                </c:pt>
                <c:pt idx="207" formatCode="mmm\-yy">
                  <c:v>46112</c:v>
                </c:pt>
                <c:pt idx="208" formatCode="mmm\-yy">
                  <c:v>46142</c:v>
                </c:pt>
                <c:pt idx="209" formatCode="mmm\-yy">
                  <c:v>46173</c:v>
                </c:pt>
                <c:pt idx="210" formatCode="mmm\-yy">
                  <c:v>46203</c:v>
                </c:pt>
                <c:pt idx="211" formatCode="mmm\-yy">
                  <c:v>46209</c:v>
                </c:pt>
              </c:numCache>
            </c:numRef>
          </c:cat>
          <c:val>
            <c:numRef>
              <c:f>Tabelle1!$D$2:$D$501</c:f>
              <c:numCache>
                <c:formatCode>0.00%</c:formatCode>
                <c:ptCount val="500"/>
                <c:pt idx="0">
                  <c:v>1</c:v>
                </c:pt>
                <c:pt idx="1">
                  <c:v>0.97389999999999999</c:v>
                </c:pt>
                <c:pt idx="2">
                  <c:v>0.98450000000000004</c:v>
                </c:pt>
                <c:pt idx="3">
                  <c:v>1.0465</c:v>
                </c:pt>
                <c:pt idx="4">
                  <c:v>1.0585</c:v>
                </c:pt>
                <c:pt idx="5">
                  <c:v>1.0536000000000001</c:v>
                </c:pt>
                <c:pt idx="6">
                  <c:v>1.1125</c:v>
                </c:pt>
                <c:pt idx="7">
                  <c:v>1.1191</c:v>
                </c:pt>
                <c:pt idx="8">
                  <c:v>1.1414</c:v>
                </c:pt>
                <c:pt idx="9">
                  <c:v>1.1364000000000001</c:v>
                </c:pt>
                <c:pt idx="10">
                  <c:v>1.163</c:v>
                </c:pt>
                <c:pt idx="11">
                  <c:v>1.1839999999999999</c:v>
                </c:pt>
                <c:pt idx="12">
                  <c:v>1.1716</c:v>
                </c:pt>
                <c:pt idx="13">
                  <c:v>1.1708000000000001</c:v>
                </c:pt>
                <c:pt idx="14">
                  <c:v>1.2179</c:v>
                </c:pt>
                <c:pt idx="15">
                  <c:v>1.2174</c:v>
                </c:pt>
                <c:pt idx="16">
                  <c:v>1.1990000000000001</c:v>
                </c:pt>
                <c:pt idx="17">
                  <c:v>1.2110000000000001</c:v>
                </c:pt>
                <c:pt idx="18">
                  <c:v>1.22</c:v>
                </c:pt>
                <c:pt idx="19">
                  <c:v>1.2062999999999999</c:v>
                </c:pt>
                <c:pt idx="20">
                  <c:v>1.2233000000000001</c:v>
                </c:pt>
                <c:pt idx="21">
                  <c:v>1.2474000000000001</c:v>
                </c:pt>
                <c:pt idx="22">
                  <c:v>1.2544</c:v>
                </c:pt>
                <c:pt idx="23">
                  <c:v>1.2806999999999999</c:v>
                </c:pt>
                <c:pt idx="24">
                  <c:v>1.2839</c:v>
                </c:pt>
                <c:pt idx="25">
                  <c:v>1.2892999999999999</c:v>
                </c:pt>
                <c:pt idx="26">
                  <c:v>1.2741</c:v>
                </c:pt>
                <c:pt idx="27">
                  <c:v>1.3051999999999999</c:v>
                </c:pt>
                <c:pt idx="28">
                  <c:v>1.3083</c:v>
                </c:pt>
                <c:pt idx="29">
                  <c:v>1.3058000000000001</c:v>
                </c:pt>
                <c:pt idx="30">
                  <c:v>1.3089</c:v>
                </c:pt>
                <c:pt idx="31">
                  <c:v>1.2614000000000001</c:v>
                </c:pt>
                <c:pt idx="32">
                  <c:v>1.2376</c:v>
                </c:pt>
                <c:pt idx="33">
                  <c:v>1.2728999999999999</c:v>
                </c:pt>
                <c:pt idx="34">
                  <c:v>1.2564</c:v>
                </c:pt>
                <c:pt idx="35">
                  <c:v>1.2658</c:v>
                </c:pt>
                <c:pt idx="36">
                  <c:v>1.2936000000000001</c:v>
                </c:pt>
                <c:pt idx="37">
                  <c:v>1.2937000000000001</c:v>
                </c:pt>
                <c:pt idx="38">
                  <c:v>1.3119000000000001</c:v>
                </c:pt>
                <c:pt idx="39">
                  <c:v>1.2937000000000001</c:v>
                </c:pt>
                <c:pt idx="40">
                  <c:v>1.2785</c:v>
                </c:pt>
                <c:pt idx="41">
                  <c:v>1.3071999999999999</c:v>
                </c:pt>
                <c:pt idx="42">
                  <c:v>1.3472</c:v>
                </c:pt>
                <c:pt idx="43">
                  <c:v>1.3525</c:v>
                </c:pt>
                <c:pt idx="44">
                  <c:v>1.3587</c:v>
                </c:pt>
                <c:pt idx="45">
                  <c:v>1.3638999999999999</c:v>
                </c:pt>
                <c:pt idx="46">
                  <c:v>1.3666</c:v>
                </c:pt>
                <c:pt idx="47">
                  <c:v>1.3685</c:v>
                </c:pt>
                <c:pt idx="48">
                  <c:v>1.3667</c:v>
                </c:pt>
                <c:pt idx="49">
                  <c:v>1.37</c:v>
                </c:pt>
                <c:pt idx="50">
                  <c:v>1.3755999999999999</c:v>
                </c:pt>
                <c:pt idx="51">
                  <c:v>1.3823000000000001</c:v>
                </c:pt>
                <c:pt idx="52">
                  <c:v>1.3775999999999999</c:v>
                </c:pt>
                <c:pt idx="53">
                  <c:v>1.3381000000000001</c:v>
                </c:pt>
                <c:pt idx="54">
                  <c:v>1.3351</c:v>
                </c:pt>
                <c:pt idx="55">
                  <c:v>1.3164</c:v>
                </c:pt>
                <c:pt idx="56">
                  <c:v>1.3288</c:v>
                </c:pt>
                <c:pt idx="57">
                  <c:v>1.355</c:v>
                </c:pt>
                <c:pt idx="58">
                  <c:v>1.3629</c:v>
                </c:pt>
                <c:pt idx="59">
                  <c:v>1.3601000000000001</c:v>
                </c:pt>
                <c:pt idx="60">
                  <c:v>1.3544</c:v>
                </c:pt>
                <c:pt idx="61">
                  <c:v>1.3737999999999999</c:v>
                </c:pt>
                <c:pt idx="62">
                  <c:v>1.3755999999999999</c:v>
                </c:pt>
                <c:pt idx="63">
                  <c:v>1.3895999999999999</c:v>
                </c:pt>
                <c:pt idx="64">
                  <c:v>1.4181999999999999</c:v>
                </c:pt>
                <c:pt idx="65">
                  <c:v>1.4296</c:v>
                </c:pt>
                <c:pt idx="66">
                  <c:v>1.4260999999999999</c:v>
                </c:pt>
                <c:pt idx="67">
                  <c:v>1.4325000000000001</c:v>
                </c:pt>
                <c:pt idx="68">
                  <c:v>1.4361999999999999</c:v>
                </c:pt>
                <c:pt idx="69">
                  <c:v>1.4333</c:v>
                </c:pt>
                <c:pt idx="70">
                  <c:v>1.4577</c:v>
                </c:pt>
                <c:pt idx="71">
                  <c:v>1.4505999999999999</c:v>
                </c:pt>
                <c:pt idx="72">
                  <c:v>1.5218</c:v>
                </c:pt>
                <c:pt idx="73">
                  <c:v>1.5577000000000001</c:v>
                </c:pt>
                <c:pt idx="74">
                  <c:v>1.587</c:v>
                </c:pt>
                <c:pt idx="75">
                  <c:v>1.5716000000000001</c:v>
                </c:pt>
                <c:pt idx="76">
                  <c:v>1.5795999999999999</c:v>
                </c:pt>
                <c:pt idx="77">
                  <c:v>1.5223</c:v>
                </c:pt>
                <c:pt idx="78">
                  <c:v>1.5519000000000001</c:v>
                </c:pt>
                <c:pt idx="79">
                  <c:v>1.4648000000000001</c:v>
                </c:pt>
                <c:pt idx="80">
                  <c:v>1.4383999999999999</c:v>
                </c:pt>
                <c:pt idx="81">
                  <c:v>1.5011000000000001</c:v>
                </c:pt>
                <c:pt idx="82">
                  <c:v>1.5246999999999999</c:v>
                </c:pt>
                <c:pt idx="83">
                  <c:v>1.4811000000000001</c:v>
                </c:pt>
                <c:pt idx="84">
                  <c:v>1.4408000000000001</c:v>
                </c:pt>
                <c:pt idx="85">
                  <c:v>1.4156</c:v>
                </c:pt>
                <c:pt idx="86">
                  <c:v>1.4309000000000001</c:v>
                </c:pt>
                <c:pt idx="87">
                  <c:v>1.4404999999999999</c:v>
                </c:pt>
                <c:pt idx="88">
                  <c:v>1.4536</c:v>
                </c:pt>
                <c:pt idx="89">
                  <c:v>1.446</c:v>
                </c:pt>
                <c:pt idx="90">
                  <c:v>1.4738</c:v>
                </c:pt>
                <c:pt idx="91">
                  <c:v>1.4785999999999999</c:v>
                </c:pt>
                <c:pt idx="92">
                  <c:v>1.4715</c:v>
                </c:pt>
                <c:pt idx="93">
                  <c:v>1.4742999999999999</c:v>
                </c:pt>
                <c:pt idx="94">
                  <c:v>1.4845999999999999</c:v>
                </c:pt>
                <c:pt idx="95">
                  <c:v>1.5258</c:v>
                </c:pt>
                <c:pt idx="96">
                  <c:v>1.5294000000000001</c:v>
                </c:pt>
                <c:pt idx="97">
                  <c:v>1.5537000000000001</c:v>
                </c:pt>
                <c:pt idx="98">
                  <c:v>1.5752999999999999</c:v>
                </c:pt>
                <c:pt idx="99">
                  <c:v>1.5840000000000001</c:v>
                </c:pt>
                <c:pt idx="100">
                  <c:v>1.5956999999999999</c:v>
                </c:pt>
                <c:pt idx="101">
                  <c:v>1.5760000000000001</c:v>
                </c:pt>
                <c:pt idx="102">
                  <c:v>1.5647</c:v>
                </c:pt>
                <c:pt idx="103">
                  <c:v>1.5531999999999999</c:v>
                </c:pt>
                <c:pt idx="104">
                  <c:v>1.5606</c:v>
                </c:pt>
                <c:pt idx="105">
                  <c:v>1.5981000000000001</c:v>
                </c:pt>
                <c:pt idx="106">
                  <c:v>1.585</c:v>
                </c:pt>
                <c:pt idx="107">
                  <c:v>1.5854999999999999</c:v>
                </c:pt>
                <c:pt idx="108">
                  <c:v>1.6093999999999999</c:v>
                </c:pt>
                <c:pt idx="109">
                  <c:v>1.5751999999999999</c:v>
                </c:pt>
                <c:pt idx="110">
                  <c:v>1.5456000000000001</c:v>
                </c:pt>
                <c:pt idx="111">
                  <c:v>1.5732999999999999</c:v>
                </c:pt>
                <c:pt idx="112">
                  <c:v>1.5862000000000001</c:v>
                </c:pt>
                <c:pt idx="113">
                  <c:v>1.5793999999999999</c:v>
                </c:pt>
                <c:pt idx="114">
                  <c:v>1.5945</c:v>
                </c:pt>
                <c:pt idx="115">
                  <c:v>1.5901000000000001</c:v>
                </c:pt>
                <c:pt idx="116">
                  <c:v>1.5882000000000001</c:v>
                </c:pt>
                <c:pt idx="117">
                  <c:v>1.5512999999999999</c:v>
                </c:pt>
                <c:pt idx="118">
                  <c:v>1.5425</c:v>
                </c:pt>
                <c:pt idx="119">
                  <c:v>1.5066999999999999</c:v>
                </c:pt>
                <c:pt idx="120">
                  <c:v>1.5732999999999999</c:v>
                </c:pt>
                <c:pt idx="121">
                  <c:v>1.5778000000000001</c:v>
                </c:pt>
                <c:pt idx="122">
                  <c:v>1.6049</c:v>
                </c:pt>
                <c:pt idx="123">
                  <c:v>1.6321000000000001</c:v>
                </c:pt>
                <c:pt idx="124">
                  <c:v>1.6131</c:v>
                </c:pt>
                <c:pt idx="125">
                  <c:v>1.6454</c:v>
                </c:pt>
                <c:pt idx="126">
                  <c:v>1.6902999999999999</c:v>
                </c:pt>
                <c:pt idx="127">
                  <c:v>1.6947000000000001</c:v>
                </c:pt>
                <c:pt idx="128">
                  <c:v>1.6828000000000001</c:v>
                </c:pt>
                <c:pt idx="129">
                  <c:v>1.6754</c:v>
                </c:pt>
                <c:pt idx="130">
                  <c:v>1.6916</c:v>
                </c:pt>
                <c:pt idx="131">
                  <c:v>1.7085999999999999</c:v>
                </c:pt>
                <c:pt idx="132">
                  <c:v>1.7398</c:v>
                </c:pt>
                <c:pt idx="133">
                  <c:v>1.6571</c:v>
                </c:pt>
                <c:pt idx="134">
                  <c:v>1.5545</c:v>
                </c:pt>
                <c:pt idx="135">
                  <c:v>1.6747000000000001</c:v>
                </c:pt>
                <c:pt idx="136">
                  <c:v>1.6933</c:v>
                </c:pt>
                <c:pt idx="137">
                  <c:v>1.6901999999999999</c:v>
                </c:pt>
                <c:pt idx="138">
                  <c:v>1.7064999999999999</c:v>
                </c:pt>
                <c:pt idx="139">
                  <c:v>1.7269000000000001</c:v>
                </c:pt>
                <c:pt idx="140">
                  <c:v>1.714</c:v>
                </c:pt>
                <c:pt idx="141">
                  <c:v>1.6977</c:v>
                </c:pt>
                <c:pt idx="142">
                  <c:v>1.7536</c:v>
                </c:pt>
                <c:pt idx="143">
                  <c:v>1.7639</c:v>
                </c:pt>
                <c:pt idx="144">
                  <c:v>1.7733000000000001</c:v>
                </c:pt>
                <c:pt idx="145">
                  <c:v>1.7472000000000001</c:v>
                </c:pt>
                <c:pt idx="146">
                  <c:v>1.7825</c:v>
                </c:pt>
                <c:pt idx="147">
                  <c:v>1.8082</c:v>
                </c:pt>
                <c:pt idx="148">
                  <c:v>1.8197000000000001</c:v>
                </c:pt>
                <c:pt idx="149">
                  <c:v>1.8875999999999999</c:v>
                </c:pt>
                <c:pt idx="150">
                  <c:v>1.8995</c:v>
                </c:pt>
                <c:pt idx="151">
                  <c:v>1.92</c:v>
                </c:pt>
                <c:pt idx="152">
                  <c:v>1.8874</c:v>
                </c:pt>
                <c:pt idx="153">
                  <c:v>1.9157</c:v>
                </c:pt>
                <c:pt idx="154">
                  <c:v>1.9371</c:v>
                </c:pt>
                <c:pt idx="155">
                  <c:v>1.9474</c:v>
                </c:pt>
                <c:pt idx="156">
                  <c:v>1.8641000000000001</c:v>
                </c:pt>
                <c:pt idx="157">
                  <c:v>1.8228</c:v>
                </c:pt>
                <c:pt idx="158">
                  <c:v>1.8415999999999999</c:v>
                </c:pt>
                <c:pt idx="159">
                  <c:v>1.7941</c:v>
                </c:pt>
                <c:pt idx="160">
                  <c:v>1.7722</c:v>
                </c:pt>
                <c:pt idx="161">
                  <c:v>1.7302</c:v>
                </c:pt>
                <c:pt idx="162">
                  <c:v>1.8328</c:v>
                </c:pt>
                <c:pt idx="163">
                  <c:v>1.7830999999999999</c:v>
                </c:pt>
                <c:pt idx="164">
                  <c:v>1.7365999999999999</c:v>
                </c:pt>
                <c:pt idx="165">
                  <c:v>1.7472000000000001</c:v>
                </c:pt>
                <c:pt idx="166">
                  <c:v>1.7808999999999999</c:v>
                </c:pt>
                <c:pt idx="167">
                  <c:v>1.726</c:v>
                </c:pt>
                <c:pt idx="168">
                  <c:v>1.7533000000000001</c:v>
                </c:pt>
                <c:pt idx="169">
                  <c:v>1.7176</c:v>
                </c:pt>
                <c:pt idx="170">
                  <c:v>1.7451000000000001</c:v>
                </c:pt>
                <c:pt idx="171">
                  <c:v>1.7498</c:v>
                </c:pt>
                <c:pt idx="172">
                  <c:v>1.7696000000000001</c:v>
                </c:pt>
                <c:pt idx="173">
                  <c:v>1.7774000000000001</c:v>
                </c:pt>
                <c:pt idx="174">
                  <c:v>1.7985</c:v>
                </c:pt>
                <c:pt idx="175">
                  <c:v>1.7826</c:v>
                </c:pt>
                <c:pt idx="176">
                  <c:v>1.7541</c:v>
                </c:pt>
                <c:pt idx="177">
                  <c:v>1.7597</c:v>
                </c:pt>
                <c:pt idx="178">
                  <c:v>1.8229</c:v>
                </c:pt>
                <c:pt idx="179">
                  <c:v>1.8636999999999999</c:v>
                </c:pt>
                <c:pt idx="180">
                  <c:v>1.873</c:v>
                </c:pt>
                <c:pt idx="181">
                  <c:v>1.8634999999999999</c:v>
                </c:pt>
                <c:pt idx="182">
                  <c:v>1.8675999999999999</c:v>
                </c:pt>
                <c:pt idx="183">
                  <c:v>1.9067000000000001</c:v>
                </c:pt>
                <c:pt idx="184">
                  <c:v>1.9039999999999999</c:v>
                </c:pt>
                <c:pt idx="185">
                  <c:v>1.9350000000000001</c:v>
                </c:pt>
                <c:pt idx="186">
                  <c:v>1.9761</c:v>
                </c:pt>
                <c:pt idx="187">
                  <c:v>1.9656</c:v>
                </c:pt>
                <c:pt idx="188">
                  <c:v>1.9719</c:v>
                </c:pt>
                <c:pt idx="189">
                  <c:v>1.9976</c:v>
                </c:pt>
                <c:pt idx="190">
                  <c:v>1.9950000000000001</c:v>
                </c:pt>
                <c:pt idx="191">
                  <c:v>2.0453999999999999</c:v>
                </c:pt>
                <c:pt idx="192">
                  <c:v>2.0407000000000002</c:v>
                </c:pt>
                <c:pt idx="193">
                  <c:v>2.0922000000000001</c:v>
                </c:pt>
                <c:pt idx="194">
                  <c:v>2.089</c:v>
                </c:pt>
                <c:pt idx="195">
                  <c:v>2.0306999999999999</c:v>
                </c:pt>
                <c:pt idx="196">
                  <c:v>2.0238</c:v>
                </c:pt>
                <c:pt idx="197">
                  <c:v>2.0583999999999998</c:v>
                </c:pt>
                <c:pt idx="198">
                  <c:v>2.0649999999999999</c:v>
                </c:pt>
                <c:pt idx="199">
                  <c:v>2.0952999999999999</c:v>
                </c:pt>
                <c:pt idx="200">
                  <c:v>2.0905</c:v>
                </c:pt>
                <c:pt idx="201">
                  <c:v>2.1326999999999998</c:v>
                </c:pt>
                <c:pt idx="202" formatCode="General">
                  <c:v>2.2027000000000001</c:v>
                </c:pt>
                <c:pt idx="203" formatCode="General">
                  <c:v>2.2130000000000001</c:v>
                </c:pt>
                <c:pt idx="204" formatCode="General">
                  <c:v>2.2212000000000001</c:v>
                </c:pt>
                <c:pt idx="205" formatCode="General">
                  <c:v>2.2692000000000001</c:v>
                </c:pt>
                <c:pt idx="206" formatCode="General">
                  <c:v>2.2930000000000001</c:v>
                </c:pt>
                <c:pt idx="207" formatCode="General">
                  <c:v>2.1899000000000002</c:v>
                </c:pt>
                <c:pt idx="208" formatCode="General">
                  <c:v>2.2963</c:v>
                </c:pt>
                <c:pt idx="209" formatCode="General">
                  <c:v>2.3589000000000002</c:v>
                </c:pt>
                <c:pt idx="210" formatCode="General">
                  <c:v>2.3347000000000002</c:v>
                </c:pt>
                <c:pt idx="211" formatCode="General">
                  <c:v>2.3273000000000001</c:v>
                </c:pt>
              </c:numCache>
            </c:numRef>
          </c:val>
          <c:smooth val="0"/>
          <c:extLst>
            <c:ext xmlns:c16="http://schemas.microsoft.com/office/drawing/2014/chart" uri="{C3380CC4-5D6E-409C-BE32-E72D297353CC}">
              <c16:uniqueId val="{00000002-7398-4BAC-A985-7A3F61432C7B}"/>
            </c:ext>
          </c:extLst>
        </c:ser>
        <c:ser>
          <c:idx val="3"/>
          <c:order val="3"/>
          <c:tx>
            <c:strRef>
              <c:f>Tabelle1!$E$1</c:f>
              <c:strCache>
                <c:ptCount val="1"/>
                <c:pt idx="0">
                  <c:v>Ausgewogen</c:v>
                </c:pt>
              </c:strCache>
            </c:strRef>
          </c:tx>
          <c:spPr>
            <a:ln w="15875" cap="rnd">
              <a:solidFill>
                <a:schemeClr val="accent1"/>
              </a:solidFill>
              <a:round/>
            </a:ln>
            <a:effectLst/>
          </c:spPr>
          <c:marker>
            <c:symbol val="none"/>
          </c:marker>
          <c:cat>
            <c:numRef>
              <c:f>Tabelle1!$A$2:$A$501</c:f>
              <c:numCache>
                <c:formatCode>m/d/yyyy</c:formatCode>
                <c:ptCount val="500"/>
                <c:pt idx="0">
                  <c:v>39813</c:v>
                </c:pt>
                <c:pt idx="1">
                  <c:v>39844</c:v>
                </c:pt>
                <c:pt idx="2">
                  <c:v>39872</c:v>
                </c:pt>
                <c:pt idx="3">
                  <c:v>39903</c:v>
                </c:pt>
                <c:pt idx="4">
                  <c:v>39933</c:v>
                </c:pt>
                <c:pt idx="5">
                  <c:v>39964</c:v>
                </c:pt>
                <c:pt idx="6">
                  <c:v>39994</c:v>
                </c:pt>
                <c:pt idx="7">
                  <c:v>40025</c:v>
                </c:pt>
                <c:pt idx="8">
                  <c:v>40056</c:v>
                </c:pt>
                <c:pt idx="9">
                  <c:v>40086</c:v>
                </c:pt>
                <c:pt idx="10">
                  <c:v>40117</c:v>
                </c:pt>
                <c:pt idx="11">
                  <c:v>40147</c:v>
                </c:pt>
                <c:pt idx="12">
                  <c:v>40178</c:v>
                </c:pt>
                <c:pt idx="13">
                  <c:v>40209</c:v>
                </c:pt>
                <c:pt idx="14">
                  <c:v>40237</c:v>
                </c:pt>
                <c:pt idx="15">
                  <c:v>40268</c:v>
                </c:pt>
                <c:pt idx="16">
                  <c:v>40298</c:v>
                </c:pt>
                <c:pt idx="17">
                  <c:v>40329</c:v>
                </c:pt>
                <c:pt idx="18">
                  <c:v>40359</c:v>
                </c:pt>
                <c:pt idx="19">
                  <c:v>40390</c:v>
                </c:pt>
                <c:pt idx="20">
                  <c:v>40421</c:v>
                </c:pt>
                <c:pt idx="21">
                  <c:v>40451</c:v>
                </c:pt>
                <c:pt idx="22">
                  <c:v>40482</c:v>
                </c:pt>
                <c:pt idx="23">
                  <c:v>40512</c:v>
                </c:pt>
                <c:pt idx="24">
                  <c:v>40543</c:v>
                </c:pt>
                <c:pt idx="25">
                  <c:v>40574</c:v>
                </c:pt>
                <c:pt idx="26">
                  <c:v>40602</c:v>
                </c:pt>
                <c:pt idx="27">
                  <c:v>40633</c:v>
                </c:pt>
                <c:pt idx="28">
                  <c:v>40663</c:v>
                </c:pt>
                <c:pt idx="29">
                  <c:v>40694</c:v>
                </c:pt>
                <c:pt idx="30">
                  <c:v>40724</c:v>
                </c:pt>
                <c:pt idx="31">
                  <c:v>40755</c:v>
                </c:pt>
                <c:pt idx="32">
                  <c:v>40786</c:v>
                </c:pt>
                <c:pt idx="33">
                  <c:v>40816</c:v>
                </c:pt>
                <c:pt idx="34">
                  <c:v>40847</c:v>
                </c:pt>
                <c:pt idx="35">
                  <c:v>40877</c:v>
                </c:pt>
                <c:pt idx="36">
                  <c:v>40908</c:v>
                </c:pt>
                <c:pt idx="37">
                  <c:v>40939</c:v>
                </c:pt>
                <c:pt idx="38">
                  <c:v>40968</c:v>
                </c:pt>
                <c:pt idx="39">
                  <c:v>40999</c:v>
                </c:pt>
                <c:pt idx="40">
                  <c:v>41029</c:v>
                </c:pt>
                <c:pt idx="41">
                  <c:v>41060</c:v>
                </c:pt>
                <c:pt idx="42">
                  <c:v>41090</c:v>
                </c:pt>
                <c:pt idx="43">
                  <c:v>41121</c:v>
                </c:pt>
                <c:pt idx="44">
                  <c:v>41152</c:v>
                </c:pt>
                <c:pt idx="45">
                  <c:v>41182</c:v>
                </c:pt>
                <c:pt idx="46">
                  <c:v>41213</c:v>
                </c:pt>
                <c:pt idx="47">
                  <c:v>41243</c:v>
                </c:pt>
                <c:pt idx="48">
                  <c:v>41274</c:v>
                </c:pt>
                <c:pt idx="49">
                  <c:v>41305</c:v>
                </c:pt>
                <c:pt idx="50">
                  <c:v>41333</c:v>
                </c:pt>
                <c:pt idx="51">
                  <c:v>41364</c:v>
                </c:pt>
                <c:pt idx="52">
                  <c:v>41394</c:v>
                </c:pt>
                <c:pt idx="53">
                  <c:v>41425</c:v>
                </c:pt>
                <c:pt idx="54">
                  <c:v>41455</c:v>
                </c:pt>
                <c:pt idx="55">
                  <c:v>41486</c:v>
                </c:pt>
                <c:pt idx="56">
                  <c:v>41517</c:v>
                </c:pt>
                <c:pt idx="57">
                  <c:v>41547</c:v>
                </c:pt>
                <c:pt idx="58">
                  <c:v>41578</c:v>
                </c:pt>
                <c:pt idx="59">
                  <c:v>41608</c:v>
                </c:pt>
                <c:pt idx="60">
                  <c:v>41639</c:v>
                </c:pt>
                <c:pt idx="61">
                  <c:v>41670</c:v>
                </c:pt>
                <c:pt idx="62">
                  <c:v>41698</c:v>
                </c:pt>
                <c:pt idx="63">
                  <c:v>41729</c:v>
                </c:pt>
                <c:pt idx="64">
                  <c:v>41759</c:v>
                </c:pt>
                <c:pt idx="65">
                  <c:v>41790</c:v>
                </c:pt>
                <c:pt idx="66">
                  <c:v>41820</c:v>
                </c:pt>
                <c:pt idx="67">
                  <c:v>41851</c:v>
                </c:pt>
                <c:pt idx="68">
                  <c:v>41882</c:v>
                </c:pt>
                <c:pt idx="69">
                  <c:v>41912</c:v>
                </c:pt>
                <c:pt idx="70">
                  <c:v>41943</c:v>
                </c:pt>
                <c:pt idx="71">
                  <c:v>41973</c:v>
                </c:pt>
                <c:pt idx="72">
                  <c:v>42004</c:v>
                </c:pt>
                <c:pt idx="73">
                  <c:v>42035</c:v>
                </c:pt>
                <c:pt idx="74">
                  <c:v>42063</c:v>
                </c:pt>
                <c:pt idx="75">
                  <c:v>42094</c:v>
                </c:pt>
                <c:pt idx="76">
                  <c:v>42124</c:v>
                </c:pt>
                <c:pt idx="77">
                  <c:v>42155</c:v>
                </c:pt>
                <c:pt idx="78">
                  <c:v>42185</c:v>
                </c:pt>
                <c:pt idx="79">
                  <c:v>42216</c:v>
                </c:pt>
                <c:pt idx="80">
                  <c:v>42247</c:v>
                </c:pt>
                <c:pt idx="81">
                  <c:v>42277</c:v>
                </c:pt>
                <c:pt idx="82">
                  <c:v>42308</c:v>
                </c:pt>
                <c:pt idx="83">
                  <c:v>42338</c:v>
                </c:pt>
                <c:pt idx="84">
                  <c:v>42369</c:v>
                </c:pt>
                <c:pt idx="85">
                  <c:v>42400</c:v>
                </c:pt>
                <c:pt idx="86">
                  <c:v>42429</c:v>
                </c:pt>
                <c:pt idx="87">
                  <c:v>42460</c:v>
                </c:pt>
                <c:pt idx="88">
                  <c:v>42490</c:v>
                </c:pt>
                <c:pt idx="89">
                  <c:v>42521</c:v>
                </c:pt>
                <c:pt idx="90">
                  <c:v>42551</c:v>
                </c:pt>
                <c:pt idx="91">
                  <c:v>42582</c:v>
                </c:pt>
                <c:pt idx="92">
                  <c:v>42613</c:v>
                </c:pt>
                <c:pt idx="93">
                  <c:v>42643</c:v>
                </c:pt>
                <c:pt idx="94">
                  <c:v>42674</c:v>
                </c:pt>
                <c:pt idx="95">
                  <c:v>42704</c:v>
                </c:pt>
                <c:pt idx="96">
                  <c:v>42735</c:v>
                </c:pt>
                <c:pt idx="97">
                  <c:v>42766</c:v>
                </c:pt>
                <c:pt idx="98">
                  <c:v>42794</c:v>
                </c:pt>
                <c:pt idx="99">
                  <c:v>42825</c:v>
                </c:pt>
                <c:pt idx="100">
                  <c:v>42855</c:v>
                </c:pt>
                <c:pt idx="101">
                  <c:v>42886</c:v>
                </c:pt>
                <c:pt idx="102">
                  <c:v>42916</c:v>
                </c:pt>
                <c:pt idx="103">
                  <c:v>42947</c:v>
                </c:pt>
                <c:pt idx="104">
                  <c:v>42978</c:v>
                </c:pt>
                <c:pt idx="105">
                  <c:v>43008</c:v>
                </c:pt>
                <c:pt idx="106">
                  <c:v>43039</c:v>
                </c:pt>
                <c:pt idx="107">
                  <c:v>43069</c:v>
                </c:pt>
                <c:pt idx="108">
                  <c:v>43100</c:v>
                </c:pt>
                <c:pt idx="109">
                  <c:v>43131</c:v>
                </c:pt>
                <c:pt idx="110">
                  <c:v>43159</c:v>
                </c:pt>
                <c:pt idx="111">
                  <c:v>43190</c:v>
                </c:pt>
                <c:pt idx="112">
                  <c:v>43220</c:v>
                </c:pt>
                <c:pt idx="113">
                  <c:v>43251</c:v>
                </c:pt>
                <c:pt idx="114">
                  <c:v>43281</c:v>
                </c:pt>
                <c:pt idx="115">
                  <c:v>43312</c:v>
                </c:pt>
                <c:pt idx="116">
                  <c:v>43343</c:v>
                </c:pt>
                <c:pt idx="117">
                  <c:v>43373</c:v>
                </c:pt>
                <c:pt idx="118">
                  <c:v>43404</c:v>
                </c:pt>
                <c:pt idx="119">
                  <c:v>43434</c:v>
                </c:pt>
                <c:pt idx="120">
                  <c:v>43465</c:v>
                </c:pt>
                <c:pt idx="121">
                  <c:v>43496</c:v>
                </c:pt>
                <c:pt idx="122">
                  <c:v>43524</c:v>
                </c:pt>
                <c:pt idx="123">
                  <c:v>43555</c:v>
                </c:pt>
                <c:pt idx="124">
                  <c:v>43585</c:v>
                </c:pt>
                <c:pt idx="125">
                  <c:v>43616</c:v>
                </c:pt>
                <c:pt idx="126">
                  <c:v>43646</c:v>
                </c:pt>
                <c:pt idx="127">
                  <c:v>43677</c:v>
                </c:pt>
                <c:pt idx="128">
                  <c:v>43708</c:v>
                </c:pt>
                <c:pt idx="129">
                  <c:v>43738</c:v>
                </c:pt>
                <c:pt idx="130">
                  <c:v>43769</c:v>
                </c:pt>
                <c:pt idx="131">
                  <c:v>43799</c:v>
                </c:pt>
                <c:pt idx="132">
                  <c:v>43830</c:v>
                </c:pt>
                <c:pt idx="133">
                  <c:v>43861</c:v>
                </c:pt>
                <c:pt idx="134">
                  <c:v>43890</c:v>
                </c:pt>
                <c:pt idx="135">
                  <c:v>43921</c:v>
                </c:pt>
                <c:pt idx="136">
                  <c:v>43951</c:v>
                </c:pt>
                <c:pt idx="137">
                  <c:v>43982</c:v>
                </c:pt>
                <c:pt idx="138">
                  <c:v>44012</c:v>
                </c:pt>
                <c:pt idx="139">
                  <c:v>44043</c:v>
                </c:pt>
                <c:pt idx="140">
                  <c:v>44074</c:v>
                </c:pt>
                <c:pt idx="141">
                  <c:v>44104</c:v>
                </c:pt>
                <c:pt idx="142">
                  <c:v>44135</c:v>
                </c:pt>
                <c:pt idx="143">
                  <c:v>44165</c:v>
                </c:pt>
                <c:pt idx="144">
                  <c:v>44196</c:v>
                </c:pt>
                <c:pt idx="145">
                  <c:v>44227</c:v>
                </c:pt>
                <c:pt idx="146">
                  <c:v>44255</c:v>
                </c:pt>
                <c:pt idx="147">
                  <c:v>44286</c:v>
                </c:pt>
                <c:pt idx="148">
                  <c:v>44316</c:v>
                </c:pt>
                <c:pt idx="149">
                  <c:v>44347</c:v>
                </c:pt>
                <c:pt idx="150">
                  <c:v>44377</c:v>
                </c:pt>
                <c:pt idx="151">
                  <c:v>44408</c:v>
                </c:pt>
                <c:pt idx="152">
                  <c:v>44439</c:v>
                </c:pt>
                <c:pt idx="153">
                  <c:v>44469</c:v>
                </c:pt>
                <c:pt idx="154">
                  <c:v>44500</c:v>
                </c:pt>
                <c:pt idx="155">
                  <c:v>44530</c:v>
                </c:pt>
                <c:pt idx="156">
                  <c:v>44561</c:v>
                </c:pt>
                <c:pt idx="157">
                  <c:v>44592</c:v>
                </c:pt>
                <c:pt idx="158">
                  <c:v>44620</c:v>
                </c:pt>
                <c:pt idx="159">
                  <c:v>44651</c:v>
                </c:pt>
                <c:pt idx="160">
                  <c:v>44681</c:v>
                </c:pt>
                <c:pt idx="161">
                  <c:v>44712</c:v>
                </c:pt>
                <c:pt idx="162">
                  <c:v>44742</c:v>
                </c:pt>
                <c:pt idx="163">
                  <c:v>44773</c:v>
                </c:pt>
                <c:pt idx="164">
                  <c:v>44804</c:v>
                </c:pt>
                <c:pt idx="165">
                  <c:v>44834</c:v>
                </c:pt>
                <c:pt idx="166">
                  <c:v>44865</c:v>
                </c:pt>
                <c:pt idx="167">
                  <c:v>44895</c:v>
                </c:pt>
                <c:pt idx="168">
                  <c:v>44926</c:v>
                </c:pt>
                <c:pt idx="169">
                  <c:v>44957</c:v>
                </c:pt>
                <c:pt idx="170">
                  <c:v>44985</c:v>
                </c:pt>
                <c:pt idx="171">
                  <c:v>45016</c:v>
                </c:pt>
                <c:pt idx="172">
                  <c:v>45046</c:v>
                </c:pt>
                <c:pt idx="173">
                  <c:v>45077</c:v>
                </c:pt>
                <c:pt idx="174">
                  <c:v>45107</c:v>
                </c:pt>
                <c:pt idx="175">
                  <c:v>45138</c:v>
                </c:pt>
                <c:pt idx="176">
                  <c:v>45169</c:v>
                </c:pt>
                <c:pt idx="177">
                  <c:v>45199</c:v>
                </c:pt>
                <c:pt idx="178">
                  <c:v>45230</c:v>
                </c:pt>
                <c:pt idx="179">
                  <c:v>45260</c:v>
                </c:pt>
                <c:pt idx="180">
                  <c:v>45291</c:v>
                </c:pt>
                <c:pt idx="181">
                  <c:v>45322</c:v>
                </c:pt>
                <c:pt idx="182">
                  <c:v>45351</c:v>
                </c:pt>
                <c:pt idx="183">
                  <c:v>45382</c:v>
                </c:pt>
                <c:pt idx="184">
                  <c:v>45412</c:v>
                </c:pt>
                <c:pt idx="185">
                  <c:v>45443</c:v>
                </c:pt>
                <c:pt idx="186">
                  <c:v>45473</c:v>
                </c:pt>
                <c:pt idx="187">
                  <c:v>45504</c:v>
                </c:pt>
                <c:pt idx="188">
                  <c:v>45535</c:v>
                </c:pt>
                <c:pt idx="189">
                  <c:v>45565</c:v>
                </c:pt>
                <c:pt idx="190">
                  <c:v>45596</c:v>
                </c:pt>
                <c:pt idx="191">
                  <c:v>45626</c:v>
                </c:pt>
                <c:pt idx="192">
                  <c:v>45657</c:v>
                </c:pt>
                <c:pt idx="193" formatCode="mmm\-yy">
                  <c:v>45688</c:v>
                </c:pt>
                <c:pt idx="194" formatCode="mmm\-yy">
                  <c:v>45716</c:v>
                </c:pt>
                <c:pt idx="195" formatCode="mmm\-yy">
                  <c:v>45747</c:v>
                </c:pt>
                <c:pt idx="196" formatCode="mmm\-yy">
                  <c:v>45777</c:v>
                </c:pt>
                <c:pt idx="197" formatCode="mmm\-yy">
                  <c:v>45808</c:v>
                </c:pt>
                <c:pt idx="198" formatCode="mmm\-yy">
                  <c:v>45838</c:v>
                </c:pt>
                <c:pt idx="199" formatCode="mmm\-yy">
                  <c:v>45869</c:v>
                </c:pt>
                <c:pt idx="200" formatCode="mmm\-yy">
                  <c:v>45900</c:v>
                </c:pt>
                <c:pt idx="201" formatCode="mmm\-yy">
                  <c:v>45930</c:v>
                </c:pt>
                <c:pt idx="202" formatCode="mmm\-yy">
                  <c:v>45961</c:v>
                </c:pt>
                <c:pt idx="203" formatCode="mmm\-yy">
                  <c:v>45991</c:v>
                </c:pt>
                <c:pt idx="204" formatCode="mmm\-yy">
                  <c:v>46022</c:v>
                </c:pt>
                <c:pt idx="205" formatCode="mmm\-yy">
                  <c:v>46053</c:v>
                </c:pt>
                <c:pt idx="206" formatCode="mmm\-yy">
                  <c:v>46081</c:v>
                </c:pt>
                <c:pt idx="207" formatCode="mmm\-yy">
                  <c:v>46112</c:v>
                </c:pt>
                <c:pt idx="208" formatCode="mmm\-yy">
                  <c:v>46142</c:v>
                </c:pt>
                <c:pt idx="209" formatCode="mmm\-yy">
                  <c:v>46173</c:v>
                </c:pt>
                <c:pt idx="210" formatCode="mmm\-yy">
                  <c:v>46203</c:v>
                </c:pt>
                <c:pt idx="211" formatCode="mmm\-yy">
                  <c:v>46209</c:v>
                </c:pt>
              </c:numCache>
            </c:numRef>
          </c:cat>
          <c:val>
            <c:numRef>
              <c:f>Tabelle1!$E$2:$E$501</c:f>
              <c:numCache>
                <c:formatCode>0.00%</c:formatCode>
                <c:ptCount val="500"/>
                <c:pt idx="0">
                  <c:v>1</c:v>
                </c:pt>
                <c:pt idx="1">
                  <c:v>0.96830000000000005</c:v>
                </c:pt>
                <c:pt idx="2">
                  <c:v>0.99119999999999997</c:v>
                </c:pt>
                <c:pt idx="3">
                  <c:v>1.0079</c:v>
                </c:pt>
                <c:pt idx="4">
                  <c:v>1.0302</c:v>
                </c:pt>
                <c:pt idx="5">
                  <c:v>1.0617000000000001</c:v>
                </c:pt>
                <c:pt idx="6">
                  <c:v>1.0872999999999999</c:v>
                </c:pt>
                <c:pt idx="7">
                  <c:v>1.1025</c:v>
                </c:pt>
                <c:pt idx="8">
                  <c:v>1.1459999999999999</c:v>
                </c:pt>
                <c:pt idx="9">
                  <c:v>1.1576</c:v>
                </c:pt>
                <c:pt idx="10">
                  <c:v>1.1734</c:v>
                </c:pt>
                <c:pt idx="11">
                  <c:v>1.1850000000000001</c:v>
                </c:pt>
                <c:pt idx="12">
                  <c:v>1.1891</c:v>
                </c:pt>
                <c:pt idx="13">
                  <c:v>1.1877</c:v>
                </c:pt>
                <c:pt idx="14">
                  <c:v>1.1782999999999999</c:v>
                </c:pt>
                <c:pt idx="15">
                  <c:v>1.1877</c:v>
                </c:pt>
                <c:pt idx="16">
                  <c:v>1.2034</c:v>
                </c:pt>
                <c:pt idx="17">
                  <c:v>1.2135</c:v>
                </c:pt>
                <c:pt idx="18">
                  <c:v>1.2229000000000001</c:v>
                </c:pt>
                <c:pt idx="19">
                  <c:v>1.2212000000000001</c:v>
                </c:pt>
                <c:pt idx="20">
                  <c:v>1.2404999999999999</c:v>
                </c:pt>
                <c:pt idx="21">
                  <c:v>1.2599</c:v>
                </c:pt>
                <c:pt idx="22">
                  <c:v>1.2793000000000001</c:v>
                </c:pt>
                <c:pt idx="23">
                  <c:v>1.2987</c:v>
                </c:pt>
                <c:pt idx="24">
                  <c:v>1.2870999999999999</c:v>
                </c:pt>
                <c:pt idx="25">
                  <c:v>1.2847999999999999</c:v>
                </c:pt>
                <c:pt idx="26">
                  <c:v>1.2829999999999999</c:v>
                </c:pt>
                <c:pt idx="27">
                  <c:v>1.2847999999999999</c:v>
                </c:pt>
                <c:pt idx="28">
                  <c:v>1.3002</c:v>
                </c:pt>
                <c:pt idx="29">
                  <c:v>1.302</c:v>
                </c:pt>
                <c:pt idx="30">
                  <c:v>1.2991999999999999</c:v>
                </c:pt>
                <c:pt idx="31">
                  <c:v>1.2014</c:v>
                </c:pt>
                <c:pt idx="32">
                  <c:v>1.1611</c:v>
                </c:pt>
                <c:pt idx="33">
                  <c:v>1.2181999999999999</c:v>
                </c:pt>
                <c:pt idx="34">
                  <c:v>1.2122999999999999</c:v>
                </c:pt>
                <c:pt idx="35">
                  <c:v>1.2226999999999999</c:v>
                </c:pt>
                <c:pt idx="36">
                  <c:v>1.2519</c:v>
                </c:pt>
                <c:pt idx="37">
                  <c:v>1.2536</c:v>
                </c:pt>
                <c:pt idx="38">
                  <c:v>1.2686999999999999</c:v>
                </c:pt>
                <c:pt idx="39">
                  <c:v>1.2574000000000001</c:v>
                </c:pt>
                <c:pt idx="40">
                  <c:v>1.2422</c:v>
                </c:pt>
                <c:pt idx="41">
                  <c:v>1.2438</c:v>
                </c:pt>
                <c:pt idx="42">
                  <c:v>1.2839</c:v>
                </c:pt>
                <c:pt idx="43">
                  <c:v>1.2925</c:v>
                </c:pt>
                <c:pt idx="44">
                  <c:v>1.3105</c:v>
                </c:pt>
                <c:pt idx="45">
                  <c:v>1.3189</c:v>
                </c:pt>
                <c:pt idx="46">
                  <c:v>1.3169</c:v>
                </c:pt>
                <c:pt idx="47">
                  <c:v>1.3219000000000001</c:v>
                </c:pt>
                <c:pt idx="48">
                  <c:v>1.3221000000000001</c:v>
                </c:pt>
                <c:pt idx="49">
                  <c:v>1.3123</c:v>
                </c:pt>
                <c:pt idx="50">
                  <c:v>1.3076000000000001</c:v>
                </c:pt>
                <c:pt idx="51">
                  <c:v>1.3249</c:v>
                </c:pt>
                <c:pt idx="52">
                  <c:v>1.3411</c:v>
                </c:pt>
                <c:pt idx="53">
                  <c:v>1.2943</c:v>
                </c:pt>
                <c:pt idx="54">
                  <c:v>1.3153999999999999</c:v>
                </c:pt>
                <c:pt idx="55">
                  <c:v>1.3053999999999999</c:v>
                </c:pt>
                <c:pt idx="56">
                  <c:v>1.3176000000000001</c:v>
                </c:pt>
                <c:pt idx="57">
                  <c:v>1.3494999999999999</c:v>
                </c:pt>
                <c:pt idx="58">
                  <c:v>1.3724000000000001</c:v>
                </c:pt>
                <c:pt idx="59">
                  <c:v>1.3751</c:v>
                </c:pt>
                <c:pt idx="60">
                  <c:v>1.3494999999999999</c:v>
                </c:pt>
                <c:pt idx="61">
                  <c:v>1.3714999999999999</c:v>
                </c:pt>
                <c:pt idx="62">
                  <c:v>1.3634999999999999</c:v>
                </c:pt>
                <c:pt idx="63">
                  <c:v>1.3751</c:v>
                </c:pt>
                <c:pt idx="64">
                  <c:v>1.3987000000000001</c:v>
                </c:pt>
                <c:pt idx="65">
                  <c:v>1.4076</c:v>
                </c:pt>
                <c:pt idx="66">
                  <c:v>1.3953</c:v>
                </c:pt>
                <c:pt idx="67">
                  <c:v>1.397</c:v>
                </c:pt>
                <c:pt idx="68">
                  <c:v>1.3971</c:v>
                </c:pt>
                <c:pt idx="69">
                  <c:v>1.3929</c:v>
                </c:pt>
                <c:pt idx="70">
                  <c:v>1.4277</c:v>
                </c:pt>
                <c:pt idx="71">
                  <c:v>1.4253</c:v>
                </c:pt>
                <c:pt idx="72">
                  <c:v>1.5095000000000001</c:v>
                </c:pt>
                <c:pt idx="73">
                  <c:v>1.5611999999999999</c:v>
                </c:pt>
                <c:pt idx="74">
                  <c:v>1.6066</c:v>
                </c:pt>
                <c:pt idx="75">
                  <c:v>1.5853999999999999</c:v>
                </c:pt>
                <c:pt idx="76">
                  <c:v>1.5925</c:v>
                </c:pt>
                <c:pt idx="77">
                  <c:v>1.5310999999999999</c:v>
                </c:pt>
                <c:pt idx="78">
                  <c:v>1.5552999999999999</c:v>
                </c:pt>
                <c:pt idx="79">
                  <c:v>1.4474</c:v>
                </c:pt>
                <c:pt idx="80">
                  <c:v>1.4031</c:v>
                </c:pt>
                <c:pt idx="81">
                  <c:v>1.4853000000000001</c:v>
                </c:pt>
                <c:pt idx="82">
                  <c:v>1.5138</c:v>
                </c:pt>
                <c:pt idx="83">
                  <c:v>1.4519</c:v>
                </c:pt>
                <c:pt idx="84">
                  <c:v>1.3832</c:v>
                </c:pt>
                <c:pt idx="85">
                  <c:v>1.3599000000000001</c:v>
                </c:pt>
                <c:pt idx="86">
                  <c:v>1.3897999999999999</c:v>
                </c:pt>
                <c:pt idx="87">
                  <c:v>1.4081999999999999</c:v>
                </c:pt>
                <c:pt idx="88">
                  <c:v>1.4265000000000001</c:v>
                </c:pt>
                <c:pt idx="89">
                  <c:v>1.4108000000000001</c:v>
                </c:pt>
                <c:pt idx="90">
                  <c:v>1.4435</c:v>
                </c:pt>
                <c:pt idx="91">
                  <c:v>1.4598</c:v>
                </c:pt>
                <c:pt idx="92">
                  <c:v>1.4530000000000001</c:v>
                </c:pt>
                <c:pt idx="93">
                  <c:v>1.4618</c:v>
                </c:pt>
                <c:pt idx="94">
                  <c:v>1.4844999999999999</c:v>
                </c:pt>
                <c:pt idx="95">
                  <c:v>1.5361</c:v>
                </c:pt>
                <c:pt idx="96">
                  <c:v>1.5358000000000001</c:v>
                </c:pt>
                <c:pt idx="97">
                  <c:v>1.5678000000000001</c:v>
                </c:pt>
                <c:pt idx="98">
                  <c:v>1.5938000000000001</c:v>
                </c:pt>
                <c:pt idx="99">
                  <c:v>1.6012</c:v>
                </c:pt>
                <c:pt idx="100">
                  <c:v>1.6113</c:v>
                </c:pt>
                <c:pt idx="101">
                  <c:v>1.5861000000000001</c:v>
                </c:pt>
                <c:pt idx="102">
                  <c:v>1.5785</c:v>
                </c:pt>
                <c:pt idx="103">
                  <c:v>1.5703</c:v>
                </c:pt>
                <c:pt idx="104">
                  <c:v>1.5901000000000001</c:v>
                </c:pt>
                <c:pt idx="105">
                  <c:v>1.6382000000000001</c:v>
                </c:pt>
                <c:pt idx="106">
                  <c:v>1.6264000000000001</c:v>
                </c:pt>
                <c:pt idx="107">
                  <c:v>1.627</c:v>
                </c:pt>
                <c:pt idx="108">
                  <c:v>1.6482000000000001</c:v>
                </c:pt>
                <c:pt idx="109">
                  <c:v>1.5996999999999999</c:v>
                </c:pt>
                <c:pt idx="110">
                  <c:v>1.5588</c:v>
                </c:pt>
                <c:pt idx="111">
                  <c:v>1.5971</c:v>
                </c:pt>
                <c:pt idx="112">
                  <c:v>1.6099000000000001</c:v>
                </c:pt>
                <c:pt idx="113">
                  <c:v>1.593</c:v>
                </c:pt>
                <c:pt idx="114">
                  <c:v>1.6174999999999999</c:v>
                </c:pt>
                <c:pt idx="115">
                  <c:v>1.6133</c:v>
                </c:pt>
                <c:pt idx="116">
                  <c:v>1.615</c:v>
                </c:pt>
                <c:pt idx="117">
                  <c:v>1.5628</c:v>
                </c:pt>
                <c:pt idx="118">
                  <c:v>1.5528999999999999</c:v>
                </c:pt>
                <c:pt idx="119">
                  <c:v>1.4936</c:v>
                </c:pt>
                <c:pt idx="120">
                  <c:v>1.5782</c:v>
                </c:pt>
                <c:pt idx="121">
                  <c:v>1.5912999999999999</c:v>
                </c:pt>
                <c:pt idx="122">
                  <c:v>1.6233</c:v>
                </c:pt>
                <c:pt idx="123">
                  <c:v>1.6639999999999999</c:v>
                </c:pt>
                <c:pt idx="124">
                  <c:v>1.6273</c:v>
                </c:pt>
                <c:pt idx="125">
                  <c:v>1.6777</c:v>
                </c:pt>
                <c:pt idx="126">
                  <c:v>1.7206999999999999</c:v>
                </c:pt>
                <c:pt idx="127">
                  <c:v>1.7114</c:v>
                </c:pt>
                <c:pt idx="128">
                  <c:v>1.7099</c:v>
                </c:pt>
                <c:pt idx="129">
                  <c:v>1.708</c:v>
                </c:pt>
                <c:pt idx="130">
                  <c:v>1.734</c:v>
                </c:pt>
                <c:pt idx="131">
                  <c:v>1.7524999999999999</c:v>
                </c:pt>
                <c:pt idx="132">
                  <c:v>1.7786</c:v>
                </c:pt>
                <c:pt idx="133">
                  <c:v>1.681</c:v>
                </c:pt>
                <c:pt idx="134">
                  <c:v>1.5685</c:v>
                </c:pt>
                <c:pt idx="135">
                  <c:v>1.6986000000000001</c:v>
                </c:pt>
                <c:pt idx="136">
                  <c:v>1.7276</c:v>
                </c:pt>
                <c:pt idx="137">
                  <c:v>1.7337</c:v>
                </c:pt>
                <c:pt idx="138">
                  <c:v>1.7491000000000001</c:v>
                </c:pt>
                <c:pt idx="139">
                  <c:v>1.7809999999999999</c:v>
                </c:pt>
                <c:pt idx="140">
                  <c:v>1.7626999999999999</c:v>
                </c:pt>
                <c:pt idx="141">
                  <c:v>1.7170000000000001</c:v>
                </c:pt>
                <c:pt idx="142">
                  <c:v>1.7799</c:v>
                </c:pt>
                <c:pt idx="143">
                  <c:v>1.8019000000000001</c:v>
                </c:pt>
                <c:pt idx="144">
                  <c:v>1.8219000000000001</c:v>
                </c:pt>
                <c:pt idx="145">
                  <c:v>1.7986</c:v>
                </c:pt>
                <c:pt idx="146">
                  <c:v>1.8516999999999999</c:v>
                </c:pt>
                <c:pt idx="147">
                  <c:v>1.8944000000000001</c:v>
                </c:pt>
                <c:pt idx="148">
                  <c:v>1.9107000000000001</c:v>
                </c:pt>
                <c:pt idx="149">
                  <c:v>1.9963</c:v>
                </c:pt>
                <c:pt idx="150">
                  <c:v>2.0194999999999999</c:v>
                </c:pt>
                <c:pt idx="151">
                  <c:v>2.0565000000000002</c:v>
                </c:pt>
                <c:pt idx="152">
                  <c:v>2.0036999999999998</c:v>
                </c:pt>
                <c:pt idx="153">
                  <c:v>2.073</c:v>
                </c:pt>
                <c:pt idx="154">
                  <c:v>2.1316999999999999</c:v>
                </c:pt>
                <c:pt idx="155">
                  <c:v>2.1528</c:v>
                </c:pt>
                <c:pt idx="156">
                  <c:v>2.0286</c:v>
                </c:pt>
                <c:pt idx="157">
                  <c:v>1.9685999999999999</c:v>
                </c:pt>
                <c:pt idx="158">
                  <c:v>2.0019999999999998</c:v>
                </c:pt>
                <c:pt idx="159">
                  <c:v>1.9145000000000001</c:v>
                </c:pt>
                <c:pt idx="160">
                  <c:v>1.9041999999999999</c:v>
                </c:pt>
                <c:pt idx="161">
                  <c:v>1.8467</c:v>
                </c:pt>
                <c:pt idx="162">
                  <c:v>1.9734</c:v>
                </c:pt>
                <c:pt idx="163">
                  <c:v>1.907</c:v>
                </c:pt>
                <c:pt idx="164">
                  <c:v>1.8514999999999999</c:v>
                </c:pt>
                <c:pt idx="165">
                  <c:v>1.8917999999999999</c:v>
                </c:pt>
                <c:pt idx="166">
                  <c:v>1.9367000000000001</c:v>
                </c:pt>
                <c:pt idx="167">
                  <c:v>1.8676999999999999</c:v>
                </c:pt>
                <c:pt idx="168">
                  <c:v>1.9001999999999999</c:v>
                </c:pt>
                <c:pt idx="169">
                  <c:v>1.8619000000000001</c:v>
                </c:pt>
                <c:pt idx="170">
                  <c:v>1.8971</c:v>
                </c:pt>
                <c:pt idx="171">
                  <c:v>1.9056999999999999</c:v>
                </c:pt>
                <c:pt idx="172">
                  <c:v>1.9289000000000001</c:v>
                </c:pt>
                <c:pt idx="173">
                  <c:v>1.9519</c:v>
                </c:pt>
                <c:pt idx="174">
                  <c:v>1.9762999999999999</c:v>
                </c:pt>
                <c:pt idx="175">
                  <c:v>1.9553</c:v>
                </c:pt>
                <c:pt idx="176">
                  <c:v>1.9162999999999999</c:v>
                </c:pt>
                <c:pt idx="177">
                  <c:v>1.9156</c:v>
                </c:pt>
                <c:pt idx="178">
                  <c:v>2.0024000000000002</c:v>
                </c:pt>
                <c:pt idx="179">
                  <c:v>2.0491999999999999</c:v>
                </c:pt>
                <c:pt idx="180">
                  <c:v>2.0594999999999999</c:v>
                </c:pt>
                <c:pt idx="181">
                  <c:v>2.0512999999999999</c:v>
                </c:pt>
                <c:pt idx="182">
                  <c:v>2.0691000000000002</c:v>
                </c:pt>
                <c:pt idx="183">
                  <c:v>2.1145999999999998</c:v>
                </c:pt>
                <c:pt idx="184">
                  <c:v>2.1061999999999999</c:v>
                </c:pt>
                <c:pt idx="185">
                  <c:v>2.1461999999999999</c:v>
                </c:pt>
                <c:pt idx="186">
                  <c:v>2.1977000000000002</c:v>
                </c:pt>
                <c:pt idx="187">
                  <c:v>2.1848000000000001</c:v>
                </c:pt>
                <c:pt idx="188">
                  <c:v>2.1951000000000001</c:v>
                </c:pt>
                <c:pt idx="189">
                  <c:v>2.2208000000000001</c:v>
                </c:pt>
                <c:pt idx="190">
                  <c:v>2.2023000000000001</c:v>
                </c:pt>
                <c:pt idx="191">
                  <c:v>2.2751999999999999</c:v>
                </c:pt>
                <c:pt idx="192">
                  <c:v>2.2456</c:v>
                </c:pt>
                <c:pt idx="193">
                  <c:v>2.3073000000000001</c:v>
                </c:pt>
                <c:pt idx="194">
                  <c:v>2.294</c:v>
                </c:pt>
                <c:pt idx="195">
                  <c:v>2.2050000000000001</c:v>
                </c:pt>
                <c:pt idx="196">
                  <c:v>2.1919</c:v>
                </c:pt>
                <c:pt idx="197">
                  <c:v>2.2395</c:v>
                </c:pt>
                <c:pt idx="198">
                  <c:v>2.2467000000000001</c:v>
                </c:pt>
                <c:pt idx="199">
                  <c:v>2.2966000000000002</c:v>
                </c:pt>
                <c:pt idx="200">
                  <c:v>2.2972999999999999</c:v>
                </c:pt>
                <c:pt idx="201">
                  <c:v>2.3454999999999999</c:v>
                </c:pt>
                <c:pt idx="202" formatCode="General">
                  <c:v>2.4142000000000001</c:v>
                </c:pt>
                <c:pt idx="203" formatCode="General">
                  <c:v>2.4106000000000001</c:v>
                </c:pt>
                <c:pt idx="204" formatCode="General">
                  <c:v>2.4247999999999998</c:v>
                </c:pt>
                <c:pt idx="205" formatCode="General">
                  <c:v>2.4731000000000001</c:v>
                </c:pt>
                <c:pt idx="206" formatCode="General">
                  <c:v>2.4931999999999999</c:v>
                </c:pt>
                <c:pt idx="207" formatCode="General">
                  <c:v>2.3727</c:v>
                </c:pt>
                <c:pt idx="208" formatCode="General">
                  <c:v>2.5165000000000002</c:v>
                </c:pt>
                <c:pt idx="209" formatCode="General">
                  <c:v>2.5834000000000001</c:v>
                </c:pt>
                <c:pt idx="210" formatCode="General">
                  <c:v>2.5667</c:v>
                </c:pt>
                <c:pt idx="211" formatCode="General">
                  <c:v>2.5651000000000002</c:v>
                </c:pt>
              </c:numCache>
            </c:numRef>
          </c:val>
          <c:smooth val="0"/>
          <c:extLst>
            <c:ext xmlns:c16="http://schemas.microsoft.com/office/drawing/2014/chart" uri="{C3380CC4-5D6E-409C-BE32-E72D297353CC}">
              <c16:uniqueId val="{00000003-7398-4BAC-A985-7A3F61432C7B}"/>
            </c:ext>
          </c:extLst>
        </c:ser>
        <c:ser>
          <c:idx val="4"/>
          <c:order val="4"/>
          <c:tx>
            <c:strRef>
              <c:f>Tabelle1!$F$1</c:f>
              <c:strCache>
                <c:ptCount val="1"/>
                <c:pt idx="0">
                  <c:v>Dynamic</c:v>
                </c:pt>
              </c:strCache>
            </c:strRef>
          </c:tx>
          <c:spPr>
            <a:ln w="15875" cap="rnd">
              <a:solidFill>
                <a:schemeClr val="accent3"/>
              </a:solidFill>
              <a:round/>
            </a:ln>
            <a:effectLst/>
          </c:spPr>
          <c:marker>
            <c:symbol val="none"/>
          </c:marker>
          <c:cat>
            <c:numRef>
              <c:f>Tabelle1!$A$2:$A$501</c:f>
              <c:numCache>
                <c:formatCode>m/d/yyyy</c:formatCode>
                <c:ptCount val="500"/>
                <c:pt idx="0">
                  <c:v>39813</c:v>
                </c:pt>
                <c:pt idx="1">
                  <c:v>39844</c:v>
                </c:pt>
                <c:pt idx="2">
                  <c:v>39872</c:v>
                </c:pt>
                <c:pt idx="3">
                  <c:v>39903</c:v>
                </c:pt>
                <c:pt idx="4">
                  <c:v>39933</c:v>
                </c:pt>
                <c:pt idx="5">
                  <c:v>39964</c:v>
                </c:pt>
                <c:pt idx="6">
                  <c:v>39994</c:v>
                </c:pt>
                <c:pt idx="7">
                  <c:v>40025</c:v>
                </c:pt>
                <c:pt idx="8">
                  <c:v>40056</c:v>
                </c:pt>
                <c:pt idx="9">
                  <c:v>40086</c:v>
                </c:pt>
                <c:pt idx="10">
                  <c:v>40117</c:v>
                </c:pt>
                <c:pt idx="11">
                  <c:v>40147</c:v>
                </c:pt>
                <c:pt idx="12">
                  <c:v>40178</c:v>
                </c:pt>
                <c:pt idx="13">
                  <c:v>40209</c:v>
                </c:pt>
                <c:pt idx="14">
                  <c:v>40237</c:v>
                </c:pt>
                <c:pt idx="15">
                  <c:v>40268</c:v>
                </c:pt>
                <c:pt idx="16">
                  <c:v>40298</c:v>
                </c:pt>
                <c:pt idx="17">
                  <c:v>40329</c:v>
                </c:pt>
                <c:pt idx="18">
                  <c:v>40359</c:v>
                </c:pt>
                <c:pt idx="19">
                  <c:v>40390</c:v>
                </c:pt>
                <c:pt idx="20">
                  <c:v>40421</c:v>
                </c:pt>
                <c:pt idx="21">
                  <c:v>40451</c:v>
                </c:pt>
                <c:pt idx="22">
                  <c:v>40482</c:v>
                </c:pt>
                <c:pt idx="23">
                  <c:v>40512</c:v>
                </c:pt>
                <c:pt idx="24">
                  <c:v>40543</c:v>
                </c:pt>
                <c:pt idx="25">
                  <c:v>40574</c:v>
                </c:pt>
                <c:pt idx="26">
                  <c:v>40602</c:v>
                </c:pt>
                <c:pt idx="27">
                  <c:v>40633</c:v>
                </c:pt>
                <c:pt idx="28">
                  <c:v>40663</c:v>
                </c:pt>
                <c:pt idx="29">
                  <c:v>40694</c:v>
                </c:pt>
                <c:pt idx="30">
                  <c:v>40724</c:v>
                </c:pt>
                <c:pt idx="31">
                  <c:v>40755</c:v>
                </c:pt>
                <c:pt idx="32">
                  <c:v>40786</c:v>
                </c:pt>
                <c:pt idx="33">
                  <c:v>40816</c:v>
                </c:pt>
                <c:pt idx="34">
                  <c:v>40847</c:v>
                </c:pt>
                <c:pt idx="35">
                  <c:v>40877</c:v>
                </c:pt>
                <c:pt idx="36">
                  <c:v>40908</c:v>
                </c:pt>
                <c:pt idx="37">
                  <c:v>40939</c:v>
                </c:pt>
                <c:pt idx="38">
                  <c:v>40968</c:v>
                </c:pt>
                <c:pt idx="39">
                  <c:v>40999</c:v>
                </c:pt>
                <c:pt idx="40">
                  <c:v>41029</c:v>
                </c:pt>
                <c:pt idx="41">
                  <c:v>41060</c:v>
                </c:pt>
                <c:pt idx="42">
                  <c:v>41090</c:v>
                </c:pt>
                <c:pt idx="43">
                  <c:v>41121</c:v>
                </c:pt>
                <c:pt idx="44">
                  <c:v>41152</c:v>
                </c:pt>
                <c:pt idx="45">
                  <c:v>41182</c:v>
                </c:pt>
                <c:pt idx="46">
                  <c:v>41213</c:v>
                </c:pt>
                <c:pt idx="47">
                  <c:v>41243</c:v>
                </c:pt>
                <c:pt idx="48">
                  <c:v>41274</c:v>
                </c:pt>
                <c:pt idx="49">
                  <c:v>41305</c:v>
                </c:pt>
                <c:pt idx="50">
                  <c:v>41333</c:v>
                </c:pt>
                <c:pt idx="51">
                  <c:v>41364</c:v>
                </c:pt>
                <c:pt idx="52">
                  <c:v>41394</c:v>
                </c:pt>
                <c:pt idx="53">
                  <c:v>41425</c:v>
                </c:pt>
                <c:pt idx="54">
                  <c:v>41455</c:v>
                </c:pt>
                <c:pt idx="55">
                  <c:v>41486</c:v>
                </c:pt>
                <c:pt idx="56">
                  <c:v>41517</c:v>
                </c:pt>
                <c:pt idx="57">
                  <c:v>41547</c:v>
                </c:pt>
                <c:pt idx="58">
                  <c:v>41578</c:v>
                </c:pt>
                <c:pt idx="59">
                  <c:v>41608</c:v>
                </c:pt>
                <c:pt idx="60">
                  <c:v>41639</c:v>
                </c:pt>
                <c:pt idx="61">
                  <c:v>41670</c:v>
                </c:pt>
                <c:pt idx="62">
                  <c:v>41698</c:v>
                </c:pt>
                <c:pt idx="63">
                  <c:v>41729</c:v>
                </c:pt>
                <c:pt idx="64">
                  <c:v>41759</c:v>
                </c:pt>
                <c:pt idx="65">
                  <c:v>41790</c:v>
                </c:pt>
                <c:pt idx="66">
                  <c:v>41820</c:v>
                </c:pt>
                <c:pt idx="67">
                  <c:v>41851</c:v>
                </c:pt>
                <c:pt idx="68">
                  <c:v>41882</c:v>
                </c:pt>
                <c:pt idx="69">
                  <c:v>41912</c:v>
                </c:pt>
                <c:pt idx="70">
                  <c:v>41943</c:v>
                </c:pt>
                <c:pt idx="71">
                  <c:v>41973</c:v>
                </c:pt>
                <c:pt idx="72">
                  <c:v>42004</c:v>
                </c:pt>
                <c:pt idx="73">
                  <c:v>42035</c:v>
                </c:pt>
                <c:pt idx="74">
                  <c:v>42063</c:v>
                </c:pt>
                <c:pt idx="75">
                  <c:v>42094</c:v>
                </c:pt>
                <c:pt idx="76">
                  <c:v>42124</c:v>
                </c:pt>
                <c:pt idx="77">
                  <c:v>42155</c:v>
                </c:pt>
                <c:pt idx="78">
                  <c:v>42185</c:v>
                </c:pt>
                <c:pt idx="79">
                  <c:v>42216</c:v>
                </c:pt>
                <c:pt idx="80">
                  <c:v>42247</c:v>
                </c:pt>
                <c:pt idx="81">
                  <c:v>42277</c:v>
                </c:pt>
                <c:pt idx="82">
                  <c:v>42308</c:v>
                </c:pt>
                <c:pt idx="83">
                  <c:v>42338</c:v>
                </c:pt>
                <c:pt idx="84">
                  <c:v>42369</c:v>
                </c:pt>
                <c:pt idx="85">
                  <c:v>42400</c:v>
                </c:pt>
                <c:pt idx="86">
                  <c:v>42429</c:v>
                </c:pt>
                <c:pt idx="87">
                  <c:v>42460</c:v>
                </c:pt>
                <c:pt idx="88">
                  <c:v>42490</c:v>
                </c:pt>
                <c:pt idx="89">
                  <c:v>42521</c:v>
                </c:pt>
                <c:pt idx="90">
                  <c:v>42551</c:v>
                </c:pt>
                <c:pt idx="91">
                  <c:v>42582</c:v>
                </c:pt>
                <c:pt idx="92">
                  <c:v>42613</c:v>
                </c:pt>
                <c:pt idx="93">
                  <c:v>42643</c:v>
                </c:pt>
                <c:pt idx="94">
                  <c:v>42674</c:v>
                </c:pt>
                <c:pt idx="95">
                  <c:v>42704</c:v>
                </c:pt>
                <c:pt idx="96">
                  <c:v>42735</c:v>
                </c:pt>
                <c:pt idx="97">
                  <c:v>42766</c:v>
                </c:pt>
                <c:pt idx="98">
                  <c:v>42794</c:v>
                </c:pt>
                <c:pt idx="99">
                  <c:v>42825</c:v>
                </c:pt>
                <c:pt idx="100">
                  <c:v>42855</c:v>
                </c:pt>
                <c:pt idx="101">
                  <c:v>42886</c:v>
                </c:pt>
                <c:pt idx="102">
                  <c:v>42916</c:v>
                </c:pt>
                <c:pt idx="103">
                  <c:v>42947</c:v>
                </c:pt>
                <c:pt idx="104">
                  <c:v>42978</c:v>
                </c:pt>
                <c:pt idx="105">
                  <c:v>43008</c:v>
                </c:pt>
                <c:pt idx="106">
                  <c:v>43039</c:v>
                </c:pt>
                <c:pt idx="107">
                  <c:v>43069</c:v>
                </c:pt>
                <c:pt idx="108">
                  <c:v>43100</c:v>
                </c:pt>
                <c:pt idx="109">
                  <c:v>43131</c:v>
                </c:pt>
                <c:pt idx="110">
                  <c:v>43159</c:v>
                </c:pt>
                <c:pt idx="111">
                  <c:v>43190</c:v>
                </c:pt>
                <c:pt idx="112">
                  <c:v>43220</c:v>
                </c:pt>
                <c:pt idx="113">
                  <c:v>43251</c:v>
                </c:pt>
                <c:pt idx="114">
                  <c:v>43281</c:v>
                </c:pt>
                <c:pt idx="115">
                  <c:v>43312</c:v>
                </c:pt>
                <c:pt idx="116">
                  <c:v>43343</c:v>
                </c:pt>
                <c:pt idx="117">
                  <c:v>43373</c:v>
                </c:pt>
                <c:pt idx="118">
                  <c:v>43404</c:v>
                </c:pt>
                <c:pt idx="119">
                  <c:v>43434</c:v>
                </c:pt>
                <c:pt idx="120">
                  <c:v>43465</c:v>
                </c:pt>
                <c:pt idx="121">
                  <c:v>43496</c:v>
                </c:pt>
                <c:pt idx="122">
                  <c:v>43524</c:v>
                </c:pt>
                <c:pt idx="123">
                  <c:v>43555</c:v>
                </c:pt>
                <c:pt idx="124">
                  <c:v>43585</c:v>
                </c:pt>
                <c:pt idx="125">
                  <c:v>43616</c:v>
                </c:pt>
                <c:pt idx="126">
                  <c:v>43646</c:v>
                </c:pt>
                <c:pt idx="127">
                  <c:v>43677</c:v>
                </c:pt>
                <c:pt idx="128">
                  <c:v>43708</c:v>
                </c:pt>
                <c:pt idx="129">
                  <c:v>43738</c:v>
                </c:pt>
                <c:pt idx="130">
                  <c:v>43769</c:v>
                </c:pt>
                <c:pt idx="131">
                  <c:v>43799</c:v>
                </c:pt>
                <c:pt idx="132">
                  <c:v>43830</c:v>
                </c:pt>
                <c:pt idx="133">
                  <c:v>43861</c:v>
                </c:pt>
                <c:pt idx="134">
                  <c:v>43890</c:v>
                </c:pt>
                <c:pt idx="135">
                  <c:v>43921</c:v>
                </c:pt>
                <c:pt idx="136">
                  <c:v>43951</c:v>
                </c:pt>
                <c:pt idx="137">
                  <c:v>43982</c:v>
                </c:pt>
                <c:pt idx="138">
                  <c:v>44012</c:v>
                </c:pt>
                <c:pt idx="139">
                  <c:v>44043</c:v>
                </c:pt>
                <c:pt idx="140">
                  <c:v>44074</c:v>
                </c:pt>
                <c:pt idx="141">
                  <c:v>44104</c:v>
                </c:pt>
                <c:pt idx="142">
                  <c:v>44135</c:v>
                </c:pt>
                <c:pt idx="143">
                  <c:v>44165</c:v>
                </c:pt>
                <c:pt idx="144">
                  <c:v>44196</c:v>
                </c:pt>
                <c:pt idx="145">
                  <c:v>44227</c:v>
                </c:pt>
                <c:pt idx="146">
                  <c:v>44255</c:v>
                </c:pt>
                <c:pt idx="147">
                  <c:v>44286</c:v>
                </c:pt>
                <c:pt idx="148">
                  <c:v>44316</c:v>
                </c:pt>
                <c:pt idx="149">
                  <c:v>44347</c:v>
                </c:pt>
                <c:pt idx="150">
                  <c:v>44377</c:v>
                </c:pt>
                <c:pt idx="151">
                  <c:v>44408</c:v>
                </c:pt>
                <c:pt idx="152">
                  <c:v>44439</c:v>
                </c:pt>
                <c:pt idx="153">
                  <c:v>44469</c:v>
                </c:pt>
                <c:pt idx="154">
                  <c:v>44500</c:v>
                </c:pt>
                <c:pt idx="155">
                  <c:v>44530</c:v>
                </c:pt>
                <c:pt idx="156">
                  <c:v>44561</c:v>
                </c:pt>
                <c:pt idx="157">
                  <c:v>44592</c:v>
                </c:pt>
                <c:pt idx="158">
                  <c:v>44620</c:v>
                </c:pt>
                <c:pt idx="159">
                  <c:v>44651</c:v>
                </c:pt>
                <c:pt idx="160">
                  <c:v>44681</c:v>
                </c:pt>
                <c:pt idx="161">
                  <c:v>44712</c:v>
                </c:pt>
                <c:pt idx="162">
                  <c:v>44742</c:v>
                </c:pt>
                <c:pt idx="163">
                  <c:v>44773</c:v>
                </c:pt>
                <c:pt idx="164">
                  <c:v>44804</c:v>
                </c:pt>
                <c:pt idx="165">
                  <c:v>44834</c:v>
                </c:pt>
                <c:pt idx="166">
                  <c:v>44865</c:v>
                </c:pt>
                <c:pt idx="167">
                  <c:v>44895</c:v>
                </c:pt>
                <c:pt idx="168">
                  <c:v>44926</c:v>
                </c:pt>
                <c:pt idx="169">
                  <c:v>44957</c:v>
                </c:pt>
                <c:pt idx="170">
                  <c:v>44985</c:v>
                </c:pt>
                <c:pt idx="171">
                  <c:v>45016</c:v>
                </c:pt>
                <c:pt idx="172">
                  <c:v>45046</c:v>
                </c:pt>
                <c:pt idx="173">
                  <c:v>45077</c:v>
                </c:pt>
                <c:pt idx="174">
                  <c:v>45107</c:v>
                </c:pt>
                <c:pt idx="175">
                  <c:v>45138</c:v>
                </c:pt>
                <c:pt idx="176">
                  <c:v>45169</c:v>
                </c:pt>
                <c:pt idx="177">
                  <c:v>45199</c:v>
                </c:pt>
                <c:pt idx="178">
                  <c:v>45230</c:v>
                </c:pt>
                <c:pt idx="179">
                  <c:v>45260</c:v>
                </c:pt>
                <c:pt idx="180">
                  <c:v>45291</c:v>
                </c:pt>
                <c:pt idx="181">
                  <c:v>45322</c:v>
                </c:pt>
                <c:pt idx="182">
                  <c:v>45351</c:v>
                </c:pt>
                <c:pt idx="183">
                  <c:v>45382</c:v>
                </c:pt>
                <c:pt idx="184">
                  <c:v>45412</c:v>
                </c:pt>
                <c:pt idx="185">
                  <c:v>45443</c:v>
                </c:pt>
                <c:pt idx="186">
                  <c:v>45473</c:v>
                </c:pt>
                <c:pt idx="187">
                  <c:v>45504</c:v>
                </c:pt>
                <c:pt idx="188">
                  <c:v>45535</c:v>
                </c:pt>
                <c:pt idx="189">
                  <c:v>45565</c:v>
                </c:pt>
                <c:pt idx="190">
                  <c:v>45596</c:v>
                </c:pt>
                <c:pt idx="191">
                  <c:v>45626</c:v>
                </c:pt>
                <c:pt idx="192">
                  <c:v>45657</c:v>
                </c:pt>
                <c:pt idx="193" formatCode="mmm\-yy">
                  <c:v>45688</c:v>
                </c:pt>
                <c:pt idx="194" formatCode="mmm\-yy">
                  <c:v>45716</c:v>
                </c:pt>
                <c:pt idx="195" formatCode="mmm\-yy">
                  <c:v>45747</c:v>
                </c:pt>
                <c:pt idx="196" formatCode="mmm\-yy">
                  <c:v>45777</c:v>
                </c:pt>
                <c:pt idx="197" formatCode="mmm\-yy">
                  <c:v>45808</c:v>
                </c:pt>
                <c:pt idx="198" formatCode="mmm\-yy">
                  <c:v>45838</c:v>
                </c:pt>
                <c:pt idx="199" formatCode="mmm\-yy">
                  <c:v>45869</c:v>
                </c:pt>
                <c:pt idx="200" formatCode="mmm\-yy">
                  <c:v>45900</c:v>
                </c:pt>
                <c:pt idx="201" formatCode="mmm\-yy">
                  <c:v>45930</c:v>
                </c:pt>
                <c:pt idx="202" formatCode="mmm\-yy">
                  <c:v>45961</c:v>
                </c:pt>
                <c:pt idx="203" formatCode="mmm\-yy">
                  <c:v>45991</c:v>
                </c:pt>
                <c:pt idx="204" formatCode="mmm\-yy">
                  <c:v>46022</c:v>
                </c:pt>
                <c:pt idx="205" formatCode="mmm\-yy">
                  <c:v>46053</c:v>
                </c:pt>
                <c:pt idx="206" formatCode="mmm\-yy">
                  <c:v>46081</c:v>
                </c:pt>
                <c:pt idx="207" formatCode="mmm\-yy">
                  <c:v>46112</c:v>
                </c:pt>
                <c:pt idx="208" formatCode="mmm\-yy">
                  <c:v>46142</c:v>
                </c:pt>
                <c:pt idx="209" formatCode="mmm\-yy">
                  <c:v>46173</c:v>
                </c:pt>
                <c:pt idx="210" formatCode="mmm\-yy">
                  <c:v>46203</c:v>
                </c:pt>
                <c:pt idx="211" formatCode="mmm\-yy">
                  <c:v>46209</c:v>
                </c:pt>
              </c:numCache>
            </c:numRef>
          </c:cat>
          <c:val>
            <c:numRef>
              <c:f>Tabelle1!$F$2:$F$501</c:f>
              <c:numCache>
                <c:formatCode>General</c:formatCode>
                <c:ptCount val="500"/>
                <c:pt idx="120" formatCode="0.00%">
                  <c:v>1</c:v>
                </c:pt>
                <c:pt idx="121" formatCode="0.00%">
                  <c:v>1.0754999999999999</c:v>
                </c:pt>
                <c:pt idx="122" formatCode="0.00%">
                  <c:v>1.1015999999999999</c:v>
                </c:pt>
                <c:pt idx="123" formatCode="0.00%">
                  <c:v>1.1376999999999999</c:v>
                </c:pt>
                <c:pt idx="124" formatCode="0.00%">
                  <c:v>1.1734</c:v>
                </c:pt>
                <c:pt idx="125" formatCode="0.00%">
                  <c:v>1.1153999999999999</c:v>
                </c:pt>
                <c:pt idx="126" formatCode="0.00%">
                  <c:v>1.1789000000000001</c:v>
                </c:pt>
                <c:pt idx="127" formatCode="0.00%">
                  <c:v>1.1906000000000001</c:v>
                </c:pt>
                <c:pt idx="128" formatCode="0.00%">
                  <c:v>1.1785000000000001</c:v>
                </c:pt>
                <c:pt idx="129" formatCode="0.00%">
                  <c:v>1.1992</c:v>
                </c:pt>
                <c:pt idx="130" formatCode="0.00%">
                  <c:v>1.1922999999999999</c:v>
                </c:pt>
                <c:pt idx="131" formatCode="0.00%">
                  <c:v>1.2379</c:v>
                </c:pt>
                <c:pt idx="132" formatCode="0.00%">
                  <c:v>1.2477</c:v>
                </c:pt>
                <c:pt idx="133" formatCode="0.00%">
                  <c:v>1.2641</c:v>
                </c:pt>
                <c:pt idx="134" formatCode="0.00%">
                  <c:v>1.1615</c:v>
                </c:pt>
                <c:pt idx="135" formatCode="0.00%">
                  <c:v>1.0648</c:v>
                </c:pt>
                <c:pt idx="136" formatCode="0.00%">
                  <c:v>1.1134999999999999</c:v>
                </c:pt>
                <c:pt idx="137" formatCode="0.00%">
                  <c:v>1.18</c:v>
                </c:pt>
                <c:pt idx="138" formatCode="0.00%">
                  <c:v>1.2069000000000001</c:v>
                </c:pt>
                <c:pt idx="139" formatCode="0.00%">
                  <c:v>1.2314000000000001</c:v>
                </c:pt>
                <c:pt idx="140" formatCode="0.00%">
                  <c:v>1.3086</c:v>
                </c:pt>
                <c:pt idx="141" formatCode="0.00%">
                  <c:v>1.3111999999999999</c:v>
                </c:pt>
                <c:pt idx="142" formatCode="0.00%">
                  <c:v>1.2618</c:v>
                </c:pt>
                <c:pt idx="143" formatCode="0.00%">
                  <c:v>1.3373999999999999</c:v>
                </c:pt>
                <c:pt idx="144" formatCode="0.00%">
                  <c:v>1.3524</c:v>
                </c:pt>
                <c:pt idx="145" formatCode="0.00%">
                  <c:v>1.3685</c:v>
                </c:pt>
                <c:pt idx="146" formatCode="0.00%">
                  <c:v>1.3779999999999999</c:v>
                </c:pt>
                <c:pt idx="147" formatCode="0.00%">
                  <c:v>1.4545999999999999</c:v>
                </c:pt>
                <c:pt idx="148" formatCode="0.00%">
                  <c:v>1.5141</c:v>
                </c:pt>
                <c:pt idx="149" formatCode="0.00%">
                  <c:v>1.5407999999999999</c:v>
                </c:pt>
                <c:pt idx="150" formatCode="0.00%">
                  <c:v>1.6368</c:v>
                </c:pt>
                <c:pt idx="151" formatCode="0.00%">
                  <c:v>1.6644000000000001</c:v>
                </c:pt>
                <c:pt idx="152" formatCode="0.00%">
                  <c:v>1.7098</c:v>
                </c:pt>
                <c:pt idx="153" formatCode="0.00%">
                  <c:v>1.6383000000000001</c:v>
                </c:pt>
                <c:pt idx="154" formatCode="0.00%">
                  <c:v>1.7101</c:v>
                </c:pt>
                <c:pt idx="155" formatCode="0.00%">
                  <c:v>1.7241</c:v>
                </c:pt>
                <c:pt idx="156" formatCode="0.00%">
                  <c:v>1.7771999999999999</c:v>
                </c:pt>
                <c:pt idx="157" formatCode="0.00%">
                  <c:v>1.6405000000000001</c:v>
                </c:pt>
                <c:pt idx="158" formatCode="0.00%">
                  <c:v>1.5457000000000001</c:v>
                </c:pt>
                <c:pt idx="159" formatCode="0.00%">
                  <c:v>1.5611999999999999</c:v>
                </c:pt>
                <c:pt idx="160" formatCode="0.00%">
                  <c:v>1.4901</c:v>
                </c:pt>
                <c:pt idx="161" formatCode="0.00%">
                  <c:v>1.4906999999999999</c:v>
                </c:pt>
                <c:pt idx="162" formatCode="0.00%">
                  <c:v>1.3971</c:v>
                </c:pt>
                <c:pt idx="163" formatCode="0.00%">
                  <c:v>1.5238</c:v>
                </c:pt>
                <c:pt idx="164" formatCode="0.00%">
                  <c:v>1.4682999999999999</c:v>
                </c:pt>
                <c:pt idx="165" formatCode="0.00%">
                  <c:v>1.365</c:v>
                </c:pt>
                <c:pt idx="166" formatCode="0.00%">
                  <c:v>1.4685999999999999</c:v>
                </c:pt>
                <c:pt idx="167" formatCode="0.00%">
                  <c:v>1.5051000000000001</c:v>
                </c:pt>
                <c:pt idx="168" formatCode="0.00%">
                  <c:v>1.4333</c:v>
                </c:pt>
                <c:pt idx="169" formatCode="0.00%">
                  <c:v>1.4886999999999999</c:v>
                </c:pt>
                <c:pt idx="170" formatCode="0.00%">
                  <c:v>1.504</c:v>
                </c:pt>
                <c:pt idx="171" formatCode="0.00%">
                  <c:v>1.5318000000000001</c:v>
                </c:pt>
                <c:pt idx="172" formatCode="0.00%">
                  <c:v>1.5306999999999999</c:v>
                </c:pt>
                <c:pt idx="173" formatCode="0.00%">
                  <c:v>1.5295000000000001</c:v>
                </c:pt>
                <c:pt idx="174" formatCode="0.00%">
                  <c:v>1.5863</c:v>
                </c:pt>
                <c:pt idx="175" formatCode="0.00%">
                  <c:v>1.5886</c:v>
                </c:pt>
                <c:pt idx="176" formatCode="0.00%">
                  <c:v>1.5629</c:v>
                </c:pt>
                <c:pt idx="177" formatCode="0.00%">
                  <c:v>1.5274000000000001</c:v>
                </c:pt>
                <c:pt idx="178" formatCode="0.00%">
                  <c:v>1.4953000000000001</c:v>
                </c:pt>
                <c:pt idx="179" formatCode="0.00%">
                  <c:v>1.5896999999999999</c:v>
                </c:pt>
                <c:pt idx="180" formatCode="0.00%">
                  <c:v>1.6328</c:v>
                </c:pt>
                <c:pt idx="181" formatCode="0.00%">
                  <c:v>1.659</c:v>
                </c:pt>
                <c:pt idx="182" formatCode="0.00%">
                  <c:v>1.7327999999999999</c:v>
                </c:pt>
                <c:pt idx="183" formatCode="0.00%">
                  <c:v>1.7767999999999999</c:v>
                </c:pt>
                <c:pt idx="184" formatCode="0.00%">
                  <c:v>1.7121</c:v>
                </c:pt>
                <c:pt idx="185" formatCode="0.00%">
                  <c:v>1.7637</c:v>
                </c:pt>
                <c:pt idx="186" formatCode="0.00%">
                  <c:v>1.794</c:v>
                </c:pt>
                <c:pt idx="187" formatCode="0.00%">
                  <c:v>1.76</c:v>
                </c:pt>
                <c:pt idx="188" formatCode="0.00%">
                  <c:v>1.782</c:v>
                </c:pt>
                <c:pt idx="189" formatCode="0.00%">
                  <c:v>1.7658</c:v>
                </c:pt>
                <c:pt idx="190" formatCode="0.00%">
                  <c:v>1.7423</c:v>
                </c:pt>
                <c:pt idx="191" formatCode="0.00%">
                  <c:v>1.8247</c:v>
                </c:pt>
                <c:pt idx="192" formatCode="0.00%">
                  <c:v>1.8077000000000001</c:v>
                </c:pt>
                <c:pt idx="193" formatCode="0.00%">
                  <c:v>1.8959999999999999</c:v>
                </c:pt>
                <c:pt idx="194" formatCode="0.00%">
                  <c:v>1.9783999999999999</c:v>
                </c:pt>
                <c:pt idx="195" formatCode="0.00%">
                  <c:v>1.8616999999999999</c:v>
                </c:pt>
                <c:pt idx="196" formatCode="0.00%">
                  <c:v>1.8602000000000001</c:v>
                </c:pt>
                <c:pt idx="197" formatCode="0.00%">
                  <c:v>1.964</c:v>
                </c:pt>
                <c:pt idx="198" formatCode="0.00%">
                  <c:v>1.9636</c:v>
                </c:pt>
                <c:pt idx="199" formatCode="0.00%">
                  <c:v>1.9558</c:v>
                </c:pt>
                <c:pt idx="200" formatCode="0.00%">
                  <c:v>1.9296</c:v>
                </c:pt>
                <c:pt idx="201" formatCode="0.00%">
                  <c:v>1.9568000000000001</c:v>
                </c:pt>
                <c:pt idx="202">
                  <c:v>1.958</c:v>
                </c:pt>
                <c:pt idx="203">
                  <c:v>1.9607000000000001</c:v>
                </c:pt>
                <c:pt idx="204">
                  <c:v>1.9601</c:v>
                </c:pt>
                <c:pt idx="205" formatCode="0.0000000">
                  <c:v>1.9523999999999999</c:v>
                </c:pt>
                <c:pt idx="206" formatCode="0.0000000">
                  <c:v>1.9973000000000001</c:v>
                </c:pt>
                <c:pt idx="207" formatCode="0.0000000">
                  <c:v>1.88</c:v>
                </c:pt>
                <c:pt idx="208" formatCode="0.0000000">
                  <c:v>1.9560999999999999</c:v>
                </c:pt>
                <c:pt idx="209" formatCode="0.0000000">
                  <c:v>1.9925999999999999</c:v>
                </c:pt>
                <c:pt idx="210" formatCode="0.0000000">
                  <c:v>2.0146999999999999</c:v>
                </c:pt>
                <c:pt idx="211" formatCode="0.0000000">
                  <c:v>2.0047999999999999</c:v>
                </c:pt>
              </c:numCache>
            </c:numRef>
          </c:val>
          <c:smooth val="0"/>
          <c:extLst>
            <c:ext xmlns:c16="http://schemas.microsoft.com/office/drawing/2014/chart" uri="{C3380CC4-5D6E-409C-BE32-E72D297353CC}">
              <c16:uniqueId val="{00000004-7398-4BAC-A985-7A3F61432C7B}"/>
            </c:ext>
          </c:extLst>
        </c:ser>
        <c:dLbls>
          <c:showLegendKey val="0"/>
          <c:showVal val="0"/>
          <c:showCatName val="0"/>
          <c:showSerName val="0"/>
          <c:showPercent val="0"/>
          <c:showBubbleSize val="0"/>
        </c:dLbls>
        <c:smooth val="0"/>
        <c:axId val="2127099951"/>
        <c:axId val="2089003439"/>
      </c:lineChart>
      <c:dateAx>
        <c:axId val="2127099951"/>
        <c:scaling>
          <c:orientation val="minMax"/>
          <c:max val="46387"/>
          <c:min val="39813"/>
        </c:scaling>
        <c:delete val="0"/>
        <c:axPos val="b"/>
        <c:majorGridlines>
          <c:spPr>
            <a:ln w="3175" cap="flat" cmpd="sng" algn="ctr">
              <a:noFill/>
              <a:round/>
            </a:ln>
            <a:effectLst/>
          </c:spPr>
        </c:majorGridlines>
        <c:numFmt formatCode="mmm/yy" sourceLinked="0"/>
        <c:majorTickMark val="none"/>
        <c:minorTickMark val="none"/>
        <c:tickLblPos val="nextTo"/>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2089003439"/>
        <c:crosses val="autoZero"/>
        <c:auto val="1"/>
        <c:lblOffset val="100"/>
        <c:baseTimeUnit val="months"/>
        <c:majorUnit val="12"/>
        <c:majorTimeUnit val="months"/>
      </c:dateAx>
      <c:valAx>
        <c:axId val="2089003439"/>
        <c:scaling>
          <c:orientation val="minMax"/>
          <c:max val="2.8"/>
          <c:min val="0.70000000000000007"/>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w="3175">
            <a:solidFill>
              <a:schemeClr val="bg1">
                <a:lumMod val="65000"/>
              </a:schemeClr>
            </a:solid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2127099951"/>
        <c:crosses val="autoZero"/>
        <c:crossBetween val="between"/>
        <c:majorUnit val="0.1"/>
      </c:valAx>
      <c:spPr>
        <a:noFill/>
        <a:ln>
          <a:noFill/>
        </a:ln>
        <a:effectLst/>
      </c:spPr>
    </c:plotArea>
    <c:legend>
      <c:legendPos val="r"/>
      <c:layout>
        <c:manualLayout>
          <c:xMode val="edge"/>
          <c:yMode val="edge"/>
          <c:x val="5.599719169500169E-2"/>
          <c:y val="0.10059541992050901"/>
          <c:w val="9.6323221556303185E-2"/>
          <c:h val="0.21361190770119715"/>
        </c:manualLayout>
      </c:layout>
      <c:overlay val="1"/>
      <c:spPr>
        <a:solidFill>
          <a:schemeClr val="bg1"/>
        </a:solid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9.4822364711042416E-4"/>
          <c:y val="0.10514786418400876"/>
        </c:manualLayout>
      </c:layout>
      <c:overlay val="0"/>
      <c:spPr>
        <a:noFill/>
        <a:ln>
          <a:noFill/>
        </a:ln>
        <a:effectLst/>
      </c:spPr>
      <c:txPr>
        <a:bodyPr rot="0" spcFirstLastPara="1" vertOverflow="ellipsis" vert="horz" wrap="square" anchor="ctr" anchorCtr="1"/>
        <a:lstStyle/>
        <a:p>
          <a:pPr algn="l">
            <a:defRPr sz="600" b="0" i="0" u="none" strike="noStrike" kern="1200" spc="0" baseline="0">
              <a:solidFill>
                <a:schemeClr val="bg2"/>
              </a:solidFill>
              <a:latin typeface="+mn-lt"/>
              <a:ea typeface="+mn-ea"/>
              <a:cs typeface="+mn-cs"/>
            </a:defRPr>
          </a:pPr>
          <a:endParaRPr lang="de-DE"/>
        </a:p>
      </c:txPr>
    </c:title>
    <c:autoTitleDeleted val="0"/>
    <c:plotArea>
      <c:layout>
        <c:manualLayout>
          <c:layoutTarget val="inner"/>
          <c:xMode val="edge"/>
          <c:yMode val="edge"/>
          <c:x val="0"/>
          <c:y val="0.10591473984700434"/>
          <c:w val="1"/>
          <c:h val="0.79791118662193516"/>
        </c:manualLayout>
      </c:layout>
      <c:barChart>
        <c:barDir val="col"/>
        <c:grouping val="clustered"/>
        <c:varyColors val="0"/>
        <c:ser>
          <c:idx val="0"/>
          <c:order val="0"/>
          <c:tx>
            <c:strRef>
              <c:f>Tabelle1!$B$1</c:f>
              <c:strCache>
                <c:ptCount val="1"/>
                <c:pt idx="0">
                  <c:v>Jährliches Wachstum in Mio. EUR</c:v>
                </c:pt>
              </c:strCache>
            </c:strRef>
          </c:tx>
          <c:spPr>
            <a:solidFill>
              <a:schemeClr val="accent3"/>
            </a:solidFill>
            <a:ln>
              <a:noFill/>
            </a:ln>
            <a:effectLst/>
          </c:spPr>
          <c:invertIfNegative val="0"/>
          <c:dLbls>
            <c:numFmt formatCode="#,##0" sourceLinked="0"/>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Tabelle1!$A$2:$A$14</c:f>
              <c:numCache>
                <c:formatCode>General</c:formatCode>
                <c:ptCount val="13"/>
                <c:pt idx="0">
                  <c:v>2013</c:v>
                </c:pt>
                <c:pt idx="1">
                  <c:v>2014</c:v>
                </c:pt>
                <c:pt idx="2">
                  <c:v>2015</c:v>
                </c:pt>
                <c:pt idx="3">
                  <c:v>2016</c:v>
                </c:pt>
                <c:pt idx="4">
                  <c:v>2017</c:v>
                </c:pt>
                <c:pt idx="5">
                  <c:v>2018</c:v>
                </c:pt>
                <c:pt idx="6">
                  <c:v>2019</c:v>
                </c:pt>
                <c:pt idx="7">
                  <c:v>2020</c:v>
                </c:pt>
                <c:pt idx="8">
                  <c:v>2021</c:v>
                </c:pt>
                <c:pt idx="9">
                  <c:v>2022</c:v>
                </c:pt>
                <c:pt idx="10">
                  <c:v>2023</c:v>
                </c:pt>
                <c:pt idx="11">
                  <c:v>2024</c:v>
                </c:pt>
                <c:pt idx="12">
                  <c:v>2025</c:v>
                </c:pt>
              </c:numCache>
            </c:numRef>
          </c:cat>
          <c:val>
            <c:numRef>
              <c:f>Tabelle1!$B$2:$B$14</c:f>
              <c:numCache>
                <c:formatCode>General</c:formatCode>
                <c:ptCount val="13"/>
                <c:pt idx="0">
                  <c:v>3318</c:v>
                </c:pt>
                <c:pt idx="1">
                  <c:v>3677</c:v>
                </c:pt>
                <c:pt idx="2">
                  <c:v>3942</c:v>
                </c:pt>
                <c:pt idx="3">
                  <c:v>4266</c:v>
                </c:pt>
                <c:pt idx="4">
                  <c:v>4692</c:v>
                </c:pt>
                <c:pt idx="5">
                  <c:v>4444</c:v>
                </c:pt>
                <c:pt idx="6">
                  <c:v>4963</c:v>
                </c:pt>
                <c:pt idx="7">
                  <c:v>5246</c:v>
                </c:pt>
                <c:pt idx="8">
                  <c:v>6626</c:v>
                </c:pt>
                <c:pt idx="9">
                  <c:v>5789</c:v>
                </c:pt>
                <c:pt idx="10">
                  <c:v>6204</c:v>
                </c:pt>
                <c:pt idx="11">
                  <c:v>6780</c:v>
                </c:pt>
                <c:pt idx="12">
                  <c:v>7358</c:v>
                </c:pt>
              </c:numCache>
            </c:numRef>
          </c:val>
          <c:extLst>
            <c:ext xmlns:c16="http://schemas.microsoft.com/office/drawing/2014/chart" uri="{C3380CC4-5D6E-409C-BE32-E72D297353CC}">
              <c16:uniqueId val="{00000000-FCED-41A9-920E-B9B1600F4171}"/>
            </c:ext>
          </c:extLst>
        </c:ser>
        <c:dLbls>
          <c:dLblPos val="outEnd"/>
          <c:showLegendKey val="0"/>
          <c:showVal val="1"/>
          <c:showCatName val="0"/>
          <c:showSerName val="0"/>
          <c:showPercent val="0"/>
          <c:showBubbleSize val="0"/>
        </c:dLbls>
        <c:gapWidth val="219"/>
        <c:overlap val="-27"/>
        <c:axId val="1339092176"/>
        <c:axId val="1561065551"/>
      </c:barChart>
      <c:catAx>
        <c:axId val="1339092176"/>
        <c:scaling>
          <c:orientation val="minMax"/>
        </c:scaling>
        <c:delete val="0"/>
        <c:axPos val="b"/>
        <c:numFmt formatCode="General" sourceLinked="1"/>
        <c:majorTickMark val="none"/>
        <c:minorTickMark val="none"/>
        <c:tickLblPos val="nextTo"/>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561065551"/>
        <c:crosses val="autoZero"/>
        <c:auto val="1"/>
        <c:lblAlgn val="ctr"/>
        <c:lblOffset val="100"/>
        <c:noMultiLvlLbl val="0"/>
      </c:catAx>
      <c:valAx>
        <c:axId val="1561065551"/>
        <c:scaling>
          <c:orientation val="minMax"/>
        </c:scaling>
        <c:delete val="1"/>
        <c:axPos val="l"/>
        <c:majorGridlines>
          <c:spPr>
            <a:ln w="3175" cap="flat" cmpd="sng" algn="ctr">
              <a:solidFill>
                <a:schemeClr val="bg1">
                  <a:lumMod val="65000"/>
                </a:schemeClr>
              </a:solidFill>
              <a:round/>
            </a:ln>
            <a:effectLst/>
          </c:spPr>
        </c:majorGridlines>
        <c:numFmt formatCode="General" sourceLinked="1"/>
        <c:majorTickMark val="out"/>
        <c:minorTickMark val="none"/>
        <c:tickLblPos val="nextTo"/>
        <c:crossAx val="1339092176"/>
        <c:crosses val="autoZero"/>
        <c:crossBetween val="between"/>
        <c:majorUnit val="5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0.42396</cdr:x>
      <cdr:y>0.92383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24784" y="261966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06.07.2026</a:t>
          </a:fld>
          <a:endParaRPr lang="de-DE" sz="600" b="0">
            <a:solidFill>
              <a:schemeClr val="bg1">
                <a:lumMod val="50000"/>
              </a:schemeClr>
            </a:solidFill>
          </a:endParaRPr>
        </a:p>
      </cdr:txBody>
    </cdr:sp>
  </cdr:relSizeAnchor>
  <cdr:relSizeAnchor xmlns:cdr="http://schemas.openxmlformats.org/drawingml/2006/chartDrawing">
    <cdr:from>
      <cdr:x>0</cdr:x>
      <cdr:y>0.00534</cdr:y>
    </cdr:from>
    <cdr:to>
      <cdr:x>0.99737</cdr:x>
      <cdr:y>0.07503</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16555"/>
          <a:ext cx="3955285"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AKTUELLE STRUKTUR</a:t>
          </a:r>
        </a:p>
      </cdr:txBody>
    </cdr:sp>
  </cdr:relSizeAnchor>
</c:userShapes>
</file>

<file path=ppt/drawings/drawing2.xml><?xml version="1.0" encoding="utf-8"?>
<c:userShapes xmlns:c="http://schemas.openxmlformats.org/drawingml/2006/chart">
  <cdr:relSizeAnchor xmlns:cdr="http://schemas.openxmlformats.org/drawingml/2006/chartDrawing">
    <cdr:from>
      <cdr:x>0.00175</cdr:x>
      <cdr:y>0</cdr:y>
    </cdr:from>
    <cdr:to>
      <cdr:x>0.99912</cdr:x>
      <cdr:y>0.06971</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6940" y="0"/>
          <a:ext cx="3955500"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AKTUELLE STRUKTUR</a:t>
          </a:r>
        </a:p>
      </cdr:txBody>
    </cdr:sp>
  </cdr:relSizeAnchor>
  <cdr:relSizeAnchor xmlns:cdr="http://schemas.openxmlformats.org/drawingml/2006/chartDrawing">
    <cdr:from>
      <cdr:x>0.42302</cdr:x>
      <cdr:y>0.9239</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19704" y="262220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06.07.2026</a:t>
          </a:fld>
          <a:endParaRPr lang="de-DE" sz="600" b="0">
            <a:solidFill>
              <a:schemeClr val="bg1">
                <a:lumMod val="50000"/>
              </a:schemeClr>
            </a:solidFill>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0.00175</cdr:x>
      <cdr:y>0</cdr:y>
    </cdr:from>
    <cdr:to>
      <cdr:x>0.99912</cdr:x>
      <cdr:y>0.06971</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6940" y="0"/>
          <a:ext cx="3955500"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AKTUELLE STRUKTUR</a:t>
          </a:r>
        </a:p>
      </cdr:txBody>
    </cdr:sp>
  </cdr:relSizeAnchor>
  <cdr:relSizeAnchor xmlns:cdr="http://schemas.openxmlformats.org/drawingml/2006/chartDrawing">
    <cdr:from>
      <cdr:x>0.42064</cdr:x>
      <cdr:y>0.9239</cdr:y>
    </cdr:from>
    <cdr:to>
      <cdr:x>0.99737</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12284" y="2629645"/>
          <a:ext cx="1799216"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06.07.2026</a:t>
          </a:fld>
          <a:endParaRPr lang="de-DE" sz="600" b="0">
            <a:solidFill>
              <a:schemeClr val="bg1">
                <a:lumMod val="50000"/>
              </a:schemeClr>
            </a:solidFill>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0.00175</cdr:x>
      <cdr:y>0</cdr:y>
    </cdr:from>
    <cdr:to>
      <cdr:x>0.99912</cdr:x>
      <cdr:y>0.06968</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6940" y="0"/>
          <a:ext cx="3955500"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AKTUELLE STRUKTUR</a:t>
          </a:r>
        </a:p>
      </cdr:txBody>
    </cdr:sp>
  </cdr:relSizeAnchor>
  <cdr:relSizeAnchor xmlns:cdr="http://schemas.openxmlformats.org/drawingml/2006/chartDrawing">
    <cdr:from>
      <cdr:x>0.41889</cdr:x>
      <cdr:y>0.9239</cdr:y>
    </cdr:from>
    <cdr:to>
      <cdr:x>0.99564</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07352" y="262220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06.07.2026</a:t>
          </a:fld>
          <a:endParaRPr lang="de-DE" sz="600" b="0">
            <a:solidFill>
              <a:schemeClr val="bg1">
                <a:lumMod val="50000"/>
              </a:schemeClr>
            </a:solidFill>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0.00175</cdr:x>
      <cdr:y>0</cdr:y>
    </cdr:from>
    <cdr:to>
      <cdr:x>0.99912</cdr:x>
      <cdr:y>0.06971</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6940" y="0"/>
          <a:ext cx="3955500"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AKTUELLE STRUKTUR</a:t>
          </a:r>
        </a:p>
      </cdr:txBody>
    </cdr:sp>
  </cdr:relSizeAnchor>
  <cdr:relSizeAnchor xmlns:cdr="http://schemas.openxmlformats.org/drawingml/2006/chartDrawing">
    <cdr:from>
      <cdr:x>0.42326</cdr:x>
      <cdr:y>0.9239</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20974" y="262220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06.07.2026</a:t>
          </a:fld>
          <a:endParaRPr lang="de-DE" sz="600" b="0">
            <a:solidFill>
              <a:schemeClr val="bg1">
                <a:lumMod val="50000"/>
              </a:schemeClr>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cdr:x>
      <cdr:y>0</cdr:y>
    </cdr:from>
    <cdr:to>
      <cdr:x>1</cdr:x>
      <cdr:y>0.07884</cdr:y>
    </cdr:to>
    <cdr:sp macro="" textlink="">
      <cdr:nvSpPr>
        <cdr:cNvPr id="2" name="Textfeld 1">
          <a:extLst xmlns:a="http://schemas.openxmlformats.org/drawingml/2006/main">
            <a:ext uri="{FF2B5EF4-FFF2-40B4-BE49-F238E27FC236}">
              <a16:creationId xmlns:a16="http://schemas.microsoft.com/office/drawing/2014/main" id="{5124338B-8963-446A-4106-0A96A0A882CC}"/>
            </a:ext>
          </a:extLst>
        </cdr:cNvPr>
        <cdr:cNvSpPr txBox="1"/>
      </cdr:nvSpPr>
      <cdr:spPr>
        <a:xfrm xmlns:a="http://schemas.openxmlformats.org/drawingml/2006/main">
          <a:off x="0" y="0"/>
          <a:ext cx="4787900" cy="228536"/>
        </a:xfrm>
        <a:prstGeom xmlns:a="http://schemas.openxmlformats.org/drawingml/2006/main" prst="rect">
          <a:avLst/>
        </a:prstGeom>
        <a:solidFill xmlns:a="http://schemas.openxmlformats.org/drawingml/2006/main">
          <a:schemeClr val="accent1"/>
        </a:solidFill>
        <a:ln xmlns:a="http://schemas.openxmlformats.org/drawingml/2006/main">
          <a:noFill/>
        </a:ln>
      </cdr:spPr>
      <cdr:txBody>
        <a:bodyPr xmlns:a="http://schemas.openxmlformats.org/drawingml/2006/main" vertOverflow="clip" wrap="square" lIns="0" tIns="0" rIns="0" bIns="0" rtlCol="0" anchor="ctr" anchorCtr="1"/>
        <a:lstStyle xmlns:a="http://schemas.openxmlformats.org/drawingml/2006/main"/>
        <a:p xmlns:a="http://schemas.openxmlformats.org/drawingml/2006/main">
          <a:r>
            <a:rPr lang="de-DE" sz="900" b="1" cap="all" baseline="0" dirty="0">
              <a:solidFill>
                <a:schemeClr val="bg1"/>
              </a:solidFill>
            </a:rPr>
            <a:t>ASSETS UNDER CONTROL DEZEMBER 2024 (OHNE INSTITUTIONELLES GESCHÄFT)</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7CD71-7110-4B19-8EA5-90FE5CA1B0D6}" type="datetimeFigureOut">
              <a:rPr lang="de-DE" smtClean="0"/>
              <a:t>06.07.2026</a:t>
            </a:fld>
            <a:endParaRPr lang="de-DE"/>
          </a:p>
        </p:txBody>
      </p:sp>
      <p:sp>
        <p:nvSpPr>
          <p:cNvPr id="4" name="Folienbildplatzhalter 3"/>
          <p:cNvSpPr>
            <a:spLocks noGrp="1" noRot="1" noChangeAspect="1"/>
          </p:cNvSpPr>
          <p:nvPr>
            <p:ph type="sldImg" idx="2"/>
          </p:nvPr>
        </p:nvSpPr>
        <p:spPr>
          <a:xfrm>
            <a:off x="1009650" y="1143000"/>
            <a:ext cx="4838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90148-D400-40F3-B43F-3D48F1E65470}" type="slidenum">
              <a:rPr lang="de-DE" smtClean="0"/>
              <a:t>‹Nr.›</a:t>
            </a:fld>
            <a:endParaRPr lang="de-DE"/>
          </a:p>
        </p:txBody>
      </p:sp>
    </p:spTree>
    <p:extLst>
      <p:ext uri="{BB962C8B-B14F-4D97-AF65-F5344CB8AC3E}">
        <p14:creationId xmlns:p14="http://schemas.microsoft.com/office/powerpoint/2010/main" val="252931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1882"/>
            <a:ext cx="82867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lvl1pPr marL="0" indent="0" algn="l">
              <a:buNone/>
              <a:defRPr sz="1400" b="0" cap="all" baseline="0">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1400"/>
            <a:ext cx="6626225" cy="931775"/>
          </a:xfrm>
        </p:spPr>
        <p:txBody>
          <a:bodyPr tIns="0" anchor="t" anchorCtr="0"/>
          <a:lstStyle>
            <a:lvl1pPr algn="l">
              <a:lnSpc>
                <a:spcPts val="3450"/>
              </a:lnSpc>
              <a:defRPr sz="2770"/>
            </a:lvl1pPr>
          </a:lstStyle>
          <a:p>
            <a:r>
              <a:rPr lang="de-DE" dirty="0"/>
              <a:t>Mastertitelformat bearbeiten</a:t>
            </a:r>
          </a:p>
        </p:txBody>
      </p:sp>
    </p:spTree>
    <p:extLst>
      <p:ext uri="{BB962C8B-B14F-4D97-AF65-F5344CB8AC3E}">
        <p14:creationId xmlns:p14="http://schemas.microsoft.com/office/powerpoint/2010/main" val="1802536731"/>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ltsverzeichnis">
    <p:bg>
      <p:bgPr>
        <a:solidFill>
          <a:schemeClr val="bg1"/>
        </a:solidFill>
        <a:effectLst/>
      </p:bgPr>
    </p:bg>
    <p:spTree>
      <p:nvGrpSpPr>
        <p:cNvPr id="1" name=""/>
        <p:cNvGrpSpPr/>
        <p:nvPr/>
      </p:nvGrpSpPr>
      <p:grpSpPr>
        <a:xfrm>
          <a:off x="0" y="0"/>
          <a:ext cx="0" cy="0"/>
          <a:chOff x="0" y="0"/>
          <a:chExt cx="0" cy="0"/>
        </a:xfrm>
      </p:grpSpPr>
      <p:pic>
        <p:nvPicPr>
          <p:cNvPr id="8" name="Bild" descr="Ein Bild, das Kunst, Bild, Braun, draußen enthält.&#10;&#10;Automatisch generierte Beschreibung">
            <a:extLst>
              <a:ext uri="{FF2B5EF4-FFF2-40B4-BE49-F238E27FC236}">
                <a16:creationId xmlns:a16="http://schemas.microsoft.com/office/drawing/2014/main" id="{9264BB79-86C2-7714-48D1-D0D8AA044F3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0439400" cy="2882900"/>
          </a:xfrm>
          <a:custGeom>
            <a:avLst/>
            <a:gdLst>
              <a:gd name="connsiteX0" fmla="*/ 0 w 10439400"/>
              <a:gd name="connsiteY0" fmla="*/ 0 h 2882900"/>
              <a:gd name="connsiteX1" fmla="*/ 10439400 w 10439400"/>
              <a:gd name="connsiteY1" fmla="*/ 0 h 2882900"/>
              <a:gd name="connsiteX2" fmla="*/ 10439400 w 10439400"/>
              <a:gd name="connsiteY2" fmla="*/ 2882900 h 2882900"/>
              <a:gd name="connsiteX3" fmla="*/ 10439399 w 10439400"/>
              <a:gd name="connsiteY3" fmla="*/ 2882900 h 2882900"/>
              <a:gd name="connsiteX4" fmla="*/ 10439399 w 10439400"/>
              <a:gd name="connsiteY4" fmla="*/ 1354710 h 2882900"/>
              <a:gd name="connsiteX5" fmla="*/ 1511298 w 10439400"/>
              <a:gd name="connsiteY5" fmla="*/ 1354710 h 2882900"/>
              <a:gd name="connsiteX6" fmla="*/ 1511298 w 10439400"/>
              <a:gd name="connsiteY6" fmla="*/ 2882900 h 2882900"/>
              <a:gd name="connsiteX7" fmla="*/ 0 w 10439400"/>
              <a:gd name="connsiteY7" fmla="*/ 2882900 h 288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39400" h="2882900">
                <a:moveTo>
                  <a:pt x="0" y="0"/>
                </a:moveTo>
                <a:lnTo>
                  <a:pt x="10439400" y="0"/>
                </a:lnTo>
                <a:lnTo>
                  <a:pt x="10439400" y="2882900"/>
                </a:lnTo>
                <a:lnTo>
                  <a:pt x="10439399" y="2882900"/>
                </a:lnTo>
                <a:lnTo>
                  <a:pt x="10439399" y="1354710"/>
                </a:lnTo>
                <a:lnTo>
                  <a:pt x="1511298" y="1354710"/>
                </a:lnTo>
                <a:lnTo>
                  <a:pt x="1511298" y="2882900"/>
                </a:lnTo>
                <a:lnTo>
                  <a:pt x="0" y="2882900"/>
                </a:lnTo>
                <a:close/>
              </a:path>
            </a:pathLst>
          </a:cu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2147233"/>
            <a:ext cx="7272338" cy="3685241"/>
          </a:xfrm>
        </p:spPr>
        <p:txBody>
          <a:bodyPr/>
          <a:lstStyle>
            <a:lvl1pPr>
              <a:spcBef>
                <a:spcPts val="0"/>
              </a:spcBef>
              <a:spcAft>
                <a:spcPts val="900"/>
              </a:spcAft>
              <a:tabLst>
                <a:tab pos="7264400" algn="r"/>
              </a:tabLst>
              <a:defRPr sz="13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2016000" y="1620000"/>
            <a:ext cx="7272337" cy="360000"/>
          </a:xfrm>
        </p:spPr>
        <p:txBody>
          <a:bodyPr/>
          <a:lstStyle/>
          <a:p>
            <a:r>
              <a:rPr lang="de-DE" dirty="0"/>
              <a:t>Mastertitelformat bearbeiten</a:t>
            </a:r>
          </a:p>
        </p:txBody>
      </p:sp>
    </p:spTree>
    <p:extLst>
      <p:ext uri="{BB962C8B-B14F-4D97-AF65-F5344CB8AC3E}">
        <p14:creationId xmlns:p14="http://schemas.microsoft.com/office/powerpoint/2010/main" val="3623430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ild links Inhalt 1">
    <p:bg>
      <p:bgPr>
        <a:solidFill>
          <a:schemeClr val="bg1"/>
        </a:solidFill>
        <a:effectLst/>
      </p:bgPr>
    </p:bg>
    <p:spTree>
      <p:nvGrpSpPr>
        <p:cNvPr id="1" name=""/>
        <p:cNvGrpSpPr/>
        <p:nvPr/>
      </p:nvGrpSpPr>
      <p:grpSpPr>
        <a:xfrm>
          <a:off x="0" y="0"/>
          <a:ext cx="0" cy="0"/>
          <a:chOff x="0" y="0"/>
          <a:chExt cx="0" cy="0"/>
        </a:xfrm>
      </p:grpSpPr>
      <p:pic>
        <p:nvPicPr>
          <p:cNvPr id="5" name="Grafik 4" descr="Ein Bild, das Kleidung, Person, Schuhwerk, Mann enthält.&#10;&#10;Automatisch generierte Beschreibung">
            <a:extLst>
              <a:ext uri="{FF2B5EF4-FFF2-40B4-BE49-F238E27FC236}">
                <a16:creationId xmlns:a16="http://schemas.microsoft.com/office/drawing/2014/main" id="{A6D42F99-B026-35AD-FBC7-BE938A526564}"/>
              </a:ext>
            </a:extLst>
          </p:cNvPr>
          <p:cNvPicPr>
            <a:picLocks noChangeAspect="1"/>
          </p:cNvPicPr>
          <p:nvPr userDrawn="1"/>
        </p:nvPicPr>
        <p:blipFill>
          <a:blip r:embed="rId2">
            <a:extLst>
              <a:ext uri="{28A0092B-C50C-407E-A947-70E740481C1C}">
                <a14:useLocalDpi xmlns:a14="http://schemas.microsoft.com/office/drawing/2010/main" val="0"/>
              </a:ext>
            </a:extLst>
          </a:blip>
          <a:srcRect r="7411"/>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4462 h 6659563"/>
              <a:gd name="connsiteX3" fmla="*/ 4498975 w 5631108"/>
              <a:gd name="connsiteY3" fmla="*/ 584462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4462"/>
                </a:lnTo>
                <a:lnTo>
                  <a:pt x="4498975" y="584462"/>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88992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1">
    <p:bg>
      <p:bgPr>
        <a:solidFill>
          <a:schemeClr val="bg1"/>
        </a:solidFill>
        <a:effectLst/>
      </p:bgPr>
    </p:bg>
    <p:spTree>
      <p:nvGrpSpPr>
        <p:cNvPr id="1" name=""/>
        <p:cNvGrpSpPr/>
        <p:nvPr/>
      </p:nvGrpSpPr>
      <p:grpSpPr>
        <a:xfrm>
          <a:off x="0" y="0"/>
          <a:ext cx="0" cy="0"/>
          <a:chOff x="0" y="0"/>
          <a:chExt cx="0" cy="0"/>
        </a:xfrm>
      </p:grpSpPr>
      <p:pic>
        <p:nvPicPr>
          <p:cNvPr id="9" name="Bild" descr="Ein Bild, das hölzern, Metall, Hartholz, Holz enthält.&#10;&#10;Automatisch generierte Beschreibung">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4808292" y="0"/>
            <a:ext cx="5631108"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495396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ild links Inhalt 2">
    <p:bg>
      <p:bgPr>
        <a:solidFill>
          <a:schemeClr val="bg1"/>
        </a:solidFill>
        <a:effectLst/>
      </p:bgPr>
    </p:bg>
    <p:spTree>
      <p:nvGrpSpPr>
        <p:cNvPr id="1" name=""/>
        <p:cNvGrpSpPr/>
        <p:nvPr/>
      </p:nvGrpSpPr>
      <p:grpSpPr>
        <a:xfrm>
          <a:off x="0" y="0"/>
          <a:ext cx="0" cy="0"/>
          <a:chOff x="0" y="0"/>
          <a:chExt cx="0" cy="0"/>
        </a:xfrm>
      </p:grpSpPr>
      <p:pic>
        <p:nvPicPr>
          <p:cNvPr id="8" name="Bild" descr="Ein Bild, das Person, Kleidung, Menschliches Gesicht, Im Haus enthält.&#10;&#10;Automatisch generierte Beschreibung">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4224448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2">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54622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links Inhalt 3">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5631107"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0404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3">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7"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68741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ld links Inhalt 4">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Linie unten">
            <a:extLst>
              <a:ext uri="{FF2B5EF4-FFF2-40B4-BE49-F238E27FC236}">
                <a16:creationId xmlns:a16="http://schemas.microsoft.com/office/drawing/2014/main" id="{551D5771-5F33-1B94-F572-1D3F5C78F789}"/>
              </a:ext>
            </a:extLst>
          </p:cNvPr>
          <p:cNvCxnSpPr>
            <a:cxnSpLocks noGrp="1" noRot="1" noMove="1" noResize="1" noEditPoints="1" noAdjustHandles="1" noChangeArrowheads="1" noChangeShapeType="1"/>
          </p:cNvCxnSpPr>
          <p:nvPr userDrawn="1"/>
        </p:nvCxnSpPr>
        <p:spPr>
          <a:xfrm>
            <a:off x="5327650" y="4289818"/>
            <a:ext cx="478789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2">
            <a:extLst>
              <a:ext uri="{FF2B5EF4-FFF2-40B4-BE49-F238E27FC236}">
                <a16:creationId xmlns:a16="http://schemas.microsoft.com/office/drawing/2014/main" id="{2334F1FD-34A0-6C6F-61E6-A156D657FC55}"/>
              </a:ext>
            </a:extLst>
          </p:cNvPr>
          <p:cNvSpPr>
            <a:spLocks noGrp="1" noRot="1" noMove="1" noResize="1" noEditPoints="1" noAdjustHandles="1" noChangeArrowheads="1" noChangeShapeType="1"/>
          </p:cNvSpPr>
          <p:nvPr>
            <p:ph sz="quarter" idx="13"/>
          </p:nvPr>
        </p:nvSpPr>
        <p:spPr>
          <a:xfrm>
            <a:off x="5327650" y="4759325"/>
            <a:ext cx="4787900" cy="1304925"/>
          </a:xfrm>
        </p:spPr>
        <p:txBody>
          <a:bodyPr/>
          <a:lstStyle>
            <a:lvl2pPr>
              <a:tabLst>
                <a:tab pos="1798638" algn="l"/>
              </a:tabLs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9"/>
            <a:ext cx="4787900" cy="2878180"/>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42874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 links Inhalt 5">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676400"/>
            <a:ext cx="3960813" cy="4156076"/>
          </a:xfrm>
        </p:spPr>
        <p:txBody>
          <a:bodyPr/>
          <a:lstStyle>
            <a:lvl1pPr>
              <a:spcBef>
                <a:spcPts val="16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583680"/>
          </a:xfrm>
        </p:spPr>
        <p:txBody>
          <a:bodyPr/>
          <a:lstStyle/>
          <a:p>
            <a:r>
              <a:rPr lang="de-DE" dirty="0"/>
              <a:t>Mastertitelformat bearbeiten</a:t>
            </a:r>
          </a:p>
        </p:txBody>
      </p:sp>
    </p:spTree>
    <p:extLst>
      <p:ext uri="{BB962C8B-B14F-4D97-AF65-F5344CB8AC3E}">
        <p14:creationId xmlns:p14="http://schemas.microsoft.com/office/powerpoint/2010/main" val="3892848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5">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6"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b="0">
                <a:solidFill>
                  <a:schemeClr val="tx1"/>
                </a:solidFill>
                <a:latin typeface="+mn-lt"/>
              </a:defRPr>
            </a:lvl1pPr>
            <a:lvl2pPr>
              <a:lnSpc>
                <a:spcPts val="1900"/>
              </a:lnSpc>
              <a:spcBef>
                <a:spcPts val="1800"/>
              </a:spcBef>
              <a:defRPr sz="1500" b="1">
                <a:solidFill>
                  <a:schemeClr val="accent3"/>
                </a:solidFill>
                <a:latin typeface="+mj-l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772826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1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9756775"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358364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6443662"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lvl3pPr marL="108000" indent="-108000">
              <a:buFontTx/>
              <a:buBlip>
                <a:blip r:embed="rId2"/>
              </a:buBlip>
              <a:defRPr/>
            </a:lvl3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90328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3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 3">
            <a:extLst>
              <a:ext uri="{FF2B5EF4-FFF2-40B4-BE49-F238E27FC236}">
                <a16:creationId xmlns:a16="http://schemas.microsoft.com/office/drawing/2014/main" id="{9506A371-2FE5-4393-8549-089825558FB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440000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inks Inhalt">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1" name="Linie unten">
            <a:extLst>
              <a:ext uri="{FF2B5EF4-FFF2-40B4-BE49-F238E27FC236}">
                <a16:creationId xmlns:a16="http://schemas.microsoft.com/office/drawing/2014/main" id="{B5CA13E5-1FAD-76FC-E7DE-8A3F9AF9CBBD}"/>
              </a:ext>
            </a:extLst>
          </p:cNvPr>
          <p:cNvCxnSpPr>
            <a:cxnSpLocks noGrp="1" noRot="1" noMove="1" noResize="1" noEditPoints="1" noAdjustHandles="1" noChangeArrowheads="1" noChangeShapeType="1"/>
          </p:cNvCxnSpPr>
          <p:nvPr userDrawn="1"/>
        </p:nvCxnSpPr>
        <p:spPr>
          <a:xfrm>
            <a:off x="3671888" y="4706378"/>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Linie oben">
            <a:extLst>
              <a:ext uri="{FF2B5EF4-FFF2-40B4-BE49-F238E27FC236}">
                <a16:creationId xmlns:a16="http://schemas.microsoft.com/office/drawing/2014/main" id="{2491C51B-9AD5-C5E7-D799-FB1EF1A23302}"/>
              </a:ext>
            </a:extLst>
          </p:cNvPr>
          <p:cNvCxnSpPr>
            <a:cxnSpLocks noGrp="1" noRot="1" noMove="1" noResize="1" noEditPoints="1" noAdjustHandles="1" noChangeArrowheads="1" noChangeShapeType="1"/>
          </p:cNvCxnSpPr>
          <p:nvPr userDrawn="1"/>
        </p:nvCxnSpPr>
        <p:spPr>
          <a:xfrm>
            <a:off x="3671888" y="1041400"/>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671888" y="1041401"/>
            <a:ext cx="6443661" cy="365601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
            <a:extLst>
              <a:ext uri="{FF2B5EF4-FFF2-40B4-BE49-F238E27FC236}">
                <a16:creationId xmlns:a16="http://schemas.microsoft.com/office/drawing/2014/main" id="{860E9E8B-F7A7-A548-BBFA-F5137E763ED8}"/>
              </a:ext>
            </a:extLst>
          </p:cNvPr>
          <p:cNvSpPr>
            <a:spLocks noGrp="1" noRot="1" noMove="1" noResize="1" noEditPoints="1" noAdjustHandles="1" noChangeArrowheads="1" noChangeShapeType="1"/>
          </p:cNvSpPr>
          <p:nvPr>
            <p:ph type="body" sz="quarter" idx="13"/>
          </p:nvPr>
        </p:nvSpPr>
        <p:spPr>
          <a:xfrm>
            <a:off x="358775" y="1041400"/>
            <a:ext cx="3132138" cy="3656013"/>
          </a:xfrm>
        </p:spPr>
        <p:txBody>
          <a:bodyPr/>
          <a:lstStyle>
            <a:lvl1pPr marL="144000" indent="-144000">
              <a:buFontTx/>
              <a:buBlip>
                <a:blip r:embed="rId2"/>
              </a:buBlip>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874320146"/>
      </p:ext>
    </p:extLst>
  </p:cSld>
  <p:clrMapOvr>
    <a:masterClrMapping/>
  </p:clrMapOvr>
  <p:extLst>
    <p:ext uri="{DCECCB84-F9BA-43D5-87BE-67443E8EF086}">
      <p15:sldGuideLst xmlns:p15="http://schemas.microsoft.com/office/powerpoint/2012/main">
        <p15:guide id="1" orient="horz" pos="2959"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4504801" y="5832475"/>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832475"/>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abelle">
            <a:extLst>
              <a:ext uri="{FF2B5EF4-FFF2-40B4-BE49-F238E27FC236}">
                <a16:creationId xmlns:a16="http://schemas.microsoft.com/office/drawing/2014/main" id="{9E812005-7793-D92F-6E15-643D1E827060}"/>
              </a:ext>
            </a:extLst>
          </p:cNvPr>
          <p:cNvSpPr>
            <a:spLocks noGrp="1" noRot="1" noMove="1" noResize="1" noEditPoints="1" noAdjustHandles="1" noChangeArrowheads="1" noChangeShapeType="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9112825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2837470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lagrstrategie schmal">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60C15E9-224A-AC2C-0CDE-881556E09104}"/>
              </a:ext>
            </a:extLst>
          </p:cNvPr>
          <p:cNvSpPr>
            <a:spLocks noGrp="1"/>
          </p:cNvSpPr>
          <p:nvPr>
            <p:ph idx="1"/>
          </p:nvPr>
        </p:nvSpPr>
        <p:spPr>
          <a:xfrm>
            <a:off x="358775" y="1041401"/>
            <a:ext cx="2305050"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sp>
        <p:nvSpPr>
          <p:cNvPr id="8" name="Tabellenplatzhalter 7">
            <a:extLst>
              <a:ext uri="{FF2B5EF4-FFF2-40B4-BE49-F238E27FC236}">
                <a16:creationId xmlns:a16="http://schemas.microsoft.com/office/drawing/2014/main" id="{9E812005-7793-D92F-6E15-643D1E827060}"/>
              </a:ext>
            </a:extLst>
          </p:cNvPr>
          <p:cNvSpPr>
            <a:spLocks noGrp="1"/>
          </p:cNvSpPr>
          <p:nvPr>
            <p:ph type="tbl" sz="quarter" idx="13"/>
          </p:nvPr>
        </p:nvSpPr>
        <p:spPr>
          <a:xfrm>
            <a:off x="2843212" y="1041400"/>
            <a:ext cx="3132137" cy="1419225"/>
          </a:xfrm>
        </p:spPr>
        <p:txBody>
          <a:bodyPr/>
          <a:lstStyle>
            <a:lvl1pPr>
              <a:defRPr sz="900"/>
            </a:lvl1pPr>
          </a:lstStyle>
          <a:p>
            <a:endParaRPr lang="de-DE" dirty="0"/>
          </a:p>
        </p:txBody>
      </p:sp>
      <p:cxnSp>
        <p:nvCxnSpPr>
          <p:cNvPr id="9" name="Gerader Verbinder 8">
            <a:extLst>
              <a:ext uri="{FF2B5EF4-FFF2-40B4-BE49-F238E27FC236}">
                <a16:creationId xmlns:a16="http://schemas.microsoft.com/office/drawing/2014/main" id="{6389BD36-56F5-8350-55A9-F82383A5CD68}"/>
              </a:ext>
            </a:extLst>
          </p:cNvPr>
          <p:cNvCxnSpPr>
            <a:cxnSpLocks/>
          </p:cNvCxnSpPr>
          <p:nvPr userDrawn="1"/>
        </p:nvCxnSpPr>
        <p:spPr>
          <a:xfrm>
            <a:off x="2843212" y="5832475"/>
            <a:ext cx="313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24B2DBBF-D7FF-5445-B224-D356DA219899}"/>
              </a:ext>
            </a:extLst>
          </p:cNvPr>
          <p:cNvCxnSpPr>
            <a:cxnSpLocks/>
          </p:cNvCxnSpPr>
          <p:nvPr userDrawn="1"/>
        </p:nvCxnSpPr>
        <p:spPr>
          <a:xfrm>
            <a:off x="6156325" y="5832475"/>
            <a:ext cx="395922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4313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11859439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DD6015A-9BBE-CDE6-A152-9855AC75DFB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Tree>
    <p:extLst>
      <p:ext uri="{BB962C8B-B14F-4D97-AF65-F5344CB8AC3E}">
        <p14:creationId xmlns:p14="http://schemas.microsoft.com/office/powerpoint/2010/main" val="41347713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nsprechpartner">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3" name="Linie rechts">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rechts">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9" name="Name rechts">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68839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688398"/>
            <a:ext cx="3132138" cy="225425"/>
          </a:xfrm>
        </p:spPr>
        <p:txBody>
          <a:bodyPr/>
          <a:lstStyle/>
          <a:p>
            <a:pPr lvl="0"/>
            <a:r>
              <a:rPr lang="de-DE" dirty="0"/>
              <a:t>Mastertextformat bearbeiten</a:t>
            </a:r>
          </a:p>
        </p:txBody>
      </p:sp>
      <p:sp>
        <p:nvSpPr>
          <p:cNvPr id="6" name="Bild rechts">
            <a:extLst>
              <a:ext uri="{FF2B5EF4-FFF2-40B4-BE49-F238E27FC236}">
                <a16:creationId xmlns:a16="http://schemas.microsoft.com/office/drawing/2014/main" id="{E021AD21-0793-2C29-9088-4167DE0263DC}"/>
              </a:ext>
            </a:extLst>
          </p:cNvPr>
          <p:cNvSpPr>
            <a:spLocks noGrp="1" noRot="1" noMove="1" noResize="1" noEditPoints="1" noAdjustHandles="1" noChangeArrowheads="1" noChangeShapeType="1"/>
          </p:cNvSpPr>
          <p:nvPr>
            <p:ph type="pic" sz="quarter" idx="14"/>
          </p:nvPr>
        </p:nvSpPr>
        <p:spPr>
          <a:xfrm>
            <a:off x="3671888" y="1646238"/>
            <a:ext cx="3132138" cy="1792287"/>
          </a:xfr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358775" y="1646238"/>
            <a:ext cx="3132138" cy="1792287"/>
          </a:xfrm>
        </p:spPr>
        <p:txBody>
          <a:bodyPr/>
          <a:lstStyle/>
          <a:p>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a:xfrm>
            <a:off x="358775" y="324000"/>
            <a:ext cx="5616575" cy="685800"/>
          </a:xfrm>
        </p:spPr>
        <p:txBody>
          <a:bodyPr/>
          <a:lstStyle/>
          <a:p>
            <a:r>
              <a:rPr lang="de-DE" dirty="0"/>
              <a:t>Mastertitelformat bearbeiten</a:t>
            </a:r>
          </a:p>
        </p:txBody>
      </p:sp>
    </p:spTree>
    <p:extLst>
      <p:ext uri="{BB962C8B-B14F-4D97-AF65-F5344CB8AC3E}">
        <p14:creationId xmlns:p14="http://schemas.microsoft.com/office/powerpoint/2010/main" val="514979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orte">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2" name="Linie rechts">
            <a:extLst>
              <a:ext uri="{FF2B5EF4-FFF2-40B4-BE49-F238E27FC236}">
                <a16:creationId xmlns:a16="http://schemas.microsoft.com/office/drawing/2014/main" id="{9578FC62-C673-CCCF-BE41-330AA9A6E201}"/>
              </a:ext>
            </a:extLst>
          </p:cNvPr>
          <p:cNvCxnSpPr>
            <a:cxnSpLocks noGrp="1" noRot="1" noMove="1" noResize="1" noEditPoints="1" noAdjustHandles="1" noChangeArrowheads="1" noChangeShapeType="1"/>
          </p:cNvCxnSpPr>
          <p:nvPr userDrawn="1"/>
        </p:nvCxnSpPr>
        <p:spPr>
          <a:xfrm>
            <a:off x="6976437"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Linie mitte">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rechts">
            <a:extLst>
              <a:ext uri="{FF2B5EF4-FFF2-40B4-BE49-F238E27FC236}">
                <a16:creationId xmlns:a16="http://schemas.microsoft.com/office/drawing/2014/main" id="{4888ADCE-7FA3-531D-D5E7-E9A8A00D5834}"/>
              </a:ext>
            </a:extLst>
          </p:cNvPr>
          <p:cNvSpPr>
            <a:spLocks noGrp="1" noRot="1" noMove="1" noResize="1" noEditPoints="1" noAdjustHandles="1" noChangeArrowheads="1" noChangeShapeType="1"/>
          </p:cNvSpPr>
          <p:nvPr>
            <p:ph type="body" sz="quarter" idx="21"/>
          </p:nvPr>
        </p:nvSpPr>
        <p:spPr>
          <a:xfrm>
            <a:off x="6976436"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5" name="Text mitte">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7" name="Name rechts">
            <a:extLst>
              <a:ext uri="{FF2B5EF4-FFF2-40B4-BE49-F238E27FC236}">
                <a16:creationId xmlns:a16="http://schemas.microsoft.com/office/drawing/2014/main" id="{CB48EDFE-72D8-1DDE-9F47-0C88F0D1F64F}"/>
              </a:ext>
            </a:extLst>
          </p:cNvPr>
          <p:cNvSpPr>
            <a:spLocks noGrp="1" noRot="1" noMove="1" noResize="1" noEditPoints="1" noAdjustHandles="1" noChangeArrowheads="1" noChangeShapeType="1"/>
          </p:cNvSpPr>
          <p:nvPr>
            <p:ph type="body" sz="quarter" idx="22"/>
          </p:nvPr>
        </p:nvSpPr>
        <p:spPr>
          <a:xfrm>
            <a:off x="6976436" y="3490278"/>
            <a:ext cx="3132138" cy="225425"/>
          </a:xfrm>
        </p:spPr>
        <p:txBody>
          <a:bodyPr/>
          <a:lstStyle/>
          <a:p>
            <a:pPr lvl="0"/>
            <a:r>
              <a:rPr lang="de-DE" dirty="0"/>
              <a:t>Mastertextformat bearbeiten</a:t>
            </a:r>
          </a:p>
        </p:txBody>
      </p:sp>
      <p:sp>
        <p:nvSpPr>
          <p:cNvPr id="9" name="Name mitte">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49027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490278"/>
            <a:ext cx="3132138" cy="225425"/>
          </a:xfrm>
        </p:spPr>
        <p:txBody>
          <a:bodyPr/>
          <a:lstStyle/>
          <a:p>
            <a:pPr lvl="0"/>
            <a:r>
              <a:rPr lang="de-DE" dirty="0"/>
              <a:t>Mastertextformat bearbeiten</a:t>
            </a:r>
          </a:p>
        </p:txBody>
      </p:sp>
      <p:sp>
        <p:nvSpPr>
          <p:cNvPr id="10" name="Bild rechts">
            <a:extLst>
              <a:ext uri="{FF2B5EF4-FFF2-40B4-BE49-F238E27FC236}">
                <a16:creationId xmlns:a16="http://schemas.microsoft.com/office/drawing/2014/main" id="{4BA8BEE0-583F-4067-18E1-4041C7CBE94E}"/>
              </a:ext>
            </a:extLst>
          </p:cNvPr>
          <p:cNvSpPr>
            <a:spLocks noGrp="1" noRot="1" noMove="1" noResize="1" noEditPoints="1" noAdjustHandles="1" noChangeArrowheads="1" noChangeShapeType="1"/>
          </p:cNvSpPr>
          <p:nvPr>
            <p:ph type="pic" sz="quarter" idx="20"/>
          </p:nvPr>
        </p:nvSpPr>
        <p:spPr>
          <a:xfrm>
            <a:off x="6886505" y="1564477"/>
            <a:ext cx="1656000" cy="1656000"/>
          </a:xfrm>
          <a:prstGeom prst="ellipse">
            <a:avLst/>
          </a:prstGeom>
        </p:spPr>
        <p:txBody>
          <a:bodyPr/>
          <a:lstStyle/>
          <a:p>
            <a:endParaRPr lang="de-DE" dirty="0"/>
          </a:p>
        </p:txBody>
      </p:sp>
      <p:sp>
        <p:nvSpPr>
          <p:cNvPr id="7" name="Bild mitte">
            <a:extLst>
              <a:ext uri="{FF2B5EF4-FFF2-40B4-BE49-F238E27FC236}">
                <a16:creationId xmlns:a16="http://schemas.microsoft.com/office/drawing/2014/main" id="{EEB43F9A-30D9-8B0B-CCD4-657C0E474967}"/>
              </a:ext>
            </a:extLst>
          </p:cNvPr>
          <p:cNvSpPr>
            <a:spLocks noGrp="1" noRot="1" noMove="1" noResize="1" noEditPoints="1" noAdjustHandles="1" noChangeArrowheads="1" noChangeShapeType="1"/>
          </p:cNvSpPr>
          <p:nvPr>
            <p:ph type="pic" sz="quarter" idx="19"/>
          </p:nvPr>
        </p:nvSpPr>
        <p:spPr>
          <a:xfrm>
            <a:off x="3590493" y="1564477"/>
            <a:ext cx="1656000" cy="1656000"/>
          </a:xfrm>
          <a:prstGeom prst="ellipse">
            <a:avLst/>
          </a:prstGeo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294481" y="1564477"/>
            <a:ext cx="1656000" cy="1656000"/>
          </a:xfrm>
          <a:prstGeom prst="ellipse">
            <a:avLst/>
          </a:prstGeom>
        </p:spPr>
        <p:txBody>
          <a:bodyPr/>
          <a:lstStyle/>
          <a:p>
            <a:endParaRPr lang="de-DE"/>
          </a:p>
        </p:txBody>
      </p:sp>
      <p:sp>
        <p:nvSpPr>
          <p:cNvPr id="3" name="Titel">
            <a:extLst>
              <a:ext uri="{FF2B5EF4-FFF2-40B4-BE49-F238E27FC236}">
                <a16:creationId xmlns:a16="http://schemas.microsoft.com/office/drawing/2014/main" id="{EFDA7145-AF61-F28D-FFDF-3C770ED41015}"/>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33030153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End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4133280"/>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4386233"/>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3486031"/>
            <a:ext cx="6626225" cy="49814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275979079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pressum">
    <p:bg>
      <p:bgPr>
        <a:solidFill>
          <a:schemeClr val="bg1"/>
        </a:solidFill>
        <a:effectLst/>
      </p:bgPr>
    </p:bg>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EDAEF2B9-72B9-AC0D-2D72-82D271794187}"/>
              </a:ext>
            </a:extLst>
          </p:cNvPr>
          <p:cNvSpPr>
            <a:spLocks noGrp="1" noRot="1" noMove="1" noResize="1" noEditPoints="1" noAdjustHandles="1" noChangeArrowheads="1" noChangeShapeType="1"/>
          </p:cNvSpPr>
          <p:nvPr>
            <p:ph type="dt" sz="half" idx="11"/>
          </p:nvPr>
        </p:nvSpPr>
        <p:spPr>
          <a:xfrm>
            <a:off x="6137275" y="5800454"/>
            <a:ext cx="2340000" cy="108000"/>
          </a:xfrm>
          <a:prstGeom prst="rect">
            <a:avLst/>
          </a:prstGeom>
        </p:spPr>
        <p:txBody>
          <a:bodyPr/>
          <a:lstStyle/>
          <a:p>
            <a:r>
              <a:rPr lang="de-DE" dirty="0"/>
              <a:t>Stand. </a:t>
            </a:r>
            <a:fld id="{D2EEA022-D032-4EEB-B3BB-451FF23CBEEB}" type="datetimeFigureOut">
              <a:rPr lang="de-DE" smtClean="0"/>
              <a:pPr/>
              <a:t>06.07.2026</a:t>
            </a:fld>
            <a:endParaRPr lang="de-DE" dirty="0"/>
          </a:p>
        </p:txBody>
      </p:sp>
      <p:sp>
        <p:nvSpPr>
          <p:cNvPr id="7" name="Foliennummer">
            <a:extLst>
              <a:ext uri="{FF2B5EF4-FFF2-40B4-BE49-F238E27FC236}">
                <a16:creationId xmlns:a16="http://schemas.microsoft.com/office/drawing/2014/main" id="{83A09B95-C0A4-D314-1D39-F12826109A3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1041401"/>
            <a:ext cx="8099424" cy="4791074"/>
          </a:xfrm>
        </p:spPr>
        <p:txBody>
          <a:bodyPr numCol="2" spcCol="180000"/>
          <a:lstStyle>
            <a:lvl1pPr>
              <a:spcBef>
                <a:spcPts val="14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579887855"/>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Grußfolie">
    <p:bg>
      <p:bgPr>
        <a:solidFill>
          <a:schemeClr val="accent1"/>
        </a:solidFill>
        <a:effectLst/>
      </p:bgPr>
    </p:bg>
    <p:spTree>
      <p:nvGrpSpPr>
        <p:cNvPr id="1" name=""/>
        <p:cNvGrpSpPr/>
        <p:nvPr/>
      </p:nvGrpSpPr>
      <p:grpSpPr>
        <a:xfrm>
          <a:off x="0" y="0"/>
          <a:ext cx="0" cy="0"/>
          <a:chOff x="0" y="0"/>
          <a:chExt cx="0" cy="0"/>
        </a:xfrm>
      </p:grpSpPr>
      <p:sp>
        <p:nvSpPr>
          <p:cNvPr id="6" name="Datum">
            <a:extLst>
              <a:ext uri="{FF2B5EF4-FFF2-40B4-BE49-F238E27FC236}">
                <a16:creationId xmlns:a16="http://schemas.microsoft.com/office/drawing/2014/main" id="{ECBFCEA1-E801-45A2-8E72-9E393E4A1B67}"/>
              </a:ext>
            </a:extLst>
          </p:cNvPr>
          <p:cNvSpPr>
            <a:spLocks noGrp="1" noRot="1" noMove="1" noResize="1" noEditPoints="1" noAdjustHandles="1" noChangeArrowheads="1" noChangeShapeType="1"/>
          </p:cNvSpPr>
          <p:nvPr>
            <p:ph type="dt" sz="half" idx="10"/>
          </p:nvPr>
        </p:nvSpPr>
        <p:spPr>
          <a:xfrm>
            <a:off x="1006475" y="6223766"/>
            <a:ext cx="2340000" cy="108000"/>
          </a:xfrm>
          <a:prstGeom prst="rect">
            <a:avLst/>
          </a:prstGeom>
        </p:spPr>
        <p:txBody>
          <a:bodyPr/>
          <a:lstStyle>
            <a:lvl1pPr>
              <a:defRPr>
                <a:solidFill>
                  <a:schemeClr val="bg1"/>
                </a:solidFill>
              </a:defRPr>
            </a:lvl1pPr>
          </a:lstStyle>
          <a:p>
            <a:r>
              <a:rPr lang="de-DE"/>
              <a:t>Stand: </a:t>
            </a:r>
            <a:fld id="{D2EEA022-D032-4EEB-B3BB-451FF23CBEEB}" type="datetimeFigureOut">
              <a:rPr lang="de-DE" smtClean="0"/>
              <a:pPr/>
              <a:t>06.07.2026</a:t>
            </a:fld>
            <a:endParaRPr lang="de-DE" dirty="0"/>
          </a:p>
        </p:txBody>
      </p:sp>
      <p:pic>
        <p:nvPicPr>
          <p:cNvPr id="4" name="Logo">
            <a:extLst>
              <a:ext uri="{FF2B5EF4-FFF2-40B4-BE49-F238E27FC236}">
                <a16:creationId xmlns:a16="http://schemas.microsoft.com/office/drawing/2014/main" id="{73B6AEAD-FB17-E7F3-790A-F01A246915FD}"/>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4569"/>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Herausgeber">
            <a:extLst>
              <a:ext uri="{FF2B5EF4-FFF2-40B4-BE49-F238E27FC236}">
                <a16:creationId xmlns:a16="http://schemas.microsoft.com/office/drawing/2014/main" id="{D75E9C45-CFC0-4A11-8779-BF1E36B119AB}"/>
              </a:ext>
            </a:extLst>
          </p:cNvPr>
          <p:cNvSpPr txBox="1">
            <a:spLocks noGrp="1" noRot="1" noMove="1" noResize="1" noEditPoints="1" noAdjustHandles="1" noChangeArrowheads="1" noChangeShapeType="1"/>
          </p:cNvSpPr>
          <p:nvPr userDrawn="1"/>
        </p:nvSpPr>
        <p:spPr>
          <a:xfrm>
            <a:off x="1006475" y="6099437"/>
            <a:ext cx="2484438" cy="124329"/>
          </a:xfrm>
          <a:prstGeom prst="rect">
            <a:avLst/>
          </a:prstGeom>
          <a:noFill/>
        </p:spPr>
        <p:txBody>
          <a:bodyPr wrap="square" lIns="0" tIns="0" rIns="0" bIns="0" rtlCol="0">
            <a:noAutofit/>
          </a:bodyPr>
          <a:lstStyle/>
          <a:p>
            <a:pPr>
              <a:lnSpc>
                <a:spcPts val="900"/>
              </a:lnSpc>
            </a:pPr>
            <a:r>
              <a:rPr lang="de-DE" sz="600" dirty="0">
                <a:solidFill>
                  <a:schemeClr val="bg1"/>
                </a:solidFill>
              </a:rPr>
              <a:t>Herausgeber: Fürst Fugger Privatbank Aktiengesellschaft</a:t>
            </a:r>
          </a:p>
        </p:txBody>
      </p: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1400" b="0" cap="none"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6481"/>
            <a:ext cx="6626225" cy="85852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165070064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441D935-D4CE-8629-989D-CCFB95BFBF88}"/>
              </a:ext>
            </a:extLst>
          </p:cNvPr>
          <p:cNvSpPr>
            <a:spLocks noGrp="1" noRot="1" noMove="1" noResize="1" noEditPoints="1" noAdjustHandles="1" noChangeArrowheads="1" noChangeShapeType="1"/>
          </p:cNvSpPr>
          <p:nvPr>
            <p:ph type="dt" sz="half" idx="2"/>
          </p:nvPr>
        </p:nvSpPr>
        <p:spPr>
          <a:xfrm>
            <a:off x="7740763" y="6804958"/>
            <a:ext cx="2340000" cy="108000"/>
          </a:xfrm>
          <a:prstGeom prst="rect">
            <a:avLst/>
          </a:prstGeom>
        </p:spPr>
        <p:txBody>
          <a:bodyPr vert="horz" wrap="none" lIns="0" tIns="0" rIns="0" bIns="0" rtlCol="0" anchor="ctr"/>
          <a:lstStyle>
            <a:lvl1pPr algn="l">
              <a:defRPr sz="600">
                <a:solidFill>
                  <a:schemeClr val="tx1">
                    <a:lumMod val="50000"/>
                    <a:lumOff val="50000"/>
                  </a:schemeClr>
                </a:solidFill>
              </a:defRPr>
            </a:lvl1pPr>
          </a:lstStyle>
          <a:p>
            <a:fld id="{D2EEA022-D032-4EEB-B3BB-451FF23CBEEB}" type="datetimeFigureOut">
              <a:rPr lang="de-DE" smtClean="0"/>
              <a:pPr/>
              <a:t>06.07.2026</a:t>
            </a:fld>
            <a:endParaRPr lang="de-DE" dirty="0"/>
          </a:p>
        </p:txBody>
      </p:sp>
      <p:sp>
        <p:nvSpPr>
          <p:cNvPr id="6" name="Foliennummer">
            <a:extLst>
              <a:ext uri="{FF2B5EF4-FFF2-40B4-BE49-F238E27FC236}">
                <a16:creationId xmlns:a16="http://schemas.microsoft.com/office/drawing/2014/main" id="{D677F6CD-9908-3B49-0E21-DF1BF9A27F4A}"/>
              </a:ext>
            </a:extLst>
          </p:cNvPr>
          <p:cNvSpPr>
            <a:spLocks noGrp="1" noRot="1" noMove="1" noResize="1" noEditPoints="1" noAdjustHandles="1" noChangeArrowheads="1" noChangeShapeType="1"/>
          </p:cNvSpPr>
          <p:nvPr>
            <p:ph type="sldNum" sz="quarter" idx="4"/>
          </p:nvPr>
        </p:nvSpPr>
        <p:spPr>
          <a:xfrm>
            <a:off x="7866000" y="6182738"/>
            <a:ext cx="2224263" cy="157725"/>
          </a:xfrm>
          <a:prstGeom prst="rect">
            <a:avLst/>
          </a:prstGeom>
        </p:spPr>
        <p:txBody>
          <a:bodyPr vert="horz" lIns="0" tIns="0" rIns="0" bIns="0" rtlCol="0" anchor="t" anchorCtr="0">
            <a:noAutofit/>
          </a:bodyPr>
          <a:lstStyle>
            <a:lvl1pPr algn="r">
              <a:defRPr sz="1000" b="1">
                <a:solidFill>
                  <a:schemeClr val="accent1"/>
                </a:solidFill>
                <a:latin typeface="+mj-lt"/>
              </a:defRPr>
            </a:lvl1pPr>
          </a:lstStyle>
          <a:p>
            <a:fld id="{3AE71D6B-ACB6-4F4C-A895-DCAEF1760EAA}" type="slidenum">
              <a:rPr lang="de-DE" smtClean="0"/>
              <a:pPr/>
              <a:t>‹Nr.›</a:t>
            </a:fld>
            <a:endParaRPr lang="de-DE" dirty="0"/>
          </a:p>
        </p:txBody>
      </p:sp>
      <p:pic>
        <p:nvPicPr>
          <p:cNvPr id="8" name="Logo">
            <a:extLst>
              <a:ext uri="{FF2B5EF4-FFF2-40B4-BE49-F238E27FC236}">
                <a16:creationId xmlns:a16="http://schemas.microsoft.com/office/drawing/2014/main" id="{3D23323B-A958-3EE3-70B5-D03430E8261D}"/>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p:blipFill>
        <p:spPr>
          <a:xfrm>
            <a:off x="394863" y="6149482"/>
            <a:ext cx="1577376" cy="205348"/>
          </a:xfrm>
          <a:prstGeom prst="rect">
            <a:avLst/>
          </a:prstGeom>
        </p:spPr>
      </p:pic>
      <p:cxnSp>
        <p:nvCxnSpPr>
          <p:cNvPr id="10" name="Linie">
            <a:extLst>
              <a:ext uri="{FF2B5EF4-FFF2-40B4-BE49-F238E27FC236}">
                <a16:creationId xmlns:a16="http://schemas.microsoft.com/office/drawing/2014/main" id="{30C87199-9CC3-886E-3A4B-0FA6C63EFFD7}"/>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platzhalter">
            <a:extLst>
              <a:ext uri="{FF2B5EF4-FFF2-40B4-BE49-F238E27FC236}">
                <a16:creationId xmlns:a16="http://schemas.microsoft.com/office/drawing/2014/main" id="{23733324-201D-2B98-A6E9-A9E03DE47618}"/>
              </a:ext>
            </a:extLst>
          </p:cNvPr>
          <p:cNvSpPr>
            <a:spLocks noGrp="1" noRot="1" noMove="1" noResize="1" noEditPoints="1" noAdjustHandles="1" noChangeArrowheads="1" noChangeShapeType="1"/>
          </p:cNvSpPr>
          <p:nvPr>
            <p:ph type="body" idx="1"/>
          </p:nvPr>
        </p:nvSpPr>
        <p:spPr>
          <a:xfrm>
            <a:off x="358774" y="1041401"/>
            <a:ext cx="9756775" cy="479107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2" name="Titelplatzhalter">
            <a:extLst>
              <a:ext uri="{FF2B5EF4-FFF2-40B4-BE49-F238E27FC236}">
                <a16:creationId xmlns:a16="http://schemas.microsoft.com/office/drawing/2014/main" id="{25F389A5-5A88-033D-BB4F-AD00957B388F}"/>
              </a:ext>
            </a:extLst>
          </p:cNvPr>
          <p:cNvSpPr>
            <a:spLocks noGrp="1" noRot="1" noMove="1" noResize="1" noEditPoints="1" noAdjustHandles="1" noChangeArrowheads="1" noChangeShapeType="1"/>
          </p:cNvSpPr>
          <p:nvPr>
            <p:ph type="title"/>
          </p:nvPr>
        </p:nvSpPr>
        <p:spPr>
          <a:xfrm>
            <a:off x="358775" y="322580"/>
            <a:ext cx="9756774" cy="360000"/>
          </a:xfrm>
          <a:prstGeom prst="rect">
            <a:avLst/>
          </a:prstGeom>
        </p:spPr>
        <p:txBody>
          <a:bodyPr vert="horz" wrap="none" lIns="0" tIns="36000" rIns="0" bIns="0" rtlCol="0" anchor="t" anchorCtr="0">
            <a:noAutofit/>
          </a:bodyPr>
          <a:lstStyle/>
          <a:p>
            <a:r>
              <a:rPr lang="de-DE" dirty="0"/>
              <a:t>Mastertitelformat bearbeiten</a:t>
            </a:r>
          </a:p>
        </p:txBody>
      </p:sp>
    </p:spTree>
    <p:extLst>
      <p:ext uri="{BB962C8B-B14F-4D97-AF65-F5344CB8AC3E}">
        <p14:creationId xmlns:p14="http://schemas.microsoft.com/office/powerpoint/2010/main" val="2613421600"/>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64" r:id="rId4"/>
    <p:sldLayoutId id="2147483667" r:id="rId5"/>
    <p:sldLayoutId id="2147483668" r:id="rId6"/>
    <p:sldLayoutId id="2147483669" r:id="rId7"/>
    <p:sldLayoutId id="2147483670" r:id="rId8"/>
    <p:sldLayoutId id="2147483673" r:id="rId9"/>
    <p:sldLayoutId id="2147483677" r:id="rId10"/>
    <p:sldLayoutId id="2147483678" r:id="rId11"/>
    <p:sldLayoutId id="2147483650" r:id="rId12"/>
    <p:sldLayoutId id="2147483672" r:id="rId13"/>
    <p:sldLayoutId id="2147483671" r:id="rId14"/>
    <p:sldLayoutId id="2147483665" r:id="rId15"/>
    <p:sldLayoutId id="2147483660" r:id="rId16"/>
    <p:sldLayoutId id="2147483666" r:id="rId17"/>
    <p:sldLayoutId id="2147483661" r:id="rId18"/>
    <p:sldLayoutId id="2147483654" r:id="rId19"/>
    <p:sldLayoutId id="2147483655" r:id="rId20"/>
    <p:sldLayoutId id="2147483674" r:id="rId21"/>
    <p:sldLayoutId id="2147483675" r:id="rId22"/>
    <p:sldLayoutId id="2147483676" r:id="rId23"/>
    <p:sldLayoutId id="2147483679" r:id="rId24"/>
    <p:sldLayoutId id="2147483680" r:id="rId25"/>
  </p:sldLayoutIdLst>
  <p:hf hdr="0" ftr="0" dt="0"/>
  <p:txStyles>
    <p:title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p:titleStyle>
    <p:body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8"/>
        </a:buBlip>
        <a:defRPr sz="1100" kern="1200">
          <a:solidFill>
            <a:schemeClr val="tx1"/>
          </a:solidFill>
          <a:latin typeface="+mn-lt"/>
          <a:ea typeface="+mn-ea"/>
          <a:cs typeface="+mn-cs"/>
        </a:defRPr>
      </a:lvl9pPr>
    </p:bodyStyle>
    <p:otherStyle>
      <a:defPPr>
        <a:defRPr lang="de-DE"/>
      </a:defPPr>
      <a:lvl1pPr marL="0" algn="l" defTabSz="783001" rtl="0" eaLnBrk="1" latinLnBrk="0" hangingPunct="1">
        <a:defRPr sz="1541" kern="1200">
          <a:solidFill>
            <a:schemeClr val="tx1"/>
          </a:solidFill>
          <a:latin typeface="+mn-lt"/>
          <a:ea typeface="+mn-ea"/>
          <a:cs typeface="+mn-cs"/>
        </a:defRPr>
      </a:lvl1pPr>
      <a:lvl2pPr marL="391500" algn="l" defTabSz="783001" rtl="0" eaLnBrk="1" latinLnBrk="0" hangingPunct="1">
        <a:defRPr sz="1541" kern="1200">
          <a:solidFill>
            <a:schemeClr val="tx1"/>
          </a:solidFill>
          <a:latin typeface="+mn-lt"/>
          <a:ea typeface="+mn-ea"/>
          <a:cs typeface="+mn-cs"/>
        </a:defRPr>
      </a:lvl2pPr>
      <a:lvl3pPr marL="783001" algn="l" defTabSz="783001" rtl="0" eaLnBrk="1" latinLnBrk="0" hangingPunct="1">
        <a:defRPr sz="1541" kern="1200">
          <a:solidFill>
            <a:schemeClr val="tx1"/>
          </a:solidFill>
          <a:latin typeface="+mn-lt"/>
          <a:ea typeface="+mn-ea"/>
          <a:cs typeface="+mn-cs"/>
        </a:defRPr>
      </a:lvl3pPr>
      <a:lvl4pPr marL="1174501" algn="l" defTabSz="783001" rtl="0" eaLnBrk="1" latinLnBrk="0" hangingPunct="1">
        <a:defRPr sz="1541" kern="1200">
          <a:solidFill>
            <a:schemeClr val="tx1"/>
          </a:solidFill>
          <a:latin typeface="+mn-lt"/>
          <a:ea typeface="+mn-ea"/>
          <a:cs typeface="+mn-cs"/>
        </a:defRPr>
      </a:lvl4pPr>
      <a:lvl5pPr marL="1566001" algn="l" defTabSz="783001" rtl="0" eaLnBrk="1" latinLnBrk="0" hangingPunct="1">
        <a:defRPr sz="1541" kern="1200">
          <a:solidFill>
            <a:schemeClr val="tx1"/>
          </a:solidFill>
          <a:latin typeface="+mn-lt"/>
          <a:ea typeface="+mn-ea"/>
          <a:cs typeface="+mn-cs"/>
        </a:defRPr>
      </a:lvl5pPr>
      <a:lvl6pPr marL="1957502" algn="l" defTabSz="783001" rtl="0" eaLnBrk="1" latinLnBrk="0" hangingPunct="1">
        <a:defRPr sz="1541" kern="1200">
          <a:solidFill>
            <a:schemeClr val="tx1"/>
          </a:solidFill>
          <a:latin typeface="+mn-lt"/>
          <a:ea typeface="+mn-ea"/>
          <a:cs typeface="+mn-cs"/>
        </a:defRPr>
      </a:lvl6pPr>
      <a:lvl7pPr marL="2349002" algn="l" defTabSz="783001" rtl="0" eaLnBrk="1" latinLnBrk="0" hangingPunct="1">
        <a:defRPr sz="1541" kern="1200">
          <a:solidFill>
            <a:schemeClr val="tx1"/>
          </a:solidFill>
          <a:latin typeface="+mn-lt"/>
          <a:ea typeface="+mn-ea"/>
          <a:cs typeface="+mn-cs"/>
        </a:defRPr>
      </a:lvl7pPr>
      <a:lvl8pPr marL="2740503" algn="l" defTabSz="783001" rtl="0" eaLnBrk="1" latinLnBrk="0" hangingPunct="1">
        <a:defRPr sz="1541" kern="1200">
          <a:solidFill>
            <a:schemeClr val="tx1"/>
          </a:solidFill>
          <a:latin typeface="+mn-lt"/>
          <a:ea typeface="+mn-ea"/>
          <a:cs typeface="+mn-cs"/>
        </a:defRPr>
      </a:lvl8pPr>
      <a:lvl9pPr marL="3132003" algn="l" defTabSz="783001" rtl="0" eaLnBrk="1" latinLnBrk="0" hangingPunct="1">
        <a:defRPr sz="15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7" userDrawn="1">
          <p15:clr>
            <a:srgbClr val="F26B43"/>
          </p15:clr>
        </p15:guide>
        <p15:guide id="3" pos="226" userDrawn="1">
          <p15:clr>
            <a:srgbClr val="F26B43"/>
          </p15:clr>
        </p15:guide>
        <p15:guide id="15" pos="634" userDrawn="1">
          <p15:clr>
            <a:srgbClr val="F26B43"/>
          </p15:clr>
        </p15:guide>
        <p15:guide id="16" pos="748" userDrawn="1">
          <p15:clr>
            <a:srgbClr val="F26B43"/>
          </p15:clr>
        </p15:guide>
        <p15:guide id="17" pos="1156" userDrawn="1">
          <p15:clr>
            <a:srgbClr val="F26B43"/>
          </p15:clr>
        </p15:guide>
        <p15:guide id="18" pos="1270" userDrawn="1">
          <p15:clr>
            <a:srgbClr val="F26B43"/>
          </p15:clr>
        </p15:guide>
        <p15:guide id="19" pos="1678" userDrawn="1">
          <p15:clr>
            <a:srgbClr val="F26B43"/>
          </p15:clr>
        </p15:guide>
        <p15:guide id="20" pos="1791" userDrawn="1">
          <p15:clr>
            <a:srgbClr val="F26B43"/>
          </p15:clr>
        </p15:guide>
        <p15:guide id="21" pos="2199" userDrawn="1">
          <p15:clr>
            <a:srgbClr val="F26B43"/>
          </p15:clr>
        </p15:guide>
        <p15:guide id="22" pos="2313" userDrawn="1">
          <p15:clr>
            <a:srgbClr val="F26B43"/>
          </p15:clr>
        </p15:guide>
        <p15:guide id="23" pos="2721" userDrawn="1">
          <p15:clr>
            <a:srgbClr val="F26B43"/>
          </p15:clr>
        </p15:guide>
        <p15:guide id="24" pos="2834" userDrawn="1">
          <p15:clr>
            <a:srgbClr val="F26B43"/>
          </p15:clr>
        </p15:guide>
        <p15:guide id="25" pos="3243" userDrawn="1">
          <p15:clr>
            <a:srgbClr val="F26B43"/>
          </p15:clr>
        </p15:guide>
        <p15:guide id="26" pos="3356" userDrawn="1">
          <p15:clr>
            <a:srgbClr val="F26B43"/>
          </p15:clr>
        </p15:guide>
        <p15:guide id="27" pos="3764" userDrawn="1">
          <p15:clr>
            <a:srgbClr val="F26B43"/>
          </p15:clr>
        </p15:guide>
        <p15:guide id="28" pos="3878" userDrawn="1">
          <p15:clr>
            <a:srgbClr val="F26B43"/>
          </p15:clr>
        </p15:guide>
        <p15:guide id="29" pos="4286" userDrawn="1">
          <p15:clr>
            <a:srgbClr val="F26B43"/>
          </p15:clr>
        </p15:guide>
        <p15:guide id="30" pos="4399" userDrawn="1">
          <p15:clr>
            <a:srgbClr val="F26B43"/>
          </p15:clr>
        </p15:guide>
        <p15:guide id="31" pos="4808" userDrawn="1">
          <p15:clr>
            <a:srgbClr val="F26B43"/>
          </p15:clr>
        </p15:guide>
        <p15:guide id="32" pos="4921" userDrawn="1">
          <p15:clr>
            <a:srgbClr val="F26B43"/>
          </p15:clr>
        </p15:guide>
        <p15:guide id="33" pos="5329" userDrawn="1">
          <p15:clr>
            <a:srgbClr val="F26B43"/>
          </p15:clr>
        </p15:guide>
        <p15:guide id="34" pos="5443" userDrawn="1">
          <p15:clr>
            <a:srgbClr val="F26B43"/>
          </p15:clr>
        </p15:guide>
        <p15:guide id="35" pos="5851" userDrawn="1">
          <p15:clr>
            <a:srgbClr val="F26B43"/>
          </p15:clr>
        </p15:guide>
        <p15:guide id="36" pos="5964" userDrawn="1">
          <p15:clr>
            <a:srgbClr val="F26B43"/>
          </p15:clr>
        </p15:guide>
        <p15:guide id="37" pos="6372" userDrawn="1">
          <p15:clr>
            <a:srgbClr val="F26B43"/>
          </p15:clr>
        </p15:guide>
        <p15:guide id="38" orient="horz" pos="4002" userDrawn="1">
          <p15:clr>
            <a:srgbClr val="F26B43"/>
          </p15:clr>
        </p15:guide>
        <p15:guide id="39" orient="horz" userDrawn="1">
          <p15:clr>
            <a:srgbClr val="F26B43"/>
          </p15:clr>
        </p15:guide>
        <p15:guide id="40" orient="horz" pos="656" userDrawn="1">
          <p15:clr>
            <a:srgbClr val="F26B43"/>
          </p15:clr>
        </p15:guide>
        <p15:guide id="41" orient="horz" pos="4195" userDrawn="1">
          <p15:clr>
            <a:srgbClr val="F26B43"/>
          </p15:clr>
        </p15:guide>
        <p15:guide id="42" orient="horz" pos="36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2.xml"/><Relationship Id="rId4" Type="http://schemas.openxmlformats.org/officeDocument/2006/relationships/image" Target="../media/image24.jpeg"/></Relationships>
</file>

<file path=ppt/slides/_rels/slide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tertitel">
            <a:extLst>
              <a:ext uri="{FF2B5EF4-FFF2-40B4-BE49-F238E27FC236}">
                <a16:creationId xmlns:a16="http://schemas.microsoft.com/office/drawing/2014/main" id="{E21E42E6-26DD-05A3-DFCF-CD476BFD417D}"/>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p>
            <a:r>
              <a:rPr lang="de-DE" dirty="0"/>
              <a:t>UNABHÄNGIG. WERTEORIENTIERT. PERSÖNLICH.</a:t>
            </a:r>
          </a:p>
        </p:txBody>
      </p:sp>
      <p:sp>
        <p:nvSpPr>
          <p:cNvPr id="2" name="Titel">
            <a:extLst>
              <a:ext uri="{FF2B5EF4-FFF2-40B4-BE49-F238E27FC236}">
                <a16:creationId xmlns:a16="http://schemas.microsoft.com/office/drawing/2014/main" id="{C392FFA6-DF5F-DE1D-D172-069B9790B85A}"/>
              </a:ext>
            </a:extLst>
          </p:cNvPr>
          <p:cNvSpPr>
            <a:spLocks noGrp="1" noRot="1" noMove="1" noResize="1" noEditPoints="1" noAdjustHandles="1" noChangeArrowheads="1" noChangeShapeType="1"/>
          </p:cNvSpPr>
          <p:nvPr>
            <p:ph type="ctrTitle"/>
          </p:nvPr>
        </p:nvSpPr>
        <p:spPr>
          <a:xfrm>
            <a:off x="1006475" y="1041400"/>
            <a:ext cx="6626225" cy="931775"/>
          </a:xfrm>
        </p:spPr>
        <p:txBody>
          <a:bodyPr/>
          <a:lstStyle/>
          <a:p>
            <a:r>
              <a:rPr lang="de-DE" dirty="0"/>
              <a:t>Unsere  </a:t>
            </a:r>
            <a:br>
              <a:rPr lang="de-DE" dirty="0"/>
            </a:br>
            <a:r>
              <a:rPr lang="de-DE" dirty="0"/>
              <a:t>Vermögensverwaltung</a:t>
            </a:r>
          </a:p>
        </p:txBody>
      </p:sp>
    </p:spTree>
    <p:extLst>
      <p:ext uri="{BB962C8B-B14F-4D97-AF65-F5344CB8AC3E}">
        <p14:creationId xmlns:p14="http://schemas.microsoft.com/office/powerpoint/2010/main" val="4263361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77DF082C-7F14-96A3-2286-2DE7F88EE07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a:t>
            </a:fld>
            <a:endParaRPr lang="de-DE"/>
          </a:p>
        </p:txBody>
      </p:sp>
      <p:sp>
        <p:nvSpPr>
          <p:cNvPr id="3" name="Inhalt">
            <a:extLst>
              <a:ext uri="{FF2B5EF4-FFF2-40B4-BE49-F238E27FC236}">
                <a16:creationId xmlns:a16="http://schemas.microsoft.com/office/drawing/2014/main" id="{7F2936BA-F0A5-9AB3-89AF-95CC696DBA02}"/>
              </a:ext>
            </a:extLst>
          </p:cNvPr>
          <p:cNvSpPr>
            <a:spLocks noGrp="1" noRot="1" noMove="1" noResize="1" noEditPoints="1" noAdjustHandles="1" noChangeArrowheads="1" noChangeShapeType="1"/>
          </p:cNvSpPr>
          <p:nvPr>
            <p:ph idx="1"/>
          </p:nvPr>
        </p:nvSpPr>
        <p:spPr>
          <a:xfrm>
            <a:off x="2016125" y="2147233"/>
            <a:ext cx="7272338" cy="3685241"/>
          </a:xfrm>
        </p:spPr>
        <p:txBody>
          <a:bodyPr/>
          <a:lstStyle/>
          <a:p>
            <a:r>
              <a:rPr lang="de-DE" dirty="0"/>
              <a:t>Unsere Vermögensverwaltung </a:t>
            </a:r>
            <a:r>
              <a:rPr lang="de-DE" u="sng" dirty="0">
                <a:uFill>
                  <a:solidFill>
                    <a:schemeClr val="accent3"/>
                  </a:solidFill>
                </a:uFill>
              </a:rPr>
              <a:t>	</a:t>
            </a:r>
            <a:r>
              <a:rPr lang="de-DE" dirty="0"/>
              <a:t>3</a:t>
            </a:r>
          </a:p>
          <a:p>
            <a:r>
              <a:rPr lang="de-DE" dirty="0"/>
              <a:t>Unsere klassischen Vermögensverwaltungsstrategien </a:t>
            </a:r>
            <a:r>
              <a:rPr lang="de-DE" u="sng" dirty="0">
                <a:uFill>
                  <a:solidFill>
                    <a:schemeClr val="accent3"/>
                  </a:solidFill>
                </a:uFill>
              </a:rPr>
              <a:t>	</a:t>
            </a:r>
            <a:r>
              <a:rPr lang="de-DE" dirty="0"/>
              <a:t>6</a:t>
            </a:r>
          </a:p>
          <a:p>
            <a:r>
              <a:rPr lang="de-DE" dirty="0"/>
              <a:t>Unsere Strategien in Krisenphasen </a:t>
            </a:r>
            <a:r>
              <a:rPr lang="de-DE" u="sng" dirty="0">
                <a:uFill>
                  <a:solidFill>
                    <a:schemeClr val="accent3"/>
                  </a:solidFill>
                </a:uFill>
              </a:rPr>
              <a:t>	</a:t>
            </a:r>
            <a:r>
              <a:rPr lang="de-DE" dirty="0"/>
              <a:t>18</a:t>
            </a:r>
          </a:p>
          <a:p>
            <a:r>
              <a:rPr lang="de-DE" dirty="0"/>
              <a:t>Wertentwicklung im historischen Verlauf </a:t>
            </a:r>
            <a:r>
              <a:rPr lang="de-DE" u="sng" dirty="0">
                <a:uFill>
                  <a:solidFill>
                    <a:schemeClr val="accent3"/>
                  </a:solidFill>
                </a:uFill>
              </a:rPr>
              <a:t>	</a:t>
            </a:r>
            <a:r>
              <a:rPr lang="de-DE" dirty="0"/>
              <a:t>19</a:t>
            </a:r>
          </a:p>
          <a:p>
            <a:r>
              <a:rPr lang="de-DE" dirty="0"/>
              <a:t>Unsere individuelle Vermögensverwaltung </a:t>
            </a:r>
            <a:r>
              <a:rPr lang="de-DE" u="sng" dirty="0">
                <a:uFill>
                  <a:solidFill>
                    <a:schemeClr val="accent3"/>
                  </a:solidFill>
                </a:uFill>
              </a:rPr>
              <a:t>	</a:t>
            </a:r>
            <a:r>
              <a:rPr lang="de-DE" dirty="0"/>
              <a:t>20</a:t>
            </a:r>
          </a:p>
          <a:p>
            <a:r>
              <a:rPr lang="de-DE" dirty="0"/>
              <a:t>Honorar </a:t>
            </a:r>
            <a:r>
              <a:rPr lang="de-DE" u="sng" dirty="0">
                <a:uFill>
                  <a:solidFill>
                    <a:schemeClr val="accent3"/>
                  </a:solidFill>
                </a:uFill>
              </a:rPr>
              <a:t>	</a:t>
            </a:r>
            <a:r>
              <a:rPr lang="de-DE" dirty="0"/>
              <a:t>21</a:t>
            </a:r>
          </a:p>
          <a:p>
            <a:r>
              <a:rPr lang="de-DE" dirty="0"/>
              <a:t>Unsere Investmentphilosophie </a:t>
            </a:r>
            <a:r>
              <a:rPr lang="de-DE" u="sng" dirty="0">
                <a:uFill>
                  <a:solidFill>
                    <a:schemeClr val="accent3"/>
                  </a:solidFill>
                </a:uFill>
              </a:rPr>
              <a:t>	</a:t>
            </a:r>
            <a:r>
              <a:rPr lang="de-DE" dirty="0"/>
              <a:t>24</a:t>
            </a:r>
          </a:p>
          <a:p>
            <a:r>
              <a:rPr lang="de-DE" dirty="0"/>
              <a:t>Die Bank in Zahlen </a:t>
            </a:r>
            <a:r>
              <a:rPr lang="de-DE" u="sng" dirty="0">
                <a:uFill>
                  <a:solidFill>
                    <a:schemeClr val="accent3"/>
                  </a:solidFill>
                </a:uFill>
              </a:rPr>
              <a:t>	</a:t>
            </a:r>
            <a:r>
              <a:rPr lang="de-DE" dirty="0"/>
              <a:t>29</a:t>
            </a:r>
          </a:p>
          <a:p>
            <a:r>
              <a:rPr lang="de-DE" dirty="0"/>
              <a:t>Unsere Standorte </a:t>
            </a:r>
            <a:r>
              <a:rPr lang="de-DE" u="sng" dirty="0">
                <a:uFill>
                  <a:solidFill>
                    <a:schemeClr val="accent3"/>
                  </a:solidFill>
                </a:uFill>
              </a:rPr>
              <a:t>	</a:t>
            </a:r>
            <a:r>
              <a:rPr lang="de-DE" dirty="0">
                <a:uFill>
                  <a:solidFill>
                    <a:schemeClr val="accent3"/>
                  </a:solidFill>
                </a:uFill>
              </a:rPr>
              <a:t>31</a:t>
            </a:r>
            <a:endParaRPr lang="de-DE" dirty="0"/>
          </a:p>
          <a:p>
            <a:r>
              <a:rPr lang="de-DE" dirty="0"/>
              <a:t>Unsere Tradition </a:t>
            </a:r>
            <a:r>
              <a:rPr lang="de-DE" u="sng" dirty="0">
                <a:uFill>
                  <a:solidFill>
                    <a:schemeClr val="accent3"/>
                  </a:solidFill>
                </a:uFill>
              </a:rPr>
              <a:t>	</a:t>
            </a:r>
            <a:r>
              <a:rPr lang="de-DE" dirty="0"/>
              <a:t>33</a:t>
            </a:r>
          </a:p>
          <a:p>
            <a:r>
              <a:rPr lang="de-DE" dirty="0"/>
              <a:t>Rechtliche Hinweise und Impressum </a:t>
            </a:r>
            <a:r>
              <a:rPr lang="de-DE" u="sng" dirty="0">
                <a:uFill>
                  <a:solidFill>
                    <a:schemeClr val="accent3"/>
                  </a:solidFill>
                </a:uFill>
              </a:rPr>
              <a:t>	</a:t>
            </a:r>
            <a:r>
              <a:rPr lang="de-DE" dirty="0"/>
              <a:t>36</a:t>
            </a:r>
          </a:p>
        </p:txBody>
      </p:sp>
      <p:sp>
        <p:nvSpPr>
          <p:cNvPr id="2" name="Titel">
            <a:extLst>
              <a:ext uri="{FF2B5EF4-FFF2-40B4-BE49-F238E27FC236}">
                <a16:creationId xmlns:a16="http://schemas.microsoft.com/office/drawing/2014/main" id="{B04F1B54-07E4-4DBF-DC92-6DA02727FBAA}"/>
              </a:ext>
            </a:extLst>
          </p:cNvPr>
          <p:cNvSpPr>
            <a:spLocks noGrp="1" noRot="1" noMove="1" noResize="1" noEditPoints="1" noAdjustHandles="1" noChangeArrowheads="1" noChangeShapeType="1"/>
          </p:cNvSpPr>
          <p:nvPr>
            <p:ph type="title"/>
          </p:nvPr>
        </p:nvSpPr>
        <p:spPr>
          <a:xfrm>
            <a:off x="2016124" y="1656652"/>
            <a:ext cx="7272337" cy="360000"/>
          </a:xfrm>
        </p:spPr>
        <p:txBody>
          <a:bodyPr/>
          <a:lstStyle/>
          <a:p>
            <a:r>
              <a:rPr lang="de-DE" dirty="0"/>
              <a:t>Inhalt</a:t>
            </a:r>
          </a:p>
        </p:txBody>
      </p:sp>
    </p:spTree>
    <p:extLst>
      <p:ext uri="{BB962C8B-B14F-4D97-AF65-F5344CB8AC3E}">
        <p14:creationId xmlns:p14="http://schemas.microsoft.com/office/powerpoint/2010/main" val="739230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2726207-F190-D2FF-DCF9-A3BD0AFCAC6F}"/>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3</a:t>
            </a:fld>
            <a:endParaRPr lang="de-DE"/>
          </a:p>
        </p:txBody>
      </p:sp>
      <p:sp>
        <p:nvSpPr>
          <p:cNvPr id="3" name="Text">
            <a:extLst>
              <a:ext uri="{FF2B5EF4-FFF2-40B4-BE49-F238E27FC236}">
                <a16:creationId xmlns:a16="http://schemas.microsoft.com/office/drawing/2014/main" id="{09F416ED-28F0-4097-3F6C-AA3AA8BF0016}"/>
              </a:ext>
            </a:extLst>
          </p:cNvPr>
          <p:cNvSpPr>
            <a:spLocks noGrp="1" noRot="1" noMove="1" noResize="1" noEditPoints="1" noAdjustHandles="1" noChangeArrowheads="1" noChangeShapeType="1"/>
          </p:cNvSpPr>
          <p:nvPr>
            <p:ph idx="1"/>
          </p:nvPr>
        </p:nvSpPr>
        <p:spPr>
          <a:xfrm>
            <a:off x="5327650" y="1411638"/>
            <a:ext cx="3960813" cy="4420838"/>
          </a:xfrm>
        </p:spPr>
        <p:txBody>
          <a:bodyPr/>
          <a:lstStyle/>
          <a:p>
            <a:r>
              <a:rPr lang="de-DE" dirty="0"/>
              <a:t>Vermögenserhalt und langfristiges Wachstum</a:t>
            </a:r>
          </a:p>
          <a:p>
            <a:pPr lvl="2"/>
            <a:r>
              <a:rPr lang="de-DE" dirty="0"/>
              <a:t>Unsere Vermögensverwaltung ist auf Sicherheit und langfristige Wertentwicklung ausgerichtet.</a:t>
            </a:r>
          </a:p>
          <a:p>
            <a:r>
              <a:rPr lang="de-DE" dirty="0"/>
              <a:t>Basierend auf präzisen Vorgesprächen</a:t>
            </a:r>
          </a:p>
          <a:p>
            <a:pPr lvl="2"/>
            <a:r>
              <a:rPr lang="de-DE" dirty="0"/>
              <a:t>Auf Grundlage persönlicher Gespräche ermitteln wir exakt Ihre individuellen Präferenzen und Anforderungen hinsichtlich Rendite-Risiko-Profil und Zeithorizont. </a:t>
            </a:r>
          </a:p>
          <a:p>
            <a:r>
              <a:rPr lang="de-DE" dirty="0"/>
              <a:t>Ständige Überwachung und Anpassung</a:t>
            </a:r>
          </a:p>
          <a:p>
            <a:pPr lvl="2"/>
            <a:r>
              <a:rPr lang="de-DE" dirty="0"/>
              <a:t>Realisiert wird eine Anlagestrategie, die mit ihren einzelnen Positionen ständig überwacht und bei Marktveränderungen gegebenenfalls angepasst wird. Wertschwankungen des Portfolios können nicht ausgeschlossen werden. </a:t>
            </a:r>
          </a:p>
          <a:p>
            <a:r>
              <a:rPr lang="de-DE" dirty="0"/>
              <a:t>Breite Vermögensstreuung</a:t>
            </a:r>
          </a:p>
          <a:p>
            <a:pPr lvl="2"/>
            <a:r>
              <a:rPr lang="de-DE" dirty="0"/>
              <a:t>Wir bieten eine breite und transparente Streuung Ihres Vermögens, beispielsweise in Aktien, Anleihen, ETFʹs  </a:t>
            </a:r>
            <a:br>
              <a:rPr lang="de-DE" dirty="0"/>
            </a:br>
            <a:r>
              <a:rPr lang="de-DE" dirty="0"/>
              <a:t>und Fonds, Edelmetalle, risikoadjustierte Produkte wie Discountzertifikate und Aktienanleihen sowie Liquidität. </a:t>
            </a:r>
          </a:p>
        </p:txBody>
      </p:sp>
      <p:sp>
        <p:nvSpPr>
          <p:cNvPr id="2" name="Titel">
            <a:extLst>
              <a:ext uri="{FF2B5EF4-FFF2-40B4-BE49-F238E27FC236}">
                <a16:creationId xmlns:a16="http://schemas.microsoft.com/office/drawing/2014/main" id="{A045C7CC-A895-8F75-74B5-37B4A5A91499}"/>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a:t>Unsere Vermögensverwaltung</a:t>
            </a:r>
            <a:endParaRPr lang="de-DE" dirty="0"/>
          </a:p>
        </p:txBody>
      </p:sp>
    </p:spTree>
    <p:extLst>
      <p:ext uri="{BB962C8B-B14F-4D97-AF65-F5344CB8AC3E}">
        <p14:creationId xmlns:p14="http://schemas.microsoft.com/office/powerpoint/2010/main" val="1011981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A29DC1F0-E085-7711-FFB6-0AE5ACDA858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4</a:t>
            </a:fld>
            <a:endParaRPr lang="de-DE"/>
          </a:p>
        </p:txBody>
      </p:sp>
      <p:sp>
        <p:nvSpPr>
          <p:cNvPr id="3" name="Text">
            <a:extLst>
              <a:ext uri="{FF2B5EF4-FFF2-40B4-BE49-F238E27FC236}">
                <a16:creationId xmlns:a16="http://schemas.microsoft.com/office/drawing/2014/main" id="{694BBE29-D879-8CF9-FF94-DBAA530E7B02}"/>
              </a:ext>
            </a:extLst>
          </p:cNvPr>
          <p:cNvSpPr>
            <a:spLocks noGrp="1" noRot="1" noMove="1" noResize="1" noEditPoints="1" noAdjustHandles="1" noChangeArrowheads="1" noChangeShapeType="1"/>
          </p:cNvSpPr>
          <p:nvPr>
            <p:ph idx="1"/>
          </p:nvPr>
        </p:nvSpPr>
        <p:spPr>
          <a:xfrm>
            <a:off x="1187448" y="1411638"/>
            <a:ext cx="4140201" cy="4420838"/>
          </a:xfrm>
        </p:spPr>
        <p:txBody>
          <a:bodyPr/>
          <a:lstStyle/>
          <a:p>
            <a:r>
              <a:rPr lang="de-DE" dirty="0"/>
              <a:t>Aufteilung zur Begrenzung von Risiken</a:t>
            </a:r>
          </a:p>
          <a:p>
            <a:pPr lvl="2"/>
            <a:r>
              <a:rPr lang="de-DE" dirty="0"/>
              <a:t>Durch die Aufteilung in verschiedene Assetklassen werden Risiken begrenzt. Trotz breiter Diversifizierung und Risiko-streuung können Wertschwankungen bis hin zu einem Total-verlust einzelner Positionen nicht ausgeschlossen werden. </a:t>
            </a:r>
          </a:p>
          <a:p>
            <a:r>
              <a:rPr lang="de-DE" dirty="0"/>
              <a:t>Anbieterunabhängige Produktauswahl</a:t>
            </a:r>
          </a:p>
          <a:p>
            <a:pPr lvl="2"/>
            <a:r>
              <a:rPr lang="de-DE" dirty="0"/>
              <a:t>Unsere Einzelauswahl in den zuvor genannten Assetklassen ist an keinen Anbieter gebunden, somit können wir uns unabhängig in der Produktauswahl am Markt bewegen.</a:t>
            </a:r>
          </a:p>
          <a:p>
            <a:r>
              <a:rPr lang="de-DE" dirty="0"/>
              <a:t>Planung von erfahrenen Vermögensmanagern</a:t>
            </a:r>
          </a:p>
          <a:p>
            <a:pPr lvl="2"/>
            <a:r>
              <a:rPr lang="de-DE" dirty="0"/>
              <a:t>Unsere erfahrenen Vermögensmanager planen im so genannten Top-Down-Verfahren und setzen je nach Marktsituation die Anlageentscheidungen je Strategie verantwortungsvoll um. </a:t>
            </a:r>
          </a:p>
          <a:p>
            <a:r>
              <a:rPr lang="de-DE" dirty="0"/>
              <a:t>Ab einem Anlagevolumen von 250.000 Euro</a:t>
            </a:r>
          </a:p>
          <a:p>
            <a:pPr lvl="2"/>
            <a:r>
              <a:rPr lang="de-DE" dirty="0"/>
              <a:t>Unsere klassische Vermögensverwaltung kann ab einem Anlagevolumen von 250.000 Euro in Auftrag gegeben werden. </a:t>
            </a:r>
          </a:p>
        </p:txBody>
      </p:sp>
      <p:sp>
        <p:nvSpPr>
          <p:cNvPr id="2" name="Titel">
            <a:extLst>
              <a:ext uri="{FF2B5EF4-FFF2-40B4-BE49-F238E27FC236}">
                <a16:creationId xmlns:a16="http://schemas.microsoft.com/office/drawing/2014/main" id="{C2B7D173-C063-D0B2-4ED2-450BB23700E5}"/>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Unsere Vermögensverwaltung </a:t>
            </a:r>
          </a:p>
        </p:txBody>
      </p:sp>
    </p:spTree>
    <p:extLst>
      <p:ext uri="{BB962C8B-B14F-4D97-AF65-F5344CB8AC3E}">
        <p14:creationId xmlns:p14="http://schemas.microsoft.com/office/powerpoint/2010/main" val="126782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2C9F9587-1708-DCBE-09CB-30D815D47486}"/>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5</a:t>
            </a:fld>
            <a:endParaRPr lang="de-DE" dirty="0"/>
          </a:p>
        </p:txBody>
      </p:sp>
      <p:pic>
        <p:nvPicPr>
          <p:cNvPr id="23" name="Graph">
            <a:extLst>
              <a:ext uri="{FF2B5EF4-FFF2-40B4-BE49-F238E27FC236}">
                <a16:creationId xmlns:a16="http://schemas.microsoft.com/office/drawing/2014/main" id="{827B6FA0-3565-B1C4-155A-D0277A9762A1}"/>
              </a:ext>
            </a:extLst>
          </p:cNvPr>
          <p:cNvPicPr>
            <a:picLocks noGrp="1" noRot="1" noChangeAspect="1" noMove="1" noResize="1" noEditPoints="1" noAdjustHandles="1" noChangeArrowheads="1" noChangeShapeType="1" noCrop="1"/>
          </p:cNvPicPr>
          <p:nvPr>
            <p:ph idx="1"/>
          </p:nvPr>
        </p:nvPicPr>
        <p:blipFill>
          <a:blip r:embed="rId2">
            <a:extLst>
              <a:ext uri="{28A0092B-C50C-407E-A947-70E740481C1C}">
                <a14:useLocalDpi xmlns:a14="http://schemas.microsoft.com/office/drawing/2010/main" val="0"/>
              </a:ext>
            </a:extLst>
          </a:blip>
          <a:srcRect/>
          <a:stretch/>
        </p:blipFill>
        <p:spPr>
          <a:xfrm>
            <a:off x="3834326" y="1234831"/>
            <a:ext cx="6242371" cy="3137061"/>
          </a:xfrm>
        </p:spPr>
      </p:pic>
      <p:sp>
        <p:nvSpPr>
          <p:cNvPr id="3" name="Konservative Strategie">
            <a:extLst>
              <a:ext uri="{FF2B5EF4-FFF2-40B4-BE49-F238E27FC236}">
                <a16:creationId xmlns:a16="http://schemas.microsoft.com/office/drawing/2014/main" id="{E5B4934D-E61F-6E39-2111-8EC4B097202D}"/>
              </a:ext>
            </a:extLst>
          </p:cNvPr>
          <p:cNvSpPr txBox="1">
            <a:spLocks noGrp="1" noRot="1" noMove="1" noResize="1" noEditPoints="1" noAdjustHandles="1" noChangeArrowheads="1" noChangeShapeType="1"/>
          </p:cNvSpPr>
          <p:nvPr/>
        </p:nvSpPr>
        <p:spPr>
          <a:xfrm>
            <a:off x="4198332" y="3994689"/>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i="0" u="none" strike="noStrike" baseline="0">
                <a:effectLst/>
              </a:rPr>
              <a:t>Konservative Strategie | </a:t>
            </a:r>
            <a:r>
              <a:rPr lang="de-DE" sz="900" b="0" i="0" u="none" strike="noStrike" baseline="0">
                <a:effectLst/>
              </a:rPr>
              <a:t>Risikoklasse 4</a:t>
            </a:r>
            <a:r>
              <a:rPr lang="de-DE" sz="900" b="0" i="0" u="none" strike="noStrike" baseline="0"/>
              <a:t> </a:t>
            </a:r>
            <a:endParaRPr lang="de-DE" sz="900"/>
          </a:p>
        </p:txBody>
      </p:sp>
      <p:sp>
        <p:nvSpPr>
          <p:cNvPr id="7" name="Defensive Strategie">
            <a:extLst>
              <a:ext uri="{FF2B5EF4-FFF2-40B4-BE49-F238E27FC236}">
                <a16:creationId xmlns:a16="http://schemas.microsoft.com/office/drawing/2014/main" id="{2800C091-E032-F9E8-4765-DA1CD218CCBF}"/>
              </a:ext>
            </a:extLst>
          </p:cNvPr>
          <p:cNvSpPr txBox="1">
            <a:spLocks noGrp="1" noRot="1" noMove="1" noResize="1" noEditPoints="1" noAdjustHandles="1" noChangeArrowheads="1" noChangeShapeType="1"/>
          </p:cNvSpPr>
          <p:nvPr/>
        </p:nvSpPr>
        <p:spPr>
          <a:xfrm>
            <a:off x="4653944" y="3347913"/>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i="0" u="none" strike="noStrike" baseline="0" dirty="0">
                <a:effectLst/>
              </a:rPr>
              <a:t>Defensive Strategie | </a:t>
            </a:r>
            <a:r>
              <a:rPr lang="de-DE" sz="900" b="0" i="0" u="none" strike="noStrike" baseline="0" dirty="0">
                <a:effectLst/>
              </a:rPr>
              <a:t>Risikoklasse 4</a:t>
            </a:r>
            <a:r>
              <a:rPr lang="de-DE" sz="900" b="0" i="0" u="none" strike="noStrike" baseline="0" dirty="0"/>
              <a:t> </a:t>
            </a:r>
            <a:endParaRPr lang="de-DE" sz="900" dirty="0"/>
          </a:p>
        </p:txBody>
      </p:sp>
      <p:sp>
        <p:nvSpPr>
          <p:cNvPr id="9" name="Defensiv Plus Strategie">
            <a:extLst>
              <a:ext uri="{FF2B5EF4-FFF2-40B4-BE49-F238E27FC236}">
                <a16:creationId xmlns:a16="http://schemas.microsoft.com/office/drawing/2014/main" id="{A32EF321-C0CE-1061-68BB-BC5F67885D71}"/>
              </a:ext>
            </a:extLst>
          </p:cNvPr>
          <p:cNvSpPr txBox="1">
            <a:spLocks noGrp="1" noRot="1" noMove="1" noResize="1" noEditPoints="1" noAdjustHandles="1" noChangeArrowheads="1" noChangeShapeType="1"/>
          </p:cNvSpPr>
          <p:nvPr/>
        </p:nvSpPr>
        <p:spPr>
          <a:xfrm>
            <a:off x="5352463" y="2809237"/>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i="0" u="none" strike="noStrike" baseline="0" dirty="0">
                <a:effectLst/>
              </a:rPr>
              <a:t>Defensiv Plus Strategie | </a:t>
            </a:r>
            <a:r>
              <a:rPr lang="de-DE" sz="900" b="0" i="0" u="none" strike="noStrike" baseline="0" dirty="0">
                <a:effectLst/>
              </a:rPr>
              <a:t>Risikoklasse 5</a:t>
            </a:r>
            <a:r>
              <a:rPr lang="de-DE" sz="900" b="0" i="0" u="none" strike="noStrike" baseline="0" dirty="0"/>
              <a:t> </a:t>
            </a:r>
            <a:endParaRPr lang="de-DE" sz="900" dirty="0"/>
          </a:p>
        </p:txBody>
      </p:sp>
      <p:sp>
        <p:nvSpPr>
          <p:cNvPr id="12" name="Ausgewogene Strategie">
            <a:extLst>
              <a:ext uri="{FF2B5EF4-FFF2-40B4-BE49-F238E27FC236}">
                <a16:creationId xmlns:a16="http://schemas.microsoft.com/office/drawing/2014/main" id="{A31091C3-D32D-373B-4666-F70ADF722068}"/>
              </a:ext>
            </a:extLst>
          </p:cNvPr>
          <p:cNvSpPr txBox="1">
            <a:spLocks noGrp="1" noRot="1" noMove="1" noResize="1" noEditPoints="1" noAdjustHandles="1" noChangeArrowheads="1" noChangeShapeType="1"/>
          </p:cNvSpPr>
          <p:nvPr/>
        </p:nvSpPr>
        <p:spPr>
          <a:xfrm>
            <a:off x="6375500" y="2336635"/>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i="0" u="none" strike="noStrike" baseline="0">
                <a:effectLst/>
              </a:rPr>
              <a:t>Ausgewogene Strategie | </a:t>
            </a:r>
            <a:r>
              <a:rPr lang="de-DE" sz="900" b="0" i="0" u="none" strike="noStrike" baseline="0">
                <a:effectLst/>
              </a:rPr>
              <a:t>Risikoklasse 5</a:t>
            </a:r>
            <a:r>
              <a:rPr lang="de-DE" sz="900" b="0" i="0" u="none" strike="noStrike" baseline="0"/>
              <a:t> </a:t>
            </a:r>
            <a:endParaRPr lang="de-DE" sz="900"/>
          </a:p>
        </p:txBody>
      </p:sp>
      <p:sp>
        <p:nvSpPr>
          <p:cNvPr id="14" name="Offensive Strategie">
            <a:extLst>
              <a:ext uri="{FF2B5EF4-FFF2-40B4-BE49-F238E27FC236}">
                <a16:creationId xmlns:a16="http://schemas.microsoft.com/office/drawing/2014/main" id="{8B095A1C-17E7-24AD-3D39-F70F686B82DA}"/>
              </a:ext>
            </a:extLst>
          </p:cNvPr>
          <p:cNvSpPr txBox="1">
            <a:spLocks noGrp="1" noRot="1" noMove="1" noResize="1" noEditPoints="1" noAdjustHandles="1" noChangeArrowheads="1" noChangeShapeType="1"/>
          </p:cNvSpPr>
          <p:nvPr/>
        </p:nvSpPr>
        <p:spPr>
          <a:xfrm>
            <a:off x="8012194" y="1887803"/>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dirty="0"/>
              <a:t>Dynamic</a:t>
            </a:r>
            <a:r>
              <a:rPr lang="de-DE" sz="900" b="1" i="0" u="none" strike="noStrike" baseline="0" dirty="0">
                <a:effectLst/>
              </a:rPr>
              <a:t> Strategie |</a:t>
            </a:r>
            <a:r>
              <a:rPr lang="de-DE" sz="900" b="0" i="0" u="none" strike="noStrike" baseline="0" dirty="0">
                <a:effectLst/>
              </a:rPr>
              <a:t> Risikoklasse 6</a:t>
            </a:r>
            <a:r>
              <a:rPr lang="de-DE" sz="900" b="0" i="0" u="none" strike="noStrike" baseline="0" dirty="0"/>
              <a:t> </a:t>
            </a:r>
            <a:endParaRPr lang="de-DE" sz="900" dirty="0"/>
          </a:p>
        </p:txBody>
      </p:sp>
      <p:sp>
        <p:nvSpPr>
          <p:cNvPr id="17" name="X-Achse">
            <a:extLst>
              <a:ext uri="{FF2B5EF4-FFF2-40B4-BE49-F238E27FC236}">
                <a16:creationId xmlns:a16="http://schemas.microsoft.com/office/drawing/2014/main" id="{51117373-E4B6-54D1-4BB0-58F586CF1AEA}"/>
              </a:ext>
            </a:extLst>
          </p:cNvPr>
          <p:cNvSpPr txBox="1">
            <a:spLocks noGrp="1" noRot="1" noMove="1" noResize="1" noEditPoints="1" noAdjustHandles="1" noChangeArrowheads="1" noChangeShapeType="1"/>
          </p:cNvSpPr>
          <p:nvPr/>
        </p:nvSpPr>
        <p:spPr>
          <a:xfrm>
            <a:off x="6642463" y="4373355"/>
            <a:ext cx="720000" cy="216000"/>
          </a:xfrm>
          <a:prstGeom prst="rect">
            <a:avLst/>
          </a:prstGeom>
          <a:noFill/>
        </p:spPr>
        <p:txBody>
          <a:bodyPr wrap="square">
            <a:spAutoFit/>
          </a:bodyPr>
          <a:lstStyle/>
          <a:p>
            <a:pPr algn="ctr" rtl="0">
              <a:defRPr sz="900" b="1" i="0" u="none" strike="noStrike" kern="1200" cap="all" baseline="0">
                <a:solidFill>
                  <a:prstClr val="black">
                    <a:lumMod val="65000"/>
                    <a:lumOff val="35000"/>
                  </a:prstClr>
                </a:solidFill>
                <a:latin typeface="+mn-lt"/>
                <a:ea typeface="+mn-ea"/>
                <a:cs typeface="+mn-cs"/>
              </a:defRPr>
            </a:pPr>
            <a:r>
              <a:rPr lang="de-DE" sz="900" b="1" cap="all" baseline="0" dirty="0"/>
              <a:t>Risiko</a:t>
            </a:r>
          </a:p>
        </p:txBody>
      </p:sp>
      <p:sp>
        <p:nvSpPr>
          <p:cNvPr id="19" name="Y-Achse">
            <a:extLst>
              <a:ext uri="{FF2B5EF4-FFF2-40B4-BE49-F238E27FC236}">
                <a16:creationId xmlns:a16="http://schemas.microsoft.com/office/drawing/2014/main" id="{FA04194B-FE5C-08A7-9F07-6E546B611258}"/>
              </a:ext>
            </a:extLst>
          </p:cNvPr>
          <p:cNvSpPr txBox="1">
            <a:spLocks noGrp="1" noRot="1" noMove="1" noResize="1" noEditPoints="1" noAdjustHandles="1" noChangeArrowheads="1" noChangeShapeType="1"/>
          </p:cNvSpPr>
          <p:nvPr/>
        </p:nvSpPr>
        <p:spPr>
          <a:xfrm rot="16200000">
            <a:off x="3002720" y="2693086"/>
            <a:ext cx="1440000" cy="216000"/>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t>Erfolgschance</a:t>
            </a:r>
          </a:p>
        </p:txBody>
      </p:sp>
      <p:sp>
        <p:nvSpPr>
          <p:cNvPr id="5" name="Text">
            <a:extLst>
              <a:ext uri="{FF2B5EF4-FFF2-40B4-BE49-F238E27FC236}">
                <a16:creationId xmlns:a16="http://schemas.microsoft.com/office/drawing/2014/main" id="{D90D1E31-6379-605D-E1B9-9EBCA4BFBD14}"/>
              </a:ext>
            </a:extLst>
          </p:cNvPr>
          <p:cNvSpPr>
            <a:spLocks noGrp="1" noRot="1" noMove="1" noResize="1" noEditPoints="1" noAdjustHandles="1" noChangeArrowheads="1" noChangeShapeType="1"/>
          </p:cNvSpPr>
          <p:nvPr>
            <p:ph type="body" sz="quarter" idx="13"/>
          </p:nvPr>
        </p:nvSpPr>
        <p:spPr/>
        <p:txBody>
          <a:bodyPr/>
          <a:lstStyle/>
          <a:p>
            <a:r>
              <a:rPr lang="de-DE" dirty="0"/>
              <a:t>Unsere klassische Vermögensverwaltung umfasst fünf alternative Strategien, mit denen wir den unterschiedlichen Anforderungen unserer Kunden gerecht werden.</a:t>
            </a:r>
          </a:p>
        </p:txBody>
      </p:sp>
      <p:sp>
        <p:nvSpPr>
          <p:cNvPr id="10" name="Titel">
            <a:extLst>
              <a:ext uri="{FF2B5EF4-FFF2-40B4-BE49-F238E27FC236}">
                <a16:creationId xmlns:a16="http://schemas.microsoft.com/office/drawing/2014/main" id="{D7D00F7C-9B76-A5EE-F8C8-1827765150C1}"/>
              </a:ext>
            </a:extLst>
          </p:cNvPr>
          <p:cNvSpPr>
            <a:spLocks noGrp="1" noRot="1" noMove="1" noResize="1" noEditPoints="1" noAdjustHandles="1" noChangeArrowheads="1" noChangeShapeType="1"/>
          </p:cNvSpPr>
          <p:nvPr>
            <p:ph type="title"/>
          </p:nvPr>
        </p:nvSpPr>
        <p:spPr/>
        <p:txBody>
          <a:bodyPr/>
          <a:lstStyle/>
          <a:p>
            <a:r>
              <a:rPr lang="de-DE"/>
              <a:t>Unsere Vermögensverwaltung</a:t>
            </a:r>
            <a:endParaRPr lang="de-DE" dirty="0"/>
          </a:p>
        </p:txBody>
      </p:sp>
    </p:spTree>
    <p:extLst>
      <p:ext uri="{BB962C8B-B14F-4D97-AF65-F5344CB8AC3E}">
        <p14:creationId xmlns:p14="http://schemas.microsoft.com/office/powerpoint/2010/main" val="1741125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081DADAC-023D-6904-0920-7F79CEBD967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6</a:t>
            </a:fld>
            <a:endParaRPr lang="de-DE"/>
          </a:p>
        </p:txBody>
      </p:sp>
      <p:graphicFrame>
        <p:nvGraphicFramePr>
          <p:cNvPr id="5" name="Tabelle">
            <a:extLst>
              <a:ext uri="{FF2B5EF4-FFF2-40B4-BE49-F238E27FC236}">
                <a16:creationId xmlns:a16="http://schemas.microsoft.com/office/drawing/2014/main" id="{EC80708B-0902-3AEC-CC9D-5DD4BA0EF575}"/>
              </a:ext>
            </a:extLst>
          </p:cNvPr>
          <p:cNvGraphicFramePr>
            <a:graphicFrameLocks noGrp="1"/>
          </p:cNvGraphicFramePr>
          <p:nvPr>
            <p:ph idx="1"/>
            <p:extLst>
              <p:ext uri="{D42A27DB-BD31-4B8C-83A1-F6EECF244321}">
                <p14:modId xmlns:p14="http://schemas.microsoft.com/office/powerpoint/2010/main" val="348726628"/>
              </p:ext>
            </p:extLst>
          </p:nvPr>
        </p:nvGraphicFramePr>
        <p:xfrm>
          <a:off x="358775" y="1041400"/>
          <a:ext cx="9756000" cy="3759107"/>
        </p:xfrm>
        <a:graphic>
          <a:graphicData uri="http://schemas.openxmlformats.org/drawingml/2006/table">
            <a:tbl>
              <a:tblPr firstRow="1" bandRow="1">
                <a:tableStyleId>{2D5ABB26-0587-4C30-8999-92F81FD0307C}</a:tableStyleId>
              </a:tblPr>
              <a:tblGrid>
                <a:gridCol w="1584000">
                  <a:extLst>
                    <a:ext uri="{9D8B030D-6E8A-4147-A177-3AD203B41FA5}">
                      <a16:colId xmlns:a16="http://schemas.microsoft.com/office/drawing/2014/main" val="3761890794"/>
                    </a:ext>
                  </a:extLst>
                </a:gridCol>
                <a:gridCol w="50400">
                  <a:extLst>
                    <a:ext uri="{9D8B030D-6E8A-4147-A177-3AD203B41FA5}">
                      <a16:colId xmlns:a16="http://schemas.microsoft.com/office/drawing/2014/main" val="1578058522"/>
                    </a:ext>
                  </a:extLst>
                </a:gridCol>
                <a:gridCol w="1584000">
                  <a:extLst>
                    <a:ext uri="{9D8B030D-6E8A-4147-A177-3AD203B41FA5}">
                      <a16:colId xmlns:a16="http://schemas.microsoft.com/office/drawing/2014/main" val="3720253127"/>
                    </a:ext>
                  </a:extLst>
                </a:gridCol>
                <a:gridCol w="50400">
                  <a:extLst>
                    <a:ext uri="{9D8B030D-6E8A-4147-A177-3AD203B41FA5}">
                      <a16:colId xmlns:a16="http://schemas.microsoft.com/office/drawing/2014/main" val="3535412410"/>
                    </a:ext>
                  </a:extLst>
                </a:gridCol>
                <a:gridCol w="1584000">
                  <a:extLst>
                    <a:ext uri="{9D8B030D-6E8A-4147-A177-3AD203B41FA5}">
                      <a16:colId xmlns:a16="http://schemas.microsoft.com/office/drawing/2014/main" val="1618179102"/>
                    </a:ext>
                  </a:extLst>
                </a:gridCol>
                <a:gridCol w="50400">
                  <a:extLst>
                    <a:ext uri="{9D8B030D-6E8A-4147-A177-3AD203B41FA5}">
                      <a16:colId xmlns:a16="http://schemas.microsoft.com/office/drawing/2014/main" val="2072559993"/>
                    </a:ext>
                  </a:extLst>
                </a:gridCol>
                <a:gridCol w="1584000">
                  <a:extLst>
                    <a:ext uri="{9D8B030D-6E8A-4147-A177-3AD203B41FA5}">
                      <a16:colId xmlns:a16="http://schemas.microsoft.com/office/drawing/2014/main" val="2131862848"/>
                    </a:ext>
                  </a:extLst>
                </a:gridCol>
                <a:gridCol w="50400">
                  <a:extLst>
                    <a:ext uri="{9D8B030D-6E8A-4147-A177-3AD203B41FA5}">
                      <a16:colId xmlns:a16="http://schemas.microsoft.com/office/drawing/2014/main" val="1048734056"/>
                    </a:ext>
                  </a:extLst>
                </a:gridCol>
                <a:gridCol w="1584000">
                  <a:extLst>
                    <a:ext uri="{9D8B030D-6E8A-4147-A177-3AD203B41FA5}">
                      <a16:colId xmlns:a16="http://schemas.microsoft.com/office/drawing/2014/main" val="1963245952"/>
                    </a:ext>
                  </a:extLst>
                </a:gridCol>
                <a:gridCol w="50400">
                  <a:extLst>
                    <a:ext uri="{9D8B030D-6E8A-4147-A177-3AD203B41FA5}">
                      <a16:colId xmlns:a16="http://schemas.microsoft.com/office/drawing/2014/main" val="1182318350"/>
                    </a:ext>
                  </a:extLst>
                </a:gridCol>
                <a:gridCol w="1584000">
                  <a:extLst>
                    <a:ext uri="{9D8B030D-6E8A-4147-A177-3AD203B41FA5}">
                      <a16:colId xmlns:a16="http://schemas.microsoft.com/office/drawing/2014/main" val="3131425242"/>
                    </a:ext>
                  </a:extLst>
                </a:gridCol>
              </a:tblGrid>
              <a:tr h="396000">
                <a:tc>
                  <a:txBody>
                    <a:bodyPr/>
                    <a:lstStyle/>
                    <a:p>
                      <a:pPr algn="ctr">
                        <a:lnSpc>
                          <a:spcPts val="1300"/>
                        </a:lnSpc>
                      </a:pPr>
                      <a:endParaRPr lang="de-DE" sz="900" b="1" dirty="0">
                        <a:solidFill>
                          <a:schemeClr val="bg1"/>
                        </a:solidFill>
                      </a:endParaRPr>
                    </a:p>
                  </a:txBody>
                  <a:tcPr marL="0" marR="0" marT="0" marB="0" anchor="ctr">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Konservative</a:t>
                      </a:r>
                    </a:p>
                    <a:p>
                      <a:pPr algn="ctr">
                        <a:lnSpc>
                          <a:spcPts val="1300"/>
                        </a:lnSpc>
                      </a:pPr>
                      <a:r>
                        <a:rPr lang="de-DE" sz="900" b="1" dirty="0">
                          <a:solidFill>
                            <a:schemeClr val="bg1"/>
                          </a:solidFill>
                        </a:rPr>
                        <a:t>Strategie</a:t>
                      </a:r>
                    </a:p>
                  </a:txBody>
                  <a:tcPr marL="0" marR="0" marT="0" marB="0" anchor="ctr">
                    <a:lnL>
                      <a:noFill/>
                    </a:lnL>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Defensive  </a:t>
                      </a:r>
                    </a:p>
                    <a:p>
                      <a:pPr algn="ctr">
                        <a:lnSpc>
                          <a:spcPts val="1300"/>
                        </a:lnSpc>
                      </a:pPr>
                      <a:r>
                        <a:rPr lang="de-DE" sz="900" b="1" dirty="0">
                          <a:solidFill>
                            <a:schemeClr val="bg1"/>
                          </a:solidFill>
                        </a:rPr>
                        <a:t>Strategie</a:t>
                      </a:r>
                    </a:p>
                  </a:txBody>
                  <a:tcPr marL="0" marR="0" marT="0" marB="0" anchor="ctr">
                    <a:lnL>
                      <a:noFill/>
                    </a:lnL>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Defensiv Plus  </a:t>
                      </a:r>
                    </a:p>
                    <a:p>
                      <a:pPr algn="ctr">
                        <a:lnSpc>
                          <a:spcPts val="1300"/>
                        </a:lnSpc>
                      </a:pPr>
                      <a:r>
                        <a:rPr lang="de-DE" sz="900" b="1" dirty="0">
                          <a:solidFill>
                            <a:schemeClr val="bg1"/>
                          </a:solidFill>
                        </a:rPr>
                        <a:t>Strategie</a:t>
                      </a:r>
                    </a:p>
                  </a:txBody>
                  <a:tcPr marL="0" marR="0" marT="0" marB="0" anchor="ctr">
                    <a:lnL>
                      <a:noFill/>
                    </a:lnL>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Ausgewogene</a:t>
                      </a:r>
                    </a:p>
                    <a:p>
                      <a:pPr algn="ctr">
                        <a:lnSpc>
                          <a:spcPts val="1300"/>
                        </a:lnSpc>
                      </a:pPr>
                      <a:r>
                        <a:rPr lang="de-DE" sz="900" b="1" dirty="0">
                          <a:solidFill>
                            <a:schemeClr val="bg1"/>
                          </a:solidFill>
                        </a:rPr>
                        <a:t>Strategie</a:t>
                      </a:r>
                    </a:p>
                  </a:txBody>
                  <a:tcPr marL="0" marR="0" marT="0" marB="0" anchor="ctr">
                    <a:lnL>
                      <a:noFill/>
                    </a:lnL>
                    <a:lnR>
                      <a:noFill/>
                    </a:lnR>
                    <a:solidFill>
                      <a:schemeClr val="accent1"/>
                    </a:solidFill>
                  </a:tcPr>
                </a:tc>
                <a:tc>
                  <a:txBody>
                    <a:bodyPr/>
                    <a:lstStyle/>
                    <a:p>
                      <a:pPr algn="ctr">
                        <a:lnSpc>
                          <a:spcPts val="13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p>
                      <a:pPr algn="ctr">
                        <a:lnSpc>
                          <a:spcPts val="1300"/>
                        </a:lnSpc>
                      </a:pPr>
                      <a:r>
                        <a:rPr lang="de-DE" sz="900" b="1" dirty="0">
                          <a:solidFill>
                            <a:schemeClr val="bg1"/>
                          </a:solidFill>
                        </a:rPr>
                        <a:t>Dynamic  </a:t>
                      </a:r>
                    </a:p>
                    <a:p>
                      <a:pPr algn="ctr">
                        <a:lnSpc>
                          <a:spcPts val="1300"/>
                        </a:lnSpc>
                      </a:pPr>
                      <a:r>
                        <a:rPr lang="de-DE" sz="900" b="1" dirty="0">
                          <a:solidFill>
                            <a:schemeClr val="bg1"/>
                          </a:solidFill>
                        </a:rPr>
                        <a:t>Strategie</a:t>
                      </a:r>
                    </a:p>
                  </a:txBody>
                  <a:tcPr marL="0" marR="0" marT="0" marB="0" anchor="ctr">
                    <a:lnL>
                      <a:noFill/>
                    </a:lnL>
                    <a:solidFill>
                      <a:schemeClr val="accent1"/>
                    </a:solidFill>
                  </a:tcPr>
                </a:tc>
                <a:extLst>
                  <a:ext uri="{0D108BD9-81ED-4DB2-BD59-A6C34878D82A}">
                    <a16:rowId xmlns:a16="http://schemas.microsoft.com/office/drawing/2014/main" val="2504883458"/>
                  </a:ext>
                </a:extLst>
              </a:tr>
              <a:tr h="1224000">
                <a:tc>
                  <a:txBody>
                    <a:bodyPr/>
                    <a:lstStyle/>
                    <a:p>
                      <a:pPr algn="l">
                        <a:lnSpc>
                          <a:spcPts val="1300"/>
                        </a:lnSpc>
                      </a:pPr>
                      <a:r>
                        <a:rPr lang="de-DE" sz="900" b="1" dirty="0"/>
                        <a:t>Verwaltungsgrundsätze</a:t>
                      </a:r>
                    </a:p>
                  </a:txBody>
                  <a:tcPr marL="72000" marR="72000" marT="108000" marB="108000">
                    <a:lnR>
                      <a:noFill/>
                    </a:lnR>
                    <a:lnB w="3175" cap="flat" cmpd="sng" algn="ctr">
                      <a:solidFill>
                        <a:schemeClr val="accent1"/>
                      </a:solidFill>
                      <a:prstDash val="solid"/>
                      <a:round/>
                      <a:headEnd type="none" w="med" len="med"/>
                      <a:tailEnd type="none" w="med" len="med"/>
                    </a:lnB>
                  </a:tcPr>
                </a:tc>
                <a:tc>
                  <a:txBody>
                    <a:bodyPr/>
                    <a:lstStyle/>
                    <a:p>
                      <a:pPr>
                        <a:lnSpc>
                          <a:spcPts val="1300"/>
                        </a:lnSpc>
                      </a:pPr>
                      <a:endParaRPr lang="de-DE" sz="90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Vermögensanlage aus-</a:t>
                      </a:r>
                    </a:p>
                    <a:p>
                      <a:pPr algn="ctr">
                        <a:lnSpc>
                          <a:spcPts val="1300"/>
                        </a:lnSpc>
                      </a:pPr>
                      <a:r>
                        <a:rPr lang="de-DE" sz="900" dirty="0"/>
                        <a:t>schließlich in Anleihen, Ren-</a:t>
                      </a:r>
                    </a:p>
                    <a:p>
                      <a:pPr algn="ctr">
                        <a:lnSpc>
                          <a:spcPts val="1300"/>
                        </a:lnSpc>
                      </a:pPr>
                      <a:r>
                        <a:rPr lang="de-DE" sz="900" dirty="0" err="1"/>
                        <a:t>tenfonds</a:t>
                      </a:r>
                      <a:r>
                        <a:rPr lang="de-DE" sz="900" dirty="0"/>
                        <a:t> und Rohstoffen. </a:t>
                      </a:r>
                    </a:p>
                  </a:txBody>
                  <a:tcPr marL="0" marR="0" marT="108000" marB="108000">
                    <a:lnL>
                      <a:noFill/>
                    </a:lnL>
                    <a:lnR>
                      <a:noFill/>
                    </a:lnR>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Nominaler </a:t>
                      </a:r>
                      <a:r>
                        <a:rPr lang="de-DE" sz="900" dirty="0" err="1"/>
                        <a:t>Vermögenser</a:t>
                      </a:r>
                      <a:r>
                        <a:rPr lang="de-DE" sz="900" dirty="0"/>
                        <a:t>-</a:t>
                      </a:r>
                    </a:p>
                    <a:p>
                      <a:pPr algn="ctr">
                        <a:lnSpc>
                          <a:spcPts val="1300"/>
                        </a:lnSpc>
                      </a:pPr>
                      <a:r>
                        <a:rPr lang="de-DE" sz="900" dirty="0"/>
                        <a:t>halt ohne größere Wert-</a:t>
                      </a:r>
                    </a:p>
                    <a:p>
                      <a:pPr algn="ctr">
                        <a:lnSpc>
                          <a:spcPts val="1300"/>
                        </a:lnSpc>
                      </a:pPr>
                      <a:r>
                        <a:rPr lang="de-DE" sz="900" dirty="0" err="1"/>
                        <a:t>schwankungen</a:t>
                      </a:r>
                      <a:r>
                        <a:rPr lang="de-DE" sz="900" dirty="0"/>
                        <a:t> steht im </a:t>
                      </a:r>
                    </a:p>
                    <a:p>
                      <a:pPr algn="ctr">
                        <a:lnSpc>
                          <a:spcPts val="1300"/>
                        </a:lnSpc>
                      </a:pPr>
                      <a:r>
                        <a:rPr lang="de-DE" sz="900" dirty="0"/>
                        <a:t>Vordergrund. </a:t>
                      </a:r>
                    </a:p>
                  </a:txBody>
                  <a:tcPr marL="0" marR="0" marT="108000" marB="108000">
                    <a:lnL>
                      <a:noFill/>
                    </a:lnL>
                    <a:lnR>
                      <a:noFill/>
                    </a:lnR>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Sicherheit tritt gegenüber</a:t>
                      </a:r>
                    </a:p>
                    <a:p>
                      <a:pPr algn="ctr">
                        <a:lnSpc>
                          <a:spcPts val="1300"/>
                        </a:lnSpc>
                      </a:pPr>
                      <a:r>
                        <a:rPr lang="de-DE" sz="900" dirty="0"/>
                        <a:t>den Kurschancen zurück,</a:t>
                      </a:r>
                    </a:p>
                    <a:p>
                      <a:pPr algn="ctr">
                        <a:lnSpc>
                          <a:spcPts val="1300"/>
                        </a:lnSpc>
                      </a:pPr>
                      <a:r>
                        <a:rPr lang="de-DE" sz="900" dirty="0"/>
                        <a:t>realer Vermögenserhalt </a:t>
                      </a:r>
                    </a:p>
                    <a:p>
                      <a:pPr algn="ctr">
                        <a:lnSpc>
                          <a:spcPts val="1300"/>
                        </a:lnSpc>
                      </a:pPr>
                      <a:r>
                        <a:rPr lang="de-DE" sz="900" dirty="0"/>
                        <a:t>wird angestrebt.</a:t>
                      </a:r>
                    </a:p>
                  </a:txBody>
                  <a:tcPr marL="0" marR="0" marT="108000" marB="108000">
                    <a:lnL>
                      <a:noFill/>
                    </a:lnL>
                    <a:lnR>
                      <a:noFill/>
                    </a:lnR>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Ausgewogenes Verhältnis </a:t>
                      </a:r>
                    </a:p>
                    <a:p>
                      <a:pPr algn="ctr">
                        <a:lnSpc>
                          <a:spcPts val="1300"/>
                        </a:lnSpc>
                      </a:pPr>
                      <a:r>
                        <a:rPr lang="de-DE" sz="900" dirty="0"/>
                        <a:t>zwischen Ertragschancen </a:t>
                      </a:r>
                    </a:p>
                    <a:p>
                      <a:pPr algn="ctr">
                        <a:lnSpc>
                          <a:spcPts val="1300"/>
                        </a:lnSpc>
                      </a:pPr>
                      <a:r>
                        <a:rPr lang="de-DE" sz="900" dirty="0"/>
                        <a:t>und Risiken. Langfristig </a:t>
                      </a:r>
                      <a:r>
                        <a:rPr lang="de-DE" sz="900" dirty="0" err="1"/>
                        <a:t>be</a:t>
                      </a:r>
                      <a:r>
                        <a:rPr lang="de-DE" sz="900" dirty="0"/>
                        <a:t>-</a:t>
                      </a:r>
                    </a:p>
                    <a:p>
                      <a:pPr algn="ctr">
                        <a:lnSpc>
                          <a:spcPts val="1300"/>
                        </a:lnSpc>
                      </a:pPr>
                      <a:r>
                        <a:rPr lang="de-DE" sz="900" dirty="0"/>
                        <a:t>deutender, realer </a:t>
                      </a:r>
                      <a:r>
                        <a:rPr lang="de-DE" sz="900" dirty="0" err="1"/>
                        <a:t>Vermö</a:t>
                      </a:r>
                      <a:r>
                        <a:rPr lang="de-DE" sz="900" dirty="0"/>
                        <a:t>-</a:t>
                      </a:r>
                    </a:p>
                    <a:p>
                      <a:pPr algn="ctr">
                        <a:lnSpc>
                          <a:spcPts val="1300"/>
                        </a:lnSpc>
                      </a:pPr>
                      <a:r>
                        <a:rPr lang="de-DE" sz="900" dirty="0" err="1"/>
                        <a:t>genszuwachs</a:t>
                      </a:r>
                      <a:r>
                        <a:rPr lang="de-DE" sz="900" dirty="0"/>
                        <a:t>.</a:t>
                      </a:r>
                    </a:p>
                  </a:txBody>
                  <a:tcPr marL="0" marR="0" marT="108000" marB="108000">
                    <a:lnL>
                      <a:noFill/>
                    </a:lnL>
                    <a:lnR>
                      <a:noFill/>
                    </a:lnR>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Höhere Risiken spiegeln </a:t>
                      </a:r>
                    </a:p>
                    <a:p>
                      <a:pPr algn="ctr">
                        <a:lnSpc>
                          <a:spcPts val="1300"/>
                        </a:lnSpc>
                      </a:pPr>
                      <a:r>
                        <a:rPr lang="de-DE" sz="900" dirty="0"/>
                        <a:t>sich in höheren Ertrags-</a:t>
                      </a:r>
                    </a:p>
                    <a:p>
                      <a:pPr algn="ctr">
                        <a:lnSpc>
                          <a:spcPts val="1300"/>
                        </a:lnSpc>
                      </a:pPr>
                      <a:r>
                        <a:rPr lang="de-DE" sz="900" dirty="0" err="1"/>
                        <a:t>chancen</a:t>
                      </a:r>
                      <a:r>
                        <a:rPr lang="de-DE" sz="900" dirty="0"/>
                        <a:t> wider. </a:t>
                      </a:r>
                      <a:r>
                        <a:rPr lang="de-DE" sz="900" dirty="0" err="1"/>
                        <a:t>Langfris</a:t>
                      </a:r>
                      <a:r>
                        <a:rPr lang="de-DE" sz="900" dirty="0"/>
                        <a:t>-</a:t>
                      </a:r>
                    </a:p>
                    <a:p>
                      <a:pPr algn="ctr">
                        <a:lnSpc>
                          <a:spcPts val="1300"/>
                        </a:lnSpc>
                      </a:pPr>
                      <a:r>
                        <a:rPr lang="de-DE" sz="900" dirty="0" err="1"/>
                        <a:t>tiger</a:t>
                      </a:r>
                      <a:r>
                        <a:rPr lang="de-DE" sz="900" dirty="0"/>
                        <a:t>, überdurchschnitt-</a:t>
                      </a:r>
                      <a:br>
                        <a:rPr lang="de-DE" sz="900" dirty="0"/>
                      </a:br>
                      <a:r>
                        <a:rPr lang="de-DE" sz="900" dirty="0" err="1"/>
                        <a:t>licher</a:t>
                      </a:r>
                      <a:r>
                        <a:rPr lang="de-DE" sz="900" dirty="0"/>
                        <a:t> Vermögenszuwachs.</a:t>
                      </a:r>
                    </a:p>
                  </a:txBody>
                  <a:tcPr marL="0" marR="0" marT="108000" marB="108000">
                    <a:lnL>
                      <a:noFill/>
                    </a:lnL>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48731864"/>
                  </a:ext>
                </a:extLst>
              </a:tr>
              <a:tr h="370840">
                <a:tc>
                  <a:txBody>
                    <a:bodyPr/>
                    <a:lstStyle/>
                    <a:p>
                      <a:pPr>
                        <a:lnSpc>
                          <a:spcPts val="1300"/>
                        </a:lnSpc>
                      </a:pPr>
                      <a:r>
                        <a:rPr lang="de-DE" sz="900" b="1" dirty="0"/>
                        <a:t>Anlageregion</a:t>
                      </a:r>
                    </a:p>
                  </a:txBody>
                  <a:tcPr marL="72000" marR="72000" marT="108000" marB="108000">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ts val="13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 Schwerpunkt Europa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Weltweit</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Weltweit</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Weltweit</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Weltweit</a:t>
                      </a:r>
                    </a:p>
                  </a:txBody>
                  <a:tcPr marL="0" marR="0" marT="108000" marB="108000">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985023547"/>
                  </a:ext>
                </a:extLst>
              </a:tr>
              <a:tr h="370840">
                <a:tc>
                  <a:txBody>
                    <a:bodyPr/>
                    <a:lstStyle/>
                    <a:p>
                      <a:pPr>
                        <a:lnSpc>
                          <a:spcPts val="1300"/>
                        </a:lnSpc>
                      </a:pPr>
                      <a:r>
                        <a:rPr lang="de-DE" sz="900" b="1" dirty="0"/>
                        <a:t>Aktienanteil</a:t>
                      </a:r>
                    </a:p>
                  </a:txBody>
                  <a:tcPr marL="72000" marR="72000" marT="108000" marB="108000">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ts val="13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Keine Investition</a:t>
                      </a:r>
                    </a:p>
                    <a:p>
                      <a:pPr algn="ctr">
                        <a:lnSpc>
                          <a:spcPts val="1300"/>
                        </a:lnSpc>
                      </a:pPr>
                      <a:r>
                        <a:rPr lang="de-DE" sz="900" dirty="0"/>
                        <a:t>in Aktien</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max. 25 %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mind. 20 %, max.50 %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 mind. 30 %, max. 70 %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 mind. 90 %, </a:t>
                      </a:r>
                    </a:p>
                    <a:p>
                      <a:pPr algn="ctr">
                        <a:lnSpc>
                          <a:spcPts val="1300"/>
                        </a:lnSpc>
                      </a:pPr>
                      <a:r>
                        <a:rPr lang="de-DE" sz="900" dirty="0"/>
                        <a:t>max. 100 %</a:t>
                      </a:r>
                    </a:p>
                  </a:txBody>
                  <a:tcPr marL="0" marR="0" marT="108000" marB="108000">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88615533"/>
                  </a:ext>
                </a:extLst>
              </a:tr>
              <a:tr h="370840">
                <a:tc>
                  <a:txBody>
                    <a:bodyPr/>
                    <a:lstStyle/>
                    <a:p>
                      <a:pPr>
                        <a:lnSpc>
                          <a:spcPts val="1300"/>
                        </a:lnSpc>
                      </a:pPr>
                      <a:r>
                        <a:rPr lang="de-DE" sz="900" b="1" dirty="0" err="1"/>
                        <a:t>Anleihenanteil</a:t>
                      </a:r>
                      <a:r>
                        <a:rPr lang="de-DE" sz="900" b="1" dirty="0"/>
                        <a:t> / </a:t>
                      </a:r>
                    </a:p>
                    <a:p>
                      <a:pPr>
                        <a:lnSpc>
                          <a:spcPts val="1300"/>
                        </a:lnSpc>
                      </a:pPr>
                      <a:r>
                        <a:rPr lang="de-DE" sz="900" b="1" dirty="0"/>
                        <a:t>Liquidität </a:t>
                      </a:r>
                    </a:p>
                  </a:txBody>
                  <a:tcPr marL="72000" marR="72000" marT="108000" marB="108000">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ts val="13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max. 100 %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max. 100 %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max. 80 %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max. 70 % </a:t>
                      </a:r>
                    </a:p>
                  </a:txBody>
                  <a:tcPr marL="0" marR="0" marT="108000" marB="108000">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max. 10 %</a:t>
                      </a:r>
                    </a:p>
                  </a:txBody>
                  <a:tcPr marL="0" marR="0" marT="108000" marB="108000">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80682499"/>
                  </a:ext>
                </a:extLst>
              </a:tr>
              <a:tr h="370840">
                <a:tc>
                  <a:txBody>
                    <a:bodyPr/>
                    <a:lstStyle/>
                    <a:p>
                      <a:pPr>
                        <a:lnSpc>
                          <a:spcPts val="1300"/>
                        </a:lnSpc>
                      </a:pPr>
                      <a:r>
                        <a:rPr lang="de-DE" sz="900" b="1" dirty="0"/>
                        <a:t>Fremdwährungen</a:t>
                      </a:r>
                    </a:p>
                  </a:txBody>
                  <a:tcPr marL="72000" marR="72000" marT="108000" marB="108000">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a:lnSpc>
                          <a:spcPts val="1300"/>
                        </a:lnSpc>
                      </a:pPr>
                      <a:endParaRPr lang="de-DE" sz="900" dirty="0"/>
                    </a:p>
                  </a:txBody>
                  <a:tcPr marL="0" marR="0" marT="0" marB="0">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max. 25 % </a:t>
                      </a:r>
                    </a:p>
                  </a:txBody>
                  <a:tcPr marL="0" marR="0" marT="108000" marB="108000">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Keine Limitierung </a:t>
                      </a:r>
                    </a:p>
                    <a:p>
                      <a:pPr algn="ctr">
                        <a:lnSpc>
                          <a:spcPts val="1300"/>
                        </a:lnSpc>
                      </a:pPr>
                      <a:r>
                        <a:rPr lang="de-DE" sz="900" dirty="0"/>
                        <a:t>aufgrund des  </a:t>
                      </a:r>
                    </a:p>
                    <a:p>
                      <a:pPr algn="ctr">
                        <a:lnSpc>
                          <a:spcPts val="1300"/>
                        </a:lnSpc>
                      </a:pPr>
                      <a:r>
                        <a:rPr lang="de-DE" sz="900" dirty="0"/>
                        <a:t>weltweiten Ansatzes.</a:t>
                      </a:r>
                    </a:p>
                  </a:txBody>
                  <a:tcPr marL="0" marR="0" marT="108000" marB="108000">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Keine Limitierung </a:t>
                      </a:r>
                    </a:p>
                    <a:p>
                      <a:pPr algn="ctr">
                        <a:lnSpc>
                          <a:spcPts val="1300"/>
                        </a:lnSpc>
                      </a:pPr>
                      <a:r>
                        <a:rPr lang="de-DE" sz="900" dirty="0"/>
                        <a:t>aufgrund des  </a:t>
                      </a:r>
                    </a:p>
                    <a:p>
                      <a:pPr algn="ctr">
                        <a:lnSpc>
                          <a:spcPts val="1300"/>
                        </a:lnSpc>
                      </a:pPr>
                      <a:r>
                        <a:rPr lang="de-DE" sz="900" dirty="0"/>
                        <a:t>weltweiten Ansatzes.</a:t>
                      </a:r>
                    </a:p>
                  </a:txBody>
                  <a:tcPr marL="0" marR="0" marT="108000" marB="108000">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Keine Limitierung </a:t>
                      </a:r>
                    </a:p>
                    <a:p>
                      <a:pPr algn="ctr">
                        <a:lnSpc>
                          <a:spcPts val="1300"/>
                        </a:lnSpc>
                      </a:pPr>
                      <a:r>
                        <a:rPr lang="de-DE" sz="900" dirty="0"/>
                        <a:t>aufgrund des  </a:t>
                      </a:r>
                    </a:p>
                    <a:p>
                      <a:pPr algn="ctr">
                        <a:lnSpc>
                          <a:spcPts val="1300"/>
                        </a:lnSpc>
                      </a:pPr>
                      <a:r>
                        <a:rPr lang="de-DE" sz="900" dirty="0"/>
                        <a:t>weltweiten Ansatzes.</a:t>
                      </a:r>
                    </a:p>
                  </a:txBody>
                  <a:tcPr marL="0" marR="0" marT="108000" marB="108000">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algn="ctr">
                        <a:lnSpc>
                          <a:spcPts val="1300"/>
                        </a:lnSpc>
                      </a:pPr>
                      <a:endParaRPr lang="de-DE" sz="900" dirty="0"/>
                    </a:p>
                  </a:txBody>
                  <a:tcPr marL="0" marR="0" marT="108000" marB="108000">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300"/>
                        </a:lnSpc>
                      </a:pPr>
                      <a:r>
                        <a:rPr lang="de-DE" sz="900" dirty="0"/>
                        <a:t>Keine Limitierung </a:t>
                      </a:r>
                    </a:p>
                    <a:p>
                      <a:pPr algn="ctr">
                        <a:lnSpc>
                          <a:spcPts val="1300"/>
                        </a:lnSpc>
                      </a:pPr>
                      <a:r>
                        <a:rPr lang="de-DE" sz="900" dirty="0"/>
                        <a:t>aufgrund des  </a:t>
                      </a:r>
                    </a:p>
                    <a:p>
                      <a:pPr algn="ctr">
                        <a:lnSpc>
                          <a:spcPts val="1300"/>
                        </a:lnSpc>
                      </a:pPr>
                      <a:r>
                        <a:rPr lang="de-DE" sz="900" dirty="0"/>
                        <a:t>weltweiten Ansatzes.</a:t>
                      </a:r>
                    </a:p>
                  </a:txBody>
                  <a:tcPr marL="0" marR="0" marT="108000" marB="108000">
                    <a:lnL>
                      <a:noFill/>
                    </a:lnL>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46866869"/>
                  </a:ext>
                </a:extLst>
              </a:tr>
            </a:tbl>
          </a:graphicData>
        </a:graphic>
      </p:graphicFrame>
      <p:sp>
        <p:nvSpPr>
          <p:cNvPr id="2" name="Titel">
            <a:extLst>
              <a:ext uri="{FF2B5EF4-FFF2-40B4-BE49-F238E27FC236}">
                <a16:creationId xmlns:a16="http://schemas.microsoft.com/office/drawing/2014/main" id="{F401EBA1-E5FC-9FBC-793D-EB26966EC660}"/>
              </a:ext>
            </a:extLst>
          </p:cNvPr>
          <p:cNvSpPr>
            <a:spLocks noGrp="1" noRot="1" noMove="1" noResize="1" noEditPoints="1" noAdjustHandles="1" noChangeArrowheads="1" noChangeShapeType="1"/>
          </p:cNvSpPr>
          <p:nvPr>
            <p:ph type="title"/>
          </p:nvPr>
        </p:nvSpPr>
        <p:spPr/>
        <p:txBody>
          <a:bodyPr/>
          <a:lstStyle/>
          <a:p>
            <a:r>
              <a:rPr lang="de-DE" dirty="0"/>
              <a:t>Unsere fünf klassischen Vermögensverwaltungsstrategien</a:t>
            </a:r>
          </a:p>
        </p:txBody>
      </p:sp>
    </p:spTree>
    <p:extLst>
      <p:ext uri="{BB962C8B-B14F-4D97-AF65-F5344CB8AC3E}">
        <p14:creationId xmlns:p14="http://schemas.microsoft.com/office/powerpoint/2010/main" val="4254354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7</a:t>
            </a:fld>
            <a:endParaRPr lang="de-DE"/>
          </a:p>
        </p:txBody>
      </p:sp>
      <p:graphicFrame>
        <p:nvGraphicFramePr>
          <p:cNvPr id="5" name="C_Kennzahlen">
            <a:extLst>
              <a:ext uri="{FF2B5EF4-FFF2-40B4-BE49-F238E27FC236}">
                <a16:creationId xmlns:a16="http://schemas.microsoft.com/office/drawing/2014/main" id="{00000000-0008-0000-3100-000004000000}"/>
              </a:ext>
            </a:extLst>
          </p:cNvPr>
          <p:cNvGraphicFramePr>
            <a:graphicFrameLocks noGrp="1" noDrilldown="1" noMove="1" noResize="1"/>
          </p:cNvGraphicFramePr>
          <p:nvPr>
            <p:extLst>
              <p:ext uri="{D42A27DB-BD31-4B8C-83A1-F6EECF244321}">
                <p14:modId xmlns:p14="http://schemas.microsoft.com/office/powerpoint/2010/main" val="1949756666"/>
              </p:ext>
            </p:extLst>
          </p:nvPr>
        </p:nvGraphicFramePr>
        <p:xfrm>
          <a:off x="355600" y="2666999"/>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DDC08621-972B-2874-14A2-C79E9B9E557B}"/>
              </a:ext>
            </a:extLst>
          </p:cNvPr>
          <p:cNvGraphicFramePr>
            <a:graphicFrameLocks noGrp="1" noDrilldown="1" noMove="1" noResize="1"/>
          </p:cNvGraphicFramePr>
          <p:nvPr>
            <p:extLst>
              <p:ext uri="{D42A27DB-BD31-4B8C-83A1-F6EECF244321}">
                <p14:modId xmlns:p14="http://schemas.microsoft.com/office/powerpoint/2010/main" val="774744264"/>
              </p:ext>
            </p:extLst>
          </p:nvPr>
        </p:nvGraphicFramePr>
        <p:xfrm>
          <a:off x="4508500" y="1040400"/>
          <a:ext cx="5613400" cy="4772448"/>
        </p:xfrm>
        <a:graphic>
          <a:graphicData uri="http://schemas.openxmlformats.org/drawingml/2006/table">
            <a:tbl>
              <a:tblPr/>
              <a:tblGrid>
                <a:gridCol w="2184400">
                  <a:extLst>
                    <a:ext uri="{9D8B030D-6E8A-4147-A177-3AD203B41FA5}">
                      <a16:colId xmlns:a16="http://schemas.microsoft.com/office/drawing/2014/main" val="70566653"/>
                    </a:ext>
                  </a:extLst>
                </a:gridCol>
                <a:gridCol w="50800">
                  <a:extLst>
                    <a:ext uri="{9D8B030D-6E8A-4147-A177-3AD203B41FA5}">
                      <a16:colId xmlns:a16="http://schemas.microsoft.com/office/drawing/2014/main" val="1070084038"/>
                    </a:ext>
                  </a:extLst>
                </a:gridCol>
                <a:gridCol w="571500">
                  <a:extLst>
                    <a:ext uri="{9D8B030D-6E8A-4147-A177-3AD203B41FA5}">
                      <a16:colId xmlns:a16="http://schemas.microsoft.com/office/drawing/2014/main" val="3456133595"/>
                    </a:ext>
                  </a:extLst>
                </a:gridCol>
                <a:gridCol w="50800">
                  <a:extLst>
                    <a:ext uri="{9D8B030D-6E8A-4147-A177-3AD203B41FA5}">
                      <a16:colId xmlns:a16="http://schemas.microsoft.com/office/drawing/2014/main" val="3182149469"/>
                    </a:ext>
                  </a:extLst>
                </a:gridCol>
                <a:gridCol w="571500">
                  <a:extLst>
                    <a:ext uri="{9D8B030D-6E8A-4147-A177-3AD203B41FA5}">
                      <a16:colId xmlns:a16="http://schemas.microsoft.com/office/drawing/2014/main" val="115188569"/>
                    </a:ext>
                  </a:extLst>
                </a:gridCol>
                <a:gridCol w="50800">
                  <a:extLst>
                    <a:ext uri="{9D8B030D-6E8A-4147-A177-3AD203B41FA5}">
                      <a16:colId xmlns:a16="http://schemas.microsoft.com/office/drawing/2014/main" val="1859081157"/>
                    </a:ext>
                  </a:extLst>
                </a:gridCol>
                <a:gridCol w="571500">
                  <a:extLst>
                    <a:ext uri="{9D8B030D-6E8A-4147-A177-3AD203B41FA5}">
                      <a16:colId xmlns:a16="http://schemas.microsoft.com/office/drawing/2014/main" val="748911775"/>
                    </a:ext>
                  </a:extLst>
                </a:gridCol>
                <a:gridCol w="50800">
                  <a:extLst>
                    <a:ext uri="{9D8B030D-6E8A-4147-A177-3AD203B41FA5}">
                      <a16:colId xmlns:a16="http://schemas.microsoft.com/office/drawing/2014/main" val="2392719737"/>
                    </a:ext>
                  </a:extLst>
                </a:gridCol>
                <a:gridCol w="571500">
                  <a:extLst>
                    <a:ext uri="{9D8B030D-6E8A-4147-A177-3AD203B41FA5}">
                      <a16:colId xmlns:a16="http://schemas.microsoft.com/office/drawing/2014/main" val="3877860717"/>
                    </a:ext>
                  </a:extLst>
                </a:gridCol>
                <a:gridCol w="50800">
                  <a:extLst>
                    <a:ext uri="{9D8B030D-6E8A-4147-A177-3AD203B41FA5}">
                      <a16:colId xmlns:a16="http://schemas.microsoft.com/office/drawing/2014/main" val="3905978525"/>
                    </a:ext>
                  </a:extLst>
                </a:gridCol>
                <a:gridCol w="889000">
                  <a:extLst>
                    <a:ext uri="{9D8B030D-6E8A-4147-A177-3AD203B41FA5}">
                      <a16:colId xmlns:a16="http://schemas.microsoft.com/office/drawing/2014/main" val="2737504853"/>
                    </a:ext>
                  </a:extLst>
                </a:gridCol>
              </a:tblGrid>
              <a:tr h="216000">
                <a:tc>
                  <a:txBody>
                    <a:bodyPr/>
                    <a:lstStyle/>
                    <a:p>
                      <a:pPr algn="l" fontAlgn="ctr">
                        <a:buNone/>
                      </a:pPr>
                      <a:r>
                        <a:rPr lang="de-DE" sz="700" b="0" i="0" u="none" strike="noStrike">
                          <a:solidFill>
                            <a:srgbClr val="FFFFFF"/>
                          </a:solidFill>
                          <a:effectLst/>
                          <a:latin typeface="Noto Sans" panose="020B0502040504020204" pitchFamily="34" charset="0"/>
                        </a:rPr>
                        <a:t>WERTPAPIER</a:t>
                      </a:r>
                    </a:p>
                  </a:txBody>
                  <a:tcPr marL="68994"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859770524"/>
                  </a:ext>
                </a:extLst>
              </a:tr>
              <a:tr h="175248">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994"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935749000"/>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33047634"/>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310058601"/>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0996362"/>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20554042"/>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81965593"/>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50602378"/>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19977074"/>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5115128"/>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79627909"/>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55947135"/>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59120546"/>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89839023"/>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2514447"/>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13719665"/>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47128807"/>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02579879"/>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91455699"/>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15388373"/>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12821406"/>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24561171"/>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84982245"/>
                  </a:ext>
                </a:extLst>
              </a:tr>
              <a:tr h="175248">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23059467"/>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1935374"/>
                  </a:ext>
                </a:extLst>
              </a:tr>
              <a:tr h="175248">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81776199"/>
                  </a:ext>
                </a:extLst>
              </a:tr>
              <a:tr h="175248">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994"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dirty="0">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127174482"/>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noDrilldown="1" noMove="1" noResize="1"/>
          </p:cNvGraphicFramePr>
          <p:nvPr>
            <p:ph type="tbl" sz="quarter" idx="13"/>
            <p:extLst>
              <p:ext uri="{D42A27DB-BD31-4B8C-83A1-F6EECF244321}">
                <p14:modId xmlns:p14="http://schemas.microsoft.com/office/powerpoint/2010/main" val="3712554374"/>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Konservativ</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Schwerpunkt Europa</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100%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25 %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Konservativ</a:t>
            </a:r>
          </a:p>
        </p:txBody>
      </p:sp>
    </p:spTree>
    <p:extLst>
      <p:ext uri="{BB962C8B-B14F-4D97-AF65-F5344CB8AC3E}">
        <p14:creationId xmlns:p14="http://schemas.microsoft.com/office/powerpoint/2010/main" val="3986531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 bis zum 31.12. des Vorjahres</a:t>
            </a:r>
            <a:r>
              <a:rPr lang="de-DE" b="1" dirty="0"/>
              <a:t>; </a:t>
            </a:r>
            <a:r>
              <a:rPr lang="de-DE" dirty="0"/>
              <a:t>vollständige Performancehistorie kann auf Anfrage eingesehen werden</a:t>
            </a:r>
          </a:p>
          <a:p>
            <a:r>
              <a:rPr lang="de-DE" dirty="0"/>
              <a:t>** ab 30.06. abzüglich halbjährigen Honorarsatz</a:t>
            </a:r>
          </a:p>
          <a:p>
            <a:r>
              <a:rPr lang="de-DE" dirty="0"/>
              <a:t>*** 50% </a:t>
            </a:r>
            <a:r>
              <a:rPr lang="de-DE" dirty="0" err="1"/>
              <a:t>iBoxx</a:t>
            </a:r>
            <a:r>
              <a:rPr lang="de-DE" dirty="0"/>
              <a:t> EUR Corp. OV. 3-5y TR; 50% </a:t>
            </a:r>
            <a:r>
              <a:rPr lang="de-DE" dirty="0" err="1"/>
              <a:t>iBoxx</a:t>
            </a:r>
            <a:r>
              <a:rPr lang="de-DE" dirty="0"/>
              <a:t> EUR Sovereigns Germ. 5-7y TR</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8</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ADD23963-F39D-4AE6-A44C-7B1B634AA4B6}" type="datetime1">
              <a:rPr lang="de-DE" sz="600" smtClean="0">
                <a:solidFill>
                  <a:schemeClr val="bg2"/>
                </a:solidFill>
              </a:rPr>
              <a:t>06.07.2026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2115352932"/>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3969535665"/>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solidFill>
              <a:schemeClr val="accent1"/>
            </a:solid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595296558"/>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4828366"/>
                  </a:ext>
                </a:extLst>
              </a:tr>
              <a:tr h="288000">
                <a:tc>
                  <a:txBody>
                    <a:bodyPr/>
                    <a:lstStyle/>
                    <a:p>
                      <a:r>
                        <a:rPr lang="de-DE" sz="900" b="0" dirty="0"/>
                        <a:t>Wertentwicklung seit 2009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47,54%</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2009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2,25%</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0,36%</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4,23</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3747350"/>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Konservativ | </a:t>
            </a:r>
            <a:r>
              <a:rPr lang="de-DE" b="0" dirty="0"/>
              <a:t>Wertentwicklung</a:t>
            </a:r>
          </a:p>
        </p:txBody>
      </p:sp>
    </p:spTree>
    <p:extLst>
      <p:ext uri="{BB962C8B-B14F-4D97-AF65-F5344CB8AC3E}">
        <p14:creationId xmlns:p14="http://schemas.microsoft.com/office/powerpoint/2010/main" val="312681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9</a:t>
            </a:fld>
            <a:endParaRPr lang="de-DE"/>
          </a:p>
        </p:txBody>
      </p:sp>
      <p:graphicFrame>
        <p:nvGraphicFramePr>
          <p:cNvPr id="5" name="C_Kennzahlen">
            <a:extLst>
              <a:ext uri="{FF2B5EF4-FFF2-40B4-BE49-F238E27FC236}">
                <a16:creationId xmlns:a16="http://schemas.microsoft.com/office/drawing/2014/main" id="{00000000-0008-0000-3100-000005000000}"/>
              </a:ext>
            </a:extLst>
          </p:cNvPr>
          <p:cNvGraphicFramePr>
            <a:graphicFrameLocks noGrp="1" noDrilldown="1" noMove="1" noResize="1"/>
          </p:cNvGraphicFramePr>
          <p:nvPr>
            <p:extLst>
              <p:ext uri="{D42A27DB-BD31-4B8C-83A1-F6EECF244321}">
                <p14:modId xmlns:p14="http://schemas.microsoft.com/office/powerpoint/2010/main" val="2987868366"/>
              </p:ext>
            </p:extLst>
          </p:nvPr>
        </p:nvGraphicFramePr>
        <p:xfrm>
          <a:off x="355600" y="2666999"/>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5202A24B-3505-9785-3E58-FA5F0EDAE0F0}"/>
              </a:ext>
            </a:extLst>
          </p:cNvPr>
          <p:cNvGraphicFramePr>
            <a:graphicFrameLocks noGrp="1" noDrilldown="1" noMove="1" noResize="1"/>
          </p:cNvGraphicFramePr>
          <p:nvPr>
            <p:extLst>
              <p:ext uri="{D42A27DB-BD31-4B8C-83A1-F6EECF244321}">
                <p14:modId xmlns:p14="http://schemas.microsoft.com/office/powerpoint/2010/main" val="2625436266"/>
              </p:ext>
            </p:extLst>
          </p:nvPr>
        </p:nvGraphicFramePr>
        <p:xfrm>
          <a:off x="4508500" y="1040400"/>
          <a:ext cx="5613400" cy="4774333"/>
        </p:xfrm>
        <a:graphic>
          <a:graphicData uri="http://schemas.openxmlformats.org/drawingml/2006/table">
            <a:tbl>
              <a:tblPr/>
              <a:tblGrid>
                <a:gridCol w="2184400">
                  <a:extLst>
                    <a:ext uri="{9D8B030D-6E8A-4147-A177-3AD203B41FA5}">
                      <a16:colId xmlns:a16="http://schemas.microsoft.com/office/drawing/2014/main" val="3206800142"/>
                    </a:ext>
                  </a:extLst>
                </a:gridCol>
                <a:gridCol w="50800">
                  <a:extLst>
                    <a:ext uri="{9D8B030D-6E8A-4147-A177-3AD203B41FA5}">
                      <a16:colId xmlns:a16="http://schemas.microsoft.com/office/drawing/2014/main" val="4108516060"/>
                    </a:ext>
                  </a:extLst>
                </a:gridCol>
                <a:gridCol w="571500">
                  <a:extLst>
                    <a:ext uri="{9D8B030D-6E8A-4147-A177-3AD203B41FA5}">
                      <a16:colId xmlns:a16="http://schemas.microsoft.com/office/drawing/2014/main" val="1772285601"/>
                    </a:ext>
                  </a:extLst>
                </a:gridCol>
                <a:gridCol w="50800">
                  <a:extLst>
                    <a:ext uri="{9D8B030D-6E8A-4147-A177-3AD203B41FA5}">
                      <a16:colId xmlns:a16="http://schemas.microsoft.com/office/drawing/2014/main" val="3523416355"/>
                    </a:ext>
                  </a:extLst>
                </a:gridCol>
                <a:gridCol w="571500">
                  <a:extLst>
                    <a:ext uri="{9D8B030D-6E8A-4147-A177-3AD203B41FA5}">
                      <a16:colId xmlns:a16="http://schemas.microsoft.com/office/drawing/2014/main" val="3355538456"/>
                    </a:ext>
                  </a:extLst>
                </a:gridCol>
                <a:gridCol w="50800">
                  <a:extLst>
                    <a:ext uri="{9D8B030D-6E8A-4147-A177-3AD203B41FA5}">
                      <a16:colId xmlns:a16="http://schemas.microsoft.com/office/drawing/2014/main" val="3425547772"/>
                    </a:ext>
                  </a:extLst>
                </a:gridCol>
                <a:gridCol w="571500">
                  <a:extLst>
                    <a:ext uri="{9D8B030D-6E8A-4147-A177-3AD203B41FA5}">
                      <a16:colId xmlns:a16="http://schemas.microsoft.com/office/drawing/2014/main" val="3503647484"/>
                    </a:ext>
                  </a:extLst>
                </a:gridCol>
                <a:gridCol w="50800">
                  <a:extLst>
                    <a:ext uri="{9D8B030D-6E8A-4147-A177-3AD203B41FA5}">
                      <a16:colId xmlns:a16="http://schemas.microsoft.com/office/drawing/2014/main" val="3915968523"/>
                    </a:ext>
                  </a:extLst>
                </a:gridCol>
                <a:gridCol w="571500">
                  <a:extLst>
                    <a:ext uri="{9D8B030D-6E8A-4147-A177-3AD203B41FA5}">
                      <a16:colId xmlns:a16="http://schemas.microsoft.com/office/drawing/2014/main" val="147020476"/>
                    </a:ext>
                  </a:extLst>
                </a:gridCol>
                <a:gridCol w="50800">
                  <a:extLst>
                    <a:ext uri="{9D8B030D-6E8A-4147-A177-3AD203B41FA5}">
                      <a16:colId xmlns:a16="http://schemas.microsoft.com/office/drawing/2014/main" val="1810626585"/>
                    </a:ext>
                  </a:extLst>
                </a:gridCol>
                <a:gridCol w="889000">
                  <a:extLst>
                    <a:ext uri="{9D8B030D-6E8A-4147-A177-3AD203B41FA5}">
                      <a16:colId xmlns:a16="http://schemas.microsoft.com/office/drawing/2014/main" val="36834495"/>
                    </a:ext>
                  </a:extLst>
                </a:gridCol>
              </a:tblGrid>
              <a:tr h="216000">
                <a:tc>
                  <a:txBody>
                    <a:bodyPr/>
                    <a:lstStyle/>
                    <a:p>
                      <a:pPr algn="l" fontAlgn="ctr">
                        <a:buNone/>
                      </a:pPr>
                      <a:r>
                        <a:rPr lang="de-DE" sz="600" b="0" i="0" u="none" strike="noStrike">
                          <a:solidFill>
                            <a:srgbClr val="FFFFFF"/>
                          </a:solidFill>
                          <a:effectLst/>
                          <a:latin typeface="Noto Sans" panose="020B0502040504020204" pitchFamily="34" charset="0"/>
                        </a:rPr>
                        <a:t>WERTPAPIER</a:t>
                      </a:r>
                    </a:p>
                  </a:txBody>
                  <a:tcPr marL="68436"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1301174299"/>
                  </a:ext>
                </a:extLst>
              </a:tr>
              <a:tr h="147043">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36"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30742928"/>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25094080"/>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97632301"/>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29408213"/>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79659655"/>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07091616"/>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0685047"/>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53264363"/>
                  </a:ext>
                </a:extLst>
              </a:tr>
              <a:tr h="147043">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96742363"/>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374804272"/>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62069325"/>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74676606"/>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93194411"/>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979971008"/>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54358136"/>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68946101"/>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45308478"/>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916859991"/>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64699291"/>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82604154"/>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94598791"/>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84683173"/>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7808337"/>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4149971"/>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73567426"/>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0499835"/>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51376548"/>
                  </a:ext>
                </a:extLst>
              </a:tr>
              <a:tr h="147043">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495251662"/>
                  </a:ext>
                </a:extLst>
              </a:tr>
              <a:tr h="147043">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36"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58243794"/>
                  </a:ext>
                </a:extLst>
              </a:tr>
              <a:tr h="147043">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36"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62818318"/>
                  </a:ext>
                </a:extLst>
              </a:tr>
              <a:tr h="147043">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36"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dirty="0">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4054216438"/>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noDrilldown="1" noMove="1" noResize="1"/>
          </p:cNvGraphicFramePr>
          <p:nvPr>
            <p:ph type="tbl" sz="quarter" idx="13"/>
            <p:extLst>
              <p:ext uri="{D42A27DB-BD31-4B8C-83A1-F6EECF244321}">
                <p14:modId xmlns:p14="http://schemas.microsoft.com/office/powerpoint/2010/main" val="2287554816"/>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defensiv</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25 %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100%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Defensiv</a:t>
            </a:r>
          </a:p>
        </p:txBody>
      </p:sp>
    </p:spTree>
    <p:extLst>
      <p:ext uri="{BB962C8B-B14F-4D97-AF65-F5344CB8AC3E}">
        <p14:creationId xmlns:p14="http://schemas.microsoft.com/office/powerpoint/2010/main" val="3658980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 bis zum 31.12. des Vorjahres</a:t>
            </a:r>
            <a:r>
              <a:rPr lang="de-DE" b="1" dirty="0"/>
              <a:t> ; </a:t>
            </a:r>
            <a:r>
              <a:rPr lang="de-DE" dirty="0"/>
              <a:t>vollständige Performancehistorie kann auf Anfrage eingesehen werden</a:t>
            </a:r>
          </a:p>
          <a:p>
            <a:r>
              <a:rPr lang="de-DE" dirty="0"/>
              <a:t>** ab 30.06. abzüglich halbjährigen Honorarsatz</a:t>
            </a:r>
          </a:p>
          <a:p>
            <a:r>
              <a:rPr lang="de-DE" dirty="0"/>
              <a:t>*** 43,75% </a:t>
            </a:r>
            <a:r>
              <a:rPr lang="de-DE" dirty="0" err="1"/>
              <a:t>iBoxx</a:t>
            </a:r>
            <a:r>
              <a:rPr lang="de-DE" dirty="0"/>
              <a:t> EUR Corp. OV. 3-5y TR; 43,75% </a:t>
            </a:r>
            <a:r>
              <a:rPr lang="de-DE" dirty="0" err="1"/>
              <a:t>iBoxx</a:t>
            </a:r>
            <a:r>
              <a:rPr lang="de-DE" dirty="0"/>
              <a:t> EUR Sovereigns Germ. 5-7y TR; 6,25% DAX; 6,25% MSCI World</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10</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B58FC890-01F2-4FE7-8401-5E5C4BEEA7EB}" type="datetime1">
              <a:rPr lang="de-DE" sz="600" smtClean="0">
                <a:solidFill>
                  <a:schemeClr val="bg2"/>
                </a:solidFill>
              </a:rPr>
              <a:t>06.07.2026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1484295418"/>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4057078914"/>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2462300523"/>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9003071"/>
                  </a:ext>
                </a:extLst>
              </a:tr>
              <a:tr h="288000">
                <a:tc>
                  <a:txBody>
                    <a:bodyPr/>
                    <a:lstStyle/>
                    <a:p>
                      <a:r>
                        <a:rPr lang="de-DE" sz="900" b="0" dirty="0"/>
                        <a:t>Wertentwicklung seit 2009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86,89%</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2009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3,63%</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5,19%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3,96</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9946379"/>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Defensiv | </a:t>
            </a:r>
            <a:r>
              <a:rPr lang="de-DE" b="0" dirty="0"/>
              <a:t>Wertentwicklung</a:t>
            </a:r>
          </a:p>
        </p:txBody>
      </p:sp>
    </p:spTree>
    <p:extLst>
      <p:ext uri="{BB962C8B-B14F-4D97-AF65-F5344CB8AC3E}">
        <p14:creationId xmlns:p14="http://schemas.microsoft.com/office/powerpoint/2010/main" val="2497147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11</a:t>
            </a:fld>
            <a:endParaRPr lang="de-DE"/>
          </a:p>
        </p:txBody>
      </p:sp>
      <p:graphicFrame>
        <p:nvGraphicFramePr>
          <p:cNvPr id="5" name="C_Kennzahlen">
            <a:extLst>
              <a:ext uri="{FF2B5EF4-FFF2-40B4-BE49-F238E27FC236}">
                <a16:creationId xmlns:a16="http://schemas.microsoft.com/office/drawing/2014/main" id="{00000000-0008-0000-3100-000006000000}"/>
              </a:ext>
            </a:extLst>
          </p:cNvPr>
          <p:cNvGraphicFramePr>
            <a:graphicFrameLocks noGrp="1" noDrilldown="1" noMove="1" noResize="1"/>
          </p:cNvGraphicFramePr>
          <p:nvPr>
            <p:extLst>
              <p:ext uri="{D42A27DB-BD31-4B8C-83A1-F6EECF244321}">
                <p14:modId xmlns:p14="http://schemas.microsoft.com/office/powerpoint/2010/main" val="3070084792"/>
              </p:ext>
            </p:extLst>
          </p:nvPr>
        </p:nvGraphicFramePr>
        <p:xfrm>
          <a:off x="355600" y="2666999"/>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5320439B-9B9C-B19C-B556-3F980835C7C7}"/>
              </a:ext>
            </a:extLst>
          </p:cNvPr>
          <p:cNvGraphicFramePr>
            <a:graphicFrameLocks noGrp="1" noDrilldown="1" noMove="1" noResize="1"/>
          </p:cNvGraphicFramePr>
          <p:nvPr>
            <p:extLst>
              <p:ext uri="{D42A27DB-BD31-4B8C-83A1-F6EECF244321}">
                <p14:modId xmlns:p14="http://schemas.microsoft.com/office/powerpoint/2010/main" val="907418833"/>
              </p:ext>
            </p:extLst>
          </p:nvPr>
        </p:nvGraphicFramePr>
        <p:xfrm>
          <a:off x="4508500" y="1040400"/>
          <a:ext cx="5613400" cy="4772178"/>
        </p:xfrm>
        <a:graphic>
          <a:graphicData uri="http://schemas.openxmlformats.org/drawingml/2006/table">
            <a:tbl>
              <a:tblPr/>
              <a:tblGrid>
                <a:gridCol w="2184400">
                  <a:extLst>
                    <a:ext uri="{9D8B030D-6E8A-4147-A177-3AD203B41FA5}">
                      <a16:colId xmlns:a16="http://schemas.microsoft.com/office/drawing/2014/main" val="2119693204"/>
                    </a:ext>
                  </a:extLst>
                </a:gridCol>
                <a:gridCol w="50800">
                  <a:extLst>
                    <a:ext uri="{9D8B030D-6E8A-4147-A177-3AD203B41FA5}">
                      <a16:colId xmlns:a16="http://schemas.microsoft.com/office/drawing/2014/main" val="2761020029"/>
                    </a:ext>
                  </a:extLst>
                </a:gridCol>
                <a:gridCol w="571500">
                  <a:extLst>
                    <a:ext uri="{9D8B030D-6E8A-4147-A177-3AD203B41FA5}">
                      <a16:colId xmlns:a16="http://schemas.microsoft.com/office/drawing/2014/main" val="4060536617"/>
                    </a:ext>
                  </a:extLst>
                </a:gridCol>
                <a:gridCol w="50800">
                  <a:extLst>
                    <a:ext uri="{9D8B030D-6E8A-4147-A177-3AD203B41FA5}">
                      <a16:colId xmlns:a16="http://schemas.microsoft.com/office/drawing/2014/main" val="1539381548"/>
                    </a:ext>
                  </a:extLst>
                </a:gridCol>
                <a:gridCol w="571500">
                  <a:extLst>
                    <a:ext uri="{9D8B030D-6E8A-4147-A177-3AD203B41FA5}">
                      <a16:colId xmlns:a16="http://schemas.microsoft.com/office/drawing/2014/main" val="3880688534"/>
                    </a:ext>
                  </a:extLst>
                </a:gridCol>
                <a:gridCol w="50800">
                  <a:extLst>
                    <a:ext uri="{9D8B030D-6E8A-4147-A177-3AD203B41FA5}">
                      <a16:colId xmlns:a16="http://schemas.microsoft.com/office/drawing/2014/main" val="2891769535"/>
                    </a:ext>
                  </a:extLst>
                </a:gridCol>
                <a:gridCol w="571500">
                  <a:extLst>
                    <a:ext uri="{9D8B030D-6E8A-4147-A177-3AD203B41FA5}">
                      <a16:colId xmlns:a16="http://schemas.microsoft.com/office/drawing/2014/main" val="3948767817"/>
                    </a:ext>
                  </a:extLst>
                </a:gridCol>
                <a:gridCol w="50800">
                  <a:extLst>
                    <a:ext uri="{9D8B030D-6E8A-4147-A177-3AD203B41FA5}">
                      <a16:colId xmlns:a16="http://schemas.microsoft.com/office/drawing/2014/main" val="3088581003"/>
                    </a:ext>
                  </a:extLst>
                </a:gridCol>
                <a:gridCol w="571500">
                  <a:extLst>
                    <a:ext uri="{9D8B030D-6E8A-4147-A177-3AD203B41FA5}">
                      <a16:colId xmlns:a16="http://schemas.microsoft.com/office/drawing/2014/main" val="1937020850"/>
                    </a:ext>
                  </a:extLst>
                </a:gridCol>
                <a:gridCol w="50800">
                  <a:extLst>
                    <a:ext uri="{9D8B030D-6E8A-4147-A177-3AD203B41FA5}">
                      <a16:colId xmlns:a16="http://schemas.microsoft.com/office/drawing/2014/main" val="3024674858"/>
                    </a:ext>
                  </a:extLst>
                </a:gridCol>
                <a:gridCol w="889000">
                  <a:extLst>
                    <a:ext uri="{9D8B030D-6E8A-4147-A177-3AD203B41FA5}">
                      <a16:colId xmlns:a16="http://schemas.microsoft.com/office/drawing/2014/main" val="2598184104"/>
                    </a:ext>
                  </a:extLst>
                </a:gridCol>
              </a:tblGrid>
              <a:tr h="216000">
                <a:tc>
                  <a:txBody>
                    <a:bodyPr/>
                    <a:lstStyle/>
                    <a:p>
                      <a:pPr algn="l" fontAlgn="ctr">
                        <a:buNone/>
                      </a:pPr>
                      <a:r>
                        <a:rPr lang="de-DE" sz="600" b="0" i="0" u="none" strike="noStrike">
                          <a:solidFill>
                            <a:srgbClr val="FFFFFF"/>
                          </a:solidFill>
                          <a:effectLst/>
                          <a:latin typeface="Noto Sans" panose="020B0502040504020204" pitchFamily="34" charset="0"/>
                        </a:rPr>
                        <a:t>WERTPAPIER</a:t>
                      </a:r>
                    </a:p>
                  </a:txBody>
                  <a:tcPr marL="69077"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484567404"/>
                  </a:ext>
                </a:extLst>
              </a:tr>
              <a:tr h="138066">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9077"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14657436"/>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08641231"/>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68796374"/>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4642539"/>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84944506"/>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90329325"/>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8973552"/>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09995830"/>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356047761"/>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52333190"/>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39292632"/>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41515329"/>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42840074"/>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63806831"/>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19244676"/>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33215055"/>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763761895"/>
                  </a:ext>
                </a:extLst>
              </a:tr>
              <a:tr h="138066">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420072626"/>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82336738"/>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12852201"/>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70932082"/>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0055430"/>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69065603"/>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41510880"/>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64949953"/>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1116967"/>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68016502"/>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46201805"/>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8400393"/>
                  </a:ext>
                </a:extLst>
              </a:tr>
              <a:tr h="138066">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42265607"/>
                  </a:ext>
                </a:extLst>
              </a:tr>
              <a:tr h="138066">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9077"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21961972"/>
                  </a:ext>
                </a:extLst>
              </a:tr>
              <a:tr h="138066">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9077"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10022930"/>
                  </a:ext>
                </a:extLst>
              </a:tr>
              <a:tr h="138066">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9077"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dirty="0">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1815182126"/>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noDrilldown="1" noMove="1" noResize="1"/>
          </p:cNvGraphicFramePr>
          <p:nvPr>
            <p:ph type="tbl" sz="quarter" idx="13"/>
            <p:extLst>
              <p:ext uri="{D42A27DB-BD31-4B8C-83A1-F6EECF244321}">
                <p14:modId xmlns:p14="http://schemas.microsoft.com/office/powerpoint/2010/main" val="3873204915"/>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Defensiv plus</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mind. 20 %, max. 50 %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80 %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Defensiv Plus</a:t>
            </a:r>
          </a:p>
        </p:txBody>
      </p:sp>
    </p:spTree>
    <p:extLst>
      <p:ext uri="{BB962C8B-B14F-4D97-AF65-F5344CB8AC3E}">
        <p14:creationId xmlns:p14="http://schemas.microsoft.com/office/powerpoint/2010/main" val="3515420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 bis zum 31.12. des Vorjahres</a:t>
            </a:r>
            <a:r>
              <a:rPr lang="de-DE" b="1" dirty="0"/>
              <a:t> ; </a:t>
            </a:r>
            <a:r>
              <a:rPr lang="de-DE" dirty="0"/>
              <a:t>vollständige Performancehistorie kann auf Anfrage eingesehen werden</a:t>
            </a:r>
          </a:p>
          <a:p>
            <a:r>
              <a:rPr lang="de-DE" dirty="0"/>
              <a:t>** ab 30.06. abzüglich halbjährigen Honorarsatz</a:t>
            </a:r>
          </a:p>
          <a:p>
            <a:r>
              <a:rPr lang="de-DE" dirty="0"/>
              <a:t>*** 32,5% </a:t>
            </a:r>
            <a:r>
              <a:rPr lang="de-DE" dirty="0" err="1"/>
              <a:t>iBoxx</a:t>
            </a:r>
            <a:r>
              <a:rPr lang="de-DE" dirty="0"/>
              <a:t> EUR Corp. OV. 3-5y TR; 32,5% </a:t>
            </a:r>
            <a:r>
              <a:rPr lang="de-DE" dirty="0" err="1"/>
              <a:t>iBoxx</a:t>
            </a:r>
            <a:r>
              <a:rPr lang="de-DE" dirty="0"/>
              <a:t> EUR Sovereigns Germ. 5-7y TR; 17,5% DAX; 17,5% MSCI World</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12</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143ED269-8EA5-425A-A4A9-85359508FC96}" type="datetime1">
              <a:rPr lang="de-DE" sz="600" smtClean="0">
                <a:solidFill>
                  <a:schemeClr val="bg2"/>
                </a:solidFill>
              </a:rPr>
              <a:t>06.07.2026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765986050"/>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3827515213"/>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4189292987"/>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5682680"/>
                  </a:ext>
                </a:extLst>
              </a:tr>
              <a:tr h="288000">
                <a:tc>
                  <a:txBody>
                    <a:bodyPr/>
                    <a:lstStyle/>
                    <a:p>
                      <a:r>
                        <a:rPr lang="de-DE" sz="900" b="0" dirty="0"/>
                        <a:t>Wertentwicklung seit 2009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132,73%</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2009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4,94%</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4,78%</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4,12</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5699496"/>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Defensiv Plus | </a:t>
            </a:r>
            <a:r>
              <a:rPr lang="de-DE" b="0" dirty="0"/>
              <a:t>Wertentwicklung</a:t>
            </a:r>
          </a:p>
        </p:txBody>
      </p:sp>
    </p:spTree>
    <p:extLst>
      <p:ext uri="{BB962C8B-B14F-4D97-AF65-F5344CB8AC3E}">
        <p14:creationId xmlns:p14="http://schemas.microsoft.com/office/powerpoint/2010/main" val="1211680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13</a:t>
            </a:fld>
            <a:endParaRPr lang="de-DE"/>
          </a:p>
        </p:txBody>
      </p:sp>
      <p:graphicFrame>
        <p:nvGraphicFramePr>
          <p:cNvPr id="5" name="C_Kennzahlen">
            <a:extLst>
              <a:ext uri="{FF2B5EF4-FFF2-40B4-BE49-F238E27FC236}">
                <a16:creationId xmlns:a16="http://schemas.microsoft.com/office/drawing/2014/main" id="{00000000-0008-0000-3100-000007000000}"/>
              </a:ext>
            </a:extLst>
          </p:cNvPr>
          <p:cNvGraphicFramePr>
            <a:graphicFrameLocks noGrp="1" noDrilldown="1" noMove="1" noResize="1"/>
          </p:cNvGraphicFramePr>
          <p:nvPr>
            <p:extLst>
              <p:ext uri="{D42A27DB-BD31-4B8C-83A1-F6EECF244321}">
                <p14:modId xmlns:p14="http://schemas.microsoft.com/office/powerpoint/2010/main" val="837606280"/>
              </p:ext>
            </p:extLst>
          </p:nvPr>
        </p:nvGraphicFramePr>
        <p:xfrm>
          <a:off x="355600" y="2667000"/>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61E1EF73-30AC-8581-63D6-114B5A0C8A0C}"/>
              </a:ext>
            </a:extLst>
          </p:cNvPr>
          <p:cNvGraphicFramePr>
            <a:graphicFrameLocks noGrp="1" noDrilldown="1" noMove="1" noResize="1"/>
          </p:cNvGraphicFramePr>
          <p:nvPr>
            <p:extLst>
              <p:ext uri="{D42A27DB-BD31-4B8C-83A1-F6EECF244321}">
                <p14:modId xmlns:p14="http://schemas.microsoft.com/office/powerpoint/2010/main" val="1217305334"/>
              </p:ext>
            </p:extLst>
          </p:nvPr>
        </p:nvGraphicFramePr>
        <p:xfrm>
          <a:off x="4508500" y="1040400"/>
          <a:ext cx="5613400" cy="4774368"/>
        </p:xfrm>
        <a:graphic>
          <a:graphicData uri="http://schemas.openxmlformats.org/drawingml/2006/table">
            <a:tbl>
              <a:tblPr/>
              <a:tblGrid>
                <a:gridCol w="2184400">
                  <a:extLst>
                    <a:ext uri="{9D8B030D-6E8A-4147-A177-3AD203B41FA5}">
                      <a16:colId xmlns:a16="http://schemas.microsoft.com/office/drawing/2014/main" val="3179312509"/>
                    </a:ext>
                  </a:extLst>
                </a:gridCol>
                <a:gridCol w="50800">
                  <a:extLst>
                    <a:ext uri="{9D8B030D-6E8A-4147-A177-3AD203B41FA5}">
                      <a16:colId xmlns:a16="http://schemas.microsoft.com/office/drawing/2014/main" val="2508506030"/>
                    </a:ext>
                  </a:extLst>
                </a:gridCol>
                <a:gridCol w="571500">
                  <a:extLst>
                    <a:ext uri="{9D8B030D-6E8A-4147-A177-3AD203B41FA5}">
                      <a16:colId xmlns:a16="http://schemas.microsoft.com/office/drawing/2014/main" val="2898624800"/>
                    </a:ext>
                  </a:extLst>
                </a:gridCol>
                <a:gridCol w="50800">
                  <a:extLst>
                    <a:ext uri="{9D8B030D-6E8A-4147-A177-3AD203B41FA5}">
                      <a16:colId xmlns:a16="http://schemas.microsoft.com/office/drawing/2014/main" val="2469277188"/>
                    </a:ext>
                  </a:extLst>
                </a:gridCol>
                <a:gridCol w="571500">
                  <a:extLst>
                    <a:ext uri="{9D8B030D-6E8A-4147-A177-3AD203B41FA5}">
                      <a16:colId xmlns:a16="http://schemas.microsoft.com/office/drawing/2014/main" val="1079677797"/>
                    </a:ext>
                  </a:extLst>
                </a:gridCol>
                <a:gridCol w="50800">
                  <a:extLst>
                    <a:ext uri="{9D8B030D-6E8A-4147-A177-3AD203B41FA5}">
                      <a16:colId xmlns:a16="http://schemas.microsoft.com/office/drawing/2014/main" val="498862366"/>
                    </a:ext>
                  </a:extLst>
                </a:gridCol>
                <a:gridCol w="571500">
                  <a:extLst>
                    <a:ext uri="{9D8B030D-6E8A-4147-A177-3AD203B41FA5}">
                      <a16:colId xmlns:a16="http://schemas.microsoft.com/office/drawing/2014/main" val="1285728308"/>
                    </a:ext>
                  </a:extLst>
                </a:gridCol>
                <a:gridCol w="50800">
                  <a:extLst>
                    <a:ext uri="{9D8B030D-6E8A-4147-A177-3AD203B41FA5}">
                      <a16:colId xmlns:a16="http://schemas.microsoft.com/office/drawing/2014/main" val="907930963"/>
                    </a:ext>
                  </a:extLst>
                </a:gridCol>
                <a:gridCol w="571500">
                  <a:extLst>
                    <a:ext uri="{9D8B030D-6E8A-4147-A177-3AD203B41FA5}">
                      <a16:colId xmlns:a16="http://schemas.microsoft.com/office/drawing/2014/main" val="658716508"/>
                    </a:ext>
                  </a:extLst>
                </a:gridCol>
                <a:gridCol w="50800">
                  <a:extLst>
                    <a:ext uri="{9D8B030D-6E8A-4147-A177-3AD203B41FA5}">
                      <a16:colId xmlns:a16="http://schemas.microsoft.com/office/drawing/2014/main" val="2249037765"/>
                    </a:ext>
                  </a:extLst>
                </a:gridCol>
                <a:gridCol w="889000">
                  <a:extLst>
                    <a:ext uri="{9D8B030D-6E8A-4147-A177-3AD203B41FA5}">
                      <a16:colId xmlns:a16="http://schemas.microsoft.com/office/drawing/2014/main" val="2709780502"/>
                    </a:ext>
                  </a:extLst>
                </a:gridCol>
              </a:tblGrid>
              <a:tr h="216000">
                <a:tc>
                  <a:txBody>
                    <a:bodyPr/>
                    <a:lstStyle/>
                    <a:p>
                      <a:pPr algn="l" fontAlgn="ctr">
                        <a:buNone/>
                      </a:pPr>
                      <a:r>
                        <a:rPr lang="de-DE" sz="600" b="0" i="0" u="none" strike="noStrike">
                          <a:solidFill>
                            <a:srgbClr val="FFFFFF"/>
                          </a:solidFill>
                          <a:effectLst/>
                          <a:latin typeface="Noto Sans" panose="020B0502040504020204" pitchFamily="34" charset="0"/>
                        </a:rPr>
                        <a:t>WERTPAPIER</a:t>
                      </a:r>
                    </a:p>
                  </a:txBody>
                  <a:tcPr marL="68419"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6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6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3428980496"/>
                  </a:ext>
                </a:extLst>
              </a:tr>
              <a:tr h="142449">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19"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3702317"/>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697201498"/>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40069032"/>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80980824"/>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36985947"/>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360209214"/>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45856814"/>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16949634"/>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7931624"/>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986062833"/>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186082960"/>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67356519"/>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169848994"/>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88583936"/>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16673617"/>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92750243"/>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78277735"/>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31106043"/>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01690220"/>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9125951"/>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77954708"/>
                  </a:ext>
                </a:extLst>
              </a:tr>
              <a:tr h="142449">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486134169"/>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249193628"/>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156697410"/>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39741024"/>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527675064"/>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824378387"/>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708158389"/>
                  </a:ext>
                </a:extLst>
              </a:tr>
              <a:tr h="142449">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858293"/>
                  </a:ext>
                </a:extLst>
              </a:tr>
              <a:tr h="142449">
                <a:tc>
                  <a:txBody>
                    <a:bodyPr/>
                    <a:lstStyle/>
                    <a:p>
                      <a:pPr algn="l" fontAlgn="ctr">
                        <a:buNone/>
                      </a:pPr>
                      <a:r>
                        <a:rPr lang="de-DE" sz="600" b="0" i="0" u="none" strike="noStrike">
                          <a:solidFill>
                            <a:srgbClr val="000000"/>
                          </a:solidFill>
                          <a:effectLst/>
                          <a:latin typeface="Noto Sans" panose="020B0502040504020204" pitchFamily="34" charset="0"/>
                        </a:rPr>
                        <a:t/>
                      </a:r>
                    </a:p>
                  </a:txBody>
                  <a:tcPr marL="68419"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87043631"/>
                  </a:ext>
                </a:extLst>
              </a:tr>
              <a:tr h="142449">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19"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6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466298104"/>
                  </a:ext>
                </a:extLst>
              </a:tr>
              <a:tr h="142449">
                <a:tc>
                  <a:txBody>
                    <a:bodyPr/>
                    <a:lstStyle/>
                    <a:p>
                      <a:pPr algn="l" fontAlgn="ctr">
                        <a:buNone/>
                      </a:pPr>
                      <a:r>
                        <a:rPr lang="de-DE" sz="600" b="1" i="0" u="none" strike="noStrike">
                          <a:solidFill>
                            <a:srgbClr val="000000"/>
                          </a:solidFill>
                          <a:effectLst/>
                          <a:latin typeface="Noto Sans" panose="020B0502040504020204" pitchFamily="34" charset="0"/>
                        </a:rPr>
                        <a:t/>
                      </a:r>
                    </a:p>
                  </a:txBody>
                  <a:tcPr marL="68419"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6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600" b="1" i="0" u="none" strike="noStrike" dirty="0">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2491527523"/>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noDrilldown="1" noMove="1" noResize="1"/>
          </p:cNvGraphicFramePr>
          <p:nvPr>
            <p:ph type="tbl" sz="quarter" idx="13"/>
            <p:extLst>
              <p:ext uri="{D42A27DB-BD31-4B8C-83A1-F6EECF244321}">
                <p14:modId xmlns:p14="http://schemas.microsoft.com/office/powerpoint/2010/main" val="1442848334"/>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ausgewogen</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mind. 30 %, max. 70 %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70 %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Ausgewogen</a:t>
            </a:r>
          </a:p>
        </p:txBody>
      </p:sp>
    </p:spTree>
    <p:extLst>
      <p:ext uri="{BB962C8B-B14F-4D97-AF65-F5344CB8AC3E}">
        <p14:creationId xmlns:p14="http://schemas.microsoft.com/office/powerpoint/2010/main" val="3394548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 bis zum 31.12. des Vorjahres</a:t>
            </a:r>
            <a:r>
              <a:rPr lang="de-DE" b="1" dirty="0"/>
              <a:t> ; </a:t>
            </a:r>
            <a:r>
              <a:rPr lang="de-DE" dirty="0"/>
              <a:t>vollständige Performancehistorie kann auf Anfrage eingesehen werden</a:t>
            </a:r>
          </a:p>
          <a:p>
            <a:r>
              <a:rPr lang="de-DE" dirty="0"/>
              <a:t>** ab 30.06. abzüglich halbjährigen Honorarsatz</a:t>
            </a:r>
          </a:p>
          <a:p>
            <a:r>
              <a:rPr lang="de-DE" dirty="0"/>
              <a:t>*** 25% </a:t>
            </a:r>
            <a:r>
              <a:rPr lang="de-DE" dirty="0" err="1"/>
              <a:t>iBoxx</a:t>
            </a:r>
            <a:r>
              <a:rPr lang="de-DE" dirty="0"/>
              <a:t> EUR Corp. OV. 3-5y TR; 25% </a:t>
            </a:r>
            <a:r>
              <a:rPr lang="de-DE" dirty="0" err="1"/>
              <a:t>iBoxx</a:t>
            </a:r>
            <a:r>
              <a:rPr lang="de-DE" dirty="0"/>
              <a:t> EUR Sovereigns Germ. 5-7y TR; 25% DAX; 25% MSCI World</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14</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ECD5472E-B337-4AA7-B2A5-F8032BF9B350}" type="datetime1">
              <a:rPr lang="de-DE" sz="600" smtClean="0">
                <a:solidFill>
                  <a:schemeClr val="bg2"/>
                </a:solidFill>
              </a:rPr>
              <a:t>06.07.2026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2008905309"/>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561036239"/>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2676537076"/>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0812378"/>
                  </a:ext>
                </a:extLst>
              </a:tr>
              <a:tr h="288000">
                <a:tc>
                  <a:txBody>
                    <a:bodyPr/>
                    <a:lstStyle/>
                    <a:p>
                      <a:r>
                        <a:rPr lang="de-DE" sz="900" b="0" dirty="0"/>
                        <a:t>Wertentwicklung seit 2009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156,51%</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2009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5,52%</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5,79%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3,47</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04175358"/>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Ausgewogen | </a:t>
            </a:r>
            <a:r>
              <a:rPr lang="de-DE" b="0" dirty="0"/>
              <a:t>Wertentwicklung</a:t>
            </a:r>
          </a:p>
        </p:txBody>
      </p:sp>
    </p:spTree>
    <p:extLst>
      <p:ext uri="{BB962C8B-B14F-4D97-AF65-F5344CB8AC3E}">
        <p14:creationId xmlns:p14="http://schemas.microsoft.com/office/powerpoint/2010/main" val="3507703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15</a:t>
            </a:fld>
            <a:endParaRPr lang="de-DE"/>
          </a:p>
        </p:txBody>
      </p:sp>
      <p:graphicFrame>
        <p:nvGraphicFramePr>
          <p:cNvPr id="5" name="C_Kennzahlen">
            <a:extLst>
              <a:ext uri="{FF2B5EF4-FFF2-40B4-BE49-F238E27FC236}">
                <a16:creationId xmlns:a16="http://schemas.microsoft.com/office/drawing/2014/main" id="{00000000-0008-0000-3100-000008000000}"/>
              </a:ext>
            </a:extLst>
          </p:cNvPr>
          <p:cNvGraphicFramePr>
            <a:graphicFrameLocks noGrp="1" noDrilldown="1" noMove="1" noResize="1"/>
          </p:cNvGraphicFramePr>
          <p:nvPr>
            <p:extLst>
              <p:ext uri="{D42A27DB-BD31-4B8C-83A1-F6EECF244321}">
                <p14:modId xmlns:p14="http://schemas.microsoft.com/office/powerpoint/2010/main" val="3536466028"/>
              </p:ext>
            </p:extLst>
          </p:nvPr>
        </p:nvGraphicFramePr>
        <p:xfrm>
          <a:off x="355600" y="2666999"/>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4508C7B8-9C97-818A-8B8E-9CC3EDE8AE7E}"/>
              </a:ext>
            </a:extLst>
          </p:cNvPr>
          <p:cNvGraphicFramePr>
            <a:graphicFrameLocks noGrp="1" noDrilldown="1" noMove="1" noResize="1"/>
          </p:cNvGraphicFramePr>
          <p:nvPr>
            <p:extLst>
              <p:ext uri="{D42A27DB-BD31-4B8C-83A1-F6EECF244321}">
                <p14:modId xmlns:p14="http://schemas.microsoft.com/office/powerpoint/2010/main" val="1887544271"/>
              </p:ext>
            </p:extLst>
          </p:nvPr>
        </p:nvGraphicFramePr>
        <p:xfrm>
          <a:off x="4508500" y="1040400"/>
          <a:ext cx="5613400" cy="4774368"/>
        </p:xfrm>
        <a:graphic>
          <a:graphicData uri="http://schemas.openxmlformats.org/drawingml/2006/table">
            <a:tbl>
              <a:tblPr/>
              <a:tblGrid>
                <a:gridCol w="2184400">
                  <a:extLst>
                    <a:ext uri="{9D8B030D-6E8A-4147-A177-3AD203B41FA5}">
                      <a16:colId xmlns:a16="http://schemas.microsoft.com/office/drawing/2014/main" val="70566653"/>
                    </a:ext>
                  </a:extLst>
                </a:gridCol>
                <a:gridCol w="50800">
                  <a:extLst>
                    <a:ext uri="{9D8B030D-6E8A-4147-A177-3AD203B41FA5}">
                      <a16:colId xmlns:a16="http://schemas.microsoft.com/office/drawing/2014/main" val="1070084038"/>
                    </a:ext>
                  </a:extLst>
                </a:gridCol>
                <a:gridCol w="571500">
                  <a:extLst>
                    <a:ext uri="{9D8B030D-6E8A-4147-A177-3AD203B41FA5}">
                      <a16:colId xmlns:a16="http://schemas.microsoft.com/office/drawing/2014/main" val="3456133595"/>
                    </a:ext>
                  </a:extLst>
                </a:gridCol>
                <a:gridCol w="50800">
                  <a:extLst>
                    <a:ext uri="{9D8B030D-6E8A-4147-A177-3AD203B41FA5}">
                      <a16:colId xmlns:a16="http://schemas.microsoft.com/office/drawing/2014/main" val="3182149469"/>
                    </a:ext>
                  </a:extLst>
                </a:gridCol>
                <a:gridCol w="571500">
                  <a:extLst>
                    <a:ext uri="{9D8B030D-6E8A-4147-A177-3AD203B41FA5}">
                      <a16:colId xmlns:a16="http://schemas.microsoft.com/office/drawing/2014/main" val="115188569"/>
                    </a:ext>
                  </a:extLst>
                </a:gridCol>
                <a:gridCol w="50800">
                  <a:extLst>
                    <a:ext uri="{9D8B030D-6E8A-4147-A177-3AD203B41FA5}">
                      <a16:colId xmlns:a16="http://schemas.microsoft.com/office/drawing/2014/main" val="1859081157"/>
                    </a:ext>
                  </a:extLst>
                </a:gridCol>
                <a:gridCol w="571500">
                  <a:extLst>
                    <a:ext uri="{9D8B030D-6E8A-4147-A177-3AD203B41FA5}">
                      <a16:colId xmlns:a16="http://schemas.microsoft.com/office/drawing/2014/main" val="748911775"/>
                    </a:ext>
                  </a:extLst>
                </a:gridCol>
                <a:gridCol w="50800">
                  <a:extLst>
                    <a:ext uri="{9D8B030D-6E8A-4147-A177-3AD203B41FA5}">
                      <a16:colId xmlns:a16="http://schemas.microsoft.com/office/drawing/2014/main" val="2392719737"/>
                    </a:ext>
                  </a:extLst>
                </a:gridCol>
                <a:gridCol w="571500">
                  <a:extLst>
                    <a:ext uri="{9D8B030D-6E8A-4147-A177-3AD203B41FA5}">
                      <a16:colId xmlns:a16="http://schemas.microsoft.com/office/drawing/2014/main" val="3877860717"/>
                    </a:ext>
                  </a:extLst>
                </a:gridCol>
                <a:gridCol w="50800">
                  <a:extLst>
                    <a:ext uri="{9D8B030D-6E8A-4147-A177-3AD203B41FA5}">
                      <a16:colId xmlns:a16="http://schemas.microsoft.com/office/drawing/2014/main" val="3905978525"/>
                    </a:ext>
                  </a:extLst>
                </a:gridCol>
                <a:gridCol w="889000">
                  <a:extLst>
                    <a:ext uri="{9D8B030D-6E8A-4147-A177-3AD203B41FA5}">
                      <a16:colId xmlns:a16="http://schemas.microsoft.com/office/drawing/2014/main" val="2737504853"/>
                    </a:ext>
                  </a:extLst>
                </a:gridCol>
              </a:tblGrid>
              <a:tr h="216000">
                <a:tc>
                  <a:txBody>
                    <a:bodyPr/>
                    <a:lstStyle/>
                    <a:p>
                      <a:pPr algn="l" fontAlgn="ctr">
                        <a:buNone/>
                      </a:pPr>
                      <a:r>
                        <a:rPr lang="de-DE" sz="700" b="0" i="0" u="none" strike="noStrike">
                          <a:solidFill>
                            <a:srgbClr val="FFFFFF"/>
                          </a:solidFill>
                          <a:effectLst/>
                          <a:latin typeface="Noto Sans" panose="020B0502040504020204" pitchFamily="34" charset="0"/>
                        </a:rPr>
                        <a:t>WERTPAPIER</a:t>
                      </a:r>
                    </a:p>
                  </a:txBody>
                  <a:tcPr marL="68994"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l" fontAlgn="ctr">
                        <a:buNone/>
                      </a:pPr>
                      <a:r>
                        <a:rPr lang="de-DE" sz="700" b="0" i="0" u="none" strike="noStrike">
                          <a:solidFill>
                            <a:srgbClr val="FFFFFF"/>
                          </a:solidFill>
                          <a:effectLst/>
                          <a:latin typeface="Noto Sans" panose="020B0502040504020204" pitchFamily="34" charset="0"/>
                        </a:rPr>
                        <a:t>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859770524"/>
                  </a:ext>
                </a:extLst>
              </a:tr>
              <a:tr h="175248">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994"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935749000"/>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33047634"/>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310058601"/>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0996362"/>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720554042"/>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81965593"/>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50602378"/>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19977074"/>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5115128"/>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79627909"/>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55947135"/>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559120546"/>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89839023"/>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2514447"/>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13719665"/>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47128807"/>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02579879"/>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291455699"/>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15388373"/>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12821406"/>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624561171"/>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884982245"/>
                  </a:ext>
                </a:extLst>
              </a:tr>
              <a:tr h="175248">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623059467"/>
                  </a:ext>
                </a:extLst>
              </a:tr>
              <a:tr h="175248">
                <a:tc>
                  <a:txBody>
                    <a:bodyPr/>
                    <a:lstStyle/>
                    <a:p>
                      <a:pPr algn="l" fontAlgn="ctr">
                        <a:buNone/>
                      </a:pPr>
                      <a:r>
                        <a:rPr lang="de-DE" sz="700" b="0" i="0" u="none" strike="noStrike">
                          <a:solidFill>
                            <a:srgbClr val="000000"/>
                          </a:solidFill>
                          <a:effectLst/>
                          <a:latin typeface="Noto Sans" panose="020B0502040504020204" pitchFamily="34" charset="0"/>
                        </a:rPr>
                        <a:t/>
                      </a:r>
                    </a:p>
                  </a:txBody>
                  <a:tcPr marL="68994"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01935374"/>
                  </a:ext>
                </a:extLst>
              </a:tr>
              <a:tr h="175248">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994"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81776199"/>
                  </a:ext>
                </a:extLst>
              </a:tr>
              <a:tr h="175248">
                <a:tc>
                  <a:txBody>
                    <a:bodyPr/>
                    <a:lstStyle/>
                    <a:p>
                      <a:pPr algn="l" fontAlgn="ctr">
                        <a:buNone/>
                      </a:pPr>
                      <a:r>
                        <a:rPr lang="de-DE" sz="700" b="1" i="0" u="none" strike="noStrike">
                          <a:solidFill>
                            <a:srgbClr val="000000"/>
                          </a:solidFill>
                          <a:effectLst/>
                          <a:latin typeface="Noto Sans" panose="020B0502040504020204" pitchFamily="34" charset="0"/>
                        </a:rPr>
                        <a:t/>
                      </a:r>
                    </a:p>
                  </a:txBody>
                  <a:tcPr marL="68994"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dirty="0">
                          <a:solidFill>
                            <a:srgbClr val="000000"/>
                          </a:solidFill>
                          <a:effectLst/>
                          <a:latin typeface="Noto Sans" panose="020B0502040504020204" pitchFamily="34" charset="0"/>
                        </a:rPr>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127174482"/>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p:cNvGraphicFramePr>
          <p:nvPr>
            <p:ph type="tbl" sz="quarter" idx="13"/>
            <p:extLst>
              <p:ext uri="{D42A27DB-BD31-4B8C-83A1-F6EECF244321}">
                <p14:modId xmlns:p14="http://schemas.microsoft.com/office/powerpoint/2010/main" val="2048170954"/>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err="1">
                          <a:solidFill>
                            <a:schemeClr val="bg1"/>
                          </a:solidFill>
                        </a:rPr>
                        <a:t>dynamic</a:t>
                      </a:r>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solidFill>
                            <a:schemeClr val="tx1"/>
                          </a:solidFill>
                        </a:rPr>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solidFill>
                            <a:schemeClr val="tx1"/>
                          </a:solidFill>
                        </a:rPr>
                        <a:t>mind. 90%, max. 100%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a:t>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solidFill>
                            <a:schemeClr val="tx1"/>
                          </a:solidFill>
                        </a:rPr>
                        <a:t>max. 10%</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solidFill>
                            <a:schemeClr val="tx1"/>
                          </a:solidFill>
                        </a:rPr>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Dynamic</a:t>
            </a:r>
          </a:p>
        </p:txBody>
      </p:sp>
    </p:spTree>
    <p:extLst>
      <p:ext uri="{BB962C8B-B14F-4D97-AF65-F5344CB8AC3E}">
        <p14:creationId xmlns:p14="http://schemas.microsoft.com/office/powerpoint/2010/main" val="3726922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 bis zum 31.12. des Vorjahres</a:t>
            </a:r>
          </a:p>
          <a:p>
            <a:r>
              <a:rPr lang="de-DE" dirty="0"/>
              <a:t>** ab 30.06. abzüglich halbjährigen Honorarsatz</a:t>
            </a:r>
          </a:p>
          <a:p>
            <a:r>
              <a:rPr lang="de-DE" dirty="0"/>
              <a:t>*** 100% MSCI World Euro</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16</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777553C7-8504-4830-9FFE-F62CC31A0018}" type="datetime1">
              <a:rPr lang="de-DE" sz="600" smtClean="0">
                <a:solidFill>
                  <a:schemeClr val="bg2"/>
                </a:solidFill>
              </a:rPr>
              <a:t>06.07.2026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3900077835"/>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408440384"/>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1034360103"/>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79765162"/>
                  </a:ext>
                </a:extLst>
              </a:tr>
              <a:tr h="288000">
                <a:tc>
                  <a:txBody>
                    <a:bodyPr/>
                    <a:lstStyle/>
                    <a:p>
                      <a:r>
                        <a:rPr lang="de-DE" sz="900" b="0" dirty="0"/>
                        <a:t>Wertentwicklung seit 2019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100,48%</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2019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9,70%</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2,69%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0,00</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72723899"/>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Dynamic | </a:t>
            </a:r>
            <a:r>
              <a:rPr lang="de-DE" b="0" dirty="0"/>
              <a:t>Wertentwicklung</a:t>
            </a:r>
          </a:p>
        </p:txBody>
      </p:sp>
    </p:spTree>
    <p:extLst>
      <p:ext uri="{BB962C8B-B14F-4D97-AF65-F5344CB8AC3E}">
        <p14:creationId xmlns:p14="http://schemas.microsoft.com/office/powerpoint/2010/main" val="3084164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9ACE5E8-F0A0-7445-A2C2-947652F322AF}"/>
              </a:ext>
            </a:extLst>
          </p:cNvPr>
          <p:cNvSpPr>
            <a:spLocks noGrp="1"/>
          </p:cNvSpPr>
          <p:nvPr>
            <p:ph type="sldNum" sz="quarter" idx="12"/>
          </p:nvPr>
        </p:nvSpPr>
        <p:spPr/>
        <p:txBody>
          <a:bodyPr/>
          <a:lstStyle/>
          <a:p>
            <a:fld id="{3AE71D6B-ACB6-4F4C-A895-DCAEF1760EAA}" type="slidenum">
              <a:rPr lang="de-DE" smtClean="0"/>
              <a:t>17</a:t>
            </a:fld>
            <a:endParaRPr lang="de-DE"/>
          </a:p>
        </p:txBody>
      </p:sp>
      <p:sp>
        <p:nvSpPr>
          <p:cNvPr id="3" name="Titel 2">
            <a:extLst>
              <a:ext uri="{FF2B5EF4-FFF2-40B4-BE49-F238E27FC236}">
                <a16:creationId xmlns:a16="http://schemas.microsoft.com/office/drawing/2014/main" id="{0752DE96-C716-EFF4-222B-48CA3D59C53D}"/>
              </a:ext>
            </a:extLst>
          </p:cNvPr>
          <p:cNvSpPr>
            <a:spLocks noGrp="1"/>
          </p:cNvSpPr>
          <p:nvPr>
            <p:ph type="title"/>
          </p:nvPr>
        </p:nvSpPr>
        <p:spPr/>
        <p:txBody>
          <a:bodyPr/>
          <a:lstStyle/>
          <a:p>
            <a:r>
              <a:rPr lang="de-DE" dirty="0"/>
              <a:t>Wertentwicklung der klassischen Vermögensverwaltungsstrategien</a:t>
            </a:r>
            <a:br>
              <a:rPr lang="de-DE" dirty="0"/>
            </a:br>
            <a:endParaRPr lang="de-DE" dirty="0">
              <a:highlight>
                <a:srgbClr val="FFFF00"/>
              </a:highlight>
            </a:endParaRPr>
          </a:p>
        </p:txBody>
      </p:sp>
      <p:graphicFrame>
        <p:nvGraphicFramePr>
          <p:cNvPr id="7" name="Tabelle">
            <a:extLst>
              <a:ext uri="{FF2B5EF4-FFF2-40B4-BE49-F238E27FC236}">
                <a16:creationId xmlns:a16="http://schemas.microsoft.com/office/drawing/2014/main" id="{A1209D49-69A8-C560-F0CA-3F7E87605B74}"/>
              </a:ext>
            </a:extLst>
          </p:cNvPr>
          <p:cNvGraphicFramePr>
            <a:graphicFrameLocks/>
          </p:cNvGraphicFramePr>
          <p:nvPr>
            <p:extLst>
              <p:ext uri="{D42A27DB-BD31-4B8C-83A1-F6EECF244321}">
                <p14:modId xmlns:p14="http://schemas.microsoft.com/office/powerpoint/2010/main" val="3925703597"/>
              </p:ext>
            </p:extLst>
          </p:nvPr>
        </p:nvGraphicFramePr>
        <p:xfrm>
          <a:off x="971732" y="1231522"/>
          <a:ext cx="8530859" cy="3016800"/>
        </p:xfrm>
        <a:graphic>
          <a:graphicData uri="http://schemas.openxmlformats.org/drawingml/2006/table">
            <a:tbl>
              <a:tblPr firstRow="1" bandRow="1">
                <a:tableStyleId>{2D5ABB26-0587-4C30-8999-92F81FD0307C}</a:tableStyleId>
              </a:tblPr>
              <a:tblGrid>
                <a:gridCol w="2234082">
                  <a:extLst>
                    <a:ext uri="{9D8B030D-6E8A-4147-A177-3AD203B41FA5}">
                      <a16:colId xmlns:a16="http://schemas.microsoft.com/office/drawing/2014/main" val="1253444119"/>
                    </a:ext>
                  </a:extLst>
                </a:gridCol>
                <a:gridCol w="50277">
                  <a:extLst>
                    <a:ext uri="{9D8B030D-6E8A-4147-A177-3AD203B41FA5}">
                      <a16:colId xmlns:a16="http://schemas.microsoft.com/office/drawing/2014/main" val="4281156835"/>
                    </a:ext>
                  </a:extLst>
                </a:gridCol>
                <a:gridCol w="50160">
                  <a:extLst>
                    <a:ext uri="{9D8B030D-6E8A-4147-A177-3AD203B41FA5}">
                      <a16:colId xmlns:a16="http://schemas.microsoft.com/office/drawing/2014/main" val="3648185841"/>
                    </a:ext>
                  </a:extLst>
                </a:gridCol>
                <a:gridCol w="50160">
                  <a:extLst>
                    <a:ext uri="{9D8B030D-6E8A-4147-A177-3AD203B41FA5}">
                      <a16:colId xmlns:a16="http://schemas.microsoft.com/office/drawing/2014/main" val="1880432366"/>
                    </a:ext>
                  </a:extLst>
                </a:gridCol>
                <a:gridCol w="1189108">
                  <a:extLst>
                    <a:ext uri="{9D8B030D-6E8A-4147-A177-3AD203B41FA5}">
                      <a16:colId xmlns:a16="http://schemas.microsoft.com/office/drawing/2014/main" val="1976685652"/>
                    </a:ext>
                  </a:extLst>
                </a:gridCol>
                <a:gridCol w="50160">
                  <a:extLst>
                    <a:ext uri="{9D8B030D-6E8A-4147-A177-3AD203B41FA5}">
                      <a16:colId xmlns:a16="http://schemas.microsoft.com/office/drawing/2014/main" val="462972238"/>
                    </a:ext>
                  </a:extLst>
                </a:gridCol>
                <a:gridCol w="1189108">
                  <a:extLst>
                    <a:ext uri="{9D8B030D-6E8A-4147-A177-3AD203B41FA5}">
                      <a16:colId xmlns:a16="http://schemas.microsoft.com/office/drawing/2014/main" val="4117174221"/>
                    </a:ext>
                  </a:extLst>
                </a:gridCol>
                <a:gridCol w="50160">
                  <a:extLst>
                    <a:ext uri="{9D8B030D-6E8A-4147-A177-3AD203B41FA5}">
                      <a16:colId xmlns:a16="http://schemas.microsoft.com/office/drawing/2014/main" val="1267060264"/>
                    </a:ext>
                  </a:extLst>
                </a:gridCol>
                <a:gridCol w="1189108">
                  <a:extLst>
                    <a:ext uri="{9D8B030D-6E8A-4147-A177-3AD203B41FA5}">
                      <a16:colId xmlns:a16="http://schemas.microsoft.com/office/drawing/2014/main" val="4038602688"/>
                    </a:ext>
                  </a:extLst>
                </a:gridCol>
                <a:gridCol w="50160">
                  <a:extLst>
                    <a:ext uri="{9D8B030D-6E8A-4147-A177-3AD203B41FA5}">
                      <a16:colId xmlns:a16="http://schemas.microsoft.com/office/drawing/2014/main" val="2374025351"/>
                    </a:ext>
                  </a:extLst>
                </a:gridCol>
                <a:gridCol w="1189108">
                  <a:extLst>
                    <a:ext uri="{9D8B030D-6E8A-4147-A177-3AD203B41FA5}">
                      <a16:colId xmlns:a16="http://schemas.microsoft.com/office/drawing/2014/main" val="916750025"/>
                    </a:ext>
                  </a:extLst>
                </a:gridCol>
                <a:gridCol w="50160">
                  <a:extLst>
                    <a:ext uri="{9D8B030D-6E8A-4147-A177-3AD203B41FA5}">
                      <a16:colId xmlns:a16="http://schemas.microsoft.com/office/drawing/2014/main" val="2735409839"/>
                    </a:ext>
                  </a:extLst>
                </a:gridCol>
                <a:gridCol w="1189108">
                  <a:extLst>
                    <a:ext uri="{9D8B030D-6E8A-4147-A177-3AD203B41FA5}">
                      <a16:colId xmlns:a16="http://schemas.microsoft.com/office/drawing/2014/main" val="2256793850"/>
                    </a:ext>
                  </a:extLst>
                </a:gridCol>
              </a:tblGrid>
              <a:tr h="576000">
                <a:tc>
                  <a:txBody>
                    <a:bodyPr/>
                    <a:lstStyle/>
                    <a:p>
                      <a:pPr algn="ctr">
                        <a:lnSpc>
                          <a:spcPct val="100000"/>
                        </a:lnSpc>
                      </a:pPr>
                      <a:r>
                        <a:rPr lang="de-DE" sz="900" b="1" dirty="0">
                          <a:solidFill>
                            <a:schemeClr val="bg1"/>
                          </a:solidFill>
                        </a:rPr>
                        <a:t>Zeitraum</a:t>
                      </a:r>
                    </a:p>
                  </a:txBody>
                  <a:tcPr marL="0" marR="0" marT="0" marB="0" anchor="ctr">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r>
                        <a:rPr lang="de-DE" sz="900" b="1" dirty="0">
                          <a:solidFill>
                            <a:schemeClr val="bg1"/>
                          </a:solidFill>
                        </a:rPr>
                        <a:t>Konservative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Defensive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Defensiv Plus</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Ausgewogene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Dynamic</a:t>
                      </a:r>
                      <a:br>
                        <a:rPr lang="de-DE" sz="900" b="1" dirty="0">
                          <a:solidFill>
                            <a:schemeClr val="bg1"/>
                          </a:solidFill>
                        </a:rPr>
                      </a:br>
                      <a:r>
                        <a:rPr lang="de-DE" sz="900" b="1" dirty="0">
                          <a:solidFill>
                            <a:schemeClr val="bg1"/>
                          </a:solidFill>
                        </a:rPr>
                        <a:t>Strategie</a:t>
                      </a:r>
                    </a:p>
                  </a:txBody>
                  <a:tcPr marL="0" marR="0" marT="0" marB="0" anchor="ctr">
                    <a:lnL>
                      <a:noFill/>
                    </a:lnL>
                    <a:lnB>
                      <a:noFill/>
                    </a:lnB>
                    <a:solidFill>
                      <a:schemeClr val="accent1"/>
                    </a:solidFill>
                  </a:tcPr>
                </a:tc>
                <a:extLst>
                  <a:ext uri="{0D108BD9-81ED-4DB2-BD59-A6C34878D82A}">
                    <a16:rowId xmlns:a16="http://schemas.microsoft.com/office/drawing/2014/main" val="2297518336"/>
                  </a:ext>
                </a:extLst>
              </a:tr>
              <a:tr h="50400">
                <a:tc>
                  <a:txBody>
                    <a:bodyPr/>
                    <a:lstStyle/>
                    <a:p>
                      <a:pPr>
                        <a:lnSpc>
                          <a:spcPct val="100000"/>
                        </a:lnSpc>
                      </a:pPr>
                      <a:endParaRPr lang="de-DE" sz="100" b="1" dirty="0"/>
                    </a:p>
                  </a:txBody>
                  <a:tcPr marL="7200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7353684"/>
                  </a:ext>
                </a:extLst>
              </a:tr>
              <a:tr h="468000">
                <a:tc>
                  <a:txBody>
                    <a:bodyPr/>
                    <a:lstStyle/>
                    <a:p>
                      <a:pPr>
                        <a:lnSpc>
                          <a:spcPct val="100000"/>
                        </a:lnSpc>
                      </a:pPr>
                      <a:r>
                        <a:rPr lang="de-DE" sz="900" b="1" dirty="0"/>
                        <a:t>YTD Performance</a:t>
                      </a:r>
                    </a:p>
                  </a:txBody>
                  <a:tcPr marL="72000" marR="0" marT="0" marB="0" anchor="ctr">
                    <a:lnR>
                      <a:noFill/>
                    </a:lnR>
                    <a:lnT>
                      <a:noFill/>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0,36%</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5,19%</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4,78%</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5,79%</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2,69%</a:t>
                      </a:r>
                      <a:endParaRPr lang="de-DE" sz="900" dirty="0"/>
                    </a:p>
                  </a:txBody>
                  <a:tcPr marL="0" marR="0" marT="0" marB="0" anchor="ctr">
                    <a:lnL>
                      <a:noFill/>
                    </a:lnL>
                    <a:lnT>
                      <a:noFill/>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30174765"/>
                  </a:ext>
                </a:extLst>
              </a:tr>
              <a:tr h="468000">
                <a:tc>
                  <a:txBody>
                    <a:bodyPr/>
                    <a:lstStyle/>
                    <a:p>
                      <a:pPr>
                        <a:lnSpc>
                          <a:spcPct val="100000"/>
                        </a:lnSpc>
                      </a:pPr>
                      <a:r>
                        <a:rPr lang="de-DE" sz="900" b="1" dirty="0"/>
                        <a:t>1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3,40%</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9,55%</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11,07%</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11,69%</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2,51%</a:t>
                      </a:r>
                      <a:endParaRPr lang="de-DE" sz="900" dirty="0"/>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09901451"/>
                  </a:ext>
                </a:extLst>
              </a:tr>
              <a:tr h="468000">
                <a:tc>
                  <a:txBody>
                    <a:bodyPr/>
                    <a:lstStyle/>
                    <a:p>
                      <a:pPr>
                        <a:lnSpc>
                          <a:spcPct val="100000"/>
                        </a:lnSpc>
                      </a:pPr>
                      <a:r>
                        <a:rPr lang="de-DE" sz="900" b="1" dirty="0"/>
                        <a:t>3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16,68%</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28,53%</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30,55%</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31,19%</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26,20%</a:t>
                      </a:r>
                      <a:endParaRPr lang="de-DE" sz="900" dirty="0"/>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224286276"/>
                  </a:ext>
                </a:extLst>
              </a:tr>
              <a:tr h="468000">
                <a:tc>
                  <a:txBody>
                    <a:bodyPr/>
                    <a:lstStyle/>
                    <a:p>
                      <a:pPr>
                        <a:lnSpc>
                          <a:spcPct val="100000"/>
                        </a:lnSpc>
                      </a:pPr>
                      <a:r>
                        <a:rPr lang="de-DE" sz="900" b="1" dirty="0"/>
                        <a:t>5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6,00%</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19,04%</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21,21%</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24,73%</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20,45%</a:t>
                      </a:r>
                      <a:endParaRPr lang="de-DE" sz="900" dirty="0"/>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952099554"/>
                  </a:ext>
                </a:extLst>
              </a:tr>
              <a:tr h="468000">
                <a:tc>
                  <a:txBody>
                    <a:bodyPr/>
                    <a:lstStyle/>
                    <a:p>
                      <a:pPr>
                        <a:lnSpc>
                          <a:spcPct val="100000"/>
                        </a:lnSpc>
                      </a:pPr>
                      <a:r>
                        <a:rPr lang="de-DE" sz="900" b="1" dirty="0"/>
                        <a:t>10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11,43%</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35,80%</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57,40%</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75,72%</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a:t>
                      </a:r>
                      <a:endParaRPr lang="de-DE" sz="900" dirty="0"/>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47187741"/>
                  </a:ext>
                </a:extLst>
              </a:tr>
              <a:tr h="50400">
                <a:tc>
                  <a:txBody>
                    <a:bodyPr/>
                    <a:lstStyle/>
                    <a:p>
                      <a:pPr>
                        <a:lnSpc>
                          <a:spcPct val="100000"/>
                        </a:lnSpc>
                      </a:pPr>
                      <a:endParaRPr lang="de-DE" sz="100" b="1" dirty="0"/>
                    </a:p>
                  </a:txBody>
                  <a:tcPr marL="72000" marR="0" marT="0" marB="0" anchor="ctr">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307991516"/>
                  </a:ext>
                </a:extLst>
              </a:tr>
            </a:tbl>
          </a:graphicData>
        </a:graphic>
      </p:graphicFrame>
      <p:sp>
        <p:nvSpPr>
          <p:cNvPr id="6" name="Fußnote">
            <a:extLst>
              <a:ext uri="{FF2B5EF4-FFF2-40B4-BE49-F238E27FC236}">
                <a16:creationId xmlns:a16="http://schemas.microsoft.com/office/drawing/2014/main" id="{C50D843B-9D64-0952-67E3-8D68ED846F39}"/>
              </a:ext>
            </a:extLst>
          </p:cNvPr>
          <p:cNvSpPr txBox="1">
            <a:spLocks/>
          </p:cNvSpPr>
          <p:nvPr/>
        </p:nvSpPr>
        <p:spPr>
          <a:xfrm>
            <a:off x="4059359" y="4334607"/>
            <a:ext cx="5616575" cy="1286852"/>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sz="600" dirty="0">
                <a:solidFill>
                  <a:srgbClr val="000000"/>
                </a:solidFill>
              </a:rPr>
              <a:t>* Die aufgeführten Zahlen beziehen sich auf die Wertentwicklung in der Vergangenheit. Die Wertentwicklung in der Vergangenheit ist kein zuverlässiger Indikator für die künftige Entwicklung und sollte nicht der alleinige Entscheidungsfaktor bei der Auswahl einer Anlagestrategie sein.  Der unterjährige Performance-Ausweis erfolgt vor Kosten. Die weiteren Performance Angaben wurden nach Kosten berechnet. Sowohl das VV Honorar als auch fremde Spesen und evtl. Produktkosten wurden berücksichtigt.</a:t>
            </a:r>
          </a:p>
          <a:p>
            <a:endParaRPr lang="de-DE" sz="600" dirty="0">
              <a:solidFill>
                <a:srgbClr val="000000"/>
              </a:solidFill>
            </a:endParaRPr>
          </a:p>
        </p:txBody>
      </p:sp>
    </p:spTree>
    <p:extLst>
      <p:ext uri="{BB962C8B-B14F-4D97-AF65-F5344CB8AC3E}">
        <p14:creationId xmlns:p14="http://schemas.microsoft.com/office/powerpoint/2010/main" val="2568776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18</a:t>
            </a:fld>
            <a:endParaRPr lang="de-DE"/>
          </a:p>
        </p:txBody>
      </p:sp>
      <p:sp>
        <p:nvSpPr>
          <p:cNvPr id="6" name="Quelle">
            <a:extLst>
              <a:ext uri="{FF2B5EF4-FFF2-40B4-BE49-F238E27FC236}">
                <a16:creationId xmlns:a16="http://schemas.microsoft.com/office/drawing/2014/main" id="{EAC6A0B8-642C-E3B8-B843-12B454B90915}"/>
              </a:ext>
            </a:extLst>
          </p:cNvPr>
          <p:cNvSpPr txBox="1">
            <a:spLocks noGrp="1" noRot="1" noMove="1" noResize="1" noEditPoints="1" noAdjustHandles="1" noChangeArrowheads="1" noChangeShapeType="1"/>
          </p:cNvSpPr>
          <p:nvPr/>
        </p:nvSpPr>
        <p:spPr>
          <a:xfrm>
            <a:off x="2016125" y="5679028"/>
            <a:ext cx="8099425" cy="244298"/>
          </a:xfrm>
          <a:prstGeom prst="rect">
            <a:avLst/>
          </a:prstGeom>
          <a:noFill/>
        </p:spPr>
        <p:txBody>
          <a:bodyPr wrap="square" lIns="0" tIns="0" rIns="0" bIns="0" rtlCol="0">
            <a:spAutoFit/>
          </a:bodyPr>
          <a:lstStyle/>
          <a:p>
            <a:pPr algn="r">
              <a:lnSpc>
                <a:spcPts val="1000"/>
              </a:lnSpc>
            </a:pPr>
            <a:r>
              <a:rPr lang="de-DE" sz="600" dirty="0"/>
              <a:t>Diese Übersicht beinhaltet die größten Monatsverluste unserer fünf klassischen Vermögensverwaltungsstrategien sowie im Vergleich dazu die Wertentwicklung der beiden wichtigsten Assetklassen Anleihen und Aktien</a:t>
            </a:r>
          </a:p>
          <a:p>
            <a:pPr algn="r">
              <a:lnSpc>
                <a:spcPts val="1000"/>
              </a:lnSpc>
            </a:pPr>
            <a:r>
              <a:rPr lang="de-DE" sz="600" dirty="0">
                <a:solidFill>
                  <a:schemeClr val="tx1">
                    <a:lumMod val="50000"/>
                    <a:lumOff val="50000"/>
                  </a:schemeClr>
                </a:solidFill>
              </a:rPr>
              <a:t>Quelle: Sammelindex Aktien: 50 % Dax / 50 % MSCI World; Sammelindex Anleihen: 22,73 % Euro Staatsanleihen / 72,76 % Euro </a:t>
            </a:r>
            <a:r>
              <a:rPr lang="de-DE" sz="600" dirty="0" err="1">
                <a:solidFill>
                  <a:schemeClr val="tx1">
                    <a:lumMod val="50000"/>
                    <a:lumOff val="50000"/>
                  </a:schemeClr>
                </a:solidFill>
              </a:rPr>
              <a:t>Corporates</a:t>
            </a:r>
            <a:r>
              <a:rPr lang="de-DE" sz="600" dirty="0">
                <a:solidFill>
                  <a:schemeClr val="tx1">
                    <a:lumMod val="50000"/>
                    <a:lumOff val="50000"/>
                  </a:schemeClr>
                </a:solidFill>
              </a:rPr>
              <a:t> (alle Ratings) / 4,54 % Emerging </a:t>
            </a:r>
            <a:r>
              <a:rPr lang="de-DE" sz="600" dirty="0" err="1">
                <a:solidFill>
                  <a:schemeClr val="tx1">
                    <a:lumMod val="50000"/>
                    <a:lumOff val="50000"/>
                  </a:schemeClr>
                </a:solidFill>
              </a:rPr>
              <a:t>Markets</a:t>
            </a:r>
            <a:endParaRPr lang="de-DE" sz="600" dirty="0">
              <a:solidFill>
                <a:schemeClr val="tx1">
                  <a:lumMod val="50000"/>
                  <a:lumOff val="50000"/>
                </a:schemeClr>
              </a:solidFill>
            </a:endParaRPr>
          </a:p>
        </p:txBody>
      </p:sp>
      <p:graphicFrame>
        <p:nvGraphicFramePr>
          <p:cNvPr id="5" name="Tabelle">
            <a:extLst>
              <a:ext uri="{FF2B5EF4-FFF2-40B4-BE49-F238E27FC236}">
                <a16:creationId xmlns:a16="http://schemas.microsoft.com/office/drawing/2014/main" id="{563A2DF8-2376-8E96-D6DC-CAAC807B0130}"/>
              </a:ext>
            </a:extLst>
          </p:cNvPr>
          <p:cNvGraphicFramePr>
            <a:graphicFrameLocks noGrp="1"/>
          </p:cNvGraphicFramePr>
          <p:nvPr>
            <p:ph idx="1"/>
            <p:extLst>
              <p:ext uri="{D42A27DB-BD31-4B8C-83A1-F6EECF244321}">
                <p14:modId xmlns:p14="http://schemas.microsoft.com/office/powerpoint/2010/main" val="2916032492"/>
              </p:ext>
            </p:extLst>
          </p:nvPr>
        </p:nvGraphicFramePr>
        <p:xfrm>
          <a:off x="358775" y="1041400"/>
          <a:ext cx="9756001" cy="4552570"/>
        </p:xfrm>
        <a:graphic>
          <a:graphicData uri="http://schemas.openxmlformats.org/drawingml/2006/table">
            <a:tbl>
              <a:tblPr firstRow="1" bandRow="1">
                <a:tableStyleId>{2D5ABB26-0587-4C30-8999-92F81FD0307C}</a:tableStyleId>
              </a:tblPr>
              <a:tblGrid>
                <a:gridCol w="2234082">
                  <a:extLst>
                    <a:ext uri="{9D8B030D-6E8A-4147-A177-3AD203B41FA5}">
                      <a16:colId xmlns:a16="http://schemas.microsoft.com/office/drawing/2014/main" val="1253444119"/>
                    </a:ext>
                  </a:extLst>
                </a:gridCol>
                <a:gridCol w="50277">
                  <a:extLst>
                    <a:ext uri="{9D8B030D-6E8A-4147-A177-3AD203B41FA5}">
                      <a16:colId xmlns:a16="http://schemas.microsoft.com/office/drawing/2014/main" val="4281156835"/>
                    </a:ext>
                  </a:extLst>
                </a:gridCol>
                <a:gridCol w="612571">
                  <a:extLst>
                    <a:ext uri="{9D8B030D-6E8A-4147-A177-3AD203B41FA5}">
                      <a16:colId xmlns:a16="http://schemas.microsoft.com/office/drawing/2014/main" val="3922992662"/>
                    </a:ext>
                  </a:extLst>
                </a:gridCol>
                <a:gridCol w="50160">
                  <a:extLst>
                    <a:ext uri="{9D8B030D-6E8A-4147-A177-3AD203B41FA5}">
                      <a16:colId xmlns:a16="http://schemas.microsoft.com/office/drawing/2014/main" val="3648185841"/>
                    </a:ext>
                  </a:extLst>
                </a:gridCol>
                <a:gridCol w="612571">
                  <a:extLst>
                    <a:ext uri="{9D8B030D-6E8A-4147-A177-3AD203B41FA5}">
                      <a16:colId xmlns:a16="http://schemas.microsoft.com/office/drawing/2014/main" val="850818561"/>
                    </a:ext>
                  </a:extLst>
                </a:gridCol>
                <a:gridCol w="50160">
                  <a:extLst>
                    <a:ext uri="{9D8B030D-6E8A-4147-A177-3AD203B41FA5}">
                      <a16:colId xmlns:a16="http://schemas.microsoft.com/office/drawing/2014/main" val="1880432366"/>
                    </a:ext>
                  </a:extLst>
                </a:gridCol>
                <a:gridCol w="1177145">
                  <a:extLst>
                    <a:ext uri="{9D8B030D-6E8A-4147-A177-3AD203B41FA5}">
                      <a16:colId xmlns:a16="http://schemas.microsoft.com/office/drawing/2014/main" val="1976685652"/>
                    </a:ext>
                  </a:extLst>
                </a:gridCol>
                <a:gridCol w="62123">
                  <a:extLst>
                    <a:ext uri="{9D8B030D-6E8A-4147-A177-3AD203B41FA5}">
                      <a16:colId xmlns:a16="http://schemas.microsoft.com/office/drawing/2014/main" val="462972238"/>
                    </a:ext>
                  </a:extLst>
                </a:gridCol>
                <a:gridCol w="1189108">
                  <a:extLst>
                    <a:ext uri="{9D8B030D-6E8A-4147-A177-3AD203B41FA5}">
                      <a16:colId xmlns:a16="http://schemas.microsoft.com/office/drawing/2014/main" val="4117174221"/>
                    </a:ext>
                  </a:extLst>
                </a:gridCol>
                <a:gridCol w="50160">
                  <a:extLst>
                    <a:ext uri="{9D8B030D-6E8A-4147-A177-3AD203B41FA5}">
                      <a16:colId xmlns:a16="http://schemas.microsoft.com/office/drawing/2014/main" val="1267060264"/>
                    </a:ext>
                  </a:extLst>
                </a:gridCol>
                <a:gridCol w="1189108">
                  <a:extLst>
                    <a:ext uri="{9D8B030D-6E8A-4147-A177-3AD203B41FA5}">
                      <a16:colId xmlns:a16="http://schemas.microsoft.com/office/drawing/2014/main" val="4038602688"/>
                    </a:ext>
                  </a:extLst>
                </a:gridCol>
                <a:gridCol w="50160">
                  <a:extLst>
                    <a:ext uri="{9D8B030D-6E8A-4147-A177-3AD203B41FA5}">
                      <a16:colId xmlns:a16="http://schemas.microsoft.com/office/drawing/2014/main" val="2374025351"/>
                    </a:ext>
                  </a:extLst>
                </a:gridCol>
                <a:gridCol w="1189108">
                  <a:extLst>
                    <a:ext uri="{9D8B030D-6E8A-4147-A177-3AD203B41FA5}">
                      <a16:colId xmlns:a16="http://schemas.microsoft.com/office/drawing/2014/main" val="916750025"/>
                    </a:ext>
                  </a:extLst>
                </a:gridCol>
                <a:gridCol w="50160">
                  <a:extLst>
                    <a:ext uri="{9D8B030D-6E8A-4147-A177-3AD203B41FA5}">
                      <a16:colId xmlns:a16="http://schemas.microsoft.com/office/drawing/2014/main" val="2735409839"/>
                    </a:ext>
                  </a:extLst>
                </a:gridCol>
                <a:gridCol w="1189108">
                  <a:extLst>
                    <a:ext uri="{9D8B030D-6E8A-4147-A177-3AD203B41FA5}">
                      <a16:colId xmlns:a16="http://schemas.microsoft.com/office/drawing/2014/main" val="2256793850"/>
                    </a:ext>
                  </a:extLst>
                </a:gridCol>
              </a:tblGrid>
              <a:tr h="361316">
                <a:tc>
                  <a:txBody>
                    <a:bodyPr/>
                    <a:lstStyle/>
                    <a:p>
                      <a:pPr algn="ctr">
                        <a:lnSpc>
                          <a:spcPct val="100000"/>
                        </a:lnSpc>
                      </a:pPr>
                      <a:r>
                        <a:rPr lang="de-DE" sz="900" b="1" dirty="0">
                          <a:solidFill>
                            <a:schemeClr val="bg1"/>
                          </a:solidFill>
                        </a:rPr>
                        <a:t>Zeitpunkt</a:t>
                      </a:r>
                    </a:p>
                  </a:txBody>
                  <a:tcPr marL="0" marR="0" marT="0" marB="0" anchor="ctr">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r>
                        <a:rPr lang="de-DE" sz="900" b="1" dirty="0">
                          <a:solidFill>
                            <a:schemeClr val="bg1"/>
                          </a:solidFill>
                        </a:rPr>
                        <a:t>Anleihen</a:t>
                      </a:r>
                    </a:p>
                  </a:txBody>
                  <a:tcPr marL="0" marR="0" marT="0" marB="0" anchor="ctr">
                    <a:lnL>
                      <a:noFill/>
                    </a:lnL>
                    <a:lnR>
                      <a:noFill/>
                    </a:lnR>
                    <a:lnB>
                      <a:noFill/>
                    </a:lnB>
                    <a:solidFill>
                      <a:schemeClr val="accent2"/>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r>
                        <a:rPr lang="de-DE" sz="900" b="1" dirty="0">
                          <a:solidFill>
                            <a:schemeClr val="bg1"/>
                          </a:solidFill>
                        </a:rPr>
                        <a:t>Aktien</a:t>
                      </a:r>
                    </a:p>
                  </a:txBody>
                  <a:tcPr marL="0" marR="0" marT="0" marB="0" anchor="ctr">
                    <a:lnL>
                      <a:noFill/>
                    </a:lnL>
                    <a:lnR>
                      <a:noFill/>
                    </a:lnR>
                    <a:lnB>
                      <a:noFill/>
                    </a:lnB>
                    <a:solidFill>
                      <a:schemeClr val="accent2"/>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r>
                        <a:rPr lang="de-DE" sz="900" b="1" dirty="0">
                          <a:solidFill>
                            <a:schemeClr val="bg1"/>
                          </a:solidFill>
                        </a:rPr>
                        <a:t>Konservative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Defensive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Defensiv Plus</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Ausgewogene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Dynamic</a:t>
                      </a:r>
                      <a:br>
                        <a:rPr lang="de-DE" sz="900" b="1" dirty="0">
                          <a:solidFill>
                            <a:schemeClr val="bg1"/>
                          </a:solidFill>
                        </a:rPr>
                      </a:br>
                      <a:r>
                        <a:rPr lang="de-DE" sz="900" b="1" dirty="0">
                          <a:solidFill>
                            <a:schemeClr val="bg1"/>
                          </a:solidFill>
                        </a:rPr>
                        <a:t>Strategie</a:t>
                      </a:r>
                    </a:p>
                  </a:txBody>
                  <a:tcPr marL="0" marR="0" marT="0" marB="0" anchor="ctr">
                    <a:lnL>
                      <a:noFill/>
                    </a:lnL>
                    <a:lnB>
                      <a:noFill/>
                    </a:lnB>
                    <a:solidFill>
                      <a:schemeClr val="accent1"/>
                    </a:solidFill>
                  </a:tcPr>
                </a:tc>
                <a:extLst>
                  <a:ext uri="{0D108BD9-81ED-4DB2-BD59-A6C34878D82A}">
                    <a16:rowId xmlns:a16="http://schemas.microsoft.com/office/drawing/2014/main" val="2297518336"/>
                  </a:ext>
                </a:extLst>
              </a:tr>
              <a:tr h="45985">
                <a:tc>
                  <a:txBody>
                    <a:bodyPr/>
                    <a:lstStyle/>
                    <a:p>
                      <a:pPr>
                        <a:lnSpc>
                          <a:spcPct val="100000"/>
                        </a:lnSpc>
                      </a:pPr>
                      <a:endParaRPr lang="de-DE" sz="100" b="1" dirty="0"/>
                    </a:p>
                  </a:txBody>
                  <a:tcPr marL="7200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7353684"/>
                  </a:ext>
                </a:extLst>
              </a:tr>
              <a:tr h="341607">
                <a:tc>
                  <a:txBody>
                    <a:bodyPr/>
                    <a:lstStyle/>
                    <a:p>
                      <a:pPr>
                        <a:lnSpc>
                          <a:spcPct val="100000"/>
                        </a:lnSpc>
                      </a:pPr>
                      <a:r>
                        <a:rPr lang="de-DE" sz="900" b="1" dirty="0"/>
                        <a:t>09/2001 – Anschläge auf das WTC</a:t>
                      </a:r>
                    </a:p>
                  </a:txBody>
                  <a:tcPr marL="72000" marR="0" marT="0" marB="0" anchor="ctr">
                    <a:lnR>
                      <a:noFill/>
                    </a:lnR>
                    <a:lnT>
                      <a:noFill/>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-1,11 %</a:t>
                      </a:r>
                    </a:p>
                  </a:txBody>
                  <a:tcPr marL="0" marR="0" marT="0" marB="0" anchor="ctr">
                    <a:lnL>
                      <a:noFill/>
                    </a:lnL>
                    <a:lnR>
                      <a:noFill/>
                    </a:lnR>
                    <a:lnT>
                      <a:noFill/>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-16,96 %</a:t>
                      </a:r>
                    </a:p>
                  </a:txBody>
                  <a:tcPr marL="0" marR="0" marT="0" marB="0" anchor="ctr">
                    <a:lnL>
                      <a:noFill/>
                    </a:lnL>
                    <a:lnR>
                      <a:noFill/>
                    </a:lnR>
                    <a:lnT>
                      <a:noFill/>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Noch nicht aufgelegt</a:t>
                      </a:r>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-0,80 %</a:t>
                      </a:r>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-3,44 %</a:t>
                      </a:r>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T>
                      <a:noFill/>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30174765"/>
                  </a:ext>
                </a:extLst>
              </a:tr>
              <a:tr h="341607">
                <a:tc>
                  <a:txBody>
                    <a:bodyPr/>
                    <a:lstStyle/>
                    <a:p>
                      <a:pPr>
                        <a:lnSpc>
                          <a:spcPct val="100000"/>
                        </a:lnSpc>
                      </a:pPr>
                      <a:r>
                        <a:rPr lang="de-DE" sz="900" b="1" dirty="0"/>
                        <a:t>07/2002 – MCI </a:t>
                      </a:r>
                      <a:r>
                        <a:rPr lang="de-DE" sz="900" b="1" dirty="0" err="1"/>
                        <a:t>WorldCom</a:t>
                      </a:r>
                      <a:r>
                        <a:rPr lang="de-DE" sz="900" b="1" dirty="0"/>
                        <a:t> Konkurs </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0,98 %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-15,57 %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-0,77 %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-2,77 %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09901451"/>
                  </a:ext>
                </a:extLst>
              </a:tr>
              <a:tr h="341607">
                <a:tc>
                  <a:txBody>
                    <a:bodyPr/>
                    <a:lstStyle/>
                    <a:p>
                      <a:pPr>
                        <a:lnSpc>
                          <a:spcPct val="100000"/>
                        </a:lnSpc>
                      </a:pPr>
                      <a:r>
                        <a:rPr lang="de-DE" sz="900" b="1" dirty="0"/>
                        <a:t>09/2002 – Irakkrise </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1,63 %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-25,42 %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0,17 %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-2,04 %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224286276"/>
                  </a:ext>
                </a:extLst>
              </a:tr>
              <a:tr h="341607">
                <a:tc>
                  <a:txBody>
                    <a:bodyPr/>
                    <a:lstStyle/>
                    <a:p>
                      <a:pPr>
                        <a:lnSpc>
                          <a:spcPct val="100000"/>
                        </a:lnSpc>
                      </a:pPr>
                      <a:r>
                        <a:rPr lang="de-DE" sz="900" b="1" dirty="0"/>
                        <a:t>01/2008 – Subprimekrise </a:t>
                      </a:r>
                      <a:br>
                        <a:rPr lang="de-DE" sz="900" b="1" dirty="0"/>
                      </a:br>
                      <a:r>
                        <a:rPr lang="de-DE" sz="900" b="1" dirty="0"/>
                        <a:t>(Bear Stearns in Schieflage) </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1,68 %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-15,07 %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0,31 %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-2,24 %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-3,04 %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-5,29 %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952099554"/>
                  </a:ext>
                </a:extLst>
              </a:tr>
              <a:tr h="341607">
                <a:tc>
                  <a:txBody>
                    <a:bodyPr/>
                    <a:lstStyle/>
                    <a:p>
                      <a:pPr>
                        <a:lnSpc>
                          <a:spcPct val="100000"/>
                        </a:lnSpc>
                      </a:pPr>
                      <a:r>
                        <a:rPr lang="de-DE" sz="900" b="1" dirty="0"/>
                        <a:t>10/2008 – Lehmann Konkurs </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-3,59 %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-14,46 %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0,58 %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-1,66 %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-5,24 %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-3,20 %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47187741"/>
                  </a:ext>
                </a:extLst>
              </a:tr>
              <a:tr h="341607">
                <a:tc>
                  <a:txBody>
                    <a:bodyPr/>
                    <a:lstStyle/>
                    <a:p>
                      <a:pPr>
                        <a:lnSpc>
                          <a:spcPct val="100000"/>
                        </a:lnSpc>
                      </a:pPr>
                      <a:r>
                        <a:rPr lang="de-DE" sz="900" b="1" dirty="0"/>
                        <a:t>08/2011 – Griechenland Krise </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-0,54 %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-19,19 %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0,47 %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-2,52 %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-2,88 %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-6,81 %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403929158"/>
                  </a:ext>
                </a:extLst>
              </a:tr>
              <a:tr h="341607">
                <a:tc>
                  <a:txBody>
                    <a:bodyPr/>
                    <a:lstStyle/>
                    <a:p>
                      <a:pPr>
                        <a:lnSpc>
                          <a:spcPct val="100000"/>
                        </a:lnSpc>
                      </a:pPr>
                      <a:r>
                        <a:rPr lang="de-DE" sz="900" b="1" dirty="0"/>
                        <a:t>08/2015 – Börsencrash China </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-0,95 %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-9,28 %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-0,17 %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-2,63 %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-4,80 %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-6,21 %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370497675"/>
                  </a:ext>
                </a:extLst>
              </a:tr>
              <a:tr h="341607">
                <a:tc>
                  <a:txBody>
                    <a:bodyPr/>
                    <a:lstStyle/>
                    <a:p>
                      <a:pPr>
                        <a:lnSpc>
                          <a:spcPct val="100000"/>
                        </a:lnSpc>
                      </a:pPr>
                      <a:r>
                        <a:rPr lang="de-DE" sz="900" b="1" dirty="0"/>
                        <a:t>12/2018 – Handelsstreit China </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-0,95 %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-6,20 %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-0,29 %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-1,80 %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-3,45 %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-5,44 %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dirty="0"/>
                        <a:t>Noch nicht aufgelegt</a:t>
                      </a:r>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16132529"/>
                  </a:ext>
                </a:extLst>
              </a:tr>
              <a:tr h="341607">
                <a:tc>
                  <a:txBody>
                    <a:bodyPr/>
                    <a:lstStyle/>
                    <a:p>
                      <a:pPr>
                        <a:lnSpc>
                          <a:spcPct val="100000"/>
                        </a:lnSpc>
                      </a:pPr>
                      <a:r>
                        <a:rPr lang="de-DE" sz="900" b="1" dirty="0"/>
                        <a:t>03/2020 – Corona Crash </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-4,47 %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-16,44 %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-7,03 %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-5,89 %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-6,19 %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-6,69 %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-8,32 %</a:t>
                      </a:r>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59161996"/>
                  </a:ext>
                </a:extLst>
              </a:tr>
              <a:tr h="341607">
                <a:tc>
                  <a:txBody>
                    <a:bodyPr/>
                    <a:lstStyle/>
                    <a:p>
                      <a:pPr>
                        <a:lnSpc>
                          <a:spcPct val="100000"/>
                        </a:lnSpc>
                      </a:pPr>
                      <a:r>
                        <a:rPr lang="de-DE" sz="900" b="1" dirty="0"/>
                        <a:t>02/2022 – Ukraine Invasion </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-2,56 %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-4,50 %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-3,19 %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-3,21 %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 -4,24 %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-5,77 %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 -5,78 %</a:t>
                      </a:r>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331972326"/>
                  </a:ext>
                </a:extLst>
              </a:tr>
              <a:tr h="341607">
                <a:tc>
                  <a:txBody>
                    <a:bodyPr/>
                    <a:lstStyle/>
                    <a:p>
                      <a:pPr>
                        <a:lnSpc>
                          <a:spcPct val="100000"/>
                        </a:lnSpc>
                      </a:pPr>
                      <a:r>
                        <a:rPr lang="de-DE" sz="900" b="1" dirty="0"/>
                        <a:t>04/2025 – US Zoll Schock</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-0,84%</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-3,79 %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accent6"/>
                    </a:solidFill>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-0,57 %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-1,30 %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-2,77 %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-3,86 %</a:t>
                      </a:r>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dirty="0"/>
                        <a:t>-3,12 %</a:t>
                      </a:r>
                    </a:p>
                  </a:txBody>
                  <a:tcPr marL="0" marR="0" marT="0" marB="0" anchor="ctr">
                    <a:lnL>
                      <a:noFill/>
                    </a:lnL>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917414526"/>
                  </a:ext>
                </a:extLst>
              </a:tr>
              <a:tr h="341607">
                <a:tc>
                  <a:txBody>
                    <a:bodyPr/>
                    <a:lstStyle/>
                    <a:p>
                      <a:pPr>
                        <a:lnSpc>
                          <a:spcPct val="100000"/>
                        </a:lnSpc>
                      </a:pPr>
                      <a:r>
                        <a:rPr lang="de-DE" sz="900" b="1" dirty="0"/>
                        <a:t>Durchschnitt</a:t>
                      </a:r>
                    </a:p>
                  </a:txBody>
                  <a:tcPr marL="72000" marR="0" marT="0" marB="0" anchor="ctr">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-0,97 %</a:t>
                      </a:r>
                    </a:p>
                  </a:txBody>
                  <a:tcPr marL="0" marR="0" marT="0" marB="0" anchor="ctr">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-13,35 %</a:t>
                      </a:r>
                    </a:p>
                  </a:txBody>
                  <a:tcPr marL="0" marR="0" marT="0" marB="0" anchor="ctr">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-1,24 %</a:t>
                      </a:r>
                    </a:p>
                  </a:txBody>
                  <a:tcPr marL="0" marR="0" marT="0" marB="0" anchor="ctr">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-2,06 %</a:t>
                      </a:r>
                    </a:p>
                  </a:txBody>
                  <a:tcPr marL="0" marR="0" marT="0" marB="0" anchor="ctr">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-4,08 %</a:t>
                      </a:r>
                    </a:p>
                  </a:txBody>
                  <a:tcPr marL="0" marR="0" marT="0" marB="0" anchor="ctr">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-4,68 %</a:t>
                      </a:r>
                    </a:p>
                  </a:txBody>
                  <a:tcPr marL="0" marR="0" marT="0" marB="0" anchor="ctr">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b="1" dirty="0"/>
                        <a:t>-5,74 %</a:t>
                      </a:r>
                    </a:p>
                  </a:txBody>
                  <a:tcPr marL="0" marR="0" marT="0" marB="0" anchor="ctr">
                    <a:lnL>
                      <a:noFill/>
                    </a:lnL>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569009892"/>
                  </a:ext>
                </a:extLst>
              </a:tr>
              <a:tr h="45985">
                <a:tc>
                  <a:txBody>
                    <a:bodyPr/>
                    <a:lstStyle/>
                    <a:p>
                      <a:pPr>
                        <a:lnSpc>
                          <a:spcPct val="100000"/>
                        </a:lnSpc>
                      </a:pPr>
                      <a:endParaRPr lang="de-DE" sz="100" b="1" dirty="0"/>
                    </a:p>
                  </a:txBody>
                  <a:tcPr marL="72000" marR="0" marT="0" marB="0" anchor="ctr">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b="1"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307991516"/>
                  </a:ext>
                </a:extLst>
              </a:tr>
            </a:tbl>
          </a:graphicData>
        </a:graphic>
      </p:graphicFrame>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Portfoliostresstest: Übersicht der größten Monatsverluste  </a:t>
            </a:r>
            <a:br>
              <a:rPr lang="de-DE" dirty="0"/>
            </a:br>
            <a:r>
              <a:rPr lang="de-DE" dirty="0"/>
              <a:t>unserer Strategien in Krisenphasen</a:t>
            </a:r>
          </a:p>
        </p:txBody>
      </p:sp>
    </p:spTree>
    <p:extLst>
      <p:ext uri="{BB962C8B-B14F-4D97-AF65-F5344CB8AC3E}">
        <p14:creationId xmlns:p14="http://schemas.microsoft.com/office/powerpoint/2010/main" val="2369281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19</a:t>
            </a:fld>
            <a:endParaRPr lang="de-DE"/>
          </a:p>
        </p:txBody>
      </p:sp>
      <p:cxnSp>
        <p:nvCxnSpPr>
          <p:cNvPr id="9" name="Linie unten">
            <a:extLst>
              <a:ext uri="{FF2B5EF4-FFF2-40B4-BE49-F238E27FC236}">
                <a16:creationId xmlns:a16="http://schemas.microsoft.com/office/drawing/2014/main" id="{0715AACA-CBDA-93F9-D9F7-369F21F90C2A}"/>
              </a:ext>
            </a:extLst>
          </p:cNvPr>
          <p:cNvCxnSpPr>
            <a:cxnSpLocks noGrp="1" noRot="1" noMove="1" noResize="1" noEditPoints="1" noAdjustHandles="1" noChangeArrowheads="1" noChangeShapeType="1"/>
          </p:cNvCxnSpPr>
          <p:nvPr/>
        </p:nvCxnSpPr>
        <p:spPr>
          <a:xfrm>
            <a:off x="358775" y="5631103"/>
            <a:ext cx="975677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Quelle">
            <a:extLst>
              <a:ext uri="{FF2B5EF4-FFF2-40B4-BE49-F238E27FC236}">
                <a16:creationId xmlns:a16="http://schemas.microsoft.com/office/drawing/2014/main" id="{EAC6A0B8-642C-E3B8-B843-12B454B90915}"/>
              </a:ext>
            </a:extLst>
          </p:cNvPr>
          <p:cNvSpPr txBox="1">
            <a:spLocks noGrp="1" noRot="1" noMove="1" noResize="1" noEditPoints="1" noAdjustHandles="1" noChangeArrowheads="1" noChangeShapeType="1"/>
          </p:cNvSpPr>
          <p:nvPr/>
        </p:nvSpPr>
        <p:spPr>
          <a:xfrm>
            <a:off x="2016125" y="5659978"/>
            <a:ext cx="8099425" cy="244298"/>
          </a:xfrm>
          <a:prstGeom prst="rect">
            <a:avLst/>
          </a:prstGeom>
          <a:noFill/>
        </p:spPr>
        <p:txBody>
          <a:bodyPr wrap="square" lIns="0" tIns="0" rIns="0" bIns="0" rtlCol="0">
            <a:spAutoFit/>
          </a:bodyPr>
          <a:lstStyle/>
          <a:p>
            <a:pPr algn="r">
              <a:lnSpc>
                <a:spcPts val="1000"/>
              </a:lnSpc>
            </a:pPr>
            <a:r>
              <a:rPr lang="de-DE" sz="600" dirty="0"/>
              <a:t>Wert und Erträge einer Vermögensanlage können steigen oder fallen. Eine positive Entwicklung in der Vergangenheit ist keine Garantie für eine zukünftige Wertentwicklung. Die </a:t>
            </a:r>
          </a:p>
          <a:p>
            <a:pPr algn="r">
              <a:lnSpc>
                <a:spcPts val="1000"/>
              </a:lnSpc>
            </a:pPr>
            <a:r>
              <a:rPr lang="de-DE" sz="600" dirty="0"/>
              <a:t>Performance-Angaben wurden nach Kosten berechnet. Sowohl das Honorar als auch fremde Spesen und evtl. Produktkosten wurden berücksichtigt</a:t>
            </a:r>
            <a:r>
              <a:rPr lang="de-DE" sz="600" dirty="0">
                <a:solidFill>
                  <a:schemeClr val="tx1">
                    <a:lumMod val="50000"/>
                    <a:lumOff val="50000"/>
                  </a:schemeClr>
                </a:solidFill>
              </a:rPr>
              <a:t>.  Quelle: Eigene Berechnung</a:t>
            </a:r>
          </a:p>
        </p:txBody>
      </p:sp>
      <p:graphicFrame>
        <p:nvGraphicFramePr>
          <p:cNvPr id="14" name="Diagramm">
            <a:extLst>
              <a:ext uri="{FF2B5EF4-FFF2-40B4-BE49-F238E27FC236}">
                <a16:creationId xmlns:a16="http://schemas.microsoft.com/office/drawing/2014/main" id="{880F3161-92AD-AF0D-A012-0B7969F4A736}"/>
              </a:ext>
            </a:extLst>
          </p:cNvPr>
          <p:cNvGraphicFramePr>
            <a:graphicFrameLocks noGrp="1"/>
          </p:cNvGraphicFramePr>
          <p:nvPr>
            <p:ph idx="1"/>
            <p:extLst>
              <p:ext uri="{D42A27DB-BD31-4B8C-83A1-F6EECF244321}">
                <p14:modId xmlns:p14="http://schemas.microsoft.com/office/powerpoint/2010/main" val="3533650445"/>
              </p:ext>
            </p:extLst>
          </p:nvPr>
        </p:nvGraphicFramePr>
        <p:xfrm>
          <a:off x="358775" y="1041401"/>
          <a:ext cx="9756775" cy="4589702"/>
        </p:xfrm>
        <a:graphic>
          <a:graphicData uri="http://schemas.openxmlformats.org/drawingml/2006/chart">
            <c:chart xmlns:c="http://schemas.openxmlformats.org/drawingml/2006/chart" xmlns:r="http://schemas.openxmlformats.org/officeDocument/2006/relationships" r:id="rId2"/>
          </a:graphicData>
        </a:graphic>
      </p:graphicFrame>
      <p:sp>
        <p:nvSpPr>
          <p:cNvPr id="15" name="Header Diagramm">
            <a:extLst>
              <a:ext uri="{FF2B5EF4-FFF2-40B4-BE49-F238E27FC236}">
                <a16:creationId xmlns:a16="http://schemas.microsoft.com/office/drawing/2014/main" id="{56267971-4A21-44A2-D4FE-610F1478D7F8}"/>
              </a:ext>
            </a:extLst>
          </p:cNvPr>
          <p:cNvSpPr txBox="1">
            <a:spLocks noGrp="1" noRot="1" noMove="1" noResize="1" noEditPoints="1" noAdjustHandles="1" noChangeArrowheads="1" noChangeShapeType="1"/>
          </p:cNvSpPr>
          <p:nvPr/>
        </p:nvSpPr>
        <p:spPr>
          <a:xfrm>
            <a:off x="359550" y="1040400"/>
            <a:ext cx="9756000" cy="216000"/>
          </a:xfrm>
          <a:prstGeom prst="rect">
            <a:avLst/>
          </a:prstGeom>
          <a:solidFill>
            <a:schemeClr val="accent1"/>
          </a:solidFill>
          <a:ln>
            <a:noFill/>
          </a:ln>
        </p:spPr>
        <p:txBody>
          <a:bodyPr wrap="none" rtlCol="0">
            <a:noAutofit/>
          </a:bodyPr>
          <a:lstStyle/>
          <a:p>
            <a:pPr algn="ctr"/>
            <a:r>
              <a:rPr lang="de-DE" sz="900" b="1" dirty="0">
                <a:solidFill>
                  <a:schemeClr val="bg1"/>
                </a:solidFill>
              </a:rPr>
              <a:t>KLASSISCHE VV STRATEGIEN IM VERGLEICH (NACH KOSTEN)</a:t>
            </a:r>
          </a:p>
        </p:txBody>
      </p:sp>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Die Wertentwicklung unserer fünf Strategien nach Kosten im historischen Verlauf</a:t>
            </a:r>
          </a:p>
        </p:txBody>
      </p:sp>
    </p:spTree>
    <p:extLst>
      <p:ext uri="{BB962C8B-B14F-4D97-AF65-F5344CB8AC3E}">
        <p14:creationId xmlns:p14="http://schemas.microsoft.com/office/powerpoint/2010/main" val="1819349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D021A762-2828-A925-99F5-FAFB98C4F638}"/>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20</a:t>
            </a:fld>
            <a:endParaRPr lang="de-DE"/>
          </a:p>
        </p:txBody>
      </p:sp>
      <p:sp>
        <p:nvSpPr>
          <p:cNvPr id="3" name="Text">
            <a:extLst>
              <a:ext uri="{FF2B5EF4-FFF2-40B4-BE49-F238E27FC236}">
                <a16:creationId xmlns:a16="http://schemas.microsoft.com/office/drawing/2014/main" id="{1F4D1DFE-E1D3-7DBD-B36E-9ED9CAAA8AE5}"/>
              </a:ext>
            </a:extLst>
          </p:cNvPr>
          <p:cNvSpPr>
            <a:spLocks noGrp="1" noRot="1" noMove="1" noResize="1" noEditPoints="1" noAdjustHandles="1" noChangeArrowheads="1" noChangeShapeType="1"/>
          </p:cNvSpPr>
          <p:nvPr>
            <p:ph idx="1"/>
          </p:nvPr>
        </p:nvSpPr>
        <p:spPr/>
        <p:txBody>
          <a:bodyPr/>
          <a:lstStyle/>
          <a:p>
            <a:r>
              <a:rPr lang="de-DE" dirty="0"/>
              <a:t>Exklusive Erweiterung mit individuellen Kriterien</a:t>
            </a:r>
          </a:p>
          <a:p>
            <a:pPr lvl="2"/>
            <a:r>
              <a:rPr lang="de-DE" dirty="0"/>
              <a:t>Unsere individuelle Vermögensverwaltung stellt eine exklusive Erweiterung der klassischen Vermögens-verwaltung dar.</a:t>
            </a:r>
          </a:p>
          <a:p>
            <a:pPr lvl="2"/>
            <a:r>
              <a:rPr lang="de-DE" dirty="0"/>
              <a:t>Auf Grundlage der klassischen Vermögensverwaltung bietet diese Variante die Möglichkeit, die Rahmen-bedingungen für Ihre Verwaltung an individuelle Kriterien zu knüpfen.</a:t>
            </a:r>
          </a:p>
          <a:p>
            <a:r>
              <a:rPr lang="de-DE" dirty="0"/>
              <a:t>Beispielhafte Kriterien, die mit einer individuellen Vermögensverwaltung abgebildet werden können:</a:t>
            </a:r>
          </a:p>
          <a:p>
            <a:pPr lvl="2"/>
            <a:r>
              <a:rPr lang="de-DE" dirty="0"/>
              <a:t>Aktien- und </a:t>
            </a:r>
            <a:r>
              <a:rPr lang="de-DE" dirty="0" err="1"/>
              <a:t>Anleihenquoten</a:t>
            </a:r>
            <a:r>
              <a:rPr lang="de-DE" dirty="0"/>
              <a:t> nach Ihren individuellen Vorgaben.</a:t>
            </a:r>
          </a:p>
          <a:p>
            <a:pPr lvl="2"/>
            <a:r>
              <a:rPr lang="de-DE" dirty="0"/>
              <a:t>Ausschluss von Themenbereichen, z. B. Edelmetalle, Rohstoffe, Währungen, Branchen oder Ausschluss von Einzeltiteln.</a:t>
            </a:r>
          </a:p>
          <a:p>
            <a:pPr lvl="2"/>
            <a:r>
              <a:rPr lang="de-DE" dirty="0"/>
              <a:t>Der Entscheider und Ansprechpartner ist für Sie vor Ort und kann genau nach Ihren Wünschen und Präferenzen agieren.</a:t>
            </a:r>
          </a:p>
          <a:p>
            <a:pPr lvl="2"/>
            <a:r>
              <a:rPr lang="de-DE" dirty="0"/>
              <a:t>Unsere individuelle Vermögensverwaltung ist ab einem Anlagevolumen von 1 Million Euro darstellbar.</a:t>
            </a:r>
          </a:p>
        </p:txBody>
      </p:sp>
      <p:sp>
        <p:nvSpPr>
          <p:cNvPr id="4" name="Titel">
            <a:extLst>
              <a:ext uri="{FF2B5EF4-FFF2-40B4-BE49-F238E27FC236}">
                <a16:creationId xmlns:a16="http://schemas.microsoft.com/office/drawing/2014/main" id="{D166CA88-7648-C430-B132-CD2B23781293}"/>
              </a:ext>
            </a:extLst>
          </p:cNvPr>
          <p:cNvSpPr>
            <a:spLocks noGrp="1" noRot="1" noMove="1" noResize="1" noEditPoints="1" noAdjustHandles="1" noChangeArrowheads="1" noChangeShapeType="1"/>
          </p:cNvSpPr>
          <p:nvPr>
            <p:ph type="title"/>
          </p:nvPr>
        </p:nvSpPr>
        <p:spPr/>
        <p:txBody>
          <a:bodyPr/>
          <a:lstStyle/>
          <a:p>
            <a:r>
              <a:rPr lang="de-DE" dirty="0"/>
              <a:t>Unsere individuelle Vermögensverwaltung</a:t>
            </a:r>
          </a:p>
        </p:txBody>
      </p:sp>
    </p:spTree>
    <p:extLst>
      <p:ext uri="{BB962C8B-B14F-4D97-AF65-F5344CB8AC3E}">
        <p14:creationId xmlns:p14="http://schemas.microsoft.com/office/powerpoint/2010/main" val="727863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4C2BF4D1-4B2C-9B2E-31AE-AD42CE7AF9D2}"/>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21</a:t>
            </a:fld>
            <a:endParaRPr lang="de-DE"/>
          </a:p>
        </p:txBody>
      </p:sp>
      <p:sp>
        <p:nvSpPr>
          <p:cNvPr id="3" name="Text">
            <a:extLst>
              <a:ext uri="{FF2B5EF4-FFF2-40B4-BE49-F238E27FC236}">
                <a16:creationId xmlns:a16="http://schemas.microsoft.com/office/drawing/2014/main" id="{FC14C7F1-73B2-E2F2-67EB-A1D8EE45D2C2}"/>
              </a:ext>
            </a:extLst>
          </p:cNvPr>
          <p:cNvSpPr>
            <a:spLocks noGrp="1" noRot="1" noMove="1" noResize="1" noEditPoints="1" noAdjustHandles="1" noChangeArrowheads="1" noChangeShapeType="1"/>
          </p:cNvSpPr>
          <p:nvPr>
            <p:ph idx="1"/>
          </p:nvPr>
        </p:nvSpPr>
        <p:spPr/>
        <p:txBody>
          <a:bodyPr/>
          <a:lstStyle/>
          <a:p>
            <a:r>
              <a:rPr lang="de-DE" dirty="0"/>
              <a:t>»all-in-fee«-Honorar</a:t>
            </a:r>
          </a:p>
          <a:p>
            <a:pPr lvl="2"/>
            <a:r>
              <a:rPr lang="de-DE" dirty="0"/>
              <a:t>Die Honorargestaltung unserer Vermögensverwaltung ist fair, transparent und nachvollziehbar. Wir berechnen gegen-über unseren Kunden in unserer Vermögensverwaltung ein »all-in-fee«-Honorar, das sämtliche Gebühren unseres Hauses für Depotführung, Transaktionen und Verwaltung umfasst.</a:t>
            </a:r>
          </a:p>
          <a:p>
            <a:r>
              <a:rPr lang="de-DE" dirty="0"/>
              <a:t>Halbjährliche Abrechnung</a:t>
            </a:r>
          </a:p>
          <a:p>
            <a:pPr lvl="2"/>
            <a:r>
              <a:rPr lang="de-DE" dirty="0"/>
              <a:t>Die Abrechnung erfolgt halbjährlich. Als Berechnungs-grundlage dient das durchschnittlich verfügbare Kapital (Konto und Depot). Alternativ bieten wir Ihnen ein  »all-in-fee«-Modell mit erfolgsabhängiger Komponente an.</a:t>
            </a:r>
          </a:p>
          <a:p>
            <a:r>
              <a:rPr lang="de-DE" dirty="0"/>
              <a:t>Ausschluss</a:t>
            </a:r>
          </a:p>
          <a:p>
            <a:pPr lvl="2"/>
            <a:r>
              <a:rPr lang="de-DE" dirty="0"/>
              <a:t> Nicht enthalten sind evtl. anfallende Courtagen, Trans-aktionssteuern (z. B. Frankreich) und fremde Spesen an in- und ausländischen Börsenplätzen. Investmentfonds werden ohne Ausgabeaufschläge zum Netto-Ausgabepreis bei beiden Modellen abgerechnet.</a:t>
            </a:r>
          </a:p>
        </p:txBody>
      </p:sp>
      <p:sp>
        <p:nvSpPr>
          <p:cNvPr id="4" name="Titel">
            <a:extLst>
              <a:ext uri="{FF2B5EF4-FFF2-40B4-BE49-F238E27FC236}">
                <a16:creationId xmlns:a16="http://schemas.microsoft.com/office/drawing/2014/main" id="{127C1E86-2975-F5B5-8FF1-D9AF10EB60B2}"/>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575916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C6F82169-69A4-8CBA-4FAB-91D17475B46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22</a:t>
            </a:fld>
            <a:endParaRPr lang="de-DE"/>
          </a:p>
        </p:txBody>
      </p:sp>
      <p:sp>
        <p:nvSpPr>
          <p:cNvPr id="6" name="Quelle">
            <a:extLst>
              <a:ext uri="{FF2B5EF4-FFF2-40B4-BE49-F238E27FC236}">
                <a16:creationId xmlns:a16="http://schemas.microsoft.com/office/drawing/2014/main" id="{EAC6A0B8-642C-E3B8-B843-12B454B90915}"/>
              </a:ext>
            </a:extLst>
          </p:cNvPr>
          <p:cNvSpPr txBox="1">
            <a:spLocks noGrp="1" noRot="1" noMove="1" noResize="1" noEditPoints="1" noAdjustHandles="1" noChangeArrowheads="1" noChangeShapeType="1"/>
          </p:cNvSpPr>
          <p:nvPr/>
        </p:nvSpPr>
        <p:spPr>
          <a:xfrm>
            <a:off x="8313457" y="3965932"/>
            <a:ext cx="1800000" cy="116057"/>
          </a:xfrm>
          <a:prstGeom prst="rect">
            <a:avLst/>
          </a:prstGeom>
          <a:noFill/>
        </p:spPr>
        <p:txBody>
          <a:bodyPr wrap="square" lIns="0" tIns="0" rIns="0" bIns="0" rtlCol="0">
            <a:spAutoFit/>
          </a:bodyPr>
          <a:lstStyle/>
          <a:p>
            <a:pPr algn="r">
              <a:lnSpc>
                <a:spcPts val="1000"/>
              </a:lnSpc>
            </a:pPr>
            <a:r>
              <a:rPr lang="de-DE" sz="600" dirty="0">
                <a:solidFill>
                  <a:schemeClr val="tx1">
                    <a:lumMod val="50000"/>
                    <a:lumOff val="50000"/>
                  </a:schemeClr>
                </a:solidFill>
              </a:rPr>
              <a:t>(*inklusive 19 % gesetzliche Umsatzsteuer)</a:t>
            </a:r>
          </a:p>
        </p:txBody>
      </p:sp>
      <p:graphicFrame>
        <p:nvGraphicFramePr>
          <p:cNvPr id="5" name="Tabelle">
            <a:extLst>
              <a:ext uri="{FF2B5EF4-FFF2-40B4-BE49-F238E27FC236}">
                <a16:creationId xmlns:a16="http://schemas.microsoft.com/office/drawing/2014/main" id="{563A2DF8-2376-8E96-D6DC-CAAC807B0130}"/>
              </a:ext>
            </a:extLst>
          </p:cNvPr>
          <p:cNvGraphicFramePr>
            <a:graphicFrameLocks noGrp="1"/>
          </p:cNvGraphicFramePr>
          <p:nvPr>
            <p:ph idx="1"/>
            <p:extLst>
              <p:ext uri="{D42A27DB-BD31-4B8C-83A1-F6EECF244321}">
                <p14:modId xmlns:p14="http://schemas.microsoft.com/office/powerpoint/2010/main" val="3291110429"/>
              </p:ext>
            </p:extLst>
          </p:nvPr>
        </p:nvGraphicFramePr>
        <p:xfrm>
          <a:off x="358775" y="1041400"/>
          <a:ext cx="9754682" cy="2822400"/>
        </p:xfrm>
        <a:graphic>
          <a:graphicData uri="http://schemas.openxmlformats.org/drawingml/2006/table">
            <a:tbl>
              <a:tblPr firstRow="1" bandRow="1">
                <a:tableStyleId>{2D5ABB26-0587-4C30-8999-92F81FD0307C}</a:tableStyleId>
              </a:tblPr>
              <a:tblGrid>
                <a:gridCol w="1584000">
                  <a:extLst>
                    <a:ext uri="{9D8B030D-6E8A-4147-A177-3AD203B41FA5}">
                      <a16:colId xmlns:a16="http://schemas.microsoft.com/office/drawing/2014/main" val="1253444119"/>
                    </a:ext>
                  </a:extLst>
                </a:gridCol>
                <a:gridCol w="50230">
                  <a:extLst>
                    <a:ext uri="{9D8B030D-6E8A-4147-A177-3AD203B41FA5}">
                      <a16:colId xmlns:a16="http://schemas.microsoft.com/office/drawing/2014/main" val="4281156835"/>
                    </a:ext>
                  </a:extLst>
                </a:gridCol>
                <a:gridCol w="1584000">
                  <a:extLst>
                    <a:ext uri="{9D8B030D-6E8A-4147-A177-3AD203B41FA5}">
                      <a16:colId xmlns:a16="http://schemas.microsoft.com/office/drawing/2014/main" val="1976685652"/>
                    </a:ext>
                  </a:extLst>
                </a:gridCol>
                <a:gridCol w="50113">
                  <a:extLst>
                    <a:ext uri="{9D8B030D-6E8A-4147-A177-3AD203B41FA5}">
                      <a16:colId xmlns:a16="http://schemas.microsoft.com/office/drawing/2014/main" val="462972238"/>
                    </a:ext>
                  </a:extLst>
                </a:gridCol>
                <a:gridCol w="1584000">
                  <a:extLst>
                    <a:ext uri="{9D8B030D-6E8A-4147-A177-3AD203B41FA5}">
                      <a16:colId xmlns:a16="http://schemas.microsoft.com/office/drawing/2014/main" val="4117174221"/>
                    </a:ext>
                  </a:extLst>
                </a:gridCol>
                <a:gridCol w="50113">
                  <a:extLst>
                    <a:ext uri="{9D8B030D-6E8A-4147-A177-3AD203B41FA5}">
                      <a16:colId xmlns:a16="http://schemas.microsoft.com/office/drawing/2014/main" val="1267060264"/>
                    </a:ext>
                  </a:extLst>
                </a:gridCol>
                <a:gridCol w="1584000">
                  <a:extLst>
                    <a:ext uri="{9D8B030D-6E8A-4147-A177-3AD203B41FA5}">
                      <a16:colId xmlns:a16="http://schemas.microsoft.com/office/drawing/2014/main" val="4038602688"/>
                    </a:ext>
                  </a:extLst>
                </a:gridCol>
                <a:gridCol w="50113">
                  <a:extLst>
                    <a:ext uri="{9D8B030D-6E8A-4147-A177-3AD203B41FA5}">
                      <a16:colId xmlns:a16="http://schemas.microsoft.com/office/drawing/2014/main" val="2374025351"/>
                    </a:ext>
                  </a:extLst>
                </a:gridCol>
                <a:gridCol w="1584000">
                  <a:extLst>
                    <a:ext uri="{9D8B030D-6E8A-4147-A177-3AD203B41FA5}">
                      <a16:colId xmlns:a16="http://schemas.microsoft.com/office/drawing/2014/main" val="916750025"/>
                    </a:ext>
                  </a:extLst>
                </a:gridCol>
                <a:gridCol w="50113">
                  <a:extLst>
                    <a:ext uri="{9D8B030D-6E8A-4147-A177-3AD203B41FA5}">
                      <a16:colId xmlns:a16="http://schemas.microsoft.com/office/drawing/2014/main" val="2735409839"/>
                    </a:ext>
                  </a:extLst>
                </a:gridCol>
                <a:gridCol w="1584000">
                  <a:extLst>
                    <a:ext uri="{9D8B030D-6E8A-4147-A177-3AD203B41FA5}">
                      <a16:colId xmlns:a16="http://schemas.microsoft.com/office/drawing/2014/main" val="2256793850"/>
                    </a:ext>
                  </a:extLst>
                </a:gridCol>
              </a:tblGrid>
              <a:tr h="382508">
                <a:tc>
                  <a:txBody>
                    <a:bodyPr/>
                    <a:lstStyle/>
                    <a:p>
                      <a:pPr algn="ctr">
                        <a:lnSpc>
                          <a:spcPct val="100000"/>
                        </a:lnSpc>
                      </a:pPr>
                      <a:r>
                        <a:rPr lang="de-DE" sz="900" b="1" dirty="0">
                          <a:solidFill>
                            <a:schemeClr val="bg1"/>
                          </a:solidFill>
                        </a:rPr>
                        <a:t>Unser Honorar</a:t>
                      </a:r>
                    </a:p>
                  </a:txBody>
                  <a:tcPr marL="0" marR="0" marT="0" marB="0" anchor="ctr">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r>
                        <a:rPr lang="de-DE" sz="900" b="1" dirty="0">
                          <a:solidFill>
                            <a:schemeClr val="bg1"/>
                          </a:solidFill>
                        </a:rPr>
                        <a:t>Konservative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Defensive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Defensiv Plus</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Ausgewogene</a:t>
                      </a:r>
                      <a:br>
                        <a:rPr lang="de-DE" sz="900" b="1" dirty="0">
                          <a:solidFill>
                            <a:schemeClr val="bg1"/>
                          </a:solidFill>
                        </a:rPr>
                      </a:br>
                      <a:r>
                        <a:rPr lang="de-DE" sz="900" b="1" dirty="0">
                          <a:solidFill>
                            <a:schemeClr val="bg1"/>
                          </a:solidFill>
                        </a:rPr>
                        <a:t>Strategie</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Dynamic</a:t>
                      </a:r>
                      <a:br>
                        <a:rPr lang="de-DE" sz="900" b="1" dirty="0">
                          <a:solidFill>
                            <a:schemeClr val="bg1"/>
                          </a:solidFill>
                        </a:rPr>
                      </a:br>
                      <a:r>
                        <a:rPr lang="de-DE" sz="900" b="1" dirty="0">
                          <a:solidFill>
                            <a:schemeClr val="bg1"/>
                          </a:solidFill>
                        </a:rPr>
                        <a:t>Strategie</a:t>
                      </a:r>
                    </a:p>
                  </a:txBody>
                  <a:tcPr marL="0" marR="0" marT="0" marB="0" anchor="ctr">
                    <a:lnL>
                      <a:noFill/>
                    </a:lnL>
                    <a:lnB>
                      <a:noFill/>
                    </a:lnB>
                    <a:solidFill>
                      <a:schemeClr val="accent1"/>
                    </a:solidFill>
                  </a:tcPr>
                </a:tc>
                <a:extLst>
                  <a:ext uri="{0D108BD9-81ED-4DB2-BD59-A6C34878D82A}">
                    <a16:rowId xmlns:a16="http://schemas.microsoft.com/office/drawing/2014/main" val="2297518336"/>
                  </a:ext>
                </a:extLst>
              </a:tr>
              <a:tr h="48680">
                <a:tc>
                  <a:txBody>
                    <a:bodyPr/>
                    <a:lstStyle/>
                    <a:p>
                      <a:pPr>
                        <a:lnSpc>
                          <a:spcPct val="100000"/>
                        </a:lnSpc>
                      </a:pPr>
                      <a:endParaRPr lang="de-DE" sz="100" b="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5">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endParaRPr lang="de-DE" sz="100" dirty="0"/>
                    </a:p>
                  </a:txBody>
                  <a:tcPr marL="0" marR="0" marT="0" marB="0">
                    <a:lnL>
                      <a:noFill/>
                    </a:lnL>
                    <a:lnR>
                      <a:noFill/>
                    </a:lnR>
                    <a:lnT>
                      <a:noFill/>
                    </a:lnT>
                    <a:lnB>
                      <a:noFill/>
                    </a:lnB>
                    <a:lnTlToBr w="12700" cmpd="sng">
                      <a:noFill/>
                      <a:prstDash val="solid"/>
                    </a:lnTlToBr>
                    <a:lnBlToTr w="12700" cmpd="sng">
                      <a:noFill/>
                      <a:prstDash val="solid"/>
                    </a:lnBlToTr>
                    <a:solidFill>
                      <a:schemeClr val="bg1"/>
                    </a:solidFill>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116073518"/>
                  </a:ext>
                </a:extLst>
              </a:tr>
              <a:tr h="1356144">
                <a:tc>
                  <a:txBody>
                    <a:bodyPr/>
                    <a:lstStyle/>
                    <a:p>
                      <a:pPr>
                        <a:lnSpc>
                          <a:spcPts val="1300"/>
                        </a:lnSpc>
                        <a:spcAft>
                          <a:spcPts val="700"/>
                        </a:spcAft>
                      </a:pPr>
                      <a:r>
                        <a:rPr lang="de-DE" sz="900" b="1" dirty="0"/>
                        <a:t>»all-in-fee« jährlich</a:t>
                      </a:r>
                    </a:p>
                    <a:p>
                      <a:pPr>
                        <a:lnSpc>
                          <a:spcPts val="1300"/>
                        </a:lnSpc>
                      </a:pPr>
                      <a:r>
                        <a:rPr lang="de-DE" sz="900" b="0" dirty="0"/>
                        <a:t>Die Belastung erfolgt halbjährlich. (Ausnahme Modell „Ertragsabhängig“ hier erfolgt die Belastung </a:t>
                      </a:r>
                    </a:p>
                    <a:p>
                      <a:pPr>
                        <a:lnSpc>
                          <a:spcPts val="1300"/>
                        </a:lnSpc>
                      </a:pPr>
                      <a:r>
                        <a:rPr lang="de-DE" sz="900" b="0" dirty="0"/>
                        <a:t>jährlich)</a:t>
                      </a:r>
                    </a:p>
                  </a:txBody>
                  <a:tcPr marL="72000" marR="0" marT="54000" marB="0">
                    <a:lnR>
                      <a:noFill/>
                    </a:lnR>
                    <a:lnT>
                      <a:noFill/>
                    </a:lnT>
                    <a:lnB w="3175" cap="flat" cmpd="sng" algn="ctr">
                      <a:solidFill>
                        <a:schemeClr val="accent1"/>
                      </a:solidFill>
                      <a:prstDash val="solid"/>
                      <a:round/>
                      <a:headEnd type="none" w="med" len="med"/>
                      <a:tailEnd type="none" w="med" len="med"/>
                    </a:lnB>
                  </a:tcPr>
                </a:tc>
                <a:tc>
                  <a:txBody>
                    <a:bodyPr/>
                    <a:lstStyle/>
                    <a:p>
                      <a:pPr>
                        <a:lnSpc>
                          <a:spcPts val="1300"/>
                        </a:lnSpc>
                      </a:pPr>
                      <a:endParaRPr lang="de-DE" sz="900" dirty="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spcAft>
                          <a:spcPts val="700"/>
                        </a:spcAft>
                      </a:pPr>
                      <a:r>
                        <a:rPr lang="de-DE" sz="900" b="1" dirty="0"/>
                        <a:t>Jährlich</a:t>
                      </a:r>
                    </a:p>
                    <a:p>
                      <a:pPr algn="ctr">
                        <a:lnSpc>
                          <a:spcPts val="1300"/>
                        </a:lnSpc>
                      </a:pPr>
                      <a:r>
                        <a:rPr lang="de-DE" sz="900" dirty="0"/>
                        <a:t>0,85 % netto des  </a:t>
                      </a:r>
                    </a:p>
                    <a:p>
                      <a:pPr algn="ctr">
                        <a:lnSpc>
                          <a:spcPts val="1300"/>
                        </a:lnSpc>
                      </a:pPr>
                      <a:r>
                        <a:rPr lang="de-DE" sz="900" dirty="0"/>
                        <a:t>verwalteten Vermögens  </a:t>
                      </a:r>
                    </a:p>
                    <a:p>
                      <a:pPr algn="ctr">
                        <a:lnSpc>
                          <a:spcPts val="1300"/>
                        </a:lnSpc>
                      </a:pPr>
                      <a:r>
                        <a:rPr lang="de-DE" sz="900" dirty="0"/>
                        <a:t>= 1,0115 %* brutto</a:t>
                      </a:r>
                    </a:p>
                  </a:txBody>
                  <a:tcPr marL="0" marR="0" marT="54000" marB="0">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spcAft>
                          <a:spcPts val="700"/>
                        </a:spcAft>
                      </a:pPr>
                      <a:r>
                        <a:rPr lang="de-DE" sz="900" b="1" dirty="0"/>
                        <a:t>Jährlich</a:t>
                      </a:r>
                    </a:p>
                    <a:p>
                      <a:pPr algn="ctr">
                        <a:lnSpc>
                          <a:spcPts val="1300"/>
                        </a:lnSpc>
                      </a:pPr>
                      <a:r>
                        <a:rPr lang="de-DE" sz="900" dirty="0"/>
                        <a:t>1,25 % netto des  </a:t>
                      </a:r>
                    </a:p>
                    <a:p>
                      <a:pPr algn="ctr">
                        <a:lnSpc>
                          <a:spcPts val="1300"/>
                        </a:lnSpc>
                      </a:pPr>
                      <a:r>
                        <a:rPr lang="de-DE" sz="900" dirty="0"/>
                        <a:t>verwalteten Vermögens</a:t>
                      </a:r>
                    </a:p>
                    <a:p>
                      <a:pPr algn="ctr">
                        <a:lnSpc>
                          <a:spcPts val="1300"/>
                        </a:lnSpc>
                      </a:pPr>
                      <a:r>
                        <a:rPr lang="de-DE" sz="900" dirty="0"/>
                        <a:t>= 1,4875 %* brutto</a:t>
                      </a:r>
                    </a:p>
                  </a:txBody>
                  <a:tcPr marL="0" marR="0" marT="54000" marB="0">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ts val="1300"/>
                        </a:lnSpc>
                      </a:pPr>
                      <a:endParaRPr lang="de-DE" sz="900"/>
                    </a:p>
                  </a:txBody>
                  <a:tcPr marL="0" marR="0" marT="5400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gridSpan="5">
                  <a:txBody>
                    <a:bodyPr/>
                    <a:lstStyle/>
                    <a:p>
                      <a:pPr marL="0" marR="0" lvl="0" indent="0" algn="ctr" defTabSz="783001" rtl="0" eaLnBrk="1" fontAlgn="auto" latinLnBrk="0" hangingPunct="1">
                        <a:lnSpc>
                          <a:spcPts val="1300"/>
                        </a:lnSpc>
                        <a:spcBef>
                          <a:spcPts val="0"/>
                        </a:spcBef>
                        <a:spcAft>
                          <a:spcPts val="700"/>
                        </a:spcAft>
                        <a:buClrTx/>
                        <a:buSzTx/>
                        <a:buFontTx/>
                        <a:buNone/>
                        <a:tabLst/>
                        <a:defRPr/>
                      </a:pPr>
                      <a:r>
                        <a:rPr lang="de-DE" sz="900" b="1" dirty="0"/>
                        <a:t>Jährlich</a:t>
                      </a:r>
                      <a:r>
                        <a:rPr lang="de-DE" sz="900" b="0" dirty="0"/>
                        <a:t> </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1,55 % netto des verwalteten Vermögens = 1,8445 %* brutto</a:t>
                      </a:r>
                    </a:p>
                    <a:p>
                      <a:pPr marL="0" marR="0" lvl="0" indent="0" algn="ctr" defTabSz="783001" rtl="0" eaLnBrk="1" fontAlgn="auto" latinLnBrk="0" hangingPunct="1">
                        <a:lnSpc>
                          <a:spcPts val="1300"/>
                        </a:lnSpc>
                        <a:spcBef>
                          <a:spcPts val="700"/>
                        </a:spcBef>
                        <a:spcAft>
                          <a:spcPts val="700"/>
                        </a:spcAft>
                        <a:buClrTx/>
                        <a:buSzTx/>
                        <a:buFontTx/>
                        <a:buNone/>
                        <a:tabLst/>
                        <a:defRPr/>
                      </a:pPr>
                      <a:r>
                        <a:rPr lang="de-DE" sz="900" b="1" dirty="0"/>
                        <a:t>Alternativ ertragsabhängige Vergütung: </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Jährlich 1,05 % netto, plus 10 % des Zugewinns des verwaltenden Vermögens</a:t>
                      </a:r>
                    </a:p>
                    <a:p>
                      <a:pPr marL="0" marR="0" lvl="0" indent="0" algn="ctr" defTabSz="783001" rtl="0" eaLnBrk="1" fontAlgn="auto" latinLnBrk="0" hangingPunct="1">
                        <a:lnSpc>
                          <a:spcPts val="1300"/>
                        </a:lnSpc>
                        <a:spcBef>
                          <a:spcPts val="0"/>
                        </a:spcBef>
                        <a:spcAft>
                          <a:spcPts val="0"/>
                        </a:spcAft>
                        <a:buClrTx/>
                        <a:buSzTx/>
                        <a:buFontTx/>
                        <a:buNone/>
                        <a:tabLst/>
                        <a:defRPr/>
                      </a:pPr>
                      <a:r>
                        <a:rPr lang="de-DE" sz="900" dirty="0"/>
                        <a:t>= 1,2495 %* brutto + 11,90 %* brutto des Zugewinns</a:t>
                      </a:r>
                    </a:p>
                  </a:txBody>
                  <a:tcPr marL="0" marR="0" marT="54000" marB="0">
                    <a:lnL>
                      <a:noFill/>
                    </a:lnL>
                    <a:lnT>
                      <a:noFill/>
                    </a:lnT>
                    <a:lnB w="3175" cap="flat" cmpd="sng" algn="ctr">
                      <a:solidFill>
                        <a:schemeClr val="accent1"/>
                      </a:solidFill>
                      <a:prstDash val="solid"/>
                      <a:round/>
                      <a:headEnd type="none" w="med" len="med"/>
                      <a:tailEnd type="none" w="med" len="med"/>
                    </a:lnB>
                    <a:solidFill>
                      <a:schemeClr val="accent6"/>
                    </a:solidFill>
                  </a:tcPr>
                </a:tc>
                <a:tc hMerge="1">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ct val="100000"/>
                        </a:lnSpc>
                      </a:pPr>
                      <a:r>
                        <a:rPr lang="de-DE" sz="900" dirty="0"/>
                        <a:t>-3,44 %</a:t>
                      </a:r>
                    </a:p>
                  </a:txBody>
                  <a:tcPr marL="0" marR="0" marT="0" marB="0" anchor="ctr">
                    <a:lnL>
                      <a:noFill/>
                    </a:lnL>
                    <a:lnR>
                      <a:noFill/>
                    </a:lnR>
                    <a:lnB w="3175" cap="flat" cmpd="sng" algn="ctr">
                      <a:solidFill>
                        <a:schemeClr val="accent1"/>
                      </a:solidFill>
                      <a:prstDash val="solid"/>
                      <a:round/>
                      <a:headEnd type="none" w="med" len="med"/>
                      <a:tailEnd type="none" w="med" len="med"/>
                    </a:lnB>
                  </a:tcPr>
                </a:tc>
                <a:tc hMerge="1">
                  <a:txBody>
                    <a:bodyPr/>
                    <a:lstStyle/>
                    <a:p>
                      <a:pPr algn="ctr">
                        <a:lnSpc>
                          <a:spcPct val="100000"/>
                        </a:lnSpc>
                      </a:pPr>
                      <a:endParaRPr lang="de-DE" sz="900"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ct val="100000"/>
                        </a:lnSpc>
                      </a:pPr>
                      <a:r>
                        <a:rPr lang="de-DE" sz="900" dirty="0"/>
                        <a:t>-6,44 %</a:t>
                      </a:r>
                    </a:p>
                  </a:txBody>
                  <a:tcPr marL="0" marR="0" marT="0" marB="0" anchor="ctr">
                    <a:lnL>
                      <a:noFill/>
                    </a:lnL>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30174765"/>
                  </a:ext>
                </a:extLst>
              </a:tr>
              <a:tr h="984668">
                <a:tc>
                  <a:txBody>
                    <a:bodyPr/>
                    <a:lstStyle/>
                    <a:p>
                      <a:pPr>
                        <a:lnSpc>
                          <a:spcPts val="1300"/>
                        </a:lnSpc>
                      </a:pPr>
                      <a:r>
                        <a:rPr lang="de-DE" sz="900" b="0" dirty="0"/>
                        <a:t>Als </a:t>
                      </a:r>
                      <a:r>
                        <a:rPr lang="de-DE" sz="900" b="0" dirty="0" err="1"/>
                        <a:t>Berechnungsgrundla</a:t>
                      </a:r>
                      <a:r>
                        <a:rPr lang="de-DE" sz="900" b="0" dirty="0"/>
                        <a:t>-</a:t>
                      </a:r>
                    </a:p>
                    <a:p>
                      <a:pPr>
                        <a:lnSpc>
                          <a:spcPts val="1300"/>
                        </a:lnSpc>
                      </a:pPr>
                      <a:r>
                        <a:rPr lang="de-DE" sz="900" b="0" dirty="0" err="1"/>
                        <a:t>ge</a:t>
                      </a:r>
                      <a:r>
                        <a:rPr lang="de-DE" sz="900" b="0" dirty="0"/>
                        <a:t> dient das durchschnitt-</a:t>
                      </a:r>
                    </a:p>
                    <a:p>
                      <a:pPr>
                        <a:lnSpc>
                          <a:spcPts val="1300"/>
                        </a:lnSpc>
                      </a:pPr>
                      <a:r>
                        <a:rPr lang="de-DE" sz="900" b="0" dirty="0" err="1"/>
                        <a:t>lich</a:t>
                      </a:r>
                      <a:r>
                        <a:rPr lang="de-DE" sz="900" b="0" dirty="0"/>
                        <a:t> verfügbare Kapital </a:t>
                      </a:r>
                    </a:p>
                    <a:p>
                      <a:pPr>
                        <a:lnSpc>
                          <a:spcPts val="1300"/>
                        </a:lnSpc>
                      </a:pPr>
                      <a:r>
                        <a:rPr lang="de-DE" sz="900" b="0" dirty="0"/>
                        <a:t>zum Stichtag 30.06. bzw. </a:t>
                      </a:r>
                    </a:p>
                    <a:p>
                      <a:pPr>
                        <a:lnSpc>
                          <a:spcPts val="1300"/>
                        </a:lnSpc>
                      </a:pPr>
                      <a:r>
                        <a:rPr lang="de-DE" sz="900" b="0" dirty="0"/>
                        <a:t>31.12.</a:t>
                      </a:r>
                    </a:p>
                  </a:txBody>
                  <a:tcPr marL="72000" marR="0" marT="108000" marB="0">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dirty="0"/>
                        <a:t>Mindestens  </a:t>
                      </a:r>
                    </a:p>
                    <a:p>
                      <a:pPr algn="ctr">
                        <a:lnSpc>
                          <a:spcPts val="1300"/>
                        </a:lnSpc>
                      </a:pPr>
                      <a:r>
                        <a:rPr lang="de-DE" sz="900" dirty="0"/>
                        <a:t>2.000,00 € netto  </a:t>
                      </a:r>
                    </a:p>
                    <a:p>
                      <a:pPr algn="ctr">
                        <a:lnSpc>
                          <a:spcPts val="1300"/>
                        </a:lnSpc>
                      </a:pPr>
                      <a:r>
                        <a:rPr lang="de-DE" sz="900" dirty="0"/>
                        <a:t>bzw. mindestens  </a:t>
                      </a:r>
                    </a:p>
                    <a:p>
                      <a:pPr algn="ctr">
                        <a:lnSpc>
                          <a:spcPts val="1300"/>
                        </a:lnSpc>
                      </a:pPr>
                      <a:r>
                        <a:rPr lang="de-DE" sz="900" dirty="0"/>
                        <a:t>2.380,00 €* brutto</a:t>
                      </a:r>
                    </a:p>
                  </a:txBody>
                  <a:tcPr marL="0" marR="0" marT="108000" marB="0">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300"/>
                        </a:lnSpc>
                      </a:pPr>
                      <a:r>
                        <a:rPr lang="de-DE" sz="900" dirty="0"/>
                        <a:t>Mindestens  </a:t>
                      </a:r>
                    </a:p>
                    <a:p>
                      <a:pPr algn="ctr">
                        <a:lnSpc>
                          <a:spcPts val="1300"/>
                        </a:lnSpc>
                      </a:pPr>
                      <a:r>
                        <a:rPr lang="de-DE" sz="900" dirty="0"/>
                        <a:t>3.000,00 € netto  </a:t>
                      </a:r>
                    </a:p>
                    <a:p>
                      <a:pPr algn="ctr">
                        <a:lnSpc>
                          <a:spcPts val="1300"/>
                        </a:lnSpc>
                      </a:pPr>
                      <a:r>
                        <a:rPr lang="de-DE" sz="900" dirty="0"/>
                        <a:t>bzw. mindestens  </a:t>
                      </a:r>
                    </a:p>
                    <a:p>
                      <a:pPr algn="ctr">
                        <a:lnSpc>
                          <a:spcPts val="1300"/>
                        </a:lnSpc>
                      </a:pPr>
                      <a:r>
                        <a:rPr lang="de-DE" sz="900" dirty="0"/>
                        <a:t>3.570,00 €* brutto</a:t>
                      </a:r>
                    </a:p>
                  </a:txBody>
                  <a:tcPr marL="0" marR="0" marT="108000" marB="0">
                    <a:lnL>
                      <a:noFill/>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lnSpc>
                          <a:spcPts val="1300"/>
                        </a:lnSpc>
                      </a:pPr>
                      <a:endParaRPr lang="de-DE" sz="900" dirty="0"/>
                    </a:p>
                  </a:txBody>
                  <a:tcPr marL="0" marR="0" marT="108000" marB="0">
                    <a:lnL>
                      <a:noFill/>
                    </a:lnL>
                    <a:lnR>
                      <a:noFill/>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5">
                  <a:txBody>
                    <a:bodyPr/>
                    <a:lstStyle/>
                    <a:p>
                      <a:pPr algn="ctr">
                        <a:lnSpc>
                          <a:spcPts val="1300"/>
                        </a:lnSpc>
                      </a:pPr>
                      <a:r>
                        <a:rPr lang="de-DE" sz="900" dirty="0"/>
                        <a:t>Mindestens 3.000,00 € netto bzw. </a:t>
                      </a:r>
                    </a:p>
                    <a:p>
                      <a:pPr algn="ctr">
                        <a:lnSpc>
                          <a:spcPts val="1300"/>
                        </a:lnSpc>
                      </a:pPr>
                      <a:r>
                        <a:rPr lang="de-DE" sz="900" dirty="0"/>
                        <a:t>mindestens 3.570,00 €* brutto</a:t>
                      </a:r>
                    </a:p>
                  </a:txBody>
                  <a:tcPr marL="0" marR="0" marT="108000" marB="0">
                    <a:lnL>
                      <a:noFill/>
                    </a:lnL>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hMerge="1">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ct val="100000"/>
                        </a:lnSpc>
                      </a:pPr>
                      <a:r>
                        <a:rPr lang="de-DE" sz="900" dirty="0"/>
                        <a:t>-4,65 %</a:t>
                      </a:r>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hMerge="1">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lnSpc>
                          <a:spcPct val="100000"/>
                        </a:lnSpc>
                      </a:pPr>
                      <a:r>
                        <a:rPr lang="de-DE" sz="900" dirty="0"/>
                        <a:t>-5,34 %</a:t>
                      </a:r>
                    </a:p>
                  </a:txBody>
                  <a:tcPr marL="0" marR="0" marT="0" marB="0" anchor="ctr">
                    <a:lnL>
                      <a:noFill/>
                    </a:lnL>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569009892"/>
                  </a:ext>
                </a:extLst>
              </a:tr>
              <a:tr h="50400">
                <a:tc>
                  <a:txBody>
                    <a:bodyPr/>
                    <a:lstStyle/>
                    <a:p>
                      <a:pPr>
                        <a:lnSpc>
                          <a:spcPct val="100000"/>
                        </a:lnSpc>
                      </a:pPr>
                      <a:endParaRPr lang="de-DE" sz="100" b="0" dirty="0"/>
                    </a:p>
                  </a:txBody>
                  <a:tcPr marL="72000" marR="0" marT="0" marB="0">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5">
                  <a:txBody>
                    <a:bodyPr/>
                    <a:lstStyle/>
                    <a:p>
                      <a:pPr algn="ctr">
                        <a:lnSpc>
                          <a:spcPct val="100000"/>
                        </a:lnSpc>
                      </a:pPr>
                      <a:endParaRPr lang="de-DE" sz="100" dirty="0"/>
                    </a:p>
                  </a:txBody>
                  <a:tcPr marL="0" marR="0" marT="0" marB="0">
                    <a:lnL>
                      <a:noFill/>
                    </a:lnL>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3405939323"/>
                  </a:ext>
                </a:extLst>
              </a:tr>
            </a:tbl>
          </a:graphicData>
        </a:graphic>
      </p:graphicFrame>
      <p:sp>
        <p:nvSpPr>
          <p:cNvPr id="4" name="Titel">
            <a:extLst>
              <a:ext uri="{FF2B5EF4-FFF2-40B4-BE49-F238E27FC236}">
                <a16:creationId xmlns:a16="http://schemas.microsoft.com/office/drawing/2014/main" id="{6CC753F0-ABF8-7093-418C-8C1671F84F68}"/>
              </a:ext>
            </a:extLst>
          </p:cNvPr>
          <p:cNvSpPr>
            <a:spLocks noGrp="1" noRot="1" noMove="1" noResize="1" noEditPoints="1" noAdjustHandles="1" noChangeArrowheads="1" noChangeShapeType="1"/>
          </p:cNvSpPr>
          <p:nvPr>
            <p:ph type="title"/>
          </p:nvPr>
        </p:nvSpPr>
        <p:spPr/>
        <p:txBody>
          <a:bodyPr/>
          <a:lstStyle/>
          <a:p>
            <a:r>
              <a:rPr lang="de-DE" dirty="0"/>
              <a:t>Unser Honorar</a:t>
            </a:r>
          </a:p>
        </p:txBody>
      </p:sp>
    </p:spTree>
    <p:extLst>
      <p:ext uri="{BB962C8B-B14F-4D97-AF65-F5344CB8AC3E}">
        <p14:creationId xmlns:p14="http://schemas.microsoft.com/office/powerpoint/2010/main" val="3135286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81D1C97D-0B85-13EC-24EC-F99812756CF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23</a:t>
            </a:fld>
            <a:endParaRPr lang="de-DE"/>
          </a:p>
        </p:txBody>
      </p:sp>
      <p:sp>
        <p:nvSpPr>
          <p:cNvPr id="6" name="Titel">
            <a:extLst>
              <a:ext uri="{FF2B5EF4-FFF2-40B4-BE49-F238E27FC236}">
                <a16:creationId xmlns:a16="http://schemas.microsoft.com/office/drawing/2014/main" id="{8A593740-F4A8-2A26-ED51-81863F08E08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Steuerlicher Hinweis zum Honorar</a:t>
            </a:r>
          </a:p>
        </p:txBody>
      </p:sp>
      <p:sp>
        <p:nvSpPr>
          <p:cNvPr id="8" name="Text 1">
            <a:extLst>
              <a:ext uri="{FF2B5EF4-FFF2-40B4-BE49-F238E27FC236}">
                <a16:creationId xmlns:a16="http://schemas.microsoft.com/office/drawing/2014/main" id="{3202C050-C091-696A-2180-76024B7BC3C0}"/>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dirty="0"/>
              <a:t>Im Rahmen der Belastung der Vermögensverwaltungsgebühr werden wir den steuerlich abzugsfähigen Transaktionskostenanteil in den allgemeinen Verlustverrechnungstopf für Ihre Konten und Depots einstellen, damit erfolgt automatisch die Verrechnung mit Ihren abgeltungssteuerpflichtigen Erträgen und damit eine Steuerminderung. Die Bank übernimmt keine Gewähr dafür, dass der Transaktionskostenanteil der &gt;&gt;all-in-fee&lt;&lt;  sowohl dem Grunde als auch der Höhe nach als Steuer mindernd anerkannt wird. </a:t>
            </a:r>
          </a:p>
          <a:p>
            <a:pPr lvl="2"/>
            <a:endParaRPr lang="de-DE" dirty="0"/>
          </a:p>
        </p:txBody>
      </p:sp>
      <p:sp>
        <p:nvSpPr>
          <p:cNvPr id="14" name="Text 1">
            <a:extLst>
              <a:ext uri="{FF2B5EF4-FFF2-40B4-BE49-F238E27FC236}">
                <a16:creationId xmlns:a16="http://schemas.microsoft.com/office/drawing/2014/main" id="{C794E5D2-FEC0-5D64-F611-5B08C6B01664}"/>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dirty="0"/>
              <a:t>Mit der Einführung der Abgeltungssteuer zum 1.Januar 2009 sind Werbungskosten bei der Ermittlung von Einkünften aus Kapitalvermögen grundsätzlich nicht mehr abzugsfähig. Hingegen wirken sich Anschaffungsnebenkosten und Veräußerungskosten steuermindernd aus.</a:t>
            </a:r>
            <a:br>
              <a:rPr lang="de-DE" dirty="0"/>
            </a:br>
            <a:endParaRPr lang="de-DE" dirty="0"/>
          </a:p>
          <a:p>
            <a:pPr lvl="2"/>
            <a:r>
              <a:rPr lang="de-DE" dirty="0"/>
              <a:t>Im Rahmen der Vermögensverwaltung &gt;&gt;all-in-fee&lt;&lt; werden sämtliche Management- und eigene Transaktionsleistungen der Bank, sowie alle Dienstleistungen abgegolten, die im Zusammenhang mit der Führung der verwalteten Konten und Depots erbracht werden. Es gilt ein Anteil der Transaktionskosten (Anschaffungsnebenkosten und Veräußerungskosten) an der &gt;&gt;all-in-fee&lt;&lt; in Höhe von 50% als vereinbart und wird im Vermögensverwaltungsvertrag festgeschrieben. </a:t>
            </a:r>
          </a:p>
          <a:p>
            <a:pPr lvl="2"/>
            <a:endParaRPr lang="de-DE" dirty="0"/>
          </a:p>
        </p:txBody>
      </p:sp>
    </p:spTree>
    <p:extLst>
      <p:ext uri="{BB962C8B-B14F-4D97-AF65-F5344CB8AC3E}">
        <p14:creationId xmlns:p14="http://schemas.microsoft.com/office/powerpoint/2010/main" val="2396361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E5AB73C8-63DD-B360-5A7F-E1758BA253F8}"/>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24</a:t>
            </a:fld>
            <a:endParaRPr lang="de-DE"/>
          </a:p>
        </p:txBody>
      </p:sp>
      <p:sp>
        <p:nvSpPr>
          <p:cNvPr id="3" name="Text">
            <a:extLst>
              <a:ext uri="{FF2B5EF4-FFF2-40B4-BE49-F238E27FC236}">
                <a16:creationId xmlns:a16="http://schemas.microsoft.com/office/drawing/2014/main" id="{24FD612B-4314-DFD5-B833-7F27A3B852EB}"/>
              </a:ext>
            </a:extLst>
          </p:cNvPr>
          <p:cNvSpPr>
            <a:spLocks noGrp="1" noRot="1" noMove="1" noResize="1" noEditPoints="1" noAdjustHandles="1" noChangeArrowheads="1" noChangeShapeType="1"/>
          </p:cNvSpPr>
          <p:nvPr>
            <p:ph idx="1"/>
          </p:nvPr>
        </p:nvSpPr>
        <p:spPr/>
        <p:txBody>
          <a:bodyPr/>
          <a:lstStyle/>
          <a:p>
            <a:r>
              <a:rPr lang="de-DE" dirty="0"/>
              <a:t>Langfristiger Vermögenserhalt</a:t>
            </a:r>
          </a:p>
          <a:p>
            <a:pPr lvl="2"/>
            <a:r>
              <a:rPr lang="de-DE" dirty="0"/>
              <a:t>Langfristiger Vermögenserhalt durch ein realistisches Rendite-Risiko-Verhältnis mit einem konservativen Investmentansatz und dem Verzicht auf Aktionismus.</a:t>
            </a:r>
          </a:p>
          <a:p>
            <a:r>
              <a:rPr lang="de-DE" dirty="0"/>
              <a:t>Regelmäßiger Kundendialog</a:t>
            </a:r>
          </a:p>
          <a:p>
            <a:pPr lvl="2"/>
            <a:r>
              <a:rPr lang="de-DE" dirty="0"/>
              <a:t>Transparenz durch weitgehende Fokussierung auf Einzel-titel, aussagekräftige Portfolioberichte und den regel-mäßigen partnerschaftlichen Dialog mit unseren Kunden.</a:t>
            </a:r>
          </a:p>
          <a:p>
            <a:r>
              <a:rPr lang="de-DE" dirty="0"/>
              <a:t>Unabhängiges Investment</a:t>
            </a:r>
          </a:p>
          <a:p>
            <a:pPr lvl="2"/>
            <a:r>
              <a:rPr lang="de-DE" dirty="0"/>
              <a:t>Unabhängigkeit durch den Verzicht auf den Einsatz eigener Produkte.</a:t>
            </a:r>
          </a:p>
          <a:p>
            <a:r>
              <a:rPr lang="de-DE" dirty="0"/>
              <a:t>Breite Risikostreuung</a:t>
            </a:r>
          </a:p>
          <a:p>
            <a:pPr lvl="2"/>
            <a:r>
              <a:rPr lang="de-DE" dirty="0"/>
              <a:t>Risikostreuung durch Diversifizierung von Anlageklassen, Branchen, Regionen und Währungen.</a:t>
            </a:r>
          </a:p>
          <a:p>
            <a:r>
              <a:rPr lang="de-DE" dirty="0"/>
              <a:t>Erfahrene Mitarbeiter und professionelle Tools</a:t>
            </a:r>
          </a:p>
          <a:p>
            <a:pPr lvl="2"/>
            <a:r>
              <a:rPr lang="de-DE" dirty="0"/>
              <a:t>Professionalität durch den Einsatz moderner fundamentaler und quantitativer Analyseinstrumente und erfahrener Mitarbeiter als Entscheidungsträger.</a:t>
            </a:r>
          </a:p>
        </p:txBody>
      </p:sp>
      <p:sp>
        <p:nvSpPr>
          <p:cNvPr id="4" name="Titel">
            <a:extLst>
              <a:ext uri="{FF2B5EF4-FFF2-40B4-BE49-F238E27FC236}">
                <a16:creationId xmlns:a16="http://schemas.microsoft.com/office/drawing/2014/main" id="{E12E245F-B51F-131E-6109-E14B015469E8}"/>
              </a:ext>
            </a:extLst>
          </p:cNvPr>
          <p:cNvSpPr>
            <a:spLocks noGrp="1" noRot="1" noMove="1" noResize="1" noEditPoints="1" noAdjustHandles="1" noChangeArrowheads="1" noChangeShapeType="1"/>
          </p:cNvSpPr>
          <p:nvPr>
            <p:ph type="title"/>
          </p:nvPr>
        </p:nvSpPr>
        <p:spPr/>
        <p:txBody>
          <a:bodyPr/>
          <a:lstStyle/>
          <a:p>
            <a:r>
              <a:rPr lang="de-DE" dirty="0"/>
              <a:t>Unsere Investmentphilosophie</a:t>
            </a:r>
          </a:p>
        </p:txBody>
      </p:sp>
    </p:spTree>
    <p:extLst>
      <p:ext uri="{BB962C8B-B14F-4D97-AF65-F5344CB8AC3E}">
        <p14:creationId xmlns:p14="http://schemas.microsoft.com/office/powerpoint/2010/main" val="3473516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792F3A7E-3C17-188F-79CC-B17632688D77}"/>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25</a:t>
            </a:fld>
            <a:endParaRPr lang="de-DE" dirty="0"/>
          </a:p>
        </p:txBody>
      </p:sp>
      <p:sp>
        <p:nvSpPr>
          <p:cNvPr id="3" name="Text">
            <a:extLst>
              <a:ext uri="{FF2B5EF4-FFF2-40B4-BE49-F238E27FC236}">
                <a16:creationId xmlns:a16="http://schemas.microsoft.com/office/drawing/2014/main" id="{77F672EA-CA9F-FF7C-B697-17EDE43A3528}"/>
              </a:ext>
            </a:extLst>
          </p:cNvPr>
          <p:cNvSpPr>
            <a:spLocks noGrp="1" noRot="1" noMove="1" noResize="1" noEditPoints="1" noAdjustHandles="1" noChangeArrowheads="1" noChangeShapeType="1"/>
          </p:cNvSpPr>
          <p:nvPr>
            <p:ph idx="1"/>
          </p:nvPr>
        </p:nvSpPr>
        <p:spPr/>
        <p:txBody>
          <a:bodyPr/>
          <a:lstStyle/>
          <a:p>
            <a:r>
              <a:rPr lang="de-DE" dirty="0"/>
              <a:t>Die optimale Vermögensverwaltungsstrategie</a:t>
            </a:r>
          </a:p>
          <a:p>
            <a:pPr lvl="2"/>
            <a:r>
              <a:rPr lang="de-DE" dirty="0"/>
              <a:t>Gemeinsame Festlegung der für Sie optimalen Vermögens-</a:t>
            </a:r>
            <a:r>
              <a:rPr lang="de-DE" dirty="0" err="1"/>
              <a:t>verwaltungsstrategie</a:t>
            </a:r>
            <a:r>
              <a:rPr lang="de-DE" dirty="0"/>
              <a:t> auf Basis einer Analyse Ihrer aktuellen Vermögensstruktur, Ihren individuellen Rendite-Risiko-präferenzen, Ihrem angestrebten Anlagehorizont und Ihren Anlagezielen.</a:t>
            </a:r>
          </a:p>
          <a:p>
            <a:pPr lvl="2"/>
            <a:r>
              <a:rPr lang="de-DE" dirty="0"/>
              <a:t>Erstallokation Ihres gewünschten Anlagebetrages in die von Ihnen gewählte Anlagestrategie.</a:t>
            </a:r>
          </a:p>
          <a:p>
            <a:r>
              <a:rPr lang="de-DE" dirty="0"/>
              <a:t>Ganzheitliches Risikomanagement</a:t>
            </a:r>
          </a:p>
          <a:p>
            <a:pPr lvl="2"/>
            <a:r>
              <a:rPr lang="de-DE" dirty="0"/>
              <a:t>Laufende strategische und taktische Anpassung der Asset-Allokation Ihres Vermögensverwaltungsportfolios auf Basis makroökonomischer und betriebswirtschaftlicher Daten. Unsere Anlageentscheidungen treffen wir vor allem auf der Basis fundamentaler Einschätzungen unserer erfahrenen Mitarbeiter in den Vermögensverwaltungsgremien und flankieren diese durch quantitative Analyseinstrumente. Besonderen Wert legen wir hierbei auf unser ganzheitliches Risikomanagement.</a:t>
            </a:r>
          </a:p>
          <a:p>
            <a:pPr lvl="2"/>
            <a:r>
              <a:rPr lang="de-DE" dirty="0"/>
              <a:t>Kontinuierliche Informationen über die Wertentwicklung Ihres Portfolios auf Basis regelmäßiger Berichte – auf Wunsch auch digital – und persönlicher Gespräche.</a:t>
            </a:r>
          </a:p>
        </p:txBody>
      </p:sp>
      <p:sp>
        <p:nvSpPr>
          <p:cNvPr id="4" name="Titel">
            <a:extLst>
              <a:ext uri="{FF2B5EF4-FFF2-40B4-BE49-F238E27FC236}">
                <a16:creationId xmlns:a16="http://schemas.microsoft.com/office/drawing/2014/main" id="{35143A01-2D64-118A-0721-C317C316E8EA}"/>
              </a:ext>
            </a:extLst>
          </p:cNvPr>
          <p:cNvSpPr>
            <a:spLocks noGrp="1" noRot="1" noMove="1" noResize="1" noEditPoints="1" noAdjustHandles="1" noChangeArrowheads="1" noChangeShapeType="1"/>
          </p:cNvSpPr>
          <p:nvPr>
            <p:ph type="title"/>
          </p:nvPr>
        </p:nvSpPr>
        <p:spPr/>
        <p:txBody>
          <a:bodyPr/>
          <a:lstStyle/>
          <a:p>
            <a:r>
              <a:rPr lang="de-DE" dirty="0"/>
              <a:t>Unser Investmentprozess</a:t>
            </a:r>
          </a:p>
        </p:txBody>
      </p:sp>
    </p:spTree>
    <p:extLst>
      <p:ext uri="{BB962C8B-B14F-4D97-AF65-F5344CB8AC3E}">
        <p14:creationId xmlns:p14="http://schemas.microsoft.com/office/powerpoint/2010/main" val="727662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81D1C97D-0B85-13EC-24EC-F99812756CFC}"/>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26</a:t>
            </a:fld>
            <a:endParaRPr lang="de-DE"/>
          </a:p>
        </p:txBody>
      </p:sp>
      <p:sp>
        <p:nvSpPr>
          <p:cNvPr id="11" name="Text 3">
            <a:extLst>
              <a:ext uri="{FF2B5EF4-FFF2-40B4-BE49-F238E27FC236}">
                <a16:creationId xmlns:a16="http://schemas.microsoft.com/office/drawing/2014/main" id="{E721D5B7-2B6D-2367-6C3B-B7F2BC41399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r>
              <a:rPr lang="de-DE" dirty="0"/>
              <a:t>Zinsänderungsrisiko</a:t>
            </a:r>
          </a:p>
          <a:p>
            <a:pPr lvl="1"/>
            <a:r>
              <a:rPr lang="de-DE" dirty="0"/>
              <a:t>Stark steigende Zinsen können den Wert eines bestehenden Anleiheportfolios temporär stark reduzieren. Durch ein professionelles und </a:t>
            </a:r>
            <a:r>
              <a:rPr lang="de-DE" dirty="0" err="1"/>
              <a:t>ak-tives</a:t>
            </a:r>
            <a:r>
              <a:rPr lang="de-DE" dirty="0"/>
              <a:t> Laufzeitenmanagement streben wir eine deutliche Verringerung dieses Risikos an. </a:t>
            </a:r>
          </a:p>
          <a:p>
            <a:r>
              <a:rPr lang="de-DE" dirty="0"/>
              <a:t>Liquiditätsrisiko</a:t>
            </a:r>
          </a:p>
          <a:p>
            <a:pPr lvl="1"/>
            <a:r>
              <a:rPr lang="de-DE" dirty="0"/>
              <a:t>Das Liquiditätsrisiko schließen wir aus, indem wir ausschließlich in liquide Anlagen </a:t>
            </a:r>
            <a:r>
              <a:rPr lang="de-DE" dirty="0" err="1"/>
              <a:t>investie-ren</a:t>
            </a:r>
            <a:r>
              <a:rPr lang="de-DE" dirty="0"/>
              <a:t>. Geschlossene oder beschränkt verfügbare Produkte werden nicht erworben. </a:t>
            </a:r>
          </a:p>
        </p:txBody>
      </p:sp>
      <p:sp>
        <p:nvSpPr>
          <p:cNvPr id="4" name="Text 2">
            <a:extLst>
              <a:ext uri="{FF2B5EF4-FFF2-40B4-BE49-F238E27FC236}">
                <a16:creationId xmlns:a16="http://schemas.microsoft.com/office/drawing/2014/main" id="{3043CE18-576B-2D06-5DFA-D88278972F54}"/>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r>
              <a:rPr lang="de-DE" dirty="0"/>
              <a:t>Bonitäts-/Emittentenrisiko</a:t>
            </a:r>
          </a:p>
          <a:p>
            <a:pPr lvl="1"/>
            <a:r>
              <a:rPr lang="de-DE" dirty="0"/>
              <a:t>Bei Anleihen guter Bonität kann mit hoher Wahrscheinlichkeit davon ausgegangen wer-den, dass diese bei Laufzeitende vollständig zu-rückgezahlt werden. Daher achten wir auf gute Ratingeinstufungen der Anleiheemittenten. Weil es aber immer wieder vorkommt, dass die Bonität eines Emittenten sich verschlechtert, ohne dass dies rechtzeitig von den Rating-agenturen erkannt und bekanntgegeben wird, bilden wir uns auch ein eigens Urteil im Rah-</a:t>
            </a:r>
            <a:r>
              <a:rPr lang="de-DE" dirty="0" err="1"/>
              <a:t>men</a:t>
            </a:r>
            <a:r>
              <a:rPr lang="de-DE" dirty="0"/>
              <a:t> einer kontinuierlichen Überwachung der Emittenten durch unsere Anleihespezialisten. </a:t>
            </a:r>
          </a:p>
          <a:p>
            <a:r>
              <a:rPr lang="de-DE" dirty="0"/>
              <a:t>Währungsrisiko</a:t>
            </a:r>
          </a:p>
          <a:p>
            <a:pPr lvl="1"/>
            <a:r>
              <a:rPr lang="de-DE" dirty="0"/>
              <a:t>Das Einzelwährungsrisiko reduzieren wir durch eine breite und global orientierte </a:t>
            </a:r>
            <a:r>
              <a:rPr lang="de-DE" dirty="0" err="1"/>
              <a:t>Diversifizie-rung</a:t>
            </a:r>
            <a:r>
              <a:rPr lang="de-DE" dirty="0"/>
              <a:t>. Bei unserer konservativen Strategie ist der Fremdwährungsanteil auf maximal 25% beschränkt.</a:t>
            </a:r>
          </a:p>
        </p:txBody>
      </p:sp>
      <p:sp>
        <p:nvSpPr>
          <p:cNvPr id="5" name="Text 1">
            <a:extLst>
              <a:ext uri="{FF2B5EF4-FFF2-40B4-BE49-F238E27FC236}">
                <a16:creationId xmlns:a16="http://schemas.microsoft.com/office/drawing/2014/main" id="{E998F134-05AB-FCF7-7224-9CAA4D134CE5}"/>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r>
              <a:rPr lang="de-DE" dirty="0"/>
              <a:t>Kursänderungsrisiko</a:t>
            </a:r>
          </a:p>
          <a:p>
            <a:pPr lvl="1"/>
            <a:r>
              <a:rPr lang="de-DE" dirty="0"/>
              <a:t>Wertschwankungen eines Portfolios können niemals ausgeschlossen werden, weil Wertpapiermärkte typischerweise durch ihre Volatilität geprägt sind. Die Schwankungen können aber gemildert werden durch eine sorgfältige Einzeltitelauswahl und einer breiten Streuung. In turbulenten Marktphasen ist es wichtig, einen kühlen Kopf zu bewahren. Absicherungsmaßnahmen und vor allem eine aktive Steuerung der Investitionsquoten können Schwankungen reduzieren, Chancen können aber nur wahrgenommen werden, wenn man in einer Erholungsphase entsprechend investiert ist. Für eine sorgfältige Steuerung sind weder übertriebene Furcht noch Gier hilfreich, vielmehr braucht es Augen-maß und vor allem sehr viel Erfahrung und die professionelle Anwendung einer breiten Palette moderner Risikomanagement-instrumente.</a:t>
            </a:r>
          </a:p>
        </p:txBody>
      </p:sp>
      <p:sp>
        <p:nvSpPr>
          <p:cNvPr id="6" name="Titel">
            <a:extLst>
              <a:ext uri="{FF2B5EF4-FFF2-40B4-BE49-F238E27FC236}">
                <a16:creationId xmlns:a16="http://schemas.microsoft.com/office/drawing/2014/main" id="{8A593740-F4A8-2A26-ED51-81863F08E08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Unser Risikomanagement</a:t>
            </a:r>
          </a:p>
        </p:txBody>
      </p:sp>
    </p:spTree>
    <p:extLst>
      <p:ext uri="{BB962C8B-B14F-4D97-AF65-F5344CB8AC3E}">
        <p14:creationId xmlns:p14="http://schemas.microsoft.com/office/powerpoint/2010/main" val="3089789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2E1F6443-B286-D081-D271-BC363530CE57}"/>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27</a:t>
            </a:fld>
            <a:endParaRPr lang="de-DE"/>
          </a:p>
        </p:txBody>
      </p:sp>
      <p:graphicFrame>
        <p:nvGraphicFramePr>
          <p:cNvPr id="6" name="Tabelle">
            <a:extLst>
              <a:ext uri="{FF2B5EF4-FFF2-40B4-BE49-F238E27FC236}">
                <a16:creationId xmlns:a16="http://schemas.microsoft.com/office/drawing/2014/main" id="{254E7761-68C2-F358-6C12-E31D307F6055}"/>
              </a:ext>
            </a:extLst>
          </p:cNvPr>
          <p:cNvGraphicFramePr>
            <a:graphicFrameLocks noGrp="1"/>
          </p:cNvGraphicFramePr>
          <p:nvPr>
            <p:ph idx="13"/>
            <p:extLst>
              <p:ext uri="{D42A27DB-BD31-4B8C-83A1-F6EECF244321}">
                <p14:modId xmlns:p14="http://schemas.microsoft.com/office/powerpoint/2010/main" val="3851782016"/>
              </p:ext>
            </p:extLst>
          </p:nvPr>
        </p:nvGraphicFramePr>
        <p:xfrm>
          <a:off x="3671888" y="1041400"/>
          <a:ext cx="6458309" cy="3708000"/>
        </p:xfrm>
        <a:graphic>
          <a:graphicData uri="http://schemas.openxmlformats.org/drawingml/2006/table">
            <a:tbl>
              <a:tblPr firstRow="1" bandRow="1">
                <a:tableStyleId>{69012ECD-51FC-41F1-AA8D-1B2483CD663E}</a:tableStyleId>
              </a:tblPr>
              <a:tblGrid>
                <a:gridCol w="246600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39420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anlageklasse</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err="1">
                          <a:solidFill>
                            <a:schemeClr val="bg1"/>
                          </a:solidFill>
                        </a:rPr>
                        <a:t>anlagelösungen</a:t>
                      </a:r>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360000">
                <a:tc>
                  <a:txBody>
                    <a:bodyPr/>
                    <a:lstStyle/>
                    <a:p>
                      <a:r>
                        <a:rPr lang="de-DE" sz="900" b="0" dirty="0"/>
                        <a:t>Liquidität</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a:spcAft>
                          <a:spcPts val="600"/>
                        </a:spcAft>
                        <a:buFontTx/>
                        <a:buBlip>
                          <a:blip r:embed="rId2"/>
                        </a:buBlip>
                      </a:pPr>
                      <a:r>
                        <a:rPr lang="de-DE" sz="900" b="0" dirty="0"/>
                        <a:t>Kontoguthaben</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0595349"/>
                  </a:ext>
                </a:extLst>
              </a:tr>
              <a:tr h="1404000">
                <a:tc>
                  <a:txBody>
                    <a:bodyPr/>
                    <a:lstStyle/>
                    <a:p>
                      <a:r>
                        <a:rPr lang="de-DE" sz="900" b="0" dirty="0"/>
                        <a:t>Anleihen</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Staatsanleihen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Pfandbriefe</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Unternehmensanleihen/ Bankenanleihen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Strukturierte Anleihen</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Investmentfonds</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ETFs</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5848646"/>
                  </a:ext>
                </a:extLst>
              </a:tr>
              <a:tr h="756000">
                <a:tc>
                  <a:txBody>
                    <a:bodyPr/>
                    <a:lstStyle/>
                    <a:p>
                      <a:r>
                        <a:rPr lang="de-DE" sz="900" b="0" dirty="0"/>
                        <a:t>Aktien</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Einzeltitel</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ETFs</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Investmentfonds</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2306334"/>
                  </a:ext>
                </a:extLst>
              </a:tr>
              <a:tr h="576000">
                <a:tc>
                  <a:txBody>
                    <a:bodyPr/>
                    <a:lstStyle/>
                    <a:p>
                      <a:r>
                        <a:rPr lang="de-DE" sz="900" b="0" dirty="0"/>
                        <a:t>Risikoadjustierte Produkte </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Discountzertifikate</a:t>
                      </a:r>
                    </a:p>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Aktienanleihen </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3228351"/>
                  </a:ext>
                </a:extLst>
              </a:tr>
              <a:tr h="396000">
                <a:tc>
                  <a:txBody>
                    <a:bodyPr/>
                    <a:lstStyle/>
                    <a:p>
                      <a:r>
                        <a:rPr lang="de-DE" sz="900" b="0" dirty="0"/>
                        <a:t>Edelmetalle</a:t>
                      </a:r>
                    </a:p>
                  </a:txBody>
                  <a:tcPr marL="72000" marR="72000" marT="108000" marB="0">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108000" marB="0">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2000" lvl="0" indent="-72000" algn="l" defTabSz="783001" rtl="0" eaLnBrk="1" latinLnBrk="0" hangingPunct="1">
                        <a:spcAft>
                          <a:spcPts val="600"/>
                        </a:spcAft>
                        <a:buFontTx/>
                        <a:buBlip>
                          <a:blip r:embed="rId3"/>
                        </a:buBlip>
                      </a:pPr>
                      <a:r>
                        <a:rPr lang="de-DE" sz="900" b="0" kern="1200" dirty="0">
                          <a:solidFill>
                            <a:schemeClr val="tx1"/>
                          </a:solidFill>
                          <a:latin typeface="+mn-lt"/>
                          <a:ea typeface="+mn-ea"/>
                          <a:cs typeface="+mn-cs"/>
                        </a:rPr>
                        <a:t>ETCs auf Edelmetalle</a:t>
                      </a:r>
                    </a:p>
                  </a:txBody>
                  <a:tcPr marL="36000" marR="36000" marT="108000" marB="0">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914861"/>
                  </a:ext>
                </a:extLst>
              </a:tr>
            </a:tbl>
          </a:graphicData>
        </a:graphic>
      </p:graphicFrame>
      <p:sp>
        <p:nvSpPr>
          <p:cNvPr id="4" name="Text">
            <a:extLst>
              <a:ext uri="{FF2B5EF4-FFF2-40B4-BE49-F238E27FC236}">
                <a16:creationId xmlns:a16="http://schemas.microsoft.com/office/drawing/2014/main" id="{163A3452-6B15-0579-2A3C-DEE1D79CEEDF}"/>
              </a:ext>
            </a:extLst>
          </p:cNvPr>
          <p:cNvSpPr>
            <a:spLocks noGrp="1" noRot="1" noMove="1" noResize="1" noEditPoints="1" noAdjustHandles="1" noChangeArrowheads="1" noChangeShapeType="1"/>
          </p:cNvSpPr>
          <p:nvPr>
            <p:ph idx="1"/>
          </p:nvPr>
        </p:nvSpPr>
        <p:spPr/>
        <p:txBody>
          <a:bodyPr/>
          <a:lstStyle/>
          <a:p>
            <a:pPr lvl="2"/>
            <a:r>
              <a:rPr lang="de-DE" dirty="0"/>
              <a:t>Die Kombination verschiedener </a:t>
            </a:r>
            <a:r>
              <a:rPr lang="de-DE" dirty="0" err="1"/>
              <a:t>Anlageklas-sen</a:t>
            </a:r>
            <a:r>
              <a:rPr lang="de-DE" dirty="0"/>
              <a:t> – je nach individueller Risikobereitschaft –ermöglicht eine valide Portfoliodiversifikation, mit dem Ziel, auftretenden Marktvolatilitäten entgegenzuwirken. Dies kann durch unter-schiedliche Finanzinstrumente erfolgen.</a:t>
            </a:r>
          </a:p>
        </p:txBody>
      </p:sp>
      <p:sp>
        <p:nvSpPr>
          <p:cNvPr id="5" name="Titel">
            <a:extLst>
              <a:ext uri="{FF2B5EF4-FFF2-40B4-BE49-F238E27FC236}">
                <a16:creationId xmlns:a16="http://schemas.microsoft.com/office/drawing/2014/main" id="{A2638D9C-D791-60AF-4096-C955640E52F4}"/>
              </a:ext>
            </a:extLst>
          </p:cNvPr>
          <p:cNvSpPr>
            <a:spLocks noGrp="1" noRot="1" noMove="1" noResize="1" noEditPoints="1" noAdjustHandles="1" noChangeArrowheads="1" noChangeShapeType="1"/>
          </p:cNvSpPr>
          <p:nvPr>
            <p:ph type="title"/>
          </p:nvPr>
        </p:nvSpPr>
        <p:spPr/>
        <p:txBody>
          <a:bodyPr/>
          <a:lstStyle/>
          <a:p>
            <a:r>
              <a:rPr lang="de-DE" dirty="0"/>
              <a:t>Anlageklassen und Ausgestaltung</a:t>
            </a:r>
          </a:p>
        </p:txBody>
      </p:sp>
    </p:spTree>
    <p:extLst>
      <p:ext uri="{BB962C8B-B14F-4D97-AF65-F5344CB8AC3E}">
        <p14:creationId xmlns:p14="http://schemas.microsoft.com/office/powerpoint/2010/main" val="3318152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71BDD082-AD9A-6DD8-3348-F165CD10DD2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28</a:t>
            </a:fld>
            <a:endParaRPr lang="de-DE"/>
          </a:p>
        </p:txBody>
      </p:sp>
      <p:sp>
        <p:nvSpPr>
          <p:cNvPr id="6" name="Text">
            <a:extLst>
              <a:ext uri="{FF2B5EF4-FFF2-40B4-BE49-F238E27FC236}">
                <a16:creationId xmlns:a16="http://schemas.microsoft.com/office/drawing/2014/main" id="{D1C6F36B-B5D5-FA42-8AB2-64B475944977}"/>
              </a:ext>
            </a:extLst>
          </p:cNvPr>
          <p:cNvSpPr txBox="1">
            <a:spLocks noGrp="1" noRot="1" noMove="1" noResize="1" noEditPoints="1" noAdjustHandles="1" noChangeArrowheads="1" noChangeShapeType="1"/>
          </p:cNvSpPr>
          <p:nvPr/>
        </p:nvSpPr>
        <p:spPr>
          <a:xfrm>
            <a:off x="358775" y="4697839"/>
            <a:ext cx="4789488" cy="719684"/>
          </a:xfrm>
          <a:prstGeom prst="rect">
            <a:avLst/>
          </a:prstGeom>
          <a:noFill/>
        </p:spPr>
        <p:txBody>
          <a:bodyPr wrap="square" lIns="0" tIns="0" rIns="0" bIns="0" rtlCol="0">
            <a:spAutoFit/>
          </a:bodyPr>
          <a:lstStyle/>
          <a:p>
            <a:pPr marL="198000" indent="-198000">
              <a:lnSpc>
                <a:spcPts val="1900"/>
              </a:lnSpc>
              <a:buBlip>
                <a:blip r:embed="rId2"/>
              </a:buBlip>
            </a:pPr>
            <a:r>
              <a:rPr lang="de-DE" sz="1500" b="1" dirty="0">
                <a:solidFill>
                  <a:schemeClr val="accent1"/>
                </a:solidFill>
                <a:latin typeface="+mj-lt"/>
              </a:rPr>
              <a:t>Gerne stellen wir Ihnen in regelmäßigen  Abständen oder auf Wunsch einen aktuellen Bericht zur Verfügung.</a:t>
            </a:r>
          </a:p>
        </p:txBody>
      </p:sp>
      <p:graphicFrame>
        <p:nvGraphicFramePr>
          <p:cNvPr id="5" name="Tabelle">
            <a:extLst>
              <a:ext uri="{FF2B5EF4-FFF2-40B4-BE49-F238E27FC236}">
                <a16:creationId xmlns:a16="http://schemas.microsoft.com/office/drawing/2014/main" id="{1CF60558-7248-3322-4596-B33D91F44A2E}"/>
              </a:ext>
            </a:extLst>
          </p:cNvPr>
          <p:cNvGraphicFramePr>
            <a:graphicFrameLocks noGrp="1" noDrilldown="1" noMove="1" noResize="1"/>
          </p:cNvGraphicFramePr>
          <p:nvPr>
            <p:ph idx="1"/>
            <p:extLst>
              <p:ext uri="{D42A27DB-BD31-4B8C-83A1-F6EECF244321}">
                <p14:modId xmlns:p14="http://schemas.microsoft.com/office/powerpoint/2010/main" val="2308914870"/>
              </p:ext>
            </p:extLst>
          </p:nvPr>
        </p:nvGraphicFramePr>
        <p:xfrm>
          <a:off x="358775" y="1041400"/>
          <a:ext cx="9756000" cy="2866168"/>
        </p:xfrm>
        <a:graphic>
          <a:graphicData uri="http://schemas.openxmlformats.org/drawingml/2006/table">
            <a:tbl>
              <a:tblPr firstRow="1" bandRow="1">
                <a:tableStyleId>{2D5ABB26-0587-4C30-8999-92F81FD0307C}</a:tableStyleId>
              </a:tblPr>
              <a:tblGrid>
                <a:gridCol w="2304000">
                  <a:extLst>
                    <a:ext uri="{9D8B030D-6E8A-4147-A177-3AD203B41FA5}">
                      <a16:colId xmlns:a16="http://schemas.microsoft.com/office/drawing/2014/main" val="2960144582"/>
                    </a:ext>
                  </a:extLst>
                </a:gridCol>
                <a:gridCol w="180000">
                  <a:extLst>
                    <a:ext uri="{9D8B030D-6E8A-4147-A177-3AD203B41FA5}">
                      <a16:colId xmlns:a16="http://schemas.microsoft.com/office/drawing/2014/main" val="3719935177"/>
                    </a:ext>
                  </a:extLst>
                </a:gridCol>
                <a:gridCol w="2304000">
                  <a:extLst>
                    <a:ext uri="{9D8B030D-6E8A-4147-A177-3AD203B41FA5}">
                      <a16:colId xmlns:a16="http://schemas.microsoft.com/office/drawing/2014/main" val="1099370210"/>
                    </a:ext>
                  </a:extLst>
                </a:gridCol>
                <a:gridCol w="180000">
                  <a:extLst>
                    <a:ext uri="{9D8B030D-6E8A-4147-A177-3AD203B41FA5}">
                      <a16:colId xmlns:a16="http://schemas.microsoft.com/office/drawing/2014/main" val="1043823165"/>
                    </a:ext>
                  </a:extLst>
                </a:gridCol>
                <a:gridCol w="2304000">
                  <a:extLst>
                    <a:ext uri="{9D8B030D-6E8A-4147-A177-3AD203B41FA5}">
                      <a16:colId xmlns:a16="http://schemas.microsoft.com/office/drawing/2014/main" val="2181555188"/>
                    </a:ext>
                  </a:extLst>
                </a:gridCol>
                <a:gridCol w="180000">
                  <a:extLst>
                    <a:ext uri="{9D8B030D-6E8A-4147-A177-3AD203B41FA5}">
                      <a16:colId xmlns:a16="http://schemas.microsoft.com/office/drawing/2014/main" val="1222754153"/>
                    </a:ext>
                  </a:extLst>
                </a:gridCol>
                <a:gridCol w="2304000">
                  <a:extLst>
                    <a:ext uri="{9D8B030D-6E8A-4147-A177-3AD203B41FA5}">
                      <a16:colId xmlns:a16="http://schemas.microsoft.com/office/drawing/2014/main" val="1006042721"/>
                    </a:ext>
                  </a:extLst>
                </a:gridCol>
              </a:tblGrid>
              <a:tr h="370840">
                <a:tc>
                  <a:txBody>
                    <a:bodyPr/>
                    <a:lstStyle/>
                    <a:p>
                      <a: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pPr>
                      <a:r>
                        <a:rPr lang="de-DE" sz="1100" b="1" kern="1200" dirty="0">
                          <a:solidFill>
                            <a:schemeClr val="accent1"/>
                          </a:solidFill>
                          <a:latin typeface="+mj-lt"/>
                          <a:ea typeface="+mn-ea"/>
                          <a:cs typeface="+mn-cs"/>
                        </a:rPr>
                        <a:t>Vermögensverwaltungsbericht</a:t>
                      </a:r>
                    </a:p>
                    <a:p>
                      <a:pPr>
                        <a:lnSpc>
                          <a:spcPts val="1600"/>
                        </a:lnSpc>
                      </a:pPr>
                      <a:r>
                        <a:rPr lang="de-DE" sz="1100" kern="1200" dirty="0">
                          <a:solidFill>
                            <a:schemeClr val="tx1"/>
                          </a:solidFill>
                          <a:latin typeface="+mn-lt"/>
                          <a:ea typeface="+mn-ea"/>
                          <a:cs typeface="+mn-cs"/>
                        </a:rPr>
                        <a:t>Wir stellen Ihnen gemäß den </a:t>
                      </a:r>
                    </a:p>
                    <a:p>
                      <a:pPr>
                        <a:lnSpc>
                          <a:spcPts val="1600"/>
                        </a:lnSpc>
                      </a:pPr>
                      <a:r>
                        <a:rPr lang="de-DE" sz="1100" kern="1200" dirty="0">
                          <a:solidFill>
                            <a:schemeClr val="tx1"/>
                          </a:solidFill>
                          <a:latin typeface="+mn-lt"/>
                          <a:ea typeface="+mn-ea"/>
                          <a:cs typeface="+mn-cs"/>
                        </a:rPr>
                        <a:t>gesetzlichen Anforderungen </a:t>
                      </a:r>
                    </a:p>
                    <a:p>
                      <a:pPr>
                        <a:lnSpc>
                          <a:spcPts val="1600"/>
                        </a:lnSpc>
                      </a:pPr>
                      <a:r>
                        <a:rPr lang="de-DE" sz="1100" kern="1200" dirty="0">
                          <a:solidFill>
                            <a:schemeClr val="tx1"/>
                          </a:solidFill>
                          <a:latin typeface="+mn-lt"/>
                          <a:ea typeface="+mn-ea"/>
                          <a:cs typeface="+mn-cs"/>
                        </a:rPr>
                        <a:t>quartalsweise einen detaillierten </a:t>
                      </a:r>
                    </a:p>
                    <a:p>
                      <a:pPr>
                        <a:lnSpc>
                          <a:spcPts val="1600"/>
                        </a:lnSpc>
                      </a:pPr>
                      <a:r>
                        <a:rPr lang="de-DE" sz="1100" kern="1200" dirty="0">
                          <a:solidFill>
                            <a:schemeClr val="tx1"/>
                          </a:solidFill>
                          <a:latin typeface="+mn-lt"/>
                          <a:ea typeface="+mn-ea"/>
                          <a:cs typeface="+mn-cs"/>
                        </a:rPr>
                        <a:t>Bericht zur Verfügung. Folgende Bestandteile sind in diesem Be-</a:t>
                      </a:r>
                      <a:r>
                        <a:rPr lang="de-DE" sz="1100" kern="1200" dirty="0" err="1">
                          <a:solidFill>
                            <a:schemeClr val="tx1"/>
                          </a:solidFill>
                          <a:latin typeface="+mn-lt"/>
                          <a:ea typeface="+mn-ea"/>
                          <a:cs typeface="+mn-cs"/>
                        </a:rPr>
                        <a:t>richt</a:t>
                      </a:r>
                      <a:r>
                        <a:rPr lang="de-DE" sz="1100" kern="1200" dirty="0">
                          <a:solidFill>
                            <a:schemeClr val="tx1"/>
                          </a:solidFill>
                          <a:latin typeface="+mn-lt"/>
                          <a:ea typeface="+mn-ea"/>
                          <a:cs typeface="+mn-cs"/>
                        </a:rPr>
                        <a:t> enthalten:</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Wertentwicklung</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Vermögensübersicht</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Transaktionsliste</a:t>
                      </a:r>
                    </a:p>
                    <a:p>
                      <a:pPr marL="108000" lvl="2" indent="-108000" algn="l" defTabSz="783001" rtl="0" eaLnBrk="1" latinLnBrk="0" hangingPunct="1">
                        <a:lnSpc>
                          <a:spcPts val="1600"/>
                        </a:lnSpc>
                        <a:spcBef>
                          <a:spcPts val="300"/>
                        </a:spcBef>
                        <a:buClr>
                          <a:schemeClr val="tx2"/>
                        </a:buClr>
                        <a:buFontTx/>
                        <a:buBlip>
                          <a:blip r:embed="rId3"/>
                        </a:buBlip>
                      </a:pPr>
                      <a:r>
                        <a:rPr lang="de-DE" sz="1100" kern="1200" dirty="0">
                          <a:solidFill>
                            <a:schemeClr val="tx1"/>
                          </a:solidFill>
                          <a:latin typeface="+mn-lt"/>
                          <a:ea typeface="+mn-ea"/>
                          <a:cs typeface="+mn-cs"/>
                        </a:rPr>
                        <a:t>Risikokennzahlen, fortlaufende Geeignetheitserklärung </a:t>
                      </a:r>
                    </a:p>
                  </a:txBody>
                  <a:tcPr marL="0" marR="0" marT="0" marB="252000">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err="1">
                          <a:solidFill>
                            <a:schemeClr val="accent1"/>
                          </a:solidFill>
                          <a:latin typeface="+mj-lt"/>
                          <a:ea typeface="+mn-ea"/>
                          <a:cs typeface="+mn-cs"/>
                        </a:rPr>
                        <a:t>ExPostReporting</a:t>
                      </a:r>
                      <a:endParaRPr lang="de-DE" sz="1100" b="1" kern="1200" dirty="0">
                        <a:solidFill>
                          <a:schemeClr val="accent1"/>
                        </a:solidFill>
                        <a:latin typeface="+mj-lt"/>
                        <a:ea typeface="+mn-ea"/>
                        <a:cs typeface="+mn-cs"/>
                      </a:endParaRPr>
                    </a:p>
                    <a:p>
                      <a:pPr marL="0" algn="l" defTabSz="783001" rtl="0" eaLnBrk="1" latinLnBrk="0" hangingPunct="1">
                        <a:lnSpc>
                          <a:spcPts val="1600"/>
                        </a:lnSpc>
                      </a:pPr>
                      <a:r>
                        <a:rPr lang="de-DE" sz="1100" kern="1200" dirty="0">
                          <a:solidFill>
                            <a:schemeClr val="tx1"/>
                          </a:solidFill>
                          <a:latin typeface="+mn-lt"/>
                          <a:ea typeface="+mn-ea"/>
                          <a:cs typeface="+mn-cs"/>
                        </a:rPr>
                        <a:t>Einmal pro Jahr erhalten Sie eine </a:t>
                      </a:r>
                    </a:p>
                    <a:p>
                      <a:pPr marL="0" algn="l" defTabSz="783001" rtl="0" eaLnBrk="1" latinLnBrk="0" hangingPunct="1">
                        <a:lnSpc>
                          <a:spcPts val="1600"/>
                        </a:lnSpc>
                      </a:pPr>
                      <a:r>
                        <a:rPr lang="de-DE" sz="1100" kern="1200" dirty="0">
                          <a:solidFill>
                            <a:schemeClr val="tx1"/>
                          </a:solidFill>
                          <a:latin typeface="+mn-lt"/>
                          <a:ea typeface="+mn-ea"/>
                          <a:cs typeface="+mn-cs"/>
                        </a:rPr>
                        <a:t>Übersicht, wo neben unserem </a:t>
                      </a:r>
                    </a:p>
                    <a:p>
                      <a:pPr marL="0" algn="l" defTabSz="783001" rtl="0" eaLnBrk="1" latinLnBrk="0" hangingPunct="1">
                        <a:lnSpc>
                          <a:spcPts val="1600"/>
                        </a:lnSpc>
                      </a:pPr>
                      <a:r>
                        <a:rPr lang="de-DE" sz="1100" kern="1200" dirty="0">
                          <a:solidFill>
                            <a:schemeClr val="tx1"/>
                          </a:solidFill>
                          <a:latin typeface="+mn-lt"/>
                          <a:ea typeface="+mn-ea"/>
                          <a:cs typeface="+mn-cs"/>
                        </a:rPr>
                        <a:t>Vermögensverwaltungshonorar </a:t>
                      </a:r>
                    </a:p>
                    <a:p>
                      <a:pPr marL="0" algn="l" defTabSz="783001" rtl="0" eaLnBrk="1" latinLnBrk="0" hangingPunct="1">
                        <a:lnSpc>
                          <a:spcPts val="1600"/>
                        </a:lnSpc>
                      </a:pPr>
                      <a:r>
                        <a:rPr lang="de-DE" sz="1100" kern="1200" dirty="0">
                          <a:solidFill>
                            <a:schemeClr val="tx1"/>
                          </a:solidFill>
                          <a:latin typeface="+mn-lt"/>
                          <a:ea typeface="+mn-ea"/>
                          <a:cs typeface="+mn-cs"/>
                        </a:rPr>
                        <a:t>zusätzliche fremde Produktkosten </a:t>
                      </a:r>
                    </a:p>
                    <a:p>
                      <a:pPr marL="0" algn="l" defTabSz="783001" rtl="0" eaLnBrk="1" latinLnBrk="0" hangingPunct="1">
                        <a:lnSpc>
                          <a:spcPts val="1600"/>
                        </a:lnSpc>
                      </a:pPr>
                      <a:r>
                        <a:rPr lang="de-DE" sz="1100" kern="1200" dirty="0">
                          <a:solidFill>
                            <a:schemeClr val="tx1"/>
                          </a:solidFill>
                          <a:latin typeface="+mn-lt"/>
                          <a:ea typeface="+mn-ea"/>
                          <a:cs typeface="+mn-cs"/>
                        </a:rPr>
                        <a:t>aufgeführt sind.</a:t>
                      </a:r>
                    </a:p>
                  </a:txBody>
                  <a:tcPr marL="0" marR="0" marT="0" marB="252000">
                    <a:lnL>
                      <a:noFill/>
                    </a:lnL>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a:solidFill>
                            <a:schemeClr val="accent1"/>
                          </a:solidFill>
                          <a:latin typeface="+mj-lt"/>
                          <a:ea typeface="+mn-ea"/>
                          <a:cs typeface="+mn-cs"/>
                        </a:rPr>
                        <a:t>Steuerservice</a:t>
                      </a:r>
                    </a:p>
                    <a:p>
                      <a:pPr marL="0" algn="l" defTabSz="783001" rtl="0" eaLnBrk="1" latinLnBrk="0" hangingPunct="1">
                        <a:lnSpc>
                          <a:spcPts val="1600"/>
                        </a:lnSpc>
                      </a:pPr>
                      <a:r>
                        <a:rPr lang="de-DE" sz="1100" kern="1200" dirty="0">
                          <a:solidFill>
                            <a:schemeClr val="tx1"/>
                          </a:solidFill>
                          <a:latin typeface="+mn-lt"/>
                          <a:ea typeface="+mn-ea"/>
                          <a:cs typeface="+mn-cs"/>
                        </a:rPr>
                        <a:t>Die Erstellung aller steuerlich </a:t>
                      </a:r>
                      <a:r>
                        <a:rPr lang="de-DE" sz="1100" kern="1200" dirty="0" err="1">
                          <a:solidFill>
                            <a:schemeClr val="tx1"/>
                          </a:solidFill>
                          <a:latin typeface="+mn-lt"/>
                          <a:ea typeface="+mn-ea"/>
                          <a:cs typeface="+mn-cs"/>
                        </a:rPr>
                        <a:t>rele</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vanten</a:t>
                      </a:r>
                      <a:r>
                        <a:rPr lang="de-DE" sz="1100" kern="1200" dirty="0">
                          <a:solidFill>
                            <a:schemeClr val="tx1"/>
                          </a:solidFill>
                          <a:latin typeface="+mn-lt"/>
                          <a:ea typeface="+mn-ea"/>
                          <a:cs typeface="+mn-cs"/>
                        </a:rPr>
                        <a:t> und benötigten Unterlagen</a:t>
                      </a:r>
                    </a:p>
                    <a:p>
                      <a:pPr marL="0" algn="l" defTabSz="783001" rtl="0" eaLnBrk="1" latinLnBrk="0" hangingPunct="1">
                        <a:lnSpc>
                          <a:spcPts val="1600"/>
                        </a:lnSpc>
                      </a:pPr>
                      <a:r>
                        <a:rPr lang="de-DE" sz="1100" kern="1200" dirty="0">
                          <a:solidFill>
                            <a:schemeClr val="tx1"/>
                          </a:solidFill>
                          <a:latin typeface="+mn-lt"/>
                          <a:ea typeface="+mn-ea"/>
                          <a:cs typeface="+mn-cs"/>
                        </a:rPr>
                        <a:t>erfolgt automatisch und zeitnah </a:t>
                      </a:r>
                    </a:p>
                    <a:p>
                      <a:pPr marL="0" algn="l" defTabSz="783001" rtl="0" eaLnBrk="1" latinLnBrk="0" hangingPunct="1">
                        <a:lnSpc>
                          <a:spcPts val="1600"/>
                        </a:lnSpc>
                      </a:pPr>
                      <a:r>
                        <a:rPr lang="de-DE" sz="1100" kern="1200" dirty="0">
                          <a:solidFill>
                            <a:schemeClr val="tx1"/>
                          </a:solidFill>
                          <a:latin typeface="+mn-lt"/>
                          <a:ea typeface="+mn-ea"/>
                          <a:cs typeface="+mn-cs"/>
                        </a:rPr>
                        <a:t>mit dem Ablauf des </a:t>
                      </a:r>
                      <a:r>
                        <a:rPr lang="de-DE" sz="1100" kern="1200" dirty="0" err="1">
                          <a:solidFill>
                            <a:schemeClr val="tx1"/>
                          </a:solidFill>
                          <a:latin typeface="+mn-lt"/>
                          <a:ea typeface="+mn-ea"/>
                          <a:cs typeface="+mn-cs"/>
                        </a:rPr>
                        <a:t>Kalenderjah</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res</a:t>
                      </a:r>
                      <a:r>
                        <a:rPr lang="de-DE" sz="1100" kern="1200" dirty="0">
                          <a:solidFill>
                            <a:schemeClr val="tx1"/>
                          </a:solidFill>
                          <a:latin typeface="+mn-lt"/>
                          <a:ea typeface="+mn-ea"/>
                          <a:cs typeface="+mn-cs"/>
                        </a:rPr>
                        <a:t>. Automatische Verrechnung </a:t>
                      </a:r>
                    </a:p>
                    <a:p>
                      <a:pPr marL="0" algn="l" defTabSz="783001" rtl="0" eaLnBrk="1" latinLnBrk="0" hangingPunct="1">
                        <a:lnSpc>
                          <a:spcPts val="1600"/>
                        </a:lnSpc>
                      </a:pPr>
                      <a:r>
                        <a:rPr lang="de-DE" sz="1100" kern="1200" dirty="0">
                          <a:solidFill>
                            <a:schemeClr val="tx1"/>
                          </a:solidFill>
                          <a:latin typeface="+mn-lt"/>
                          <a:ea typeface="+mn-ea"/>
                          <a:cs typeface="+mn-cs"/>
                        </a:rPr>
                        <a:t>der All-in-fee.</a:t>
                      </a:r>
                    </a:p>
                  </a:txBody>
                  <a:tcPr marL="0" marR="0" marT="0" marB="252000">
                    <a:lnL>
                      <a:noFill/>
                    </a:lnL>
                    <a:lnR>
                      <a:noFill/>
                    </a:lnR>
                    <a:lnB w="38100" cap="flat" cmpd="sng" algn="ctr">
                      <a:solidFill>
                        <a:schemeClr val="accent1"/>
                      </a:solidFill>
                      <a:prstDash val="solid"/>
                      <a:round/>
                      <a:headEnd type="none" w="med" len="med"/>
                      <a:tailEnd type="none" w="med" len="med"/>
                    </a:lnB>
                  </a:tcPr>
                </a:tc>
                <a:tc>
                  <a:txBody>
                    <a:bodyPr/>
                    <a:lstStyle/>
                    <a:p>
                      <a:endParaRPr lang="de-DE" dirty="0"/>
                    </a:p>
                  </a:txBody>
                  <a:tcPr marL="0" marR="0" marT="0" marB="252000">
                    <a:lnL>
                      <a:noFill/>
                    </a:lnL>
                    <a:lnR>
                      <a:noFill/>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ts val="1600"/>
                        </a:lnSpc>
                        <a:spcBef>
                          <a:spcPts val="1600"/>
                        </a:spcBef>
                        <a:spcAft>
                          <a:spcPts val="300"/>
                        </a:spcAft>
                      </a:pPr>
                      <a:r>
                        <a:rPr lang="de-DE" sz="1100" b="1" kern="1200" dirty="0">
                          <a:solidFill>
                            <a:schemeClr val="accent1"/>
                          </a:solidFill>
                          <a:latin typeface="+mj-lt"/>
                          <a:ea typeface="+mn-ea"/>
                          <a:cs typeface="+mn-cs"/>
                        </a:rPr>
                        <a:t>Laufende Unterlagen</a:t>
                      </a:r>
                    </a:p>
                    <a:p>
                      <a:pPr marL="0" algn="l" defTabSz="783001" rtl="0" eaLnBrk="1" latinLnBrk="0" hangingPunct="1">
                        <a:lnSpc>
                          <a:spcPts val="1600"/>
                        </a:lnSpc>
                      </a:pPr>
                      <a:r>
                        <a:rPr lang="de-DE" sz="1100" kern="1200" dirty="0">
                          <a:solidFill>
                            <a:schemeClr val="tx1"/>
                          </a:solidFill>
                          <a:latin typeface="+mn-lt"/>
                          <a:ea typeface="+mn-ea"/>
                          <a:cs typeface="+mn-cs"/>
                        </a:rPr>
                        <a:t>Nach jeder Wertpapiertransaktion </a:t>
                      </a:r>
                    </a:p>
                    <a:p>
                      <a:pPr marL="0" algn="l" defTabSz="783001" rtl="0" eaLnBrk="1" latinLnBrk="0" hangingPunct="1">
                        <a:lnSpc>
                          <a:spcPts val="1600"/>
                        </a:lnSpc>
                      </a:pPr>
                      <a:r>
                        <a:rPr lang="de-DE" sz="1100" kern="1200" dirty="0">
                          <a:solidFill>
                            <a:schemeClr val="tx1"/>
                          </a:solidFill>
                          <a:latin typeface="+mn-lt"/>
                          <a:ea typeface="+mn-ea"/>
                          <a:cs typeface="+mn-cs"/>
                        </a:rPr>
                        <a:t>und Ertragsausschüttung erhalten </a:t>
                      </a:r>
                    </a:p>
                    <a:p>
                      <a:pPr marL="0" algn="l" defTabSz="783001" rtl="0" eaLnBrk="1" latinLnBrk="0" hangingPunct="1">
                        <a:lnSpc>
                          <a:spcPts val="1600"/>
                        </a:lnSpc>
                      </a:pPr>
                      <a:r>
                        <a:rPr lang="de-DE" sz="1100" kern="1200" dirty="0">
                          <a:solidFill>
                            <a:schemeClr val="tx1"/>
                          </a:solidFill>
                          <a:latin typeface="+mn-lt"/>
                          <a:ea typeface="+mn-ea"/>
                          <a:cs typeface="+mn-cs"/>
                        </a:rPr>
                        <a:t>Sie eine entsprechende </a:t>
                      </a:r>
                      <a:r>
                        <a:rPr lang="de-DE" sz="1100" kern="1200" dirty="0" err="1">
                          <a:solidFill>
                            <a:schemeClr val="tx1"/>
                          </a:solidFill>
                          <a:latin typeface="+mn-lt"/>
                          <a:ea typeface="+mn-ea"/>
                          <a:cs typeface="+mn-cs"/>
                        </a:rPr>
                        <a:t>Dokumen</a:t>
                      </a:r>
                      <a:r>
                        <a:rPr lang="de-DE" sz="1100" kern="1200" dirty="0">
                          <a:solidFill>
                            <a:schemeClr val="tx1"/>
                          </a:solidFill>
                          <a:latin typeface="+mn-lt"/>
                          <a:ea typeface="+mn-ea"/>
                          <a:cs typeface="+mn-cs"/>
                        </a:rPr>
                        <a:t>-</a:t>
                      </a:r>
                    </a:p>
                    <a:p>
                      <a:pPr marL="0" algn="l" defTabSz="783001" rtl="0" eaLnBrk="1" latinLnBrk="0" hangingPunct="1">
                        <a:lnSpc>
                          <a:spcPts val="1600"/>
                        </a:lnSpc>
                      </a:pPr>
                      <a:r>
                        <a:rPr lang="de-DE" sz="1100" kern="1200" dirty="0" err="1">
                          <a:solidFill>
                            <a:schemeClr val="tx1"/>
                          </a:solidFill>
                          <a:latin typeface="+mn-lt"/>
                          <a:ea typeface="+mn-ea"/>
                          <a:cs typeface="+mn-cs"/>
                        </a:rPr>
                        <a:t>tation</a:t>
                      </a:r>
                      <a:r>
                        <a:rPr lang="de-DE" sz="1100" kern="1200" dirty="0">
                          <a:solidFill>
                            <a:schemeClr val="tx1"/>
                          </a:solidFill>
                          <a:latin typeface="+mn-lt"/>
                          <a:ea typeface="+mn-ea"/>
                          <a:cs typeface="+mn-cs"/>
                        </a:rPr>
                        <a:t> zugesandt. Kontoauszüge </a:t>
                      </a:r>
                    </a:p>
                    <a:p>
                      <a:pPr marL="0" algn="l" defTabSz="783001" rtl="0" eaLnBrk="1" latinLnBrk="0" hangingPunct="1">
                        <a:lnSpc>
                          <a:spcPts val="1600"/>
                        </a:lnSpc>
                      </a:pPr>
                      <a:r>
                        <a:rPr lang="de-DE" sz="1100" kern="1200" dirty="0">
                          <a:solidFill>
                            <a:schemeClr val="tx1"/>
                          </a:solidFill>
                          <a:latin typeface="+mn-lt"/>
                          <a:ea typeface="+mn-ea"/>
                          <a:cs typeface="+mn-cs"/>
                        </a:rPr>
                        <a:t>werden monatlich erstellt. Somit </a:t>
                      </a:r>
                    </a:p>
                    <a:p>
                      <a:pPr marL="0" algn="l" defTabSz="783001" rtl="0" eaLnBrk="1" latinLnBrk="0" hangingPunct="1">
                        <a:lnSpc>
                          <a:spcPts val="1600"/>
                        </a:lnSpc>
                      </a:pPr>
                      <a:r>
                        <a:rPr lang="de-DE" sz="1100" kern="1200" dirty="0">
                          <a:solidFill>
                            <a:schemeClr val="tx1"/>
                          </a:solidFill>
                          <a:latin typeface="+mn-lt"/>
                          <a:ea typeface="+mn-ea"/>
                          <a:cs typeface="+mn-cs"/>
                        </a:rPr>
                        <a:t>ist für Sie ein hohes Maß an Trans-</a:t>
                      </a:r>
                    </a:p>
                    <a:p>
                      <a:pPr marL="0" algn="l" defTabSz="783001" rtl="0" eaLnBrk="1" latinLnBrk="0" hangingPunct="1">
                        <a:lnSpc>
                          <a:spcPts val="1600"/>
                        </a:lnSpc>
                      </a:pPr>
                      <a:r>
                        <a:rPr lang="de-DE" sz="1100" kern="1200" dirty="0" err="1">
                          <a:solidFill>
                            <a:schemeClr val="tx1"/>
                          </a:solidFill>
                          <a:latin typeface="+mn-lt"/>
                          <a:ea typeface="+mn-ea"/>
                          <a:cs typeface="+mn-cs"/>
                        </a:rPr>
                        <a:t>parenz</a:t>
                      </a:r>
                      <a:r>
                        <a:rPr lang="de-DE" sz="1100" kern="1200" dirty="0">
                          <a:solidFill>
                            <a:schemeClr val="tx1"/>
                          </a:solidFill>
                          <a:latin typeface="+mn-lt"/>
                          <a:ea typeface="+mn-ea"/>
                          <a:cs typeface="+mn-cs"/>
                        </a:rPr>
                        <a:t> gewährleistet.</a:t>
                      </a:r>
                    </a:p>
                  </a:txBody>
                  <a:tcPr marL="0" marR="0" marT="0" marB="252000">
                    <a:lnL>
                      <a:noFill/>
                    </a:lnL>
                    <a:lnB w="381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368564331"/>
                  </a:ext>
                </a:extLst>
              </a:tr>
            </a:tbl>
          </a:graphicData>
        </a:graphic>
      </p:graphicFrame>
      <p:sp>
        <p:nvSpPr>
          <p:cNvPr id="4" name="Titel">
            <a:extLst>
              <a:ext uri="{FF2B5EF4-FFF2-40B4-BE49-F238E27FC236}">
                <a16:creationId xmlns:a16="http://schemas.microsoft.com/office/drawing/2014/main" id="{963F2082-086E-D3BA-BA43-2CBC2A491BF6}"/>
              </a:ext>
            </a:extLst>
          </p:cNvPr>
          <p:cNvSpPr>
            <a:spLocks noGrp="1" noRot="1" noMove="1" noResize="1" noEditPoints="1" noAdjustHandles="1" noChangeArrowheads="1" noChangeShapeType="1"/>
          </p:cNvSpPr>
          <p:nvPr>
            <p:ph type="title"/>
          </p:nvPr>
        </p:nvSpPr>
        <p:spPr/>
        <p:txBody>
          <a:bodyPr/>
          <a:lstStyle/>
          <a:p>
            <a:r>
              <a:rPr lang="de-DE" dirty="0"/>
              <a:t>Unser Service</a:t>
            </a:r>
          </a:p>
        </p:txBody>
      </p:sp>
    </p:spTree>
    <p:extLst>
      <p:ext uri="{BB962C8B-B14F-4D97-AF65-F5344CB8AC3E}">
        <p14:creationId xmlns:p14="http://schemas.microsoft.com/office/powerpoint/2010/main" val="35931892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61E7A324-9C97-4CF9-6D1E-8FF8558C8AC4}"/>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29</a:t>
            </a:fld>
            <a:endParaRPr lang="de-DE"/>
          </a:p>
        </p:txBody>
      </p:sp>
      <p:sp>
        <p:nvSpPr>
          <p:cNvPr id="5" name="Text">
            <a:extLst>
              <a:ext uri="{FF2B5EF4-FFF2-40B4-BE49-F238E27FC236}">
                <a16:creationId xmlns:a16="http://schemas.microsoft.com/office/drawing/2014/main" id="{409D5D81-50B2-B91D-3250-6938778F228B}"/>
              </a:ext>
            </a:extLst>
          </p:cNvPr>
          <p:cNvSpPr>
            <a:spLocks noGrp="1" noRot="1" noMove="1" noResize="1" noEditPoints="1" noAdjustHandles="1" noChangeArrowheads="1" noChangeShapeType="1"/>
          </p:cNvSpPr>
          <p:nvPr>
            <p:ph sz="quarter" idx="13"/>
          </p:nvPr>
        </p:nvSpPr>
        <p:spPr/>
        <p:txBody>
          <a:bodyPr/>
          <a:lstStyle/>
          <a:p>
            <a:r>
              <a:rPr lang="de-DE" dirty="0"/>
              <a:t>Wesentliche Finanzkennzahlen auf einen Blick (Dezember 2025)</a:t>
            </a:r>
          </a:p>
          <a:p>
            <a:pPr lvl="1"/>
            <a:r>
              <a:rPr lang="de-DE" dirty="0"/>
              <a:t>Bilanzsumme 	</a:t>
            </a:r>
            <a:r>
              <a:rPr lang="de-DE" b="1" dirty="0"/>
              <a:t>623,0 Mio. EUR</a:t>
            </a:r>
          </a:p>
          <a:p>
            <a:pPr lvl="1"/>
            <a:r>
              <a:rPr lang="de-DE" dirty="0"/>
              <a:t>Assets </a:t>
            </a:r>
            <a:r>
              <a:rPr lang="de-DE" dirty="0" err="1"/>
              <a:t>under</a:t>
            </a:r>
            <a:r>
              <a:rPr lang="de-DE" dirty="0"/>
              <a:t> Control 	</a:t>
            </a:r>
            <a:r>
              <a:rPr lang="de-DE" b="1" dirty="0"/>
              <a:t>7.358 Mio. EUR</a:t>
            </a:r>
          </a:p>
          <a:p>
            <a:pPr lvl="1"/>
            <a:r>
              <a:rPr lang="de-DE" dirty="0"/>
              <a:t>EK-Rendite (vor Steuern) 	</a:t>
            </a:r>
            <a:r>
              <a:rPr lang="de-DE" b="1" dirty="0"/>
              <a:t>34,1 %</a:t>
            </a:r>
          </a:p>
          <a:p>
            <a:pPr lvl="1"/>
            <a:r>
              <a:rPr lang="de-DE" dirty="0"/>
              <a:t>Mitarbeiter 	</a:t>
            </a:r>
            <a:r>
              <a:rPr lang="de-DE" b="1" dirty="0"/>
              <a:t>146</a:t>
            </a:r>
          </a:p>
        </p:txBody>
      </p:sp>
      <p:graphicFrame>
        <p:nvGraphicFramePr>
          <p:cNvPr id="8" name="Diagramm">
            <a:extLst>
              <a:ext uri="{FF2B5EF4-FFF2-40B4-BE49-F238E27FC236}">
                <a16:creationId xmlns:a16="http://schemas.microsoft.com/office/drawing/2014/main" id="{2269D18A-084D-CF8E-2840-F21732DB7395}"/>
              </a:ext>
            </a:extLst>
          </p:cNvPr>
          <p:cNvGraphicFramePr>
            <a:graphicFrameLocks noGrp="1"/>
          </p:cNvGraphicFramePr>
          <p:nvPr>
            <p:ph idx="1"/>
          </p:nvPr>
        </p:nvGraphicFramePr>
        <p:xfrm>
          <a:off x="5327650" y="1411288"/>
          <a:ext cx="4787900" cy="2898775"/>
        </p:xfrm>
        <a:graphic>
          <a:graphicData uri="http://schemas.openxmlformats.org/drawingml/2006/chart">
            <c:chart xmlns:c="http://schemas.openxmlformats.org/drawingml/2006/chart" xmlns:r="http://schemas.openxmlformats.org/officeDocument/2006/relationships" r:id="rId2"/>
          </a:graphicData>
        </a:graphic>
      </p:graphicFrame>
      <p:sp>
        <p:nvSpPr>
          <p:cNvPr id="4" name="Titel">
            <a:extLst>
              <a:ext uri="{FF2B5EF4-FFF2-40B4-BE49-F238E27FC236}">
                <a16:creationId xmlns:a16="http://schemas.microsoft.com/office/drawing/2014/main" id="{43EB0369-5EB3-7532-2044-CF944BBC884F}"/>
              </a:ext>
            </a:extLst>
          </p:cNvPr>
          <p:cNvSpPr>
            <a:spLocks noGrp="1" noRot="1" noMove="1" noResize="1" noEditPoints="1" noAdjustHandles="1" noChangeArrowheads="1" noChangeShapeType="1"/>
          </p:cNvSpPr>
          <p:nvPr>
            <p:ph type="title"/>
          </p:nvPr>
        </p:nvSpPr>
        <p:spPr/>
        <p:txBody>
          <a:bodyPr/>
          <a:lstStyle/>
          <a:p>
            <a:r>
              <a:rPr lang="de-DE" dirty="0"/>
              <a:t>Unsere Bank in Zahlen</a:t>
            </a:r>
          </a:p>
        </p:txBody>
      </p:sp>
    </p:spTree>
    <p:extLst>
      <p:ext uri="{BB962C8B-B14F-4D97-AF65-F5344CB8AC3E}">
        <p14:creationId xmlns:p14="http://schemas.microsoft.com/office/powerpoint/2010/main" val="4808557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2A240027-3618-5377-C1BF-84267D7D2DE0}"/>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30</a:t>
            </a:fld>
            <a:endParaRPr lang="de-DE"/>
          </a:p>
        </p:txBody>
      </p:sp>
      <p:sp>
        <p:nvSpPr>
          <p:cNvPr id="3" name="Text rechts">
            <a:extLst>
              <a:ext uri="{FF2B5EF4-FFF2-40B4-BE49-F238E27FC236}">
                <a16:creationId xmlns:a16="http://schemas.microsoft.com/office/drawing/2014/main" id="{2A7ADAC9-BDE1-2830-3617-7BFE317ACBE1}"/>
              </a:ext>
            </a:extLst>
          </p:cNvPr>
          <p:cNvSpPr>
            <a:spLocks noGrp="1" noRot="1" noMove="1" noResize="1" noEditPoints="1" noAdjustHandles="1" noChangeArrowheads="1" noChangeShapeType="1"/>
          </p:cNvSpPr>
          <p:nvPr>
            <p:ph type="body" sz="quarter" idx="18"/>
          </p:nvPr>
        </p:nvSpPr>
        <p:spPr/>
        <p:txBody>
          <a:bodyPr/>
          <a:lstStyle/>
          <a:p>
            <a:r>
              <a:rPr lang="de-DE" dirty="0"/>
              <a:t>Abteilungsdirektor</a:t>
            </a:r>
            <a:br>
              <a:rPr lang="de-DE" dirty="0"/>
            </a:br>
            <a:r>
              <a:rPr lang="de-DE" dirty="0"/>
              <a:t>Private Banking Augsburg</a:t>
            </a:r>
          </a:p>
          <a:p>
            <a:r>
              <a:rPr lang="de-DE" dirty="0"/>
              <a:t>Telefon: +49 821 3201 128</a:t>
            </a:r>
            <a:br>
              <a:rPr lang="de-DE" dirty="0"/>
            </a:br>
            <a:r>
              <a:rPr lang="de-DE" dirty="0"/>
              <a:t>Mobil: +49 162 2157890</a:t>
            </a:r>
            <a:br>
              <a:rPr lang="de-DE" dirty="0"/>
            </a:br>
            <a:r>
              <a:rPr lang="de-DE" dirty="0"/>
              <a:t>Mail: christoph.balleis@fuggerbank.de</a:t>
            </a:r>
          </a:p>
        </p:txBody>
      </p:sp>
      <p:sp>
        <p:nvSpPr>
          <p:cNvPr id="4" name="Text links">
            <a:extLst>
              <a:ext uri="{FF2B5EF4-FFF2-40B4-BE49-F238E27FC236}">
                <a16:creationId xmlns:a16="http://schemas.microsoft.com/office/drawing/2014/main" id="{8D7EA6C0-2865-B71D-0A55-63B623C686B4}"/>
              </a:ext>
            </a:extLst>
          </p:cNvPr>
          <p:cNvSpPr>
            <a:spLocks noGrp="1" noRot="1" noMove="1" noResize="1" noEditPoints="1" noAdjustHandles="1" noChangeArrowheads="1" noChangeShapeType="1"/>
          </p:cNvSpPr>
          <p:nvPr>
            <p:ph type="body" sz="quarter" idx="17"/>
          </p:nvPr>
        </p:nvSpPr>
        <p:spPr/>
        <p:txBody>
          <a:bodyPr/>
          <a:lstStyle/>
          <a:p>
            <a:r>
              <a:rPr lang="de-DE" dirty="0"/>
              <a:t>Niederlassungsleiter Augsburg</a:t>
            </a:r>
            <a:br>
              <a:rPr lang="de-DE" dirty="0"/>
            </a:br>
            <a:r>
              <a:rPr lang="de-DE" dirty="0"/>
              <a:t>Private Banking Augsburg</a:t>
            </a:r>
          </a:p>
          <a:p>
            <a:r>
              <a:rPr lang="de-DE" dirty="0"/>
              <a:t>Telefon: +49 821 3201 217</a:t>
            </a:r>
            <a:br>
              <a:rPr lang="de-DE" dirty="0"/>
            </a:br>
            <a:r>
              <a:rPr lang="de-DE" dirty="0"/>
              <a:t>Mobil: +49 172 8583562</a:t>
            </a:r>
            <a:br>
              <a:rPr lang="de-DE" dirty="0"/>
            </a:br>
            <a:r>
              <a:rPr lang="de-DE" dirty="0"/>
              <a:t>Mail: alexander.wagner@fuggerbank.de</a:t>
            </a:r>
          </a:p>
        </p:txBody>
      </p:sp>
      <p:sp>
        <p:nvSpPr>
          <p:cNvPr id="5" name="Name rechts">
            <a:extLst>
              <a:ext uri="{FF2B5EF4-FFF2-40B4-BE49-F238E27FC236}">
                <a16:creationId xmlns:a16="http://schemas.microsoft.com/office/drawing/2014/main" id="{760A462F-C26C-20B1-0420-735E5E81EFCA}"/>
              </a:ext>
            </a:extLst>
          </p:cNvPr>
          <p:cNvSpPr>
            <a:spLocks noGrp="1" noRot="1" noMove="1" noResize="1" noEditPoints="1" noAdjustHandles="1" noChangeArrowheads="1" noChangeShapeType="1"/>
          </p:cNvSpPr>
          <p:nvPr>
            <p:ph type="body" sz="quarter" idx="16"/>
          </p:nvPr>
        </p:nvSpPr>
        <p:spPr/>
        <p:txBody>
          <a:bodyPr/>
          <a:lstStyle/>
          <a:p>
            <a:r>
              <a:rPr lang="de-DE" dirty="0"/>
              <a:t>Christoph </a:t>
            </a:r>
            <a:r>
              <a:rPr lang="de-DE" dirty="0" err="1"/>
              <a:t>Balleis</a:t>
            </a:r>
            <a:endParaRPr lang="de-DE" dirty="0"/>
          </a:p>
        </p:txBody>
      </p:sp>
      <p:sp>
        <p:nvSpPr>
          <p:cNvPr id="6" name="Name links">
            <a:extLst>
              <a:ext uri="{FF2B5EF4-FFF2-40B4-BE49-F238E27FC236}">
                <a16:creationId xmlns:a16="http://schemas.microsoft.com/office/drawing/2014/main" id="{6923F674-7D62-E4F6-AAB9-EA49027A281A}"/>
              </a:ext>
            </a:extLst>
          </p:cNvPr>
          <p:cNvSpPr>
            <a:spLocks noGrp="1" noRot="1" noMove="1" noResize="1" noEditPoints="1" noAdjustHandles="1" noChangeArrowheads="1" noChangeShapeType="1"/>
          </p:cNvSpPr>
          <p:nvPr>
            <p:ph type="body" sz="quarter" idx="15"/>
          </p:nvPr>
        </p:nvSpPr>
        <p:spPr/>
        <p:txBody>
          <a:bodyPr/>
          <a:lstStyle/>
          <a:p>
            <a:r>
              <a:rPr lang="de-DE" dirty="0"/>
              <a:t>Alexander Wagner</a:t>
            </a:r>
          </a:p>
        </p:txBody>
      </p:sp>
      <p:pic>
        <p:nvPicPr>
          <p:cNvPr id="13" name="Bild rechts">
            <a:extLst>
              <a:ext uri="{FF2B5EF4-FFF2-40B4-BE49-F238E27FC236}">
                <a16:creationId xmlns:a16="http://schemas.microsoft.com/office/drawing/2014/main" id="{B233D1E0-8BD9-3413-54DB-1255B85E6766}"/>
              </a:ext>
            </a:extLst>
          </p:cNvPr>
          <p:cNvPicPr>
            <a:picLocks noGrp="1" noRot="1" noChangeAspect="1" noMove="1" noResize="1" noEditPoints="1" noAdjustHandles="1" noChangeArrowheads="1" noChangeShapeType="1" noCrop="1"/>
          </p:cNvPicPr>
          <p:nvPr>
            <p:ph type="pic" sz="quarter" idx="14"/>
          </p:nvPr>
        </p:nvPicPr>
        <p:blipFill>
          <a:blip r:embed="rId2">
            <a:extLst>
              <a:ext uri="{28A0092B-C50C-407E-A947-70E740481C1C}">
                <a14:useLocalDpi xmlns:a14="http://schemas.microsoft.com/office/drawing/2010/main" val="0"/>
              </a:ext>
            </a:extLst>
          </a:blip>
          <a:srcRect t="1222" b="1222"/>
          <a:stretch>
            <a:fillRect/>
          </a:stretch>
        </p:blipFill>
        <p:spPr/>
      </p:pic>
      <p:pic>
        <p:nvPicPr>
          <p:cNvPr id="11" name="Bild links">
            <a:extLst>
              <a:ext uri="{FF2B5EF4-FFF2-40B4-BE49-F238E27FC236}">
                <a16:creationId xmlns:a16="http://schemas.microsoft.com/office/drawing/2014/main" id="{D371DB5B-FBDA-847D-764A-0E89AFAF0CD4}"/>
              </a:ext>
            </a:extLst>
          </p:cNvPr>
          <p:cNvPicPr>
            <a:picLocks noGrp="1" noRot="1" noChangeAspect="1" noMove="1" noResize="1" noEditPoints="1" noAdjustHandles="1" noChangeArrowheads="1" noChangeShapeType="1" noCrop="1"/>
          </p:cNvPicPr>
          <p:nvPr>
            <p:ph type="pic" sz="quarter" idx="13"/>
          </p:nvPr>
        </p:nvPicPr>
        <p:blipFill>
          <a:blip r:embed="rId3">
            <a:extLst>
              <a:ext uri="{28A0092B-C50C-407E-A947-70E740481C1C}">
                <a14:useLocalDpi xmlns:a14="http://schemas.microsoft.com/office/drawing/2010/main" val="0"/>
              </a:ext>
            </a:extLst>
          </a:blip>
          <a:srcRect t="1222" b="1222"/>
          <a:stretch>
            <a:fillRect/>
          </a:stretch>
        </p:blipFill>
        <p:spPr/>
      </p:pic>
      <p:sp>
        <p:nvSpPr>
          <p:cNvPr id="9" name="Titel">
            <a:extLst>
              <a:ext uri="{FF2B5EF4-FFF2-40B4-BE49-F238E27FC236}">
                <a16:creationId xmlns:a16="http://schemas.microsoft.com/office/drawing/2014/main" id="{906F2124-5E0A-DB8A-390A-200076A38445}"/>
              </a:ext>
            </a:extLst>
          </p:cNvPr>
          <p:cNvSpPr>
            <a:spLocks noGrp="1" noRot="1" noMove="1" noResize="1" noEditPoints="1" noAdjustHandles="1" noChangeArrowheads="1" noChangeShapeType="1"/>
          </p:cNvSpPr>
          <p:nvPr>
            <p:ph type="title"/>
          </p:nvPr>
        </p:nvSpPr>
        <p:spPr/>
        <p:txBody>
          <a:bodyPr/>
          <a:lstStyle/>
          <a:p>
            <a:r>
              <a:rPr lang="de-DE" dirty="0"/>
              <a:t>Ihre Ansprechpartner</a:t>
            </a:r>
            <a:br>
              <a:rPr lang="de-DE" dirty="0"/>
            </a:br>
            <a:r>
              <a:rPr lang="de-DE" dirty="0"/>
              <a:t>für den Vertrieb</a:t>
            </a:r>
          </a:p>
        </p:txBody>
      </p:sp>
    </p:spTree>
    <p:extLst>
      <p:ext uri="{BB962C8B-B14F-4D97-AF65-F5344CB8AC3E}">
        <p14:creationId xmlns:p14="http://schemas.microsoft.com/office/powerpoint/2010/main" val="67950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F16CDBE5-4FA6-3515-64ED-F86521DA4866}"/>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31</a:t>
            </a:fld>
            <a:endParaRPr lang="de-DE"/>
          </a:p>
        </p:txBody>
      </p:sp>
      <p:sp>
        <p:nvSpPr>
          <p:cNvPr id="11" name="Text rechts">
            <a:extLst>
              <a:ext uri="{FF2B5EF4-FFF2-40B4-BE49-F238E27FC236}">
                <a16:creationId xmlns:a16="http://schemas.microsoft.com/office/drawing/2014/main" id="{7C5AAA80-0D5B-6BA4-5A77-643F348D60D6}"/>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Friedrichsplatz 17 </a:t>
            </a:r>
            <a:br>
              <a:rPr lang="de-DE" dirty="0"/>
            </a:br>
            <a:r>
              <a:rPr lang="de-DE" dirty="0"/>
              <a:t>68165 Mannheim</a:t>
            </a:r>
          </a:p>
          <a:p>
            <a:r>
              <a:rPr lang="de-DE" dirty="0"/>
              <a:t>Telefon: +49 621 430905 0 </a:t>
            </a:r>
            <a:br>
              <a:rPr lang="de-DE" dirty="0"/>
            </a:br>
            <a:r>
              <a:rPr lang="de-DE" dirty="0"/>
              <a:t>Mail: private.banking.mannheim@fuggerbank.de</a:t>
            </a:r>
          </a:p>
        </p:txBody>
      </p:sp>
      <p:sp>
        <p:nvSpPr>
          <p:cNvPr id="3" name="Text mitte">
            <a:extLst>
              <a:ext uri="{FF2B5EF4-FFF2-40B4-BE49-F238E27FC236}">
                <a16:creationId xmlns:a16="http://schemas.microsoft.com/office/drawing/2014/main" id="{7965C01C-C4C9-7CDF-E9BF-690EDE0416FA}"/>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dirty="0"/>
              <a:t>Im Zollhafen 24</a:t>
            </a:r>
            <a:br>
              <a:rPr lang="de-DE" dirty="0"/>
            </a:br>
            <a:r>
              <a:rPr lang="de-DE" dirty="0"/>
              <a:t>50678 Köln </a:t>
            </a:r>
          </a:p>
          <a:p>
            <a:r>
              <a:rPr lang="de-DE" dirty="0"/>
              <a:t>Telefon: +49 221 206544 20 </a:t>
            </a:r>
            <a:br>
              <a:rPr lang="de-DE" dirty="0"/>
            </a:br>
            <a:r>
              <a:rPr lang="de-DE" dirty="0"/>
              <a:t>Mail: private.banking.koeln@fuggerbank.de</a:t>
            </a:r>
          </a:p>
        </p:txBody>
      </p:sp>
      <p:sp>
        <p:nvSpPr>
          <p:cNvPr id="4" name="Text links">
            <a:extLst>
              <a:ext uri="{FF2B5EF4-FFF2-40B4-BE49-F238E27FC236}">
                <a16:creationId xmlns:a16="http://schemas.microsoft.com/office/drawing/2014/main" id="{45E2C8C1-9839-2531-AC40-4C0A6C0A06BB}"/>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a:t>Maximilianstraße 38</a:t>
            </a:r>
            <a:br>
              <a:rPr lang="de-DE" dirty="0"/>
            </a:br>
            <a:r>
              <a:rPr lang="de-DE" dirty="0"/>
              <a:t>86150 Augsburg</a:t>
            </a:r>
          </a:p>
          <a:p>
            <a:r>
              <a:rPr lang="de-DE" dirty="0"/>
              <a:t>Telefon: +49 821 3201 999</a:t>
            </a:r>
            <a:br>
              <a:rPr lang="de-DE" dirty="0"/>
            </a:br>
            <a:r>
              <a:rPr lang="de-DE" dirty="0"/>
              <a:t>Mail: private.banking.augsburg@fuggerbank.de</a:t>
            </a:r>
          </a:p>
        </p:txBody>
      </p:sp>
      <p:sp>
        <p:nvSpPr>
          <p:cNvPr id="12" name="Name rechts">
            <a:extLst>
              <a:ext uri="{FF2B5EF4-FFF2-40B4-BE49-F238E27FC236}">
                <a16:creationId xmlns:a16="http://schemas.microsoft.com/office/drawing/2014/main" id="{E67E6A22-9F9B-E8AA-25D5-32F5FCA94531}"/>
              </a:ext>
            </a:extLst>
          </p:cNvPr>
          <p:cNvSpPr>
            <a:spLocks noGrp="1" noRot="1" noMove="1" noResize="1" noEditPoints="1" noAdjustHandles="1" noChangeArrowheads="1" noChangeShapeType="1"/>
          </p:cNvSpPr>
          <p:nvPr>
            <p:ph type="body" sz="quarter" idx="22"/>
          </p:nvPr>
        </p:nvSpPr>
        <p:spPr/>
        <p:txBody>
          <a:bodyPr/>
          <a:lstStyle/>
          <a:p>
            <a:r>
              <a:rPr lang="de-DE" dirty="0"/>
              <a:t>Standort Mannheim</a:t>
            </a:r>
          </a:p>
        </p:txBody>
      </p:sp>
      <p:sp>
        <p:nvSpPr>
          <p:cNvPr id="5" name="Name mitte">
            <a:extLst>
              <a:ext uri="{FF2B5EF4-FFF2-40B4-BE49-F238E27FC236}">
                <a16:creationId xmlns:a16="http://schemas.microsoft.com/office/drawing/2014/main" id="{2DD0505B-E35A-0974-CBC6-D4668134FD81}"/>
              </a:ext>
            </a:extLst>
          </p:cNvPr>
          <p:cNvSpPr>
            <a:spLocks noGrp="1" noRot="1" noMove="1" noResize="1" noEditPoints="1" noAdjustHandles="1" noChangeArrowheads="1" noChangeShapeType="1"/>
          </p:cNvSpPr>
          <p:nvPr>
            <p:ph type="body" sz="quarter" idx="16"/>
          </p:nvPr>
        </p:nvSpPr>
        <p:spPr/>
        <p:txBody>
          <a:bodyPr/>
          <a:lstStyle/>
          <a:p>
            <a:r>
              <a:rPr lang="de-DE" dirty="0"/>
              <a:t>Standort Köln</a:t>
            </a:r>
          </a:p>
        </p:txBody>
      </p:sp>
      <p:sp>
        <p:nvSpPr>
          <p:cNvPr id="6" name="Name links">
            <a:extLst>
              <a:ext uri="{FF2B5EF4-FFF2-40B4-BE49-F238E27FC236}">
                <a16:creationId xmlns:a16="http://schemas.microsoft.com/office/drawing/2014/main" id="{92BAED04-BBE1-879D-AE8C-D1343B89F6B9}"/>
              </a:ext>
            </a:extLst>
          </p:cNvPr>
          <p:cNvSpPr>
            <a:spLocks noGrp="1" noRot="1" noMove="1" noResize="1" noEditPoints="1" noAdjustHandles="1" noChangeArrowheads="1" noChangeShapeType="1"/>
          </p:cNvSpPr>
          <p:nvPr>
            <p:ph type="body" sz="quarter" idx="15"/>
          </p:nvPr>
        </p:nvSpPr>
        <p:spPr/>
        <p:txBody>
          <a:bodyPr/>
          <a:lstStyle/>
          <a:p>
            <a:r>
              <a:rPr lang="de-DE" dirty="0"/>
              <a:t>Standort Augsburg</a:t>
            </a:r>
          </a:p>
        </p:txBody>
      </p:sp>
      <p:pic>
        <p:nvPicPr>
          <p:cNvPr id="18" name="Bild rechts">
            <a:extLst>
              <a:ext uri="{FF2B5EF4-FFF2-40B4-BE49-F238E27FC236}">
                <a16:creationId xmlns:a16="http://schemas.microsoft.com/office/drawing/2014/main" id="{721B5171-693C-1389-1941-32A8C742C50F}"/>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4239" r="14239"/>
          <a:stretch>
            <a:fillRect/>
          </a:stretch>
        </p:blipFill>
        <p:spPr/>
      </p:pic>
      <p:pic>
        <p:nvPicPr>
          <p:cNvPr id="16" name="Bild mitte">
            <a:extLst>
              <a:ext uri="{FF2B5EF4-FFF2-40B4-BE49-F238E27FC236}">
                <a16:creationId xmlns:a16="http://schemas.microsoft.com/office/drawing/2014/main" id="{964CDC76-CFD5-014E-FA4D-A4FEC626AB6D}"/>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99" r="16699"/>
          <a:stretch>
            <a:fillRect/>
          </a:stretch>
        </p:blipFill>
        <p:spPr/>
      </p:pic>
      <p:pic>
        <p:nvPicPr>
          <p:cNvPr id="14" name="Bild links">
            <a:extLst>
              <a:ext uri="{FF2B5EF4-FFF2-40B4-BE49-F238E27FC236}">
                <a16:creationId xmlns:a16="http://schemas.microsoft.com/office/drawing/2014/main" id="{22B882D9-62F0-8BC8-EC01-CC7490F65857}"/>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35" r="16635"/>
          <a:stretch>
            <a:fillRect/>
          </a:stretch>
        </p:blipFill>
        <p:spPr/>
      </p:pic>
      <p:sp>
        <p:nvSpPr>
          <p:cNvPr id="8" name="Titel">
            <a:extLst>
              <a:ext uri="{FF2B5EF4-FFF2-40B4-BE49-F238E27FC236}">
                <a16:creationId xmlns:a16="http://schemas.microsoft.com/office/drawing/2014/main" id="{99AA23C9-5767-BA3A-A8E3-7815F50ACF63}"/>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28641177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A3B8814F-D1D8-2D28-64B5-ED0BAA73071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32</a:t>
            </a:fld>
            <a:endParaRPr lang="de-DE"/>
          </a:p>
        </p:txBody>
      </p:sp>
      <p:sp>
        <p:nvSpPr>
          <p:cNvPr id="11" name="Text rechts">
            <a:extLst>
              <a:ext uri="{FF2B5EF4-FFF2-40B4-BE49-F238E27FC236}">
                <a16:creationId xmlns:a16="http://schemas.microsoft.com/office/drawing/2014/main" id="{17ED16B6-3864-0319-682D-5404B527792F}"/>
              </a:ext>
            </a:extLst>
          </p:cNvPr>
          <p:cNvSpPr>
            <a:spLocks noGrp="1" noRot="1" noMove="1" noResize="1" noEditPoints="1" noAdjustHandles="1" noChangeArrowheads="1" noChangeShapeType="1"/>
          </p:cNvSpPr>
          <p:nvPr>
            <p:ph type="body" sz="quarter" idx="21"/>
          </p:nvPr>
        </p:nvSpPr>
        <p:spPr/>
        <p:txBody>
          <a:bodyPr/>
          <a:lstStyle/>
          <a:p>
            <a:r>
              <a:rPr lang="de-DE" dirty="0"/>
              <a:t>Fürst Fugger Privatbank </a:t>
            </a:r>
            <a:br>
              <a:rPr lang="de-DE" dirty="0"/>
            </a:br>
            <a:r>
              <a:rPr lang="de-DE" dirty="0"/>
              <a:t>Theodor-Heuss-Str. 9 </a:t>
            </a:r>
            <a:br>
              <a:rPr lang="de-DE" dirty="0"/>
            </a:br>
            <a:r>
              <a:rPr lang="de-DE" dirty="0"/>
              <a:t>70174 Stuttgart</a:t>
            </a:r>
          </a:p>
          <a:p>
            <a:r>
              <a:rPr lang="de-DE" dirty="0"/>
              <a:t>Telefon: +49 711 870359 0 </a:t>
            </a:r>
            <a:br>
              <a:rPr lang="de-DE" dirty="0"/>
            </a:br>
            <a:r>
              <a:rPr lang="de-DE" dirty="0"/>
              <a:t>Mail: private.banking.stuttgart@fuggerbank.de</a:t>
            </a:r>
          </a:p>
        </p:txBody>
      </p:sp>
      <p:sp>
        <p:nvSpPr>
          <p:cNvPr id="3" name="Text mitte">
            <a:extLst>
              <a:ext uri="{FF2B5EF4-FFF2-40B4-BE49-F238E27FC236}">
                <a16:creationId xmlns:a16="http://schemas.microsoft.com/office/drawing/2014/main" id="{2FA3669C-AD30-620E-4ED8-D05BF1BA5D81}"/>
              </a:ext>
            </a:extLst>
          </p:cNvPr>
          <p:cNvSpPr>
            <a:spLocks noGrp="1" noRot="1" noMove="1" noResize="1" noEditPoints="1" noAdjustHandles="1" noChangeArrowheads="1" noChangeShapeType="1"/>
          </p:cNvSpPr>
          <p:nvPr>
            <p:ph type="body" sz="quarter" idx="18"/>
          </p:nvPr>
        </p:nvSpPr>
        <p:spPr/>
        <p:txBody>
          <a:bodyPr/>
          <a:lstStyle/>
          <a:p>
            <a:r>
              <a:rPr lang="de-DE" dirty="0"/>
              <a:t>Fürst Fugger Privatbank </a:t>
            </a:r>
            <a:br>
              <a:rPr lang="de-DE" dirty="0"/>
            </a:br>
            <a:r>
              <a:rPr lang="de-DE" dirty="0"/>
              <a:t>Rathenauplatz 2 </a:t>
            </a:r>
            <a:br>
              <a:rPr lang="de-DE" dirty="0"/>
            </a:br>
            <a:r>
              <a:rPr lang="de-DE" dirty="0"/>
              <a:t>90489 Nürnberg</a:t>
            </a:r>
          </a:p>
          <a:p>
            <a:r>
              <a:rPr lang="de-DE" dirty="0"/>
              <a:t>Telefon: +49 911 52125 00 </a:t>
            </a:r>
            <a:br>
              <a:rPr lang="de-DE" dirty="0"/>
            </a:br>
            <a:r>
              <a:rPr lang="de-DE" dirty="0"/>
              <a:t>Mail: private.banking.nuernberg@fuggerbank.de</a:t>
            </a:r>
          </a:p>
        </p:txBody>
      </p:sp>
      <p:sp>
        <p:nvSpPr>
          <p:cNvPr id="4" name="Text links">
            <a:extLst>
              <a:ext uri="{FF2B5EF4-FFF2-40B4-BE49-F238E27FC236}">
                <a16:creationId xmlns:a16="http://schemas.microsoft.com/office/drawing/2014/main" id="{8B59AA38-FCAC-FB11-D03D-F4160D5D70BA}"/>
              </a:ext>
            </a:extLst>
          </p:cNvPr>
          <p:cNvSpPr>
            <a:spLocks noGrp="1" noRot="1" noMove="1" noResize="1" noEditPoints="1" noAdjustHandles="1" noChangeArrowheads="1" noChangeShapeType="1"/>
          </p:cNvSpPr>
          <p:nvPr>
            <p:ph type="body" sz="quarter" idx="17"/>
          </p:nvPr>
        </p:nvSpPr>
        <p:spPr/>
        <p:txBody>
          <a:bodyPr/>
          <a:lstStyle/>
          <a:p>
            <a:r>
              <a:rPr lang="de-DE" dirty="0"/>
              <a:t>Fürst Fugger Privatbank </a:t>
            </a:r>
            <a:br>
              <a:rPr lang="de-DE" dirty="0"/>
            </a:br>
            <a:r>
              <a:rPr lang="de-DE" dirty="0" err="1"/>
              <a:t>Prannerstraße</a:t>
            </a:r>
            <a:r>
              <a:rPr lang="de-DE" dirty="0"/>
              <a:t> 8</a:t>
            </a:r>
            <a:br>
              <a:rPr lang="de-DE" dirty="0"/>
            </a:br>
            <a:r>
              <a:rPr lang="de-DE" dirty="0"/>
              <a:t>80333 München</a:t>
            </a:r>
          </a:p>
          <a:p>
            <a:r>
              <a:rPr lang="de-DE" dirty="0"/>
              <a:t>Telefon: +49 8929 0729 0</a:t>
            </a:r>
            <a:br>
              <a:rPr lang="de-DE" dirty="0"/>
            </a:br>
            <a:r>
              <a:rPr lang="de-DE" dirty="0"/>
              <a:t>Mail: private.banking.muenchen@fuggerbank.de</a:t>
            </a:r>
          </a:p>
        </p:txBody>
      </p:sp>
      <p:sp>
        <p:nvSpPr>
          <p:cNvPr id="12" name="Name rechts">
            <a:extLst>
              <a:ext uri="{FF2B5EF4-FFF2-40B4-BE49-F238E27FC236}">
                <a16:creationId xmlns:a16="http://schemas.microsoft.com/office/drawing/2014/main" id="{AAE8014B-0DD1-0E63-35AB-4A492D8B2664}"/>
              </a:ext>
            </a:extLst>
          </p:cNvPr>
          <p:cNvSpPr>
            <a:spLocks noGrp="1" noRot="1" noMove="1" noResize="1" noEditPoints="1" noAdjustHandles="1" noChangeArrowheads="1" noChangeShapeType="1"/>
          </p:cNvSpPr>
          <p:nvPr>
            <p:ph type="body" sz="quarter" idx="22"/>
          </p:nvPr>
        </p:nvSpPr>
        <p:spPr/>
        <p:txBody>
          <a:bodyPr/>
          <a:lstStyle/>
          <a:p>
            <a:r>
              <a:rPr lang="de-DE" dirty="0"/>
              <a:t>Standort Stuttgart</a:t>
            </a:r>
          </a:p>
        </p:txBody>
      </p:sp>
      <p:sp>
        <p:nvSpPr>
          <p:cNvPr id="5" name="Name mitte">
            <a:extLst>
              <a:ext uri="{FF2B5EF4-FFF2-40B4-BE49-F238E27FC236}">
                <a16:creationId xmlns:a16="http://schemas.microsoft.com/office/drawing/2014/main" id="{5874B704-96C1-0CB8-63DC-A92C26BE04D7}"/>
              </a:ext>
            </a:extLst>
          </p:cNvPr>
          <p:cNvSpPr>
            <a:spLocks noGrp="1" noRot="1" noMove="1" noResize="1" noEditPoints="1" noAdjustHandles="1" noChangeArrowheads="1" noChangeShapeType="1"/>
          </p:cNvSpPr>
          <p:nvPr>
            <p:ph type="body" sz="quarter" idx="16"/>
          </p:nvPr>
        </p:nvSpPr>
        <p:spPr/>
        <p:txBody>
          <a:bodyPr/>
          <a:lstStyle/>
          <a:p>
            <a:r>
              <a:rPr lang="de-DE" dirty="0"/>
              <a:t>Standort Nürnberg</a:t>
            </a:r>
          </a:p>
        </p:txBody>
      </p:sp>
      <p:sp>
        <p:nvSpPr>
          <p:cNvPr id="6" name="Name links">
            <a:extLst>
              <a:ext uri="{FF2B5EF4-FFF2-40B4-BE49-F238E27FC236}">
                <a16:creationId xmlns:a16="http://schemas.microsoft.com/office/drawing/2014/main" id="{25DD03EF-49D2-8FA8-066A-F22E53377802}"/>
              </a:ext>
            </a:extLst>
          </p:cNvPr>
          <p:cNvSpPr>
            <a:spLocks noGrp="1" noRot="1" noMove="1" noResize="1" noEditPoints="1" noAdjustHandles="1" noChangeArrowheads="1" noChangeShapeType="1"/>
          </p:cNvSpPr>
          <p:nvPr>
            <p:ph type="body" sz="quarter" idx="15"/>
          </p:nvPr>
        </p:nvSpPr>
        <p:spPr/>
        <p:txBody>
          <a:bodyPr/>
          <a:lstStyle/>
          <a:p>
            <a:r>
              <a:rPr lang="de-DE" dirty="0"/>
              <a:t>Standort München</a:t>
            </a:r>
          </a:p>
        </p:txBody>
      </p:sp>
      <p:pic>
        <p:nvPicPr>
          <p:cNvPr id="18" name="Bild rechts">
            <a:extLst>
              <a:ext uri="{FF2B5EF4-FFF2-40B4-BE49-F238E27FC236}">
                <a16:creationId xmlns:a16="http://schemas.microsoft.com/office/drawing/2014/main" id="{D4BA8B98-92EC-64EB-71B3-A6E3E2BA7D31}"/>
              </a:ext>
            </a:extLst>
          </p:cNvPr>
          <p:cNvPicPr>
            <a:picLocks noGrp="1" noRot="1" noChangeAspect="1" noMove="1" noResize="1" noEditPoints="1" noAdjustHandles="1" noChangeArrowheads="1" noChangeShapeType="1" noCrop="1"/>
          </p:cNvPicPr>
          <p:nvPr>
            <p:ph type="pic" sz="quarter" idx="20"/>
          </p:nvPr>
        </p:nvPicPr>
        <p:blipFill>
          <a:blip r:embed="rId2">
            <a:extLst>
              <a:ext uri="{28A0092B-C50C-407E-A947-70E740481C1C}">
                <a14:useLocalDpi xmlns:a14="http://schemas.microsoft.com/office/drawing/2010/main" val="0"/>
              </a:ext>
            </a:extLst>
          </a:blip>
          <a:srcRect l="16699" r="16699"/>
          <a:stretch>
            <a:fillRect/>
          </a:stretch>
        </p:blipFill>
        <p:spPr/>
      </p:pic>
      <p:pic>
        <p:nvPicPr>
          <p:cNvPr id="16" name="Bild mitte">
            <a:extLst>
              <a:ext uri="{FF2B5EF4-FFF2-40B4-BE49-F238E27FC236}">
                <a16:creationId xmlns:a16="http://schemas.microsoft.com/office/drawing/2014/main" id="{5AE6996B-E069-D522-32E7-DF5ACACE4CB1}"/>
              </a:ext>
            </a:extLst>
          </p:cNvPr>
          <p:cNvPicPr>
            <a:picLocks noGrp="1" noRot="1" noChangeAspect="1" noMove="1" noResize="1" noEditPoints="1" noAdjustHandles="1" noChangeArrowheads="1" noChangeShapeType="1" noCrop="1"/>
          </p:cNvPicPr>
          <p:nvPr>
            <p:ph type="pic" sz="quarter" idx="19"/>
          </p:nvPr>
        </p:nvPicPr>
        <p:blipFill>
          <a:blip r:embed="rId3">
            <a:extLst>
              <a:ext uri="{28A0092B-C50C-407E-A947-70E740481C1C}">
                <a14:useLocalDpi xmlns:a14="http://schemas.microsoft.com/office/drawing/2010/main" val="0"/>
              </a:ext>
            </a:extLst>
          </a:blip>
          <a:srcRect l="16661" r="16661"/>
          <a:stretch>
            <a:fillRect/>
          </a:stretch>
        </p:blipFill>
        <p:spPr/>
      </p:pic>
      <p:pic>
        <p:nvPicPr>
          <p:cNvPr id="14" name="Bild links">
            <a:extLst>
              <a:ext uri="{FF2B5EF4-FFF2-40B4-BE49-F238E27FC236}">
                <a16:creationId xmlns:a16="http://schemas.microsoft.com/office/drawing/2014/main" id="{AA024E71-6679-A1C6-C7D2-469962ED7539}"/>
              </a:ext>
            </a:extLst>
          </p:cNvPr>
          <p:cNvPicPr>
            <a:picLocks noGrp="1" noRot="1" noChangeAspect="1" noMove="1" noResize="1" noEditPoints="1" noAdjustHandles="1" noChangeArrowheads="1" noChangeShapeType="1" noCrop="1"/>
          </p:cNvPicPr>
          <p:nvPr>
            <p:ph type="pic" sz="quarter" idx="13"/>
          </p:nvPr>
        </p:nvPicPr>
        <p:blipFill>
          <a:blip r:embed="rId4">
            <a:extLst>
              <a:ext uri="{28A0092B-C50C-407E-A947-70E740481C1C}">
                <a14:useLocalDpi xmlns:a14="http://schemas.microsoft.com/office/drawing/2010/main" val="0"/>
              </a:ext>
            </a:extLst>
          </a:blip>
          <a:srcRect l="16629" r="16629"/>
          <a:stretch>
            <a:fillRect/>
          </a:stretch>
        </p:blipFill>
        <p:spPr/>
      </p:pic>
      <p:sp>
        <p:nvSpPr>
          <p:cNvPr id="8" name="Titel">
            <a:extLst>
              <a:ext uri="{FF2B5EF4-FFF2-40B4-BE49-F238E27FC236}">
                <a16:creationId xmlns:a16="http://schemas.microsoft.com/office/drawing/2014/main" id="{E6DF9330-1FA1-1147-8E70-96269D3FE91B}"/>
              </a:ext>
            </a:extLst>
          </p:cNvPr>
          <p:cNvSpPr>
            <a:spLocks noGrp="1" noRot="1" noMove="1" noResize="1" noEditPoints="1" noAdjustHandles="1" noChangeArrowheads="1" noChangeShapeType="1"/>
          </p:cNvSpPr>
          <p:nvPr>
            <p:ph type="title"/>
          </p:nvPr>
        </p:nvSpPr>
        <p:spPr/>
        <p:txBody>
          <a:bodyPr/>
          <a:lstStyle/>
          <a:p>
            <a:r>
              <a:rPr lang="de-DE" dirty="0"/>
              <a:t>Unsere Standorte</a:t>
            </a:r>
          </a:p>
        </p:txBody>
      </p:sp>
    </p:spTree>
    <p:extLst>
      <p:ext uri="{BB962C8B-B14F-4D97-AF65-F5344CB8AC3E}">
        <p14:creationId xmlns:p14="http://schemas.microsoft.com/office/powerpoint/2010/main" val="3039351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a:extLst>
              <a:ext uri="{FF2B5EF4-FFF2-40B4-BE49-F238E27FC236}">
                <a16:creationId xmlns:a16="http://schemas.microsoft.com/office/drawing/2014/main" id="{25DE5420-5BAD-2473-43B5-9D481D3DE200}"/>
              </a:ext>
            </a:extLst>
          </p:cNvPr>
          <p:cNvSpPr>
            <a:spLocks noGrp="1" noRot="1" noMove="1" noResize="1" noEditPoints="1" noAdjustHandles="1" noChangeArrowheads="1" noChangeShapeType="1"/>
          </p:cNvSpPr>
          <p:nvPr>
            <p:ph type="subTitle" idx="1"/>
          </p:nvPr>
        </p:nvSpPr>
        <p:spPr/>
        <p:txBody>
          <a:bodyPr/>
          <a:lstStyle/>
          <a:p>
            <a:r>
              <a:rPr lang="de-DE" dirty="0"/>
              <a:t>INDIVIDUELL. UNABHÄNGIG. VERTRAUENSVOLL.</a:t>
            </a:r>
          </a:p>
        </p:txBody>
      </p:sp>
      <p:sp>
        <p:nvSpPr>
          <p:cNvPr id="3" name="Titel">
            <a:extLst>
              <a:ext uri="{FF2B5EF4-FFF2-40B4-BE49-F238E27FC236}">
                <a16:creationId xmlns:a16="http://schemas.microsoft.com/office/drawing/2014/main" id="{D82547BE-5B8D-6490-3DCD-C4B040A4C085}"/>
              </a:ext>
            </a:extLst>
          </p:cNvPr>
          <p:cNvSpPr>
            <a:spLocks noGrp="1" noRot="1" noMove="1" noResize="1" noEditPoints="1" noAdjustHandles="1" noChangeArrowheads="1" noChangeShapeType="1"/>
          </p:cNvSpPr>
          <p:nvPr>
            <p:ph type="ctrTitle"/>
          </p:nvPr>
        </p:nvSpPr>
        <p:spPr/>
        <p:txBody>
          <a:bodyPr/>
          <a:lstStyle/>
          <a:p>
            <a:r>
              <a:rPr lang="de-DE" dirty="0"/>
              <a:t>Unsere Tradition</a:t>
            </a:r>
          </a:p>
        </p:txBody>
      </p:sp>
    </p:spTree>
    <p:extLst>
      <p:ext uri="{BB962C8B-B14F-4D97-AF65-F5344CB8AC3E}">
        <p14:creationId xmlns:p14="http://schemas.microsoft.com/office/powerpoint/2010/main" val="27043174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B92230C9-01C7-F4FE-82CC-6ECE520E2001}"/>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34</a:t>
            </a:fld>
            <a:endParaRPr lang="de-DE"/>
          </a:p>
        </p:txBody>
      </p:sp>
      <p:sp>
        <p:nvSpPr>
          <p:cNvPr id="3" name="Text">
            <a:extLst>
              <a:ext uri="{FF2B5EF4-FFF2-40B4-BE49-F238E27FC236}">
                <a16:creationId xmlns:a16="http://schemas.microsoft.com/office/drawing/2014/main" id="{91440A74-D9D2-B4F0-F449-0359F5947835}"/>
              </a:ext>
            </a:extLst>
          </p:cNvPr>
          <p:cNvSpPr>
            <a:spLocks noGrp="1" noRot="1" noMove="1" noResize="1" noEditPoints="1" noAdjustHandles="1" noChangeArrowheads="1" noChangeShapeType="1"/>
          </p:cNvSpPr>
          <p:nvPr>
            <p:ph idx="1"/>
          </p:nvPr>
        </p:nvSpPr>
        <p:spPr/>
        <p:txBody>
          <a:bodyPr/>
          <a:lstStyle/>
          <a:p>
            <a:r>
              <a:rPr lang="de-DE" dirty="0"/>
              <a:t>wir freuen uns, dass Sie auf unsere Vermögensverwaltung aufmerksam geworden sind. Unser Haus trägt einen geschichtsträchtigen Namen, der uns mit Stolz erfüllt und dem wir uns verpflichtet fühlen.</a:t>
            </a:r>
          </a:p>
          <a:p>
            <a:r>
              <a:rPr lang="de-DE" dirty="0"/>
              <a:t>Jakob Fugger gilt als der erfolgreichste Bankier seiner Zeit. Zu Beginn des 16. Jahrhunderts entwickelte er das Familien-unternehmen der Gebrüder Fugger vom Textilhandel zum führenden Finanzierer europäischer Adelsdynastien. Schürf-rechte für Silber und Kupfer als Gegenleistung für Darlehen an die Habsburger legten den Grundstein für enormen Reichtum, der noch höhere Kreditvergaben ermöglichte.  Seine Rolle als Kreditgeber der maßgeblichen politischen Akteure machten ihn zu einer der einflussreichsten Persönlichkeiten seiner Epoche. </a:t>
            </a:r>
          </a:p>
        </p:txBody>
      </p:sp>
      <p:sp>
        <p:nvSpPr>
          <p:cNvPr id="4" name="Titel">
            <a:extLst>
              <a:ext uri="{FF2B5EF4-FFF2-40B4-BE49-F238E27FC236}">
                <a16:creationId xmlns:a16="http://schemas.microsoft.com/office/drawing/2014/main" id="{323D42A3-160A-D4DE-FE4A-9BFA9ECD8662}"/>
              </a:ext>
            </a:extLst>
          </p:cNvPr>
          <p:cNvSpPr>
            <a:spLocks noGrp="1" noRot="1" noMove="1" noResize="1" noEditPoints="1" noAdjustHandles="1" noChangeArrowheads="1" noChangeShapeType="1"/>
          </p:cNvSpPr>
          <p:nvPr>
            <p:ph type="title"/>
          </p:nvPr>
        </p:nvSpPr>
        <p:spPr/>
        <p:txBody>
          <a:bodyPr/>
          <a:lstStyle/>
          <a:p>
            <a:r>
              <a:rPr lang="de-DE" dirty="0"/>
              <a:t>Sehr geehrte Interessentin,</a:t>
            </a:r>
            <a:br>
              <a:rPr lang="de-DE" dirty="0"/>
            </a:br>
            <a:r>
              <a:rPr lang="de-DE" dirty="0"/>
              <a:t>sehr geehrter Interessent,</a:t>
            </a:r>
          </a:p>
        </p:txBody>
      </p:sp>
    </p:spTree>
    <p:extLst>
      <p:ext uri="{BB962C8B-B14F-4D97-AF65-F5344CB8AC3E}">
        <p14:creationId xmlns:p14="http://schemas.microsoft.com/office/powerpoint/2010/main" val="29900201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
            <a:extLst>
              <a:ext uri="{FF2B5EF4-FFF2-40B4-BE49-F238E27FC236}">
                <a16:creationId xmlns:a16="http://schemas.microsoft.com/office/drawing/2014/main" id="{5F897033-8FC2-1E7E-0C1F-C1B3B83042DF}"/>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35</a:t>
            </a:fld>
            <a:endParaRPr lang="de-DE" dirty="0"/>
          </a:p>
        </p:txBody>
      </p:sp>
      <p:sp>
        <p:nvSpPr>
          <p:cNvPr id="3" name="Text">
            <a:extLst>
              <a:ext uri="{FF2B5EF4-FFF2-40B4-BE49-F238E27FC236}">
                <a16:creationId xmlns:a16="http://schemas.microsoft.com/office/drawing/2014/main" id="{2CB82111-1751-7169-9828-A98AEBE30540}"/>
              </a:ext>
            </a:extLst>
          </p:cNvPr>
          <p:cNvSpPr>
            <a:spLocks noGrp="1" noRot="1" noMove="1" noResize="1" noEditPoints="1" noAdjustHandles="1" noChangeArrowheads="1" noChangeShapeType="1"/>
          </p:cNvSpPr>
          <p:nvPr>
            <p:ph idx="1"/>
          </p:nvPr>
        </p:nvSpPr>
        <p:spPr/>
        <p:txBody>
          <a:bodyPr/>
          <a:lstStyle/>
          <a:p>
            <a:r>
              <a:rPr lang="de-DE" dirty="0"/>
              <a:t>Kluge Investitionen in ländlichen Grundbesitz bildeten die Basis für den Kapitalerhalt des Familienvermögens in den kommenden schwierigen Zeiten. Als gläubiger Katholik </a:t>
            </a:r>
            <a:br>
              <a:rPr lang="de-DE" dirty="0"/>
            </a:br>
            <a:r>
              <a:rPr lang="de-DE" dirty="0"/>
              <a:t>fühlte sich Jakob Fugger immer auch dem Gemeinwohl verpflichtet und gründete mit der </a:t>
            </a:r>
            <a:r>
              <a:rPr lang="de-DE" dirty="0" err="1"/>
              <a:t>Fuggerei</a:t>
            </a:r>
            <a:r>
              <a:rPr lang="de-DE" dirty="0"/>
              <a:t> eine bis heute existierende Stiftung, die als die älteste erhaltene Sozial-siedlung der Welt gilt. Sie feierte 2021 ihr 500-jähriges Jubiläum.</a:t>
            </a:r>
          </a:p>
          <a:p>
            <a:pPr lvl="1"/>
            <a:r>
              <a:rPr lang="de-DE" dirty="0"/>
              <a:t>Auch wir investieren aus langjähriger  Tradition heraus breit aufgestellt am  Kapitalmarkt, um mit Sorgfalt und Weitsicht Ihr Vermögen zu erhalten und zu vermehren. </a:t>
            </a:r>
          </a:p>
          <a:p>
            <a:pPr lvl="1">
              <a:spcBef>
                <a:spcPts val="800"/>
              </a:spcBef>
            </a:pPr>
            <a:r>
              <a:rPr lang="de-DE" dirty="0"/>
              <a:t>Wir freuen uns auf eine erfolgreiche  Zusammenarbeit. </a:t>
            </a:r>
          </a:p>
        </p:txBody>
      </p:sp>
      <p:sp>
        <p:nvSpPr>
          <p:cNvPr id="4" name="Titel">
            <a:extLst>
              <a:ext uri="{FF2B5EF4-FFF2-40B4-BE49-F238E27FC236}">
                <a16:creationId xmlns:a16="http://schemas.microsoft.com/office/drawing/2014/main" id="{D17F4A2E-22EE-C9A9-9C76-55ABEAEDC660}"/>
              </a:ext>
            </a:extLst>
          </p:cNvPr>
          <p:cNvSpPr>
            <a:spLocks noGrp="1" noRot="1" noMove="1" noResize="1" noEditPoints="1" noAdjustHandles="1" noChangeArrowheads="1" noChangeShapeType="1"/>
          </p:cNvSpPr>
          <p:nvPr>
            <p:ph type="title"/>
          </p:nvPr>
        </p:nvSpPr>
        <p:spPr/>
        <p:txBody>
          <a:bodyPr/>
          <a:lstStyle/>
          <a:p>
            <a:r>
              <a:rPr lang="de-DE" dirty="0"/>
              <a:t>Die Fugger</a:t>
            </a:r>
          </a:p>
        </p:txBody>
      </p:sp>
    </p:spTree>
    <p:extLst>
      <p:ext uri="{BB962C8B-B14F-4D97-AF65-F5344CB8AC3E}">
        <p14:creationId xmlns:p14="http://schemas.microsoft.com/office/powerpoint/2010/main" val="2471133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09FDEF34-89BA-4277-9FC6-BBEC6A87A8F3}"/>
              </a:ext>
            </a:extLst>
          </p:cNvPr>
          <p:cNvSpPr>
            <a:spLocks noGrp="1" noRot="1" noMove="1" noResize="1" noEditPoints="1" noAdjustHandles="1" noChangeArrowheads="1" noChangeShapeType="1"/>
          </p:cNvSpPr>
          <p:nvPr>
            <p:ph type="dt" sz="half" idx="11"/>
          </p:nvPr>
        </p:nvSpPr>
        <p:spPr/>
        <p:txBody>
          <a:bodyPr/>
          <a:lstStyle/>
          <a:p>
            <a:r>
              <a:rPr lang="de-DE"/>
              <a:t>Stand. </a:t>
            </a:r>
            <a:fld id="{A2454BA1-205A-4597-97F2-1F8EB1702CA7}" type="datetime1">
              <a:rPr lang="de-DE" smtClean="0"/>
              <a:t>06.07.2026</a:t>
            </a:fld>
            <a:endParaRPr lang="de-DE" dirty="0"/>
          </a:p>
        </p:txBody>
      </p:sp>
      <p:sp>
        <p:nvSpPr>
          <p:cNvPr id="2" name="Foliennummer">
            <a:extLst>
              <a:ext uri="{FF2B5EF4-FFF2-40B4-BE49-F238E27FC236}">
                <a16:creationId xmlns:a16="http://schemas.microsoft.com/office/drawing/2014/main" id="{93A96E26-B2AF-16AE-0C7A-2E0ECBEC67ED}"/>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36</a:t>
            </a:fld>
            <a:endParaRPr lang="de-DE"/>
          </a:p>
        </p:txBody>
      </p:sp>
      <p:sp>
        <p:nvSpPr>
          <p:cNvPr id="21" name="Quelle">
            <a:extLst>
              <a:ext uri="{FF2B5EF4-FFF2-40B4-BE49-F238E27FC236}">
                <a16:creationId xmlns:a16="http://schemas.microsoft.com/office/drawing/2014/main" id="{96B5F4DD-9CF6-23B3-B40A-1EC0C72BE412}"/>
              </a:ext>
            </a:extLst>
          </p:cNvPr>
          <p:cNvSpPr txBox="1">
            <a:spLocks noGrp="1" noRot="1" noMove="1" noResize="1" noEditPoints="1" noAdjustHandles="1" noChangeArrowheads="1" noChangeShapeType="1"/>
          </p:cNvSpPr>
          <p:nvPr/>
        </p:nvSpPr>
        <p:spPr>
          <a:xfrm>
            <a:off x="6156325" y="5659978"/>
            <a:ext cx="3959225" cy="116057"/>
          </a:xfrm>
          <a:prstGeom prst="rect">
            <a:avLst/>
          </a:prstGeom>
          <a:noFill/>
        </p:spPr>
        <p:txBody>
          <a:bodyPr wrap="square" lIns="0" tIns="0" rIns="0" bIns="0" rtlCol="0">
            <a:spAutoFit/>
          </a:bodyPr>
          <a:lstStyle/>
          <a:p>
            <a:pPr>
              <a:lnSpc>
                <a:spcPts val="1000"/>
              </a:lnSpc>
            </a:pPr>
            <a:r>
              <a:rPr lang="de-DE" sz="600" dirty="0">
                <a:solidFill>
                  <a:schemeClr val="tx1">
                    <a:lumMod val="50000"/>
                    <a:lumOff val="50000"/>
                  </a:schemeClr>
                </a:solidFill>
              </a:rPr>
              <a:t>Herausgeber: Fürst Fugger Privatbank Aktiengesellschaft | www.fuggerbank.de</a:t>
            </a:r>
          </a:p>
        </p:txBody>
      </p:sp>
      <p:sp>
        <p:nvSpPr>
          <p:cNvPr id="3" name="Text">
            <a:extLst>
              <a:ext uri="{FF2B5EF4-FFF2-40B4-BE49-F238E27FC236}">
                <a16:creationId xmlns:a16="http://schemas.microsoft.com/office/drawing/2014/main" id="{F98F3493-6CA4-189D-7956-7074D809C116}"/>
              </a:ext>
            </a:extLst>
          </p:cNvPr>
          <p:cNvSpPr>
            <a:spLocks noGrp="1" noRot="1" noMove="1" noResize="1" noEditPoints="1" noAdjustHandles="1" noChangeArrowheads="1" noChangeShapeType="1"/>
          </p:cNvSpPr>
          <p:nvPr>
            <p:ph idx="1"/>
          </p:nvPr>
        </p:nvSpPr>
        <p:spPr>
          <a:xfrm>
            <a:off x="2016125" y="1041401"/>
            <a:ext cx="8099424" cy="4791074"/>
          </a:xfrm>
        </p:spPr>
        <p:txBody>
          <a:bodyPr spcCol="144000"/>
          <a:lstStyle/>
          <a:p>
            <a:r>
              <a:rPr lang="de-DE" dirty="0"/>
              <a:t>Im vorliegenden Dokument handelt es sich um eine Werbemitteilung der Fürst Fugger Privatbank. </a:t>
            </a:r>
          </a:p>
          <a:p>
            <a:r>
              <a:rPr lang="de-DE" dirty="0"/>
              <a:t>Die hier enthaltenen Informationen dienen nicht als Angebot, Anlageberatung oder Empfehlung und können eine auf Ihre individuellen Verhältnisse, insbesondere Ihre Kenntnisse/Erfahrungen, Ihre finanzielle Situation und Ihre Anlageziele abgestellte Beratung oder Dienstleistung nicht ersetzen.</a:t>
            </a:r>
          </a:p>
          <a:p>
            <a:r>
              <a:rPr lang="de-DE" dirty="0"/>
              <a:t>Die Kurse, Erträge und Werte einer Investmentanlage, auch der beschriebenen Investitionsmöglichkeiten können schwanken, steigen oder fallen. Verweise auf frühere Entwicklungen, Simulationen oder Prognosen sind kein verlässlicher Indikator für die zukünftige Wertentwicklung. Eine positive Entwicklung in der Vergangenheit ist insbesondere keine Garantie für die zukünftige Wert-entwicklung. Die Inflation kann negative Auswirkungen auf den Wert und die nominale Rendite Ihres Anlagevermögens haben. So kann insbesondere bei risikofreien Anlagen ein Wertverlust dadurch eintreten, dass die negative Auswirkung der Inflation die nominale Rendite übersteigt.</a:t>
            </a:r>
          </a:p>
          <a:p>
            <a:r>
              <a:rPr lang="de-DE" dirty="0"/>
              <a:t>Auch eine geringe Anlagedauer und die Gesamtkosten- und Gebühren können negativ das Risiko-Rendite-Verhältnis beeinflussen. Die dargestellten Meinungsäußerungen geben die aktuelle Einschätzung des Erstellers wieder und können sich ohne vorherige Ankündigung ändern.</a:t>
            </a:r>
          </a:p>
          <a:p>
            <a:r>
              <a:rPr lang="de-DE" dirty="0"/>
              <a:t>Vorstehende Angaben wurden mit großer Sorgfalt recherchiert. Bitte haben Sie dafür Verständnis, dass wir unsere Haftung auf Vorsatz und grobe Fahrlässigkeit beschränken müssen und keinerlei Garantien bezüglich der Korrektheit oder Vollständigkeit der gemachten Angaben übernehmen können. Die Informationen stammen aus bzw. basieren auf Quellen, welche die Fürst Fugger Privatbank für geeignet erachtet. Es wird keine Gewähr übernommen, dass diese richtig, vollständig und aktuell sind. </a:t>
            </a:r>
          </a:p>
          <a:p>
            <a:r>
              <a:rPr lang="de-DE" dirty="0"/>
              <a:t>Die in diesem Vortrag wiedergegebenen Informationen wurden zum angegebenen Stand erstellt und erfolgen ausschließlich zu Informationszwecken. Eine anderweitige Speicherung, Veröffentlichung oder Weitergabe an Dritte ist nicht gestattet und darf nur nach vorheriger Zustimmung der Fürst Fugger Privatbank erfolgen.</a:t>
            </a:r>
          </a:p>
        </p:txBody>
      </p:sp>
      <p:sp>
        <p:nvSpPr>
          <p:cNvPr id="4" name="Titel">
            <a:extLst>
              <a:ext uri="{FF2B5EF4-FFF2-40B4-BE49-F238E27FC236}">
                <a16:creationId xmlns:a16="http://schemas.microsoft.com/office/drawing/2014/main" id="{3D487A3D-23C8-0FCF-62A4-D4F8359CA252}"/>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Rechtliche Hinweise und Impressum</a:t>
            </a:r>
          </a:p>
        </p:txBody>
      </p:sp>
    </p:spTree>
    <p:extLst>
      <p:ext uri="{BB962C8B-B14F-4D97-AF65-F5344CB8AC3E}">
        <p14:creationId xmlns:p14="http://schemas.microsoft.com/office/powerpoint/2010/main" val="3273467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31D9782-D197-C72F-4BC2-70181ADDE9E7}"/>
              </a:ext>
            </a:extLst>
          </p:cNvPr>
          <p:cNvSpPr>
            <a:spLocks noGrp="1" noRot="1" noMove="1" noResize="1" noEditPoints="1" noAdjustHandles="1" noChangeArrowheads="1" noChangeShapeType="1"/>
          </p:cNvSpPr>
          <p:nvPr>
            <p:ph type="dt" sz="half" idx="10"/>
          </p:nvPr>
        </p:nvSpPr>
        <p:spPr/>
        <p:txBody>
          <a:bodyPr/>
          <a:lstStyle/>
          <a:p>
            <a:r>
              <a:rPr lang="de-DE"/>
              <a:t>Stand: </a:t>
            </a:r>
            <a:fld id="{831F5BE7-170E-4DE1-8FA0-231C67CFB96A}" type="datetime1">
              <a:rPr lang="de-DE" smtClean="0"/>
              <a:t>06.07.2026</a:t>
            </a:fld>
            <a:endParaRPr lang="de-DE" dirty="0"/>
          </a:p>
        </p:txBody>
      </p:sp>
      <p:sp>
        <p:nvSpPr>
          <p:cNvPr id="2" name="Untertitel">
            <a:extLst>
              <a:ext uri="{FF2B5EF4-FFF2-40B4-BE49-F238E27FC236}">
                <a16:creationId xmlns:a16="http://schemas.microsoft.com/office/drawing/2014/main" id="{BCA2869B-4C55-EBBA-720E-2A9070E7D7A3}"/>
              </a:ext>
            </a:extLst>
          </p:cNvPr>
          <p:cNvSpPr>
            <a:spLocks noGrp="1" noRot="1" noMove="1" noResize="1" noEditPoints="1" noAdjustHandles="1" noChangeArrowheads="1" noChangeShapeType="1"/>
          </p:cNvSpPr>
          <p:nvPr>
            <p:ph type="subTitle" idx="1"/>
          </p:nvPr>
        </p:nvSpPr>
        <p:spPr/>
        <p:txBody>
          <a:bodyPr/>
          <a:lstStyle/>
          <a:p>
            <a:r>
              <a:rPr lang="de-DE" dirty="0"/>
              <a:t>www.fuggerbank.de</a:t>
            </a:r>
          </a:p>
        </p:txBody>
      </p:sp>
      <p:sp>
        <p:nvSpPr>
          <p:cNvPr id="3" name="Titel">
            <a:extLst>
              <a:ext uri="{FF2B5EF4-FFF2-40B4-BE49-F238E27FC236}">
                <a16:creationId xmlns:a16="http://schemas.microsoft.com/office/drawing/2014/main" id="{EE0F3635-6E60-B93E-3B76-11C66486EF51}"/>
              </a:ext>
            </a:extLst>
          </p:cNvPr>
          <p:cNvSpPr>
            <a:spLocks noGrp="1" noRot="1" noMove="1" noResize="1" noEditPoints="1" noAdjustHandles="1" noChangeArrowheads="1" noChangeShapeType="1"/>
          </p:cNvSpPr>
          <p:nvPr>
            <p:ph type="ctrTitle"/>
          </p:nvPr>
        </p:nvSpPr>
        <p:spPr/>
        <p:txBody>
          <a:bodyPr/>
          <a:lstStyle/>
          <a:p>
            <a:r>
              <a:rPr lang="de-DE" dirty="0"/>
              <a:t>Vielen Dank </a:t>
            </a:r>
            <a:br>
              <a:rPr lang="de-DE" dirty="0"/>
            </a:br>
            <a:r>
              <a:rPr lang="de-DE" dirty="0"/>
              <a:t>für Ihr Interesse</a:t>
            </a:r>
          </a:p>
        </p:txBody>
      </p:sp>
    </p:spTree>
    <p:extLst>
      <p:ext uri="{BB962C8B-B14F-4D97-AF65-F5344CB8AC3E}">
        <p14:creationId xmlns:p14="http://schemas.microsoft.com/office/powerpoint/2010/main" val="2773834134"/>
      </p:ext>
    </p:extLst>
  </p:cSld>
  <p:clrMapOvr>
    <a:masterClrMapping/>
  </p:clrMapOvr>
</p:sld>
</file>

<file path=ppt/theme/theme1.xml><?xml version="1.0" encoding="utf-8"?>
<a:theme xmlns:a="http://schemas.openxmlformats.org/drawingml/2006/main" name="Office">
  <a:themeElements>
    <a:clrScheme name="Fürst Fugger Privatbank">
      <a:dk1>
        <a:sysClr val="windowText" lastClr="000000"/>
      </a:dk1>
      <a:lt1>
        <a:sysClr val="window" lastClr="FFFFFF"/>
      </a:lt1>
      <a:dk2>
        <a:srgbClr val="386FA7"/>
      </a:dk2>
      <a:lt2>
        <a:srgbClr val="9D9D9D"/>
      </a:lt2>
      <a:accent1>
        <a:srgbClr val="14355C"/>
      </a:accent1>
      <a:accent2>
        <a:srgbClr val="66A4CE"/>
      </a:accent2>
      <a:accent3>
        <a:srgbClr val="BB9256"/>
      </a:accent3>
      <a:accent4>
        <a:srgbClr val="98D0EF"/>
      </a:accent4>
      <a:accent5>
        <a:srgbClr val="D1E9F8"/>
      </a:accent5>
      <a:accent6>
        <a:srgbClr val="E6F4FC"/>
      </a:accent6>
      <a:hlink>
        <a:srgbClr val="BB9256"/>
      </a:hlink>
      <a:folHlink>
        <a:srgbClr val="9D9D9D"/>
      </a:folHlink>
    </a:clrScheme>
    <a:fontScheme name="Fürst Fugger Privatbank">
      <a:majorFont>
        <a:latin typeface="Noto Serif"/>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6681</Words>
  <Application>Microsoft Office PowerPoint</Application>
  <PresentationFormat>Benutzerdefiniert</PresentationFormat>
  <Paragraphs>2290</Paragraphs>
  <Slides>37</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37</vt:i4>
      </vt:variant>
    </vt:vector>
  </HeadingPairs>
  <TitlesOfParts>
    <vt:vector size="45" baseType="lpstr">
      <vt:lpstr>Arial</vt:lpstr>
      <vt:lpstr>Calibri</vt:lpstr>
      <vt:lpstr>Noto Sans</vt:lpstr>
      <vt:lpstr>Noto Serif</vt:lpstr>
      <vt:lpstr>Open Sans</vt:lpstr>
      <vt:lpstr>Symbol</vt:lpstr>
      <vt:lpstr>Wingdings 2</vt:lpstr>
      <vt:lpstr>Office</vt:lpstr>
      <vt:lpstr>Unsere   Vermögensverwaltung</vt:lpstr>
      <vt:lpstr>Inhalt</vt:lpstr>
      <vt:lpstr>Unsere Vermögensverwaltung</vt:lpstr>
      <vt:lpstr>Unsere Vermögensverwaltung </vt:lpstr>
      <vt:lpstr>Unsere Vermögensverwaltung</vt:lpstr>
      <vt:lpstr>Unsere fünf klassischen Vermögensverwaltungsstrategien</vt:lpstr>
      <vt:lpstr>Anlagestrategie Konservativ</vt:lpstr>
      <vt:lpstr>Anlagestrategie Konservativ | Wertentwicklung</vt:lpstr>
      <vt:lpstr>Anlagestrategie Defensiv</vt:lpstr>
      <vt:lpstr>Anlagestrategie Defensiv | Wertentwicklung</vt:lpstr>
      <vt:lpstr>Anlagestrategie Defensiv Plus</vt:lpstr>
      <vt:lpstr>Anlagestrategie Defensiv Plus | Wertentwicklung</vt:lpstr>
      <vt:lpstr>Anlagestrategie Ausgewogen</vt:lpstr>
      <vt:lpstr>Anlagestrategie Ausgewogen | Wertentwicklung</vt:lpstr>
      <vt:lpstr>Anlagestrategie Dynamic</vt:lpstr>
      <vt:lpstr>Anlagestrategie Dynamic | Wertentwicklung</vt:lpstr>
      <vt:lpstr>Wertentwicklung der klassischen Vermögensverwaltungsstrategien </vt:lpstr>
      <vt:lpstr>Portfoliostresstest: Übersicht der größten Monatsverluste   unserer Strategien in Krisenphasen</vt:lpstr>
      <vt:lpstr>Die Wertentwicklung unserer fünf Strategien nach Kosten im historischen Verlauf</vt:lpstr>
      <vt:lpstr>Unsere individuelle Vermögensverwaltung</vt:lpstr>
      <vt:lpstr>Unser Honorar</vt:lpstr>
      <vt:lpstr>Unser Honorar</vt:lpstr>
      <vt:lpstr>Steuerlicher Hinweis zum Honorar</vt:lpstr>
      <vt:lpstr>Unsere Investmentphilosophie</vt:lpstr>
      <vt:lpstr>Unser Investmentprozess</vt:lpstr>
      <vt:lpstr>Unser Risikomanagement</vt:lpstr>
      <vt:lpstr>Anlageklassen und Ausgestaltung</vt:lpstr>
      <vt:lpstr>Unser Service</vt:lpstr>
      <vt:lpstr>Unsere Bank in Zahlen</vt:lpstr>
      <vt:lpstr>Ihre Ansprechpartner für den Vertrieb</vt:lpstr>
      <vt:lpstr>Unsere Standorte</vt:lpstr>
      <vt:lpstr>Unsere Standorte</vt:lpstr>
      <vt:lpstr>Unsere Tradition</vt:lpstr>
      <vt:lpstr>Sehr geehrte Interessentin, sehr geehrter Interessent,</vt:lpstr>
      <vt:lpstr>Die Fugger</vt:lpstr>
      <vt:lpstr>Rechtliche Hinweise und Impressum</vt:lpstr>
      <vt:lpstr>Vielen Dank  für Ihr Interesse</vt:lpstr>
    </vt:vector>
  </TitlesOfParts>
  <Manager>endroes@aedwin.com</Manager>
  <Company>Fürst Fugger Privatbank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zur Vermögensverwaltung</dc:title>
  <dc:creator>Harald Endrös</dc:creator>
  <cp:keywords>Vorlagen;Vermögensverwaltung</cp:keywords>
  <cp:lastModifiedBy>Tobias Mutsuddi</cp:lastModifiedBy>
  <cp:revision>216</cp:revision>
  <dcterms:created xsi:type="dcterms:W3CDTF">2023-08-14T05:18:02Z</dcterms:created>
  <dcterms:modified xsi:type="dcterms:W3CDTF">2026-07-06T08:41:30Z</dcterms:modified>
  <cp:category>Vorlagen;Design</cp:category>
</cp:coreProperties>
</file>