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media/image1.svg" ContentType="image/svg+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86" r:id="rId2"/>
  </p:sldMasterIdLst>
  <p:notesMasterIdLst>
    <p:notesMasterId r:id="rId42"/>
  </p:notesMasterIdLst>
  <p:sldIdLst>
    <p:sldId id="551" r:id="rId3"/>
    <p:sldId id="564" r:id="rId4"/>
    <p:sldId id="339" r:id="rId5"/>
    <p:sldId id="557" r:id="rId6"/>
    <p:sldId id="535" r:id="rId7"/>
    <p:sldId id="366" r:id="rId8"/>
    <p:sldId id="536" r:id="rId9"/>
    <p:sldId id="257" r:id="rId10"/>
    <p:sldId id="258" r:id="rId11"/>
    <p:sldId id="556" r:id="rId12"/>
    <p:sldId id="555" r:id="rId13"/>
    <p:sldId id="259" r:id="rId14"/>
    <p:sldId id="544" r:id="rId15"/>
    <p:sldId id="545" r:id="rId16"/>
    <p:sldId id="558" r:id="rId17"/>
    <p:sldId id="260" r:id="rId18"/>
    <p:sldId id="276" r:id="rId19"/>
    <p:sldId id="272" r:id="rId20"/>
    <p:sldId id="277" r:id="rId21"/>
    <p:sldId id="273" r:id="rId22"/>
    <p:sldId id="278" r:id="rId23"/>
    <p:sldId id="274" r:id="rId24"/>
    <p:sldId id="279" r:id="rId25"/>
    <p:sldId id="307" r:id="rId26"/>
    <p:sldId id="559" r:id="rId27"/>
    <p:sldId id="553" r:id="rId28"/>
    <p:sldId id="554" r:id="rId29"/>
    <p:sldId id="560" r:id="rId30"/>
    <p:sldId id="548" r:id="rId31"/>
    <p:sldId id="549" r:id="rId32"/>
    <p:sldId id="538" r:id="rId33"/>
    <p:sldId id="539" r:id="rId34"/>
    <p:sldId id="542" r:id="rId35"/>
    <p:sldId id="312" r:id="rId36"/>
    <p:sldId id="311" r:id="rId37"/>
    <p:sldId id="563" r:id="rId38"/>
    <p:sldId id="561" r:id="rId39"/>
    <p:sldId id="541" r:id="rId40"/>
    <p:sldId id="562" r:id="rId41"/>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1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157" autoAdjust="0"/>
  </p:normalViewPr>
  <p:slideViewPr>
    <p:cSldViewPr snapToGrid="0" showGuides="1">
      <p:cViewPr varScale="1">
        <p:scale>
          <a:sx n="85" d="100"/>
          <a:sy n="85" d="100"/>
        </p:scale>
        <p:origin x="300" y="52"/>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4" Type="http://schemas.openxmlformats.org/officeDocument/2006/relationships/chartUserShapes" Target="../drawings/drawing3.xm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4.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5.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4" Type="http://schemas.openxmlformats.org/officeDocument/2006/relationships/chartUserShapes" Target="../drawings/drawing4.xml"/></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6.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6A91-4840-B572-B2AFB3B677FD}"/>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6A91-4840-B572-B2AFB3B677FD}"/>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6A91-4840-B572-B2AFB3B677FD}"/>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6A91-4840-B572-B2AFB3B677FD}"/>
              </c:ext>
            </c:extLst>
          </c:dPt>
          <c:dLbls>
            <c:dLbl>
              <c:idx val="0"/>
              <c:layout>
                <c:manualLayout>
                  <c:x val="0.26745343399085358"/>
                  <c:y val="-2.04371201695827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A91-4840-B572-B2AFB3B677FD}"/>
                </c:ext>
              </c:extLst>
            </c:dLbl>
            <c:dLbl>
              <c:idx val="1"/>
              <c:layout>
                <c:manualLayout>
                  <c:x val="0.2735762010246543"/>
                  <c:y val="7.5915903709343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A91-4840-B572-B2AFB3B677FD}"/>
                </c:ext>
              </c:extLst>
            </c:dLbl>
            <c:dLbl>
              <c:idx val="2"/>
              <c:layout>
                <c:manualLayout>
                  <c:x val="-0.21318976731050654"/>
                  <c:y val="0.248220058050069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A91-4840-B572-B2AFB3B677FD}"/>
                </c:ext>
              </c:extLst>
            </c:dLbl>
            <c:dLbl>
              <c:idx val="3"/>
              <c:layout>
                <c:manualLayout>
                  <c:x val="-0.36681329214127395"/>
                  <c:y val="-1.02722011992592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A91-4840-B572-B2AFB3B677FD}"/>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S_Diagramm_ESG!$B$4:$B$7</c:f>
              <c:strCache>
                <c:ptCount val="4"/>
                <c:pt idx="0">
                  <c:v>EDELMETALLE</c:v>
                </c:pt>
                <c:pt idx="1">
                  <c:v>RENTEN</c:v>
                </c:pt>
                <c:pt idx="2">
                  <c:v>AKTIEN </c:v>
                </c:pt>
                <c:pt idx="3">
                  <c:v>LIQUIDITÄT</c:v>
                </c:pt>
              </c:strCache>
            </c:strRef>
          </c:cat>
          <c:val>
            <c:numRef>
              <c:f>S_Diagramm_ESG!$C$4:$C$7</c:f>
              <c:numCache>
                <c:formatCode>0.00%</c:formatCode>
                <c:ptCount val="4"/>
                <c:pt idx="0">
                  <c:v>9.7299999999999998E-2</c:v>
                </c:pt>
                <c:pt idx="1">
                  <c:v>0.61420000000000008</c:v>
                </c:pt>
                <c:pt idx="2">
                  <c:v>0.22969999999999996</c:v>
                </c:pt>
                <c:pt idx="3">
                  <c:v>5.8799999999999998E-2</c:v>
                </c:pt>
              </c:numCache>
            </c:numRef>
          </c:val>
          <c:extLst>
            <c:ext xmlns:c16="http://schemas.microsoft.com/office/drawing/2014/chart" uri="{C3380CC4-5D6E-409C-BE32-E72D297353CC}">
              <c16:uniqueId val="{00000008-6A91-4840-B572-B2AFB3B677FD}"/>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22711472766177"/>
          <c:w val="0.23958689936318936"/>
          <c:h val="0.2477288527233823"/>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Tabelle1!$A$2:$A$230</c:f>
              <c:numCache>
                <c:formatCode>m/d/yyyy</c:formatCode>
                <c:ptCount val="229"/>
                <c:pt idx="0">
                  <c:v>44196</c:v>
                </c:pt>
                <c:pt idx="1">
                  <c:v>44227</c:v>
                </c:pt>
                <c:pt idx="2">
                  <c:v>44255</c:v>
                </c:pt>
                <c:pt idx="3">
                  <c:v>44286</c:v>
                </c:pt>
                <c:pt idx="4">
                  <c:v>44316</c:v>
                </c:pt>
                <c:pt idx="5">
                  <c:v>44347</c:v>
                </c:pt>
                <c:pt idx="6">
                  <c:v>44377</c:v>
                </c:pt>
                <c:pt idx="7">
                  <c:v>44408</c:v>
                </c:pt>
                <c:pt idx="8">
                  <c:v>44439</c:v>
                </c:pt>
                <c:pt idx="9">
                  <c:v>44469</c:v>
                </c:pt>
                <c:pt idx="10">
                  <c:v>44500</c:v>
                </c:pt>
                <c:pt idx="11">
                  <c:v>44530</c:v>
                </c:pt>
                <c:pt idx="12">
                  <c:v>44561</c:v>
                </c:pt>
                <c:pt idx="13">
                  <c:v>44592</c:v>
                </c:pt>
                <c:pt idx="14">
                  <c:v>44620</c:v>
                </c:pt>
                <c:pt idx="15">
                  <c:v>44651</c:v>
                </c:pt>
                <c:pt idx="16">
                  <c:v>44681</c:v>
                </c:pt>
                <c:pt idx="17">
                  <c:v>44712</c:v>
                </c:pt>
                <c:pt idx="18">
                  <c:v>44742</c:v>
                </c:pt>
                <c:pt idx="19">
                  <c:v>44773</c:v>
                </c:pt>
                <c:pt idx="20">
                  <c:v>44804</c:v>
                </c:pt>
                <c:pt idx="21">
                  <c:v>44834</c:v>
                </c:pt>
                <c:pt idx="22">
                  <c:v>44865</c:v>
                </c:pt>
                <c:pt idx="23">
                  <c:v>44895</c:v>
                </c:pt>
                <c:pt idx="24">
                  <c:v>44926</c:v>
                </c:pt>
                <c:pt idx="25">
                  <c:v>44957</c:v>
                </c:pt>
                <c:pt idx="26">
                  <c:v>44985</c:v>
                </c:pt>
                <c:pt idx="27">
                  <c:v>45016</c:v>
                </c:pt>
                <c:pt idx="28">
                  <c:v>45046</c:v>
                </c:pt>
                <c:pt idx="29">
                  <c:v>45077</c:v>
                </c:pt>
                <c:pt idx="30">
                  <c:v>45107</c:v>
                </c:pt>
                <c:pt idx="31">
                  <c:v>45138</c:v>
                </c:pt>
                <c:pt idx="32">
                  <c:v>45169</c:v>
                </c:pt>
                <c:pt idx="33">
                  <c:v>45199</c:v>
                </c:pt>
                <c:pt idx="34">
                  <c:v>45230</c:v>
                </c:pt>
                <c:pt idx="35">
                  <c:v>45260</c:v>
                </c:pt>
                <c:pt idx="36">
                  <c:v>45291</c:v>
                </c:pt>
                <c:pt idx="37">
                  <c:v>45322</c:v>
                </c:pt>
                <c:pt idx="38">
                  <c:v>45351</c:v>
                </c:pt>
                <c:pt idx="39">
                  <c:v>45382</c:v>
                </c:pt>
                <c:pt idx="40">
                  <c:v>45412</c:v>
                </c:pt>
                <c:pt idx="41">
                  <c:v>45443</c:v>
                </c:pt>
                <c:pt idx="42">
                  <c:v>45473</c:v>
                </c:pt>
                <c:pt idx="43">
                  <c:v>45504</c:v>
                </c:pt>
                <c:pt idx="44">
                  <c:v>45535</c:v>
                </c:pt>
                <c:pt idx="45">
                  <c:v>45565</c:v>
                </c:pt>
                <c:pt idx="46">
                  <c:v>45596</c:v>
                </c:pt>
                <c:pt idx="47">
                  <c:v>45626</c:v>
                </c:pt>
                <c:pt idx="48">
                  <c:v>45657</c:v>
                </c:pt>
                <c:pt idx="49" formatCode="mmm\-yy">
                  <c:v>45688</c:v>
                </c:pt>
                <c:pt idx="50" formatCode="mmm\-yy">
                  <c:v>45716</c:v>
                </c:pt>
                <c:pt idx="51" formatCode="mmm\-yy">
                  <c:v>45747</c:v>
                </c:pt>
                <c:pt idx="52" formatCode="mmm\-yy">
                  <c:v>45777</c:v>
                </c:pt>
                <c:pt idx="53" formatCode="mmm\-yy">
                  <c:v>45808</c:v>
                </c:pt>
                <c:pt idx="54" formatCode="mmm\-yy">
                  <c:v>45838</c:v>
                </c:pt>
                <c:pt idx="55" formatCode="mmm\-yy">
                  <c:v>45869</c:v>
                </c:pt>
                <c:pt idx="56" formatCode="mmm\-yy">
                  <c:v>45900</c:v>
                </c:pt>
                <c:pt idx="57" formatCode="mmm\-yy">
                  <c:v>45930</c:v>
                </c:pt>
                <c:pt idx="58" formatCode="mmm\-yy">
                  <c:v>45961</c:v>
                </c:pt>
                <c:pt idx="59" formatCode="mmm\-yy">
                  <c:v>45991</c:v>
                </c:pt>
                <c:pt idx="60" formatCode="mmm\-yy">
                  <c:v>46022</c:v>
                </c:pt>
                <c:pt idx="61" formatCode="mmm\-yy">
                  <c:v>46053</c:v>
                </c:pt>
                <c:pt idx="62" formatCode="mmm\-yy">
                  <c:v>46081</c:v>
                </c:pt>
                <c:pt idx="63" formatCode="mmm\-yy">
                  <c:v>46112</c:v>
                </c:pt>
                <c:pt idx="64" formatCode="mmm\-yy">
                  <c:v>46142</c:v>
                </c:pt>
                <c:pt idx="65" formatCode="mmm\-yy">
                  <c:v>46173</c:v>
                </c:pt>
                <c:pt idx="66" formatCode="mmm\-yy">
                  <c:v>46203</c:v>
                </c:pt>
                <c:pt idx="67" formatCode="mmm\-yy">
                  <c:v>46209</c:v>
                </c:pt>
              </c:numCache>
            </c:numRef>
          </c:cat>
          <c:val>
            <c:numRef>
              <c:f>Tabelle1!$B$2:$B$230</c:f>
              <c:numCache>
                <c:formatCode>General</c:formatCode>
                <c:ptCount val="229"/>
                <c:pt idx="0">
                  <c:v>1</c:v>
                </c:pt>
                <c:pt idx="1">
                  <c:v>0.99850000000000005</c:v>
                </c:pt>
                <c:pt idx="2">
                  <c:v>0.98821545000000011</c:v>
                </c:pt>
                <c:pt idx="3">
                  <c:v>1.0001728569450001</c:v>
                </c:pt>
                <c:pt idx="4">
                  <c:v>1.0046736348012526</c:v>
                </c:pt>
                <c:pt idx="5">
                  <c:v>1.0116058828813812</c:v>
                </c:pt>
                <c:pt idx="6">
                  <c:v>1.0218231022984832</c:v>
                </c:pt>
                <c:pt idx="7">
                  <c:v>1.0275204047332362</c:v>
                </c:pt>
                <c:pt idx="8">
                  <c:v>1.0313222302307492</c:v>
                </c:pt>
                <c:pt idx="9">
                  <c:v>1.0197714212521649</c:v>
                </c:pt>
                <c:pt idx="10">
                  <c:v>1.0288473869013091</c:v>
                </c:pt>
                <c:pt idx="11">
                  <c:v>1.0386214370768716</c:v>
                </c:pt>
                <c:pt idx="12">
                  <c:v>1.0452686142741636</c:v>
                </c:pt>
                <c:pt idx="13">
                  <c:v>1.0154680060812071</c:v>
                </c:pt>
                <c:pt idx="14">
                  <c:v>1.0031808432076246</c:v>
                </c:pt>
                <c:pt idx="15">
                  <c:v>1.0005725730152848</c:v>
                </c:pt>
                <c:pt idx="16">
                  <c:v>0.98366289653132644</c:v>
                </c:pt>
                <c:pt idx="17">
                  <c:v>0.95995662072492149</c:v>
                </c:pt>
                <c:pt idx="18">
                  <c:v>0.92933400452379644</c:v>
                </c:pt>
                <c:pt idx="19">
                  <c:v>0.96822430927810599</c:v>
                </c:pt>
                <c:pt idx="20">
                  <c:v>0.9440187015461533</c:v>
                </c:pt>
                <c:pt idx="21">
                  <c:v>0.91371570122652179</c:v>
                </c:pt>
                <c:pt idx="22">
                  <c:v>0.91271061395517261</c:v>
                </c:pt>
                <c:pt idx="23">
                  <c:v>0.92740525483985092</c:v>
                </c:pt>
                <c:pt idx="24">
                  <c:v>0.91117566288015361</c:v>
                </c:pt>
                <c:pt idx="25">
                  <c:v>0.92467700826488042</c:v>
                </c:pt>
                <c:pt idx="26">
                  <c:v>0.91163906244834558</c:v>
                </c:pt>
                <c:pt idx="27">
                  <c:v>0.92768390994743655</c:v>
                </c:pt>
                <c:pt idx="28">
                  <c:v>0.9270345312104733</c:v>
                </c:pt>
                <c:pt idx="29">
                  <c:v>0.93380188328830982</c:v>
                </c:pt>
                <c:pt idx="30">
                  <c:v>0.92941301443685476</c:v>
                </c:pt>
                <c:pt idx="31">
                  <c:v>0.9301617727966105</c:v>
                </c:pt>
                <c:pt idx="32">
                  <c:v>0.92783636836461902</c:v>
                </c:pt>
                <c:pt idx="33">
                  <c:v>0.91846522104413642</c:v>
                </c:pt>
                <c:pt idx="34">
                  <c:v>0.91754675582309231</c:v>
                </c:pt>
                <c:pt idx="35">
                  <c:v>0.93791629380236496</c:v>
                </c:pt>
                <c:pt idx="36">
                  <c:v>0.9615517844061845</c:v>
                </c:pt>
                <c:pt idx="37">
                  <c:v>0.96223088035392124</c:v>
                </c:pt>
                <c:pt idx="38">
                  <c:v>0.96107620329749655</c:v>
                </c:pt>
                <c:pt idx="39">
                  <c:v>0.98097048070575465</c:v>
                </c:pt>
                <c:pt idx="40">
                  <c:v>0.97361320210046154</c:v>
                </c:pt>
                <c:pt idx="41">
                  <c:v>0.97818918415033362</c:v>
                </c:pt>
                <c:pt idx="42">
                  <c:v>0.98973181652330755</c:v>
                </c:pt>
                <c:pt idx="43">
                  <c:v>0.99879095555642261</c:v>
                </c:pt>
                <c:pt idx="44">
                  <c:v>1.0026862402830927</c:v>
                </c:pt>
                <c:pt idx="45">
                  <c:v>1.0155206241587162</c:v>
                </c:pt>
                <c:pt idx="46">
                  <c:v>1.0156221762211322</c:v>
                </c:pt>
                <c:pt idx="47">
                  <c:v>1.034309624263601</c:v>
                </c:pt>
                <c:pt idx="48">
                  <c:v>1.0280003355555929</c:v>
                </c:pt>
                <c:pt idx="49">
                  <c:v>1.0415982099941545</c:v>
                </c:pt>
                <c:pt idx="50">
                  <c:v>1.0473270001491224</c:v>
                </c:pt>
                <c:pt idx="51">
                  <c:v>1.0266946582461847</c:v>
                </c:pt>
                <c:pt idx="52">
                  <c:v>1.0305960979475202</c:v>
                </c:pt>
                <c:pt idx="53">
                  <c:v>1.0424479530739168</c:v>
                </c:pt>
                <c:pt idx="54">
                  <c:v>1.039841833191232</c:v>
                </c:pt>
                <c:pt idx="55">
                  <c:v>1.0460529384411124</c:v>
                </c:pt>
                <c:pt idx="56">
                  <c:v>1.0487726760810592</c:v>
                </c:pt>
                <c:pt idx="57">
                  <c:v>1.0706920250111531</c:v>
                </c:pt>
                <c:pt idx="58">
                  <c:v>1.0939260419538952</c:v>
                </c:pt>
                <c:pt idx="59">
                  <c:v>1.0951293606000445</c:v>
                </c:pt>
                <c:pt idx="60">
                  <c:v>1.1002764685948647</c:v>
                </c:pt>
                <c:pt idx="61">
                  <c:v>1.1172198297290759</c:v>
                </c:pt>
                <c:pt idx="62">
                  <c:v>1.1335208241111392</c:v>
                </c:pt>
                <c:pt idx="63">
                  <c:v>1.0928230394794103</c:v>
                </c:pt>
                <c:pt idx="64">
                  <c:v>1.1157975953199024</c:v>
                </c:pt>
                <c:pt idx="65">
                  <c:v>1.1359276823420479</c:v>
                </c:pt>
                <c:pt idx="66">
                  <c:v>1.132755005583123</c:v>
                </c:pt>
                <c:pt idx="67">
                  <c:v>1.1264643533887022</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8"/>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Tabelle1!$B$3:$B$6</c:f>
              <c:numCache>
                <c:formatCode>0.00%</c:formatCode>
                <c:ptCount val="4"/>
                <c:pt idx="0">
                  <c:v>-0.12909999999999999</c:v>
                </c:pt>
                <c:pt idx="1">
                  <c:v>5.5599999999999997E-2</c:v>
                </c:pt>
                <c:pt idx="2">
                  <c:v>6.9099999999999995E-2</c:v>
                </c:pt>
                <c:pt idx="3">
                  <c:v>7.0300000000000001E-2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Tabelle1!$C$3:$C$6</c:f>
              <c:numCache>
                <c:formatCode>0.00%</c:formatCode>
                <c:ptCount val="4"/>
                <c:pt idx="0">
                  <c:v>-0.1305</c:v>
                </c:pt>
                <c:pt idx="1">
                  <c:v>8.2900000000000001E-2</c:v>
                </c:pt>
                <c:pt idx="2">
                  <c:v>4.6699999999999998E-2</c:v>
                </c:pt>
                <c:pt idx="3">
                  <c:v>3.4599999999999999E-2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CA2F-4531-BD17-27F4B55B56F1}"/>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CA2F-4531-BD17-27F4B55B56F1}"/>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CA2F-4531-BD17-27F4B55B56F1}"/>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CA2F-4531-BD17-27F4B55B56F1}"/>
              </c:ext>
            </c:extLst>
          </c:dPt>
          <c:dLbls>
            <c:dLbl>
              <c:idx val="0"/>
              <c:layout>
                <c:manualLayout>
                  <c:x val="0.17892114123647629"/>
                  <c:y val="-5.3695853158049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A2F-4531-BD17-27F4B55B56F1}"/>
                </c:ext>
              </c:extLst>
            </c:dLbl>
            <c:dLbl>
              <c:idx val="1"/>
              <c:layout>
                <c:manualLayout>
                  <c:x val="0.12599270861601955"/>
                  <c:y val="8.05437797370735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2F-4531-BD17-27F4B55B56F1}"/>
                </c:ext>
              </c:extLst>
            </c:dLbl>
            <c:dLbl>
              <c:idx val="2"/>
              <c:layout>
                <c:manualLayout>
                  <c:x val="-0.10973558492362996"/>
                  <c:y val="-5.8170507587886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A2F-4531-BD17-27F4B55B56F1}"/>
                </c:ext>
              </c:extLst>
            </c:dLbl>
            <c:dLbl>
              <c:idx val="3"/>
              <c:layout>
                <c:manualLayout>
                  <c:x val="-0.3694793826780276"/>
                  <c:y val="-7.078600835249111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A2F-4531-BD17-27F4B55B56F1}"/>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S_Diagramm_ESG!$F$4:$F$7</c:f>
              <c:strCache>
                <c:ptCount val="4"/>
                <c:pt idx="0">
                  <c:v>EDELMETALLE</c:v>
                </c:pt>
                <c:pt idx="1">
                  <c:v>RENTEN</c:v>
                </c:pt>
                <c:pt idx="2">
                  <c:v>AKTIEN </c:v>
                </c:pt>
                <c:pt idx="3">
                  <c:v>LIQUIDITÄT</c:v>
                </c:pt>
              </c:strCache>
            </c:strRef>
          </c:cat>
          <c:val>
            <c:numRef>
              <c:f>S_Diagramm_ESG!$G$4:$G$7</c:f>
              <c:numCache>
                <c:formatCode>0.00%</c:formatCode>
                <c:ptCount val="4"/>
                <c:pt idx="0">
                  <c:v>9.5699999999999993E-2</c:v>
                </c:pt>
                <c:pt idx="1">
                  <c:v>0.36360000000000003</c:v>
                </c:pt>
                <c:pt idx="2">
                  <c:v>0.4758</c:v>
                </c:pt>
                <c:pt idx="3">
                  <c:v>6.4899999999999999E-2</c:v>
                </c:pt>
              </c:numCache>
            </c:numRef>
          </c:val>
          <c:extLst>
            <c:ext xmlns:c16="http://schemas.microsoft.com/office/drawing/2014/chart" uri="{C3380CC4-5D6E-409C-BE32-E72D297353CC}">
              <c16:uniqueId val="{00000008-CA2F-4531-BD17-27F4B55B56F1}"/>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192960119080288"/>
          <c:w val="0.26075351606611236"/>
          <c:h val="0.24807039880919707"/>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Tabelle1!$A$2:$A$290</c:f>
              <c:numCache>
                <c:formatCode>m/d/yyyy</c:formatCode>
                <c:ptCount val="289"/>
                <c:pt idx="0">
                  <c:v>44196</c:v>
                </c:pt>
                <c:pt idx="1">
                  <c:v>44227</c:v>
                </c:pt>
                <c:pt idx="2">
                  <c:v>44255</c:v>
                </c:pt>
                <c:pt idx="3">
                  <c:v>44286</c:v>
                </c:pt>
                <c:pt idx="4">
                  <c:v>44316</c:v>
                </c:pt>
                <c:pt idx="5">
                  <c:v>44347</c:v>
                </c:pt>
                <c:pt idx="6">
                  <c:v>44377</c:v>
                </c:pt>
                <c:pt idx="7">
                  <c:v>44408</c:v>
                </c:pt>
                <c:pt idx="8">
                  <c:v>44439</c:v>
                </c:pt>
                <c:pt idx="9">
                  <c:v>44469</c:v>
                </c:pt>
                <c:pt idx="10">
                  <c:v>44500</c:v>
                </c:pt>
                <c:pt idx="11">
                  <c:v>44530</c:v>
                </c:pt>
                <c:pt idx="12">
                  <c:v>44561</c:v>
                </c:pt>
                <c:pt idx="13">
                  <c:v>44592</c:v>
                </c:pt>
                <c:pt idx="14">
                  <c:v>44620</c:v>
                </c:pt>
                <c:pt idx="15">
                  <c:v>44651</c:v>
                </c:pt>
                <c:pt idx="16">
                  <c:v>44681</c:v>
                </c:pt>
                <c:pt idx="17">
                  <c:v>44712</c:v>
                </c:pt>
                <c:pt idx="18">
                  <c:v>44742</c:v>
                </c:pt>
                <c:pt idx="19">
                  <c:v>44773</c:v>
                </c:pt>
                <c:pt idx="20">
                  <c:v>44804</c:v>
                </c:pt>
                <c:pt idx="21">
                  <c:v>44834</c:v>
                </c:pt>
                <c:pt idx="22">
                  <c:v>44865</c:v>
                </c:pt>
                <c:pt idx="23">
                  <c:v>44895</c:v>
                </c:pt>
                <c:pt idx="24">
                  <c:v>44926</c:v>
                </c:pt>
                <c:pt idx="25">
                  <c:v>44957</c:v>
                </c:pt>
                <c:pt idx="26">
                  <c:v>44985</c:v>
                </c:pt>
                <c:pt idx="27">
                  <c:v>45016</c:v>
                </c:pt>
                <c:pt idx="28">
                  <c:v>45046</c:v>
                </c:pt>
                <c:pt idx="29">
                  <c:v>45077</c:v>
                </c:pt>
                <c:pt idx="30">
                  <c:v>45107</c:v>
                </c:pt>
                <c:pt idx="31">
                  <c:v>45138</c:v>
                </c:pt>
                <c:pt idx="32">
                  <c:v>45169</c:v>
                </c:pt>
                <c:pt idx="33">
                  <c:v>45199</c:v>
                </c:pt>
                <c:pt idx="34">
                  <c:v>45230</c:v>
                </c:pt>
                <c:pt idx="35">
                  <c:v>45260</c:v>
                </c:pt>
                <c:pt idx="36">
                  <c:v>45291</c:v>
                </c:pt>
                <c:pt idx="37">
                  <c:v>45322</c:v>
                </c:pt>
                <c:pt idx="38">
                  <c:v>45351</c:v>
                </c:pt>
                <c:pt idx="39">
                  <c:v>45382</c:v>
                </c:pt>
                <c:pt idx="40">
                  <c:v>45412</c:v>
                </c:pt>
                <c:pt idx="41">
                  <c:v>45443</c:v>
                </c:pt>
                <c:pt idx="42">
                  <c:v>45473</c:v>
                </c:pt>
                <c:pt idx="43">
                  <c:v>45504</c:v>
                </c:pt>
                <c:pt idx="44">
                  <c:v>45535</c:v>
                </c:pt>
                <c:pt idx="45">
                  <c:v>45565</c:v>
                </c:pt>
                <c:pt idx="46">
                  <c:v>45596</c:v>
                </c:pt>
                <c:pt idx="47">
                  <c:v>45626</c:v>
                </c:pt>
                <c:pt idx="48">
                  <c:v>45657</c:v>
                </c:pt>
                <c:pt idx="49">
                  <c:v>45688</c:v>
                </c:pt>
                <c:pt idx="50">
                  <c:v>45716</c:v>
                </c:pt>
                <c:pt idx="51">
                  <c:v>45747</c:v>
                </c:pt>
                <c:pt idx="52">
                  <c:v>45777</c:v>
                </c:pt>
                <c:pt idx="53">
                  <c:v>45808</c:v>
                </c:pt>
                <c:pt idx="54">
                  <c:v>45838</c:v>
                </c:pt>
                <c:pt idx="55">
                  <c:v>45869</c:v>
                </c:pt>
                <c:pt idx="56">
                  <c:v>45900</c:v>
                </c:pt>
                <c:pt idx="57">
                  <c:v>45930</c:v>
                </c:pt>
                <c:pt idx="58">
                  <c:v>45961</c:v>
                </c:pt>
                <c:pt idx="59">
                  <c:v>45991</c:v>
                </c:pt>
                <c:pt idx="60">
                  <c:v>46022</c:v>
                </c:pt>
                <c:pt idx="61">
                  <c:v>46053</c:v>
                </c:pt>
                <c:pt idx="62">
                  <c:v>46081</c:v>
                </c:pt>
                <c:pt idx="63">
                  <c:v>46112</c:v>
                </c:pt>
                <c:pt idx="64">
                  <c:v>46142</c:v>
                </c:pt>
                <c:pt idx="65">
                  <c:v>46173</c:v>
                </c:pt>
                <c:pt idx="66">
                  <c:v>46203</c:v>
                </c:pt>
                <c:pt idx="67">
                  <c:v>46209</c:v>
                </c:pt>
              </c:numCache>
            </c:numRef>
          </c:cat>
          <c:val>
            <c:numRef>
              <c:f>Tabelle1!$B$2:$B$290</c:f>
              <c:numCache>
                <c:formatCode>General</c:formatCode>
                <c:ptCount val="289"/>
                <c:pt idx="0">
                  <c:v>1</c:v>
                </c:pt>
                <c:pt idx="1">
                  <c:v>0.99509999999999998</c:v>
                </c:pt>
                <c:pt idx="2">
                  <c:v>0.99798578999999987</c:v>
                </c:pt>
                <c:pt idx="3">
                  <c:v>1.0160493327989999</c:v>
                </c:pt>
                <c:pt idx="4">
                  <c:v>1.0268194557266692</c:v>
                </c:pt>
                <c:pt idx="5">
                  <c:v>1.0357527849914911</c:v>
                </c:pt>
                <c:pt idx="6">
                  <c:v>1.071071954959701</c:v>
                </c:pt>
                <c:pt idx="7">
                  <c:v>1.0728674732081966</c:v>
                </c:pt>
                <c:pt idx="8">
                  <c:v>1.097650711839306</c:v>
                </c:pt>
                <c:pt idx="9">
                  <c:v>1.0744902818194966</c:v>
                </c:pt>
                <c:pt idx="10">
                  <c:v>1.1025344781749855</c:v>
                </c:pt>
                <c:pt idx="11">
                  <c:v>1.1185212281085228</c:v>
                </c:pt>
                <c:pt idx="12">
                  <c:v>1.1360820113898267</c:v>
                </c:pt>
                <c:pt idx="13">
                  <c:v>1.0825244639822338</c:v>
                </c:pt>
                <c:pt idx="14">
                  <c:v>1.0663948494688984</c:v>
                </c:pt>
                <c:pt idx="15">
                  <c:v>1.0827106906657726</c:v>
                </c:pt>
                <c:pt idx="16">
                  <c:v>1.0529361466724638</c:v>
                </c:pt>
                <c:pt idx="17">
                  <c:v>1.0264021557763177</c:v>
                </c:pt>
                <c:pt idx="18">
                  <c:v>0.99899721821709009</c:v>
                </c:pt>
                <c:pt idx="19">
                  <c:v>1.0470626457002912</c:v>
                </c:pt>
                <c:pt idx="20">
                  <c:v>1.0158601788584225</c:v>
                </c:pt>
                <c:pt idx="21">
                  <c:v>0.99401918501296649</c:v>
                </c:pt>
                <c:pt idx="22">
                  <c:v>0.99799526175301834</c:v>
                </c:pt>
                <c:pt idx="23">
                  <c:v>1.0134641883101903</c:v>
                </c:pt>
                <c:pt idx="24">
                  <c:v>0.98924239420957671</c:v>
                </c:pt>
                <c:pt idx="25">
                  <c:v>0.99894965670653635</c:v>
                </c:pt>
                <c:pt idx="26">
                  <c:v>0.98656268096337529</c:v>
                </c:pt>
                <c:pt idx="27">
                  <c:v>1.0044194654888123</c:v>
                </c:pt>
                <c:pt idx="28">
                  <c:v>1.0038168138095189</c:v>
                </c:pt>
                <c:pt idx="29">
                  <c:v>1.0174687224773284</c:v>
                </c:pt>
                <c:pt idx="30">
                  <c:v>1.0105499351644827</c:v>
                </c:pt>
                <c:pt idx="31">
                  <c:v>1.0131464421678942</c:v>
                </c:pt>
                <c:pt idx="32">
                  <c:v>1.0138556446774116</c:v>
                </c:pt>
                <c:pt idx="33">
                  <c:v>1.0040212449240407</c:v>
                </c:pt>
                <c:pt idx="34">
                  <c:v>0.99478424947073951</c:v>
                </c:pt>
                <c:pt idx="35">
                  <c:v>1.0204496831070846</c:v>
                </c:pt>
                <c:pt idx="36">
                  <c:v>1.039532092181187</c:v>
                </c:pt>
                <c:pt idx="37">
                  <c:v>1.051383199833192</c:v>
                </c:pt>
                <c:pt idx="38">
                  <c:v>1.0597942654318575</c:v>
                </c:pt>
                <c:pt idx="39">
                  <c:v>1.0842755129633332</c:v>
                </c:pt>
                <c:pt idx="40">
                  <c:v>1.067902952717587</c:v>
                </c:pt>
                <c:pt idx="41">
                  <c:v>1.0809313687407416</c:v>
                </c:pt>
                <c:pt idx="42">
                  <c:v>1.1009285990624453</c:v>
                </c:pt>
                <c:pt idx="43">
                  <c:v>1.1108579016206044</c:v>
                </c:pt>
                <c:pt idx="44">
                  <c:v>1.119411507463083</c:v>
                </c:pt>
                <c:pt idx="45">
                  <c:v>1.1329563867033863</c:v>
                </c:pt>
                <c:pt idx="46">
                  <c:v>1.1322766128713642</c:v>
                </c:pt>
                <c:pt idx="47">
                  <c:v>1.1549221451287914</c:v>
                </c:pt>
                <c:pt idx="48">
                  <c:v>1.1407166027437072</c:v>
                </c:pt>
                <c:pt idx="49">
                  <c:v>1.1632290156317504</c:v>
                </c:pt>
                <c:pt idx="50">
                  <c:v>1.1756755660990101</c:v>
                </c:pt>
                <c:pt idx="51">
                  <c:v>1.1546309734658378</c:v>
                </c:pt>
                <c:pt idx="52">
                  <c:v>1.1449320732887247</c:v>
                </c:pt>
                <c:pt idx="53">
                  <c:v>1.1578698057168875</c:v>
                </c:pt>
                <c:pt idx="54">
                  <c:v>1.1462911076597186</c:v>
                </c:pt>
                <c:pt idx="55">
                  <c:v>1.1586768690498148</c:v>
                </c:pt>
                <c:pt idx="56">
                  <c:v>1.163890914960539</c:v>
                </c:pt>
                <c:pt idx="57">
                  <c:v>1.1846081732468365</c:v>
                </c:pt>
                <c:pt idx="58">
                  <c:v>1.2075895718078253</c:v>
                </c:pt>
                <c:pt idx="59">
                  <c:v>1.2147143502814914</c:v>
                </c:pt>
                <c:pt idx="60">
                  <c:v>1.22661855091425</c:v>
                </c:pt>
                <c:pt idx="61">
                  <c:v>1.2394674294247008</c:v>
                </c:pt>
                <c:pt idx="62">
                  <c:v>1.2805432995905111</c:v>
                </c:pt>
                <c:pt idx="63">
                  <c:v>1.2185028903489759</c:v>
                </c:pt>
                <c:pt idx="64">
                  <c:v>1.2456836590343636</c:v>
                </c:pt>
                <c:pt idx="65">
                  <c:v>1.2716455591688369</c:v>
                </c:pt>
                <c:pt idx="66">
                  <c:v>1.267013858675363</c:v>
                </c:pt>
                <c:pt idx="67">
                  <c:v>1.2702438603352857</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8"/>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ax val="1.3"/>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Tabelle1!$B$3:$B$6</c:f>
              <c:numCache>
                <c:formatCode>0.00%</c:formatCode>
                <c:ptCount val="4"/>
                <c:pt idx="0">
                  <c:v>-0.1303</c:v>
                </c:pt>
                <c:pt idx="1">
                  <c:v>5.1200000000000002E-2</c:v>
                </c:pt>
                <c:pt idx="2">
                  <c:v>9.7299999999999998E-2</c:v>
                </c:pt>
                <c:pt idx="3">
                  <c:v>7.5300000000000006E-2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Tabelle1!$C$3:$C$6</c:f>
              <c:numCache>
                <c:formatCode>0.00%</c:formatCode>
                <c:ptCount val="4"/>
                <c:pt idx="0">
                  <c:v>-0.1363</c:v>
                </c:pt>
                <c:pt idx="1">
                  <c:v>0.10829999999999999</c:v>
                </c:pt>
                <c:pt idx="2">
                  <c:v>7.9799999999999996E-2</c:v>
                </c:pt>
                <c:pt idx="3">
                  <c:v>5.91E-2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997C-4485-8DF7-5D755549B77D}"/>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997C-4485-8DF7-5D755549B77D}"/>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997C-4485-8DF7-5D755549B77D}"/>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997C-4485-8DF7-5D755549B77D}"/>
              </c:ext>
            </c:extLst>
          </c:dPt>
          <c:dLbls>
            <c:dLbl>
              <c:idx val="0"/>
              <c:layout>
                <c:manualLayout>
                  <c:x val="0.19540315363252411"/>
                  <c:y val="-5.8170507587886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97C-4485-8DF7-5D755549B77D}"/>
                </c:ext>
              </c:extLst>
            </c:dLbl>
            <c:dLbl>
              <c:idx val="1"/>
              <c:layout>
                <c:manualLayout>
                  <c:x val="0.20823662500344894"/>
                  <c:y val="0.3659954674605702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97C-4485-8DF7-5D755549B77D}"/>
                </c:ext>
              </c:extLst>
            </c:dLbl>
            <c:dLbl>
              <c:idx val="2"/>
              <c:layout>
                <c:manualLayout>
                  <c:x val="-0.14248146619038216"/>
                  <c:y val="-1.3423963289512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97C-4485-8DF7-5D755549B77D}"/>
                </c:ext>
              </c:extLst>
            </c:dLbl>
            <c:dLbl>
              <c:idx val="3"/>
              <c:layout>
                <c:manualLayout>
                  <c:x val="-0.21982854783658962"/>
                  <c:y val="-5.8170507587886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97C-4485-8DF7-5D755549B77D}"/>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S_Diagramm_ESG!$J$4:$J$7</c:f>
              <c:strCache>
                <c:ptCount val="4"/>
                <c:pt idx="0">
                  <c:v>EDELMETALLE</c:v>
                </c:pt>
                <c:pt idx="1">
                  <c:v>RENTEN</c:v>
                </c:pt>
                <c:pt idx="2">
                  <c:v>AKTIEN </c:v>
                </c:pt>
                <c:pt idx="3">
                  <c:v>LIQUIDITÄT</c:v>
                </c:pt>
              </c:strCache>
            </c:strRef>
          </c:cat>
          <c:val>
            <c:numRef>
              <c:f>S_Diagramm_ESG!$K$4:$K$7</c:f>
              <c:numCache>
                <c:formatCode>0.00%</c:formatCode>
                <c:ptCount val="4"/>
                <c:pt idx="0">
                  <c:v>9.4500000000000001E-2</c:v>
                </c:pt>
                <c:pt idx="1">
                  <c:v>0.19039999999999999</c:v>
                </c:pt>
                <c:pt idx="2">
                  <c:v>0.67730000000000001</c:v>
                </c:pt>
                <c:pt idx="3">
                  <c:v>3.78E-2</c:v>
                </c:pt>
              </c:numCache>
            </c:numRef>
          </c:val>
          <c:extLst>
            <c:ext xmlns:c16="http://schemas.microsoft.com/office/drawing/2014/chart" uri="{C3380CC4-5D6E-409C-BE32-E72D297353CC}">
              <c16:uniqueId val="{00000008-997C-4485-8DF7-5D755549B77D}"/>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192960119080288"/>
          <c:w val="0.2628093700852579"/>
          <c:h val="0.24807039880919707"/>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Tabelle1!$A$2:$A$206</c:f>
              <c:numCache>
                <c:formatCode>m/d/yyyy</c:formatCode>
                <c:ptCount val="205"/>
                <c:pt idx="0">
                  <c:v>44196</c:v>
                </c:pt>
                <c:pt idx="1">
                  <c:v>44227</c:v>
                </c:pt>
                <c:pt idx="2">
                  <c:v>44255</c:v>
                </c:pt>
                <c:pt idx="3">
                  <c:v>44286</c:v>
                </c:pt>
                <c:pt idx="4">
                  <c:v>44316</c:v>
                </c:pt>
                <c:pt idx="5">
                  <c:v>44347</c:v>
                </c:pt>
                <c:pt idx="6">
                  <c:v>44377</c:v>
                </c:pt>
                <c:pt idx="7">
                  <c:v>44408</c:v>
                </c:pt>
                <c:pt idx="8">
                  <c:v>44439</c:v>
                </c:pt>
                <c:pt idx="9">
                  <c:v>44469</c:v>
                </c:pt>
                <c:pt idx="10">
                  <c:v>44500</c:v>
                </c:pt>
                <c:pt idx="11">
                  <c:v>44530</c:v>
                </c:pt>
                <c:pt idx="12">
                  <c:v>44561</c:v>
                </c:pt>
                <c:pt idx="13">
                  <c:v>44592</c:v>
                </c:pt>
                <c:pt idx="14">
                  <c:v>44620</c:v>
                </c:pt>
                <c:pt idx="15">
                  <c:v>44651</c:v>
                </c:pt>
                <c:pt idx="16">
                  <c:v>44681</c:v>
                </c:pt>
                <c:pt idx="17">
                  <c:v>44712</c:v>
                </c:pt>
                <c:pt idx="18">
                  <c:v>44742</c:v>
                </c:pt>
                <c:pt idx="19">
                  <c:v>44773</c:v>
                </c:pt>
                <c:pt idx="20">
                  <c:v>44804</c:v>
                </c:pt>
                <c:pt idx="21">
                  <c:v>44834</c:v>
                </c:pt>
                <c:pt idx="22">
                  <c:v>44865</c:v>
                </c:pt>
                <c:pt idx="23">
                  <c:v>44895</c:v>
                </c:pt>
                <c:pt idx="24">
                  <c:v>44926</c:v>
                </c:pt>
                <c:pt idx="25">
                  <c:v>44957</c:v>
                </c:pt>
                <c:pt idx="26">
                  <c:v>44985</c:v>
                </c:pt>
                <c:pt idx="27">
                  <c:v>45016</c:v>
                </c:pt>
                <c:pt idx="28">
                  <c:v>45046</c:v>
                </c:pt>
                <c:pt idx="29">
                  <c:v>45077</c:v>
                </c:pt>
                <c:pt idx="30">
                  <c:v>45107</c:v>
                </c:pt>
                <c:pt idx="31">
                  <c:v>45138</c:v>
                </c:pt>
                <c:pt idx="32">
                  <c:v>45169</c:v>
                </c:pt>
                <c:pt idx="33">
                  <c:v>45199</c:v>
                </c:pt>
                <c:pt idx="34">
                  <c:v>45230</c:v>
                </c:pt>
                <c:pt idx="35">
                  <c:v>45260</c:v>
                </c:pt>
                <c:pt idx="36">
                  <c:v>45291</c:v>
                </c:pt>
                <c:pt idx="37">
                  <c:v>45322</c:v>
                </c:pt>
                <c:pt idx="38">
                  <c:v>45351</c:v>
                </c:pt>
                <c:pt idx="39">
                  <c:v>45382</c:v>
                </c:pt>
                <c:pt idx="40">
                  <c:v>45412</c:v>
                </c:pt>
                <c:pt idx="41">
                  <c:v>45443</c:v>
                </c:pt>
                <c:pt idx="42">
                  <c:v>45473</c:v>
                </c:pt>
                <c:pt idx="43">
                  <c:v>45504</c:v>
                </c:pt>
                <c:pt idx="44">
                  <c:v>45535</c:v>
                </c:pt>
                <c:pt idx="45">
                  <c:v>45565</c:v>
                </c:pt>
                <c:pt idx="46">
                  <c:v>45596</c:v>
                </c:pt>
                <c:pt idx="47">
                  <c:v>45626</c:v>
                </c:pt>
                <c:pt idx="48">
                  <c:v>45657</c:v>
                </c:pt>
                <c:pt idx="49">
                  <c:v>45688</c:v>
                </c:pt>
                <c:pt idx="50">
                  <c:v>45716</c:v>
                </c:pt>
                <c:pt idx="51">
                  <c:v>45747</c:v>
                </c:pt>
                <c:pt idx="52">
                  <c:v>45777</c:v>
                </c:pt>
                <c:pt idx="53">
                  <c:v>45808</c:v>
                </c:pt>
                <c:pt idx="54">
                  <c:v>45838</c:v>
                </c:pt>
                <c:pt idx="55">
                  <c:v>45869</c:v>
                </c:pt>
                <c:pt idx="56">
                  <c:v>45900</c:v>
                </c:pt>
                <c:pt idx="57">
                  <c:v>45930</c:v>
                </c:pt>
                <c:pt idx="58">
                  <c:v>45961</c:v>
                </c:pt>
                <c:pt idx="59">
                  <c:v>45991</c:v>
                </c:pt>
                <c:pt idx="60">
                  <c:v>46022</c:v>
                </c:pt>
                <c:pt idx="61">
                  <c:v>46053</c:v>
                </c:pt>
                <c:pt idx="62">
                  <c:v>46081</c:v>
                </c:pt>
                <c:pt idx="63">
                  <c:v>46112</c:v>
                </c:pt>
                <c:pt idx="64">
                  <c:v>46142</c:v>
                </c:pt>
                <c:pt idx="65">
                  <c:v>46173</c:v>
                </c:pt>
                <c:pt idx="66">
                  <c:v>46203</c:v>
                </c:pt>
                <c:pt idx="67">
                  <c:v>46209</c:v>
                </c:pt>
              </c:numCache>
            </c:numRef>
          </c:cat>
          <c:val>
            <c:numRef>
              <c:f>Tabelle1!$B$2:$B$206</c:f>
              <c:numCache>
                <c:formatCode>General</c:formatCode>
                <c:ptCount val="205"/>
                <c:pt idx="0">
                  <c:v>1</c:v>
                </c:pt>
                <c:pt idx="1">
                  <c:v>0.99639999999999995</c:v>
                </c:pt>
                <c:pt idx="2">
                  <c:v>1.00148164</c:v>
                </c:pt>
                <c:pt idx="3">
                  <c:v>1.0309252002160001</c:v>
                </c:pt>
                <c:pt idx="4">
                  <c:v>1.0483478360996503</c:v>
                </c:pt>
                <c:pt idx="5">
                  <c:v>1.0661697493133442</c:v>
                </c:pt>
                <c:pt idx="6">
                  <c:v>1.1105224108847793</c:v>
                </c:pt>
                <c:pt idx="7">
                  <c:v>1.1197668991680689</c:v>
                </c:pt>
                <c:pt idx="8">
                  <c:v>1.1587347872591176</c:v>
                </c:pt>
                <c:pt idx="9">
                  <c:v>1.1251314784286031</c:v>
                </c:pt>
                <c:pt idx="10">
                  <c:v>1.1753123423665188</c:v>
                </c:pt>
                <c:pt idx="11">
                  <c:v>1.2078684942500715</c:v>
                </c:pt>
                <c:pt idx="12">
                  <c:v>1.2246578663201475</c:v>
                </c:pt>
                <c:pt idx="13">
                  <c:v>1.1457807454115791</c:v>
                </c:pt>
                <c:pt idx="14">
                  <c:v>1.1162196021799604</c:v>
                </c:pt>
                <c:pt idx="15">
                  <c:v>1.1376510185418158</c:v>
                </c:pt>
                <c:pt idx="16">
                  <c:v>1.0919174475964348</c:v>
                </c:pt>
                <c:pt idx="17">
                  <c:v>1.0658206205988801</c:v>
                </c:pt>
                <c:pt idx="18">
                  <c:v>1.0198837518510684</c:v>
                </c:pt>
                <c:pt idx="19">
                  <c:v>1.084234999982302</c:v>
                </c:pt>
                <c:pt idx="20">
                  <c:v>1.046503621982918</c:v>
                </c:pt>
                <c:pt idx="21">
                  <c:v>1.0044341763792046</c:v>
                </c:pt>
                <c:pt idx="22">
                  <c:v>1.0185966982661514</c:v>
                </c:pt>
                <c:pt idx="23">
                  <c:v>1.0447746334115915</c:v>
                </c:pt>
                <c:pt idx="24">
                  <c:v>1.0134313944092437</c:v>
                </c:pt>
                <c:pt idx="25">
                  <c:v>1.0402697179906106</c:v>
                </c:pt>
                <c:pt idx="26">
                  <c:v>1.0251858070797468</c:v>
                </c:pt>
                <c:pt idx="27">
                  <c:v>1.0456895232213417</c:v>
                </c:pt>
                <c:pt idx="28">
                  <c:v>1.0480946091247507</c:v>
                </c:pt>
                <c:pt idx="29">
                  <c:v>1.0664362647844339</c:v>
                </c:pt>
                <c:pt idx="30">
                  <c:v>1.0680359191816107</c:v>
                </c:pt>
                <c:pt idx="31">
                  <c:v>1.0754430686919108</c:v>
                </c:pt>
                <c:pt idx="32">
                  <c:v>1.0617849417195235</c:v>
                </c:pt>
                <c:pt idx="33">
                  <c:v>1.0378947805308343</c:v>
                </c:pt>
                <c:pt idx="34">
                  <c:v>1.0101829898906611</c:v>
                </c:pt>
                <c:pt idx="35">
                  <c:v>1.0507923460842656</c:v>
                </c:pt>
                <c:pt idx="36">
                  <c:v>1.0755910454518545</c:v>
                </c:pt>
                <c:pt idx="37">
                  <c:v>1.0827304154649218</c:v>
                </c:pt>
                <c:pt idx="38">
                  <c:v>1.0927998083287456</c:v>
                </c:pt>
                <c:pt idx="39">
                  <c:v>1.1283158020994297</c:v>
                </c:pt>
                <c:pt idx="40">
                  <c:v>1.1159043282763359</c:v>
                </c:pt>
                <c:pt idx="41">
                  <c:v>1.1530639424079381</c:v>
                </c:pt>
                <c:pt idx="42">
                  <c:v>1.1645945818320174</c:v>
                </c:pt>
                <c:pt idx="43">
                  <c:v>1.1725558377380145</c:v>
                </c:pt>
                <c:pt idx="44">
                  <c:v>1.1784186169267046</c:v>
                </c:pt>
                <c:pt idx="45">
                  <c:v>1.1951521612870637</c:v>
                </c:pt>
                <c:pt idx="46">
                  <c:v>1.1935984634773906</c:v>
                </c:pt>
                <c:pt idx="47">
                  <c:v>1.2253481826058892</c:v>
                </c:pt>
                <c:pt idx="48">
                  <c:v>1.2129721659615698</c:v>
                </c:pt>
                <c:pt idx="49">
                  <c:v>1.2401602092782986</c:v>
                </c:pt>
                <c:pt idx="50">
                  <c:v>1.2349515363993298</c:v>
                </c:pt>
                <c:pt idx="51">
                  <c:v>1.1985204660755495</c:v>
                </c:pt>
                <c:pt idx="52">
                  <c:v>1.1858161491351487</c:v>
                </c:pt>
                <c:pt idx="53">
                  <c:v>1.2151058080187869</c:v>
                </c:pt>
                <c:pt idx="54">
                  <c:v>1.2016181335497784</c:v>
                </c:pt>
                <c:pt idx="55">
                  <c:v>1.2181786243831882</c:v>
                </c:pt>
                <c:pt idx="56">
                  <c:v>1.2206149816319547</c:v>
                </c:pt>
                <c:pt idx="57">
                  <c:v>1.2540598321286704</c:v>
                </c:pt>
                <c:pt idx="58">
                  <c:v>1.3051000672963073</c:v>
                </c:pt>
                <c:pt idx="59">
                  <c:v>1.3159323978548667</c:v>
                </c:pt>
                <c:pt idx="60">
                  <c:v>1.3297496880323427</c:v>
                </c:pt>
                <c:pt idx="61">
                  <c:v>1.3345586850686502</c:v>
                </c:pt>
                <c:pt idx="62">
                  <c:v>1.3726322760839815</c:v>
                </c:pt>
                <c:pt idx="63">
                  <c:v>1.2931800948332377</c:v>
                </c:pt>
                <c:pt idx="64">
                  <c:v>1.3438126828848764</c:v>
                </c:pt>
                <c:pt idx="65">
                  <c:v>1.38360487349465</c:v>
                </c:pt>
                <c:pt idx="66">
                  <c:v>1.365096877862197</c:v>
                </c:pt>
                <c:pt idx="67">
                  <c:v>1.364237578064976</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8"/>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ax val="1.4"/>
          <c:min val="0.95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w="3175">
          <a:solidFill>
            <a:schemeClr val="tx1">
              <a:lumMod val="15000"/>
              <a:lumOff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Tabelle1!$B$3:$B$6</c:f>
              <c:numCache>
                <c:formatCode>0.00%</c:formatCode>
                <c:ptCount val="4"/>
                <c:pt idx="0">
                  <c:v>-0.17380000000000001</c:v>
                </c:pt>
                <c:pt idx="1">
                  <c:v>6.1800000000000001E-2</c:v>
                </c:pt>
                <c:pt idx="2">
                  <c:v>0.12770000000000001</c:v>
                </c:pt>
                <c:pt idx="3">
                  <c:v>9.6199999999999994E-2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Tabelle1!$C$3:$C$6</c:f>
              <c:numCache>
                <c:formatCode>0.00%</c:formatCode>
                <c:ptCount val="4"/>
                <c:pt idx="0">
                  <c:v>-0.14099999999999999</c:v>
                </c:pt>
                <c:pt idx="1">
                  <c:v>0.12509999999999999</c:v>
                </c:pt>
                <c:pt idx="2">
                  <c:v>0.1022</c:v>
                </c:pt>
                <c:pt idx="3">
                  <c:v>7.5200000000000003E-2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63E3-427F-86E9-1CA2C6500CFF}"/>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63E3-427F-86E9-1CA2C6500CFF}"/>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63E3-427F-86E9-1CA2C6500CFF}"/>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63E3-427F-86E9-1CA2C6500CFF}"/>
              </c:ext>
            </c:extLst>
          </c:dPt>
          <c:dLbls>
            <c:dLbl>
              <c:idx val="0"/>
              <c:layout>
                <c:manualLayout>
                  <c:x val="0.12704991308666502"/>
                  <c:y val="-8.52691276669426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3E3-427F-86E9-1CA2C6500CFF}"/>
                </c:ext>
              </c:extLst>
            </c:dLbl>
            <c:dLbl>
              <c:idx val="1"/>
              <c:layout>
                <c:manualLayout>
                  <c:x val="0.17576938995116284"/>
                  <c:y val="-4.97724788475872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3E3-427F-86E9-1CA2C6500CFF}"/>
                </c:ext>
              </c:extLst>
            </c:dLbl>
            <c:dLbl>
              <c:idx val="2"/>
              <c:layout>
                <c:manualLayout>
                  <c:x val="0.35584085202659826"/>
                  <c:y val="1.67946663253150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3E3-427F-86E9-1CA2C6500CFF}"/>
                </c:ext>
              </c:extLst>
            </c:dLbl>
            <c:dLbl>
              <c:idx val="3"/>
              <c:layout>
                <c:manualLayout>
                  <c:x val="-0.20753136681048934"/>
                  <c:y val="-6.71198164475612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3E3-427F-86E9-1CA2C6500CFF}"/>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S_Diagramm_ESG!$N$4:$N$7</c:f>
              <c:strCache>
                <c:ptCount val="4"/>
                <c:pt idx="0">
                  <c:v>EDELMETALLE</c:v>
                </c:pt>
                <c:pt idx="1">
                  <c:v>RENTEN</c:v>
                </c:pt>
                <c:pt idx="2">
                  <c:v>AKTIEN </c:v>
                </c:pt>
                <c:pt idx="3">
                  <c:v>LIQUIDITÄT</c:v>
                </c:pt>
              </c:strCache>
            </c:strRef>
          </c:cat>
          <c:val>
            <c:numRef>
              <c:f>S_Diagramm_ESG!$O$4:$O$7</c:f>
              <c:numCache>
                <c:formatCode>0.00%</c:formatCode>
                <c:ptCount val="4"/>
                <c:pt idx="0">
                  <c:v>4.4600000000000001E-2</c:v>
                </c:pt>
                <c:pt idx="1">
                  <c:v>3.5700000000000003E-2</c:v>
                </c:pt>
                <c:pt idx="2">
                  <c:v>0.86619999999999997</c:v>
                </c:pt>
                <c:pt idx="3">
                  <c:v>5.3499999999999999E-2</c:v>
                </c:pt>
              </c:numCache>
            </c:numRef>
          </c:val>
          <c:extLst>
            <c:ext xmlns:c16="http://schemas.microsoft.com/office/drawing/2014/chart" uri="{C3380CC4-5D6E-409C-BE32-E72D297353CC}">
              <c16:uniqueId val="{00000008-63E3-427F-86E9-1CA2C6500CFF}"/>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203187148795836"/>
          <c:w val="0.2628093700852579"/>
          <c:h val="0.24796812851204159"/>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Tabelle1!$A$2:$A$290</c:f>
              <c:numCache>
                <c:formatCode>m/d/yyyy</c:formatCode>
                <c:ptCount val="289"/>
                <c:pt idx="0">
                  <c:v>44196</c:v>
                </c:pt>
                <c:pt idx="1">
                  <c:v>44227</c:v>
                </c:pt>
                <c:pt idx="2">
                  <c:v>44255</c:v>
                </c:pt>
                <c:pt idx="3">
                  <c:v>44286</c:v>
                </c:pt>
                <c:pt idx="4">
                  <c:v>44316</c:v>
                </c:pt>
                <c:pt idx="5">
                  <c:v>44347</c:v>
                </c:pt>
                <c:pt idx="6">
                  <c:v>44377</c:v>
                </c:pt>
                <c:pt idx="7">
                  <c:v>44408</c:v>
                </c:pt>
                <c:pt idx="8">
                  <c:v>44439</c:v>
                </c:pt>
                <c:pt idx="9">
                  <c:v>44469</c:v>
                </c:pt>
                <c:pt idx="10">
                  <c:v>44500</c:v>
                </c:pt>
                <c:pt idx="11">
                  <c:v>44530</c:v>
                </c:pt>
                <c:pt idx="12">
                  <c:v>44561</c:v>
                </c:pt>
                <c:pt idx="13">
                  <c:v>44592</c:v>
                </c:pt>
                <c:pt idx="14">
                  <c:v>44620</c:v>
                </c:pt>
                <c:pt idx="15">
                  <c:v>44651</c:v>
                </c:pt>
                <c:pt idx="16">
                  <c:v>44681</c:v>
                </c:pt>
                <c:pt idx="17">
                  <c:v>44712</c:v>
                </c:pt>
                <c:pt idx="18">
                  <c:v>44742</c:v>
                </c:pt>
                <c:pt idx="19">
                  <c:v>44773</c:v>
                </c:pt>
                <c:pt idx="20">
                  <c:v>44804</c:v>
                </c:pt>
                <c:pt idx="21">
                  <c:v>44834</c:v>
                </c:pt>
                <c:pt idx="22">
                  <c:v>44865</c:v>
                </c:pt>
                <c:pt idx="23">
                  <c:v>44895</c:v>
                </c:pt>
                <c:pt idx="24">
                  <c:v>44926</c:v>
                </c:pt>
                <c:pt idx="25">
                  <c:v>44957</c:v>
                </c:pt>
                <c:pt idx="26">
                  <c:v>44985</c:v>
                </c:pt>
                <c:pt idx="27">
                  <c:v>45016</c:v>
                </c:pt>
                <c:pt idx="28">
                  <c:v>45046</c:v>
                </c:pt>
                <c:pt idx="29">
                  <c:v>45077</c:v>
                </c:pt>
                <c:pt idx="30">
                  <c:v>45107</c:v>
                </c:pt>
                <c:pt idx="31">
                  <c:v>45138</c:v>
                </c:pt>
                <c:pt idx="32">
                  <c:v>45169</c:v>
                </c:pt>
                <c:pt idx="33">
                  <c:v>45199</c:v>
                </c:pt>
                <c:pt idx="34">
                  <c:v>45230</c:v>
                </c:pt>
                <c:pt idx="35">
                  <c:v>45260</c:v>
                </c:pt>
                <c:pt idx="36">
                  <c:v>45291</c:v>
                </c:pt>
                <c:pt idx="37">
                  <c:v>45322</c:v>
                </c:pt>
                <c:pt idx="38">
                  <c:v>45351</c:v>
                </c:pt>
                <c:pt idx="39">
                  <c:v>45382</c:v>
                </c:pt>
                <c:pt idx="40">
                  <c:v>45412</c:v>
                </c:pt>
                <c:pt idx="41">
                  <c:v>45443</c:v>
                </c:pt>
                <c:pt idx="42">
                  <c:v>45473</c:v>
                </c:pt>
                <c:pt idx="43">
                  <c:v>45504</c:v>
                </c:pt>
                <c:pt idx="44">
                  <c:v>45535</c:v>
                </c:pt>
                <c:pt idx="45">
                  <c:v>45565</c:v>
                </c:pt>
                <c:pt idx="46">
                  <c:v>45596</c:v>
                </c:pt>
                <c:pt idx="47">
                  <c:v>45626</c:v>
                </c:pt>
                <c:pt idx="48">
                  <c:v>45657</c:v>
                </c:pt>
                <c:pt idx="49">
                  <c:v>45688</c:v>
                </c:pt>
                <c:pt idx="50">
                  <c:v>45716</c:v>
                </c:pt>
                <c:pt idx="51">
                  <c:v>45747</c:v>
                </c:pt>
                <c:pt idx="52">
                  <c:v>45777</c:v>
                </c:pt>
                <c:pt idx="53">
                  <c:v>45808</c:v>
                </c:pt>
                <c:pt idx="54">
                  <c:v>45838</c:v>
                </c:pt>
                <c:pt idx="55">
                  <c:v>45869</c:v>
                </c:pt>
                <c:pt idx="56">
                  <c:v>45900</c:v>
                </c:pt>
                <c:pt idx="57">
                  <c:v>45930</c:v>
                </c:pt>
                <c:pt idx="58">
                  <c:v>45961</c:v>
                </c:pt>
                <c:pt idx="59">
                  <c:v>45991</c:v>
                </c:pt>
                <c:pt idx="60">
                  <c:v>46022</c:v>
                </c:pt>
                <c:pt idx="61">
                  <c:v>46053</c:v>
                </c:pt>
                <c:pt idx="62">
                  <c:v>46081</c:v>
                </c:pt>
                <c:pt idx="63">
                  <c:v>46112</c:v>
                </c:pt>
                <c:pt idx="64">
                  <c:v>46142</c:v>
                </c:pt>
                <c:pt idx="65">
                  <c:v>46173</c:v>
                </c:pt>
                <c:pt idx="66">
                  <c:v>46203</c:v>
                </c:pt>
                <c:pt idx="67">
                  <c:v>46209</c:v>
                </c:pt>
              </c:numCache>
            </c:numRef>
          </c:cat>
          <c:val>
            <c:numRef>
              <c:f>Tabelle1!$B$2:$B$290</c:f>
              <c:numCache>
                <c:formatCode>General</c:formatCode>
                <c:ptCount val="289"/>
                <c:pt idx="0">
                  <c:v>1</c:v>
                </c:pt>
                <c:pt idx="1">
                  <c:v>0.99</c:v>
                </c:pt>
                <c:pt idx="2">
                  <c:v>0.99613799999999997</c:v>
                </c:pt>
                <c:pt idx="3">
                  <c:v>1.0342900853999999</c:v>
                </c:pt>
                <c:pt idx="4">
                  <c:v>1.0535278809884399</c:v>
                </c:pt>
                <c:pt idx="5">
                  <c:v>1.0695415047794643</c:v>
                </c:pt>
                <c:pt idx="6">
                  <c:v>1.1310401413042837</c:v>
                </c:pt>
                <c:pt idx="7">
                  <c:v>1.1473013033478399</c:v>
                </c:pt>
                <c:pt idx="8">
                  <c:v>1.1988151318681579</c:v>
                </c:pt>
                <c:pt idx="9">
                  <c:v>1.1592542325165087</c:v>
                </c:pt>
                <c:pt idx="10">
                  <c:v>1.2162895407563208</c:v>
                </c:pt>
                <c:pt idx="11">
                  <c:v>1.233439223280985</c:v>
                </c:pt>
                <c:pt idx="12">
                  <c:v>1.2713058074357111</c:v>
                </c:pt>
                <c:pt idx="13">
                  <c:v>1.1626814028524652</c:v>
                </c:pt>
                <c:pt idx="14">
                  <c:v>1.1226851625943404</c:v>
                </c:pt>
                <c:pt idx="15">
                  <c:v>1.1655717358054443</c:v>
                </c:pt>
                <c:pt idx="16">
                  <c:v>1.125942296788059</c:v>
                </c:pt>
                <c:pt idx="17">
                  <c:v>1.0967803913012482</c:v>
                </c:pt>
                <c:pt idx="18">
                  <c:v>1.0452317129100894</c:v>
                </c:pt>
                <c:pt idx="19">
                  <c:v>1.1358660542462917</c:v>
                </c:pt>
                <c:pt idx="20">
                  <c:v>1.096905848585644</c:v>
                </c:pt>
                <c:pt idx="21">
                  <c:v>1.0340531434616866</c:v>
                </c:pt>
                <c:pt idx="22">
                  <c:v>1.0620759836494982</c:v>
                </c:pt>
                <c:pt idx="23">
                  <c:v>1.0995672658723255</c:v>
                </c:pt>
                <c:pt idx="24">
                  <c:v>1.0702088198735344</c:v>
                </c:pt>
                <c:pt idx="25">
                  <c:v>1.0916483131620609</c:v>
                </c:pt>
                <c:pt idx="26">
                  <c:v>1.0936132801257525</c:v>
                </c:pt>
                <c:pt idx="27">
                  <c:v>1.1154855457282675</c:v>
                </c:pt>
                <c:pt idx="28">
                  <c:v>1.1147047058462578</c:v>
                </c:pt>
                <c:pt idx="29">
                  <c:v>1.1401199731395524</c:v>
                </c:pt>
                <c:pt idx="30">
                  <c:v>1.1596160246802385</c:v>
                </c:pt>
                <c:pt idx="31">
                  <c:v>1.1645516113948831</c:v>
                </c:pt>
                <c:pt idx="32">
                  <c:v>1.1572149362430952</c:v>
                </c:pt>
                <c:pt idx="33">
                  <c:v>1.1369636748588412</c:v>
                </c:pt>
                <c:pt idx="34">
                  <c:v>1.1135422231567491</c:v>
                </c:pt>
                <c:pt idx="35">
                  <c:v>1.1775709009882622</c:v>
                </c:pt>
                <c:pt idx="36">
                  <c:v>1.2080699873238583</c:v>
                </c:pt>
                <c:pt idx="37">
                  <c:v>1.2223219815870636</c:v>
                </c:pt>
                <c:pt idx="38">
                  <c:v>1.2501909227672485</c:v>
                </c:pt>
                <c:pt idx="39">
                  <c:v>1.2911971850340143</c:v>
                </c:pt>
                <c:pt idx="40">
                  <c:v>1.2603375723117012</c:v>
                </c:pt>
                <c:pt idx="41">
                  <c:v>1.3135238178632549</c:v>
                </c:pt>
                <c:pt idx="42">
                  <c:v>1.3387434751662295</c:v>
                </c:pt>
                <c:pt idx="43">
                  <c:v>1.3352757279425065</c:v>
                </c:pt>
                <c:pt idx="44">
                  <c:v>1.3491625955131086</c:v>
                </c:pt>
                <c:pt idx="45">
                  <c:v>1.3490276792535574</c:v>
                </c:pt>
                <c:pt idx="46">
                  <c:v>1.3298714862081569</c:v>
                </c:pt>
                <c:pt idx="47">
                  <c:v>1.3701665922402639</c:v>
                </c:pt>
                <c:pt idx="48">
                  <c:v>1.3530395098372607</c:v>
                </c:pt>
                <c:pt idx="49">
                  <c:v>1.4016258055960069</c:v>
                </c:pt>
                <c:pt idx="50">
                  <c:v>1.4070921462378314</c:v>
                </c:pt>
                <c:pt idx="51">
                  <c:v>1.3323755532726025</c:v>
                </c:pt>
                <c:pt idx="52">
                  <c:v>1.3095919313116411</c:v>
                </c:pt>
                <c:pt idx="53">
                  <c:v>1.3664282211305665</c:v>
                </c:pt>
                <c:pt idx="54">
                  <c:v>1.3552235097172958</c:v>
                </c:pt>
                <c:pt idx="55">
                  <c:v>1.3708081057508164</c:v>
                </c:pt>
                <c:pt idx="56">
                  <c:v>1.3662844390018387</c:v>
                </c:pt>
                <c:pt idx="57">
                  <c:v>1.3957961828842784</c:v>
                </c:pt>
                <c:pt idx="58">
                  <c:v>1.4541404633288413</c:v>
                </c:pt>
                <c:pt idx="59">
                  <c:v>1.4451247924562025</c:v>
                </c:pt>
                <c:pt idx="60">
                  <c:v>1.4653565395505894</c:v>
                </c:pt>
                <c:pt idx="61">
                  <c:v>1.4691216312130391</c:v>
                </c:pt>
                <c:pt idx="62">
                  <c:v>1.5213039453289503</c:v>
                </c:pt>
                <c:pt idx="63">
                  <c:v>1.4274340841818922</c:v>
                </c:pt>
                <c:pt idx="64">
                  <c:v>1.5220327485987255</c:v>
                </c:pt>
                <c:pt idx="65">
                  <c:v>1.6087603377019855</c:v>
                </c:pt>
                <c:pt idx="66">
                  <c:v>1.6138619605904125</c:v>
                </c:pt>
                <c:pt idx="67">
                  <c:v>1.6085416967210531</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8"/>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ax val="1.55"/>
          <c:min val="0.95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Tabelle1!$B$3:$B$6</c:f>
              <c:numCache>
                <c:formatCode>0.00%</c:formatCode>
                <c:ptCount val="4"/>
                <c:pt idx="0">
                  <c:v>-0.1595</c:v>
                </c:pt>
                <c:pt idx="1">
                  <c:v>0.12989999999999999</c:v>
                </c:pt>
                <c:pt idx="2">
                  <c:v>0.12</c:v>
                </c:pt>
                <c:pt idx="3">
                  <c:v>8.3000000000000004E-2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Tabelle1!$A$3:$A$6</c:f>
              <c:numCache>
                <c:formatCode>General</c:formatCode>
                <c:ptCount val="4"/>
                <c:pt idx="0">
                  <c:v>2022</c:v>
                </c:pt>
                <c:pt idx="1">
                  <c:v>2023</c:v>
                </c:pt>
                <c:pt idx="2">
                  <c:v>2024</c:v>
                </c:pt>
                <c:pt idx="3">
                  <c:v>2025</c:v>
                </c:pt>
              </c:numCache>
            </c:numRef>
          </c:cat>
          <c:val>
            <c:numRef>
              <c:f>Tabelle1!$C$3:$C$6</c:f>
              <c:numCache>
                <c:formatCode>0.00%</c:formatCode>
                <c:ptCount val="4"/>
                <c:pt idx="0">
                  <c:v>-0.15</c:v>
                </c:pt>
                <c:pt idx="1">
                  <c:v>0.15290000000000001</c:v>
                </c:pt>
                <c:pt idx="2">
                  <c:v>0.13980000000000001</c:v>
                </c:pt>
                <c:pt idx="3">
                  <c:v>0.1013</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0.42396</cdr:x>
      <cdr:y>0.92383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24784" y="261966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dr:relSizeAnchor xmlns:cdr="http://schemas.openxmlformats.org/drawingml/2006/chartDrawing">
    <cdr:from>
      <cdr:x>0</cdr:x>
      <cdr:y>0.00534</cdr:y>
    </cdr:from>
    <cdr:to>
      <cdr:x>0.99737</cdr:x>
      <cdr:y>0.07503</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16555"/>
          <a:ext cx="3955285"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AKTUELLE STRUKTUR</a:t>
          </a:r>
        </a:p>
      </cdr:txBody>
    </cdr:sp>
  </cdr:relSizeAnchor>
</c:userShapes>
</file>

<file path=ppt/drawings/drawing2.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0.42302</cdr:x>
      <cdr:y>0.9239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9704"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0.42064</cdr:x>
      <cdr:y>0.9239</cdr:y>
    </cdr:from>
    <cdr:to>
      <cdr:x>0.99737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2284" y="2629645"/>
          <a:ext cx="1799216"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0.00175</cdr:x>
      <cdr:y>0</cdr:y>
    </cdr:from>
    <cdr:to>
      <cdr:x>0.99912</cdr:x>
      <cdr:y>0.06968</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0.41889</cdr:x>
      <cdr:y>0.9239</cdr:y>
    </cdr:from>
    <cdr:to>
      <cdr:x>0.99564</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07352"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06.07.2026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6190148-D400-40F3-B43F-3D48F1E65470}" type="slidenum">
              <a:rPr lang="de-DE" smtClean="0"/>
              <a:t>17</a:t>
            </a:fld>
            <a:endParaRPr lang="de-DE"/>
          </a:p>
        </p:txBody>
      </p:sp>
    </p:spTree>
    <p:extLst>
      <p:ext uri="{BB962C8B-B14F-4D97-AF65-F5344CB8AC3E}">
        <p14:creationId xmlns:p14="http://schemas.microsoft.com/office/powerpoint/2010/main" val="3611372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6190148-D400-40F3-B43F-3D48F1E65470}" type="slidenum">
              <a:rPr lang="de-DE" smtClean="0"/>
              <a:t>38</a:t>
            </a:fld>
            <a:endParaRPr lang="de-DE"/>
          </a:p>
        </p:txBody>
      </p:sp>
    </p:spTree>
    <p:extLst>
      <p:ext uri="{BB962C8B-B14F-4D97-AF65-F5344CB8AC3E}">
        <p14:creationId xmlns:p14="http://schemas.microsoft.com/office/powerpoint/2010/main" val="4231617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eg"/><Relationship Id="rId3"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7.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 Id="rId3"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emf"/><Relationship Id="rId3" Type="http://schemas.openxmlformats.org/officeDocument/2006/relationships/image" Target="../media/image24.gi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9.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9.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 Id="rId3" Type="http://schemas.openxmlformats.org/officeDocument/2006/relationships/image" Target="../media/image1.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7.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 Id="rId3" Type="http://schemas.openxmlformats.org/officeDocument/2006/relationships/image" Target="../media/image7.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 Id="rId3" Type="http://schemas.openxmlformats.org/officeDocument/2006/relationships/image" Target="../media/image7.emf"/></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802536731"/>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folie">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sp>
        <p:nvSpPr>
          <p:cNvPr id="6" name="Textfeld 5">
            <a:extLst>
              <a:ext uri="{FF2B5EF4-FFF2-40B4-BE49-F238E27FC236}">
                <a16:creationId xmlns:a16="http://schemas.microsoft.com/office/drawing/2014/main" id="{57DC8C29-5C1C-C345-B76A-F343CF4F41D0}"/>
              </a:ext>
            </a:extLst>
          </p:cNvPr>
          <p:cNvSpPr txBox="1"/>
          <p:nvPr userDrawn="1"/>
        </p:nvSpPr>
        <p:spPr>
          <a:xfrm>
            <a:off x="1006475" y="328279"/>
            <a:ext cx="6411765" cy="430887"/>
          </a:xfrm>
          <a:prstGeom prst="rect">
            <a:avLst/>
          </a:prstGeom>
          <a:noFill/>
        </p:spPr>
        <p:txBody>
          <a:bodyPr wrap="square" lIns="0" tIns="0" rIns="0" bIns="0" rtlCol="0">
            <a:spAutoFit/>
          </a:bodyPr>
          <a:lstStyle/>
          <a:p>
            <a:pPr marL="0" marR="0" lvl="0" indent="0" algn="l" defTabSz="457148" rtl="0" eaLnBrk="1" fontAlgn="auto" latinLnBrk="0" hangingPunct="1">
              <a:lnSpc>
                <a:spcPct val="100000"/>
              </a:lnSpc>
              <a:spcBef>
                <a:spcPts val="0"/>
              </a:spcBef>
              <a:spcAft>
                <a:spcPts val="0"/>
              </a:spcAft>
              <a:buClrTx/>
              <a:buSzTx/>
              <a:buFontTx/>
              <a:buNone/>
              <a:tabLst/>
              <a:defRPr/>
            </a:pPr>
            <a:r>
              <a:rPr lang="de-DE" sz="1400" b="1" i="0" cap="all" spc="150" dirty="0">
                <a:solidFill>
                  <a:srgbClr val="193460"/>
                </a:solidFill>
                <a:latin typeface="Noto Sans"/>
                <a:cs typeface="Noto Sans"/>
              </a:rPr>
              <a:t>Unabhängig. Werteorientiert. Persönlich.</a:t>
            </a:r>
          </a:p>
          <a:p>
            <a:endParaRPr lang="de-DE" sz="1400" b="1" i="0" cap="all" spc="150" dirty="0">
              <a:solidFill>
                <a:srgbClr val="193460"/>
              </a:solidFill>
              <a:latin typeface="Noto Sans"/>
              <a:cs typeface="Noto Sans"/>
            </a:endParaRPr>
          </a:p>
        </p:txBody>
      </p:sp>
      <p:sp>
        <p:nvSpPr>
          <p:cNvPr id="7" name="Textfeld 6">
            <a:extLst>
              <a:ext uri="{FF2B5EF4-FFF2-40B4-BE49-F238E27FC236}">
                <a16:creationId xmlns:a16="http://schemas.microsoft.com/office/drawing/2014/main" id="{140D2DD7-C2B2-DA41-B589-B21F4D990AA6}"/>
              </a:ext>
            </a:extLst>
          </p:cNvPr>
          <p:cNvSpPr txBox="1"/>
          <p:nvPr userDrawn="1"/>
        </p:nvSpPr>
        <p:spPr>
          <a:xfrm>
            <a:off x="974391" y="4154932"/>
            <a:ext cx="6009022" cy="1846659"/>
          </a:xfrm>
          <a:prstGeom prst="rect">
            <a:avLst/>
          </a:prstGeom>
          <a:noFill/>
        </p:spPr>
        <p:txBody>
          <a:bodyPr wrap="square" lIns="0" tIns="0" rIns="0" bIns="0" rtlCol="0">
            <a:spAutoFit/>
          </a:bodyPr>
          <a:lstStyle/>
          <a:p>
            <a:pPr>
              <a:lnSpc>
                <a:spcPct val="100000"/>
              </a:lnSpc>
            </a:pPr>
            <a:r>
              <a:rPr lang="de-DE" sz="4000" b="1" i="0" cap="all" spc="340" dirty="0">
                <a:solidFill>
                  <a:srgbClr val="193460"/>
                </a:solidFill>
                <a:latin typeface="Noto Sans"/>
              </a:rPr>
              <a:t>Unsere </a:t>
            </a:r>
            <a:br>
              <a:rPr lang="de-DE" sz="4000" b="1" i="0" cap="all" spc="340" dirty="0">
                <a:solidFill>
                  <a:srgbClr val="193460"/>
                </a:solidFill>
                <a:latin typeface="Noto Sans"/>
              </a:rPr>
            </a:br>
            <a:r>
              <a:rPr lang="de-DE" sz="4000" b="1" i="0" cap="all" spc="340" dirty="0">
                <a:solidFill>
                  <a:srgbClr val="193460"/>
                </a:solidFill>
                <a:latin typeface="Noto Sans"/>
              </a:rPr>
              <a:t>ESG-Vermögens-</a:t>
            </a:r>
            <a:br>
              <a:rPr lang="de-DE" sz="4000" b="1" i="0" cap="all" spc="340" dirty="0">
                <a:solidFill>
                  <a:srgbClr val="193460"/>
                </a:solidFill>
                <a:latin typeface="Noto Sans"/>
              </a:rPr>
            </a:br>
            <a:r>
              <a:rPr lang="de-DE" sz="4000" b="1" i="0" cap="all" spc="340" dirty="0" err="1">
                <a:solidFill>
                  <a:srgbClr val="193460"/>
                </a:solidFill>
                <a:latin typeface="Noto Sans"/>
              </a:rPr>
              <a:t>verwaltung</a:t>
            </a:r>
            <a:endParaRPr lang="de-DE" sz="4000" b="1" i="0" cap="all" spc="340" dirty="0">
              <a:solidFill>
                <a:srgbClr val="193460"/>
              </a:solidFill>
              <a:latin typeface="Noto Sans"/>
            </a:endParaRPr>
          </a:p>
        </p:txBody>
      </p:sp>
    </p:spTree>
    <p:extLst>
      <p:ext uri="{BB962C8B-B14F-4D97-AF65-F5344CB8AC3E}">
        <p14:creationId xmlns:p14="http://schemas.microsoft.com/office/powerpoint/2010/main" val="251300528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pic>
        <p:nvPicPr>
          <p:cNvPr id="7" name="Grafik 6">
            <a:extLst>
              <a:ext uri="{FF2B5EF4-FFF2-40B4-BE49-F238E27FC236}">
                <a16:creationId xmlns:a16="http://schemas.microsoft.com/office/drawing/2014/main" id="{D2FD8460-3DB3-C748-B585-10EF5576BA53}"/>
              </a:ext>
            </a:extLst>
          </p:cNvPr>
          <p:cNvPicPr>
            <a:picLocks noChangeAspect="1"/>
          </p:cNvPicPr>
          <p:nvPr userDrawn="1"/>
        </p:nvPicPr>
        <p:blipFill>
          <a:blip r:embed="rId3"/>
          <a:stretch>
            <a:fillRect/>
          </a:stretch>
        </p:blipFill>
        <p:spPr>
          <a:xfrm>
            <a:off x="9057939" y="362676"/>
            <a:ext cx="1057612" cy="758721"/>
          </a:xfrm>
          <a:prstGeom prst="rect">
            <a:avLst/>
          </a:prstGeom>
        </p:spPr>
      </p:pic>
    </p:spTree>
    <p:extLst>
      <p:ext uri="{BB962C8B-B14F-4D97-AF65-F5344CB8AC3E}">
        <p14:creationId xmlns:p14="http://schemas.microsoft.com/office/powerpoint/2010/main" val="3623430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24448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54622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0404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87416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42874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8928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72826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358364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90328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440000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74320146"/>
      </p:ext>
    </p:extLst>
  </p:cSld>
  <p:clrMapOvr>
    <a:masterClrMapping/>
  </p:clrMapOvr>
  <p:extLst>
    <p:ext uri="{DCECCB84-F9BA-43D5-87BE-67443E8EF086}">
      <p15:sldGuideLst xmlns:p15="http://schemas.microsoft.com/office/powerpoint/2012/main">
        <p15:guide id="1" orient="horz" pos="295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9112825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13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185943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4134771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5149794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3030153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75979079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06.07.2026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579887855"/>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06.07.2026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Tree>
    <p:extLst>
      <p:ext uri="{BB962C8B-B14F-4D97-AF65-F5344CB8AC3E}">
        <p14:creationId xmlns:p14="http://schemas.microsoft.com/office/powerpoint/2010/main" val="165070064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Grußfolie">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
        <p:nvSpPr>
          <p:cNvPr id="6" name="Textplatzhalter 1">
            <a:extLst>
              <a:ext uri="{FF2B5EF4-FFF2-40B4-BE49-F238E27FC236}">
                <a16:creationId xmlns:a16="http://schemas.microsoft.com/office/drawing/2014/main" id="{26D89C88-C9B5-864B-A98F-E3A0511128CC}"/>
              </a:ext>
            </a:extLst>
          </p:cNvPr>
          <p:cNvSpPr>
            <a:spLocks noGrp="1"/>
          </p:cNvSpPr>
          <p:nvPr>
            <p:ph type="body" sz="quarter" idx="10"/>
          </p:nvPr>
        </p:nvSpPr>
        <p:spPr>
          <a:xfrm>
            <a:off x="1036594" y="2084366"/>
            <a:ext cx="6091720" cy="1827500"/>
          </a:xfrm>
        </p:spPr>
        <p:txBody>
          <a:bodyPr anchor="b"/>
          <a:lstStyle>
            <a:lvl1pPr>
              <a:lnSpc>
                <a:spcPct val="100000"/>
              </a:lnSpc>
              <a:defRPr sz="48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endParaRPr lang="de-DE" dirty="0"/>
          </a:p>
        </p:txBody>
      </p:sp>
      <p:sp>
        <p:nvSpPr>
          <p:cNvPr id="7" name="Textplatzhalter 2">
            <a:extLst>
              <a:ext uri="{FF2B5EF4-FFF2-40B4-BE49-F238E27FC236}">
                <a16:creationId xmlns:a16="http://schemas.microsoft.com/office/drawing/2014/main" id="{C17EC96E-DFFC-8845-8BF0-F0D7838EB5D2}"/>
              </a:ext>
            </a:extLst>
          </p:cNvPr>
          <p:cNvSpPr>
            <a:spLocks noGrp="1"/>
          </p:cNvSpPr>
          <p:nvPr>
            <p:ph type="body" sz="quarter" idx="11"/>
          </p:nvPr>
        </p:nvSpPr>
        <p:spPr>
          <a:xfrm>
            <a:off x="1021200" y="4074419"/>
            <a:ext cx="7510463" cy="1827500"/>
          </a:xfrm>
        </p:spPr>
        <p:txBody>
          <a:bodyPr/>
          <a:lstStyle>
            <a:lvl1pPr>
              <a:lnSpc>
                <a:spcPct val="100000"/>
              </a:lnSpc>
              <a:defRPr sz="2800" b="0">
                <a:solidFill>
                  <a:schemeClr val="accent3"/>
                </a:solidFill>
              </a:defRPr>
            </a:lvl1pPr>
          </a:lstStyle>
          <a:p>
            <a:endParaRPr lang="de-DE" dirty="0"/>
          </a:p>
        </p:txBody>
      </p:sp>
    </p:spTree>
    <p:extLst>
      <p:ext uri="{BB962C8B-B14F-4D97-AF65-F5344CB8AC3E}">
        <p14:creationId xmlns:p14="http://schemas.microsoft.com/office/powerpoint/2010/main" val="948002339"/>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Gruß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el">
            <a:extLst>
              <a:ext uri="{FF2B5EF4-FFF2-40B4-BE49-F238E27FC236}">
                <a16:creationId xmlns:a16="http://schemas.microsoft.com/office/drawing/2014/main" id="{40DCB1BC-8805-7C40-ADAC-DFDE8BF22B3E}"/>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Mastertitelformat bearbeiten</a:t>
            </a:r>
          </a:p>
        </p:txBody>
      </p:sp>
    </p:spTree>
    <p:extLst>
      <p:ext uri="{BB962C8B-B14F-4D97-AF65-F5344CB8AC3E}">
        <p14:creationId xmlns:p14="http://schemas.microsoft.com/office/powerpoint/2010/main" val="811752780"/>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_Grußfolie">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
        <p:nvSpPr>
          <p:cNvPr id="6" name="Textplatzhalter 1">
            <a:extLst>
              <a:ext uri="{FF2B5EF4-FFF2-40B4-BE49-F238E27FC236}">
                <a16:creationId xmlns:a16="http://schemas.microsoft.com/office/drawing/2014/main" id="{26D89C88-C9B5-864B-A98F-E3A0511128CC}"/>
              </a:ext>
            </a:extLst>
          </p:cNvPr>
          <p:cNvSpPr>
            <a:spLocks noGrp="1"/>
          </p:cNvSpPr>
          <p:nvPr>
            <p:ph type="body" sz="quarter" idx="10" hasCustomPrompt="1"/>
          </p:nvPr>
        </p:nvSpPr>
        <p:spPr>
          <a:xfrm>
            <a:off x="1021200" y="588164"/>
            <a:ext cx="6091720" cy="1066466"/>
          </a:xfrm>
        </p:spPr>
        <p:txBody>
          <a:bodyPr anchor="b"/>
          <a:lstStyle>
            <a:lvl1pPr>
              <a:lnSpc>
                <a:spcPct val="100000"/>
              </a:lnSpc>
              <a:defRPr sz="48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de-DE" dirty="0"/>
              <a:t>VIELEN DANK.</a:t>
            </a:r>
          </a:p>
        </p:txBody>
      </p:sp>
      <p:sp>
        <p:nvSpPr>
          <p:cNvPr id="5" name="Textfeld 4">
            <a:extLst>
              <a:ext uri="{FF2B5EF4-FFF2-40B4-BE49-F238E27FC236}">
                <a16:creationId xmlns:a16="http://schemas.microsoft.com/office/drawing/2014/main" id="{29C2F0F0-1C48-FC4A-A81E-B74A699D3479}"/>
              </a:ext>
            </a:extLst>
          </p:cNvPr>
          <p:cNvSpPr txBox="1"/>
          <p:nvPr userDrawn="1"/>
        </p:nvSpPr>
        <p:spPr>
          <a:xfrm>
            <a:off x="1187450" y="6199287"/>
            <a:ext cx="2484438" cy="215444"/>
          </a:xfrm>
          <a:prstGeom prst="rect">
            <a:avLst/>
          </a:prstGeom>
          <a:noFill/>
        </p:spPr>
        <p:txBody>
          <a:bodyPr wrap="square" lIns="0" tIns="0" rIns="0" bIns="0" rtlCol="0">
            <a:spAutoFit/>
          </a:bodyPr>
          <a:lstStyle/>
          <a:p>
            <a:pPr marL="0" marR="0" lvl="0" indent="0" algn="l" defTabSz="457148" rtl="0" eaLnBrk="1" fontAlgn="auto" latinLnBrk="0" hangingPunct="1">
              <a:lnSpc>
                <a:spcPct val="100000"/>
              </a:lnSpc>
              <a:spcBef>
                <a:spcPts val="0"/>
              </a:spcBef>
              <a:spcAft>
                <a:spcPts val="0"/>
              </a:spcAft>
              <a:buClrTx/>
              <a:buSzTx/>
              <a:buFontTx/>
              <a:buNone/>
              <a:tabLst/>
              <a:defRPr/>
            </a:pPr>
            <a:r>
              <a:rPr lang="de-DE" sz="1400" b="1" kern="0" spc="130" dirty="0">
                <a:solidFill>
                  <a:srgbClr val="FFFFFF"/>
                </a:solidFill>
                <a:latin typeface="Noto Sans"/>
                <a:cs typeface="Noto Sans"/>
              </a:rPr>
              <a:t>WWW.FUGGERBANK.DE</a:t>
            </a:r>
          </a:p>
        </p:txBody>
      </p:sp>
    </p:spTree>
    <p:extLst>
      <p:ext uri="{BB962C8B-B14F-4D97-AF65-F5344CB8AC3E}">
        <p14:creationId xmlns:p14="http://schemas.microsoft.com/office/powerpoint/2010/main" val="2904871532"/>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2_Grußfolie">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2800" b="0" cap="none" baseline="0">
                <a:solidFill>
                  <a:schemeClr val="bg1"/>
                </a:solidFill>
                <a:latin typeface="+mj-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hasCustomPrompt="1"/>
          </p:nvPr>
        </p:nvSpPr>
        <p:spPr>
          <a:xfrm>
            <a:off x="1006475" y="1046481"/>
            <a:ext cx="6626225" cy="858520"/>
          </a:xfrm>
        </p:spPr>
        <p:txBody>
          <a:bodyPr tIns="0" anchor="t" anchorCtr="0"/>
          <a:lstStyle>
            <a:lvl1pPr algn="l">
              <a:lnSpc>
                <a:spcPts val="3450"/>
              </a:lnSpc>
              <a:defRPr sz="3600">
                <a:solidFill>
                  <a:schemeClr val="bg1"/>
                </a:solidFill>
                <a:latin typeface="+mn-lt"/>
              </a:defRPr>
            </a:lvl1pPr>
          </a:lstStyle>
          <a:p>
            <a:r>
              <a:rPr lang="de-DE" dirty="0"/>
              <a:t>MASTERTITELFORMAT BEARBEITEN</a:t>
            </a:r>
          </a:p>
        </p:txBody>
      </p:sp>
    </p:spTree>
    <p:extLst>
      <p:ext uri="{BB962C8B-B14F-4D97-AF65-F5344CB8AC3E}">
        <p14:creationId xmlns:p14="http://schemas.microsoft.com/office/powerpoint/2010/main" val="1053545515"/>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778007278"/>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Titelfolie">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sp>
        <p:nvSpPr>
          <p:cNvPr id="6" name="Textfeld 5">
            <a:extLst>
              <a:ext uri="{FF2B5EF4-FFF2-40B4-BE49-F238E27FC236}">
                <a16:creationId xmlns:a16="http://schemas.microsoft.com/office/drawing/2014/main" id="{57DC8C29-5C1C-C345-B76A-F343CF4F41D0}"/>
              </a:ext>
            </a:extLst>
          </p:cNvPr>
          <p:cNvSpPr txBox="1"/>
          <p:nvPr userDrawn="1"/>
        </p:nvSpPr>
        <p:spPr>
          <a:xfrm>
            <a:off x="1006475" y="328279"/>
            <a:ext cx="6411765" cy="430887"/>
          </a:xfrm>
          <a:prstGeom prst="rect">
            <a:avLst/>
          </a:prstGeom>
          <a:noFill/>
        </p:spPr>
        <p:txBody>
          <a:bodyPr wrap="square" lIns="0" tIns="0" rIns="0" bIns="0" rtlCol="0">
            <a:spAutoFit/>
          </a:bodyPr>
          <a:lstStyle/>
          <a:p>
            <a:pPr marL="0" marR="0" lvl="0" indent="0" algn="l" defTabSz="457148" rtl="0" eaLnBrk="1" fontAlgn="auto" latinLnBrk="0" hangingPunct="1">
              <a:lnSpc>
                <a:spcPct val="100000"/>
              </a:lnSpc>
              <a:spcBef>
                <a:spcPts val="0"/>
              </a:spcBef>
              <a:spcAft>
                <a:spcPts val="0"/>
              </a:spcAft>
              <a:buClrTx/>
              <a:buSzTx/>
              <a:buFontTx/>
              <a:buNone/>
              <a:tabLst/>
              <a:defRPr/>
            </a:pPr>
            <a:r>
              <a:rPr lang="de-DE" sz="1400" b="1" i="0" cap="all" spc="150" dirty="0">
                <a:solidFill>
                  <a:srgbClr val="193460"/>
                </a:solidFill>
                <a:latin typeface="Noto Sans"/>
                <a:cs typeface="Noto Sans"/>
              </a:rPr>
              <a:t>Unabhängig. Werteorientiert. Persönlich.</a:t>
            </a:r>
          </a:p>
          <a:p>
            <a:endParaRPr lang="de-DE" sz="1400" b="1" i="0" cap="all" spc="150" dirty="0">
              <a:solidFill>
                <a:srgbClr val="193460"/>
              </a:solidFill>
              <a:latin typeface="Noto Sans"/>
              <a:cs typeface="Noto Sans"/>
            </a:endParaRPr>
          </a:p>
        </p:txBody>
      </p:sp>
      <p:sp>
        <p:nvSpPr>
          <p:cNvPr id="7" name="Textfeld 6">
            <a:extLst>
              <a:ext uri="{FF2B5EF4-FFF2-40B4-BE49-F238E27FC236}">
                <a16:creationId xmlns:a16="http://schemas.microsoft.com/office/drawing/2014/main" id="{140D2DD7-C2B2-DA41-B589-B21F4D990AA6}"/>
              </a:ext>
            </a:extLst>
          </p:cNvPr>
          <p:cNvSpPr txBox="1"/>
          <p:nvPr userDrawn="1"/>
        </p:nvSpPr>
        <p:spPr>
          <a:xfrm>
            <a:off x="974391" y="4154932"/>
            <a:ext cx="6009022" cy="1846659"/>
          </a:xfrm>
          <a:prstGeom prst="rect">
            <a:avLst/>
          </a:prstGeom>
          <a:noFill/>
        </p:spPr>
        <p:txBody>
          <a:bodyPr wrap="square" lIns="0" tIns="0" rIns="0" bIns="0" rtlCol="0">
            <a:spAutoFit/>
          </a:bodyPr>
          <a:lstStyle/>
          <a:p>
            <a:pPr>
              <a:lnSpc>
                <a:spcPct val="100000"/>
              </a:lnSpc>
            </a:pPr>
            <a:r>
              <a:rPr lang="de-DE" sz="4000" b="1" i="0" cap="all" spc="340" dirty="0">
                <a:solidFill>
                  <a:srgbClr val="193460"/>
                </a:solidFill>
                <a:latin typeface="Noto Sans"/>
              </a:rPr>
              <a:t>Unsere </a:t>
            </a:r>
            <a:br>
              <a:rPr lang="de-DE" sz="4000" b="1" i="0" cap="all" spc="340" dirty="0">
                <a:solidFill>
                  <a:srgbClr val="193460"/>
                </a:solidFill>
                <a:latin typeface="Noto Sans"/>
              </a:rPr>
            </a:br>
            <a:r>
              <a:rPr lang="de-DE" sz="4000" b="1" i="0" cap="all" spc="340" dirty="0">
                <a:solidFill>
                  <a:srgbClr val="193460"/>
                </a:solidFill>
                <a:latin typeface="Noto Sans"/>
              </a:rPr>
              <a:t>ESG-Vermögens-</a:t>
            </a:r>
            <a:br>
              <a:rPr lang="de-DE" sz="4000" b="1" i="0" cap="all" spc="340" dirty="0">
                <a:solidFill>
                  <a:srgbClr val="193460"/>
                </a:solidFill>
                <a:latin typeface="Noto Sans"/>
              </a:rPr>
            </a:br>
            <a:r>
              <a:rPr lang="de-DE" sz="4000" b="1" i="0" cap="all" spc="340" dirty="0" err="1">
                <a:solidFill>
                  <a:srgbClr val="193460"/>
                </a:solidFill>
                <a:latin typeface="Noto Sans"/>
              </a:rPr>
              <a:t>verwaltung</a:t>
            </a:r>
            <a:endParaRPr lang="de-DE" sz="4000" b="1" i="0" cap="all" spc="340" dirty="0">
              <a:solidFill>
                <a:srgbClr val="193460"/>
              </a:solidFill>
              <a:latin typeface="Noto Sans"/>
            </a:endParaRPr>
          </a:p>
        </p:txBody>
      </p:sp>
    </p:spTree>
    <p:extLst>
      <p:ext uri="{BB962C8B-B14F-4D97-AF65-F5344CB8AC3E}">
        <p14:creationId xmlns:p14="http://schemas.microsoft.com/office/powerpoint/2010/main" val="3916408447"/>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pic>
        <p:nvPicPr>
          <p:cNvPr id="7" name="Grafik 6">
            <a:extLst>
              <a:ext uri="{FF2B5EF4-FFF2-40B4-BE49-F238E27FC236}">
                <a16:creationId xmlns:a16="http://schemas.microsoft.com/office/drawing/2014/main" id="{D2FD8460-3DB3-C748-B585-10EF5576BA53}"/>
              </a:ext>
            </a:extLst>
          </p:cNvPr>
          <p:cNvPicPr>
            <a:picLocks noChangeAspect="1"/>
          </p:cNvPicPr>
          <p:nvPr userDrawn="1"/>
        </p:nvPicPr>
        <p:blipFill>
          <a:blip r:embed="rId2"/>
          <a:stretch>
            <a:fillRect/>
          </a:stretch>
        </p:blipFill>
        <p:spPr>
          <a:xfrm>
            <a:off x="9057939" y="362676"/>
            <a:ext cx="1057612" cy="758721"/>
          </a:xfrm>
          <a:prstGeom prst="rect">
            <a:avLst/>
          </a:prstGeom>
        </p:spPr>
      </p:pic>
      <p:pic>
        <p:nvPicPr>
          <p:cNvPr id="14" name="Grafik 13">
            <a:extLst>
              <a:ext uri="{FF2B5EF4-FFF2-40B4-BE49-F238E27FC236}">
                <a16:creationId xmlns:a16="http://schemas.microsoft.com/office/drawing/2014/main" id="{586D1027-A8AC-F497-DBD8-6C26431378D1}"/>
              </a:ext>
            </a:extLst>
          </p:cNvPr>
          <p:cNvPicPr>
            <a:picLocks noChangeAspect="1"/>
          </p:cNvPicPr>
          <p:nvPr userDrawn="1"/>
        </p:nvPicPr>
        <p:blipFill>
          <a:blip r:embed="rId3"/>
          <a:stretch>
            <a:fillRect/>
          </a:stretch>
        </p:blipFill>
        <p:spPr>
          <a:xfrm>
            <a:off x="0" y="-1179263"/>
            <a:ext cx="10439400" cy="2632030"/>
          </a:xfrm>
          <a:prstGeom prst="rect">
            <a:avLst/>
          </a:prstGeom>
        </p:spPr>
      </p:pic>
    </p:spTree>
    <p:extLst>
      <p:ext uri="{BB962C8B-B14F-4D97-AF65-F5344CB8AC3E}">
        <p14:creationId xmlns:p14="http://schemas.microsoft.com/office/powerpoint/2010/main" val="721819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937365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091296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9901604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7525374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6993853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891192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751287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2143665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5652998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4186956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8709941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2496652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25703777"/>
      </p:ext>
    </p:extLst>
  </p:cSld>
  <p:clrMapOvr>
    <a:masterClrMapping/>
  </p:clrMapOvr>
  <p:extLst>
    <p:ext uri="{DCECCB84-F9BA-43D5-87BE-67443E8EF086}">
      <p15:sldGuideLst xmlns:p15="http://schemas.microsoft.com/office/powerpoint/2012/main">
        <p15:guide id="1" orient="horz" pos="295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4312779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8110519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5375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3306203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22012973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23106001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21668629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3586603012"/>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06.07.2026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4251605339"/>
      </p:ext>
    </p:extLst>
  </p:cSld>
  <p:clrMapOvr>
    <a:masterClrMapping/>
  </p:clrMapOvr>
  <p:hf hdr="0" ftr="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06.07.2026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Tree>
    <p:extLst>
      <p:ext uri="{BB962C8B-B14F-4D97-AF65-F5344CB8AC3E}">
        <p14:creationId xmlns:p14="http://schemas.microsoft.com/office/powerpoint/2010/main" val="1606597305"/>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Grußfolie">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
        <p:nvSpPr>
          <p:cNvPr id="6" name="Textplatzhalter 1">
            <a:extLst>
              <a:ext uri="{FF2B5EF4-FFF2-40B4-BE49-F238E27FC236}">
                <a16:creationId xmlns:a16="http://schemas.microsoft.com/office/drawing/2014/main" id="{26D89C88-C9B5-864B-A98F-E3A0511128CC}"/>
              </a:ext>
            </a:extLst>
          </p:cNvPr>
          <p:cNvSpPr>
            <a:spLocks noGrp="1"/>
          </p:cNvSpPr>
          <p:nvPr>
            <p:ph type="body" sz="quarter" idx="10"/>
          </p:nvPr>
        </p:nvSpPr>
        <p:spPr>
          <a:xfrm>
            <a:off x="1036594" y="2084366"/>
            <a:ext cx="6091720" cy="1827500"/>
          </a:xfrm>
        </p:spPr>
        <p:txBody>
          <a:bodyPr anchor="b"/>
          <a:lstStyle>
            <a:lvl1pPr>
              <a:lnSpc>
                <a:spcPct val="100000"/>
              </a:lnSpc>
              <a:defRPr sz="48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endParaRPr lang="de-DE" dirty="0"/>
          </a:p>
        </p:txBody>
      </p:sp>
      <p:sp>
        <p:nvSpPr>
          <p:cNvPr id="7" name="Textplatzhalter 2">
            <a:extLst>
              <a:ext uri="{FF2B5EF4-FFF2-40B4-BE49-F238E27FC236}">
                <a16:creationId xmlns:a16="http://schemas.microsoft.com/office/drawing/2014/main" id="{C17EC96E-DFFC-8845-8BF0-F0D7838EB5D2}"/>
              </a:ext>
            </a:extLst>
          </p:cNvPr>
          <p:cNvSpPr>
            <a:spLocks noGrp="1"/>
          </p:cNvSpPr>
          <p:nvPr>
            <p:ph type="body" sz="quarter" idx="11"/>
          </p:nvPr>
        </p:nvSpPr>
        <p:spPr>
          <a:xfrm>
            <a:off x="1021200" y="4074419"/>
            <a:ext cx="7510463" cy="1827500"/>
          </a:xfrm>
        </p:spPr>
        <p:txBody>
          <a:bodyPr/>
          <a:lstStyle>
            <a:lvl1pPr>
              <a:lnSpc>
                <a:spcPct val="100000"/>
              </a:lnSpc>
              <a:defRPr sz="2800" b="0">
                <a:solidFill>
                  <a:schemeClr val="accent3"/>
                </a:solidFill>
              </a:defRPr>
            </a:lvl1pPr>
          </a:lstStyle>
          <a:p>
            <a:endParaRPr lang="de-DE" dirty="0"/>
          </a:p>
        </p:txBody>
      </p:sp>
    </p:spTree>
    <p:extLst>
      <p:ext uri="{BB962C8B-B14F-4D97-AF65-F5344CB8AC3E}">
        <p14:creationId xmlns:p14="http://schemas.microsoft.com/office/powerpoint/2010/main" val="1254328019"/>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4_Gruß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el">
            <a:extLst>
              <a:ext uri="{FF2B5EF4-FFF2-40B4-BE49-F238E27FC236}">
                <a16:creationId xmlns:a16="http://schemas.microsoft.com/office/drawing/2014/main" id="{40DCB1BC-8805-7C40-ADAC-DFDE8BF22B3E}"/>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Mastertitelformat bearbeiten</a:t>
            </a:r>
          </a:p>
        </p:txBody>
      </p:sp>
    </p:spTree>
    <p:extLst>
      <p:ext uri="{BB962C8B-B14F-4D97-AF65-F5344CB8AC3E}">
        <p14:creationId xmlns:p14="http://schemas.microsoft.com/office/powerpoint/2010/main" val="281894537"/>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_Grußfolie">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
        <p:nvSpPr>
          <p:cNvPr id="6" name="Textplatzhalter 1">
            <a:extLst>
              <a:ext uri="{FF2B5EF4-FFF2-40B4-BE49-F238E27FC236}">
                <a16:creationId xmlns:a16="http://schemas.microsoft.com/office/drawing/2014/main" id="{26D89C88-C9B5-864B-A98F-E3A0511128CC}"/>
              </a:ext>
            </a:extLst>
          </p:cNvPr>
          <p:cNvSpPr>
            <a:spLocks noGrp="1"/>
          </p:cNvSpPr>
          <p:nvPr>
            <p:ph type="body" sz="quarter" idx="10" hasCustomPrompt="1"/>
          </p:nvPr>
        </p:nvSpPr>
        <p:spPr>
          <a:xfrm>
            <a:off x="1021200" y="588164"/>
            <a:ext cx="6091720" cy="1066466"/>
          </a:xfrm>
        </p:spPr>
        <p:txBody>
          <a:bodyPr anchor="b"/>
          <a:lstStyle>
            <a:lvl1pPr>
              <a:lnSpc>
                <a:spcPct val="100000"/>
              </a:lnSpc>
              <a:defRPr sz="48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de-DE" dirty="0"/>
              <a:t>VIELEN DANK.</a:t>
            </a:r>
          </a:p>
        </p:txBody>
      </p:sp>
      <p:sp>
        <p:nvSpPr>
          <p:cNvPr id="5" name="Textfeld 4">
            <a:extLst>
              <a:ext uri="{FF2B5EF4-FFF2-40B4-BE49-F238E27FC236}">
                <a16:creationId xmlns:a16="http://schemas.microsoft.com/office/drawing/2014/main" id="{29C2F0F0-1C48-FC4A-A81E-B74A699D3479}"/>
              </a:ext>
            </a:extLst>
          </p:cNvPr>
          <p:cNvSpPr txBox="1"/>
          <p:nvPr userDrawn="1"/>
        </p:nvSpPr>
        <p:spPr>
          <a:xfrm>
            <a:off x="1187450" y="6199287"/>
            <a:ext cx="2484438" cy="215444"/>
          </a:xfrm>
          <a:prstGeom prst="rect">
            <a:avLst/>
          </a:prstGeom>
          <a:noFill/>
        </p:spPr>
        <p:txBody>
          <a:bodyPr wrap="square" lIns="0" tIns="0" rIns="0" bIns="0" rtlCol="0">
            <a:spAutoFit/>
          </a:bodyPr>
          <a:lstStyle/>
          <a:p>
            <a:pPr marL="0" marR="0" lvl="0" indent="0" algn="l" defTabSz="457148" rtl="0" eaLnBrk="1" fontAlgn="auto" latinLnBrk="0" hangingPunct="1">
              <a:lnSpc>
                <a:spcPct val="100000"/>
              </a:lnSpc>
              <a:spcBef>
                <a:spcPts val="0"/>
              </a:spcBef>
              <a:spcAft>
                <a:spcPts val="0"/>
              </a:spcAft>
              <a:buClrTx/>
              <a:buSzTx/>
              <a:buFontTx/>
              <a:buNone/>
              <a:tabLst/>
              <a:defRPr/>
            </a:pPr>
            <a:r>
              <a:rPr lang="de-DE" sz="1400" b="1" kern="0" spc="130" dirty="0">
                <a:solidFill>
                  <a:srgbClr val="FFFFFF"/>
                </a:solidFill>
                <a:latin typeface="Noto Sans"/>
                <a:cs typeface="Noto Sans"/>
              </a:rPr>
              <a:t>WWW.FUGGERBANK.DE</a:t>
            </a:r>
          </a:p>
        </p:txBody>
      </p:sp>
    </p:spTree>
    <p:extLst>
      <p:ext uri="{BB962C8B-B14F-4D97-AF65-F5344CB8AC3E}">
        <p14:creationId xmlns:p14="http://schemas.microsoft.com/office/powerpoint/2010/main" val="2138777155"/>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2_Grußfolie">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2800" b="0" cap="none" baseline="0">
                <a:solidFill>
                  <a:schemeClr val="bg1"/>
                </a:solidFill>
                <a:latin typeface="+mj-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hasCustomPrompt="1"/>
          </p:nvPr>
        </p:nvSpPr>
        <p:spPr>
          <a:xfrm>
            <a:off x="1006475" y="1046481"/>
            <a:ext cx="6626225" cy="858520"/>
          </a:xfrm>
        </p:spPr>
        <p:txBody>
          <a:bodyPr tIns="0" anchor="t" anchorCtr="0"/>
          <a:lstStyle>
            <a:lvl1pPr algn="l">
              <a:lnSpc>
                <a:spcPts val="3450"/>
              </a:lnSpc>
              <a:defRPr sz="3600">
                <a:solidFill>
                  <a:schemeClr val="bg1"/>
                </a:solidFill>
                <a:latin typeface="+mn-lt"/>
              </a:defRPr>
            </a:lvl1pPr>
          </a:lstStyle>
          <a:p>
            <a:r>
              <a:rPr lang="de-DE" dirty="0"/>
              <a:t>MASTERTITELFORMAT BEARBEITEN</a:t>
            </a:r>
          </a:p>
        </p:txBody>
      </p:sp>
    </p:spTree>
    <p:extLst>
      <p:ext uri="{BB962C8B-B14F-4D97-AF65-F5344CB8AC3E}">
        <p14:creationId xmlns:p14="http://schemas.microsoft.com/office/powerpoint/2010/main" val="293918556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svg"/><Relationship Id="rId33"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theme" Target="../theme/theme2.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06.07.2026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613421600"/>
      </p:ext>
    </p:extLst>
  </p:cSld>
  <p:clrMap bg1="lt1" tx1="dk1" bg2="lt2" tx2="dk2" accent1="accent1" accent2="accent2" accent3="accent3" accent4="accent4" accent5="accent5" accent6="accent6" hlink="hlink" folHlink="folHlink"/>
  <p:sldLayoutIdLst>
    <p:sldLayoutId id="2147483649" r:id="rId1"/>
    <p:sldLayoutId id="2147483683" r:id="rId2"/>
    <p:sldLayoutId id="2147483662" r:id="rId3"/>
    <p:sldLayoutId id="2147483663" r:id="rId4"/>
    <p:sldLayoutId id="2147483664" r:id="rId5"/>
    <p:sldLayoutId id="2147483667" r:id="rId6"/>
    <p:sldLayoutId id="2147483668" r:id="rId7"/>
    <p:sldLayoutId id="2147483669" r:id="rId8"/>
    <p:sldLayoutId id="2147483670" r:id="rId9"/>
    <p:sldLayoutId id="2147483673" r:id="rId10"/>
    <p:sldLayoutId id="2147483677" r:id="rId11"/>
    <p:sldLayoutId id="2147483678" r:id="rId12"/>
    <p:sldLayoutId id="2147483650" r:id="rId13"/>
    <p:sldLayoutId id="2147483672" r:id="rId14"/>
    <p:sldLayoutId id="2147483671" r:id="rId15"/>
    <p:sldLayoutId id="2147483665" r:id="rId16"/>
    <p:sldLayoutId id="2147483660" r:id="rId17"/>
    <p:sldLayoutId id="2147483666" r:id="rId18"/>
    <p:sldLayoutId id="2147483661" r:id="rId19"/>
    <p:sldLayoutId id="2147483654" r:id="rId20"/>
    <p:sldLayoutId id="2147483655" r:id="rId21"/>
    <p:sldLayoutId id="2147483674" r:id="rId22"/>
    <p:sldLayoutId id="2147483675" r:id="rId23"/>
    <p:sldLayoutId id="2147483676" r:id="rId24"/>
    <p:sldLayoutId id="2147483679" r:id="rId25"/>
    <p:sldLayoutId id="2147483680" r:id="rId26"/>
    <p:sldLayoutId id="2147483681" r:id="rId27"/>
    <p:sldLayoutId id="2147483685" r:id="rId28"/>
    <p:sldLayoutId id="2147483684" r:id="rId29"/>
    <p:sldLayoutId id="2147483682" r:id="rId30"/>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userDrawn="1">
          <p15:clr>
            <a:srgbClr val="F26B43"/>
          </p15:clr>
        </p15:guide>
        <p15:guide id="3" pos="226" userDrawn="1">
          <p15:clr>
            <a:srgbClr val="F26B43"/>
          </p15:clr>
        </p15:guide>
        <p15:guide id="15" pos="634" userDrawn="1">
          <p15:clr>
            <a:srgbClr val="F26B43"/>
          </p15:clr>
        </p15:guide>
        <p15:guide id="16" pos="748" userDrawn="1">
          <p15:clr>
            <a:srgbClr val="F26B43"/>
          </p15:clr>
        </p15:guide>
        <p15:guide id="17" pos="1156" userDrawn="1">
          <p15:clr>
            <a:srgbClr val="F26B43"/>
          </p15:clr>
        </p15:guide>
        <p15:guide id="18" pos="1270" userDrawn="1">
          <p15:clr>
            <a:srgbClr val="F26B43"/>
          </p15:clr>
        </p15:guide>
        <p15:guide id="19" pos="1678" userDrawn="1">
          <p15:clr>
            <a:srgbClr val="F26B43"/>
          </p15:clr>
        </p15:guide>
        <p15:guide id="20" pos="1791" userDrawn="1">
          <p15:clr>
            <a:srgbClr val="F26B43"/>
          </p15:clr>
        </p15:guide>
        <p15:guide id="21" pos="2199" userDrawn="1">
          <p15:clr>
            <a:srgbClr val="F26B43"/>
          </p15:clr>
        </p15:guide>
        <p15:guide id="22" pos="2313" userDrawn="1">
          <p15:clr>
            <a:srgbClr val="F26B43"/>
          </p15:clr>
        </p15:guide>
        <p15:guide id="23" pos="2721" userDrawn="1">
          <p15:clr>
            <a:srgbClr val="F26B43"/>
          </p15:clr>
        </p15:guide>
        <p15:guide id="24" pos="2834" userDrawn="1">
          <p15:clr>
            <a:srgbClr val="F26B43"/>
          </p15:clr>
        </p15:guide>
        <p15:guide id="25" pos="3243" userDrawn="1">
          <p15:clr>
            <a:srgbClr val="F26B43"/>
          </p15:clr>
        </p15:guide>
        <p15:guide id="26" pos="3356" userDrawn="1">
          <p15:clr>
            <a:srgbClr val="F26B43"/>
          </p15:clr>
        </p15:guide>
        <p15:guide id="27" pos="3764" userDrawn="1">
          <p15:clr>
            <a:srgbClr val="F26B43"/>
          </p15:clr>
        </p15:guide>
        <p15:guide id="28" pos="3878" userDrawn="1">
          <p15:clr>
            <a:srgbClr val="F26B43"/>
          </p15:clr>
        </p15:guide>
        <p15:guide id="29" pos="4286" userDrawn="1">
          <p15:clr>
            <a:srgbClr val="F26B43"/>
          </p15:clr>
        </p15:guide>
        <p15:guide id="30" pos="4399" userDrawn="1">
          <p15:clr>
            <a:srgbClr val="F26B43"/>
          </p15:clr>
        </p15:guide>
        <p15:guide id="31" pos="4808" userDrawn="1">
          <p15:clr>
            <a:srgbClr val="F26B43"/>
          </p15:clr>
        </p15:guide>
        <p15:guide id="32" pos="4921" userDrawn="1">
          <p15:clr>
            <a:srgbClr val="F26B43"/>
          </p15:clr>
        </p15:guide>
        <p15:guide id="33" pos="5329" userDrawn="1">
          <p15:clr>
            <a:srgbClr val="F26B43"/>
          </p15:clr>
        </p15:guide>
        <p15:guide id="34" pos="5443" userDrawn="1">
          <p15:clr>
            <a:srgbClr val="F26B43"/>
          </p15:clr>
        </p15:guide>
        <p15:guide id="35" pos="5851" userDrawn="1">
          <p15:clr>
            <a:srgbClr val="F26B43"/>
          </p15:clr>
        </p15:guide>
        <p15:guide id="36" pos="5964" userDrawn="1">
          <p15:clr>
            <a:srgbClr val="F26B43"/>
          </p15:clr>
        </p15:guide>
        <p15:guide id="37" pos="6372" userDrawn="1">
          <p15:clr>
            <a:srgbClr val="F26B43"/>
          </p15:clr>
        </p15:guide>
        <p15:guide id="38" orient="horz" pos="4002" userDrawn="1">
          <p15:clr>
            <a:srgbClr val="F26B43"/>
          </p15:clr>
        </p15:guide>
        <p15:guide id="39" orient="horz" userDrawn="1">
          <p15:clr>
            <a:srgbClr val="F26B43"/>
          </p15:clr>
        </p15:guide>
        <p15:guide id="40" orient="horz" pos="656" userDrawn="1">
          <p15:clr>
            <a:srgbClr val="F26B43"/>
          </p15:clr>
        </p15:guide>
        <p15:guide id="41" orient="horz" pos="4195" userDrawn="1">
          <p15:clr>
            <a:srgbClr val="F26B43"/>
          </p15:clr>
        </p15:guide>
        <p15:guide id="42" orient="horz" pos="367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06.07.2026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89744761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p15:clr>
            <a:srgbClr val="F26B43"/>
          </p15:clr>
        </p15:guide>
        <p15:guide id="3" pos="226">
          <p15:clr>
            <a:srgbClr val="F26B43"/>
          </p15:clr>
        </p15:guide>
        <p15:guide id="15" pos="634">
          <p15:clr>
            <a:srgbClr val="F26B43"/>
          </p15:clr>
        </p15:guide>
        <p15:guide id="16" pos="748">
          <p15:clr>
            <a:srgbClr val="F26B43"/>
          </p15:clr>
        </p15:guide>
        <p15:guide id="17" pos="1156">
          <p15:clr>
            <a:srgbClr val="F26B43"/>
          </p15:clr>
        </p15:guide>
        <p15:guide id="18" pos="1270">
          <p15:clr>
            <a:srgbClr val="F26B43"/>
          </p15:clr>
        </p15:guide>
        <p15:guide id="19" pos="1678">
          <p15:clr>
            <a:srgbClr val="F26B43"/>
          </p15:clr>
        </p15:guide>
        <p15:guide id="20" pos="1791">
          <p15:clr>
            <a:srgbClr val="F26B43"/>
          </p15:clr>
        </p15:guide>
        <p15:guide id="21" pos="2199">
          <p15:clr>
            <a:srgbClr val="F26B43"/>
          </p15:clr>
        </p15:guide>
        <p15:guide id="22" pos="2313">
          <p15:clr>
            <a:srgbClr val="F26B43"/>
          </p15:clr>
        </p15:guide>
        <p15:guide id="23" pos="2721">
          <p15:clr>
            <a:srgbClr val="F26B43"/>
          </p15:clr>
        </p15:guide>
        <p15:guide id="24" pos="2834">
          <p15:clr>
            <a:srgbClr val="F26B43"/>
          </p15:clr>
        </p15:guide>
        <p15:guide id="25" pos="3243">
          <p15:clr>
            <a:srgbClr val="F26B43"/>
          </p15:clr>
        </p15:guide>
        <p15:guide id="26" pos="3356">
          <p15:clr>
            <a:srgbClr val="F26B43"/>
          </p15:clr>
        </p15:guide>
        <p15:guide id="27" pos="3764">
          <p15:clr>
            <a:srgbClr val="F26B43"/>
          </p15:clr>
        </p15:guide>
        <p15:guide id="28" pos="3878">
          <p15:clr>
            <a:srgbClr val="F26B43"/>
          </p15:clr>
        </p15:guide>
        <p15:guide id="29" pos="4286">
          <p15:clr>
            <a:srgbClr val="F26B43"/>
          </p15:clr>
        </p15:guide>
        <p15:guide id="30" pos="4399">
          <p15:clr>
            <a:srgbClr val="F26B43"/>
          </p15:clr>
        </p15:guide>
        <p15:guide id="31" pos="4808">
          <p15:clr>
            <a:srgbClr val="F26B43"/>
          </p15:clr>
        </p15:guide>
        <p15:guide id="32" pos="4921">
          <p15:clr>
            <a:srgbClr val="F26B43"/>
          </p15:clr>
        </p15:guide>
        <p15:guide id="33" pos="5329">
          <p15:clr>
            <a:srgbClr val="F26B43"/>
          </p15:clr>
        </p15:guide>
        <p15:guide id="34" pos="5443">
          <p15:clr>
            <a:srgbClr val="F26B43"/>
          </p15:clr>
        </p15:guide>
        <p15:guide id="35" pos="5851">
          <p15:clr>
            <a:srgbClr val="F26B43"/>
          </p15:clr>
        </p15:guide>
        <p15:guide id="36" pos="5964">
          <p15:clr>
            <a:srgbClr val="F26B43"/>
          </p15:clr>
        </p15:guide>
        <p15:guide id="37" pos="6372">
          <p15:clr>
            <a:srgbClr val="F26B43"/>
          </p15:clr>
        </p15:guide>
        <p15:guide id="38" orient="horz" pos="4002">
          <p15:clr>
            <a:srgbClr val="F26B43"/>
          </p15:clr>
        </p15:guide>
        <p15:guide id="39" orient="horz">
          <p15:clr>
            <a:srgbClr val="F26B43"/>
          </p15:clr>
        </p15:guide>
        <p15:guide id="40" orient="horz" pos="656">
          <p15:clr>
            <a:srgbClr val="F26B43"/>
          </p15:clr>
        </p15:guide>
        <p15:guide id="41" orient="horz" pos="4195">
          <p15:clr>
            <a:srgbClr val="F26B43"/>
          </p15:clr>
        </p15:guide>
        <p15:guide id="42" orient="horz" pos="36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chart" Target="../charts/chart2.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hart" Target="../charts/chart5.xml"/><Relationship Id="rId3" Type="http://schemas.openxmlformats.org/officeDocument/2006/relationships/chart" Target="../charts/char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hart" Target="../charts/chart8.xml"/><Relationship Id="rId3" Type="http://schemas.openxmlformats.org/officeDocument/2006/relationships/chart" Target="../charts/char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hart" Target="../charts/chart11.xml"/><Relationship Id="rId3" Type="http://schemas.openxmlformats.org/officeDocument/2006/relationships/chart" Target="../charts/char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5.jpeg"/><Relationship Id="rId3" Type="http://schemas.openxmlformats.org/officeDocument/2006/relationships/image" Target="../media/image36.jpeg"/><Relationship Id="rId4" Type="http://schemas.openxmlformats.org/officeDocument/2006/relationships/image" Target="../media/image3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8.png"/><Relationship Id="rId3" Type="http://schemas.openxmlformats.org/officeDocument/2006/relationships/image" Target="../media/image39.jpe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png"/><Relationship Id="rId3" Type="http://schemas.openxmlformats.org/officeDocument/2006/relationships/hyperlink" Target="mailto:info@fuggerbank.de" TargetMode="External"/><Relationship Id="rId4" Type="http://schemas.openxmlformats.org/officeDocument/2006/relationships/hyperlink" Target="http://www.fuggerbank.de/" TargetMode="External"/><Relationship Id="rId5" Type="http://schemas.openxmlformats.org/officeDocument/2006/relationships/hyperlink" Target="http://www.bafin.de/" TargetMode="External"/><Relationship Id="rId6" Type="http://schemas.openxmlformats.org/officeDocument/2006/relationships/hyperlink" Target="https://www.ecb.europa.eu/"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hyperlink" Target="http://www.fuggerbank.d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7633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4802062-068E-513B-DEE5-E01E722CDD6D}"/>
              </a:ext>
            </a:extLst>
          </p:cNvPr>
          <p:cNvSpPr>
            <a:spLocks noGrp="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2</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3" name="Inhaltsplatzhalter 2">
            <a:extLst>
              <a:ext uri="{FF2B5EF4-FFF2-40B4-BE49-F238E27FC236}">
                <a16:creationId xmlns:a16="http://schemas.microsoft.com/office/drawing/2014/main" id="{767F741E-DD97-58D5-B310-D22C8EF6583B}"/>
              </a:ext>
            </a:extLst>
          </p:cNvPr>
          <p:cNvSpPr>
            <a:spLocks noGrp="1"/>
          </p:cNvSpPr>
          <p:nvPr>
            <p:ph idx="1"/>
          </p:nvPr>
        </p:nvSpPr>
        <p:spPr/>
        <p:txBody>
          <a:bodyPr/>
          <a:lstStyle/>
          <a:p>
            <a:pPr>
              <a:spcAft>
                <a:spcPts val="400"/>
              </a:spcAft>
            </a:pPr>
            <a:r>
              <a:rPr lang="de-DE" dirty="0"/>
              <a:t>ESG Basisinformationen	4</a:t>
            </a:r>
          </a:p>
          <a:p>
            <a:pPr>
              <a:spcAft>
                <a:spcPts val="400"/>
              </a:spcAft>
            </a:pPr>
            <a:r>
              <a:rPr lang="de-DE" sz="1000" b="0" dirty="0">
                <a:solidFill>
                  <a:schemeClr val="accent3"/>
                </a:solidFill>
              </a:rPr>
              <a:t>Idee – Richtlinien - Ratings</a:t>
            </a:r>
          </a:p>
          <a:p>
            <a:pPr>
              <a:lnSpc>
                <a:spcPct val="100000"/>
              </a:lnSpc>
              <a:spcAft>
                <a:spcPts val="400"/>
              </a:spcAft>
            </a:pPr>
            <a:r>
              <a:rPr lang="de-DE" dirty="0"/>
              <a:t>Unsere ESG Strategien	15</a:t>
            </a:r>
          </a:p>
          <a:p>
            <a:pPr>
              <a:lnSpc>
                <a:spcPct val="100000"/>
              </a:lnSpc>
            </a:pPr>
            <a:r>
              <a:rPr lang="de-DE" sz="1000" b="0" dirty="0">
                <a:solidFill>
                  <a:schemeClr val="accent3"/>
                </a:solidFill>
              </a:rPr>
              <a:t>Defensiv – Defensiv Plus – Ausgewogen - Offensiv</a:t>
            </a:r>
            <a:endParaRPr lang="de-DE" dirty="0"/>
          </a:p>
          <a:p>
            <a:r>
              <a:rPr lang="de-DE" dirty="0"/>
              <a:t>Fürst Fugger Privatbank und ihre Standorte	25</a:t>
            </a:r>
          </a:p>
          <a:p>
            <a:r>
              <a:rPr lang="de-DE" dirty="0"/>
              <a:t>Anlagen	28</a:t>
            </a:r>
          </a:p>
          <a:p>
            <a:r>
              <a:rPr lang="de-DE" dirty="0"/>
              <a:t>Rechtliche Hinweise und Impressum	36</a:t>
            </a:r>
          </a:p>
        </p:txBody>
      </p:sp>
      <p:sp>
        <p:nvSpPr>
          <p:cNvPr id="4" name="Titel 3">
            <a:extLst>
              <a:ext uri="{FF2B5EF4-FFF2-40B4-BE49-F238E27FC236}">
                <a16:creationId xmlns:a16="http://schemas.microsoft.com/office/drawing/2014/main" id="{892A02E2-8440-A6BB-B240-BDB640380359}"/>
              </a:ext>
            </a:extLst>
          </p:cNvPr>
          <p:cNvSpPr>
            <a:spLocks noGrp="1"/>
          </p:cNvSpPr>
          <p:nvPr>
            <p:ph type="title"/>
          </p:nvPr>
        </p:nvSpPr>
        <p:spPr/>
        <p:txBody>
          <a:bodyPr/>
          <a:lstStyle/>
          <a:p>
            <a:r>
              <a:rPr lang="de-DE" dirty="0"/>
              <a:t>Inhalt</a:t>
            </a:r>
          </a:p>
        </p:txBody>
      </p:sp>
      <p:pic>
        <p:nvPicPr>
          <p:cNvPr id="6" name="Grafik 5">
            <a:extLst>
              <a:ext uri="{FF2B5EF4-FFF2-40B4-BE49-F238E27FC236}">
                <a16:creationId xmlns:a16="http://schemas.microsoft.com/office/drawing/2014/main" id="{584BC9EC-D871-CAD2-B12F-F254F791E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4114" y="319100"/>
            <a:ext cx="1746149" cy="533486"/>
          </a:xfrm>
          <a:prstGeom prst="rect">
            <a:avLst/>
          </a:prstGeom>
        </p:spPr>
      </p:pic>
    </p:spTree>
    <p:extLst>
      <p:ext uri="{BB962C8B-B14F-4D97-AF65-F5344CB8AC3E}">
        <p14:creationId xmlns:p14="http://schemas.microsoft.com/office/powerpoint/2010/main" val="1981260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a:extLst>
              <a:ext uri="{FF2B5EF4-FFF2-40B4-BE49-F238E27FC236}">
                <a16:creationId xmlns:a16="http://schemas.microsoft.com/office/drawing/2014/main" id="{B23A2E22-AAF9-5C44-AA94-006618376FA0}"/>
              </a:ext>
            </a:extLst>
          </p:cNvPr>
          <p:cNvSpPr>
            <a:spLocks noGrp="1"/>
          </p:cNvSpPr>
          <p:nvPr>
            <p:ph type="subTitle" idx="1"/>
          </p:nvPr>
        </p:nvSpPr>
        <p:spPr>
          <a:xfrm>
            <a:off x="1006474" y="2556744"/>
            <a:ext cx="6626225" cy="303222"/>
          </a:xfrm>
        </p:spPr>
        <p:txBody>
          <a:bodyPr/>
          <a:lstStyle/>
          <a:p>
            <a:pPr>
              <a:lnSpc>
                <a:spcPct val="100000"/>
              </a:lnSpc>
            </a:pPr>
            <a:r>
              <a:rPr lang="de-DE" sz="2800" b="1" dirty="0">
                <a:solidFill>
                  <a:schemeClr val="accent3"/>
                </a:solidFill>
                <a:latin typeface="+mn-lt"/>
              </a:rPr>
              <a:t>ESG Kriterien </a:t>
            </a:r>
            <a:r>
              <a:rPr lang="de-DE" sz="2800" dirty="0"/>
              <a:t>sind fester Bestandteil </a:t>
            </a:r>
            <a:br>
              <a:rPr lang="de-DE" sz="2800" dirty="0"/>
            </a:br>
            <a:r>
              <a:rPr lang="de-DE" sz="2800" dirty="0"/>
              <a:t>unseres Analyse- und Anlageprozesses</a:t>
            </a:r>
          </a:p>
        </p:txBody>
      </p:sp>
      <p:sp>
        <p:nvSpPr>
          <p:cNvPr id="3" name="Titel 2">
            <a:extLst>
              <a:ext uri="{FF2B5EF4-FFF2-40B4-BE49-F238E27FC236}">
                <a16:creationId xmlns:a16="http://schemas.microsoft.com/office/drawing/2014/main" id="{5B895932-3C78-7B41-B1F2-0AF3D2248499}"/>
              </a:ext>
            </a:extLst>
          </p:cNvPr>
          <p:cNvSpPr>
            <a:spLocks noGrp="1"/>
          </p:cNvSpPr>
          <p:nvPr>
            <p:ph type="ctrTitle"/>
          </p:nvPr>
        </p:nvSpPr>
        <p:spPr/>
        <p:txBody>
          <a:bodyPr/>
          <a:lstStyle/>
          <a:p>
            <a:pPr>
              <a:lnSpc>
                <a:spcPct val="100000"/>
              </a:lnSpc>
            </a:pPr>
            <a:r>
              <a:rPr lang="de-DE" sz="3600" dirty="0"/>
              <a:t>NACHHALTIGKEIT </a:t>
            </a:r>
            <a:br>
              <a:rPr lang="de-DE" sz="3600" dirty="0"/>
            </a:br>
            <a:r>
              <a:rPr lang="de-DE" sz="3600" dirty="0"/>
              <a:t>LIEGT UNS AM HERZEN</a:t>
            </a:r>
          </a:p>
        </p:txBody>
      </p:sp>
    </p:spTree>
    <p:extLst>
      <p:ext uri="{BB962C8B-B14F-4D97-AF65-F5344CB8AC3E}">
        <p14:creationId xmlns:p14="http://schemas.microsoft.com/office/powerpoint/2010/main" val="4195134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AD8BD38-62DF-0B4B-8A13-0D6F3732D679}"/>
              </a:ext>
            </a:extLst>
          </p:cNvPr>
          <p:cNvSpPr>
            <a:spLocks noGrp="1"/>
          </p:cNvSpPr>
          <p:nvPr>
            <p:ph type="body" sz="quarter" idx="10"/>
          </p:nvPr>
        </p:nvSpPr>
        <p:spPr/>
        <p:txBody>
          <a:bodyPr/>
          <a:lstStyle/>
          <a:p>
            <a:r>
              <a:rPr lang="de-DE" dirty="0"/>
              <a:t>ESG BASIS-INFORMATIONEN</a:t>
            </a:r>
          </a:p>
        </p:txBody>
      </p:sp>
      <p:sp>
        <p:nvSpPr>
          <p:cNvPr id="3" name="Textplatzhalter 2">
            <a:extLst>
              <a:ext uri="{FF2B5EF4-FFF2-40B4-BE49-F238E27FC236}">
                <a16:creationId xmlns:a16="http://schemas.microsoft.com/office/drawing/2014/main" id="{8701283B-DF7B-9347-803C-7649CE5F59DF}"/>
              </a:ext>
            </a:extLst>
          </p:cNvPr>
          <p:cNvSpPr>
            <a:spLocks noGrp="1"/>
          </p:cNvSpPr>
          <p:nvPr>
            <p:ph type="body" sz="quarter" idx="11"/>
          </p:nvPr>
        </p:nvSpPr>
        <p:spPr/>
        <p:txBody>
          <a:bodyPr/>
          <a:lstStyle/>
          <a:p>
            <a:r>
              <a:rPr lang="de-DE" dirty="0"/>
              <a:t>Idee · Richtlinien · Ratings</a:t>
            </a:r>
          </a:p>
        </p:txBody>
      </p:sp>
    </p:spTree>
    <p:extLst>
      <p:ext uri="{BB962C8B-B14F-4D97-AF65-F5344CB8AC3E}">
        <p14:creationId xmlns:p14="http://schemas.microsoft.com/office/powerpoint/2010/main" val="2178278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6AFD509-F546-AB85-3556-B9437E9549F1}"/>
              </a:ext>
            </a:extLst>
          </p:cNvPr>
          <p:cNvSpPr>
            <a:spLocks noGrp="1"/>
          </p:cNvSpPr>
          <p:nvPr>
            <p:ph type="sldNum" sz="quarter" idx="12"/>
          </p:nvPr>
        </p:nvSpPr>
        <p:spPr/>
        <p:txBody>
          <a:bodyPr/>
          <a:lstStyle/>
          <a:p>
            <a:fld id="{3AE71D6B-ACB6-4F4C-A895-DCAEF1760EAA}" type="slidenum">
              <a:rPr lang="de-DE" smtClean="0"/>
              <a:t>5</a:t>
            </a:fld>
            <a:endParaRPr lang="de-DE"/>
          </a:p>
        </p:txBody>
      </p:sp>
      <p:sp>
        <p:nvSpPr>
          <p:cNvPr id="3" name="Inhaltsplatzhalter 2">
            <a:extLst>
              <a:ext uri="{FF2B5EF4-FFF2-40B4-BE49-F238E27FC236}">
                <a16:creationId xmlns:a16="http://schemas.microsoft.com/office/drawing/2014/main" id="{B75CF14F-1F60-CE48-3472-4DEC5EA7EA0A}"/>
              </a:ext>
            </a:extLst>
          </p:cNvPr>
          <p:cNvSpPr>
            <a:spLocks noGrp="1"/>
          </p:cNvSpPr>
          <p:nvPr>
            <p:ph idx="14"/>
          </p:nvPr>
        </p:nvSpPr>
        <p:spPr/>
        <p:txBody>
          <a:bodyPr/>
          <a:lstStyle/>
          <a:p>
            <a:pPr algn="ctr"/>
            <a:endParaRPr lang="de-DE" sz="2800" dirty="0"/>
          </a:p>
          <a:p>
            <a:pPr algn="ctr"/>
            <a:r>
              <a:rPr lang="de-DE" sz="2800" dirty="0" err="1"/>
              <a:t>G</a:t>
            </a:r>
            <a:r>
              <a:rPr lang="de-DE" sz="1800" dirty="0" err="1"/>
              <a:t>overnance</a:t>
            </a:r>
            <a:endParaRPr lang="de-DE" sz="1800" dirty="0"/>
          </a:p>
          <a:p>
            <a:pPr algn="ctr"/>
            <a:endParaRPr lang="de-DE" sz="1800" dirty="0"/>
          </a:p>
          <a:p>
            <a:pPr algn="ctr"/>
            <a:endParaRPr lang="de-DE" sz="1800" dirty="0"/>
          </a:p>
          <a:p>
            <a:pPr algn="ctr"/>
            <a:endParaRPr lang="de-DE" sz="1800" dirty="0"/>
          </a:p>
          <a:p>
            <a:pPr algn="ctr"/>
            <a:endParaRPr lang="de-DE" sz="1800" dirty="0"/>
          </a:p>
          <a:p>
            <a:pPr algn="ctr"/>
            <a:r>
              <a:rPr lang="de-DE" sz="1600" dirty="0"/>
              <a:t>Fokus auf eine gute Unternehmensführung</a:t>
            </a:r>
          </a:p>
          <a:p>
            <a:pPr algn="ctr">
              <a:lnSpc>
                <a:spcPct val="100000"/>
              </a:lnSpc>
              <a:spcBef>
                <a:spcPts val="800"/>
              </a:spcBef>
            </a:pPr>
            <a:r>
              <a:rPr lang="de-DE" sz="1200" b="0" dirty="0"/>
              <a:t>keine Korruption oder </a:t>
            </a:r>
            <a:br>
              <a:rPr lang="de-DE" sz="1200" b="0" dirty="0"/>
            </a:br>
            <a:r>
              <a:rPr lang="de-DE" sz="1200" b="0" dirty="0"/>
              <a:t>gesetzeswidrige Handlungen</a:t>
            </a:r>
          </a:p>
          <a:p>
            <a:pPr algn="ctr">
              <a:lnSpc>
                <a:spcPct val="100000"/>
              </a:lnSpc>
              <a:spcBef>
                <a:spcPts val="800"/>
              </a:spcBef>
            </a:pPr>
            <a:r>
              <a:rPr lang="de-DE" sz="1200" b="0" dirty="0"/>
              <a:t>Risiko- und Reputationsmanagement</a:t>
            </a:r>
          </a:p>
          <a:p>
            <a:pPr algn="ctr">
              <a:lnSpc>
                <a:spcPct val="100000"/>
              </a:lnSpc>
              <a:spcBef>
                <a:spcPts val="800"/>
              </a:spcBef>
            </a:pPr>
            <a:r>
              <a:rPr lang="de-DE" sz="1200" b="0" dirty="0"/>
              <a:t>Langfristige Entscheidungen</a:t>
            </a:r>
          </a:p>
          <a:p>
            <a:pPr algn="ctr">
              <a:lnSpc>
                <a:spcPct val="100000"/>
              </a:lnSpc>
              <a:spcBef>
                <a:spcPts val="800"/>
              </a:spcBef>
            </a:pPr>
            <a:r>
              <a:rPr lang="de-DE" sz="1200" b="0" dirty="0"/>
              <a:t>Compliance</a:t>
            </a:r>
          </a:p>
        </p:txBody>
      </p:sp>
      <p:sp>
        <p:nvSpPr>
          <p:cNvPr id="4" name="Inhaltsplatzhalter 3">
            <a:extLst>
              <a:ext uri="{FF2B5EF4-FFF2-40B4-BE49-F238E27FC236}">
                <a16:creationId xmlns:a16="http://schemas.microsoft.com/office/drawing/2014/main" id="{441953F8-05D0-F403-43DB-535718DB262A}"/>
              </a:ext>
            </a:extLst>
          </p:cNvPr>
          <p:cNvSpPr>
            <a:spLocks noGrp="1"/>
          </p:cNvSpPr>
          <p:nvPr>
            <p:ph idx="13"/>
          </p:nvPr>
        </p:nvSpPr>
        <p:spPr/>
        <p:txBody>
          <a:bodyPr/>
          <a:lstStyle/>
          <a:p>
            <a:pPr algn="ctr"/>
            <a:endParaRPr lang="de-DE" sz="2800" dirty="0"/>
          </a:p>
          <a:p>
            <a:pPr algn="ctr"/>
            <a:r>
              <a:rPr lang="de-DE" sz="2800" dirty="0" err="1"/>
              <a:t>S</a:t>
            </a:r>
            <a:r>
              <a:rPr lang="de-DE" sz="1800" dirty="0" err="1"/>
              <a:t>ocial</a:t>
            </a:r>
            <a:endParaRPr lang="de-DE" sz="1800" dirty="0"/>
          </a:p>
          <a:p>
            <a:pPr algn="ctr"/>
            <a:endParaRPr lang="de-DE" sz="1800" dirty="0"/>
          </a:p>
          <a:p>
            <a:pPr algn="ctr"/>
            <a:endParaRPr lang="de-DE" sz="1800" dirty="0"/>
          </a:p>
          <a:p>
            <a:pPr algn="ctr"/>
            <a:endParaRPr lang="de-DE" sz="1800" dirty="0"/>
          </a:p>
          <a:p>
            <a:pPr algn="ctr"/>
            <a:endParaRPr lang="de-DE" sz="1800" dirty="0"/>
          </a:p>
          <a:p>
            <a:pPr algn="ctr"/>
            <a:r>
              <a:rPr lang="de-DE" sz="1600" dirty="0"/>
              <a:t>Fokus auf die </a:t>
            </a:r>
            <a:br>
              <a:rPr lang="de-DE" sz="1600" dirty="0"/>
            </a:br>
            <a:r>
              <a:rPr lang="de-DE" sz="1600" dirty="0"/>
              <a:t>soziale Verpflichtung</a:t>
            </a:r>
          </a:p>
          <a:p>
            <a:pPr algn="ctr">
              <a:lnSpc>
                <a:spcPct val="100000"/>
              </a:lnSpc>
              <a:spcBef>
                <a:spcPts val="800"/>
              </a:spcBef>
            </a:pPr>
            <a:r>
              <a:rPr lang="de-DE" sz="1200" b="0" dirty="0"/>
              <a:t>gerechte Löhne</a:t>
            </a:r>
          </a:p>
          <a:p>
            <a:pPr algn="ctr">
              <a:lnSpc>
                <a:spcPct val="100000"/>
              </a:lnSpc>
              <a:spcBef>
                <a:spcPts val="800"/>
              </a:spcBef>
            </a:pPr>
            <a:r>
              <a:rPr lang="de-DE" sz="1200" b="0" dirty="0"/>
              <a:t>Sicherheit und Gesundheit</a:t>
            </a:r>
          </a:p>
          <a:p>
            <a:pPr algn="ctr">
              <a:lnSpc>
                <a:spcPct val="100000"/>
              </a:lnSpc>
              <a:spcBef>
                <a:spcPts val="800"/>
              </a:spcBef>
            </a:pPr>
            <a:r>
              <a:rPr lang="de-DE" sz="1200" b="0" dirty="0"/>
              <a:t>faire Bezahlung von Zulieferern</a:t>
            </a:r>
          </a:p>
          <a:p>
            <a:pPr algn="ctr">
              <a:lnSpc>
                <a:spcPct val="100000"/>
              </a:lnSpc>
              <a:spcBef>
                <a:spcPts val="800"/>
              </a:spcBef>
            </a:pPr>
            <a:r>
              <a:rPr lang="de-DE" sz="1200" b="0" dirty="0"/>
              <a:t>keine Diskriminierung </a:t>
            </a:r>
          </a:p>
        </p:txBody>
      </p:sp>
      <p:sp>
        <p:nvSpPr>
          <p:cNvPr id="5" name="Inhaltsplatzhalter 4">
            <a:extLst>
              <a:ext uri="{FF2B5EF4-FFF2-40B4-BE49-F238E27FC236}">
                <a16:creationId xmlns:a16="http://schemas.microsoft.com/office/drawing/2014/main" id="{A1A0A030-1BDB-DB8D-536E-A0B9F76BD0E1}"/>
              </a:ext>
            </a:extLst>
          </p:cNvPr>
          <p:cNvSpPr>
            <a:spLocks noGrp="1"/>
          </p:cNvSpPr>
          <p:nvPr>
            <p:ph idx="1"/>
          </p:nvPr>
        </p:nvSpPr>
        <p:spPr/>
        <p:txBody>
          <a:bodyPr/>
          <a:lstStyle/>
          <a:p>
            <a:pPr algn="ctr"/>
            <a:endParaRPr lang="de-DE" sz="2800" dirty="0"/>
          </a:p>
          <a:p>
            <a:pPr algn="ctr"/>
            <a:r>
              <a:rPr lang="de-DE" sz="2800" dirty="0"/>
              <a:t>E</a:t>
            </a:r>
            <a:r>
              <a:rPr lang="de-DE" sz="1800" dirty="0"/>
              <a:t>nvironment</a:t>
            </a:r>
          </a:p>
          <a:p>
            <a:pPr algn="ctr"/>
            <a:endParaRPr lang="de-DE" sz="1800" dirty="0"/>
          </a:p>
          <a:p>
            <a:pPr algn="ctr"/>
            <a:endParaRPr lang="de-DE" sz="1800" dirty="0"/>
          </a:p>
          <a:p>
            <a:pPr algn="ctr"/>
            <a:endParaRPr lang="de-DE" sz="1800" dirty="0"/>
          </a:p>
          <a:p>
            <a:pPr algn="ctr"/>
            <a:endParaRPr lang="de-DE" sz="1800" dirty="0"/>
          </a:p>
          <a:p>
            <a:pPr algn="ctr"/>
            <a:r>
              <a:rPr lang="de-DE" sz="1600" dirty="0"/>
              <a:t>Fokus auf den </a:t>
            </a:r>
            <a:br>
              <a:rPr lang="de-DE" sz="1600" dirty="0"/>
            </a:br>
            <a:r>
              <a:rPr lang="de-DE" sz="1600" dirty="0"/>
              <a:t>Schutz der Umwelt</a:t>
            </a:r>
          </a:p>
          <a:p>
            <a:pPr algn="ctr">
              <a:lnSpc>
                <a:spcPct val="100000"/>
              </a:lnSpc>
              <a:spcBef>
                <a:spcPts val="800"/>
              </a:spcBef>
            </a:pPr>
            <a:r>
              <a:rPr lang="de-DE" sz="1200" b="0" dirty="0"/>
              <a:t>niedrige/keine CO</a:t>
            </a:r>
            <a:r>
              <a:rPr lang="de-DE" sz="600" b="0" dirty="0"/>
              <a:t>2</a:t>
            </a:r>
            <a:r>
              <a:rPr lang="de-DE" sz="1200" b="0" dirty="0"/>
              <a:t>-Emissionen </a:t>
            </a:r>
          </a:p>
          <a:p>
            <a:pPr algn="ctr">
              <a:lnSpc>
                <a:spcPct val="100000"/>
              </a:lnSpc>
              <a:spcBef>
                <a:spcPts val="800"/>
              </a:spcBef>
            </a:pPr>
            <a:r>
              <a:rPr lang="de-DE" sz="1200" b="0" dirty="0"/>
              <a:t>niedriger Wasserverbrauch </a:t>
            </a:r>
          </a:p>
          <a:p>
            <a:pPr algn="ctr">
              <a:lnSpc>
                <a:spcPct val="100000"/>
              </a:lnSpc>
              <a:spcBef>
                <a:spcPts val="800"/>
              </a:spcBef>
            </a:pPr>
            <a:r>
              <a:rPr lang="de-DE" sz="1200" b="0" dirty="0"/>
              <a:t>keine Verschmutzung von Gewässern</a:t>
            </a:r>
          </a:p>
          <a:p>
            <a:pPr algn="ctr">
              <a:lnSpc>
                <a:spcPct val="100000"/>
              </a:lnSpc>
              <a:spcBef>
                <a:spcPts val="800"/>
              </a:spcBef>
            </a:pPr>
            <a:r>
              <a:rPr lang="de-DE" sz="1200" b="0" dirty="0"/>
              <a:t>Erhalt der Wälder/Arten</a:t>
            </a:r>
            <a:endParaRPr lang="de-DE" sz="900" b="0" dirty="0"/>
          </a:p>
        </p:txBody>
      </p:sp>
      <p:sp>
        <p:nvSpPr>
          <p:cNvPr id="6" name="Titel 5">
            <a:extLst>
              <a:ext uri="{FF2B5EF4-FFF2-40B4-BE49-F238E27FC236}">
                <a16:creationId xmlns:a16="http://schemas.microsoft.com/office/drawing/2014/main" id="{AE84A6B4-8D15-614D-2F0B-FF8375601825}"/>
              </a:ext>
            </a:extLst>
          </p:cNvPr>
          <p:cNvSpPr>
            <a:spLocks noGrp="1"/>
          </p:cNvSpPr>
          <p:nvPr>
            <p:ph type="title"/>
          </p:nvPr>
        </p:nvSpPr>
        <p:spPr/>
        <p:txBody>
          <a:bodyPr/>
          <a:lstStyle/>
          <a:p>
            <a:r>
              <a:rPr lang="de-DE" dirty="0"/>
              <a:t>Die drei Säulen der Nachhaltigkeit</a:t>
            </a:r>
          </a:p>
        </p:txBody>
      </p:sp>
      <p:pic>
        <p:nvPicPr>
          <p:cNvPr id="8" name="Grafik 7">
            <a:extLst>
              <a:ext uri="{FF2B5EF4-FFF2-40B4-BE49-F238E27FC236}">
                <a16:creationId xmlns:a16="http://schemas.microsoft.com/office/drawing/2014/main" id="{9C6049D3-1CDC-F567-7194-80A46CB2F4B8}"/>
              </a:ext>
            </a:extLst>
          </p:cNvPr>
          <p:cNvPicPr>
            <a:picLocks noChangeAspect="1"/>
          </p:cNvPicPr>
          <p:nvPr/>
        </p:nvPicPr>
        <p:blipFill>
          <a:blip r:embed="rId2"/>
          <a:stretch>
            <a:fillRect/>
          </a:stretch>
        </p:blipFill>
        <p:spPr>
          <a:xfrm>
            <a:off x="772318" y="1944460"/>
            <a:ext cx="2305050" cy="1285875"/>
          </a:xfrm>
          <a:prstGeom prst="rect">
            <a:avLst/>
          </a:prstGeom>
        </p:spPr>
      </p:pic>
      <p:pic>
        <p:nvPicPr>
          <p:cNvPr id="10" name="Grafik 9">
            <a:extLst>
              <a:ext uri="{FF2B5EF4-FFF2-40B4-BE49-F238E27FC236}">
                <a16:creationId xmlns:a16="http://schemas.microsoft.com/office/drawing/2014/main" id="{A15F0AE3-1BDA-7600-2812-284F899E248D}"/>
              </a:ext>
            </a:extLst>
          </p:cNvPr>
          <p:cNvPicPr>
            <a:picLocks noChangeAspect="1"/>
          </p:cNvPicPr>
          <p:nvPr/>
        </p:nvPicPr>
        <p:blipFill>
          <a:blip r:embed="rId3"/>
          <a:stretch>
            <a:fillRect/>
          </a:stretch>
        </p:blipFill>
        <p:spPr>
          <a:xfrm>
            <a:off x="4143375" y="1979865"/>
            <a:ext cx="2152650" cy="1266825"/>
          </a:xfrm>
          <a:prstGeom prst="rect">
            <a:avLst/>
          </a:prstGeom>
        </p:spPr>
      </p:pic>
      <p:pic>
        <p:nvPicPr>
          <p:cNvPr id="12" name="Grafik 11">
            <a:extLst>
              <a:ext uri="{FF2B5EF4-FFF2-40B4-BE49-F238E27FC236}">
                <a16:creationId xmlns:a16="http://schemas.microsoft.com/office/drawing/2014/main" id="{29FECEEF-5F14-6A00-8806-17B261A5C7B8}"/>
              </a:ext>
            </a:extLst>
          </p:cNvPr>
          <p:cNvPicPr>
            <a:picLocks noChangeAspect="1"/>
          </p:cNvPicPr>
          <p:nvPr/>
        </p:nvPicPr>
        <p:blipFill>
          <a:blip r:embed="rId4"/>
          <a:stretch>
            <a:fillRect/>
          </a:stretch>
        </p:blipFill>
        <p:spPr>
          <a:xfrm>
            <a:off x="7548676" y="1777932"/>
            <a:ext cx="2004790" cy="1618930"/>
          </a:xfrm>
          <a:prstGeom prst="rect">
            <a:avLst/>
          </a:prstGeom>
        </p:spPr>
      </p:pic>
    </p:spTree>
    <p:extLst>
      <p:ext uri="{BB962C8B-B14F-4D97-AF65-F5344CB8AC3E}">
        <p14:creationId xmlns:p14="http://schemas.microsoft.com/office/powerpoint/2010/main" val="102041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6</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327650" y="1050707"/>
            <a:ext cx="3960813" cy="4791074"/>
          </a:xfrm>
        </p:spPr>
        <p:txBody>
          <a:bodyPr/>
          <a:lstStyle/>
          <a:p>
            <a:pPr>
              <a:lnSpc>
                <a:spcPct val="100000"/>
              </a:lnSpc>
            </a:pPr>
            <a:r>
              <a:rPr lang="de-DE" b="0" dirty="0"/>
              <a:t>MSCI deckt mehr als 6.000 Unternehmen und 8.000 Anleihen-Emittenten ab. Es werden die gängigen Ausschluss-Kriterien im Bereich kontroverse Geschäftspraktiken berücksichtigt. In unseren ESG-Portfolien streben wir ein durchschnittliches ESG-MSCI-Rating von AA an.</a:t>
            </a:r>
          </a:p>
          <a:p>
            <a:pPr>
              <a:lnSpc>
                <a:spcPct val="100000"/>
              </a:lnSpc>
            </a:pPr>
            <a:r>
              <a:rPr lang="de-DE" b="0" dirty="0"/>
              <a:t>Darüber hinaus werden die sogenannten SDGs </a:t>
            </a:r>
            <a:br>
              <a:rPr lang="de-DE" b="0" dirty="0"/>
            </a:br>
            <a:r>
              <a:rPr lang="de-DE" b="0" dirty="0"/>
              <a:t>(</a:t>
            </a:r>
            <a:r>
              <a:rPr lang="de-DE" b="0" dirty="0" err="1"/>
              <a:t>Social</a:t>
            </a:r>
            <a:r>
              <a:rPr lang="de-DE" b="0" dirty="0"/>
              <a:t> Development Goals) der vereinten Nationen im Investmentprozess berücksichtigt. Die 17 Ziele umfassen alle drei Dimensionen der Nachhaltigkeit:</a:t>
            </a:r>
          </a:p>
          <a:p>
            <a:pPr>
              <a:lnSpc>
                <a:spcPct val="100000"/>
              </a:lnSpc>
            </a:pPr>
            <a:r>
              <a:rPr lang="de-DE" b="0" dirty="0"/>
              <a:t>Soziales, Umwelt und Wirtschaft</a:t>
            </a:r>
          </a:p>
        </p:txBody>
      </p:sp>
      <p:sp>
        <p:nvSpPr>
          <p:cNvPr id="5" name="Inhaltsplatzhalter 4">
            <a:extLst>
              <a:ext uri="{FF2B5EF4-FFF2-40B4-BE49-F238E27FC236}">
                <a16:creationId xmlns:a16="http://schemas.microsoft.com/office/drawing/2014/main" id="{A24F3140-E7DE-563B-E0DE-B188622D07CA}"/>
              </a:ext>
            </a:extLst>
          </p:cNvPr>
          <p:cNvSpPr>
            <a:spLocks noGrp="1"/>
          </p:cNvSpPr>
          <p:nvPr>
            <p:ph idx="1"/>
          </p:nvPr>
        </p:nvSpPr>
        <p:spPr>
          <a:xfrm>
            <a:off x="693753" y="1050707"/>
            <a:ext cx="3805222" cy="4791074"/>
          </a:xfrm>
        </p:spPr>
        <p:txBody>
          <a:bodyPr/>
          <a:lstStyle/>
          <a:p>
            <a:pPr>
              <a:lnSpc>
                <a:spcPct val="100000"/>
              </a:lnSpc>
            </a:pPr>
            <a:r>
              <a:rPr lang="de-DE" b="0" dirty="0"/>
              <a:t>Unser Investmentprozess ist darauf ausgelegt, auf nachhaltige Anlagen und Investments zu achten und dabei einen langfristigen Mehrwert für Kunden zu erzielen. Wir investieren in Unternehmen, die respektvoll und wertschätzend mit Menschen, der Umwelt und damit verbunden unserer gemeinsamen Zukunft umgehen.</a:t>
            </a:r>
          </a:p>
          <a:p>
            <a:pPr>
              <a:lnSpc>
                <a:spcPct val="100000"/>
              </a:lnSpc>
            </a:pPr>
            <a:r>
              <a:rPr lang="de-DE" b="0" dirty="0"/>
              <a:t>Dabei ist uns Transparenz und klare Nachvollziehbarkeit unserer Investmententscheidungen besonders wichtig. </a:t>
            </a:r>
          </a:p>
          <a:p>
            <a:pPr>
              <a:lnSpc>
                <a:spcPct val="100000"/>
              </a:lnSpc>
            </a:pPr>
            <a:r>
              <a:rPr lang="de-DE" b="0" dirty="0"/>
              <a:t>Wir setzen hierbei auf die Unterstützung von MSCI ESG Research, dem weltweit größten Anbieter von ESG (Umwelt, Soziales und Unternehmensführung) Research. 300 Vollzeit-Mitarbeiter inklusive 150 ESG-Analysten in 18 Büros weltweit sorgen für eine klare ESG Bewertung.</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ESG und Nachhaltigkeit</a:t>
            </a:r>
          </a:p>
        </p:txBody>
      </p:sp>
      <p:sp>
        <p:nvSpPr>
          <p:cNvPr id="10" name="Textfeld 9">
            <a:extLst>
              <a:ext uri="{FF2B5EF4-FFF2-40B4-BE49-F238E27FC236}">
                <a16:creationId xmlns:a16="http://schemas.microsoft.com/office/drawing/2014/main" id="{37AF4E8D-2511-A440-933C-1A24FE54EAE7}"/>
              </a:ext>
            </a:extLst>
          </p:cNvPr>
          <p:cNvSpPr txBox="1"/>
          <p:nvPr/>
        </p:nvSpPr>
        <p:spPr>
          <a:xfrm>
            <a:off x="2282308" y="6136928"/>
            <a:ext cx="7097917" cy="200055"/>
          </a:xfrm>
          <a:prstGeom prst="rect">
            <a:avLst/>
          </a:prstGeom>
          <a:noFill/>
        </p:spPr>
        <p:txBody>
          <a:bodyPr wrap="square" rtlCol="0">
            <a:spAutoFit/>
          </a:bodyPr>
          <a:lstStyle/>
          <a:p>
            <a:pPr algn="r"/>
            <a:r>
              <a:rPr lang="de-DE" sz="700" dirty="0">
                <a:solidFill>
                  <a:schemeClr val="bg1">
                    <a:lumMod val="50000"/>
                  </a:schemeClr>
                </a:solidFill>
              </a:rPr>
              <a:t>Quelle: www.17ziele.de</a:t>
            </a:r>
          </a:p>
        </p:txBody>
      </p:sp>
    </p:spTree>
    <p:extLst>
      <p:ext uri="{BB962C8B-B14F-4D97-AF65-F5344CB8AC3E}">
        <p14:creationId xmlns:p14="http://schemas.microsoft.com/office/powerpoint/2010/main" val="195650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7</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327651" y="1050707"/>
            <a:ext cx="4302124" cy="4791074"/>
          </a:xfrm>
        </p:spPr>
        <p:txBody>
          <a:bodyPr/>
          <a:lstStyle/>
          <a:p>
            <a:pPr marL="41101" defTabSz="521926">
              <a:lnSpc>
                <a:spcPct val="100000"/>
              </a:lnSpc>
              <a:spcBef>
                <a:spcPts val="400"/>
              </a:spcBef>
              <a:spcAft>
                <a:spcPts val="13"/>
              </a:spcAft>
              <a:defRPr/>
            </a:pPr>
            <a:r>
              <a:rPr lang="de-DE" b="0" dirty="0">
                <a:solidFill>
                  <a:srgbClr val="1A314C"/>
                </a:solidFill>
                <a:latin typeface="+mj-lt"/>
                <a:cs typeface="Noto Serif"/>
              </a:rPr>
              <a:t>Unsere ESG-Vermögensverwaltungen werden als Produkt </a:t>
            </a:r>
            <a:br>
              <a:rPr lang="de-DE" b="0" dirty="0">
                <a:solidFill>
                  <a:srgbClr val="1A314C"/>
                </a:solidFill>
                <a:latin typeface="+mj-lt"/>
                <a:cs typeface="Noto Serif"/>
              </a:rPr>
            </a:br>
            <a:r>
              <a:rPr lang="de-DE" b="0" dirty="0">
                <a:solidFill>
                  <a:srgbClr val="1A314C"/>
                </a:solidFill>
                <a:latin typeface="+mj-lt"/>
                <a:cs typeface="Noto Serif"/>
              </a:rPr>
              <a:t>bzw. Dienstleistung nach Artikel 8 gemäß </a:t>
            </a:r>
            <a:r>
              <a:rPr lang="de-DE" b="0" dirty="0" err="1">
                <a:solidFill>
                  <a:srgbClr val="1A314C"/>
                </a:solidFill>
                <a:latin typeface="+mj-lt"/>
                <a:cs typeface="Noto Serif"/>
              </a:rPr>
              <a:t>Sustainable</a:t>
            </a:r>
            <a:r>
              <a:rPr lang="de-DE" b="0" dirty="0">
                <a:solidFill>
                  <a:srgbClr val="1A314C"/>
                </a:solidFill>
                <a:latin typeface="+mj-lt"/>
                <a:cs typeface="Noto Serif"/>
              </a:rPr>
              <a:t> </a:t>
            </a:r>
            <a:r>
              <a:rPr lang="de-DE" b="0" dirty="0" err="1">
                <a:solidFill>
                  <a:srgbClr val="1A314C"/>
                </a:solidFill>
                <a:latin typeface="+mj-lt"/>
                <a:cs typeface="Noto Serif"/>
              </a:rPr>
              <a:t>Finance</a:t>
            </a:r>
            <a:r>
              <a:rPr lang="de-DE" b="0" dirty="0">
                <a:solidFill>
                  <a:srgbClr val="1A314C"/>
                </a:solidFill>
                <a:latin typeface="+mj-lt"/>
                <a:cs typeface="Noto Serif"/>
              </a:rPr>
              <a:t> </a:t>
            </a:r>
            <a:r>
              <a:rPr lang="de-DE" b="0" dirty="0" err="1">
                <a:solidFill>
                  <a:srgbClr val="1A314C"/>
                </a:solidFill>
                <a:latin typeface="+mj-lt"/>
                <a:cs typeface="Noto Serif"/>
              </a:rPr>
              <a:t>Disclosure</a:t>
            </a:r>
            <a:r>
              <a:rPr lang="de-DE" b="0" dirty="0">
                <a:solidFill>
                  <a:srgbClr val="1A314C"/>
                </a:solidFill>
                <a:latin typeface="+mj-lt"/>
                <a:cs typeface="Noto Serif"/>
              </a:rPr>
              <a:t> Regulation (im Folgenden: SFDR) eingestuft, wobei eine weitere Anpassung der Vermögensverwaltung an die jeweils gültigen regulatorischen Vorgaben zur Erreichung </a:t>
            </a:r>
            <a:br>
              <a:rPr lang="de-DE" b="0" dirty="0">
                <a:solidFill>
                  <a:srgbClr val="1A314C"/>
                </a:solidFill>
                <a:latin typeface="+mj-lt"/>
                <a:cs typeface="Noto Serif"/>
              </a:rPr>
            </a:br>
            <a:r>
              <a:rPr lang="de-DE" b="0" dirty="0">
                <a:solidFill>
                  <a:srgbClr val="1A314C"/>
                </a:solidFill>
                <a:latin typeface="+mj-lt"/>
                <a:cs typeface="Noto Serif"/>
              </a:rPr>
              <a:t>der Einstufung nach Art. 8 SFDR erforderlich werden kann. </a:t>
            </a:r>
            <a:br>
              <a:rPr lang="de-DE" b="0" dirty="0">
                <a:solidFill>
                  <a:srgbClr val="1A314C"/>
                </a:solidFill>
                <a:latin typeface="+mj-lt"/>
                <a:cs typeface="Noto Serif"/>
              </a:rPr>
            </a:br>
            <a:r>
              <a:rPr lang="de-DE" b="0" dirty="0">
                <a:solidFill>
                  <a:srgbClr val="1A314C"/>
                </a:solidFill>
                <a:latin typeface="+mj-lt"/>
                <a:cs typeface="Noto Serif"/>
              </a:rPr>
              <a:t>In diesem Fall erfolgt eine Reallokation zur Gewähr-leistung der aktuell geltenden Vorgaben.</a:t>
            </a:r>
          </a:p>
          <a:p>
            <a:pPr marL="41101" defTabSz="521926">
              <a:lnSpc>
                <a:spcPct val="100000"/>
              </a:lnSpc>
              <a:spcBef>
                <a:spcPts val="0"/>
              </a:spcBef>
              <a:spcAft>
                <a:spcPts val="1213"/>
              </a:spcAft>
              <a:defRPr/>
            </a:pPr>
            <a:br>
              <a:rPr lang="de-DE" b="0" dirty="0">
                <a:solidFill>
                  <a:srgbClr val="1A314C"/>
                </a:solidFill>
                <a:latin typeface="+mj-lt"/>
                <a:cs typeface="Noto Serif"/>
              </a:rPr>
            </a:br>
            <a:r>
              <a:rPr lang="de-DE" b="0" dirty="0">
                <a:solidFill>
                  <a:srgbClr val="1A314C"/>
                </a:solidFill>
                <a:latin typeface="+mj-lt"/>
                <a:cs typeface="Noto Serif"/>
              </a:rPr>
              <a:t>Ein eingeschränktes Produktangebot und dadurch eingeschränkte Diversifikationsmöglichkeiten können zu höheren Wertschwankungen führen! Zudem bleiben rechtliche Unsicherheiten aufgrund fehlender delegierter Rechtsakte und einer lückenhaften Datenbasis. Die Fürst Fugger Privatbank Aktiengesellschaft kann daher keine Gewährleistung für die Erreichung der Nachhaltigkeitsziele übernehmen.</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Investmentprozess und Risiken</a:t>
            </a:r>
          </a:p>
        </p:txBody>
      </p:sp>
      <p:sp>
        <p:nvSpPr>
          <p:cNvPr id="10" name="Inhaltsplatzhalter 4">
            <a:extLst>
              <a:ext uri="{FF2B5EF4-FFF2-40B4-BE49-F238E27FC236}">
                <a16:creationId xmlns:a16="http://schemas.microsoft.com/office/drawing/2014/main" id="{BB4380A7-B448-E540-AF86-1F8C4F4909FB}"/>
              </a:ext>
            </a:extLst>
          </p:cNvPr>
          <p:cNvSpPr>
            <a:spLocks noGrp="1"/>
          </p:cNvSpPr>
          <p:nvPr>
            <p:ph idx="1"/>
          </p:nvPr>
        </p:nvSpPr>
        <p:spPr>
          <a:xfrm>
            <a:off x="644984" y="1050707"/>
            <a:ext cx="3951400" cy="4791074"/>
          </a:xfrm>
        </p:spPr>
        <p:txBody>
          <a:bodyPr/>
          <a:lstStyle/>
          <a:p>
            <a:pPr marL="41101" defTabSz="521926">
              <a:lnSpc>
                <a:spcPct val="100000"/>
              </a:lnSpc>
              <a:spcAft>
                <a:spcPts val="1713"/>
              </a:spcAft>
              <a:defRPr/>
            </a:pPr>
            <a:r>
              <a:rPr lang="de-DE" b="0" dirty="0">
                <a:solidFill>
                  <a:srgbClr val="1A314C"/>
                </a:solidFill>
                <a:cs typeface="Noto Serif"/>
              </a:rPr>
              <a:t>Wir richten unsere nachhaltige Vermögensverwaltung im Sinne der Offenlegungsverordnung (</a:t>
            </a:r>
            <a:r>
              <a:rPr lang="de-DE" b="0" dirty="0" err="1">
                <a:solidFill>
                  <a:srgbClr val="1A314C"/>
                </a:solidFill>
                <a:cs typeface="Noto Serif"/>
              </a:rPr>
              <a:t>Sustainable</a:t>
            </a:r>
            <a:r>
              <a:rPr lang="de-DE" b="0" dirty="0">
                <a:solidFill>
                  <a:srgbClr val="1A314C"/>
                </a:solidFill>
                <a:cs typeface="Noto Serif"/>
              </a:rPr>
              <a:t> </a:t>
            </a:r>
            <a:r>
              <a:rPr lang="de-DE" b="0" dirty="0" err="1">
                <a:solidFill>
                  <a:srgbClr val="1A314C"/>
                </a:solidFill>
                <a:cs typeface="Noto Serif"/>
              </a:rPr>
              <a:t>Finance</a:t>
            </a:r>
            <a:r>
              <a:rPr lang="de-DE" b="0" dirty="0">
                <a:solidFill>
                  <a:srgbClr val="1A314C"/>
                </a:solidFill>
                <a:cs typeface="Noto Serif"/>
              </a:rPr>
              <a:t> </a:t>
            </a:r>
            <a:r>
              <a:rPr lang="de-DE" b="0" dirty="0" err="1">
                <a:solidFill>
                  <a:srgbClr val="1A314C"/>
                </a:solidFill>
                <a:cs typeface="Noto Serif"/>
              </a:rPr>
              <a:t>Diclosure</a:t>
            </a:r>
            <a:r>
              <a:rPr lang="de-DE" b="0" dirty="0">
                <a:solidFill>
                  <a:srgbClr val="1A314C"/>
                </a:solidFill>
                <a:cs typeface="Noto Serif"/>
              </a:rPr>
              <a:t> Regulation – kurz SFDR) aus und greifen bei der Bewertung auf die </a:t>
            </a:r>
            <a:r>
              <a:rPr lang="de-DE" b="0" dirty="0" err="1">
                <a:solidFill>
                  <a:srgbClr val="1A314C"/>
                </a:solidFill>
                <a:cs typeface="Noto Serif"/>
              </a:rPr>
              <a:t>Sustainable</a:t>
            </a:r>
            <a:r>
              <a:rPr lang="de-DE" b="0" dirty="0">
                <a:solidFill>
                  <a:srgbClr val="1A314C"/>
                </a:solidFill>
                <a:cs typeface="Noto Serif"/>
              </a:rPr>
              <a:t> Development Goals (SDGs) der Vereinten Nationen zurück. Das bedeutet, die Unter-nehmen müssen zu einem der 17 Nachhaltigkeitsziele einen positiven Beitrag leisten und dürfen gleich-zeitig kein anderes Ziel erheblich beeinträchtigen (DNSH-Test). Die Kriterien beziehen wir hierbei ebenfalls von MSCI ESG Research. Für die Berechnung des Mindestanteils an nachhaltigen Investitionen im Sinne der Offenlegungs-verordnung gelten die nachhaltigen Umsatzanteile der jeweiligen Unternehmen. </a:t>
            </a:r>
          </a:p>
          <a:p>
            <a:pPr marL="41101" defTabSz="521926">
              <a:lnSpc>
                <a:spcPct val="100000"/>
              </a:lnSpc>
              <a:spcBef>
                <a:spcPts val="0"/>
              </a:spcBef>
              <a:spcAft>
                <a:spcPts val="913"/>
              </a:spcAft>
              <a:defRPr/>
            </a:pPr>
            <a:r>
              <a:rPr lang="de-DE" b="0" dirty="0">
                <a:solidFill>
                  <a:srgbClr val="1A314C"/>
                </a:solidFill>
                <a:cs typeface="Noto Serif"/>
              </a:rPr>
              <a:t>Wir streben hier einen gewichteten Anteil von ca. 20-40% auf Portfolioebene an. Zudem werden die Global </a:t>
            </a:r>
            <a:r>
              <a:rPr lang="de-DE" b="0" dirty="0" err="1">
                <a:solidFill>
                  <a:srgbClr val="1A314C"/>
                </a:solidFill>
                <a:cs typeface="Noto Serif"/>
              </a:rPr>
              <a:t>Norms</a:t>
            </a:r>
            <a:r>
              <a:rPr lang="de-DE" b="0" dirty="0">
                <a:solidFill>
                  <a:srgbClr val="1A314C"/>
                </a:solidFill>
                <a:cs typeface="Noto Serif"/>
              </a:rPr>
              <a:t> und die Mindeststandards des UN Global </a:t>
            </a:r>
            <a:r>
              <a:rPr lang="de-DE" b="0" dirty="0" err="1">
                <a:solidFill>
                  <a:srgbClr val="1A314C"/>
                </a:solidFill>
                <a:cs typeface="Noto Serif"/>
              </a:rPr>
              <a:t>Compacts</a:t>
            </a:r>
            <a:r>
              <a:rPr lang="de-DE" b="0" dirty="0">
                <a:solidFill>
                  <a:srgbClr val="1A314C"/>
                </a:solidFill>
                <a:cs typeface="Noto Serif"/>
              </a:rPr>
              <a:t> in unseren Anlageentscheidungen berücksichtigt. </a:t>
            </a:r>
          </a:p>
        </p:txBody>
      </p:sp>
    </p:spTree>
    <p:extLst>
      <p:ext uri="{BB962C8B-B14F-4D97-AF65-F5344CB8AC3E}">
        <p14:creationId xmlns:p14="http://schemas.microsoft.com/office/powerpoint/2010/main" val="1366242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ADDD8A9-F08F-69A9-F3BC-C98C60A45FE6}"/>
              </a:ext>
            </a:extLst>
          </p:cNvPr>
          <p:cNvSpPr>
            <a:spLocks noGrp="1"/>
          </p:cNvSpPr>
          <p:nvPr>
            <p:ph type="sldNum" sz="quarter" idx="12"/>
          </p:nvPr>
        </p:nvSpPr>
        <p:spPr/>
        <p:txBody>
          <a:bodyPr/>
          <a:lstStyle/>
          <a:p>
            <a:fld id="{3AE71D6B-ACB6-4F4C-A895-DCAEF1760EAA}" type="slidenum">
              <a:rPr lang="de-DE" smtClean="0"/>
              <a:t>8</a:t>
            </a:fld>
            <a:endParaRPr lang="de-DE"/>
          </a:p>
        </p:txBody>
      </p:sp>
      <p:pic>
        <p:nvPicPr>
          <p:cNvPr id="3" name="Grafik" descr="Ein Bild, das Reihe, Symmetrie enthält.&#10;&#10;Automatisch generierte Beschreibung">
            <a:extLst>
              <a:ext uri="{FF2B5EF4-FFF2-40B4-BE49-F238E27FC236}">
                <a16:creationId xmlns:a16="http://schemas.microsoft.com/office/drawing/2014/main" id="{9B5F9D1A-CF39-A0A5-EAAE-F87E2AE6D9E0}"/>
              </a:ext>
            </a:extLst>
          </p:cNvPr>
          <p:cNvPicPr>
            <a:picLocks noGrp="1" noRot="1" noChangeAspect="1" noMove="1" noResize="1" noEditPoints="1" noAdjustHandles="1" noChangeArrowheads="1" noChangeShapeType="1" noCrop="1"/>
          </p:cNvPicPr>
          <p:nvPr/>
        </p:nvPicPr>
        <p:blipFill rotWithShape="1">
          <a:blip r:embed="rId2"/>
          <a:srcRect l="9394" t="16493" r="39321" b="13212"/>
          <a:stretch/>
        </p:blipFill>
        <p:spPr>
          <a:xfrm>
            <a:off x="980660" y="1099931"/>
            <a:ext cx="5353879" cy="4678018"/>
          </a:xfrm>
          <a:prstGeom prst="rect">
            <a:avLst/>
          </a:prstGeom>
        </p:spPr>
      </p:pic>
      <p:pic>
        <p:nvPicPr>
          <p:cNvPr id="21" name="Klammer" descr="Ein Bild, das Schwarz, Dunkelheit enthält.&#10;&#10;Automatisch generierte Beschreibung">
            <a:extLst>
              <a:ext uri="{FF2B5EF4-FFF2-40B4-BE49-F238E27FC236}">
                <a16:creationId xmlns:a16="http://schemas.microsoft.com/office/drawing/2014/main" id="{2B1C6B2D-EE25-82CC-CA50-704BC91353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1496" y="1252371"/>
            <a:ext cx="533400" cy="2870200"/>
          </a:xfrm>
          <a:prstGeom prst="rect">
            <a:avLst/>
          </a:prstGeom>
        </p:spPr>
      </p:pic>
      <p:sp>
        <p:nvSpPr>
          <p:cNvPr id="7" name="Pyramide 3">
            <a:extLst>
              <a:ext uri="{FF2B5EF4-FFF2-40B4-BE49-F238E27FC236}">
                <a16:creationId xmlns:a16="http://schemas.microsoft.com/office/drawing/2014/main" id="{6CDE6EF8-7DEC-1494-ED26-B96572B9B655}"/>
              </a:ext>
            </a:extLst>
          </p:cNvPr>
          <p:cNvSpPr txBox="1"/>
          <p:nvPr/>
        </p:nvSpPr>
        <p:spPr>
          <a:xfrm>
            <a:off x="2735881" y="4854792"/>
            <a:ext cx="2268675"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Normbasierte ausschlüsse</a:t>
            </a:r>
          </a:p>
        </p:txBody>
      </p:sp>
      <p:sp>
        <p:nvSpPr>
          <p:cNvPr id="6" name="Pyramide 2">
            <a:extLst>
              <a:ext uri="{FF2B5EF4-FFF2-40B4-BE49-F238E27FC236}">
                <a16:creationId xmlns:a16="http://schemas.microsoft.com/office/drawing/2014/main" id="{052580C3-21CD-B7F6-0B35-0023BEE27589}"/>
              </a:ext>
            </a:extLst>
          </p:cNvPr>
          <p:cNvSpPr txBox="1"/>
          <p:nvPr/>
        </p:nvSpPr>
        <p:spPr>
          <a:xfrm>
            <a:off x="3150219" y="3351249"/>
            <a:ext cx="1440000"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ESG-Merkmale</a:t>
            </a:r>
          </a:p>
        </p:txBody>
      </p:sp>
      <p:sp>
        <p:nvSpPr>
          <p:cNvPr id="5" name="Pyramide 1">
            <a:extLst>
              <a:ext uri="{FF2B5EF4-FFF2-40B4-BE49-F238E27FC236}">
                <a16:creationId xmlns:a16="http://schemas.microsoft.com/office/drawing/2014/main" id="{A4A605B4-E5DD-6EB7-BB4D-6C29D94896FC}"/>
              </a:ext>
            </a:extLst>
          </p:cNvPr>
          <p:cNvSpPr txBox="1"/>
          <p:nvPr/>
        </p:nvSpPr>
        <p:spPr>
          <a:xfrm>
            <a:off x="3150219" y="2134627"/>
            <a:ext cx="1440000" cy="3693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Nachhaltige</a:t>
            </a:r>
            <a:br>
              <a:rPr lang="de-DE" sz="900" b="1" cap="all" baseline="0" dirty="0">
                <a:solidFill>
                  <a:schemeClr val="bg1"/>
                </a:solidFill>
              </a:rPr>
            </a:br>
            <a:r>
              <a:rPr lang="de-DE" sz="900" b="1" cap="all" baseline="0" dirty="0">
                <a:solidFill>
                  <a:schemeClr val="bg1"/>
                </a:solidFill>
              </a:rPr>
              <a:t>investitionen</a:t>
            </a:r>
          </a:p>
        </p:txBody>
      </p:sp>
      <p:sp>
        <p:nvSpPr>
          <p:cNvPr id="10" name="Bulletpoint 3">
            <a:extLst>
              <a:ext uri="{FF2B5EF4-FFF2-40B4-BE49-F238E27FC236}">
                <a16:creationId xmlns:a16="http://schemas.microsoft.com/office/drawing/2014/main" id="{B8707CB9-AEBB-F7F9-96E5-CF33E5F3847A}"/>
              </a:ext>
            </a:extLst>
          </p:cNvPr>
          <p:cNvSpPr txBox="1">
            <a:spLocks/>
          </p:cNvSpPr>
          <p:nvPr/>
        </p:nvSpPr>
        <p:spPr>
          <a:xfrm>
            <a:off x="6359223" y="4485831"/>
            <a:ext cx="1770525" cy="69809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lvl="2">
              <a:buFont typeface="Arial" panose="020B0604020202020204" pitchFamily="34" charset="0"/>
              <a:buChar char="•"/>
            </a:pPr>
            <a:r>
              <a:rPr lang="de-DE" dirty="0">
                <a:solidFill>
                  <a:schemeClr val="accent1"/>
                </a:solidFill>
              </a:rPr>
              <a:t>UN Global Compact</a:t>
            </a:r>
          </a:p>
          <a:p>
            <a:pPr lvl="2">
              <a:buFont typeface="Arial" panose="020B0604020202020204" pitchFamily="34" charset="0"/>
              <a:buChar char="•"/>
            </a:pPr>
            <a:r>
              <a:rPr lang="de-DE" dirty="0">
                <a:solidFill>
                  <a:schemeClr val="accent1"/>
                </a:solidFill>
              </a:rPr>
              <a:t>Freedom House Index</a:t>
            </a:r>
          </a:p>
          <a:p>
            <a:pPr lvl="2">
              <a:buFont typeface="Arial" panose="020B0604020202020204" pitchFamily="34" charset="0"/>
              <a:buChar char="•"/>
            </a:pPr>
            <a:r>
              <a:rPr lang="de-DE" dirty="0">
                <a:solidFill>
                  <a:schemeClr val="accent1"/>
                </a:solidFill>
              </a:rPr>
              <a:t>EU-Sanktionsliste</a:t>
            </a:r>
          </a:p>
        </p:txBody>
      </p:sp>
      <p:sp>
        <p:nvSpPr>
          <p:cNvPr id="9" name="Bulletpoint 2">
            <a:extLst>
              <a:ext uri="{FF2B5EF4-FFF2-40B4-BE49-F238E27FC236}">
                <a16:creationId xmlns:a16="http://schemas.microsoft.com/office/drawing/2014/main" id="{E0D46A8D-3737-C43B-79EF-332093B721CC}"/>
              </a:ext>
            </a:extLst>
          </p:cNvPr>
          <p:cNvSpPr txBox="1">
            <a:spLocks/>
          </p:cNvSpPr>
          <p:nvPr/>
        </p:nvSpPr>
        <p:spPr>
          <a:xfrm>
            <a:off x="5532952" y="2987755"/>
            <a:ext cx="2638032" cy="69809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lvl="2">
              <a:buFont typeface="Arial" panose="020B0604020202020204" pitchFamily="34" charset="0"/>
              <a:buChar char="•"/>
            </a:pPr>
            <a:r>
              <a:rPr lang="de-DE" dirty="0">
                <a:solidFill>
                  <a:schemeClr val="accent1"/>
                </a:solidFill>
              </a:rPr>
              <a:t>Mindest-MSCI-ESG-Rating (&gt; BB)</a:t>
            </a:r>
          </a:p>
          <a:p>
            <a:pPr lvl="2">
              <a:buFont typeface="Arial" panose="020B0604020202020204" pitchFamily="34" charset="0"/>
              <a:buChar char="•"/>
            </a:pPr>
            <a:r>
              <a:rPr lang="de-DE" dirty="0">
                <a:solidFill>
                  <a:schemeClr val="accent1"/>
                </a:solidFill>
              </a:rPr>
              <a:t>MSCI-ESG-Rating AA (Depotebene)</a:t>
            </a:r>
          </a:p>
          <a:p>
            <a:pPr lvl="2">
              <a:buFont typeface="Arial" panose="020B0604020202020204" pitchFamily="34" charset="0"/>
              <a:buChar char="•"/>
            </a:pPr>
            <a:r>
              <a:rPr lang="de-DE" dirty="0">
                <a:solidFill>
                  <a:schemeClr val="accent1"/>
                </a:solidFill>
              </a:rPr>
              <a:t>PAI-Berücksichtigung</a:t>
            </a:r>
          </a:p>
        </p:txBody>
      </p:sp>
      <p:sp>
        <p:nvSpPr>
          <p:cNvPr id="8" name="Bulletpoint 1">
            <a:extLst>
              <a:ext uri="{FF2B5EF4-FFF2-40B4-BE49-F238E27FC236}">
                <a16:creationId xmlns:a16="http://schemas.microsoft.com/office/drawing/2014/main" id="{1DB6DCC9-954B-BFBB-857F-CD7F1220F4C3}"/>
              </a:ext>
            </a:extLst>
          </p:cNvPr>
          <p:cNvSpPr txBox="1">
            <a:spLocks/>
          </p:cNvSpPr>
          <p:nvPr/>
        </p:nvSpPr>
        <p:spPr>
          <a:xfrm>
            <a:off x="4707920" y="1626981"/>
            <a:ext cx="2413849" cy="69809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lvl="2">
              <a:buFont typeface="Arial" panose="020B0604020202020204" pitchFamily="34" charset="0"/>
              <a:buChar char="•"/>
            </a:pPr>
            <a:r>
              <a:rPr lang="de-DE" dirty="0">
                <a:solidFill>
                  <a:schemeClr val="accent1"/>
                </a:solidFill>
              </a:rPr>
              <a:t>Positives Screening SDG-Beitrag</a:t>
            </a:r>
          </a:p>
          <a:p>
            <a:pPr lvl="2">
              <a:buFont typeface="Arial" panose="020B0604020202020204" pitchFamily="34" charset="0"/>
              <a:buChar char="•"/>
            </a:pPr>
            <a:r>
              <a:rPr lang="de-DE" dirty="0">
                <a:solidFill>
                  <a:schemeClr val="accent1"/>
                </a:solidFill>
              </a:rPr>
              <a:t>Nachhaltige Umsatzanteile</a:t>
            </a:r>
            <a:br>
              <a:rPr lang="de-DE" dirty="0">
                <a:solidFill>
                  <a:schemeClr val="accent1"/>
                </a:solidFill>
              </a:rPr>
            </a:br>
            <a:r>
              <a:rPr lang="de-DE" dirty="0">
                <a:solidFill>
                  <a:schemeClr val="accent1"/>
                </a:solidFill>
              </a:rPr>
              <a:t>(20 - 40%, </a:t>
            </a:r>
            <a:r>
              <a:rPr lang="de-DE" dirty="0" err="1">
                <a:solidFill>
                  <a:schemeClr val="accent1"/>
                </a:solidFill>
              </a:rPr>
              <a:t>activity-based</a:t>
            </a:r>
            <a:r>
              <a:rPr lang="de-DE" dirty="0">
                <a:solidFill>
                  <a:schemeClr val="accent1"/>
                </a:solidFill>
              </a:rPr>
              <a:t>)</a:t>
            </a:r>
          </a:p>
        </p:txBody>
      </p:sp>
      <p:sp>
        <p:nvSpPr>
          <p:cNvPr id="11" name="Artikel">
            <a:extLst>
              <a:ext uri="{FF2B5EF4-FFF2-40B4-BE49-F238E27FC236}">
                <a16:creationId xmlns:a16="http://schemas.microsoft.com/office/drawing/2014/main" id="{26C4B910-4DD4-9CCF-5644-4CCC8EFC0790}"/>
              </a:ext>
            </a:extLst>
          </p:cNvPr>
          <p:cNvSpPr txBox="1">
            <a:spLocks/>
          </p:cNvSpPr>
          <p:nvPr/>
        </p:nvSpPr>
        <p:spPr>
          <a:xfrm>
            <a:off x="8659813" y="2529359"/>
            <a:ext cx="862843" cy="22885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marL="0" lvl="2" indent="0">
              <a:buNone/>
            </a:pPr>
            <a:r>
              <a:rPr lang="de-DE" dirty="0">
                <a:solidFill>
                  <a:schemeClr val="accent1"/>
                </a:solidFill>
              </a:rPr>
              <a:t>Artikel 8+</a:t>
            </a:r>
          </a:p>
        </p:txBody>
      </p:sp>
      <p:sp>
        <p:nvSpPr>
          <p:cNvPr id="13" name="Titel 2">
            <a:extLst>
              <a:ext uri="{FF2B5EF4-FFF2-40B4-BE49-F238E27FC236}">
                <a16:creationId xmlns:a16="http://schemas.microsoft.com/office/drawing/2014/main" id="{29FA5807-6494-1346-B397-92B9D26C0E02}"/>
              </a:ext>
            </a:extLst>
          </p:cNvPr>
          <p:cNvSpPr txBox="1">
            <a:spLocks/>
          </p:cNvSpPr>
          <p:nvPr/>
        </p:nvSpPr>
        <p:spPr>
          <a:xfrm>
            <a:off x="275650" y="322580"/>
            <a:ext cx="9756774" cy="360000"/>
          </a:xfrm>
          <a:prstGeom prst="rect">
            <a:avLst/>
          </a:prstGeom>
        </p:spPr>
        <p:txBody>
          <a:bodyPr/>
          <a:lst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a:lstStyle>
          <a:p>
            <a:r>
              <a:rPr lang="de-DE" dirty="0"/>
              <a:t>Nachhaltigkeitsprozess</a:t>
            </a:r>
            <a:br>
              <a:rPr lang="de-DE" dirty="0"/>
            </a:br>
            <a:r>
              <a:rPr lang="de-DE" sz="1200" b="0" dirty="0">
                <a:solidFill>
                  <a:schemeClr val="accent3"/>
                </a:solidFill>
              </a:rPr>
              <a:t>Nachhaltigkeitspyramide</a:t>
            </a:r>
            <a:endParaRPr lang="de-DE" dirty="0"/>
          </a:p>
        </p:txBody>
      </p:sp>
    </p:spTree>
    <p:extLst>
      <p:ext uri="{BB962C8B-B14F-4D97-AF65-F5344CB8AC3E}">
        <p14:creationId xmlns:p14="http://schemas.microsoft.com/office/powerpoint/2010/main" val="1651747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625EFFC-F15E-928C-6A76-FBCF20BC39F9}"/>
              </a:ext>
            </a:extLst>
          </p:cNvPr>
          <p:cNvSpPr>
            <a:spLocks noGrp="1"/>
          </p:cNvSpPr>
          <p:nvPr>
            <p:ph type="sldNum" sz="quarter" idx="12"/>
          </p:nvPr>
        </p:nvSpPr>
        <p:spPr/>
        <p:txBody>
          <a:bodyPr/>
          <a:lstStyle/>
          <a:p>
            <a:fld id="{3AE71D6B-ACB6-4F4C-A895-DCAEF1760EAA}" type="slidenum">
              <a:rPr lang="de-DE" smtClean="0"/>
              <a:t>9</a:t>
            </a:fld>
            <a:endParaRPr lang="de-DE"/>
          </a:p>
        </p:txBody>
      </p:sp>
      <p:grpSp>
        <p:nvGrpSpPr>
          <p:cNvPr id="4" name="Gruppieren 3">
            <a:extLst>
              <a:ext uri="{FF2B5EF4-FFF2-40B4-BE49-F238E27FC236}">
                <a16:creationId xmlns:a16="http://schemas.microsoft.com/office/drawing/2014/main" id="{AEABE56D-8419-693C-7939-9EBC302C2160}"/>
              </a:ext>
            </a:extLst>
          </p:cNvPr>
          <p:cNvGrpSpPr>
            <a:grpSpLocks noGrp="1" noUngrp="1" noRot="1" noMove="1" noResize="1"/>
          </p:cNvGrpSpPr>
          <p:nvPr/>
        </p:nvGrpSpPr>
        <p:grpSpPr>
          <a:xfrm>
            <a:off x="1530927" y="1064563"/>
            <a:ext cx="7377546" cy="4530437"/>
            <a:chOff x="1530927" y="1064563"/>
            <a:chExt cx="7377546" cy="4530437"/>
          </a:xfrm>
        </p:grpSpPr>
        <p:pic>
          <p:nvPicPr>
            <p:cNvPr id="3" name="Grafik" descr="Ein Bild, das Text, Screenshot, Multimedia, Anzeigegerät enthält.&#10;&#10;Automatisch generierte Beschreibung">
              <a:extLst>
                <a:ext uri="{FF2B5EF4-FFF2-40B4-BE49-F238E27FC236}">
                  <a16:creationId xmlns:a16="http://schemas.microsoft.com/office/drawing/2014/main" id="{C704968F-3EA0-660D-5062-3D43717FA1CF}"/>
                </a:ext>
              </a:extLst>
            </p:cNvPr>
            <p:cNvPicPr>
              <a:picLocks noGrp="1" noRot="1" noChangeAspect="1" noMove="1" noResize="1" noEditPoints="1" noAdjustHandles="1" noChangeArrowheads="1" noChangeShapeType="1" noCrop="1"/>
            </p:cNvPicPr>
            <p:nvPr/>
          </p:nvPicPr>
          <p:blipFill rotWithShape="1">
            <a:blip r:embed="rId2"/>
            <a:srcRect l="26377" t="14642" r="2953" b="17281"/>
            <a:stretch/>
          </p:blipFill>
          <p:spPr>
            <a:xfrm>
              <a:off x="1530927" y="1064563"/>
              <a:ext cx="7377546" cy="4530437"/>
            </a:xfrm>
            <a:prstGeom prst="rect">
              <a:avLst/>
            </a:prstGeom>
          </p:spPr>
        </p:pic>
        <p:sp>
          <p:nvSpPr>
            <p:cNvPr id="5" name="Überschrift">
              <a:extLst>
                <a:ext uri="{FF2B5EF4-FFF2-40B4-BE49-F238E27FC236}">
                  <a16:creationId xmlns:a16="http://schemas.microsoft.com/office/drawing/2014/main" id="{571E8765-D5BF-64E7-9082-4D10F86D8C12}"/>
                </a:ext>
              </a:extLst>
            </p:cNvPr>
            <p:cNvSpPr txBox="1">
              <a:spLocks noGrp="1" noRot="1" noMove="1" noResize="1" noEditPoints="1" noAdjustHandles="1" noChangeArrowheads="1" noChangeShapeType="1"/>
            </p:cNvSpPr>
            <p:nvPr/>
          </p:nvSpPr>
          <p:spPr>
            <a:xfrm>
              <a:off x="3627065" y="1100001"/>
              <a:ext cx="3185270"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Verbindung von esg und un sdgs</a:t>
              </a:r>
            </a:p>
          </p:txBody>
        </p:sp>
      </p:grpSp>
      <p:sp>
        <p:nvSpPr>
          <p:cNvPr id="6" name="Quelle">
            <a:extLst>
              <a:ext uri="{FF2B5EF4-FFF2-40B4-BE49-F238E27FC236}">
                <a16:creationId xmlns:a16="http://schemas.microsoft.com/office/drawing/2014/main" id="{1C4EA012-F223-F360-1480-306B606B5892}"/>
              </a:ext>
            </a:extLst>
          </p:cNvPr>
          <p:cNvSpPr txBox="1"/>
          <p:nvPr/>
        </p:nvSpPr>
        <p:spPr>
          <a:xfrm>
            <a:off x="2807888" y="5288075"/>
            <a:ext cx="1728000" cy="108000"/>
          </a:xfrm>
          <a:prstGeom prst="rect">
            <a:avLst/>
          </a:prstGeom>
          <a:noFill/>
        </p:spPr>
        <p:txBody>
          <a:bodyPr wrap="square" lIns="36000" tIns="0" rIns="36000" bIns="0" rtlCol="0">
            <a:noAutofit/>
          </a:bodyPr>
          <a:lstStyle/>
          <a:p>
            <a:r>
              <a:rPr lang="de-DE" sz="600" dirty="0">
                <a:solidFill>
                  <a:schemeClr val="bg2"/>
                </a:solidFill>
              </a:rPr>
              <a:t>Bildquelle: www.17ziele.de/downloads</a:t>
            </a:r>
          </a:p>
        </p:txBody>
      </p:sp>
      <p:sp>
        <p:nvSpPr>
          <p:cNvPr id="7" name="Titel 2">
            <a:extLst>
              <a:ext uri="{FF2B5EF4-FFF2-40B4-BE49-F238E27FC236}">
                <a16:creationId xmlns:a16="http://schemas.microsoft.com/office/drawing/2014/main" id="{1ECA1A57-4439-0640-999E-95AA33800DEB}"/>
              </a:ext>
            </a:extLst>
          </p:cNvPr>
          <p:cNvSpPr txBox="1">
            <a:spLocks/>
          </p:cNvSpPr>
          <p:nvPr/>
        </p:nvSpPr>
        <p:spPr>
          <a:xfrm>
            <a:off x="275650" y="322579"/>
            <a:ext cx="9756774" cy="714385"/>
          </a:xfrm>
          <a:prstGeom prst="rect">
            <a:avLst/>
          </a:prstGeom>
        </p:spPr>
        <p:txBody>
          <a:bodyPr/>
          <a:lst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a:lstStyle>
          <a:p>
            <a:r>
              <a:rPr lang="de-DE" dirty="0"/>
              <a:t>Investmentprozess und Risiken</a:t>
            </a:r>
            <a:br>
              <a:rPr lang="de-DE" dirty="0"/>
            </a:br>
            <a:r>
              <a:rPr lang="de-DE" sz="1200" b="0" dirty="0">
                <a:solidFill>
                  <a:schemeClr val="accent3"/>
                </a:solidFill>
              </a:rPr>
              <a:t>Anlagestrategie kombiniert </a:t>
            </a:r>
            <a:r>
              <a:rPr lang="de-DE" sz="1200" dirty="0">
                <a:solidFill>
                  <a:schemeClr val="accent3"/>
                </a:solidFill>
                <a:latin typeface="+mn-lt"/>
              </a:rPr>
              <a:t>ESG-Integration</a:t>
            </a:r>
            <a:r>
              <a:rPr lang="de-DE" sz="1200" b="0" dirty="0">
                <a:solidFill>
                  <a:schemeClr val="accent3"/>
                </a:solidFill>
              </a:rPr>
              <a:t> mit positiver Wirkung auf die </a:t>
            </a:r>
            <a:r>
              <a:rPr lang="de-DE" sz="1200" dirty="0">
                <a:solidFill>
                  <a:schemeClr val="accent3"/>
                </a:solidFill>
                <a:latin typeface="+mn-lt"/>
              </a:rPr>
              <a:t>UN-Ziele für nachhaltige Entwicklung (SDGs)</a:t>
            </a:r>
            <a:endParaRPr lang="de-DE" dirty="0">
              <a:latin typeface="+mn-lt"/>
            </a:endParaRPr>
          </a:p>
        </p:txBody>
      </p:sp>
    </p:spTree>
    <p:extLst>
      <p:ext uri="{BB962C8B-B14F-4D97-AF65-F5344CB8AC3E}">
        <p14:creationId xmlns:p14="http://schemas.microsoft.com/office/powerpoint/2010/main" val="1325068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68E8EC2-C3DF-4D4D-8CD0-EEE3551FE49F}"/>
              </a:ext>
            </a:extLst>
          </p:cNvPr>
          <p:cNvSpPr>
            <a:spLocks noGrp="1"/>
          </p:cNvSpPr>
          <p:nvPr>
            <p:ph type="sldNum" sz="quarter" idx="12"/>
          </p:nvPr>
        </p:nvSpPr>
        <p:spPr/>
        <p:txBody>
          <a:bodyPr/>
          <a:lstStyle/>
          <a:p>
            <a:fld id="{3AE71D6B-ACB6-4F4C-A895-DCAEF1760EAA}" type="slidenum">
              <a:rPr lang="de-DE" smtClean="0"/>
              <a:t>10</a:t>
            </a:fld>
            <a:endParaRPr lang="de-DE"/>
          </a:p>
        </p:txBody>
      </p:sp>
      <p:sp>
        <p:nvSpPr>
          <p:cNvPr id="3" name="Titel 2">
            <a:extLst>
              <a:ext uri="{FF2B5EF4-FFF2-40B4-BE49-F238E27FC236}">
                <a16:creationId xmlns:a16="http://schemas.microsoft.com/office/drawing/2014/main" id="{B6E0CDA3-1440-E64A-9A4E-96CD2B88FCB5}"/>
              </a:ext>
            </a:extLst>
          </p:cNvPr>
          <p:cNvSpPr>
            <a:spLocks noGrp="1"/>
          </p:cNvSpPr>
          <p:nvPr>
            <p:ph type="title"/>
          </p:nvPr>
        </p:nvSpPr>
        <p:spPr/>
        <p:txBody>
          <a:bodyPr/>
          <a:lstStyle/>
          <a:p>
            <a:r>
              <a:rPr lang="de-DE" dirty="0"/>
              <a:t>Nachhaltigkeits- und </a:t>
            </a:r>
            <a:r>
              <a:rPr lang="de-DE" dirty="0" err="1"/>
              <a:t>Investmentkonzept|</a:t>
            </a:r>
            <a:r>
              <a:rPr lang="de-DE" b="0" dirty="0" err="1"/>
              <a:t>SDG-Beitrag</a:t>
            </a:r>
            <a:endParaRPr lang="de-DE" b="0" dirty="0"/>
          </a:p>
        </p:txBody>
      </p:sp>
      <p:graphicFrame>
        <p:nvGraphicFramePr>
          <p:cNvPr id="4" name="Tabelle 6">
            <a:extLst>
              <a:ext uri="{FF2B5EF4-FFF2-40B4-BE49-F238E27FC236}">
                <a16:creationId xmlns:a16="http://schemas.microsoft.com/office/drawing/2014/main" id="{CADACF6B-78BB-034C-8E53-CB988BC7C87E}"/>
              </a:ext>
            </a:extLst>
          </p:cNvPr>
          <p:cNvGraphicFramePr>
            <a:graphicFrameLocks noGrp="1"/>
          </p:cNvGraphicFramePr>
          <p:nvPr>
            <p:extLst>
              <p:ext uri="{D42A27DB-BD31-4B8C-83A1-F6EECF244321}">
                <p14:modId xmlns:p14="http://schemas.microsoft.com/office/powerpoint/2010/main" val="1951566008"/>
              </p:ext>
            </p:extLst>
          </p:nvPr>
        </p:nvGraphicFramePr>
        <p:xfrm>
          <a:off x="2784494" y="1338880"/>
          <a:ext cx="4959864" cy="4449882"/>
        </p:xfrm>
        <a:graphic>
          <a:graphicData uri="http://schemas.openxmlformats.org/drawingml/2006/table">
            <a:tbl>
              <a:tblPr firstRow="1" bandRow="1">
                <a:tableStyleId>{7E9639D4-E3E2-4D34-9284-5A2195B3D0D7}</a:tableStyleId>
              </a:tblPr>
              <a:tblGrid>
                <a:gridCol w="4959864">
                  <a:extLst>
                    <a:ext uri="{9D8B030D-6E8A-4147-A177-3AD203B41FA5}">
                      <a16:colId xmlns:a16="http://schemas.microsoft.com/office/drawing/2014/main" val="839331929"/>
                    </a:ext>
                  </a:extLst>
                </a:gridCol>
              </a:tblGrid>
              <a:tr h="315977">
                <a:tc>
                  <a:txBody>
                    <a:bodyPr/>
                    <a:lstStyle/>
                    <a:p>
                      <a:pPr algn="ctr"/>
                      <a:r>
                        <a:rPr lang="de-DE" sz="1100" b="1" dirty="0"/>
                        <a:t>SDG Beitrag</a:t>
                      </a:r>
                      <a:endParaRPr lang="de-DE" sz="1100" b="1" dirty="0">
                        <a:latin typeface="Noto Serif" panose="02020502060505020204" pitchFamily="18"/>
                        <a:ea typeface="Noto Serif" panose="02020502060505020204" pitchFamily="18"/>
                        <a:cs typeface="Noto Serif" panose="02020502060505020204" pitchFamily="18"/>
                      </a:endParaRPr>
                    </a:p>
                  </a:txBody>
                  <a:tcPr marL="104394" marR="104394" marT="52197" marB="52197"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50023869"/>
                  </a:ext>
                </a:extLst>
              </a:tr>
              <a:tr h="800354">
                <a:tc>
                  <a:txBody>
                    <a:bodyPr/>
                    <a:lstStyle/>
                    <a:p>
                      <a:pPr algn="just"/>
                      <a:endParaRPr lang="de-DE" sz="1100" dirty="0">
                        <a:solidFill>
                          <a:schemeClr val="accent1"/>
                        </a:solidFill>
                        <a:latin typeface="+mn-lt"/>
                      </a:endParaRPr>
                    </a:p>
                    <a:p>
                      <a:pPr algn="l"/>
                      <a:r>
                        <a:rPr lang="de-DE" sz="1100" dirty="0">
                          <a:solidFill>
                            <a:schemeClr val="accent1"/>
                          </a:solidFill>
                          <a:latin typeface="+mn-lt"/>
                        </a:rPr>
                        <a:t>Die SDGs sind 17 politische Zielsetzungen der Vereinten Nationen, welche weltweit die Sicherung einer nachhaltigen Entwicklung auf ökonomischer, sozialer sowie ökologischer Ebene fördern sollen.</a:t>
                      </a:r>
                      <a:endParaRPr lang="de-DE" sz="1100" i="0" dirty="0">
                        <a:solidFill>
                          <a:schemeClr val="accent1"/>
                        </a:solidFill>
                        <a:latin typeface="+mn-lt"/>
                        <a:ea typeface="Noto Serif" panose="02020502060505020204" pitchFamily="18"/>
                        <a:cs typeface="Noto Serif" panose="02020502060505020204" pitchFamily="18"/>
                      </a:endParaRPr>
                    </a:p>
                  </a:txBody>
                  <a:tcPr marL="104394" marR="104394" marT="52197" marB="52197">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98362618"/>
                  </a:ext>
                </a:extLst>
              </a:tr>
              <a:tr h="3333551">
                <a:tc>
                  <a:txBody>
                    <a:bodyPr/>
                    <a:lstStyle/>
                    <a:p>
                      <a:r>
                        <a:rPr lang="de-DE" sz="1100" b="1" dirty="0">
                          <a:solidFill>
                            <a:schemeClr val="accent1"/>
                          </a:solidFill>
                          <a:latin typeface="+mn-lt"/>
                        </a:rPr>
                        <a:t>MSCI SDG Ausrichtungs-Skala:</a:t>
                      </a:r>
                    </a:p>
                    <a:p>
                      <a:endParaRPr lang="de-DE" sz="1100" b="0" dirty="0">
                        <a:solidFill>
                          <a:schemeClr val="accent1"/>
                        </a:solidFill>
                        <a:latin typeface="+mn-lt"/>
                      </a:endParaRPr>
                    </a:p>
                    <a:p>
                      <a:pPr marL="285750" indent="-285750">
                        <a:buFont typeface="Arial" panose="020B0604020202020204" pitchFamily="34" charset="0"/>
                        <a:buChar char="•"/>
                      </a:pPr>
                      <a:endParaRPr lang="de-DE" sz="1100" dirty="0">
                        <a:solidFill>
                          <a:schemeClr val="accent1"/>
                        </a:solidFill>
                        <a:latin typeface="+mn-lt"/>
                      </a:endParaRPr>
                    </a:p>
                    <a:p>
                      <a:pPr marL="285750" indent="-285750">
                        <a:buFont typeface="Arial" panose="020B0604020202020204" pitchFamily="34" charset="0"/>
                        <a:buChar char="•"/>
                      </a:pPr>
                      <a:endParaRPr lang="de-DE" sz="1100" dirty="0">
                        <a:solidFill>
                          <a:schemeClr val="accent1"/>
                        </a:solidFill>
                        <a:latin typeface="+mn-lt"/>
                      </a:endParaRPr>
                    </a:p>
                    <a:p>
                      <a:pPr marL="0" indent="0">
                        <a:buFont typeface="Arial" panose="020B0604020202020204" pitchFamily="34" charset="0"/>
                        <a:buNone/>
                      </a:pPr>
                      <a:endParaRPr lang="de-DE" sz="1100" dirty="0">
                        <a:solidFill>
                          <a:schemeClr val="accent1"/>
                        </a:solidFill>
                        <a:latin typeface="+mn-lt"/>
                      </a:endParaRPr>
                    </a:p>
                    <a:p>
                      <a:pPr marL="0" indent="0">
                        <a:spcAft>
                          <a:spcPts val="400"/>
                        </a:spcAft>
                        <a:buFont typeface="Arial" panose="020B0604020202020204" pitchFamily="34" charset="0"/>
                        <a:buNone/>
                      </a:pPr>
                      <a:r>
                        <a:rPr lang="de-DE" sz="1100" b="1" dirty="0">
                          <a:solidFill>
                            <a:schemeClr val="accent1"/>
                          </a:solidFill>
                          <a:latin typeface="+mn-lt"/>
                        </a:rPr>
                        <a:t>Nachhaltiges Investments nach Art. 2(17) SFDR:</a:t>
                      </a:r>
                    </a:p>
                    <a:p>
                      <a:pPr marL="171450" indent="-171450">
                        <a:spcAft>
                          <a:spcPts val="400"/>
                        </a:spcAft>
                        <a:buFont typeface="Arial" panose="020B0604020202020204" pitchFamily="34" charset="0"/>
                        <a:buChar char="•"/>
                      </a:pPr>
                      <a:r>
                        <a:rPr lang="de-DE" sz="1100" dirty="0">
                          <a:solidFill>
                            <a:schemeClr val="accent1"/>
                          </a:solidFill>
                          <a:latin typeface="+mn-lt"/>
                        </a:rPr>
                        <a:t>Positiver Beitrag, wenn </a:t>
                      </a:r>
                      <a:r>
                        <a:rPr lang="de-DE" sz="1100" b="1" dirty="0">
                          <a:solidFill>
                            <a:schemeClr val="accent1"/>
                          </a:solidFill>
                          <a:latin typeface="+mn-lt"/>
                        </a:rPr>
                        <a:t>ein Score &gt;= 2</a:t>
                      </a:r>
                      <a:endParaRPr lang="de-DE" sz="1100" kern="1200" dirty="0">
                        <a:solidFill>
                          <a:schemeClr val="accent1"/>
                        </a:solidFill>
                        <a:latin typeface="+mn-lt"/>
                      </a:endParaRPr>
                    </a:p>
                    <a:p>
                      <a:pPr marL="171450" marR="0" lvl="0" indent="-171450" algn="l" defTabSz="457148"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de-DE" sz="1100" kern="1200" dirty="0">
                          <a:solidFill>
                            <a:schemeClr val="accent1"/>
                          </a:solidFill>
                          <a:latin typeface="+mn-lt"/>
                        </a:rPr>
                        <a:t>Alle Unternehmen Ihrer Vermögensverwaltung leisten einen nachhaltigen Beitrag, da sie einen MSCI SDG Wert von größer </a:t>
                      </a:r>
                      <a:br>
                        <a:rPr lang="de-DE" sz="1100" kern="1200" dirty="0">
                          <a:solidFill>
                            <a:schemeClr val="accent1"/>
                          </a:solidFill>
                          <a:latin typeface="+mn-lt"/>
                        </a:rPr>
                      </a:br>
                      <a:r>
                        <a:rPr lang="de-DE" sz="1100" kern="1200" dirty="0">
                          <a:solidFill>
                            <a:schemeClr val="accent1"/>
                          </a:solidFill>
                          <a:latin typeface="+mn-lt"/>
                        </a:rPr>
                        <a:t>gleich 2 liefern bzw. bei Fonds als SDG </a:t>
                      </a:r>
                      <a:r>
                        <a:rPr lang="de-DE" sz="1100" kern="1200" dirty="0" err="1">
                          <a:solidFill>
                            <a:schemeClr val="accent1"/>
                          </a:solidFill>
                          <a:latin typeface="+mn-lt"/>
                        </a:rPr>
                        <a:t>aligned</a:t>
                      </a:r>
                      <a:r>
                        <a:rPr lang="de-DE" sz="1100" kern="1200" dirty="0">
                          <a:solidFill>
                            <a:schemeClr val="accent1"/>
                          </a:solidFill>
                          <a:latin typeface="+mn-lt"/>
                        </a:rPr>
                        <a:t> gelten </a:t>
                      </a:r>
                    </a:p>
                    <a:p>
                      <a:pPr marL="171450" marR="0" lvl="0" indent="-171450" algn="l" defTabSz="457148"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de-DE" sz="1100" kern="1200" dirty="0">
                          <a:solidFill>
                            <a:schemeClr val="accent1"/>
                          </a:solidFill>
                          <a:latin typeface="+mn-lt"/>
                        </a:rPr>
                        <a:t>Den DNSH-Test führen wir über die Berücksichtigung von nachteiligen Auswirkungen auf Nachhaltigkeitsfaktoren (PAIs) durch</a:t>
                      </a:r>
                      <a:endParaRPr lang="de-DE" sz="1100" dirty="0">
                        <a:solidFill>
                          <a:schemeClr val="accent1"/>
                        </a:solidFill>
                        <a:latin typeface="+mn-lt"/>
                      </a:endParaRPr>
                    </a:p>
                    <a:p>
                      <a:pPr marL="171450" indent="-171450">
                        <a:spcAft>
                          <a:spcPts val="400"/>
                        </a:spcAft>
                        <a:buFont typeface="Arial" panose="020B0604020202020204" pitchFamily="34" charset="0"/>
                        <a:buChar char="•"/>
                      </a:pPr>
                      <a:r>
                        <a:rPr lang="de-DE" sz="1100" dirty="0">
                          <a:solidFill>
                            <a:schemeClr val="accent1"/>
                          </a:solidFill>
                          <a:latin typeface="+mn-lt"/>
                        </a:rPr>
                        <a:t>Einhaltung der Minimum Safeguards: </a:t>
                      </a:r>
                      <a:r>
                        <a:rPr lang="de-DE" sz="1100" b="1" dirty="0">
                          <a:solidFill>
                            <a:schemeClr val="accent1"/>
                          </a:solidFill>
                          <a:latin typeface="+mn-lt"/>
                        </a:rPr>
                        <a:t>Global </a:t>
                      </a:r>
                      <a:r>
                        <a:rPr lang="de-DE" sz="1100" b="1" dirty="0" err="1">
                          <a:solidFill>
                            <a:schemeClr val="accent1"/>
                          </a:solidFill>
                          <a:latin typeface="+mn-lt"/>
                        </a:rPr>
                        <a:t>Norms</a:t>
                      </a:r>
                      <a:endParaRPr lang="de-DE" sz="1100" b="1" dirty="0">
                        <a:solidFill>
                          <a:schemeClr val="accent1"/>
                        </a:solidFill>
                        <a:latin typeface="+mn-lt"/>
                      </a:endParaRPr>
                    </a:p>
                    <a:p>
                      <a:pPr marL="171450" indent="-171450">
                        <a:spcAft>
                          <a:spcPts val="400"/>
                        </a:spcAft>
                        <a:buFont typeface="Arial" panose="020B0604020202020204" pitchFamily="34" charset="0"/>
                        <a:buChar char="•"/>
                      </a:pPr>
                      <a:r>
                        <a:rPr lang="de-DE" sz="1100" dirty="0">
                          <a:solidFill>
                            <a:schemeClr val="accent1"/>
                          </a:solidFill>
                          <a:latin typeface="+mn-lt"/>
                        </a:rPr>
                        <a:t>Zur weiteren Quantifizierung ziehen wir die nachhaltigen Umsatzanteile der Einzeltitel von MSCI ESG Research heran. </a:t>
                      </a:r>
                      <a:br>
                        <a:rPr lang="de-DE" sz="1100" dirty="0">
                          <a:solidFill>
                            <a:schemeClr val="accent1"/>
                          </a:solidFill>
                          <a:latin typeface="+mn-lt"/>
                        </a:rPr>
                      </a:br>
                      <a:r>
                        <a:rPr lang="de-DE" sz="1100" b="1" dirty="0">
                          <a:solidFill>
                            <a:schemeClr val="accent1"/>
                          </a:solidFill>
                          <a:latin typeface="+mn-lt"/>
                        </a:rPr>
                        <a:t>Der Mindestanteil am Gesamtportfolio liegt bei einer Bandbreite von 20-40% nachhaltiger Investitionen. </a:t>
                      </a:r>
                      <a:endParaRPr lang="de-DE" sz="1100" b="1" dirty="0">
                        <a:solidFill>
                          <a:schemeClr val="accent1"/>
                        </a:solidFill>
                        <a:latin typeface="+mn-lt"/>
                        <a:ea typeface="Noto Serif" panose="02020502060505020204" pitchFamily="18"/>
                        <a:cs typeface="Noto Serif" panose="02020502060505020204" pitchFamily="18"/>
                      </a:endParaRPr>
                    </a:p>
                  </a:txBody>
                  <a:tcPr marL="104394" marR="104394" marT="52197" marB="52197">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20545700"/>
                  </a:ext>
                </a:extLst>
              </a:tr>
            </a:tbl>
          </a:graphicData>
        </a:graphic>
      </p:graphicFrame>
      <p:grpSp>
        <p:nvGrpSpPr>
          <p:cNvPr id="5" name="Gruppieren 4">
            <a:extLst>
              <a:ext uri="{FF2B5EF4-FFF2-40B4-BE49-F238E27FC236}">
                <a16:creationId xmlns:a16="http://schemas.microsoft.com/office/drawing/2014/main" id="{42D38182-1368-B742-8430-6819F0E97EE2}"/>
              </a:ext>
            </a:extLst>
          </p:cNvPr>
          <p:cNvGrpSpPr/>
          <p:nvPr/>
        </p:nvGrpSpPr>
        <p:grpSpPr>
          <a:xfrm>
            <a:off x="2842519" y="2811232"/>
            <a:ext cx="5023481" cy="438743"/>
            <a:chOff x="2521092" y="2278171"/>
            <a:chExt cx="4400129" cy="384301"/>
          </a:xfrm>
        </p:grpSpPr>
        <p:pic>
          <p:nvPicPr>
            <p:cNvPr id="6" name="Grafik 5">
              <a:extLst>
                <a:ext uri="{FF2B5EF4-FFF2-40B4-BE49-F238E27FC236}">
                  <a16:creationId xmlns:a16="http://schemas.microsoft.com/office/drawing/2014/main" id="{29E99345-E5A9-6A4E-ADA1-C11EE31FA554}"/>
                </a:ext>
              </a:extLst>
            </p:cNvPr>
            <p:cNvPicPr>
              <a:picLocks noChangeAspect="1"/>
            </p:cNvPicPr>
            <p:nvPr/>
          </p:nvPicPr>
          <p:blipFill>
            <a:blip r:embed="rId2"/>
            <a:stretch>
              <a:fillRect/>
            </a:stretch>
          </p:blipFill>
          <p:spPr>
            <a:xfrm>
              <a:off x="2592862" y="2363151"/>
              <a:ext cx="4150042" cy="299321"/>
            </a:xfrm>
            <a:prstGeom prst="rect">
              <a:avLst/>
            </a:prstGeom>
          </p:spPr>
        </p:pic>
        <p:sp>
          <p:nvSpPr>
            <p:cNvPr id="7" name="Textfeld 6">
              <a:extLst>
                <a:ext uri="{FF2B5EF4-FFF2-40B4-BE49-F238E27FC236}">
                  <a16:creationId xmlns:a16="http://schemas.microsoft.com/office/drawing/2014/main" id="{7461E96B-6DFC-1A4D-838D-642E446EAFDA}"/>
                </a:ext>
              </a:extLst>
            </p:cNvPr>
            <p:cNvSpPr txBox="1"/>
            <p:nvPr/>
          </p:nvSpPr>
          <p:spPr>
            <a:xfrm>
              <a:off x="2521092" y="2278171"/>
              <a:ext cx="4400129" cy="203931"/>
            </a:xfrm>
            <a:prstGeom prst="rect">
              <a:avLst/>
            </a:prstGeom>
            <a:solidFill>
              <a:schemeClr val="bg1"/>
            </a:solidFill>
          </p:spPr>
          <p:txBody>
            <a:bodyPr wrap="square" rtlCol="0">
              <a:spAutoFit/>
            </a:bodyPr>
            <a:lstStyle/>
            <a:p>
              <a:pPr defTabSz="521926">
                <a:defRPr/>
              </a:pPr>
              <a:r>
                <a:rPr lang="de-DE" sz="913" b="1" dirty="0">
                  <a:solidFill>
                    <a:prstClr val="black"/>
                  </a:solidFill>
                  <a:latin typeface="Gill Sans"/>
                </a:rPr>
                <a:t>stark pos. ausgerichtet  pos. ausgerichtet        neutral              negativ ausgerichtet                       SN</a:t>
              </a:r>
            </a:p>
          </p:txBody>
        </p:sp>
      </p:grpSp>
    </p:spTree>
    <p:extLst>
      <p:ext uri="{BB962C8B-B14F-4D97-AF65-F5344CB8AC3E}">
        <p14:creationId xmlns:p14="http://schemas.microsoft.com/office/powerpoint/2010/main" val="1925279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551C090-BB4A-194B-A0CE-6BA1F515F14D}"/>
              </a:ext>
            </a:extLst>
          </p:cNvPr>
          <p:cNvSpPr>
            <a:spLocks noGrp="1"/>
          </p:cNvSpPr>
          <p:nvPr>
            <p:ph type="sldNum" sz="quarter" idx="12"/>
          </p:nvPr>
        </p:nvSpPr>
        <p:spPr/>
        <p:txBody>
          <a:bodyPr/>
          <a:lstStyle/>
          <a:p>
            <a:fld id="{3AE71D6B-ACB6-4F4C-A895-DCAEF1760EAA}" type="slidenum">
              <a:rPr lang="de-DE" smtClean="0"/>
              <a:t>11</a:t>
            </a:fld>
            <a:endParaRPr lang="de-DE"/>
          </a:p>
        </p:txBody>
      </p:sp>
      <p:sp>
        <p:nvSpPr>
          <p:cNvPr id="3" name="Titel 2">
            <a:extLst>
              <a:ext uri="{FF2B5EF4-FFF2-40B4-BE49-F238E27FC236}">
                <a16:creationId xmlns:a16="http://schemas.microsoft.com/office/drawing/2014/main" id="{461CD48F-4692-AC4B-8E56-E6282E94CC33}"/>
              </a:ext>
            </a:extLst>
          </p:cNvPr>
          <p:cNvSpPr>
            <a:spLocks noGrp="1"/>
          </p:cNvSpPr>
          <p:nvPr>
            <p:ph type="title"/>
          </p:nvPr>
        </p:nvSpPr>
        <p:spPr/>
        <p:txBody>
          <a:bodyPr/>
          <a:lstStyle/>
          <a:p>
            <a:r>
              <a:rPr lang="de-DE" dirty="0"/>
              <a:t>Nachhaltigkeitsprozess</a:t>
            </a:r>
            <a:br>
              <a:rPr lang="de-DE" dirty="0"/>
            </a:br>
            <a:r>
              <a:rPr lang="de-DE" sz="1200" b="0" dirty="0">
                <a:solidFill>
                  <a:schemeClr val="accent3"/>
                </a:solidFill>
              </a:rPr>
              <a:t>Offenlegungsverordnung: Nachteilige Auswirkungen auf Nachhaltigkeit (</a:t>
            </a:r>
            <a:r>
              <a:rPr lang="de-DE" sz="1200" b="0" dirty="0" err="1">
                <a:solidFill>
                  <a:schemeClr val="accent3"/>
                </a:solidFill>
              </a:rPr>
              <a:t>Principal</a:t>
            </a:r>
            <a:r>
              <a:rPr lang="de-DE" sz="1200" b="0" dirty="0">
                <a:solidFill>
                  <a:schemeClr val="accent3"/>
                </a:solidFill>
              </a:rPr>
              <a:t> </a:t>
            </a:r>
            <a:r>
              <a:rPr lang="de-DE" sz="1200" b="0" dirty="0" err="1">
                <a:solidFill>
                  <a:schemeClr val="accent3"/>
                </a:solidFill>
              </a:rPr>
              <a:t>Adverse</a:t>
            </a:r>
            <a:r>
              <a:rPr lang="de-DE" sz="1200" b="0" dirty="0">
                <a:solidFill>
                  <a:schemeClr val="accent3"/>
                </a:solidFill>
              </a:rPr>
              <a:t> Impacts on </a:t>
            </a:r>
            <a:r>
              <a:rPr lang="de-DE" sz="1200" b="0" dirty="0" err="1">
                <a:solidFill>
                  <a:schemeClr val="accent3"/>
                </a:solidFill>
              </a:rPr>
              <a:t>Sustainability</a:t>
            </a:r>
            <a:r>
              <a:rPr lang="de-DE" sz="1200" b="0" dirty="0">
                <a:solidFill>
                  <a:schemeClr val="accent3"/>
                </a:solidFill>
              </a:rPr>
              <a:t> – PAIs)</a:t>
            </a:r>
            <a:br>
              <a:rPr lang="de-DE" sz="1800" dirty="0"/>
            </a:br>
            <a:endParaRPr lang="de-DE" dirty="0"/>
          </a:p>
        </p:txBody>
      </p:sp>
      <p:graphicFrame>
        <p:nvGraphicFramePr>
          <p:cNvPr id="4" name="Tabelle 3">
            <a:extLst>
              <a:ext uri="{FF2B5EF4-FFF2-40B4-BE49-F238E27FC236}">
                <a16:creationId xmlns:a16="http://schemas.microsoft.com/office/drawing/2014/main" id="{078DB0DC-F649-0E4A-BE39-B5DF946FC195}"/>
              </a:ext>
            </a:extLst>
          </p:cNvPr>
          <p:cNvGraphicFramePr>
            <a:graphicFrameLocks noGrp="1"/>
          </p:cNvGraphicFramePr>
          <p:nvPr>
            <p:extLst>
              <p:ext uri="{D42A27DB-BD31-4B8C-83A1-F6EECF244321}">
                <p14:modId xmlns:p14="http://schemas.microsoft.com/office/powerpoint/2010/main" val="3837611246"/>
              </p:ext>
            </p:extLst>
          </p:nvPr>
        </p:nvGraphicFramePr>
        <p:xfrm>
          <a:off x="1376502" y="1799641"/>
          <a:ext cx="7740511" cy="3299955"/>
        </p:xfrm>
        <a:graphic>
          <a:graphicData uri="http://schemas.openxmlformats.org/drawingml/2006/table">
            <a:tbl>
              <a:tblPr/>
              <a:tblGrid>
                <a:gridCol w="811075">
                  <a:extLst>
                    <a:ext uri="{9D8B030D-6E8A-4147-A177-3AD203B41FA5}">
                      <a16:colId xmlns:a16="http://schemas.microsoft.com/office/drawing/2014/main" val="1479323948"/>
                    </a:ext>
                  </a:extLst>
                </a:gridCol>
                <a:gridCol w="1543122">
                  <a:extLst>
                    <a:ext uri="{9D8B030D-6E8A-4147-A177-3AD203B41FA5}">
                      <a16:colId xmlns:a16="http://schemas.microsoft.com/office/drawing/2014/main" val="3746820492"/>
                    </a:ext>
                  </a:extLst>
                </a:gridCol>
                <a:gridCol w="5386314">
                  <a:extLst>
                    <a:ext uri="{9D8B030D-6E8A-4147-A177-3AD203B41FA5}">
                      <a16:colId xmlns:a16="http://schemas.microsoft.com/office/drawing/2014/main" val="1767937519"/>
                    </a:ext>
                  </a:extLst>
                </a:gridCol>
              </a:tblGrid>
              <a:tr h="369900">
                <a:tc gridSpan="2">
                  <a:txBody>
                    <a:bodyPr/>
                    <a:lstStyle/>
                    <a:p>
                      <a:pPr marL="108000" algn="ctr" fontAlgn="b"/>
                      <a:r>
                        <a:rPr lang="en-US" sz="1100" b="0" i="0" u="none" strike="noStrike" dirty="0">
                          <a:solidFill>
                            <a:schemeClr val="bg1"/>
                          </a:solidFill>
                          <a:effectLst/>
                          <a:latin typeface="+mn-lt"/>
                        </a:rPr>
                        <a:t> </a:t>
                      </a:r>
                      <a:r>
                        <a:rPr lang="en-US" sz="1100" b="1" i="0" u="none" strike="noStrike" dirty="0">
                          <a:solidFill>
                            <a:schemeClr val="bg1"/>
                          </a:solidFill>
                          <a:effectLst/>
                          <a:latin typeface="+mn-lt"/>
                        </a:rPr>
                        <a:t>Ebene</a:t>
                      </a:r>
                    </a:p>
                  </a:txBody>
                  <a:tcPr marL="8784" marR="8784" marT="8784"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l" fontAlgn="b"/>
                      <a:r>
                        <a:rPr lang="en-US" sz="1000" b="0" i="0" u="none" strike="noStrike" dirty="0">
                          <a:solidFill>
                            <a:srgbClr val="000000"/>
                          </a:solidFill>
                          <a:effectLst/>
                          <a:latin typeface="Gill Alt One MT"/>
                        </a:rPr>
                        <a:t> </a:t>
                      </a:r>
                    </a:p>
                  </a:txBody>
                  <a:tcPr marL="7694" marR="7694" marT="7694"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108000" algn="l" fontAlgn="b"/>
                      <a:r>
                        <a:rPr lang="en-US" sz="1100" b="0" i="0" u="none" strike="noStrike" dirty="0">
                          <a:solidFill>
                            <a:schemeClr val="bg1"/>
                          </a:solidFill>
                          <a:effectLst/>
                          <a:latin typeface="+mn-lt"/>
                        </a:rPr>
                        <a:t> </a:t>
                      </a:r>
                      <a:r>
                        <a:rPr lang="en-US" sz="1100" b="1" i="0" u="none" strike="noStrike" dirty="0" err="1">
                          <a:solidFill>
                            <a:schemeClr val="bg1"/>
                          </a:solidFill>
                          <a:effectLst/>
                          <a:latin typeface="+mn-lt"/>
                        </a:rPr>
                        <a:t>Indikator</a:t>
                      </a:r>
                      <a:endParaRPr lang="en-US" sz="1100" b="1" i="0" u="none" strike="noStrike" dirty="0">
                        <a:solidFill>
                          <a:schemeClr val="bg1"/>
                        </a:solidFill>
                        <a:effectLst/>
                        <a:latin typeface="+mn-lt"/>
                      </a:endParaRPr>
                    </a:p>
                  </a:txBody>
                  <a:tcPr marL="8784" marR="8784" marT="8784"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069420154"/>
                  </a:ext>
                </a:extLst>
              </a:tr>
              <a:tr h="197455">
                <a:tc rowSpan="8">
                  <a:txBody>
                    <a:bodyPr/>
                    <a:lstStyle/>
                    <a:p>
                      <a:pPr algn="ctr"/>
                      <a:r>
                        <a:rPr lang="en-US" sz="1100" b="1" dirty="0">
                          <a:solidFill>
                            <a:schemeClr val="accent1"/>
                          </a:solidFill>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r>
                        <a:rPr lang="en-US" sz="1100" b="1" dirty="0">
                          <a:solidFill>
                            <a:schemeClr val="accent1"/>
                          </a:solidFill>
                        </a:rPr>
                        <a:t>THG </a:t>
                      </a:r>
                      <a:r>
                        <a:rPr lang="en-US" sz="1100" b="1" dirty="0" err="1">
                          <a:solidFill>
                            <a:schemeClr val="accent1"/>
                          </a:solidFill>
                        </a:rPr>
                        <a:t>Emissionen</a:t>
                      </a:r>
                      <a:endParaRPr lang="en-US" sz="1100" b="1"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08000" algn="l" fontAlgn="ctr"/>
                      <a:r>
                        <a:rPr lang="en-US" sz="1100" b="0" i="0" u="none" strike="noStrike" dirty="0">
                          <a:solidFill>
                            <a:schemeClr val="accent1"/>
                          </a:solidFill>
                          <a:effectLst/>
                          <a:latin typeface="+mn-lt"/>
                        </a:rPr>
                        <a:t>2. C02-Fußabdruck</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5353306"/>
                  </a:ext>
                </a:extLst>
              </a:tr>
              <a:tr h="197455">
                <a:tc vMerge="1">
                  <a:txBody>
                    <a:bodyPr/>
                    <a:lstStyle/>
                    <a:p>
                      <a:endParaRPr lang="en-US"/>
                    </a:p>
                  </a:txBody>
                  <a:tcPr/>
                </a:tc>
                <a:tc vMerge="1">
                  <a:txBody>
                    <a:bodyPr/>
                    <a:lstStyle/>
                    <a:p>
                      <a:endParaRPr lang="en-US"/>
                    </a:p>
                  </a:txBody>
                  <a:tcPr/>
                </a:tc>
                <a:tc>
                  <a:txBody>
                    <a:bodyPr/>
                    <a:lstStyle/>
                    <a:p>
                      <a:pPr marL="108000" algn="l" fontAlgn="ctr"/>
                      <a:r>
                        <a:rPr lang="en-US" sz="1100" b="0" i="0" u="none" strike="noStrike" dirty="0">
                          <a:solidFill>
                            <a:schemeClr val="accent1"/>
                          </a:solidFill>
                          <a:effectLst/>
                          <a:latin typeface="+mn-lt"/>
                        </a:rPr>
                        <a:t>3. THG-</a:t>
                      </a:r>
                      <a:r>
                        <a:rPr lang="en-US" sz="1100" b="0" i="0" u="none" strike="noStrike" dirty="0" err="1">
                          <a:solidFill>
                            <a:schemeClr val="accent1"/>
                          </a:solidFill>
                          <a:effectLst/>
                          <a:latin typeface="+mn-lt"/>
                        </a:rPr>
                        <a:t>Intensität</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3649596"/>
                  </a:ext>
                </a:extLst>
              </a:tr>
              <a:tr h="197455">
                <a:tc vMerge="1">
                  <a:txBody>
                    <a:bodyPr/>
                    <a:lstStyle/>
                    <a:p>
                      <a:endParaRPr lang="en-US"/>
                    </a:p>
                  </a:txBody>
                  <a:tcPr/>
                </a:tc>
                <a:tc vMerge="1">
                  <a:txBody>
                    <a:bodyPr/>
                    <a:lstStyle/>
                    <a:p>
                      <a:endParaRPr lang="en-US"/>
                    </a:p>
                  </a:txBody>
                  <a:tcPr/>
                </a:tc>
                <a:tc>
                  <a:txBody>
                    <a:bodyPr/>
                    <a:lstStyle/>
                    <a:p>
                      <a:pPr marL="108000" algn="l" fontAlgn="ctr"/>
                      <a:r>
                        <a:rPr lang="de-DE" sz="1100" b="0" i="0" u="none" strike="noStrike" dirty="0">
                          <a:solidFill>
                            <a:schemeClr val="accent1"/>
                          </a:solidFill>
                          <a:effectLst/>
                          <a:latin typeface="+mn-lt"/>
                        </a:rPr>
                        <a:t>4. Beteiligung an Unternehmen, die im Bereich fossiler Brennstoffe tätig sind</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5150509"/>
                  </a:ext>
                </a:extLst>
              </a:tr>
              <a:tr h="197455">
                <a:tc vMerge="1">
                  <a:txBody>
                    <a:bodyPr/>
                    <a:lstStyle/>
                    <a:p>
                      <a:endParaRPr lang="en-US"/>
                    </a:p>
                  </a:txBody>
                  <a:tcPr/>
                </a:tc>
                <a:tc vMerge="1">
                  <a:txBody>
                    <a:bodyPr/>
                    <a:lstStyle/>
                    <a:p>
                      <a:endParaRPr lang="en-US"/>
                    </a:p>
                  </a:txBody>
                  <a:tcPr/>
                </a:tc>
                <a:tc>
                  <a:txBody>
                    <a:bodyPr/>
                    <a:lstStyle/>
                    <a:p>
                      <a:pPr marL="108000" algn="l" fontAlgn="ctr"/>
                      <a:r>
                        <a:rPr lang="de-DE" sz="1100" b="0" i="0" u="none" strike="noStrike" dirty="0">
                          <a:solidFill>
                            <a:schemeClr val="accent1"/>
                          </a:solidFill>
                          <a:effectLst/>
                          <a:latin typeface="+mn-lt"/>
                        </a:rPr>
                        <a:t>5. Anteil des Verbrauchs und der Produktion von nicht erneuerbarer Energie</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0160868"/>
                  </a:ext>
                </a:extLst>
              </a:tr>
              <a:tr h="197455">
                <a:tc vMerge="1">
                  <a:txBody>
                    <a:bodyPr/>
                    <a:lstStyle/>
                    <a:p>
                      <a:endParaRPr lang="en-US"/>
                    </a:p>
                  </a:txBody>
                  <a:tcPr/>
                </a:tc>
                <a:tc vMerge="1">
                  <a:txBody>
                    <a:bodyPr/>
                    <a:lstStyle/>
                    <a:p>
                      <a:endParaRPr lang="en-US"/>
                    </a:p>
                  </a:txBody>
                  <a:tcPr/>
                </a:tc>
                <a:tc>
                  <a:txBody>
                    <a:bodyPr/>
                    <a:lstStyle/>
                    <a:p>
                      <a:pPr marL="108000" algn="l" fontAlgn="ctr"/>
                      <a:r>
                        <a:rPr lang="en-US" sz="1100" b="0" i="0" u="none" strike="noStrike" dirty="0">
                          <a:solidFill>
                            <a:schemeClr val="accent1"/>
                          </a:solidFill>
                          <a:effectLst/>
                          <a:latin typeface="+mn-lt"/>
                        </a:rPr>
                        <a:t>6. </a:t>
                      </a:r>
                      <a:r>
                        <a:rPr lang="en-US" sz="1100" b="0" i="0" u="none" strike="noStrike" dirty="0" err="1">
                          <a:solidFill>
                            <a:schemeClr val="accent1"/>
                          </a:solidFill>
                          <a:effectLst/>
                          <a:latin typeface="+mn-lt"/>
                        </a:rPr>
                        <a:t>Energieverbrauchsintensität</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8758046"/>
                  </a:ext>
                </a:extLst>
              </a:tr>
              <a:tr h="197455">
                <a:tc vMerge="1">
                  <a:txBody>
                    <a:bodyPr/>
                    <a:lstStyle/>
                    <a:p>
                      <a:endParaRPr lang="en-US"/>
                    </a:p>
                  </a:txBody>
                  <a:tcPr>
                    <a:lnT w="12700" cmpd="sng">
                      <a:noFill/>
                      <a:prstDash val="solid"/>
                    </a:lnT>
                  </a:tcPr>
                </a:tc>
                <a:tc>
                  <a:txBody>
                    <a:bodyPr/>
                    <a:lstStyle/>
                    <a:p>
                      <a:pPr marL="108000" algn="l" fontAlgn="ctr"/>
                      <a:r>
                        <a:rPr lang="en-US" sz="1100" b="1" i="0" u="none" strike="noStrike" dirty="0" err="1">
                          <a:solidFill>
                            <a:schemeClr val="accent1"/>
                          </a:solidFill>
                          <a:effectLst/>
                          <a:latin typeface="+mn-lt"/>
                        </a:rPr>
                        <a:t>Biodiversität</a:t>
                      </a:r>
                      <a:endParaRPr lang="en-US" sz="1100" b="1" i="0" u="none" strike="noStrike" dirty="0">
                        <a:solidFill>
                          <a:schemeClr val="accent1"/>
                        </a:solidFill>
                        <a:effectLst/>
                        <a:latin typeface="+mn-lt"/>
                      </a:endParaRP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08000" algn="l" fontAlgn="ctr"/>
                      <a:r>
                        <a:rPr lang="de-DE" sz="1100" b="0" i="0" u="none" strike="noStrike" dirty="0">
                          <a:solidFill>
                            <a:schemeClr val="accent1"/>
                          </a:solidFill>
                          <a:effectLst/>
                          <a:latin typeface="+mn-lt"/>
                        </a:rPr>
                        <a:t>7. Aktivitäten, die sich negativ auf biodiversitätssensible Gebiete auswirken</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17508082"/>
                  </a:ext>
                </a:extLst>
              </a:tr>
              <a:tr h="197455">
                <a:tc vMerge="1">
                  <a:txBody>
                    <a:bodyPr/>
                    <a:lstStyle/>
                    <a:p>
                      <a:endParaRPr lang="en-US"/>
                    </a:p>
                  </a:txBody>
                  <a:tcPr/>
                </a:tc>
                <a:tc>
                  <a:txBody>
                    <a:bodyPr/>
                    <a:lstStyle/>
                    <a:p>
                      <a:pPr marL="108000" algn="l" fontAlgn="ctr"/>
                      <a:r>
                        <a:rPr lang="en-US" sz="1100" b="1" i="0" u="none" strike="noStrike" dirty="0">
                          <a:solidFill>
                            <a:schemeClr val="accent1"/>
                          </a:solidFill>
                          <a:effectLst/>
                          <a:latin typeface="+mn-lt"/>
                        </a:rPr>
                        <a:t>Wasser</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08000" algn="l" fontAlgn="ctr"/>
                      <a:r>
                        <a:rPr lang="de-DE" sz="1100" b="0" i="0" u="none" strike="noStrike" dirty="0">
                          <a:solidFill>
                            <a:schemeClr val="accent1"/>
                          </a:solidFill>
                          <a:effectLst/>
                          <a:latin typeface="+mn-lt"/>
                        </a:rPr>
                        <a:t>8. Giftstoffe im Wasser (in Tonnen pro investierter Mio. EUR)</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71407330"/>
                  </a:ext>
                </a:extLst>
              </a:tr>
              <a:tr h="202292">
                <a:tc vMerge="1">
                  <a:txBody>
                    <a:bodyPr/>
                    <a:lstStyle/>
                    <a:p>
                      <a:endParaRPr lang="en-US"/>
                    </a:p>
                  </a:txBody>
                  <a:tcPr/>
                </a:tc>
                <a:tc>
                  <a:txBody>
                    <a:bodyPr/>
                    <a:lstStyle/>
                    <a:p>
                      <a:pPr marL="108000" algn="l" fontAlgn="ctr"/>
                      <a:r>
                        <a:rPr lang="en-US" sz="1100" b="1" i="0" u="none" strike="noStrike" dirty="0" err="1">
                          <a:solidFill>
                            <a:schemeClr val="accent1"/>
                          </a:solidFill>
                          <a:effectLst/>
                          <a:latin typeface="+mn-lt"/>
                        </a:rPr>
                        <a:t>Müll</a:t>
                      </a:r>
                      <a:endParaRPr lang="en-US" sz="1100" b="1" i="0" u="none" strike="noStrike" dirty="0">
                        <a:solidFill>
                          <a:schemeClr val="accent1"/>
                        </a:solidFill>
                        <a:effectLst/>
                        <a:latin typeface="+mn-lt"/>
                      </a:endParaRP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08000" algn="l" fontAlgn="ctr"/>
                      <a:r>
                        <a:rPr lang="de-DE" sz="1100" b="0" i="0" u="none" strike="noStrike" dirty="0">
                          <a:solidFill>
                            <a:schemeClr val="accent1"/>
                          </a:solidFill>
                          <a:effectLst/>
                          <a:latin typeface="+mn-lt"/>
                        </a:rPr>
                        <a:t>9. Verhältnis von gefährlichem Abfall (in Tonnen pro investierter Mio. EUR)</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24966481"/>
                  </a:ext>
                </a:extLst>
              </a:tr>
              <a:tr h="202292">
                <a:tc>
                  <a:txBody>
                    <a:bodyPr/>
                    <a:lstStyle/>
                    <a:p>
                      <a:pPr algn="ctr" fontAlgn="ctr"/>
                      <a:endParaRPr lang="de-DE" sz="1100" b="1"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algn="l" fontAlgn="ctr"/>
                      <a:endParaRPr lang="en-US" sz="1100" b="1" i="0" u="none" strike="noStrike" dirty="0">
                        <a:solidFill>
                          <a:srgbClr val="000000"/>
                        </a:solidFill>
                        <a:effectLst/>
                        <a:latin typeface="+mn-lt"/>
                      </a:endParaRPr>
                    </a:p>
                  </a:txBody>
                  <a:tcPr marL="8784" marR="8784" marT="878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algn="l" fontAlgn="ctr"/>
                      <a:endParaRPr lang="de-DE" sz="1100" b="0" i="0" u="none" strike="noStrike" dirty="0">
                        <a:solidFill>
                          <a:srgbClr val="000000"/>
                        </a:solidFill>
                        <a:effectLst/>
                        <a:latin typeface="+mn-lt"/>
                      </a:endParaRPr>
                    </a:p>
                  </a:txBody>
                  <a:tcPr marL="8784" marR="8784" marT="8784"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4246914"/>
                  </a:ext>
                </a:extLst>
              </a:tr>
              <a:tr h="197455">
                <a:tc rowSpan="5">
                  <a:txBody>
                    <a:bodyPr/>
                    <a:lstStyle/>
                    <a:p>
                      <a:pPr algn="ctr" fontAlgn="ctr"/>
                      <a:r>
                        <a:rPr lang="en-US" sz="1100" b="1" i="0" u="none" strike="noStrike" dirty="0">
                          <a:solidFill>
                            <a:schemeClr val="bg1"/>
                          </a:solidFill>
                          <a:effectLst/>
                          <a:latin typeface="+mn-lt"/>
                        </a:rPr>
                        <a:t>S  </a:t>
                      </a:r>
                      <a:br>
                        <a:rPr lang="en-US" sz="1100" b="1" i="0" u="none" strike="noStrike" dirty="0">
                          <a:solidFill>
                            <a:schemeClr val="bg1"/>
                          </a:solidFill>
                          <a:effectLst/>
                          <a:latin typeface="+mn-lt"/>
                        </a:rPr>
                      </a:br>
                      <a:r>
                        <a:rPr lang="en-US" sz="1100" b="1" i="0" u="none" strike="noStrike" dirty="0">
                          <a:solidFill>
                            <a:schemeClr val="bg1"/>
                          </a:solidFill>
                          <a:effectLst/>
                          <a:latin typeface="+mn-lt"/>
                        </a:rPr>
                        <a:t>&amp;</a:t>
                      </a:r>
                      <a:br>
                        <a:rPr lang="en-US" sz="1100" b="1" i="0" u="none" strike="noStrike" dirty="0">
                          <a:solidFill>
                            <a:schemeClr val="bg1"/>
                          </a:solidFill>
                          <a:effectLst/>
                          <a:latin typeface="+mn-lt"/>
                        </a:rPr>
                      </a:br>
                      <a:r>
                        <a:rPr lang="en-US" sz="1100" b="1" i="0" u="none" strike="noStrike" dirty="0">
                          <a:solidFill>
                            <a:schemeClr val="bg1"/>
                          </a:solidFill>
                          <a:effectLst/>
                          <a:latin typeface="+mn-lt"/>
                        </a:rPr>
                        <a:t>G</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5">
                  <a:txBody>
                    <a:bodyPr/>
                    <a:lstStyle/>
                    <a:p>
                      <a:pPr marL="108000" algn="l" fontAlgn="ctr"/>
                      <a:r>
                        <a:rPr lang="en-US" sz="1100" b="1" i="0" u="none" strike="noStrike" dirty="0" err="1">
                          <a:solidFill>
                            <a:schemeClr val="accent1"/>
                          </a:solidFill>
                          <a:effectLst/>
                          <a:latin typeface="+mn-lt"/>
                        </a:rPr>
                        <a:t>Soziale</a:t>
                      </a:r>
                      <a:r>
                        <a:rPr lang="en-US" sz="1100" b="1" i="0" u="none" strike="noStrike" dirty="0">
                          <a:solidFill>
                            <a:schemeClr val="accent1"/>
                          </a:solidFill>
                          <a:effectLst/>
                          <a:latin typeface="+mn-lt"/>
                        </a:rPr>
                        <a:t> und Mitarbeiter-</a:t>
                      </a:r>
                      <a:br>
                        <a:rPr lang="en-US" sz="1100" b="1" i="0" u="none" strike="noStrike" dirty="0">
                          <a:solidFill>
                            <a:schemeClr val="accent1"/>
                          </a:solidFill>
                          <a:effectLst/>
                          <a:latin typeface="+mn-lt"/>
                        </a:rPr>
                      </a:br>
                      <a:r>
                        <a:rPr lang="en-US" sz="1100" b="1" i="0" u="none" strike="noStrike" dirty="0" err="1">
                          <a:solidFill>
                            <a:schemeClr val="accent1"/>
                          </a:solidFill>
                          <a:effectLst/>
                          <a:latin typeface="+mn-lt"/>
                        </a:rPr>
                        <a:t>bezogene</a:t>
                      </a:r>
                      <a:r>
                        <a:rPr lang="en-US" sz="1100" b="1" i="0" u="none" strike="noStrike" dirty="0">
                          <a:solidFill>
                            <a:schemeClr val="accent1"/>
                          </a:solidFill>
                          <a:effectLst/>
                          <a:latin typeface="+mn-lt"/>
                        </a:rPr>
                        <a:t> </a:t>
                      </a:r>
                      <a:r>
                        <a:rPr lang="en-US" sz="1100" b="1" i="0" u="none" strike="noStrike" dirty="0" err="1">
                          <a:solidFill>
                            <a:schemeClr val="accent1"/>
                          </a:solidFill>
                          <a:effectLst/>
                          <a:latin typeface="+mn-lt"/>
                        </a:rPr>
                        <a:t>Themen</a:t>
                      </a:r>
                      <a:endParaRPr lang="en-US" sz="1100" b="1"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algn="l" fontAlgn="ctr"/>
                      <a:r>
                        <a:rPr lang="de-DE" sz="1100" b="0" i="0" u="none" strike="noStrike" dirty="0">
                          <a:solidFill>
                            <a:schemeClr val="accent1"/>
                          </a:solidFill>
                          <a:effectLst/>
                          <a:latin typeface="+mn-lt"/>
                        </a:rPr>
                        <a:t>10. Verstöße gegen UNGC-Prinzipien und OECD-Richtlinien</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7903056"/>
                  </a:ext>
                </a:extLst>
              </a:tr>
              <a:tr h="197455">
                <a:tc vMerge="1">
                  <a:txBody>
                    <a:bodyPr/>
                    <a:lstStyle/>
                    <a:p>
                      <a:endParaRPr lang="en-US"/>
                    </a:p>
                  </a:txBody>
                  <a:tcPr/>
                </a:tc>
                <a:tc vMerge="1">
                  <a:txBody>
                    <a:bodyPr/>
                    <a:lstStyle/>
                    <a:p>
                      <a:endParaRPr lang="en-US"/>
                    </a:p>
                  </a:txBody>
                  <a:tcPr/>
                </a:tc>
                <a:tc>
                  <a:txBody>
                    <a:bodyPr/>
                    <a:lstStyle/>
                    <a:p>
                      <a:pPr marL="108000" marR="0" lvl="0" indent="0" algn="l" defTabSz="783001" rtl="0" eaLnBrk="1" fontAlgn="ctr" latinLnBrk="0" hangingPunct="1">
                        <a:lnSpc>
                          <a:spcPct val="100000"/>
                        </a:lnSpc>
                        <a:spcBef>
                          <a:spcPts val="0"/>
                        </a:spcBef>
                        <a:spcAft>
                          <a:spcPts val="0"/>
                        </a:spcAft>
                        <a:buClrTx/>
                        <a:buSzTx/>
                        <a:buFontTx/>
                        <a:buNone/>
                        <a:tabLst/>
                        <a:defRPr/>
                      </a:pPr>
                      <a:r>
                        <a:rPr lang="de-DE" sz="1100" b="0" i="0" u="none" strike="noStrike" dirty="0">
                          <a:solidFill>
                            <a:schemeClr val="accent1"/>
                          </a:solidFill>
                          <a:effectLst/>
                          <a:latin typeface="+mn-lt"/>
                        </a:rPr>
                        <a:t>11. Fehlende Prozesse zur Überwachung der Einhaltung</a:t>
                      </a:r>
                      <a:br>
                        <a:rPr lang="de-DE" sz="1100" b="0" i="0" u="none" strike="noStrike" dirty="0">
                          <a:solidFill>
                            <a:schemeClr val="accent1"/>
                          </a:solidFill>
                          <a:effectLst/>
                          <a:latin typeface="+mn-lt"/>
                        </a:rPr>
                      </a:br>
                      <a:r>
                        <a:rPr lang="de-DE" sz="1100" b="0" i="0" u="none" strike="noStrike" dirty="0">
                          <a:solidFill>
                            <a:schemeClr val="accent1"/>
                          </a:solidFill>
                          <a:effectLst/>
                          <a:latin typeface="+mn-lt"/>
                        </a:rPr>
                        <a:t>      </a:t>
                      </a:r>
                      <a:r>
                        <a:rPr lang="en-US" sz="1100" b="0" i="0" u="none" strike="noStrike" dirty="0">
                          <a:solidFill>
                            <a:schemeClr val="accent1"/>
                          </a:solidFill>
                          <a:effectLst/>
                          <a:latin typeface="+mn-lt"/>
                        </a:rPr>
                        <a:t>der UNGC-</a:t>
                      </a:r>
                      <a:r>
                        <a:rPr lang="en-US" sz="1100" b="0" i="0" u="none" strike="noStrike" dirty="0" err="1">
                          <a:solidFill>
                            <a:schemeClr val="accent1"/>
                          </a:solidFill>
                          <a:effectLst/>
                          <a:latin typeface="+mn-lt"/>
                        </a:rPr>
                        <a:t>Prinzipien</a:t>
                      </a:r>
                      <a:r>
                        <a:rPr lang="en-US" sz="1100" b="0" i="0" u="none" strike="noStrike" dirty="0">
                          <a:solidFill>
                            <a:schemeClr val="accent1"/>
                          </a:solidFill>
                          <a:effectLst/>
                          <a:latin typeface="+mn-lt"/>
                        </a:rPr>
                        <a:t> und OECD-</a:t>
                      </a:r>
                      <a:r>
                        <a:rPr lang="en-US" sz="1100" b="0" i="0" u="none" strike="noStrike" dirty="0" err="1">
                          <a:solidFill>
                            <a:schemeClr val="accent1"/>
                          </a:solidFill>
                          <a:effectLst/>
                          <a:latin typeface="+mn-lt"/>
                        </a:rPr>
                        <a:t>Richtlinien</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8044849"/>
                  </a:ext>
                </a:extLst>
              </a:tr>
              <a:tr h="197455">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108000" algn="l" fontAlgn="ctr"/>
                      <a:r>
                        <a:rPr lang="de-DE" sz="1100" b="0" i="0" u="none" strike="noStrike" dirty="0">
                          <a:solidFill>
                            <a:schemeClr val="accent1"/>
                          </a:solidFill>
                          <a:effectLst/>
                          <a:latin typeface="+mn-lt"/>
                        </a:rPr>
                        <a:t>12. Unbereinigtes Gender Pay Gap </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748442"/>
                  </a:ext>
                </a:extLst>
              </a:tr>
              <a:tr h="197455">
                <a:tc vMerge="1">
                  <a:txBody>
                    <a:bodyPr/>
                    <a:lstStyle/>
                    <a:p>
                      <a:endParaRPr lang="en-US"/>
                    </a:p>
                  </a:txBody>
                  <a:tcPr/>
                </a:tc>
                <a:tc vMerge="1">
                  <a:txBody>
                    <a:bodyPr/>
                    <a:lstStyle/>
                    <a:p>
                      <a:endParaRPr lang="en-US"/>
                    </a:p>
                  </a:txBody>
                  <a:tcPr/>
                </a:tc>
                <a:tc>
                  <a:txBody>
                    <a:bodyPr/>
                    <a:lstStyle/>
                    <a:p>
                      <a:pPr marL="108000" algn="l" fontAlgn="ctr"/>
                      <a:r>
                        <a:rPr lang="en-US" sz="1100" b="0" i="0" u="none" strike="noStrike" dirty="0">
                          <a:solidFill>
                            <a:schemeClr val="accent1"/>
                          </a:solidFill>
                          <a:effectLst/>
                          <a:latin typeface="+mn-lt"/>
                        </a:rPr>
                        <a:t>13. </a:t>
                      </a:r>
                      <a:r>
                        <a:rPr lang="en-US" sz="1100" b="0" i="0" u="none" strike="noStrike" dirty="0" err="1">
                          <a:solidFill>
                            <a:schemeClr val="accent1"/>
                          </a:solidFill>
                          <a:effectLst/>
                          <a:latin typeface="+mn-lt"/>
                        </a:rPr>
                        <a:t>Geschlechtervielfalt</a:t>
                      </a:r>
                      <a:r>
                        <a:rPr lang="en-US" sz="1100" b="0" i="0" u="none" strike="noStrike" dirty="0">
                          <a:solidFill>
                            <a:schemeClr val="accent1"/>
                          </a:solidFill>
                          <a:effectLst/>
                          <a:latin typeface="+mn-lt"/>
                        </a:rPr>
                        <a:t> </a:t>
                      </a:r>
                      <a:r>
                        <a:rPr lang="en-US" sz="1100" b="0" i="0" u="none" strike="noStrike" dirty="0" err="1">
                          <a:solidFill>
                            <a:schemeClr val="accent1"/>
                          </a:solidFill>
                          <a:effectLst/>
                          <a:latin typeface="+mn-lt"/>
                        </a:rPr>
                        <a:t>im</a:t>
                      </a:r>
                      <a:r>
                        <a:rPr lang="en-US" sz="1100" b="0" i="0" u="none" strike="noStrike" dirty="0">
                          <a:solidFill>
                            <a:schemeClr val="accent1"/>
                          </a:solidFill>
                          <a:effectLst/>
                          <a:latin typeface="+mn-lt"/>
                        </a:rPr>
                        <a:t> </a:t>
                      </a:r>
                      <a:r>
                        <a:rPr lang="en-US" sz="1100" b="0" i="0" u="none" strike="noStrike" dirty="0" err="1">
                          <a:solidFill>
                            <a:schemeClr val="accent1"/>
                          </a:solidFill>
                          <a:effectLst/>
                          <a:latin typeface="+mn-lt"/>
                        </a:rPr>
                        <a:t>Vorstand</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880347"/>
                  </a:ext>
                </a:extLst>
              </a:tr>
              <a:tr h="206857">
                <a:tc vMerge="1">
                  <a:txBody>
                    <a:bodyPr/>
                    <a:lstStyle/>
                    <a:p>
                      <a:endParaRPr lang="en-US"/>
                    </a:p>
                  </a:txBody>
                  <a:tcPr/>
                </a:tc>
                <a:tc vMerge="1">
                  <a:txBody>
                    <a:bodyPr/>
                    <a:lstStyle/>
                    <a:p>
                      <a:endParaRPr lang="en-US"/>
                    </a:p>
                  </a:txBody>
                  <a:tcPr/>
                </a:tc>
                <a:tc>
                  <a:txBody>
                    <a:bodyPr/>
                    <a:lstStyle/>
                    <a:p>
                      <a:pPr marL="108000" algn="l" fontAlgn="ctr"/>
                      <a:r>
                        <a:rPr lang="de-DE" sz="1100" b="0" i="0" u="none" strike="noStrike" dirty="0">
                          <a:solidFill>
                            <a:schemeClr val="accent1"/>
                          </a:solidFill>
                          <a:effectLst/>
                          <a:latin typeface="+mn-lt"/>
                        </a:rPr>
                        <a:t>14. Investitionen in kontroversen Waffen</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52160"/>
                  </a:ext>
                </a:extLst>
              </a:tr>
            </a:tbl>
          </a:graphicData>
        </a:graphic>
      </p:graphicFrame>
      <p:sp>
        <p:nvSpPr>
          <p:cNvPr id="16" name="Textfeld 15">
            <a:extLst>
              <a:ext uri="{FF2B5EF4-FFF2-40B4-BE49-F238E27FC236}">
                <a16:creationId xmlns:a16="http://schemas.microsoft.com/office/drawing/2014/main" id="{62714930-90CB-5840-8308-75C1C689798E}"/>
              </a:ext>
            </a:extLst>
          </p:cNvPr>
          <p:cNvSpPr txBox="1"/>
          <p:nvPr/>
        </p:nvSpPr>
        <p:spPr>
          <a:xfrm>
            <a:off x="1376502" y="5206890"/>
            <a:ext cx="5222448" cy="338554"/>
          </a:xfrm>
          <a:prstGeom prst="rect">
            <a:avLst/>
          </a:prstGeom>
          <a:noFill/>
        </p:spPr>
        <p:txBody>
          <a:bodyPr wrap="square">
            <a:spAutoFit/>
          </a:bodyPr>
          <a:lstStyle/>
          <a:p>
            <a:pPr algn="l" fontAlgn="t"/>
            <a:r>
              <a:rPr lang="de-DE" sz="800" b="0" i="1" u="none" strike="noStrike" dirty="0">
                <a:solidFill>
                  <a:schemeClr val="accent3"/>
                </a:solidFill>
                <a:effectLst/>
                <a:latin typeface="+mn-lt"/>
              </a:rPr>
              <a:t>Erweiterung um 4 soziale Indikatoren geplant: - Gewinne aus „Steueroasen“ - Tabakanbau und -herstellung</a:t>
            </a:r>
            <a:br>
              <a:rPr lang="de-DE" sz="800" b="0" i="1" u="none" strike="noStrike" dirty="0">
                <a:solidFill>
                  <a:schemeClr val="accent3"/>
                </a:solidFill>
                <a:effectLst/>
                <a:latin typeface="+mn-lt"/>
              </a:rPr>
            </a:br>
            <a:r>
              <a:rPr lang="de-DE" sz="800" b="0" i="1" u="none" strike="noStrike" dirty="0">
                <a:solidFill>
                  <a:schemeClr val="accent3"/>
                </a:solidFill>
                <a:effectLst/>
                <a:latin typeface="+mn-lt"/>
              </a:rPr>
              <a:t>- Behinderung von AN-Mitbestimmung - Anteil AN unterhalb des angemessenen Lohns </a:t>
            </a:r>
          </a:p>
        </p:txBody>
      </p:sp>
    </p:spTree>
    <p:extLst>
      <p:ext uri="{BB962C8B-B14F-4D97-AF65-F5344CB8AC3E}">
        <p14:creationId xmlns:p14="http://schemas.microsoft.com/office/powerpoint/2010/main" val="2220683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F0D1596-4451-0610-B886-AE23F1540AE1}"/>
              </a:ext>
            </a:extLst>
          </p:cNvPr>
          <p:cNvSpPr>
            <a:spLocks noGrp="1"/>
          </p:cNvSpPr>
          <p:nvPr>
            <p:ph type="sldNum" sz="quarter" idx="12"/>
          </p:nvPr>
        </p:nvSpPr>
        <p:spPr/>
        <p:txBody>
          <a:bodyPr/>
          <a:lstStyle/>
          <a:p>
            <a:fld id="{3AE71D6B-ACB6-4F4C-A895-DCAEF1760EAA}" type="slidenum">
              <a:rPr lang="de-DE" smtClean="0"/>
              <a:t>12</a:t>
            </a:fld>
            <a:endParaRPr lang="de-DE"/>
          </a:p>
        </p:txBody>
      </p:sp>
      <p:grpSp>
        <p:nvGrpSpPr>
          <p:cNvPr id="17" name="Gruppieren 16">
            <a:extLst>
              <a:ext uri="{FF2B5EF4-FFF2-40B4-BE49-F238E27FC236}">
                <a16:creationId xmlns:a16="http://schemas.microsoft.com/office/drawing/2014/main" id="{AB14120B-7791-8E69-4FF7-770733DE9512}"/>
              </a:ext>
            </a:extLst>
          </p:cNvPr>
          <p:cNvGrpSpPr>
            <a:grpSpLocks noGrp="1" noUngrp="1" noRot="1" noMove="1" noResize="1"/>
          </p:cNvGrpSpPr>
          <p:nvPr/>
        </p:nvGrpSpPr>
        <p:grpSpPr>
          <a:xfrm>
            <a:off x="1045196" y="1012608"/>
            <a:ext cx="8217682" cy="4634346"/>
            <a:chOff x="1060018" y="1189153"/>
            <a:chExt cx="8217682" cy="4634346"/>
          </a:xfrm>
        </p:grpSpPr>
        <p:sp>
          <p:nvSpPr>
            <p:cNvPr id="21" name="Text">
              <a:extLst>
                <a:ext uri="{FF2B5EF4-FFF2-40B4-BE49-F238E27FC236}">
                  <a16:creationId xmlns:a16="http://schemas.microsoft.com/office/drawing/2014/main" id="{305997E2-5BA9-69D0-A798-75CC166C33CA}"/>
                </a:ext>
              </a:extLst>
            </p:cNvPr>
            <p:cNvSpPr txBox="1">
              <a:spLocks noGrp="1" noRot="1" noMove="1" noResize="1" noEditPoints="1" noAdjustHandles="1" noChangeArrowheads="1" noChangeShapeType="1"/>
            </p:cNvSpPr>
            <p:nvPr/>
          </p:nvSpPr>
          <p:spPr>
            <a:xfrm>
              <a:off x="5154036" y="3388785"/>
              <a:ext cx="4123664" cy="580608"/>
            </a:xfrm>
            <a:prstGeom prst="rect">
              <a:avLst/>
            </a:prstGeom>
            <a:noFill/>
          </p:spPr>
          <p:txBody>
            <a:bodyPr wrap="square">
              <a:spAutoFit/>
            </a:bodyPr>
            <a:lstStyle/>
            <a:p>
              <a:pPr algn="l" rtl="0">
                <a:lnSpc>
                  <a:spcPts val="1300"/>
                </a:lnSpc>
                <a:defRPr sz="900" b="0" i="0" u="none" strike="noStrike" kern="1200" baseline="0">
                  <a:solidFill>
                    <a:prstClr val="black">
                      <a:lumMod val="75000"/>
                      <a:lumOff val="25000"/>
                    </a:prstClr>
                  </a:solidFill>
                  <a:latin typeface="+mn-lt"/>
                  <a:ea typeface="+mn-ea"/>
                  <a:cs typeface="+mn-cs"/>
                </a:defRPr>
              </a:pPr>
              <a:r>
                <a:rPr lang="de-DE" sz="900" dirty="0">
                  <a:solidFill>
                    <a:schemeClr val="accent1"/>
                  </a:solidFill>
                </a:rPr>
                <a:t>Misst inwieweit die unternehmerische Tätigkeit einen positiven oder negativen Beitrag zu den UN-Zielen für nachhaltige Entwicklung (SDGs) liefert.</a:t>
              </a:r>
            </a:p>
          </p:txBody>
        </p:sp>
        <p:grpSp>
          <p:nvGrpSpPr>
            <p:cNvPr id="11" name="Gruppieren 10">
              <a:extLst>
                <a:ext uri="{FF2B5EF4-FFF2-40B4-BE49-F238E27FC236}">
                  <a16:creationId xmlns:a16="http://schemas.microsoft.com/office/drawing/2014/main" id="{6CDC03DC-4661-EB6D-1AE6-BDF9581A10AD}"/>
                </a:ext>
              </a:extLst>
            </p:cNvPr>
            <p:cNvGrpSpPr>
              <a:grpSpLocks noGrp="1" noUngrp="1" noRot="1" noMove="1" noResize="1"/>
            </p:cNvGrpSpPr>
            <p:nvPr/>
          </p:nvGrpSpPr>
          <p:grpSpPr>
            <a:xfrm>
              <a:off x="1060018" y="1189153"/>
              <a:ext cx="8188037" cy="4634346"/>
              <a:chOff x="1953490" y="976745"/>
              <a:chExt cx="8188037" cy="4634346"/>
            </a:xfrm>
          </p:grpSpPr>
          <p:pic>
            <p:nvPicPr>
              <p:cNvPr id="3" name="Grafik" descr="Ein Bild, das Screenshot, Text, Software, Multimedia enthält.&#10;&#10;Automatisch generierte Beschreibung">
                <a:extLst>
                  <a:ext uri="{FF2B5EF4-FFF2-40B4-BE49-F238E27FC236}">
                    <a16:creationId xmlns:a16="http://schemas.microsoft.com/office/drawing/2014/main" id="{37B323CE-DD0A-8BD1-F3EA-96857B3B9484}"/>
                  </a:ext>
                </a:extLst>
              </p:cNvPr>
              <p:cNvPicPr>
                <a:picLocks noGrp="1" noRot="1" noMove="1" noResize="1" noEditPoints="1" noAdjustHandles="1" noChangeArrowheads="1" noChangeShapeType="1" noCrop="1"/>
              </p:cNvPicPr>
              <p:nvPr/>
            </p:nvPicPr>
            <p:blipFill rotWithShape="1">
              <a:blip r:embed="rId2"/>
              <a:srcRect l="18712" t="14643" r="2853" b="15719"/>
              <a:stretch/>
            </p:blipFill>
            <p:spPr>
              <a:xfrm>
                <a:off x="1953490" y="976745"/>
                <a:ext cx="8188037" cy="4634346"/>
              </a:xfrm>
              <a:prstGeom prst="rect">
                <a:avLst/>
              </a:prstGeom>
            </p:spPr>
          </p:pic>
          <p:grpSp>
            <p:nvGrpSpPr>
              <p:cNvPr id="4" name="Gruppieren 3">
                <a:extLst>
                  <a:ext uri="{FF2B5EF4-FFF2-40B4-BE49-F238E27FC236}">
                    <a16:creationId xmlns:a16="http://schemas.microsoft.com/office/drawing/2014/main" id="{BEB511CA-8D06-8446-B809-90118B76B98C}"/>
                  </a:ext>
                </a:extLst>
              </p:cNvPr>
              <p:cNvGrpSpPr>
                <a:grpSpLocks noGrp="1" noUngrp="1" noRot="1" noMove="1" noResize="1"/>
              </p:cNvGrpSpPr>
              <p:nvPr/>
            </p:nvGrpSpPr>
            <p:grpSpPr>
              <a:xfrm>
                <a:off x="1963538" y="1056017"/>
                <a:ext cx="7960043" cy="4152131"/>
                <a:chOff x="1963538" y="1056017"/>
                <a:chExt cx="7960043" cy="4152131"/>
              </a:xfrm>
            </p:grpSpPr>
            <p:sp>
              <p:nvSpPr>
                <p:cNvPr id="6" name="Überschrift 2">
                  <a:extLst>
                    <a:ext uri="{FF2B5EF4-FFF2-40B4-BE49-F238E27FC236}">
                      <a16:creationId xmlns:a16="http://schemas.microsoft.com/office/drawing/2014/main" id="{B4EB193A-3114-ED67-A283-DEC6E7B1E483}"/>
                    </a:ext>
                  </a:extLst>
                </p:cNvPr>
                <p:cNvSpPr txBox="1">
                  <a:spLocks noGrp="1" noRot="1" noMove="1" noResize="1" noEditPoints="1" noAdjustHandles="1" noChangeArrowheads="1" noChangeShapeType="1"/>
                </p:cNvSpPr>
                <p:nvPr/>
              </p:nvSpPr>
              <p:spPr>
                <a:xfrm>
                  <a:off x="6804025" y="1056017"/>
                  <a:ext cx="2632455"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SDG Beitrag</a:t>
                  </a:r>
                </a:p>
              </p:txBody>
            </p:sp>
            <p:sp>
              <p:nvSpPr>
                <p:cNvPr id="5" name="Überschrift 1">
                  <a:extLst>
                    <a:ext uri="{FF2B5EF4-FFF2-40B4-BE49-F238E27FC236}">
                      <a16:creationId xmlns:a16="http://schemas.microsoft.com/office/drawing/2014/main" id="{1906997B-BFF2-1F54-4F08-362C7A419C60}"/>
                    </a:ext>
                  </a:extLst>
                </p:cNvPr>
                <p:cNvSpPr txBox="1">
                  <a:spLocks noGrp="1" noRot="1" noMove="1" noResize="1" noEditPoints="1" noAdjustHandles="1" noChangeArrowheads="1" noChangeShapeType="1"/>
                </p:cNvSpPr>
                <p:nvPr/>
              </p:nvSpPr>
              <p:spPr>
                <a:xfrm>
                  <a:off x="2671700" y="1056017"/>
                  <a:ext cx="2632455"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ESG Rating</a:t>
                  </a:r>
                </a:p>
              </p:txBody>
            </p:sp>
            <p:sp>
              <p:nvSpPr>
                <p:cNvPr id="7" name="Unternehmen">
                  <a:extLst>
                    <a:ext uri="{FF2B5EF4-FFF2-40B4-BE49-F238E27FC236}">
                      <a16:creationId xmlns:a16="http://schemas.microsoft.com/office/drawing/2014/main" id="{0D9AC59F-07BC-86B5-1150-2737735099AD}"/>
                    </a:ext>
                  </a:extLst>
                </p:cNvPr>
                <p:cNvSpPr txBox="1">
                  <a:spLocks noGrp="1" noRot="1" noMove="1" noResize="1" noEditPoints="1" noAdjustHandles="1" noChangeArrowheads="1" noChangeShapeType="1"/>
                </p:cNvSpPr>
                <p:nvPr/>
              </p:nvSpPr>
              <p:spPr>
                <a:xfrm>
                  <a:off x="4714723" y="2785228"/>
                  <a:ext cx="1090621"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Unternehmen</a:t>
                  </a:r>
                </a:p>
              </p:txBody>
            </p:sp>
            <p:sp>
              <p:nvSpPr>
                <p:cNvPr id="8" name="Klima">
                  <a:extLst>
                    <a:ext uri="{FF2B5EF4-FFF2-40B4-BE49-F238E27FC236}">
                      <a16:creationId xmlns:a16="http://schemas.microsoft.com/office/drawing/2014/main" id="{715EA875-3C9C-347C-25E8-CA043C34E17A}"/>
                    </a:ext>
                  </a:extLst>
                </p:cNvPr>
                <p:cNvSpPr txBox="1">
                  <a:spLocks noGrp="1" noRot="1" noMove="1" noResize="1" noEditPoints="1" noAdjustHandles="1" noChangeArrowheads="1" noChangeShapeType="1"/>
                </p:cNvSpPr>
                <p:nvPr/>
              </p:nvSpPr>
              <p:spPr>
                <a:xfrm>
                  <a:off x="2318851" y="2785228"/>
                  <a:ext cx="667228"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Klima</a:t>
                  </a:r>
                </a:p>
              </p:txBody>
            </p:sp>
            <p:sp>
              <p:nvSpPr>
                <p:cNvPr id="9" name="Unternehmen">
                  <a:extLst>
                    <a:ext uri="{FF2B5EF4-FFF2-40B4-BE49-F238E27FC236}">
                      <a16:creationId xmlns:a16="http://schemas.microsoft.com/office/drawing/2014/main" id="{4636296B-2A88-7EDE-CF5D-C2EC65D7754C}"/>
                    </a:ext>
                  </a:extLst>
                </p:cNvPr>
                <p:cNvSpPr txBox="1">
                  <a:spLocks noGrp="1" noRot="1" noMove="1" noResize="1" noEditPoints="1" noAdjustHandles="1" noChangeArrowheads="1" noChangeShapeType="1"/>
                </p:cNvSpPr>
                <p:nvPr/>
              </p:nvSpPr>
              <p:spPr>
                <a:xfrm>
                  <a:off x="6236830" y="2785228"/>
                  <a:ext cx="1090621"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Unternehmen</a:t>
                  </a:r>
                </a:p>
              </p:txBody>
            </p:sp>
            <p:sp>
              <p:nvSpPr>
                <p:cNvPr id="10" name="Klima">
                  <a:extLst>
                    <a:ext uri="{FF2B5EF4-FFF2-40B4-BE49-F238E27FC236}">
                      <a16:creationId xmlns:a16="http://schemas.microsoft.com/office/drawing/2014/main" id="{559B6355-9D33-0060-23EF-D8F8A3E6874A}"/>
                    </a:ext>
                  </a:extLst>
                </p:cNvPr>
                <p:cNvSpPr txBox="1">
                  <a:spLocks noGrp="1" noRot="1" noMove="1" noResize="1" noEditPoints="1" noAdjustHandles="1" noChangeArrowheads="1" noChangeShapeType="1"/>
                </p:cNvSpPr>
                <p:nvPr/>
              </p:nvSpPr>
              <p:spPr>
                <a:xfrm>
                  <a:off x="9071696" y="2785228"/>
                  <a:ext cx="667228"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Klima</a:t>
                  </a:r>
                </a:p>
              </p:txBody>
            </p:sp>
            <p:sp>
              <p:nvSpPr>
                <p:cNvPr id="12" name="Text">
                  <a:extLst>
                    <a:ext uri="{FF2B5EF4-FFF2-40B4-BE49-F238E27FC236}">
                      <a16:creationId xmlns:a16="http://schemas.microsoft.com/office/drawing/2014/main" id="{540A60A5-8435-15E1-DA6C-933766E37D67}"/>
                    </a:ext>
                  </a:extLst>
                </p:cNvPr>
                <p:cNvSpPr txBox="1">
                  <a:spLocks noGrp="1" noRot="1" noMove="1" noResize="1" noEditPoints="1" noAdjustHandles="1" noChangeArrowheads="1" noChangeShapeType="1"/>
                </p:cNvSpPr>
                <p:nvPr/>
              </p:nvSpPr>
              <p:spPr>
                <a:xfrm>
                  <a:off x="3242381" y="2479128"/>
                  <a:ext cx="1382171" cy="545277"/>
                </a:xfrm>
                <a:prstGeom prst="rect">
                  <a:avLst/>
                </a:prstGeom>
                <a:noFill/>
              </p:spPr>
              <p:txBody>
                <a:bodyPr wrap="square">
                  <a:spAutoFit/>
                </a:bodyPr>
                <a:lstStyle/>
                <a:p>
                  <a:pPr algn="ctr" rtl="0">
                    <a:lnSpc>
                      <a:spcPts val="1200"/>
                    </a:lnSpc>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rgbClr val="1A314C"/>
                      </a:solidFill>
                      <a:effectLst/>
                    </a:rPr>
                    <a:t>Auswirkungen des Klimawandels auf das Unternehmen</a:t>
                  </a:r>
                  <a:endParaRPr lang="de-DE" sz="900" dirty="0">
                    <a:solidFill>
                      <a:srgbClr val="1A314C"/>
                    </a:solidFill>
                  </a:endParaRPr>
                </a:p>
              </p:txBody>
            </p:sp>
            <p:sp>
              <p:nvSpPr>
                <p:cNvPr id="13" name="Text">
                  <a:extLst>
                    <a:ext uri="{FF2B5EF4-FFF2-40B4-BE49-F238E27FC236}">
                      <a16:creationId xmlns:a16="http://schemas.microsoft.com/office/drawing/2014/main" id="{E91CCFD0-D6ED-3978-3C0E-9913B9CD0052}"/>
                    </a:ext>
                  </a:extLst>
                </p:cNvPr>
                <p:cNvSpPr txBox="1">
                  <a:spLocks noGrp="1" noRot="1" noMove="1" noResize="1" noEditPoints="1" noAdjustHandles="1" noChangeArrowheads="1" noChangeShapeType="1"/>
                </p:cNvSpPr>
                <p:nvPr/>
              </p:nvSpPr>
              <p:spPr>
                <a:xfrm>
                  <a:off x="7362436" y="2479128"/>
                  <a:ext cx="1382171" cy="545277"/>
                </a:xfrm>
                <a:prstGeom prst="rect">
                  <a:avLst/>
                </a:prstGeom>
                <a:noFill/>
              </p:spPr>
              <p:txBody>
                <a:bodyPr wrap="square">
                  <a:spAutoFit/>
                </a:bodyPr>
                <a:lstStyle/>
                <a:p>
                  <a:pPr algn="ctr" rtl="0">
                    <a:lnSpc>
                      <a:spcPts val="1200"/>
                    </a:lnSpc>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rgbClr val="1A314C"/>
                      </a:solidFill>
                      <a:effectLst/>
                    </a:rPr>
                    <a:t>Auswirkungen des Unternehmens auf das Klima</a:t>
                  </a:r>
                  <a:endParaRPr lang="de-DE" sz="900" dirty="0">
                    <a:solidFill>
                      <a:srgbClr val="1A314C"/>
                    </a:solidFill>
                  </a:endParaRPr>
                </a:p>
              </p:txBody>
            </p:sp>
            <p:sp>
              <p:nvSpPr>
                <p:cNvPr id="14" name="Text">
                  <a:extLst>
                    <a:ext uri="{FF2B5EF4-FFF2-40B4-BE49-F238E27FC236}">
                      <a16:creationId xmlns:a16="http://schemas.microsoft.com/office/drawing/2014/main" id="{68CA545B-C624-1D96-2D76-37F76EF63698}"/>
                    </a:ext>
                  </a:extLst>
                </p:cNvPr>
                <p:cNvSpPr txBox="1">
                  <a:spLocks noGrp="1" noRot="1" noMove="1" noResize="1" noEditPoints="1" noAdjustHandles="1" noChangeArrowheads="1" noChangeShapeType="1"/>
                </p:cNvSpPr>
                <p:nvPr/>
              </p:nvSpPr>
              <p:spPr>
                <a:xfrm>
                  <a:off x="1963538" y="1515713"/>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chemeClr val="accent1"/>
                      </a:solidFill>
                      <a:effectLst/>
                    </a:rPr>
                    <a:t>Wie </a:t>
                  </a:r>
                  <a:r>
                    <a:rPr lang="de-DE" sz="900" dirty="0">
                      <a:solidFill>
                        <a:schemeClr val="accent1"/>
                      </a:solidFill>
                    </a:rPr>
                    <a:t>verhält sich das Unternehmen?</a:t>
                  </a:r>
                </a:p>
              </p:txBody>
            </p:sp>
            <p:sp>
              <p:nvSpPr>
                <p:cNvPr id="15" name="Text">
                  <a:extLst>
                    <a:ext uri="{FF2B5EF4-FFF2-40B4-BE49-F238E27FC236}">
                      <a16:creationId xmlns:a16="http://schemas.microsoft.com/office/drawing/2014/main" id="{5EEC63F6-A2A0-4F2A-BA8A-57CEC35491E7}"/>
                    </a:ext>
                  </a:extLst>
                </p:cNvPr>
                <p:cNvSpPr txBox="1">
                  <a:spLocks noGrp="1" noRot="1" noMove="1" noResize="1" noEditPoints="1" noAdjustHandles="1" noChangeArrowheads="1" noChangeShapeType="1"/>
                </p:cNvSpPr>
                <p:nvPr/>
              </p:nvSpPr>
              <p:spPr>
                <a:xfrm>
                  <a:off x="6087202" y="1516960"/>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chemeClr val="accent1"/>
                      </a:solidFill>
                      <a:effectLst/>
                    </a:rPr>
                    <a:t>Was </a:t>
                  </a:r>
                  <a:r>
                    <a:rPr lang="de-DE" sz="900" dirty="0">
                      <a:solidFill>
                        <a:schemeClr val="accent1"/>
                      </a:solidFill>
                    </a:rPr>
                    <a:t>macht das Unternehmen?</a:t>
                  </a:r>
                </a:p>
              </p:txBody>
            </p:sp>
            <p:sp>
              <p:nvSpPr>
                <p:cNvPr id="16" name="Text">
                  <a:extLst>
                    <a:ext uri="{FF2B5EF4-FFF2-40B4-BE49-F238E27FC236}">
                      <a16:creationId xmlns:a16="http://schemas.microsoft.com/office/drawing/2014/main" id="{9FDAC5D4-655D-3E87-9288-27E765FB4A02}"/>
                    </a:ext>
                  </a:extLst>
                </p:cNvPr>
                <p:cNvSpPr txBox="1">
                  <a:spLocks noGrp="1" noRot="1" noMove="1" noResize="1" noEditPoints="1" noAdjustHandles="1" noChangeArrowheads="1" noChangeShapeType="1"/>
                </p:cNvSpPr>
                <p:nvPr/>
              </p:nvSpPr>
              <p:spPr>
                <a:xfrm>
                  <a:off x="1963538" y="3216022"/>
                  <a:ext cx="4123664" cy="413896"/>
                </a:xfrm>
                <a:prstGeom prst="rect">
                  <a:avLst/>
                </a:prstGeom>
                <a:noFill/>
              </p:spPr>
              <p:txBody>
                <a:bodyPr wrap="square">
                  <a:spAutoFit/>
                </a:bodyPr>
                <a:lstStyle/>
                <a:p>
                  <a:pPr algn="l" rtl="0">
                    <a:lnSpc>
                      <a:spcPts val="1300"/>
                    </a:lnSpc>
                    <a:defRPr sz="900" b="0" i="0" u="none" strike="noStrike" kern="1200" baseline="0">
                      <a:solidFill>
                        <a:prstClr val="black">
                          <a:lumMod val="75000"/>
                          <a:lumOff val="25000"/>
                        </a:prstClr>
                      </a:solidFill>
                      <a:latin typeface="+mn-lt"/>
                      <a:ea typeface="+mn-ea"/>
                      <a:cs typeface="+mn-cs"/>
                    </a:defRPr>
                  </a:pPr>
                  <a:r>
                    <a:rPr lang="de-DE" sz="900" dirty="0">
                      <a:solidFill>
                        <a:schemeClr val="accent1"/>
                      </a:solidFill>
                    </a:rPr>
                    <a:t>Misst welche Chancen und Risiken sich aus dem Umgang mit den Nach-</a:t>
                  </a:r>
                  <a:br>
                    <a:rPr lang="de-DE" sz="900" dirty="0">
                      <a:solidFill>
                        <a:schemeClr val="accent1"/>
                      </a:solidFill>
                    </a:rPr>
                  </a:br>
                  <a:r>
                    <a:rPr lang="de-DE" sz="900" dirty="0">
                      <a:solidFill>
                        <a:schemeClr val="accent1"/>
                      </a:solidFill>
                    </a:rPr>
                    <a:t>haltigkeitsaspekten für das Unternehmen ergeben.</a:t>
                  </a:r>
                </a:p>
              </p:txBody>
            </p:sp>
            <p:sp>
              <p:nvSpPr>
                <p:cNvPr id="22" name="Text">
                  <a:extLst>
                    <a:ext uri="{FF2B5EF4-FFF2-40B4-BE49-F238E27FC236}">
                      <a16:creationId xmlns:a16="http://schemas.microsoft.com/office/drawing/2014/main" id="{F5AC9477-F1A1-778E-9191-6D89424E2A29}"/>
                    </a:ext>
                  </a:extLst>
                </p:cNvPr>
                <p:cNvSpPr txBox="1">
                  <a:spLocks noGrp="1" noRot="1" noMove="1" noResize="1" noEditPoints="1" noAdjustHandles="1" noChangeArrowheads="1" noChangeShapeType="1"/>
                </p:cNvSpPr>
                <p:nvPr/>
              </p:nvSpPr>
              <p:spPr>
                <a:xfrm>
                  <a:off x="1963538" y="3961438"/>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accent1"/>
                      </a:solidFill>
                    </a:rPr>
                    <a:t>Ziel:</a:t>
                  </a:r>
                  <a:r>
                    <a:rPr lang="de-DE" sz="900" b="1" i="0" u="none" strike="noStrike" baseline="0" dirty="0">
                      <a:solidFill>
                        <a:schemeClr val="accent1"/>
                      </a:solidFill>
                      <a:effectLst/>
                    </a:rPr>
                    <a:t> </a:t>
                  </a:r>
                  <a:r>
                    <a:rPr lang="de-DE" sz="900" dirty="0">
                      <a:solidFill>
                        <a:schemeClr val="accent1"/>
                      </a:solidFill>
                    </a:rPr>
                    <a:t>ESG-Risiken minimieren &amp; steuern</a:t>
                  </a:r>
                </a:p>
              </p:txBody>
            </p:sp>
            <p:sp>
              <p:nvSpPr>
                <p:cNvPr id="23" name="Text">
                  <a:extLst>
                    <a:ext uri="{FF2B5EF4-FFF2-40B4-BE49-F238E27FC236}">
                      <a16:creationId xmlns:a16="http://schemas.microsoft.com/office/drawing/2014/main" id="{1320501B-08AD-879B-2012-D1EBF84AB765}"/>
                    </a:ext>
                  </a:extLst>
                </p:cNvPr>
                <p:cNvSpPr txBox="1">
                  <a:spLocks noGrp="1" noRot="1" noMove="1" noResize="1" noEditPoints="1" noAdjustHandles="1" noChangeArrowheads="1" noChangeShapeType="1"/>
                </p:cNvSpPr>
                <p:nvPr/>
              </p:nvSpPr>
              <p:spPr>
                <a:xfrm>
                  <a:off x="6091784" y="3961438"/>
                  <a:ext cx="3344695" cy="369332"/>
                </a:xfrm>
                <a:prstGeom prst="rect">
                  <a:avLst/>
                </a:prstGeom>
                <a:noFill/>
              </p:spPr>
              <p:txBody>
                <a:bodyPr wrap="square">
                  <a:spAutoFit/>
                </a:bodyPr>
                <a:lstStyle/>
                <a:p>
                  <a:pPr>
                    <a:defRPr sz="900" b="0" i="0" u="none" strike="noStrike" kern="1200" baseline="0">
                      <a:solidFill>
                        <a:prstClr val="black">
                          <a:lumMod val="75000"/>
                          <a:lumOff val="25000"/>
                        </a:prstClr>
                      </a:solidFill>
                      <a:latin typeface="+mn-lt"/>
                      <a:ea typeface="+mn-ea"/>
                      <a:cs typeface="+mn-cs"/>
                    </a:defRPr>
                  </a:pPr>
                  <a:r>
                    <a:rPr lang="de-DE" sz="900" b="1" dirty="0">
                      <a:solidFill>
                        <a:schemeClr val="accent1"/>
                      </a:solidFill>
                    </a:rPr>
                    <a:t>Ziel:</a:t>
                  </a:r>
                  <a:r>
                    <a:rPr lang="de-DE" sz="900" b="1" i="0" u="none" strike="noStrike" baseline="0" dirty="0">
                      <a:solidFill>
                        <a:schemeClr val="accent1"/>
                      </a:solidFill>
                      <a:effectLst/>
                    </a:rPr>
                    <a:t> </a:t>
                  </a:r>
                  <a:r>
                    <a:rPr lang="de-DE" dirty="0">
                      <a:solidFill>
                        <a:schemeClr val="accent1"/>
                      </a:solidFill>
                      <a:effectLst/>
                    </a:rPr>
                    <a:t>Ermittlung positiver Nachhaltigkeitsauswirkung</a:t>
                  </a:r>
                </a:p>
                <a:p>
                  <a:pPr algn="l" rtl="0">
                    <a:defRPr sz="900" b="0" i="0" u="none" strike="noStrike" kern="1200" baseline="0">
                      <a:solidFill>
                        <a:prstClr val="black">
                          <a:lumMod val="75000"/>
                          <a:lumOff val="25000"/>
                        </a:prstClr>
                      </a:solidFill>
                      <a:latin typeface="+mn-lt"/>
                      <a:ea typeface="+mn-ea"/>
                      <a:cs typeface="+mn-cs"/>
                    </a:defRPr>
                  </a:pPr>
                  <a:endParaRPr lang="de-DE" sz="900" dirty="0">
                    <a:solidFill>
                      <a:schemeClr val="accent1"/>
                    </a:solidFill>
                  </a:endParaRPr>
                </a:p>
              </p:txBody>
            </p:sp>
            <p:sp>
              <p:nvSpPr>
                <p:cNvPr id="24" name="Text">
                  <a:extLst>
                    <a:ext uri="{FF2B5EF4-FFF2-40B4-BE49-F238E27FC236}">
                      <a16:creationId xmlns:a16="http://schemas.microsoft.com/office/drawing/2014/main" id="{794EE5DC-B976-5278-0C41-28719EC9AAF1}"/>
                    </a:ext>
                  </a:extLst>
                </p:cNvPr>
                <p:cNvSpPr txBox="1">
                  <a:spLocks noGrp="1" noRot="1" noMove="1" noResize="1" noEditPoints="1" noAdjustHandles="1" noChangeArrowheads="1" noChangeShapeType="1"/>
                </p:cNvSpPr>
                <p:nvPr/>
              </p:nvSpPr>
              <p:spPr>
                <a:xfrm>
                  <a:off x="2568825" y="4385670"/>
                  <a:ext cx="1267716"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bg1"/>
                      </a:solidFill>
                    </a:rPr>
                    <a:t>Outside-In-Prinzip</a:t>
                  </a:r>
                  <a:endParaRPr lang="de-DE" sz="900" dirty="0">
                    <a:solidFill>
                      <a:schemeClr val="bg1"/>
                    </a:solidFill>
                  </a:endParaRPr>
                </a:p>
              </p:txBody>
            </p:sp>
            <p:sp>
              <p:nvSpPr>
                <p:cNvPr id="25" name="Text">
                  <a:extLst>
                    <a:ext uri="{FF2B5EF4-FFF2-40B4-BE49-F238E27FC236}">
                      <a16:creationId xmlns:a16="http://schemas.microsoft.com/office/drawing/2014/main" id="{AB639806-1A39-F27B-647B-A99330A92235}"/>
                    </a:ext>
                  </a:extLst>
                </p:cNvPr>
                <p:cNvSpPr txBox="1">
                  <a:spLocks noGrp="1" noRot="1" noMove="1" noResize="1" noEditPoints="1" noAdjustHandles="1" noChangeArrowheads="1" noChangeShapeType="1"/>
                </p:cNvSpPr>
                <p:nvPr/>
              </p:nvSpPr>
              <p:spPr>
                <a:xfrm>
                  <a:off x="5247509" y="4385670"/>
                  <a:ext cx="170377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bg1"/>
                      </a:solidFill>
                    </a:rPr>
                    <a:t>Doppelte Wesentlichkeit</a:t>
                  </a:r>
                  <a:endParaRPr lang="de-DE" sz="900" dirty="0">
                    <a:solidFill>
                      <a:schemeClr val="bg1"/>
                    </a:solidFill>
                  </a:endParaRPr>
                </a:p>
              </p:txBody>
            </p:sp>
            <p:sp>
              <p:nvSpPr>
                <p:cNvPr id="26" name="Text">
                  <a:extLst>
                    <a:ext uri="{FF2B5EF4-FFF2-40B4-BE49-F238E27FC236}">
                      <a16:creationId xmlns:a16="http://schemas.microsoft.com/office/drawing/2014/main" id="{B3F0EAB7-6B47-27E6-96DC-52C68F6BE4E8}"/>
                    </a:ext>
                  </a:extLst>
                </p:cNvPr>
                <p:cNvSpPr txBox="1">
                  <a:spLocks noGrp="1" noRot="1" noMove="1" noResize="1" noEditPoints="1" noAdjustHandles="1" noChangeArrowheads="1" noChangeShapeType="1"/>
                </p:cNvSpPr>
                <p:nvPr/>
              </p:nvSpPr>
              <p:spPr>
                <a:xfrm>
                  <a:off x="8219811" y="4385670"/>
                  <a:ext cx="170377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bg1"/>
                      </a:solidFill>
                    </a:rPr>
                    <a:t>Inside-Out-Prinzip</a:t>
                  </a:r>
                  <a:endParaRPr lang="de-DE" sz="900" dirty="0">
                    <a:solidFill>
                      <a:schemeClr val="bg1"/>
                    </a:solidFill>
                  </a:endParaRPr>
                </a:p>
              </p:txBody>
            </p:sp>
            <p:sp>
              <p:nvSpPr>
                <p:cNvPr id="27" name="Text">
                  <a:extLst>
                    <a:ext uri="{FF2B5EF4-FFF2-40B4-BE49-F238E27FC236}">
                      <a16:creationId xmlns:a16="http://schemas.microsoft.com/office/drawing/2014/main" id="{0FC4B48A-4C24-7B17-73DF-D95D1A2394CF}"/>
                    </a:ext>
                  </a:extLst>
                </p:cNvPr>
                <p:cNvSpPr txBox="1">
                  <a:spLocks noGrp="1" noRot="1" noMove="1" noResize="1" noEditPoints="1" noAdjustHandles="1" noChangeArrowheads="1" noChangeShapeType="1"/>
                </p:cNvSpPr>
                <p:nvPr/>
              </p:nvSpPr>
              <p:spPr>
                <a:xfrm>
                  <a:off x="2932541" y="4946538"/>
                  <a:ext cx="6450517" cy="261610"/>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1100" b="1" dirty="0">
                      <a:solidFill>
                        <a:srgbClr val="1A314C"/>
                      </a:solidFill>
                    </a:rPr>
                    <a:t>ESG Strategie mit Anteil an auswirkungsbezogenen Investments iSd der SFDR Art. 2(17)</a:t>
                  </a:r>
                </a:p>
              </p:txBody>
            </p:sp>
          </p:grpSp>
        </p:grpSp>
      </p:grpSp>
      <p:sp>
        <p:nvSpPr>
          <p:cNvPr id="28" name="Quelle">
            <a:extLst>
              <a:ext uri="{FF2B5EF4-FFF2-40B4-BE49-F238E27FC236}">
                <a16:creationId xmlns:a16="http://schemas.microsoft.com/office/drawing/2014/main" id="{E0849F0D-FE42-A05D-E520-B872AC885E99}"/>
              </a:ext>
            </a:extLst>
          </p:cNvPr>
          <p:cNvSpPr txBox="1"/>
          <p:nvPr/>
        </p:nvSpPr>
        <p:spPr>
          <a:xfrm>
            <a:off x="1164217" y="5416518"/>
            <a:ext cx="7465665" cy="128235"/>
          </a:xfrm>
          <a:prstGeom prst="rect">
            <a:avLst/>
          </a:prstGeom>
          <a:noFill/>
        </p:spPr>
        <p:txBody>
          <a:bodyPr wrap="square" lIns="36000" tIns="0" rIns="36000" bIns="0" rtlCol="0">
            <a:noAutofit/>
          </a:bodyPr>
          <a:lstStyle/>
          <a:p>
            <a:r>
              <a:rPr lang="de-DE" sz="700" dirty="0">
                <a:solidFill>
                  <a:schemeClr val="bg2"/>
                </a:solidFill>
              </a:rPr>
              <a:t>* Bildquelle: Mitteilung der Kommission — Leitlinien für die Berichterstattung über nichtfinanzielle Informationen: Nachtrag zur klimabezogenen Berichterstattung (europa.eu)</a:t>
            </a:r>
          </a:p>
        </p:txBody>
      </p:sp>
      <p:sp>
        <p:nvSpPr>
          <p:cNvPr id="29" name="Titel 2">
            <a:extLst>
              <a:ext uri="{FF2B5EF4-FFF2-40B4-BE49-F238E27FC236}">
                <a16:creationId xmlns:a16="http://schemas.microsoft.com/office/drawing/2014/main" id="{0D9B8879-E63F-9943-A464-90B6EAE5CB70}"/>
              </a:ext>
            </a:extLst>
          </p:cNvPr>
          <p:cNvSpPr txBox="1">
            <a:spLocks/>
          </p:cNvSpPr>
          <p:nvPr/>
        </p:nvSpPr>
        <p:spPr>
          <a:xfrm>
            <a:off x="275650" y="322579"/>
            <a:ext cx="9756774" cy="654165"/>
          </a:xfrm>
          <a:prstGeom prst="rect">
            <a:avLst/>
          </a:prstGeom>
        </p:spPr>
        <p:txBody>
          <a:bodyPr/>
          <a:lst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a:lstStyle>
          <a:p>
            <a:r>
              <a:rPr lang="de-DE" dirty="0"/>
              <a:t>Investmentprozess und Risiken</a:t>
            </a:r>
            <a:br>
              <a:rPr lang="de-DE" dirty="0"/>
            </a:br>
            <a:r>
              <a:rPr lang="de-DE" sz="1200" b="0" dirty="0">
                <a:solidFill>
                  <a:schemeClr val="accent3"/>
                </a:solidFill>
              </a:rPr>
              <a:t>Nachhaltigkeits- und Investmentkonzept – ESG Rating und SDG-Beitrag</a:t>
            </a:r>
            <a:endParaRPr lang="de-DE" dirty="0"/>
          </a:p>
        </p:txBody>
      </p:sp>
    </p:spTree>
    <p:extLst>
      <p:ext uri="{BB962C8B-B14F-4D97-AF65-F5344CB8AC3E}">
        <p14:creationId xmlns:p14="http://schemas.microsoft.com/office/powerpoint/2010/main" val="4124191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EDFB99CB-A3A5-F483-7E35-AF26AD5619BA}"/>
              </a:ext>
            </a:extLst>
          </p:cNvPr>
          <p:cNvPicPr>
            <a:picLocks noChangeAspect="1"/>
          </p:cNvPicPr>
          <p:nvPr/>
        </p:nvPicPr>
        <p:blipFill rotWithShape="1">
          <a:blip r:embed="rId2"/>
          <a:srcRect l="15001" t="6061"/>
          <a:stretch/>
        </p:blipFill>
        <p:spPr>
          <a:xfrm>
            <a:off x="8154972" y="3743324"/>
            <a:ext cx="2284428" cy="2743171"/>
          </a:xfrm>
          <a:prstGeom prst="rect">
            <a:avLst/>
          </a:prstGeom>
        </p:spPr>
      </p:pic>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13</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327651" y="1041399"/>
            <a:ext cx="3960812" cy="4709852"/>
          </a:xfrm>
        </p:spPr>
        <p:txBody>
          <a:bodyPr/>
          <a:lstStyle/>
          <a:p>
            <a:r>
              <a:rPr lang="de-DE" sz="1400" dirty="0"/>
              <a:t>Umwelt</a:t>
            </a:r>
          </a:p>
          <a:p>
            <a:pPr>
              <a:lnSpc>
                <a:spcPct val="100000"/>
              </a:lnSpc>
              <a:spcBef>
                <a:spcPts val="400"/>
              </a:spcBef>
              <a:spcAft>
                <a:spcPts val="400"/>
              </a:spcAft>
            </a:pPr>
            <a:r>
              <a:rPr lang="de-DE" b="0" dirty="0">
                <a:solidFill>
                  <a:schemeClr val="bg1">
                    <a:lumMod val="50000"/>
                  </a:schemeClr>
                </a:solidFill>
              </a:rPr>
              <a:t>07</a:t>
            </a:r>
            <a:r>
              <a:rPr lang="de-DE" b="0" dirty="0"/>
              <a:t> Unternehmen sollen im Umgang mit Umweltproblemen dem Vorsorgeprinzip folgen.</a:t>
            </a:r>
          </a:p>
          <a:p>
            <a:pPr>
              <a:lnSpc>
                <a:spcPct val="100000"/>
              </a:lnSpc>
              <a:spcBef>
                <a:spcPts val="400"/>
              </a:spcBef>
              <a:spcAft>
                <a:spcPts val="400"/>
              </a:spcAft>
            </a:pPr>
            <a:r>
              <a:rPr lang="de-DE" b="0" dirty="0">
                <a:solidFill>
                  <a:schemeClr val="bg1">
                    <a:lumMod val="50000"/>
                  </a:schemeClr>
                </a:solidFill>
              </a:rPr>
              <a:t>08</a:t>
            </a:r>
            <a:r>
              <a:rPr lang="de-DE" b="0" dirty="0"/>
              <a:t> Unternehmen sollen Initiativen ergreifen, um größeres Umweltbewusstsein zu fördern.</a:t>
            </a:r>
          </a:p>
          <a:p>
            <a:pPr>
              <a:lnSpc>
                <a:spcPct val="100000"/>
              </a:lnSpc>
              <a:spcBef>
                <a:spcPts val="400"/>
              </a:spcBef>
              <a:spcAft>
                <a:spcPts val="400"/>
              </a:spcAft>
            </a:pPr>
            <a:r>
              <a:rPr lang="de-DE" b="0" dirty="0">
                <a:solidFill>
                  <a:schemeClr val="bg1">
                    <a:lumMod val="50000"/>
                  </a:schemeClr>
                </a:solidFill>
              </a:rPr>
              <a:t>09</a:t>
            </a:r>
            <a:r>
              <a:rPr lang="de-DE" b="0" dirty="0"/>
              <a:t> Unternehmen sollen die Entwicklung und Verbreitung umweltfreundlicher Technologien beschleunigen. </a:t>
            </a:r>
          </a:p>
          <a:p>
            <a:r>
              <a:rPr lang="de-DE" sz="1400" dirty="0"/>
              <a:t>Korruptionsprävention</a:t>
            </a:r>
          </a:p>
          <a:p>
            <a:pPr>
              <a:spcBef>
                <a:spcPts val="400"/>
              </a:spcBef>
              <a:spcAft>
                <a:spcPts val="0"/>
              </a:spcAft>
            </a:pPr>
            <a:r>
              <a:rPr lang="de-DE" b="0" dirty="0">
                <a:solidFill>
                  <a:schemeClr val="bg1">
                    <a:lumMod val="50000"/>
                  </a:schemeClr>
                </a:solidFill>
              </a:rPr>
              <a:t>10</a:t>
            </a:r>
            <a:r>
              <a:rPr lang="de-DE" b="0" dirty="0"/>
              <a:t> Unternehmen sollen gegen aller Art der Korruption </a:t>
            </a:r>
          </a:p>
          <a:p>
            <a:pPr>
              <a:spcBef>
                <a:spcPts val="0"/>
              </a:spcBef>
              <a:spcAft>
                <a:spcPts val="0"/>
              </a:spcAft>
            </a:pPr>
            <a:r>
              <a:rPr lang="de-DE" b="0" dirty="0"/>
              <a:t>eintreten, einschließlich Erpressung und Bestechung.</a:t>
            </a:r>
            <a:endParaRPr lang="de-DE" sz="500" b="0" dirty="0"/>
          </a:p>
        </p:txBody>
      </p:sp>
      <p:sp>
        <p:nvSpPr>
          <p:cNvPr id="5" name="Inhaltsplatzhalter 4">
            <a:extLst>
              <a:ext uri="{FF2B5EF4-FFF2-40B4-BE49-F238E27FC236}">
                <a16:creationId xmlns:a16="http://schemas.microsoft.com/office/drawing/2014/main" id="{A24F3140-E7DE-563B-E0DE-B188622D07CA}"/>
              </a:ext>
            </a:extLst>
          </p:cNvPr>
          <p:cNvSpPr>
            <a:spLocks noGrp="1"/>
          </p:cNvSpPr>
          <p:nvPr>
            <p:ph idx="1"/>
          </p:nvPr>
        </p:nvSpPr>
        <p:spPr>
          <a:xfrm>
            <a:off x="693753" y="1041399"/>
            <a:ext cx="3823927" cy="4709851"/>
          </a:xfrm>
        </p:spPr>
        <p:txBody>
          <a:bodyPr/>
          <a:lstStyle/>
          <a:p>
            <a:r>
              <a:rPr lang="de-DE" sz="1400" dirty="0"/>
              <a:t>Menschenrechte</a:t>
            </a:r>
          </a:p>
          <a:p>
            <a:pPr>
              <a:lnSpc>
                <a:spcPct val="100000"/>
              </a:lnSpc>
              <a:spcBef>
                <a:spcPts val="400"/>
              </a:spcBef>
              <a:spcAft>
                <a:spcPts val="400"/>
              </a:spcAft>
            </a:pPr>
            <a:r>
              <a:rPr lang="de-DE" b="0" dirty="0">
                <a:solidFill>
                  <a:schemeClr val="bg1">
                    <a:lumMod val="50000"/>
                  </a:schemeClr>
                </a:solidFill>
              </a:rPr>
              <a:t>01</a:t>
            </a:r>
            <a:r>
              <a:rPr lang="de-DE" b="0" dirty="0"/>
              <a:t> Unternehmen sollen den Schutz der internationalen Menschenrechte unterstützen und achten.</a:t>
            </a:r>
          </a:p>
          <a:p>
            <a:pPr>
              <a:spcBef>
                <a:spcPts val="400"/>
              </a:spcBef>
              <a:spcAft>
                <a:spcPts val="400"/>
              </a:spcAft>
            </a:pPr>
            <a:r>
              <a:rPr lang="de-DE" b="0" dirty="0">
                <a:solidFill>
                  <a:schemeClr val="bg1">
                    <a:lumMod val="50000"/>
                  </a:schemeClr>
                </a:solidFill>
              </a:rPr>
              <a:t>02</a:t>
            </a:r>
            <a:r>
              <a:rPr lang="de-DE" b="0" dirty="0"/>
              <a:t> Unternehmen sollen sicherstellen, dass sie sich nicht an Menschenrechtsverletzungen mitschuldig machen.</a:t>
            </a:r>
          </a:p>
          <a:p>
            <a:r>
              <a:rPr lang="de-DE" sz="1400" dirty="0"/>
              <a:t>Arbeitsnormen</a:t>
            </a:r>
          </a:p>
          <a:p>
            <a:pPr>
              <a:lnSpc>
                <a:spcPct val="100000"/>
              </a:lnSpc>
              <a:spcBef>
                <a:spcPts val="400"/>
              </a:spcBef>
              <a:spcAft>
                <a:spcPts val="400"/>
              </a:spcAft>
            </a:pPr>
            <a:r>
              <a:rPr lang="de-DE" b="0" dirty="0">
                <a:solidFill>
                  <a:schemeClr val="bg1">
                    <a:lumMod val="50000"/>
                  </a:schemeClr>
                </a:solidFill>
              </a:rPr>
              <a:t>03</a:t>
            </a:r>
            <a:r>
              <a:rPr lang="de-DE" b="0" dirty="0"/>
              <a:t> Unternehmen sollen die Vereinigungsfreiheit </a:t>
            </a:r>
            <a:br>
              <a:rPr lang="de-DE" b="0" dirty="0"/>
            </a:br>
            <a:r>
              <a:rPr lang="de-DE" b="0" dirty="0"/>
              <a:t>und die wirksame Anerkennung des Rechts auf Kollektivverhandlungen wahren. </a:t>
            </a:r>
          </a:p>
          <a:p>
            <a:pPr>
              <a:lnSpc>
                <a:spcPct val="100000"/>
              </a:lnSpc>
              <a:spcBef>
                <a:spcPts val="400"/>
              </a:spcBef>
              <a:spcAft>
                <a:spcPts val="400"/>
              </a:spcAft>
            </a:pPr>
            <a:r>
              <a:rPr lang="de-DE" b="0" dirty="0">
                <a:solidFill>
                  <a:schemeClr val="bg1">
                    <a:lumMod val="50000"/>
                  </a:schemeClr>
                </a:solidFill>
              </a:rPr>
              <a:t>04</a:t>
            </a:r>
            <a:r>
              <a:rPr lang="de-DE" b="0" dirty="0"/>
              <a:t> Unternehmen sollen für die Beseitigung aller Formen von Zwangsarbeit eintreten.</a:t>
            </a:r>
          </a:p>
          <a:p>
            <a:pPr>
              <a:lnSpc>
                <a:spcPct val="100000"/>
              </a:lnSpc>
              <a:spcBef>
                <a:spcPts val="400"/>
              </a:spcBef>
              <a:spcAft>
                <a:spcPts val="400"/>
              </a:spcAft>
            </a:pPr>
            <a:r>
              <a:rPr lang="de-DE" b="0" dirty="0">
                <a:solidFill>
                  <a:schemeClr val="bg1">
                    <a:lumMod val="50000"/>
                  </a:schemeClr>
                </a:solidFill>
              </a:rPr>
              <a:t>05</a:t>
            </a:r>
            <a:r>
              <a:rPr lang="de-DE" b="0" dirty="0"/>
              <a:t> Unternehmen sollen für die Abschaffung von Kinderarbeit eintreten.</a:t>
            </a:r>
          </a:p>
          <a:p>
            <a:pPr>
              <a:lnSpc>
                <a:spcPct val="100000"/>
              </a:lnSpc>
              <a:spcBef>
                <a:spcPts val="400"/>
              </a:spcBef>
              <a:spcAft>
                <a:spcPts val="400"/>
              </a:spcAft>
            </a:pPr>
            <a:r>
              <a:rPr lang="de-DE" b="0" dirty="0">
                <a:solidFill>
                  <a:schemeClr val="bg1">
                    <a:lumMod val="50000"/>
                  </a:schemeClr>
                </a:solidFill>
              </a:rPr>
              <a:t>06</a:t>
            </a:r>
            <a:r>
              <a:rPr lang="de-DE" b="0" dirty="0"/>
              <a:t> Unternehmen sollen für die Beseitigung von Diskriminierung bei Anstellung und Erwerbstätigkeit eintreten.</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Wir orientieren uns an den UN Global Compact Richtlinien </a:t>
            </a:r>
          </a:p>
        </p:txBody>
      </p:sp>
      <p:sp>
        <p:nvSpPr>
          <p:cNvPr id="8" name="Textfeld 7">
            <a:extLst>
              <a:ext uri="{FF2B5EF4-FFF2-40B4-BE49-F238E27FC236}">
                <a16:creationId xmlns:a16="http://schemas.microsoft.com/office/drawing/2014/main" id="{272A27AD-4C7A-1C14-5E0D-643DBD18BD6B}"/>
              </a:ext>
            </a:extLst>
          </p:cNvPr>
          <p:cNvSpPr txBox="1"/>
          <p:nvPr/>
        </p:nvSpPr>
        <p:spPr>
          <a:xfrm>
            <a:off x="3911097" y="6136928"/>
            <a:ext cx="7097917" cy="200055"/>
          </a:xfrm>
          <a:prstGeom prst="rect">
            <a:avLst/>
          </a:prstGeom>
          <a:noFill/>
        </p:spPr>
        <p:txBody>
          <a:bodyPr wrap="square" rtlCol="0">
            <a:spAutoFit/>
          </a:bodyPr>
          <a:lstStyle/>
          <a:p>
            <a:r>
              <a:rPr lang="de-DE" sz="700" dirty="0">
                <a:solidFill>
                  <a:schemeClr val="bg1">
                    <a:lumMod val="50000"/>
                  </a:schemeClr>
                </a:solidFill>
              </a:rPr>
              <a:t>Quelle: www.golbalcompact.de/de/ueber-uns/dgnc-ungc.php?navid=539859539859#anchor_a9245988_Accordion-4-Korruptionspraevention</a:t>
            </a:r>
          </a:p>
        </p:txBody>
      </p:sp>
    </p:spTree>
    <p:extLst>
      <p:ext uri="{BB962C8B-B14F-4D97-AF65-F5344CB8AC3E}">
        <p14:creationId xmlns:p14="http://schemas.microsoft.com/office/powerpoint/2010/main" val="2278228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636F020-41AD-8F42-B495-4235C6F976AC}"/>
              </a:ext>
            </a:extLst>
          </p:cNvPr>
          <p:cNvSpPr>
            <a:spLocks noGrp="1"/>
          </p:cNvSpPr>
          <p:nvPr>
            <p:ph type="sldNum" sz="quarter" idx="12"/>
          </p:nvPr>
        </p:nvSpPr>
        <p:spPr/>
        <p:txBody>
          <a:bodyPr/>
          <a:lstStyle/>
          <a:p>
            <a:fld id="{3AE71D6B-ACB6-4F4C-A895-DCAEF1760EAA}" type="slidenum">
              <a:rPr lang="de-DE" smtClean="0"/>
              <a:t>14</a:t>
            </a:fld>
            <a:endParaRPr lang="de-DE"/>
          </a:p>
        </p:txBody>
      </p:sp>
      <p:sp>
        <p:nvSpPr>
          <p:cNvPr id="3" name="Titel 2">
            <a:extLst>
              <a:ext uri="{FF2B5EF4-FFF2-40B4-BE49-F238E27FC236}">
                <a16:creationId xmlns:a16="http://schemas.microsoft.com/office/drawing/2014/main" id="{76CBB900-501F-9C4B-9050-1E02E638F96B}"/>
              </a:ext>
            </a:extLst>
          </p:cNvPr>
          <p:cNvSpPr>
            <a:spLocks noGrp="1"/>
          </p:cNvSpPr>
          <p:nvPr>
            <p:ph type="title"/>
          </p:nvPr>
        </p:nvSpPr>
        <p:spPr/>
        <p:txBody>
          <a:bodyPr/>
          <a:lstStyle/>
          <a:p>
            <a:r>
              <a:rPr lang="de-DE" dirty="0"/>
              <a:t>Anlagerichtlinien</a:t>
            </a:r>
          </a:p>
        </p:txBody>
      </p:sp>
      <p:graphicFrame>
        <p:nvGraphicFramePr>
          <p:cNvPr id="4" name="Tabelle 3">
            <a:extLst>
              <a:ext uri="{FF2B5EF4-FFF2-40B4-BE49-F238E27FC236}">
                <a16:creationId xmlns:a16="http://schemas.microsoft.com/office/drawing/2014/main" id="{568CC164-9CC4-B043-B51C-D886D56EE140}"/>
              </a:ext>
            </a:extLst>
          </p:cNvPr>
          <p:cNvGraphicFramePr>
            <a:graphicFrameLocks noGrp="1"/>
          </p:cNvGraphicFramePr>
          <p:nvPr>
            <p:extLst>
              <p:ext uri="{D42A27DB-BD31-4B8C-83A1-F6EECF244321}">
                <p14:modId xmlns:p14="http://schemas.microsoft.com/office/powerpoint/2010/main" val="2680444007"/>
              </p:ext>
            </p:extLst>
          </p:nvPr>
        </p:nvGraphicFramePr>
        <p:xfrm>
          <a:off x="358775" y="1041400"/>
          <a:ext cx="9756037" cy="4440089"/>
        </p:xfrm>
        <a:graphic>
          <a:graphicData uri="http://schemas.openxmlformats.org/drawingml/2006/table">
            <a:tbl>
              <a:tblPr firstRow="1" bandRow="1"/>
              <a:tblGrid>
                <a:gridCol w="1643377">
                  <a:extLst>
                    <a:ext uri="{9D8B030D-6E8A-4147-A177-3AD203B41FA5}">
                      <a16:colId xmlns:a16="http://schemas.microsoft.com/office/drawing/2014/main" val="20000"/>
                    </a:ext>
                  </a:extLst>
                </a:gridCol>
                <a:gridCol w="1986777">
                  <a:extLst>
                    <a:ext uri="{9D8B030D-6E8A-4147-A177-3AD203B41FA5}">
                      <a16:colId xmlns:a16="http://schemas.microsoft.com/office/drawing/2014/main" val="3953192555"/>
                    </a:ext>
                  </a:extLst>
                </a:gridCol>
                <a:gridCol w="2041961">
                  <a:extLst>
                    <a:ext uri="{9D8B030D-6E8A-4147-A177-3AD203B41FA5}">
                      <a16:colId xmlns:a16="http://schemas.microsoft.com/office/drawing/2014/main" val="2318029501"/>
                    </a:ext>
                  </a:extLst>
                </a:gridCol>
                <a:gridCol w="2041961">
                  <a:extLst>
                    <a:ext uri="{9D8B030D-6E8A-4147-A177-3AD203B41FA5}">
                      <a16:colId xmlns:a16="http://schemas.microsoft.com/office/drawing/2014/main" val="3185518545"/>
                    </a:ext>
                  </a:extLst>
                </a:gridCol>
                <a:gridCol w="2041961">
                  <a:extLst>
                    <a:ext uri="{9D8B030D-6E8A-4147-A177-3AD203B41FA5}">
                      <a16:colId xmlns:a16="http://schemas.microsoft.com/office/drawing/2014/main" val="2569749662"/>
                    </a:ext>
                  </a:extLst>
                </a:gridCol>
              </a:tblGrid>
              <a:tr h="330200">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endParaRPr lang="de-DE" sz="1100" b="1" dirty="0">
                        <a:solidFill>
                          <a:srgbClr val="FFFFFF"/>
                        </a:solidFill>
                        <a:latin typeface="+mn-lt"/>
                        <a:cs typeface="Noto Sans"/>
                      </a:endParaRPr>
                    </a:p>
                  </a:txBody>
                  <a:tcPr marL="78296" marR="78296" marT="39148" marB="39148">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100" b="1" dirty="0">
                          <a:solidFill>
                            <a:srgbClr val="FFFFFF"/>
                          </a:solidFill>
                          <a:latin typeface="+mn-lt"/>
                          <a:cs typeface="Noto Sans"/>
                        </a:rPr>
                        <a:t>ESG Defensiv</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cs typeface="Noto Sans"/>
                        </a:rPr>
                        <a:t>ESG Defensiv Plus</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cs typeface="Noto Sans"/>
                        </a:rPr>
                        <a:t>ESG Ausgewogen</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cs typeface="Noto Sans"/>
                        </a:rPr>
                        <a:t>ESG Offensiv</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extLst>
                  <a:ext uri="{0D108BD9-81ED-4DB2-BD59-A6C34878D82A}">
                    <a16:rowId xmlns:a16="http://schemas.microsoft.com/office/drawing/2014/main" val="10000"/>
                  </a:ext>
                </a:extLst>
              </a:tr>
              <a:tr h="593077">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Anlageziele</a:t>
                      </a:r>
                    </a:p>
                  </a:txBody>
                  <a:tcPr marL="78296" marR="78296" marT="39148" marB="39148"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Einkommensorientierte Anlagestrategie</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Renditeorientierte Anlagestrategie</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Wachstumsorientierte Anlagestrategie</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Aktienorientierte </a:t>
                      </a:r>
                    </a:p>
                    <a:p>
                      <a:pPr algn="l"/>
                      <a:r>
                        <a:rPr lang="de-DE" sz="1100" b="0" kern="0" spc="20" dirty="0">
                          <a:solidFill>
                            <a:schemeClr val="accent1"/>
                          </a:solidFill>
                          <a:latin typeface="Noto Sans"/>
                          <a:ea typeface="+mn-ea"/>
                          <a:cs typeface="Noto Sans"/>
                        </a:rPr>
                        <a:t>Anlagestrategie</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77049">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r>
                        <a:rPr lang="de-DE" sz="1100" b="1" kern="0" spc="20" dirty="0">
                          <a:solidFill>
                            <a:schemeClr val="accent1"/>
                          </a:solidFill>
                          <a:latin typeface="Noto Sans"/>
                          <a:ea typeface="+mn-ea"/>
                          <a:cs typeface="Noto Sans"/>
                        </a:rPr>
                        <a:t>Verwaltungs-</a:t>
                      </a:r>
                    </a:p>
                    <a:p>
                      <a:pPr marL="180000" algn="l"/>
                      <a:r>
                        <a:rPr lang="de-DE" sz="1100" b="1" kern="0" spc="20" dirty="0" err="1">
                          <a:solidFill>
                            <a:schemeClr val="accent1"/>
                          </a:solidFill>
                          <a:latin typeface="Noto Sans"/>
                          <a:ea typeface="+mn-ea"/>
                          <a:cs typeface="Noto Sans"/>
                        </a:rPr>
                        <a:t>grundsätze</a:t>
                      </a:r>
                      <a:endParaRPr lang="de-DE" sz="1100" b="1" kern="0" spc="20" dirty="0">
                        <a:solidFill>
                          <a:schemeClr val="accent1"/>
                        </a:solidFill>
                        <a:latin typeface="Noto Sans"/>
                        <a:ea typeface="+mn-ea"/>
                        <a:cs typeface="Noto Sans"/>
                      </a:endParaRP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100" b="0" kern="0" spc="20" dirty="0">
                          <a:solidFill>
                            <a:schemeClr val="accent1"/>
                          </a:solidFill>
                          <a:latin typeface="Noto Sans"/>
                          <a:ea typeface="+mn-ea"/>
                          <a:cs typeface="Noto Sans"/>
                        </a:rPr>
                        <a:t>Langfristige Vermögenssicherung ohne größere Wertschwankungen im Vordergrund.</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100" b="0" kern="0" spc="20" dirty="0">
                          <a:solidFill>
                            <a:schemeClr val="accent1"/>
                          </a:solidFill>
                          <a:latin typeface="Noto Sans"/>
                          <a:ea typeface="+mn-ea"/>
                          <a:cs typeface="Noto Sans"/>
                        </a:rPr>
                        <a:t>Sicherheit tritt gegenüber den Kurschancen etwas zurück.</a:t>
                      </a:r>
                    </a:p>
                    <a:p>
                      <a:pPr marL="0" indent="0" algn="l" defTabSz="914400" rtl="0" eaLnBrk="1" latinLnBrk="0" hangingPunct="1">
                        <a:buFont typeface="Symbol" panose="05050102010706020507" pitchFamily="18" charset="2"/>
                        <a:buNone/>
                      </a:pPr>
                      <a:r>
                        <a:rPr lang="de-DE" sz="1100" b="0" kern="0" spc="20" dirty="0">
                          <a:solidFill>
                            <a:schemeClr val="accent1"/>
                          </a:solidFill>
                          <a:latin typeface="Noto Sans"/>
                          <a:ea typeface="+mn-ea"/>
                          <a:cs typeface="Noto Sans"/>
                        </a:rPr>
                        <a:t>Moderate Kursrisiken werden in Kauf genommen.</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100" b="0" kern="0" spc="20" dirty="0">
                          <a:solidFill>
                            <a:schemeClr val="accent1"/>
                          </a:solidFill>
                          <a:latin typeface="Noto Sans"/>
                          <a:ea typeface="+mn-ea"/>
                          <a:cs typeface="Noto Sans"/>
                        </a:rPr>
                        <a:t>Ausgewogenes Verhältnis zwischen Ertragschancen und Risiken. </a:t>
                      </a:r>
                    </a:p>
                    <a:p>
                      <a:pPr marL="0" indent="0" algn="l" defTabSz="914400" rtl="0" eaLnBrk="1" latinLnBrk="0" hangingPunct="1">
                        <a:buFont typeface="Symbol" panose="05050102010706020507" pitchFamily="18" charset="2"/>
                        <a:buNone/>
                      </a:pPr>
                      <a:r>
                        <a:rPr lang="de-DE" sz="1100" b="0" kern="0" spc="20" dirty="0">
                          <a:solidFill>
                            <a:schemeClr val="accent1"/>
                          </a:solidFill>
                          <a:latin typeface="Noto Sans"/>
                          <a:ea typeface="+mn-ea"/>
                          <a:cs typeface="Noto Sans"/>
                        </a:rPr>
                        <a:t>Langfristig bedeutender realer Vermögenszuwachs.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100" b="0" kern="0" spc="20" dirty="0">
                          <a:solidFill>
                            <a:schemeClr val="accent1"/>
                          </a:solidFill>
                          <a:latin typeface="Noto Sans"/>
                          <a:ea typeface="+mn-ea"/>
                          <a:cs typeface="Noto Sans"/>
                        </a:rPr>
                        <a:t>Höhere Risiken spiegeln sich in höheren Ertragschancen wider. Langfristiger, überdurchschnittlicher Vermögenszuwachs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0002"/>
                  </a:ext>
                </a:extLst>
              </a:tr>
              <a:tr h="571500">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Anlageregion</a:t>
                      </a:r>
                    </a:p>
                  </a:txBody>
                  <a:tcPr marL="78296" marR="78296" marT="39148" marB="39148"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Schwerpunkt Europa</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Weltweit</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Weltweit</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Weltweit</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85787">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Aktienanteil</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max. 25%</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mind. 20%, max.50%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mind. 30%, max.70%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mind. 50%, max.100%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0004"/>
                  </a:ext>
                </a:extLst>
              </a:tr>
              <a:tr h="600075">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marR="0" lvl="0" indent="0" algn="l" defTabSz="914400" rtl="0" eaLnBrk="1" fontAlgn="auto" latinLnBrk="0" hangingPunct="1">
                        <a:lnSpc>
                          <a:spcPts val="1180"/>
                        </a:lnSpc>
                        <a:spcBef>
                          <a:spcPts val="0"/>
                        </a:spcBef>
                        <a:spcAft>
                          <a:spcPts val="0"/>
                        </a:spcAft>
                        <a:buClrTx/>
                        <a:buSzTx/>
                        <a:buFontTx/>
                        <a:buNone/>
                        <a:tabLst/>
                        <a:defRPr/>
                      </a:pPr>
                      <a:r>
                        <a:rPr lang="de-DE" sz="1100" b="1" kern="0" spc="20" dirty="0">
                          <a:solidFill>
                            <a:schemeClr val="accent1"/>
                          </a:solidFill>
                          <a:latin typeface="Noto Sans"/>
                          <a:ea typeface="+mn-ea"/>
                          <a:cs typeface="Noto Sans"/>
                        </a:rPr>
                        <a:t>Rentenanteil</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max. 100%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max. 80%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max. 70%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max. 50%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0080137"/>
                  </a:ext>
                </a:extLst>
              </a:tr>
              <a:tr h="685826">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Fremdwährungen</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algn="l" defTabSz="914400" rtl="0" eaLnBrk="1" latinLnBrk="0" hangingPunct="1"/>
                      <a:r>
                        <a:rPr lang="de-DE" sz="1100" b="0" kern="0" spc="20" dirty="0">
                          <a:solidFill>
                            <a:schemeClr val="accent1"/>
                          </a:solidFill>
                          <a:latin typeface="Noto Sans"/>
                          <a:ea typeface=""/>
                          <a:cs typeface="Noto Sans"/>
                        </a:rPr>
                        <a:t>Keine Limitierung aufgrund des weltweiten Ansatzes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algn="l" defTabSz="914400" rtl="0" eaLnBrk="1" latinLnBrk="0" hangingPunct="1"/>
                      <a:r>
                        <a:rPr lang="de-DE" sz="1100" b="0" kern="0" spc="20" dirty="0">
                          <a:solidFill>
                            <a:schemeClr val="accent1"/>
                          </a:solidFill>
                          <a:latin typeface="Noto Sans"/>
                          <a:ea typeface="+mn-ea"/>
                          <a:cs typeface="Noto Sans"/>
                        </a:rPr>
                        <a:t>Keine Limitierung aufgrund des weltweiten Ansatzes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algn="l" defTabSz="914400" rtl="0" eaLnBrk="1" latinLnBrk="0" hangingPunct="1"/>
                      <a:r>
                        <a:rPr lang="de-DE" sz="1100" b="0" kern="0" spc="20" dirty="0">
                          <a:solidFill>
                            <a:schemeClr val="accent1"/>
                          </a:solidFill>
                          <a:latin typeface="Noto Sans"/>
                          <a:ea typeface="+mn-ea"/>
                          <a:cs typeface="Noto Sans"/>
                        </a:rPr>
                        <a:t>Keine Limitierung aufgrund des weltweiten Ansatzes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Keine Limitierung aufgrund des weltweiten Ansatzes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630979793"/>
                  </a:ext>
                </a:extLst>
              </a:tr>
            </a:tbl>
          </a:graphicData>
        </a:graphic>
      </p:graphicFrame>
    </p:spTree>
    <p:extLst>
      <p:ext uri="{BB962C8B-B14F-4D97-AF65-F5344CB8AC3E}">
        <p14:creationId xmlns:p14="http://schemas.microsoft.com/office/powerpoint/2010/main" val="1173218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69846093-B1E4-0C42-AFF5-B5A773A0CB2D}"/>
              </a:ext>
            </a:extLst>
          </p:cNvPr>
          <p:cNvSpPr>
            <a:spLocks noGrp="1"/>
          </p:cNvSpPr>
          <p:nvPr>
            <p:ph type="body" sz="quarter" idx="10"/>
          </p:nvPr>
        </p:nvSpPr>
        <p:spPr/>
        <p:txBody>
          <a:bodyPr/>
          <a:lstStyle/>
          <a:p>
            <a:r>
              <a:rPr lang="de-DE" dirty="0"/>
              <a:t>UNSERE ESG-STRATEGIEN</a:t>
            </a:r>
          </a:p>
        </p:txBody>
      </p:sp>
      <p:sp>
        <p:nvSpPr>
          <p:cNvPr id="3" name="Textplatzhalter 2">
            <a:extLst>
              <a:ext uri="{FF2B5EF4-FFF2-40B4-BE49-F238E27FC236}">
                <a16:creationId xmlns:a16="http://schemas.microsoft.com/office/drawing/2014/main" id="{5E8ECE67-38D9-AC42-9928-1A195021ED88}"/>
              </a:ext>
            </a:extLst>
          </p:cNvPr>
          <p:cNvSpPr>
            <a:spLocks noGrp="1"/>
          </p:cNvSpPr>
          <p:nvPr>
            <p:ph type="body" sz="quarter" idx="11"/>
          </p:nvPr>
        </p:nvSpPr>
        <p:spPr>
          <a:xfrm>
            <a:off x="1021200" y="4074419"/>
            <a:ext cx="8446650" cy="1827500"/>
          </a:xfrm>
        </p:spPr>
        <p:txBody>
          <a:bodyPr/>
          <a:lstStyle/>
          <a:p>
            <a:r>
              <a:rPr lang="de-DE" dirty="0">
                <a:solidFill>
                  <a:schemeClr val="accent3"/>
                </a:solidFill>
              </a:rPr>
              <a:t>Defensiv – Defensiv Plus – Ausgewogen – Offensiv</a:t>
            </a:r>
          </a:p>
          <a:p>
            <a:endParaRPr lang="de-DE" dirty="0"/>
          </a:p>
        </p:txBody>
      </p:sp>
    </p:spTree>
    <p:extLst>
      <p:ext uri="{BB962C8B-B14F-4D97-AF65-F5344CB8AC3E}">
        <p14:creationId xmlns:p14="http://schemas.microsoft.com/office/powerpoint/2010/main" val="3553452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16</a:t>
            </a:fld>
            <a:endParaRPr lang="de-DE"/>
          </a:p>
        </p:txBody>
      </p:sp>
      <p:graphicFrame>
        <p:nvGraphicFramePr>
          <p:cNvPr id="5" name="C_Kennzahlen">
            <a:extLst>
              <a:ext uri="{FF2B5EF4-FFF2-40B4-BE49-F238E27FC236}">
                <a16:creationId xmlns:a16="http://schemas.microsoft.com/office/drawing/2014/main" id="{00000000-0008-0000-1300-000002000000}"/>
              </a:ext>
            </a:extLst>
          </p:cNvPr>
          <p:cNvGraphicFramePr>
            <a:graphicFrameLocks noGrp="1" noDrilldown="1" noMove="1" noResize="1"/>
          </p:cNvGraphicFramePr>
          <p:nvPr>
            <p:extLst>
              <p:ext uri="{D42A27DB-BD31-4B8C-83A1-F6EECF244321}">
                <p14:modId xmlns:p14="http://schemas.microsoft.com/office/powerpoint/2010/main" val="1564450468"/>
              </p:ext>
            </p:extLst>
          </p:nvPr>
        </p:nvGraphicFramePr>
        <p:xfrm>
          <a:off x="355600" y="2667000"/>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D16E6C1A-CD51-1DC7-44C5-AF3A5D77D8BC}"/>
              </a:ext>
            </a:extLst>
          </p:cNvPr>
          <p:cNvGraphicFramePr>
            <a:graphicFrameLocks noGrp="1" noDrilldown="1" noMove="1" noResize="1"/>
          </p:cNvGraphicFramePr>
          <p:nvPr>
            <p:extLst>
              <p:ext uri="{D42A27DB-BD31-4B8C-83A1-F6EECF244321}">
                <p14:modId xmlns:p14="http://schemas.microsoft.com/office/powerpoint/2010/main" val="3641240042"/>
              </p:ext>
            </p:extLst>
          </p:nvPr>
        </p:nvGraphicFramePr>
        <p:xfrm>
          <a:off x="4508500" y="1040400"/>
          <a:ext cx="5613400" cy="5307154"/>
        </p:xfrm>
        <a:graphic>
          <a:graphicData uri="http://schemas.openxmlformats.org/drawingml/2006/table">
            <a:tbl>
              <a:tblPr/>
              <a:tblGrid>
                <a:gridCol w="2184400">
                  <a:extLst>
                    <a:ext uri="{9D8B030D-6E8A-4147-A177-3AD203B41FA5}">
                      <a16:colId xmlns:a16="http://schemas.microsoft.com/office/drawing/2014/main" val="417514362"/>
                    </a:ext>
                  </a:extLst>
                </a:gridCol>
                <a:gridCol w="50800">
                  <a:extLst>
                    <a:ext uri="{9D8B030D-6E8A-4147-A177-3AD203B41FA5}">
                      <a16:colId xmlns:a16="http://schemas.microsoft.com/office/drawing/2014/main" val="3471539392"/>
                    </a:ext>
                  </a:extLst>
                </a:gridCol>
                <a:gridCol w="571500">
                  <a:extLst>
                    <a:ext uri="{9D8B030D-6E8A-4147-A177-3AD203B41FA5}">
                      <a16:colId xmlns:a16="http://schemas.microsoft.com/office/drawing/2014/main" val="3196786145"/>
                    </a:ext>
                  </a:extLst>
                </a:gridCol>
                <a:gridCol w="50800">
                  <a:extLst>
                    <a:ext uri="{9D8B030D-6E8A-4147-A177-3AD203B41FA5}">
                      <a16:colId xmlns:a16="http://schemas.microsoft.com/office/drawing/2014/main" val="3521102505"/>
                    </a:ext>
                  </a:extLst>
                </a:gridCol>
                <a:gridCol w="571500">
                  <a:extLst>
                    <a:ext uri="{9D8B030D-6E8A-4147-A177-3AD203B41FA5}">
                      <a16:colId xmlns:a16="http://schemas.microsoft.com/office/drawing/2014/main" val="3031123287"/>
                    </a:ext>
                  </a:extLst>
                </a:gridCol>
                <a:gridCol w="50800">
                  <a:extLst>
                    <a:ext uri="{9D8B030D-6E8A-4147-A177-3AD203B41FA5}">
                      <a16:colId xmlns:a16="http://schemas.microsoft.com/office/drawing/2014/main" val="2004331814"/>
                    </a:ext>
                  </a:extLst>
                </a:gridCol>
                <a:gridCol w="571500">
                  <a:extLst>
                    <a:ext uri="{9D8B030D-6E8A-4147-A177-3AD203B41FA5}">
                      <a16:colId xmlns:a16="http://schemas.microsoft.com/office/drawing/2014/main" val="4035104349"/>
                    </a:ext>
                  </a:extLst>
                </a:gridCol>
                <a:gridCol w="50800">
                  <a:extLst>
                    <a:ext uri="{9D8B030D-6E8A-4147-A177-3AD203B41FA5}">
                      <a16:colId xmlns:a16="http://schemas.microsoft.com/office/drawing/2014/main" val="1107168230"/>
                    </a:ext>
                  </a:extLst>
                </a:gridCol>
                <a:gridCol w="571500">
                  <a:extLst>
                    <a:ext uri="{9D8B030D-6E8A-4147-A177-3AD203B41FA5}">
                      <a16:colId xmlns:a16="http://schemas.microsoft.com/office/drawing/2014/main" val="662444682"/>
                    </a:ext>
                  </a:extLst>
                </a:gridCol>
                <a:gridCol w="50800">
                  <a:extLst>
                    <a:ext uri="{9D8B030D-6E8A-4147-A177-3AD203B41FA5}">
                      <a16:colId xmlns:a16="http://schemas.microsoft.com/office/drawing/2014/main" val="3376217829"/>
                    </a:ext>
                  </a:extLst>
                </a:gridCol>
                <a:gridCol w="889000">
                  <a:extLst>
                    <a:ext uri="{9D8B030D-6E8A-4147-A177-3AD203B41FA5}">
                      <a16:colId xmlns:a16="http://schemas.microsoft.com/office/drawing/2014/main" val="2867087676"/>
                    </a:ext>
                  </a:extLst>
                </a:gridCol>
              </a:tblGrid>
              <a:tr h="215798">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6244"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652956124"/>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6244"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7175318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47747109"/>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14958723"/>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58872623"/>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7114637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11803209"/>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3273721"/>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80667213"/>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47719966"/>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89868128"/>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13136221"/>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4343467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90558225"/>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60460386"/>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36266779"/>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95431645"/>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33012886"/>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07083709"/>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93706294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72943772"/>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67415370"/>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60415409"/>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35387913"/>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7143303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0835794"/>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79785442"/>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624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65783301"/>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624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06091282"/>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6244"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342477998"/>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2308561104"/>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ESG Defensiv</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Schwerpunkt Europa</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25%</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ESG Defensiv</a:t>
            </a:r>
          </a:p>
        </p:txBody>
      </p:sp>
    </p:spTree>
    <p:extLst>
      <p:ext uri="{BB962C8B-B14F-4D97-AF65-F5344CB8AC3E}">
        <p14:creationId xmlns:p14="http://schemas.microsoft.com/office/powerpoint/2010/main" val="3986531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30.06. abzüglich halbjährigen Honorarsatz</a:t>
            </a:r>
          </a:p>
          <a:p>
            <a:r>
              <a:rPr lang="de-DE" dirty="0"/>
              <a:t>*** 43,75% </a:t>
            </a:r>
            <a:r>
              <a:rPr lang="de-DE" dirty="0" err="1"/>
              <a:t>iBoxx</a:t>
            </a:r>
            <a:r>
              <a:rPr lang="de-DE" dirty="0"/>
              <a:t> EUR Corp. OV. 3-5y TR; 43,75% </a:t>
            </a:r>
            <a:r>
              <a:rPr lang="de-DE" dirty="0" err="1"/>
              <a:t>iBoxx</a:t>
            </a:r>
            <a:r>
              <a:rPr lang="de-DE" dirty="0"/>
              <a:t> EUR Sovereigns Germ. 5-7y TR, 6,25% DAX; 6,25%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17</a:t>
            </a:fld>
            <a:endParaRPr lang="de-DE"/>
          </a:p>
        </p:txBody>
      </p:sp>
      <p:sp>
        <p:nvSpPr>
          <p:cNvPr id="21" name="Quelle">
            <a:extLst>
              <a:ext uri="{FF2B5EF4-FFF2-40B4-BE49-F238E27FC236}">
                <a16:creationId xmlns:a16="http://schemas.microsoft.com/office/drawing/2014/main" id="{D9852219-B88C-ED04-CF61-B724CDD05E80}"/>
              </a:ext>
            </a:extLst>
          </p:cNvPr>
          <p:cNvSpPr txBox="1">
            <a:spLocks/>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C9BE1D94-C46E-4F6C-AA96-7BB41F2F916E}"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026629083"/>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3"/>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2258748576"/>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3269092371"/>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2020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12,65%</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2020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2,18%</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2,97%</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4,51</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ESG Defensiv | </a:t>
            </a:r>
            <a:r>
              <a:rPr lang="de-DE" b="0" dirty="0"/>
              <a:t>Wertentwicklung</a:t>
            </a:r>
          </a:p>
        </p:txBody>
      </p:sp>
    </p:spTree>
    <p:extLst>
      <p:ext uri="{BB962C8B-B14F-4D97-AF65-F5344CB8AC3E}">
        <p14:creationId xmlns:p14="http://schemas.microsoft.com/office/powerpoint/2010/main" val="2832446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18</a:t>
            </a:fld>
            <a:endParaRPr lang="de-DE"/>
          </a:p>
        </p:txBody>
      </p:sp>
      <p:graphicFrame>
        <p:nvGraphicFramePr>
          <p:cNvPr id="5" name="C_Kennzahlen">
            <a:extLst>
              <a:ext uri="{FF2B5EF4-FFF2-40B4-BE49-F238E27FC236}">
                <a16:creationId xmlns:a16="http://schemas.microsoft.com/office/drawing/2014/main" id="{00000000-0008-0000-1300-000003000000}"/>
              </a:ext>
            </a:extLst>
          </p:cNvPr>
          <p:cNvGraphicFramePr>
            <a:graphicFrameLocks noGrp="1" noDrilldown="1" noMove="1" noResize="1"/>
          </p:cNvGraphicFramePr>
          <p:nvPr>
            <p:extLst>
              <p:ext uri="{D42A27DB-BD31-4B8C-83A1-F6EECF244321}">
                <p14:modId xmlns:p14="http://schemas.microsoft.com/office/powerpoint/2010/main" val="3394807363"/>
              </p:ext>
            </p:extLst>
          </p:nvPr>
        </p:nvGraphicFramePr>
        <p:xfrm>
          <a:off x="355600" y="2667000"/>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C3D06020-167A-D4FC-2E20-B740FE17C8B3}"/>
              </a:ext>
            </a:extLst>
          </p:cNvPr>
          <p:cNvGraphicFramePr>
            <a:graphicFrameLocks noGrp="1" noDrilldown="1" noMove="1" noResize="1"/>
          </p:cNvGraphicFramePr>
          <p:nvPr>
            <p:extLst>
              <p:ext uri="{D42A27DB-BD31-4B8C-83A1-F6EECF244321}">
                <p14:modId xmlns:p14="http://schemas.microsoft.com/office/powerpoint/2010/main" val="3024969539"/>
              </p:ext>
            </p:extLst>
          </p:nvPr>
        </p:nvGraphicFramePr>
        <p:xfrm>
          <a:off x="4508500" y="1040400"/>
          <a:ext cx="5613400" cy="5658282"/>
        </p:xfrm>
        <a:graphic>
          <a:graphicData uri="http://schemas.openxmlformats.org/drawingml/2006/table">
            <a:tbl>
              <a:tblPr/>
              <a:tblGrid>
                <a:gridCol w="2184400">
                  <a:extLst>
                    <a:ext uri="{9D8B030D-6E8A-4147-A177-3AD203B41FA5}">
                      <a16:colId xmlns:a16="http://schemas.microsoft.com/office/drawing/2014/main" val="1176240102"/>
                    </a:ext>
                  </a:extLst>
                </a:gridCol>
                <a:gridCol w="50800">
                  <a:extLst>
                    <a:ext uri="{9D8B030D-6E8A-4147-A177-3AD203B41FA5}">
                      <a16:colId xmlns:a16="http://schemas.microsoft.com/office/drawing/2014/main" val="3947541641"/>
                    </a:ext>
                  </a:extLst>
                </a:gridCol>
                <a:gridCol w="571500">
                  <a:extLst>
                    <a:ext uri="{9D8B030D-6E8A-4147-A177-3AD203B41FA5}">
                      <a16:colId xmlns:a16="http://schemas.microsoft.com/office/drawing/2014/main" val="3531339267"/>
                    </a:ext>
                  </a:extLst>
                </a:gridCol>
                <a:gridCol w="50800">
                  <a:extLst>
                    <a:ext uri="{9D8B030D-6E8A-4147-A177-3AD203B41FA5}">
                      <a16:colId xmlns:a16="http://schemas.microsoft.com/office/drawing/2014/main" val="3811246795"/>
                    </a:ext>
                  </a:extLst>
                </a:gridCol>
                <a:gridCol w="571500">
                  <a:extLst>
                    <a:ext uri="{9D8B030D-6E8A-4147-A177-3AD203B41FA5}">
                      <a16:colId xmlns:a16="http://schemas.microsoft.com/office/drawing/2014/main" val="151777475"/>
                    </a:ext>
                  </a:extLst>
                </a:gridCol>
                <a:gridCol w="50800">
                  <a:extLst>
                    <a:ext uri="{9D8B030D-6E8A-4147-A177-3AD203B41FA5}">
                      <a16:colId xmlns:a16="http://schemas.microsoft.com/office/drawing/2014/main" val="1986783775"/>
                    </a:ext>
                  </a:extLst>
                </a:gridCol>
                <a:gridCol w="571500">
                  <a:extLst>
                    <a:ext uri="{9D8B030D-6E8A-4147-A177-3AD203B41FA5}">
                      <a16:colId xmlns:a16="http://schemas.microsoft.com/office/drawing/2014/main" val="4041539597"/>
                    </a:ext>
                  </a:extLst>
                </a:gridCol>
                <a:gridCol w="50800">
                  <a:extLst>
                    <a:ext uri="{9D8B030D-6E8A-4147-A177-3AD203B41FA5}">
                      <a16:colId xmlns:a16="http://schemas.microsoft.com/office/drawing/2014/main" val="2631399414"/>
                    </a:ext>
                  </a:extLst>
                </a:gridCol>
                <a:gridCol w="571500">
                  <a:extLst>
                    <a:ext uri="{9D8B030D-6E8A-4147-A177-3AD203B41FA5}">
                      <a16:colId xmlns:a16="http://schemas.microsoft.com/office/drawing/2014/main" val="3905281889"/>
                    </a:ext>
                  </a:extLst>
                </a:gridCol>
                <a:gridCol w="50800">
                  <a:extLst>
                    <a:ext uri="{9D8B030D-6E8A-4147-A177-3AD203B41FA5}">
                      <a16:colId xmlns:a16="http://schemas.microsoft.com/office/drawing/2014/main" val="3289919576"/>
                    </a:ext>
                  </a:extLst>
                </a:gridCol>
                <a:gridCol w="889000">
                  <a:extLst>
                    <a:ext uri="{9D8B030D-6E8A-4147-A177-3AD203B41FA5}">
                      <a16:colId xmlns:a16="http://schemas.microsoft.com/office/drawing/2014/main" val="4195672974"/>
                    </a:ext>
                  </a:extLst>
                </a:gridCol>
              </a:tblGrid>
              <a:tr h="215798">
                <a:tc>
                  <a:txBody>
                    <a:bodyPr/>
                    <a:lstStyle/>
                    <a:p>
                      <a:pPr algn="l" fontAlgn="ctr">
                        <a:buNone/>
                      </a:pPr>
                      <a:r>
                        <a:rPr lang="de-DE" sz="600" b="0" i="0" u="none" strike="noStrike">
                          <a:solidFill>
                            <a:srgbClr val="FFFFFF"/>
                          </a:solidFill>
                          <a:effectLst/>
                          <a:latin typeface="Noto Sans" panose="020B0502040504020204" pitchFamily="34" charset="0"/>
                        </a:rPr>
                        <a:t>WERTPAPIER</a:t>
                      </a:r>
                    </a:p>
                  </a:txBody>
                  <a:tcPr marL="68436"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3685950306"/>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6256784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9580572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6292822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04569640"/>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1141587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1509352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6919944"/>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39262302"/>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30005808"/>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84443507"/>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4678040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2070652"/>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0963975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2407750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38168140"/>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450634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3389063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3456067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4386012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9702699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7941578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3416854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3690661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27749108"/>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12557938"/>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88895748"/>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34004176"/>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50331432"/>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67342010"/>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21445653"/>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448924237"/>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4835739"/>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ESG Defensiv Plus</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 20%, max. 50%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80%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ESG Defensiv Plus</a:t>
            </a:r>
          </a:p>
        </p:txBody>
      </p:sp>
    </p:spTree>
    <p:extLst>
      <p:ext uri="{BB962C8B-B14F-4D97-AF65-F5344CB8AC3E}">
        <p14:creationId xmlns:p14="http://schemas.microsoft.com/office/powerpoint/2010/main" val="3658980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30.06. abzüglich halbjährigen Honorarsatz</a:t>
            </a:r>
          </a:p>
          <a:p>
            <a:r>
              <a:rPr lang="de-DE" dirty="0"/>
              <a:t>*** 32,5% </a:t>
            </a:r>
            <a:r>
              <a:rPr lang="de-DE" dirty="0" err="1"/>
              <a:t>iBoxx</a:t>
            </a:r>
            <a:r>
              <a:rPr lang="de-DE" dirty="0"/>
              <a:t> EUR Corp. OV. 3-5y TR; 32,5% </a:t>
            </a:r>
            <a:r>
              <a:rPr lang="de-DE" dirty="0" err="1"/>
              <a:t>iBoxx</a:t>
            </a:r>
            <a:r>
              <a:rPr lang="de-DE" dirty="0"/>
              <a:t> EUR Sovereigns Germ. 5-7y TR; 17,5% DAX; 17,5%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19</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B60ECC05-F173-4416-997E-F783D498FDBF}"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4085828749"/>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2353210007"/>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2868583683"/>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9003071"/>
                  </a:ext>
                </a:extLst>
              </a:tr>
              <a:tr h="288000">
                <a:tc>
                  <a:txBody>
                    <a:bodyPr/>
                    <a:lstStyle/>
                    <a:p>
                      <a:r>
                        <a:rPr lang="de-DE" sz="900" b="0" dirty="0"/>
                        <a:t>Wertentwicklung seit 2020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27,02%</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2020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4,43%</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4,21%</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4,14</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946379"/>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ESG Defensiv Plus | </a:t>
            </a:r>
            <a:r>
              <a:rPr lang="de-DE" b="0" dirty="0"/>
              <a:t>Wertentwicklung</a:t>
            </a:r>
          </a:p>
        </p:txBody>
      </p:sp>
    </p:spTree>
    <p:extLst>
      <p:ext uri="{BB962C8B-B14F-4D97-AF65-F5344CB8AC3E}">
        <p14:creationId xmlns:p14="http://schemas.microsoft.com/office/powerpoint/2010/main" val="1773469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20</a:t>
            </a:fld>
            <a:endParaRPr lang="de-DE"/>
          </a:p>
        </p:txBody>
      </p:sp>
      <p:graphicFrame>
        <p:nvGraphicFramePr>
          <p:cNvPr id="5" name="C_Kennzahlen">
            <a:extLst>
              <a:ext uri="{FF2B5EF4-FFF2-40B4-BE49-F238E27FC236}">
                <a16:creationId xmlns:a16="http://schemas.microsoft.com/office/drawing/2014/main" id="{00000000-0008-0000-1300-000004000000}"/>
              </a:ext>
            </a:extLst>
          </p:cNvPr>
          <p:cNvGraphicFramePr>
            <a:graphicFrameLocks noGrp="1" noDrilldown="1" noMove="1" noResize="1"/>
          </p:cNvGraphicFramePr>
          <p:nvPr>
            <p:extLst>
              <p:ext uri="{D42A27DB-BD31-4B8C-83A1-F6EECF244321}">
                <p14:modId xmlns:p14="http://schemas.microsoft.com/office/powerpoint/2010/main" val="1270326800"/>
              </p:ext>
            </p:extLst>
          </p:nvPr>
        </p:nvGraphicFramePr>
        <p:xfrm>
          <a:off x="355600" y="2667000"/>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205CA40E-7B03-EF7F-DCEB-629657600EEF}"/>
              </a:ext>
            </a:extLst>
          </p:cNvPr>
          <p:cNvGraphicFramePr>
            <a:graphicFrameLocks noGrp="1" noDrilldown="1" noMove="1" noResize="1"/>
          </p:cNvGraphicFramePr>
          <p:nvPr>
            <p:extLst>
              <p:ext uri="{D42A27DB-BD31-4B8C-83A1-F6EECF244321}">
                <p14:modId xmlns:p14="http://schemas.microsoft.com/office/powerpoint/2010/main" val="3669610764"/>
              </p:ext>
            </p:extLst>
          </p:nvPr>
        </p:nvGraphicFramePr>
        <p:xfrm>
          <a:off x="4508500" y="1040400"/>
          <a:ext cx="5613400" cy="5833846"/>
        </p:xfrm>
        <a:graphic>
          <a:graphicData uri="http://schemas.openxmlformats.org/drawingml/2006/table">
            <a:tbl>
              <a:tblPr/>
              <a:tblGrid>
                <a:gridCol w="2184400">
                  <a:extLst>
                    <a:ext uri="{9D8B030D-6E8A-4147-A177-3AD203B41FA5}">
                      <a16:colId xmlns:a16="http://schemas.microsoft.com/office/drawing/2014/main" val="2346331999"/>
                    </a:ext>
                  </a:extLst>
                </a:gridCol>
                <a:gridCol w="50800">
                  <a:extLst>
                    <a:ext uri="{9D8B030D-6E8A-4147-A177-3AD203B41FA5}">
                      <a16:colId xmlns:a16="http://schemas.microsoft.com/office/drawing/2014/main" val="4125722374"/>
                    </a:ext>
                  </a:extLst>
                </a:gridCol>
                <a:gridCol w="571500">
                  <a:extLst>
                    <a:ext uri="{9D8B030D-6E8A-4147-A177-3AD203B41FA5}">
                      <a16:colId xmlns:a16="http://schemas.microsoft.com/office/drawing/2014/main" val="1920535577"/>
                    </a:ext>
                  </a:extLst>
                </a:gridCol>
                <a:gridCol w="50800">
                  <a:extLst>
                    <a:ext uri="{9D8B030D-6E8A-4147-A177-3AD203B41FA5}">
                      <a16:colId xmlns:a16="http://schemas.microsoft.com/office/drawing/2014/main" val="3145207689"/>
                    </a:ext>
                  </a:extLst>
                </a:gridCol>
                <a:gridCol w="571500">
                  <a:extLst>
                    <a:ext uri="{9D8B030D-6E8A-4147-A177-3AD203B41FA5}">
                      <a16:colId xmlns:a16="http://schemas.microsoft.com/office/drawing/2014/main" val="3590274897"/>
                    </a:ext>
                  </a:extLst>
                </a:gridCol>
                <a:gridCol w="50800">
                  <a:extLst>
                    <a:ext uri="{9D8B030D-6E8A-4147-A177-3AD203B41FA5}">
                      <a16:colId xmlns:a16="http://schemas.microsoft.com/office/drawing/2014/main" val="1498569388"/>
                    </a:ext>
                  </a:extLst>
                </a:gridCol>
                <a:gridCol w="571500">
                  <a:extLst>
                    <a:ext uri="{9D8B030D-6E8A-4147-A177-3AD203B41FA5}">
                      <a16:colId xmlns:a16="http://schemas.microsoft.com/office/drawing/2014/main" val="2814157178"/>
                    </a:ext>
                  </a:extLst>
                </a:gridCol>
                <a:gridCol w="50800">
                  <a:extLst>
                    <a:ext uri="{9D8B030D-6E8A-4147-A177-3AD203B41FA5}">
                      <a16:colId xmlns:a16="http://schemas.microsoft.com/office/drawing/2014/main" val="1140556145"/>
                    </a:ext>
                  </a:extLst>
                </a:gridCol>
                <a:gridCol w="571500">
                  <a:extLst>
                    <a:ext uri="{9D8B030D-6E8A-4147-A177-3AD203B41FA5}">
                      <a16:colId xmlns:a16="http://schemas.microsoft.com/office/drawing/2014/main" val="4093469341"/>
                    </a:ext>
                  </a:extLst>
                </a:gridCol>
                <a:gridCol w="50800">
                  <a:extLst>
                    <a:ext uri="{9D8B030D-6E8A-4147-A177-3AD203B41FA5}">
                      <a16:colId xmlns:a16="http://schemas.microsoft.com/office/drawing/2014/main" val="3588878150"/>
                    </a:ext>
                  </a:extLst>
                </a:gridCol>
                <a:gridCol w="889000">
                  <a:extLst>
                    <a:ext uri="{9D8B030D-6E8A-4147-A177-3AD203B41FA5}">
                      <a16:colId xmlns:a16="http://schemas.microsoft.com/office/drawing/2014/main" val="3959661648"/>
                    </a:ext>
                  </a:extLst>
                </a:gridCol>
              </a:tblGrid>
              <a:tr h="215798">
                <a:tc>
                  <a:txBody>
                    <a:bodyPr/>
                    <a:lstStyle/>
                    <a:p>
                      <a:pPr algn="l" fontAlgn="ctr">
                        <a:buNone/>
                      </a:pPr>
                      <a:r>
                        <a:rPr lang="de-DE" sz="600" b="0" i="0" u="none" strike="noStrike">
                          <a:solidFill>
                            <a:srgbClr val="FFFFFF"/>
                          </a:solidFill>
                          <a:effectLst/>
                          <a:latin typeface="Noto Sans" panose="020B0502040504020204" pitchFamily="34" charset="0"/>
                        </a:rPr>
                        <a:t>WERTPAPIER</a:t>
                      </a:r>
                    </a:p>
                  </a:txBody>
                  <a:tcPr marL="68419"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2446365347"/>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0586914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17458500"/>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35351597"/>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5390563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76149913"/>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2817588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74507436"/>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1024455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60375537"/>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29558080"/>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5882850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36646208"/>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7051094"/>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32394857"/>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4224386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67764243"/>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9654567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04510231"/>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02594323"/>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91586740"/>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75643883"/>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2803261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30415636"/>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06043075"/>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79216578"/>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93183106"/>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53736439"/>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48046926"/>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8989926"/>
                  </a:ext>
                </a:extLst>
              </a:tr>
              <a:tr h="175564">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62403801"/>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39224208"/>
                  </a:ext>
                </a:extLst>
              </a:tr>
              <a:tr h="175564">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3266827307"/>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1038122687"/>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ESG Ausgewogen</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mind. 30 %, max. 70 %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70 %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ESG Ausgewogen</a:t>
            </a:r>
          </a:p>
        </p:txBody>
      </p:sp>
    </p:spTree>
    <p:extLst>
      <p:ext uri="{BB962C8B-B14F-4D97-AF65-F5344CB8AC3E}">
        <p14:creationId xmlns:p14="http://schemas.microsoft.com/office/powerpoint/2010/main" val="3515420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30.06. abzüglich halbjährigen Honorarsatz</a:t>
            </a:r>
          </a:p>
          <a:p>
            <a:r>
              <a:rPr lang="de-DE" dirty="0"/>
              <a:t>*** 25% </a:t>
            </a:r>
            <a:r>
              <a:rPr lang="de-DE" dirty="0" err="1"/>
              <a:t>iBoxx</a:t>
            </a:r>
            <a:r>
              <a:rPr lang="de-DE" dirty="0"/>
              <a:t> EUR Corp. OV. 3-5y TR; 25% </a:t>
            </a:r>
            <a:r>
              <a:rPr lang="de-DE" dirty="0" err="1"/>
              <a:t>iBoxx</a:t>
            </a:r>
            <a:r>
              <a:rPr lang="de-DE" dirty="0"/>
              <a:t> EUR Sovereigns Germ. 5-7y TR; 25% DAX; 25%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21</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0E0ECCF0-FFEB-4FBC-9EA3-C20479E5B539}"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254487927"/>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3003964116"/>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1164627097"/>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5682680"/>
                  </a:ext>
                </a:extLst>
              </a:tr>
              <a:tr h="288000">
                <a:tc>
                  <a:txBody>
                    <a:bodyPr/>
                    <a:lstStyle/>
                    <a:p>
                      <a:r>
                        <a:rPr lang="de-DE" sz="900" b="0" dirty="0"/>
                        <a:t>Wertentwicklung seit 2020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36,42%</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2020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5,79%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3,19%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4,70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699496"/>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ESG Ausgewogen | </a:t>
            </a:r>
            <a:r>
              <a:rPr lang="de-DE" b="0" dirty="0"/>
              <a:t>Wertentwicklung</a:t>
            </a:r>
          </a:p>
        </p:txBody>
      </p:sp>
    </p:spTree>
    <p:extLst>
      <p:ext uri="{BB962C8B-B14F-4D97-AF65-F5344CB8AC3E}">
        <p14:creationId xmlns:p14="http://schemas.microsoft.com/office/powerpoint/2010/main" val="1925586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22</a:t>
            </a:fld>
            <a:endParaRPr lang="de-DE"/>
          </a:p>
        </p:txBody>
      </p:sp>
      <p:graphicFrame>
        <p:nvGraphicFramePr>
          <p:cNvPr id="5" name="C_Kennzahlen">
            <a:extLst>
              <a:ext uri="{FF2B5EF4-FFF2-40B4-BE49-F238E27FC236}">
                <a16:creationId xmlns:a16="http://schemas.microsoft.com/office/drawing/2014/main" id="{00000000-0008-0000-1300-000005000000}"/>
              </a:ext>
            </a:extLst>
          </p:cNvPr>
          <p:cNvGraphicFramePr>
            <a:graphicFrameLocks noGrp="1" noDrilldown="1" noMove="1" noResize="1"/>
          </p:cNvGraphicFramePr>
          <p:nvPr>
            <p:extLst>
              <p:ext uri="{D42A27DB-BD31-4B8C-83A1-F6EECF244321}">
                <p14:modId xmlns:p14="http://schemas.microsoft.com/office/powerpoint/2010/main" val="4206248745"/>
              </p:ext>
            </p:extLst>
          </p:nvPr>
        </p:nvGraphicFramePr>
        <p:xfrm>
          <a:off x="355600" y="2667000"/>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9D376711-67F5-4779-C789-A9AA8F9B90CF}"/>
              </a:ext>
            </a:extLst>
          </p:cNvPr>
          <p:cNvGraphicFramePr>
            <a:graphicFrameLocks noGrp="1" noDrilldown="1" noMove="1" noResize="1"/>
          </p:cNvGraphicFramePr>
          <p:nvPr>
            <p:extLst>
              <p:ext uri="{D42A27DB-BD31-4B8C-83A1-F6EECF244321}">
                <p14:modId xmlns:p14="http://schemas.microsoft.com/office/powerpoint/2010/main" val="2840150007"/>
              </p:ext>
            </p:extLst>
          </p:nvPr>
        </p:nvGraphicFramePr>
        <p:xfrm>
          <a:off x="4508500" y="1040400"/>
          <a:ext cx="5613400" cy="5131590"/>
        </p:xfrm>
        <a:graphic>
          <a:graphicData uri="http://schemas.openxmlformats.org/drawingml/2006/table">
            <a:tbl>
              <a:tblPr/>
              <a:tblGrid>
                <a:gridCol w="2184400">
                  <a:extLst>
                    <a:ext uri="{9D8B030D-6E8A-4147-A177-3AD203B41FA5}">
                      <a16:colId xmlns:a16="http://schemas.microsoft.com/office/drawing/2014/main" val="3959457268"/>
                    </a:ext>
                  </a:extLst>
                </a:gridCol>
                <a:gridCol w="50800">
                  <a:extLst>
                    <a:ext uri="{9D8B030D-6E8A-4147-A177-3AD203B41FA5}">
                      <a16:colId xmlns:a16="http://schemas.microsoft.com/office/drawing/2014/main" val="4162440423"/>
                    </a:ext>
                  </a:extLst>
                </a:gridCol>
                <a:gridCol w="571500">
                  <a:extLst>
                    <a:ext uri="{9D8B030D-6E8A-4147-A177-3AD203B41FA5}">
                      <a16:colId xmlns:a16="http://schemas.microsoft.com/office/drawing/2014/main" val="1616716074"/>
                    </a:ext>
                  </a:extLst>
                </a:gridCol>
                <a:gridCol w="50800">
                  <a:extLst>
                    <a:ext uri="{9D8B030D-6E8A-4147-A177-3AD203B41FA5}">
                      <a16:colId xmlns:a16="http://schemas.microsoft.com/office/drawing/2014/main" val="4083657097"/>
                    </a:ext>
                  </a:extLst>
                </a:gridCol>
                <a:gridCol w="571500">
                  <a:extLst>
                    <a:ext uri="{9D8B030D-6E8A-4147-A177-3AD203B41FA5}">
                      <a16:colId xmlns:a16="http://schemas.microsoft.com/office/drawing/2014/main" val="1840590747"/>
                    </a:ext>
                  </a:extLst>
                </a:gridCol>
                <a:gridCol w="50800">
                  <a:extLst>
                    <a:ext uri="{9D8B030D-6E8A-4147-A177-3AD203B41FA5}">
                      <a16:colId xmlns:a16="http://schemas.microsoft.com/office/drawing/2014/main" val="3477893400"/>
                    </a:ext>
                  </a:extLst>
                </a:gridCol>
                <a:gridCol w="571500">
                  <a:extLst>
                    <a:ext uri="{9D8B030D-6E8A-4147-A177-3AD203B41FA5}">
                      <a16:colId xmlns:a16="http://schemas.microsoft.com/office/drawing/2014/main" val="627914520"/>
                    </a:ext>
                  </a:extLst>
                </a:gridCol>
                <a:gridCol w="50800">
                  <a:extLst>
                    <a:ext uri="{9D8B030D-6E8A-4147-A177-3AD203B41FA5}">
                      <a16:colId xmlns:a16="http://schemas.microsoft.com/office/drawing/2014/main" val="3818420082"/>
                    </a:ext>
                  </a:extLst>
                </a:gridCol>
                <a:gridCol w="571500">
                  <a:extLst>
                    <a:ext uri="{9D8B030D-6E8A-4147-A177-3AD203B41FA5}">
                      <a16:colId xmlns:a16="http://schemas.microsoft.com/office/drawing/2014/main" val="4202137315"/>
                    </a:ext>
                  </a:extLst>
                </a:gridCol>
                <a:gridCol w="50800">
                  <a:extLst>
                    <a:ext uri="{9D8B030D-6E8A-4147-A177-3AD203B41FA5}">
                      <a16:colId xmlns:a16="http://schemas.microsoft.com/office/drawing/2014/main" val="3372189643"/>
                    </a:ext>
                  </a:extLst>
                </a:gridCol>
                <a:gridCol w="889000">
                  <a:extLst>
                    <a:ext uri="{9D8B030D-6E8A-4147-A177-3AD203B41FA5}">
                      <a16:colId xmlns:a16="http://schemas.microsoft.com/office/drawing/2014/main" val="3535231856"/>
                    </a:ext>
                  </a:extLst>
                </a:gridCol>
              </a:tblGrid>
              <a:tr h="215798">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517011865"/>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43898582"/>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20447722"/>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5862932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15435248"/>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53293652"/>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3614825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96530520"/>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24248161"/>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10850456"/>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52995810"/>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4859498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4743418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44537679"/>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60121572"/>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52701441"/>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6073313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38923434"/>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9071335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0062986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00843795"/>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4563738"/>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76518559"/>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64984706"/>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3536387"/>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45236297"/>
                  </a:ext>
                </a:extLst>
              </a:tr>
              <a:tr h="175564">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48384712"/>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34735013"/>
                  </a:ext>
                </a:extLst>
              </a:tr>
              <a:tr h="175564">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6483029"/>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1382704870"/>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ESG Offensiv</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mind. 50 %, max. 100 %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50 %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ESG Offensiv</a:t>
            </a:r>
          </a:p>
        </p:txBody>
      </p:sp>
    </p:spTree>
    <p:extLst>
      <p:ext uri="{BB962C8B-B14F-4D97-AF65-F5344CB8AC3E}">
        <p14:creationId xmlns:p14="http://schemas.microsoft.com/office/powerpoint/2010/main" val="3394548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30.06. abzüglich halbjährigen Honorarsatz</a:t>
            </a:r>
          </a:p>
          <a:p>
            <a:r>
              <a:rPr lang="de-DE" dirty="0"/>
              <a:t>*** 12,5% </a:t>
            </a:r>
            <a:r>
              <a:rPr lang="de-DE" dirty="0" err="1"/>
              <a:t>iBoxx</a:t>
            </a:r>
            <a:r>
              <a:rPr lang="de-DE" dirty="0"/>
              <a:t> EUR Corp. OV. 3-5y TR; 12,5% </a:t>
            </a:r>
            <a:r>
              <a:rPr lang="de-DE" dirty="0" err="1"/>
              <a:t>iBoxx</a:t>
            </a:r>
            <a:r>
              <a:rPr lang="de-DE" dirty="0"/>
              <a:t> EUR Sovereigns Germ. 5-7y TR</a:t>
            </a:r>
            <a:r>
              <a:rPr lang="de-DE"/>
              <a:t>; 37,5% </a:t>
            </a:r>
            <a:r>
              <a:rPr lang="de-DE" dirty="0"/>
              <a:t>DAX</a:t>
            </a:r>
            <a:r>
              <a:rPr lang="de-DE"/>
              <a:t>; 37,5% </a:t>
            </a:r>
            <a:r>
              <a:rPr lang="de-DE" dirty="0"/>
              <a:t>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23</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AD1C9114-221C-4AF9-96A0-9783BF59B458}"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360413756"/>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2798217736"/>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3330575814"/>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0812378"/>
                  </a:ext>
                </a:extLst>
              </a:tr>
              <a:tr h="288000">
                <a:tc>
                  <a:txBody>
                    <a:bodyPr/>
                    <a:lstStyle/>
                    <a:p>
                      <a:r>
                        <a:rPr lang="de-DE" sz="900" b="0" dirty="0"/>
                        <a:t>Wertentwicklung seit 2020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60,85%</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2020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9,00%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10,36%</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7,37</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04175358"/>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ESG Offensiv | </a:t>
            </a:r>
            <a:r>
              <a:rPr lang="de-DE" b="0" dirty="0"/>
              <a:t>Wertentwicklung</a:t>
            </a:r>
          </a:p>
        </p:txBody>
      </p:sp>
    </p:spTree>
    <p:extLst>
      <p:ext uri="{BB962C8B-B14F-4D97-AF65-F5344CB8AC3E}">
        <p14:creationId xmlns:p14="http://schemas.microsoft.com/office/powerpoint/2010/main" val="348768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9ACE5E8-F0A0-7445-A2C2-947652F322AF}"/>
              </a:ext>
            </a:extLst>
          </p:cNvPr>
          <p:cNvSpPr>
            <a:spLocks noGrp="1"/>
          </p:cNvSpPr>
          <p:nvPr>
            <p:ph type="sldNum" sz="quarter" idx="12"/>
          </p:nvPr>
        </p:nvSpPr>
        <p:spPr/>
        <p:txBody>
          <a:bodyPr/>
          <a:lstStyle/>
          <a:p>
            <a:fld id="{3AE71D6B-ACB6-4F4C-A895-DCAEF1760EAA}" type="slidenum">
              <a:rPr lang="de-DE" smtClean="0"/>
              <a:t>24</a:t>
            </a:fld>
            <a:endParaRPr lang="de-DE"/>
          </a:p>
        </p:txBody>
      </p:sp>
      <p:sp>
        <p:nvSpPr>
          <p:cNvPr id="3" name="Titel 2">
            <a:extLst>
              <a:ext uri="{FF2B5EF4-FFF2-40B4-BE49-F238E27FC236}">
                <a16:creationId xmlns:a16="http://schemas.microsoft.com/office/drawing/2014/main" id="{0752DE96-C716-EFF4-222B-48CA3D59C53D}"/>
              </a:ext>
            </a:extLst>
          </p:cNvPr>
          <p:cNvSpPr>
            <a:spLocks noGrp="1"/>
          </p:cNvSpPr>
          <p:nvPr>
            <p:ph type="title"/>
          </p:nvPr>
        </p:nvSpPr>
        <p:spPr/>
        <p:txBody>
          <a:bodyPr/>
          <a:lstStyle/>
          <a:p>
            <a:r>
              <a:rPr lang="de-DE" dirty="0"/>
              <a:t>Wertentwicklung der ESG Vermögensverwaltungsstrategien</a:t>
            </a:r>
            <a:br>
              <a:rPr lang="de-DE" dirty="0"/>
            </a:br>
            <a:endParaRPr lang="de-DE" dirty="0">
              <a:highlight>
                <a:srgbClr val="FFFF00"/>
              </a:highlight>
            </a:endParaRPr>
          </a:p>
        </p:txBody>
      </p:sp>
      <p:graphicFrame>
        <p:nvGraphicFramePr>
          <p:cNvPr id="7" name="Tabelle">
            <a:extLst>
              <a:ext uri="{FF2B5EF4-FFF2-40B4-BE49-F238E27FC236}">
                <a16:creationId xmlns:a16="http://schemas.microsoft.com/office/drawing/2014/main" id="{A1209D49-69A8-C560-F0CA-3F7E87605B74}"/>
              </a:ext>
            </a:extLst>
          </p:cNvPr>
          <p:cNvGraphicFramePr>
            <a:graphicFrameLocks/>
          </p:cNvGraphicFramePr>
          <p:nvPr>
            <p:extLst>
              <p:ext uri="{D42A27DB-BD31-4B8C-83A1-F6EECF244321}">
                <p14:modId xmlns:p14="http://schemas.microsoft.com/office/powerpoint/2010/main" val="291537874"/>
              </p:ext>
            </p:extLst>
          </p:nvPr>
        </p:nvGraphicFramePr>
        <p:xfrm>
          <a:off x="1573904" y="1231522"/>
          <a:ext cx="7291591" cy="301680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50160">
                  <a:extLst>
                    <a:ext uri="{9D8B030D-6E8A-4147-A177-3AD203B41FA5}">
                      <a16:colId xmlns:a16="http://schemas.microsoft.com/office/drawing/2014/main" val="3648185841"/>
                    </a:ext>
                  </a:extLst>
                </a:gridCol>
                <a:gridCol w="50160">
                  <a:extLst>
                    <a:ext uri="{9D8B030D-6E8A-4147-A177-3AD203B41FA5}">
                      <a16:colId xmlns:a16="http://schemas.microsoft.com/office/drawing/2014/main" val="1880432366"/>
                    </a:ext>
                  </a:extLst>
                </a:gridCol>
                <a:gridCol w="1189108">
                  <a:extLst>
                    <a:ext uri="{9D8B030D-6E8A-4147-A177-3AD203B41FA5}">
                      <a16:colId xmlns:a16="http://schemas.microsoft.com/office/drawing/2014/main" val="1976685652"/>
                    </a:ext>
                  </a:extLst>
                </a:gridCol>
                <a:gridCol w="50160">
                  <a:extLst>
                    <a:ext uri="{9D8B030D-6E8A-4147-A177-3AD203B41FA5}">
                      <a16:colId xmlns:a16="http://schemas.microsoft.com/office/drawing/2014/main" val="462972238"/>
                    </a:ext>
                  </a:extLst>
                </a:gridCol>
                <a:gridCol w="1189108">
                  <a:extLst>
                    <a:ext uri="{9D8B030D-6E8A-4147-A177-3AD203B41FA5}">
                      <a16:colId xmlns:a16="http://schemas.microsoft.com/office/drawing/2014/main" val="4117174221"/>
                    </a:ext>
                  </a:extLst>
                </a:gridCol>
                <a:gridCol w="50160">
                  <a:extLst>
                    <a:ext uri="{9D8B030D-6E8A-4147-A177-3AD203B41FA5}">
                      <a16:colId xmlns:a16="http://schemas.microsoft.com/office/drawing/2014/main" val="1267060264"/>
                    </a:ext>
                  </a:extLst>
                </a:gridCol>
                <a:gridCol w="1189108">
                  <a:extLst>
                    <a:ext uri="{9D8B030D-6E8A-4147-A177-3AD203B41FA5}">
                      <a16:colId xmlns:a16="http://schemas.microsoft.com/office/drawing/2014/main" val="4038602688"/>
                    </a:ext>
                  </a:extLst>
                </a:gridCol>
                <a:gridCol w="50160">
                  <a:extLst>
                    <a:ext uri="{9D8B030D-6E8A-4147-A177-3AD203B41FA5}">
                      <a16:colId xmlns:a16="http://schemas.microsoft.com/office/drawing/2014/main" val="2374025351"/>
                    </a:ext>
                  </a:extLst>
                </a:gridCol>
                <a:gridCol w="1189108">
                  <a:extLst>
                    <a:ext uri="{9D8B030D-6E8A-4147-A177-3AD203B41FA5}">
                      <a16:colId xmlns:a16="http://schemas.microsoft.com/office/drawing/2014/main" val="916750025"/>
                    </a:ext>
                  </a:extLst>
                </a:gridCol>
              </a:tblGrid>
              <a:tr h="576000">
                <a:tc>
                  <a:txBody>
                    <a:bodyPr/>
                    <a:lstStyle/>
                    <a:p>
                      <a:pPr algn="ctr">
                        <a:lnSpc>
                          <a:spcPct val="100000"/>
                        </a:lnSpc>
                      </a:pPr>
                      <a:r>
                        <a:rPr lang="de-DE" sz="900" b="1" dirty="0">
                          <a:solidFill>
                            <a:schemeClr val="bg1"/>
                          </a:solidFill>
                        </a:rPr>
                        <a:t>Zeitraum</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ESG Defensiv</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ESG Defensiv Plus</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ESG Ausgewogen</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ESG Offensiv </a:t>
                      </a:r>
                    </a:p>
                  </a:txBody>
                  <a:tcPr marL="0" marR="0" marT="0" marB="0" anchor="ctr">
                    <a:lnL>
                      <a:noFill/>
                    </a:lnL>
                    <a:lnR>
                      <a:noFill/>
                    </a:lnR>
                    <a:lnB>
                      <a:noFill/>
                    </a:lnB>
                    <a:solidFill>
                      <a:schemeClr val="accent1"/>
                    </a:solidFill>
                  </a:tcPr>
                </a:tc>
                <a:extLst>
                  <a:ext uri="{0D108BD9-81ED-4DB2-BD59-A6C34878D82A}">
                    <a16:rowId xmlns:a16="http://schemas.microsoft.com/office/drawing/2014/main" val="2297518336"/>
                  </a:ext>
                </a:extLst>
              </a:tr>
              <a:tr h="50400">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468000">
                <a:tc>
                  <a:txBody>
                    <a:bodyPr/>
                    <a:lstStyle/>
                    <a:p>
                      <a:pPr>
                        <a:lnSpc>
                          <a:spcPct val="100000"/>
                        </a:lnSpc>
                      </a:pPr>
                      <a:r>
                        <a:rPr lang="de-DE" sz="900" b="1" dirty="0"/>
                        <a:t>YTD Performance</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30174765"/>
                  </a:ext>
                </a:extLst>
              </a:tr>
              <a:tr h="468000">
                <a:tc>
                  <a:txBody>
                    <a:bodyPr/>
                    <a:lstStyle/>
                    <a:p>
                      <a:pPr>
                        <a:lnSpc>
                          <a:spcPct val="100000"/>
                        </a:lnSpc>
                      </a:pPr>
                      <a:r>
                        <a:rPr lang="de-DE" sz="900" b="1" dirty="0"/>
                        <a:t>1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09901451"/>
                  </a:ext>
                </a:extLst>
              </a:tr>
              <a:tr h="468000">
                <a:tc>
                  <a:txBody>
                    <a:bodyPr/>
                    <a:lstStyle/>
                    <a:p>
                      <a:pPr>
                        <a:lnSpc>
                          <a:spcPct val="100000"/>
                        </a:lnSpc>
                      </a:pPr>
                      <a:r>
                        <a:rPr lang="de-DE" sz="900" b="1" dirty="0"/>
                        <a:t>3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224286276"/>
                  </a:ext>
                </a:extLst>
              </a:tr>
              <a:tr h="468000">
                <a:tc>
                  <a:txBody>
                    <a:bodyPr/>
                    <a:lstStyle/>
                    <a:p>
                      <a:pPr>
                        <a:lnSpc>
                          <a:spcPct val="100000"/>
                        </a:lnSpc>
                      </a:pPr>
                      <a:r>
                        <a:rPr lang="de-DE" sz="900" b="1" dirty="0"/>
                        <a:t>5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952099554"/>
                  </a:ext>
                </a:extLst>
              </a:tr>
              <a:tr h="468000">
                <a:tc>
                  <a:txBody>
                    <a:bodyPr/>
                    <a:lstStyle/>
                    <a:p>
                      <a:pPr>
                        <a:lnSpc>
                          <a:spcPct val="100000"/>
                        </a:lnSpc>
                      </a:pPr>
                      <a:r>
                        <a:rPr lang="de-DE" sz="900" b="1" dirty="0"/>
                        <a:t>10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47187741"/>
                  </a:ext>
                </a:extLst>
              </a:tr>
              <a:tr h="50400">
                <a:tc>
                  <a:txBody>
                    <a:bodyPr/>
                    <a:lstStyle/>
                    <a:p>
                      <a:pPr>
                        <a:lnSpc>
                          <a:spcPct val="100000"/>
                        </a:lnSpc>
                      </a:pPr>
                      <a:endParaRPr lang="de-DE" sz="100" b="1" dirty="0"/>
                    </a:p>
                  </a:txBody>
                  <a:tcPr marL="72000" marR="0" marT="0" marB="0" anchor="ctr">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307991516"/>
                  </a:ext>
                </a:extLst>
              </a:tr>
            </a:tbl>
          </a:graphicData>
        </a:graphic>
      </p:graphicFrame>
      <p:sp>
        <p:nvSpPr>
          <p:cNvPr id="6" name="Fußnote">
            <a:extLst>
              <a:ext uri="{FF2B5EF4-FFF2-40B4-BE49-F238E27FC236}">
                <a16:creationId xmlns:a16="http://schemas.microsoft.com/office/drawing/2014/main" id="{C50D843B-9D64-0952-67E3-8D68ED846F39}"/>
              </a:ext>
            </a:extLst>
          </p:cNvPr>
          <p:cNvSpPr txBox="1">
            <a:spLocks/>
          </p:cNvSpPr>
          <p:nvPr/>
        </p:nvSpPr>
        <p:spPr>
          <a:xfrm>
            <a:off x="1573904" y="4350785"/>
            <a:ext cx="5616575" cy="1286852"/>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sz="600" dirty="0">
                <a:solidFill>
                  <a:srgbClr val="000000"/>
                </a:solidFill>
              </a:rPr>
              <a:t>* Die aufgeführten Zahlen beziehen sich auf die Wertentwicklung in der Vergangenheit. Die Wertentwicklung in der Vergangenheit ist kein zuverlässiger Indikator für die künftige Entwicklung und sollte nicht der alleinige Entscheidungsfaktor bei der Auswahl einer Anlagestrategie sein.  Der unterjährige Performance-Ausweis erfolgt vor Kosten. Die weiteren Performance Angaben wurden nach Kosten berechnet. Sowohl das VV Honorar als auch fremde Spesen und evtl. Produktkosten wurden berücksichtigt.</a:t>
            </a:r>
          </a:p>
          <a:p>
            <a:endParaRPr lang="de-DE" sz="600" dirty="0">
              <a:solidFill>
                <a:srgbClr val="000000"/>
              </a:solidFill>
            </a:endParaRPr>
          </a:p>
        </p:txBody>
      </p:sp>
    </p:spTree>
    <p:extLst>
      <p:ext uri="{BB962C8B-B14F-4D97-AF65-F5344CB8AC3E}">
        <p14:creationId xmlns:p14="http://schemas.microsoft.com/office/powerpoint/2010/main" val="2568776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7E3AD4C-049A-3047-8C54-9FDEF19D9B92}"/>
              </a:ext>
            </a:extLst>
          </p:cNvPr>
          <p:cNvSpPr>
            <a:spLocks noGrp="1"/>
          </p:cNvSpPr>
          <p:nvPr>
            <p:ph type="body" sz="quarter" idx="10"/>
          </p:nvPr>
        </p:nvSpPr>
        <p:spPr/>
        <p:txBody>
          <a:bodyPr/>
          <a:lstStyle/>
          <a:p>
            <a:r>
              <a:rPr lang="de-DE" dirty="0"/>
              <a:t>DIE FÜRST FUGGER PRIVATBANK UND IHRE STANDORTE</a:t>
            </a:r>
          </a:p>
        </p:txBody>
      </p:sp>
      <p:sp>
        <p:nvSpPr>
          <p:cNvPr id="3" name="Textplatzhalter 2">
            <a:extLst>
              <a:ext uri="{FF2B5EF4-FFF2-40B4-BE49-F238E27FC236}">
                <a16:creationId xmlns:a16="http://schemas.microsoft.com/office/drawing/2014/main" id="{ECB80284-CCA2-BA4D-AC96-3F110BE2D51C}"/>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1887768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9AD7ED-4161-C343-9493-72A7CE1B7871}"/>
              </a:ext>
            </a:extLst>
          </p:cNvPr>
          <p:cNvSpPr>
            <a:spLocks noGrp="1"/>
          </p:cNvSpPr>
          <p:nvPr>
            <p:ph type="sldNum" sz="quarter" idx="12"/>
          </p:nvPr>
        </p:nvSpPr>
        <p:spPr/>
        <p:txBody>
          <a:bodyPr/>
          <a:lstStyle/>
          <a:p>
            <a:fld id="{3AE71D6B-ACB6-4F4C-A895-DCAEF1760EAA}" type="slidenum">
              <a:rPr lang="de-DE" smtClean="0"/>
              <a:t>26</a:t>
            </a:fld>
            <a:endParaRPr lang="de-DE"/>
          </a:p>
        </p:txBody>
      </p:sp>
      <p:sp>
        <p:nvSpPr>
          <p:cNvPr id="3" name="Titel 2">
            <a:extLst>
              <a:ext uri="{FF2B5EF4-FFF2-40B4-BE49-F238E27FC236}">
                <a16:creationId xmlns:a16="http://schemas.microsoft.com/office/drawing/2014/main" id="{951F26B2-1FA4-CF42-B3BD-96F87C99208D}"/>
              </a:ext>
            </a:extLst>
          </p:cNvPr>
          <p:cNvSpPr>
            <a:spLocks noGrp="1"/>
          </p:cNvSpPr>
          <p:nvPr>
            <p:ph type="title"/>
          </p:nvPr>
        </p:nvSpPr>
        <p:spPr/>
        <p:txBody>
          <a:bodyPr/>
          <a:lstStyle/>
          <a:p>
            <a:r>
              <a:rPr lang="de-DE" dirty="0"/>
              <a:t>Unsere Standorte</a:t>
            </a:r>
          </a:p>
        </p:txBody>
      </p:sp>
      <p:sp>
        <p:nvSpPr>
          <p:cNvPr id="4" name="Textfeld 3">
            <a:extLst>
              <a:ext uri="{FF2B5EF4-FFF2-40B4-BE49-F238E27FC236}">
                <a16:creationId xmlns:a16="http://schemas.microsoft.com/office/drawing/2014/main" id="{CC155EDF-421C-2440-9BC5-EDE77024BB03}"/>
              </a:ext>
            </a:extLst>
          </p:cNvPr>
          <p:cNvSpPr txBox="1"/>
          <p:nvPr/>
        </p:nvSpPr>
        <p:spPr>
          <a:xfrm>
            <a:off x="1724346" y="3706027"/>
            <a:ext cx="2130238" cy="1396536"/>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none" spc="40" baseline="0" dirty="0">
                <a:solidFill>
                  <a:schemeClr val="accent1"/>
                </a:solidFill>
                <a:latin typeface="Noto Sans"/>
                <a:cs typeface="Noto Sans"/>
              </a:rPr>
              <a:t>AUGSBURG</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Maximilianstraße 38</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86150 Augsburg</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0821 32 01 - 999</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0821 32 01 - 271</a:t>
            </a:r>
          </a:p>
        </p:txBody>
      </p:sp>
      <p:sp>
        <p:nvSpPr>
          <p:cNvPr id="6" name="Textfeld 5">
            <a:extLst>
              <a:ext uri="{FF2B5EF4-FFF2-40B4-BE49-F238E27FC236}">
                <a16:creationId xmlns:a16="http://schemas.microsoft.com/office/drawing/2014/main" id="{43EE6D5C-BB8F-8443-BA45-3E06266316B5}"/>
              </a:ext>
            </a:extLst>
          </p:cNvPr>
          <p:cNvSpPr txBox="1"/>
          <p:nvPr/>
        </p:nvSpPr>
        <p:spPr>
          <a:xfrm>
            <a:off x="4179174" y="3706027"/>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Köln</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Im Zollhafen 24</a:t>
            </a:r>
          </a:p>
          <a:p>
            <a:pPr marL="36000" indent="0" algn="ctr">
              <a:lnSpc>
                <a:spcPts val="1020"/>
              </a:lnSpc>
              <a:spcBef>
                <a:spcPts val="0"/>
              </a:spcBef>
              <a:spcAft>
                <a:spcPts val="800"/>
              </a:spcAft>
              <a:buFont typeface="Lucida Grande"/>
              <a:buNone/>
            </a:pPr>
            <a:r>
              <a:rPr lang="de-DE" sz="1200" b="0" i="0" cap="none" spc="0" baseline="0">
                <a:solidFill>
                  <a:schemeClr val="accent1"/>
                </a:solidFill>
                <a:latin typeface="Noto Serif"/>
                <a:cs typeface="Noto Serif"/>
              </a:rPr>
              <a:t>50678 </a:t>
            </a:r>
            <a:r>
              <a:rPr lang="de-DE" sz="1200" b="0" i="0" cap="none" spc="0" baseline="0" dirty="0">
                <a:solidFill>
                  <a:schemeClr val="accent1"/>
                </a:solidFill>
                <a:latin typeface="Noto Serif"/>
                <a:cs typeface="Noto Serif"/>
              </a:rPr>
              <a:t>Köln</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0221 20 65 44 - 20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0221 20 65 44 - 95</a:t>
            </a:r>
          </a:p>
        </p:txBody>
      </p:sp>
      <p:sp>
        <p:nvSpPr>
          <p:cNvPr id="7" name="Textfeld 6">
            <a:extLst>
              <a:ext uri="{FF2B5EF4-FFF2-40B4-BE49-F238E27FC236}">
                <a16:creationId xmlns:a16="http://schemas.microsoft.com/office/drawing/2014/main" id="{04FCE2F7-775C-784B-AED6-7282A7A2836B}"/>
              </a:ext>
            </a:extLst>
          </p:cNvPr>
          <p:cNvSpPr txBox="1"/>
          <p:nvPr/>
        </p:nvSpPr>
        <p:spPr>
          <a:xfrm>
            <a:off x="6605568" y="3706027"/>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Mannheim</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Friedrichsplatz 17</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68165 Mannheim</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0621 43 09 05 - 0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0621 43 09 05 - 90</a:t>
            </a:r>
          </a:p>
        </p:txBody>
      </p:sp>
      <p:grpSp>
        <p:nvGrpSpPr>
          <p:cNvPr id="11" name="Gruppieren 10">
            <a:extLst>
              <a:ext uri="{FF2B5EF4-FFF2-40B4-BE49-F238E27FC236}">
                <a16:creationId xmlns:a16="http://schemas.microsoft.com/office/drawing/2014/main" id="{3127580F-4FEA-75A6-F275-78B82D3C957E}"/>
              </a:ext>
            </a:extLst>
          </p:cNvPr>
          <p:cNvGrpSpPr/>
          <p:nvPr/>
        </p:nvGrpSpPr>
        <p:grpSpPr>
          <a:xfrm>
            <a:off x="1896896" y="1776659"/>
            <a:ext cx="6645608" cy="1656000"/>
            <a:chOff x="1896896" y="729000"/>
            <a:chExt cx="6645608" cy="1656000"/>
          </a:xfrm>
        </p:grpSpPr>
        <p:pic>
          <p:nvPicPr>
            <p:cNvPr id="8" name="Bild links">
              <a:extLst>
                <a:ext uri="{FF2B5EF4-FFF2-40B4-BE49-F238E27FC236}">
                  <a16:creationId xmlns:a16="http://schemas.microsoft.com/office/drawing/2014/main" id="{A97CC405-DA0D-B177-A616-313E07735FD4}"/>
                </a:ext>
              </a:extLst>
            </p:cNvPr>
            <p:cNvPicPr>
              <a:picLocks/>
            </p:cNvPicPr>
            <p:nvPr/>
          </p:nvPicPr>
          <p:blipFill>
            <a:blip r:embed="rId2">
              <a:extLst>
                <a:ext uri="{28A0092B-C50C-407E-A947-70E740481C1C}">
                  <a14:useLocalDpi xmlns:a14="http://schemas.microsoft.com/office/drawing/2010/main" val="0"/>
                </a:ext>
              </a:extLst>
            </a:blip>
            <a:srcRect l="16635" r="16635"/>
            <a:stretch>
              <a:fillRect/>
            </a:stretch>
          </p:blipFill>
          <p:spPr>
            <a:xfrm>
              <a:off x="1896896" y="729000"/>
              <a:ext cx="1656000" cy="1656000"/>
            </a:xfrm>
            <a:prstGeom prst="ellipse">
              <a:avLst/>
            </a:prstGeom>
          </p:spPr>
        </p:pic>
        <p:pic>
          <p:nvPicPr>
            <p:cNvPr id="9" name="Bild mitte">
              <a:extLst>
                <a:ext uri="{FF2B5EF4-FFF2-40B4-BE49-F238E27FC236}">
                  <a16:creationId xmlns:a16="http://schemas.microsoft.com/office/drawing/2014/main" id="{BE1E6CA1-75C7-FFA6-A477-C025B5B65204}"/>
                </a:ext>
              </a:extLst>
            </p:cNvPr>
            <p:cNvPicPr>
              <a:picLocks/>
            </p:cNvPicPr>
            <p:nvPr/>
          </p:nvPicPr>
          <p:blipFill>
            <a:blip r:embed="rId3">
              <a:extLst>
                <a:ext uri="{28A0092B-C50C-407E-A947-70E740481C1C}">
                  <a14:useLocalDpi xmlns:a14="http://schemas.microsoft.com/office/drawing/2010/main" val="0"/>
                </a:ext>
              </a:extLst>
            </a:blip>
            <a:srcRect l="16699" r="16699"/>
            <a:stretch>
              <a:fillRect/>
            </a:stretch>
          </p:blipFill>
          <p:spPr>
            <a:xfrm>
              <a:off x="4391700" y="729000"/>
              <a:ext cx="1656000" cy="1656000"/>
            </a:xfrm>
            <a:prstGeom prst="ellipse">
              <a:avLst/>
            </a:prstGeom>
          </p:spPr>
        </p:pic>
        <p:pic>
          <p:nvPicPr>
            <p:cNvPr id="10" name="Bild rechts">
              <a:extLst>
                <a:ext uri="{FF2B5EF4-FFF2-40B4-BE49-F238E27FC236}">
                  <a16:creationId xmlns:a16="http://schemas.microsoft.com/office/drawing/2014/main" id="{D79F7FC6-3E48-30E8-3025-E32FD52FF62A}"/>
                </a:ext>
              </a:extLst>
            </p:cNvPr>
            <p:cNvPicPr>
              <a:picLocks/>
            </p:cNvPicPr>
            <p:nvPr/>
          </p:nvPicPr>
          <p:blipFill>
            <a:blip r:embed="rId4">
              <a:extLst>
                <a:ext uri="{28A0092B-C50C-407E-A947-70E740481C1C}">
                  <a14:useLocalDpi xmlns:a14="http://schemas.microsoft.com/office/drawing/2010/main" val="0"/>
                </a:ext>
              </a:extLst>
            </a:blip>
            <a:srcRect l="14239" r="14239"/>
            <a:stretch>
              <a:fillRect/>
            </a:stretch>
          </p:blipFill>
          <p:spPr>
            <a:xfrm>
              <a:off x="6886504" y="729000"/>
              <a:ext cx="1656000" cy="1656000"/>
            </a:xfrm>
            <a:prstGeom prst="ellipse">
              <a:avLst/>
            </a:prstGeom>
          </p:spPr>
        </p:pic>
      </p:grpSp>
    </p:spTree>
    <p:extLst>
      <p:ext uri="{BB962C8B-B14F-4D97-AF65-F5344CB8AC3E}">
        <p14:creationId xmlns:p14="http://schemas.microsoft.com/office/powerpoint/2010/main" val="533674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9AD7ED-4161-C343-9493-72A7CE1B7871}"/>
              </a:ext>
            </a:extLst>
          </p:cNvPr>
          <p:cNvSpPr>
            <a:spLocks noGrp="1"/>
          </p:cNvSpPr>
          <p:nvPr>
            <p:ph type="sldNum" sz="quarter" idx="12"/>
          </p:nvPr>
        </p:nvSpPr>
        <p:spPr/>
        <p:txBody>
          <a:bodyPr/>
          <a:lstStyle/>
          <a:p>
            <a:fld id="{3AE71D6B-ACB6-4F4C-A895-DCAEF1760EAA}" type="slidenum">
              <a:rPr lang="de-DE" smtClean="0"/>
              <a:t>27</a:t>
            </a:fld>
            <a:endParaRPr lang="de-DE"/>
          </a:p>
        </p:txBody>
      </p:sp>
      <p:sp>
        <p:nvSpPr>
          <p:cNvPr id="3" name="Titel 2">
            <a:extLst>
              <a:ext uri="{FF2B5EF4-FFF2-40B4-BE49-F238E27FC236}">
                <a16:creationId xmlns:a16="http://schemas.microsoft.com/office/drawing/2014/main" id="{951F26B2-1FA4-CF42-B3BD-96F87C99208D}"/>
              </a:ext>
            </a:extLst>
          </p:cNvPr>
          <p:cNvSpPr>
            <a:spLocks noGrp="1"/>
          </p:cNvSpPr>
          <p:nvPr>
            <p:ph type="title"/>
          </p:nvPr>
        </p:nvSpPr>
        <p:spPr/>
        <p:txBody>
          <a:bodyPr/>
          <a:lstStyle/>
          <a:p>
            <a:r>
              <a:rPr lang="de-DE" dirty="0"/>
              <a:t>Unsere Standorte</a:t>
            </a:r>
          </a:p>
        </p:txBody>
      </p:sp>
      <p:sp>
        <p:nvSpPr>
          <p:cNvPr id="12" name="Textfeld 11">
            <a:extLst>
              <a:ext uri="{FF2B5EF4-FFF2-40B4-BE49-F238E27FC236}">
                <a16:creationId xmlns:a16="http://schemas.microsoft.com/office/drawing/2014/main" id="{806F5079-8C17-A748-B4E6-0257C97714B8}"/>
              </a:ext>
            </a:extLst>
          </p:cNvPr>
          <p:cNvSpPr txBox="1"/>
          <p:nvPr/>
        </p:nvSpPr>
        <p:spPr>
          <a:xfrm>
            <a:off x="1600356" y="3696551"/>
            <a:ext cx="237821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München</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err="1">
                <a:solidFill>
                  <a:schemeClr val="accent1"/>
                </a:solidFill>
                <a:latin typeface="Noto Serif"/>
                <a:cs typeface="Noto Serif"/>
              </a:rPr>
              <a:t>Prannerstraße</a:t>
            </a:r>
            <a:r>
              <a:rPr lang="de-DE" sz="1200" b="0" i="0" cap="none" spc="0" baseline="0" dirty="0">
                <a:solidFill>
                  <a:schemeClr val="accent1"/>
                </a:solidFill>
                <a:latin typeface="Noto Serif"/>
                <a:cs typeface="Noto Serif"/>
              </a:rPr>
              <a:t> 8</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80333 München</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08929 07 29 - 0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08929 07 29 - 70</a:t>
            </a:r>
          </a:p>
        </p:txBody>
      </p:sp>
      <p:sp>
        <p:nvSpPr>
          <p:cNvPr id="13" name="Textfeld 12">
            <a:extLst>
              <a:ext uri="{FF2B5EF4-FFF2-40B4-BE49-F238E27FC236}">
                <a16:creationId xmlns:a16="http://schemas.microsoft.com/office/drawing/2014/main" id="{CB07010B-B23F-C14D-9B1A-1AB83DCA5AB4}"/>
              </a:ext>
            </a:extLst>
          </p:cNvPr>
          <p:cNvSpPr txBox="1"/>
          <p:nvPr/>
        </p:nvSpPr>
        <p:spPr>
          <a:xfrm>
            <a:off x="4179174" y="3696551"/>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Nürnberg</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Rathenauplatz 2</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90489 Nürnberg</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0911 521 25 - 0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0911 521 25 - 550</a:t>
            </a:r>
          </a:p>
        </p:txBody>
      </p:sp>
      <p:sp>
        <p:nvSpPr>
          <p:cNvPr id="14" name="Textfeld 13">
            <a:extLst>
              <a:ext uri="{FF2B5EF4-FFF2-40B4-BE49-F238E27FC236}">
                <a16:creationId xmlns:a16="http://schemas.microsoft.com/office/drawing/2014/main" id="{092A29A7-2788-7749-9732-41F51BAE98E9}"/>
              </a:ext>
            </a:extLst>
          </p:cNvPr>
          <p:cNvSpPr txBox="1"/>
          <p:nvPr/>
        </p:nvSpPr>
        <p:spPr>
          <a:xfrm>
            <a:off x="6605568" y="3696551"/>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Stuttgart</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Theodor-Heuss-Str. 9</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70174 Stuttgart</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0711 87 03 59 - 0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0711 87 03 59 - 15</a:t>
            </a:r>
          </a:p>
        </p:txBody>
      </p:sp>
      <p:grpSp>
        <p:nvGrpSpPr>
          <p:cNvPr id="7" name="Gruppieren 6">
            <a:extLst>
              <a:ext uri="{FF2B5EF4-FFF2-40B4-BE49-F238E27FC236}">
                <a16:creationId xmlns:a16="http://schemas.microsoft.com/office/drawing/2014/main" id="{73AB481D-BF23-D788-6291-3B27DF4F1D3C}"/>
              </a:ext>
            </a:extLst>
          </p:cNvPr>
          <p:cNvGrpSpPr/>
          <p:nvPr/>
        </p:nvGrpSpPr>
        <p:grpSpPr>
          <a:xfrm>
            <a:off x="1961465" y="1776659"/>
            <a:ext cx="6516470" cy="1656000"/>
            <a:chOff x="1961465" y="1776659"/>
            <a:chExt cx="6516470" cy="1656000"/>
          </a:xfrm>
        </p:grpSpPr>
        <p:pic>
          <p:nvPicPr>
            <p:cNvPr id="4" name="Bild rechts">
              <a:extLst>
                <a:ext uri="{FF2B5EF4-FFF2-40B4-BE49-F238E27FC236}">
                  <a16:creationId xmlns:a16="http://schemas.microsoft.com/office/drawing/2014/main" id="{6E59FB3E-4B16-C8CD-B99A-9E786031EC93}"/>
                </a:ext>
              </a:extLst>
            </p:cNvPr>
            <p:cNvPicPr>
              <a:picLocks/>
            </p:cNvPicPr>
            <p:nvPr/>
          </p:nvPicPr>
          <p:blipFill>
            <a:blip r:embed="rId2">
              <a:extLst>
                <a:ext uri="{28A0092B-C50C-407E-A947-70E740481C1C}">
                  <a14:useLocalDpi xmlns:a14="http://schemas.microsoft.com/office/drawing/2010/main" val="0"/>
                </a:ext>
              </a:extLst>
            </a:blip>
            <a:srcRect l="16699" r="16699"/>
            <a:stretch>
              <a:fillRect/>
            </a:stretch>
          </p:blipFill>
          <p:spPr>
            <a:xfrm>
              <a:off x="6821935" y="1776659"/>
              <a:ext cx="1656000" cy="1656000"/>
            </a:xfrm>
            <a:prstGeom prst="ellipse">
              <a:avLst/>
            </a:prstGeom>
          </p:spPr>
        </p:pic>
        <p:pic>
          <p:nvPicPr>
            <p:cNvPr id="5" name="Bild mitte">
              <a:extLst>
                <a:ext uri="{FF2B5EF4-FFF2-40B4-BE49-F238E27FC236}">
                  <a16:creationId xmlns:a16="http://schemas.microsoft.com/office/drawing/2014/main" id="{BC19898C-9F2E-47EA-050B-8EB1B2738256}"/>
                </a:ext>
              </a:extLst>
            </p:cNvPr>
            <p:cNvPicPr>
              <a:picLocks/>
            </p:cNvPicPr>
            <p:nvPr/>
          </p:nvPicPr>
          <p:blipFill>
            <a:blip r:embed="rId3">
              <a:extLst>
                <a:ext uri="{28A0092B-C50C-407E-A947-70E740481C1C}">
                  <a14:useLocalDpi xmlns:a14="http://schemas.microsoft.com/office/drawing/2010/main" val="0"/>
                </a:ext>
              </a:extLst>
            </a:blip>
            <a:srcRect l="16661" r="16661"/>
            <a:stretch>
              <a:fillRect/>
            </a:stretch>
          </p:blipFill>
          <p:spPr>
            <a:xfrm>
              <a:off x="4391700" y="1776659"/>
              <a:ext cx="1656000" cy="1656000"/>
            </a:xfrm>
            <a:prstGeom prst="ellipse">
              <a:avLst/>
            </a:prstGeom>
          </p:spPr>
        </p:pic>
        <p:pic>
          <p:nvPicPr>
            <p:cNvPr id="6" name="Bild links">
              <a:extLst>
                <a:ext uri="{FF2B5EF4-FFF2-40B4-BE49-F238E27FC236}">
                  <a16:creationId xmlns:a16="http://schemas.microsoft.com/office/drawing/2014/main" id="{351E43C7-E083-3DE2-FD6F-FD8EA42C470F}"/>
                </a:ext>
              </a:extLst>
            </p:cNvPr>
            <p:cNvPicPr>
              <a:picLocks/>
            </p:cNvPicPr>
            <p:nvPr/>
          </p:nvPicPr>
          <p:blipFill>
            <a:blip r:embed="rId4">
              <a:extLst>
                <a:ext uri="{28A0092B-C50C-407E-A947-70E740481C1C}">
                  <a14:useLocalDpi xmlns:a14="http://schemas.microsoft.com/office/drawing/2010/main" val="0"/>
                </a:ext>
              </a:extLst>
            </a:blip>
            <a:srcRect l="16629" r="16629"/>
            <a:stretch>
              <a:fillRect/>
            </a:stretch>
          </p:blipFill>
          <p:spPr>
            <a:xfrm>
              <a:off x="1961465" y="1776659"/>
              <a:ext cx="1656000" cy="1656000"/>
            </a:xfrm>
            <a:prstGeom prst="ellipse">
              <a:avLst/>
            </a:prstGeom>
          </p:spPr>
        </p:pic>
      </p:grpSp>
    </p:spTree>
    <p:extLst>
      <p:ext uri="{BB962C8B-B14F-4D97-AF65-F5344CB8AC3E}">
        <p14:creationId xmlns:p14="http://schemas.microsoft.com/office/powerpoint/2010/main" val="2848137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CD8A6D2-5907-5645-B842-365A15B542E5}"/>
              </a:ext>
            </a:extLst>
          </p:cNvPr>
          <p:cNvSpPr>
            <a:spLocks noGrp="1"/>
          </p:cNvSpPr>
          <p:nvPr>
            <p:ph type="body" sz="quarter" idx="10"/>
          </p:nvPr>
        </p:nvSpPr>
        <p:spPr/>
        <p:txBody>
          <a:bodyPr/>
          <a:lstStyle/>
          <a:p>
            <a:r>
              <a:rPr lang="de-DE" dirty="0"/>
              <a:t>ANLAGE</a:t>
            </a:r>
          </a:p>
        </p:txBody>
      </p:sp>
      <p:sp>
        <p:nvSpPr>
          <p:cNvPr id="3" name="Textplatzhalter 2">
            <a:extLst>
              <a:ext uri="{FF2B5EF4-FFF2-40B4-BE49-F238E27FC236}">
                <a16:creationId xmlns:a16="http://schemas.microsoft.com/office/drawing/2014/main" id="{76E093EA-4A69-8545-951A-A23B1BFC1A3A}"/>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3247112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4D79B4F-FB47-5E42-8701-6714307B9EAC}"/>
              </a:ext>
            </a:extLst>
          </p:cNvPr>
          <p:cNvSpPr>
            <a:spLocks noGrp="1"/>
          </p:cNvSpPr>
          <p:nvPr>
            <p:ph type="sldNum" sz="quarter" idx="12"/>
          </p:nvPr>
        </p:nvSpPr>
        <p:spPr/>
        <p:txBody>
          <a:bodyPr/>
          <a:lstStyle/>
          <a:p>
            <a:fld id="{3AE71D6B-ACB6-4F4C-A895-DCAEF1760EAA}" type="slidenum">
              <a:rPr lang="de-DE" smtClean="0"/>
              <a:t>29</a:t>
            </a:fld>
            <a:endParaRPr lang="de-DE"/>
          </a:p>
        </p:txBody>
      </p:sp>
      <p:sp>
        <p:nvSpPr>
          <p:cNvPr id="4" name="Textplatzhalter 3">
            <a:extLst>
              <a:ext uri="{FF2B5EF4-FFF2-40B4-BE49-F238E27FC236}">
                <a16:creationId xmlns:a16="http://schemas.microsoft.com/office/drawing/2014/main" id="{F3F0F8FF-5F98-414C-AA4C-EE5E7C8A69CD}"/>
              </a:ext>
            </a:extLst>
          </p:cNvPr>
          <p:cNvSpPr>
            <a:spLocks noGrp="1"/>
          </p:cNvSpPr>
          <p:nvPr>
            <p:ph type="body" sz="quarter" idx="13"/>
          </p:nvPr>
        </p:nvSpPr>
        <p:spPr/>
        <p:txBody>
          <a:bodyPr/>
          <a:lstStyle/>
          <a:p>
            <a:pPr marL="0" indent="0">
              <a:buNone/>
            </a:pPr>
            <a:r>
              <a:rPr lang="de-DE" sz="1100" b="0" dirty="0">
                <a:solidFill>
                  <a:schemeClr val="accent1"/>
                </a:solidFill>
                <a:latin typeface="+mj-lt"/>
              </a:rPr>
              <a:t>Die Kombination verschiedener Anlageklassen – je nach individueller Risikobereitschaft – ermöglicht eine valide Portfoliodiversifikation, mit dem Ziel, auftretenden Marktvolatilitäten entgegenzuwirken. Dies kann durch unterschiedliche Finanzinstrumente erfolgen.  </a:t>
            </a:r>
          </a:p>
        </p:txBody>
      </p:sp>
      <p:sp>
        <p:nvSpPr>
          <p:cNvPr id="5" name="Titel 4">
            <a:extLst>
              <a:ext uri="{FF2B5EF4-FFF2-40B4-BE49-F238E27FC236}">
                <a16:creationId xmlns:a16="http://schemas.microsoft.com/office/drawing/2014/main" id="{537A3C45-7FF2-434E-8D23-48D2A77104A8}"/>
              </a:ext>
            </a:extLst>
          </p:cNvPr>
          <p:cNvSpPr>
            <a:spLocks noGrp="1"/>
          </p:cNvSpPr>
          <p:nvPr>
            <p:ph type="title"/>
          </p:nvPr>
        </p:nvSpPr>
        <p:spPr/>
        <p:txBody>
          <a:bodyPr/>
          <a:lstStyle/>
          <a:p>
            <a:r>
              <a:rPr lang="de-DE" dirty="0"/>
              <a:t>Anlageklassen und Ausgestaltung</a:t>
            </a:r>
          </a:p>
        </p:txBody>
      </p:sp>
      <p:graphicFrame>
        <p:nvGraphicFramePr>
          <p:cNvPr id="8" name="Tabelle 6">
            <a:extLst>
              <a:ext uri="{FF2B5EF4-FFF2-40B4-BE49-F238E27FC236}">
                <a16:creationId xmlns:a16="http://schemas.microsoft.com/office/drawing/2014/main" id="{E76E2850-91AE-F549-801B-B0DFAD1D6372}"/>
              </a:ext>
            </a:extLst>
          </p:cNvPr>
          <p:cNvGraphicFramePr>
            <a:graphicFrameLocks/>
          </p:cNvGraphicFramePr>
          <p:nvPr>
            <p:extLst>
              <p:ext uri="{D42A27DB-BD31-4B8C-83A1-F6EECF244321}">
                <p14:modId xmlns:p14="http://schemas.microsoft.com/office/powerpoint/2010/main" val="1136580470"/>
              </p:ext>
            </p:extLst>
          </p:nvPr>
        </p:nvGraphicFramePr>
        <p:xfrm>
          <a:off x="3671888" y="1041400"/>
          <a:ext cx="6468103" cy="3656012"/>
        </p:xfrm>
        <a:graphic>
          <a:graphicData uri="http://schemas.openxmlformats.org/drawingml/2006/table">
            <a:tbl>
              <a:tblPr firstRow="1" bandRow="1">
                <a:tableStyleId>{5C22544A-7EE6-4342-B048-85BDC9FD1C3A}</a:tableStyleId>
              </a:tblPr>
              <a:tblGrid>
                <a:gridCol w="2771511">
                  <a:extLst>
                    <a:ext uri="{9D8B030D-6E8A-4147-A177-3AD203B41FA5}">
                      <a16:colId xmlns:a16="http://schemas.microsoft.com/office/drawing/2014/main" val="936113419"/>
                    </a:ext>
                  </a:extLst>
                </a:gridCol>
                <a:gridCol w="3696592">
                  <a:extLst>
                    <a:ext uri="{9D8B030D-6E8A-4147-A177-3AD203B41FA5}">
                      <a16:colId xmlns:a16="http://schemas.microsoft.com/office/drawing/2014/main" val="798533310"/>
                    </a:ext>
                  </a:extLst>
                </a:gridCol>
              </a:tblGrid>
              <a:tr h="369756">
                <a:tc>
                  <a:txBody>
                    <a:bodyPr/>
                    <a:lstStyle/>
                    <a:p>
                      <a:pPr algn="l"/>
                      <a:r>
                        <a:rPr lang="de-DE" sz="1100" dirty="0">
                          <a:latin typeface="+mn-lt"/>
                        </a:rPr>
                        <a:t>Anlageklasse </a:t>
                      </a:r>
                    </a:p>
                  </a:txBody>
                  <a:tcPr marL="98466" marR="98466" marT="49233" marB="49233"/>
                </a:tc>
                <a:tc>
                  <a:txBody>
                    <a:bodyPr/>
                    <a:lstStyle/>
                    <a:p>
                      <a:pPr algn="l"/>
                      <a:r>
                        <a:rPr lang="de-DE" sz="1100" dirty="0">
                          <a:latin typeface="+mn-lt"/>
                        </a:rPr>
                        <a:t>Anlagelösung</a:t>
                      </a:r>
                    </a:p>
                  </a:txBody>
                  <a:tcPr marL="98466" marR="98466" marT="49233" marB="49233"/>
                </a:tc>
                <a:extLst>
                  <a:ext uri="{0D108BD9-81ED-4DB2-BD59-A6C34878D82A}">
                    <a16:rowId xmlns:a16="http://schemas.microsoft.com/office/drawing/2014/main" val="335809345"/>
                  </a:ext>
                </a:extLst>
              </a:tr>
              <a:tr h="403186">
                <a:tc>
                  <a:txBody>
                    <a:bodyPr/>
                    <a:lstStyle/>
                    <a:p>
                      <a:pPr algn="l"/>
                      <a:r>
                        <a:rPr lang="de-DE" sz="1100" dirty="0">
                          <a:solidFill>
                            <a:schemeClr val="accent1"/>
                          </a:solidFill>
                          <a:latin typeface="+mn-lt"/>
                        </a:rPr>
                        <a:t>Liquidität</a:t>
                      </a:r>
                    </a:p>
                  </a:txBody>
                  <a:tcPr marL="98466" marR="98466" marT="49233" marB="49233">
                    <a:noFill/>
                  </a:tcPr>
                </a:tc>
                <a:tc>
                  <a:txBody>
                    <a:bodyPr/>
                    <a:lstStyle/>
                    <a:p>
                      <a:pPr marL="171450" indent="-171450" algn="l">
                        <a:buFont typeface="Arial" panose="020B0604020202020204" pitchFamily="34" charset="0"/>
                        <a:buChar char="•"/>
                      </a:pPr>
                      <a:r>
                        <a:rPr lang="de-DE" sz="1100" dirty="0" err="1">
                          <a:solidFill>
                            <a:schemeClr val="accent1"/>
                          </a:solidFill>
                          <a:latin typeface="+mn-lt"/>
                        </a:rPr>
                        <a:t>Cashbestand</a:t>
                      </a:r>
                      <a:r>
                        <a:rPr lang="de-DE" sz="1100" dirty="0">
                          <a:solidFill>
                            <a:schemeClr val="accent1"/>
                          </a:solidFill>
                          <a:latin typeface="+mn-lt"/>
                        </a:rPr>
                        <a:t>/Kontoguthaben</a:t>
                      </a:r>
                    </a:p>
                  </a:txBody>
                  <a:tcPr marL="98466" marR="98466" marT="49233" marB="49233">
                    <a:noFill/>
                  </a:tcPr>
                </a:tc>
                <a:extLst>
                  <a:ext uri="{0D108BD9-81ED-4DB2-BD59-A6C34878D82A}">
                    <a16:rowId xmlns:a16="http://schemas.microsoft.com/office/drawing/2014/main" val="1873629640"/>
                  </a:ext>
                </a:extLst>
              </a:tr>
              <a:tr h="1100874">
                <a:tc>
                  <a:txBody>
                    <a:bodyPr/>
                    <a:lstStyle/>
                    <a:p>
                      <a:pPr algn="l"/>
                      <a:r>
                        <a:rPr lang="de-DE" sz="1100" dirty="0">
                          <a:solidFill>
                            <a:schemeClr val="accent1"/>
                          </a:solidFill>
                          <a:latin typeface="+mn-lt"/>
                        </a:rPr>
                        <a:t>Anleihen</a:t>
                      </a:r>
                    </a:p>
                  </a:txBody>
                  <a:tcPr marL="98466" marR="98466" marT="49233" marB="49233">
                    <a:solidFill>
                      <a:schemeClr val="bg1">
                        <a:lumMod val="95000"/>
                      </a:schemeClr>
                    </a:solidFill>
                  </a:tcPr>
                </a:tc>
                <a:tc>
                  <a:txBody>
                    <a:bodyPr/>
                    <a:lstStyle/>
                    <a:p>
                      <a:pPr marL="171450" indent="-171450" algn="l">
                        <a:buFont typeface="Arial" panose="020B0604020202020204" pitchFamily="34" charset="0"/>
                        <a:buChar char="•"/>
                      </a:pPr>
                      <a:r>
                        <a:rPr lang="de-DE" sz="1100" dirty="0">
                          <a:solidFill>
                            <a:schemeClr val="accent1"/>
                          </a:solidFill>
                          <a:latin typeface="+mn-lt"/>
                        </a:rPr>
                        <a:t>Staatsanleihen</a:t>
                      </a:r>
                    </a:p>
                    <a:p>
                      <a:pPr marL="171450" indent="-171450" algn="l">
                        <a:buFont typeface="Arial" panose="020B0604020202020204" pitchFamily="34" charset="0"/>
                        <a:buChar char="•"/>
                      </a:pPr>
                      <a:r>
                        <a:rPr lang="de-DE" sz="1100" dirty="0">
                          <a:solidFill>
                            <a:schemeClr val="accent1"/>
                          </a:solidFill>
                          <a:latin typeface="+mn-lt"/>
                        </a:rPr>
                        <a:t>Pfandbriefe</a:t>
                      </a:r>
                    </a:p>
                    <a:p>
                      <a:pPr marL="171450" indent="-171450" algn="l">
                        <a:buFont typeface="Arial" panose="020B0604020202020204" pitchFamily="34" charset="0"/>
                        <a:buChar char="•"/>
                      </a:pPr>
                      <a:r>
                        <a:rPr lang="de-DE" sz="1100" dirty="0">
                          <a:solidFill>
                            <a:schemeClr val="accent1"/>
                          </a:solidFill>
                          <a:latin typeface="+mn-lt"/>
                        </a:rPr>
                        <a:t>Unternehmens-/Bankanleihen</a:t>
                      </a:r>
                    </a:p>
                    <a:p>
                      <a:pPr marL="171450" indent="-171450" algn="l">
                        <a:buFont typeface="Arial" panose="020B0604020202020204" pitchFamily="34" charset="0"/>
                        <a:buChar char="•"/>
                      </a:pPr>
                      <a:r>
                        <a:rPr lang="de-DE" sz="1100" dirty="0">
                          <a:solidFill>
                            <a:schemeClr val="accent1"/>
                          </a:solidFill>
                          <a:latin typeface="+mn-lt"/>
                        </a:rPr>
                        <a:t>Strukturierte Anleihen</a:t>
                      </a:r>
                    </a:p>
                    <a:p>
                      <a:pPr marL="171450" indent="-171450" algn="l">
                        <a:buFont typeface="Arial" panose="020B0604020202020204" pitchFamily="34" charset="0"/>
                        <a:buChar char="•"/>
                      </a:pPr>
                      <a:r>
                        <a:rPr lang="de-DE" sz="1100" dirty="0">
                          <a:solidFill>
                            <a:schemeClr val="accent1"/>
                          </a:solidFill>
                          <a:latin typeface="+mn-lt"/>
                        </a:rPr>
                        <a:t>Investmentfonds (Sonderthemen)</a:t>
                      </a:r>
                    </a:p>
                  </a:txBody>
                  <a:tcPr marL="98466" marR="98466" marT="49233" marB="49233">
                    <a:solidFill>
                      <a:schemeClr val="bg1">
                        <a:lumMod val="95000"/>
                      </a:schemeClr>
                    </a:solidFill>
                  </a:tcPr>
                </a:tc>
                <a:extLst>
                  <a:ext uri="{0D108BD9-81ED-4DB2-BD59-A6C34878D82A}">
                    <a16:rowId xmlns:a16="http://schemas.microsoft.com/office/drawing/2014/main" val="528536032"/>
                  </a:ext>
                </a:extLst>
              </a:tr>
              <a:tr h="874122">
                <a:tc>
                  <a:txBody>
                    <a:bodyPr/>
                    <a:lstStyle/>
                    <a:p>
                      <a:pPr algn="l"/>
                      <a:r>
                        <a:rPr lang="de-DE" sz="1100" dirty="0">
                          <a:solidFill>
                            <a:schemeClr val="accent1"/>
                          </a:solidFill>
                          <a:latin typeface="+mn-lt"/>
                        </a:rPr>
                        <a:t>Aktien</a:t>
                      </a:r>
                    </a:p>
                  </a:txBody>
                  <a:tcPr marL="98466" marR="98466" marT="49233" marB="49233">
                    <a:noFill/>
                  </a:tcPr>
                </a:tc>
                <a:tc>
                  <a:txBody>
                    <a:bodyPr/>
                    <a:lstStyle/>
                    <a:p>
                      <a:pPr marL="171450" indent="-171450" algn="l">
                        <a:buFont typeface="Arial" panose="020B0604020202020204" pitchFamily="34" charset="0"/>
                        <a:buChar char="•"/>
                      </a:pPr>
                      <a:r>
                        <a:rPr lang="de-DE" sz="1100" dirty="0">
                          <a:solidFill>
                            <a:schemeClr val="accent1"/>
                          </a:solidFill>
                          <a:latin typeface="+mn-lt"/>
                        </a:rPr>
                        <a:t>Einzeltitel</a:t>
                      </a:r>
                    </a:p>
                    <a:p>
                      <a:pPr marL="171450" indent="-171450" algn="l">
                        <a:buFont typeface="Arial" panose="020B0604020202020204" pitchFamily="34" charset="0"/>
                        <a:buChar char="•"/>
                      </a:pPr>
                      <a:r>
                        <a:rPr lang="de-DE" sz="1100" dirty="0">
                          <a:solidFill>
                            <a:schemeClr val="accent1"/>
                          </a:solidFill>
                          <a:latin typeface="+mn-lt"/>
                        </a:rPr>
                        <a:t>ETFs</a:t>
                      </a:r>
                    </a:p>
                    <a:p>
                      <a:pPr marL="171450" indent="-171450" algn="l">
                        <a:buFont typeface="Arial" panose="020B0604020202020204" pitchFamily="34" charset="0"/>
                        <a:buChar char="•"/>
                      </a:pPr>
                      <a:r>
                        <a:rPr lang="de-DE" sz="1100" dirty="0">
                          <a:solidFill>
                            <a:schemeClr val="accent1"/>
                          </a:solidFill>
                          <a:latin typeface="+mn-lt"/>
                        </a:rPr>
                        <a:t>Investmentfonds (Sonderthemen) </a:t>
                      </a:r>
                    </a:p>
                    <a:p>
                      <a:pPr marL="171450" indent="-171450" algn="l">
                        <a:buFont typeface="Arial" panose="020B0604020202020204" pitchFamily="34" charset="0"/>
                        <a:buChar char="•"/>
                      </a:pPr>
                      <a:r>
                        <a:rPr lang="de-DE" sz="1100" dirty="0">
                          <a:solidFill>
                            <a:schemeClr val="accent1"/>
                          </a:solidFill>
                          <a:latin typeface="+mn-lt"/>
                        </a:rPr>
                        <a:t>Rohstoffaktien</a:t>
                      </a:r>
                    </a:p>
                  </a:txBody>
                  <a:tcPr marL="98466" marR="98466" marT="49233" marB="49233">
                    <a:noFill/>
                  </a:tcPr>
                </a:tc>
                <a:extLst>
                  <a:ext uri="{0D108BD9-81ED-4DB2-BD59-A6C34878D82A}">
                    <a16:rowId xmlns:a16="http://schemas.microsoft.com/office/drawing/2014/main" val="93224363"/>
                  </a:ext>
                </a:extLst>
              </a:tr>
              <a:tr h="536741">
                <a:tc>
                  <a:txBody>
                    <a:bodyPr/>
                    <a:lstStyle/>
                    <a:p>
                      <a:pPr algn="l"/>
                      <a:r>
                        <a:rPr lang="de-DE" sz="1100" dirty="0">
                          <a:solidFill>
                            <a:schemeClr val="accent1"/>
                          </a:solidFill>
                          <a:latin typeface="+mn-lt"/>
                        </a:rPr>
                        <a:t>Risikoadjustierte Produkte</a:t>
                      </a:r>
                    </a:p>
                  </a:txBody>
                  <a:tcPr marL="98466" marR="98466" marT="49233" marB="49233">
                    <a:solidFill>
                      <a:schemeClr val="bg1">
                        <a:lumMod val="95000"/>
                      </a:schemeClr>
                    </a:solidFill>
                  </a:tcPr>
                </a:tc>
                <a:tc>
                  <a:txBody>
                    <a:bodyPr/>
                    <a:lstStyle/>
                    <a:p>
                      <a:pPr marL="171450" indent="-171450" algn="l">
                        <a:buFont typeface="Arial" panose="020B0604020202020204" pitchFamily="34" charset="0"/>
                        <a:buChar char="•"/>
                      </a:pPr>
                      <a:r>
                        <a:rPr lang="de-DE" sz="1100" dirty="0">
                          <a:solidFill>
                            <a:schemeClr val="accent1"/>
                          </a:solidFill>
                          <a:latin typeface="+mn-lt"/>
                        </a:rPr>
                        <a:t>Discountzertifikate</a:t>
                      </a:r>
                    </a:p>
                    <a:p>
                      <a:pPr marL="171450" indent="-171450" algn="l">
                        <a:buFont typeface="Arial" panose="020B0604020202020204" pitchFamily="34" charset="0"/>
                        <a:buChar char="•"/>
                      </a:pPr>
                      <a:r>
                        <a:rPr lang="de-DE" sz="1100" dirty="0">
                          <a:solidFill>
                            <a:schemeClr val="accent1"/>
                          </a:solidFill>
                          <a:latin typeface="+mn-lt"/>
                        </a:rPr>
                        <a:t>Aktienanleihen</a:t>
                      </a:r>
                    </a:p>
                  </a:txBody>
                  <a:tcPr marL="98466" marR="98466" marT="49233" marB="49233">
                    <a:solidFill>
                      <a:schemeClr val="bg1">
                        <a:lumMod val="95000"/>
                      </a:schemeClr>
                    </a:solidFill>
                  </a:tcPr>
                </a:tc>
                <a:extLst>
                  <a:ext uri="{0D108BD9-81ED-4DB2-BD59-A6C34878D82A}">
                    <a16:rowId xmlns:a16="http://schemas.microsoft.com/office/drawing/2014/main" val="2867354792"/>
                  </a:ext>
                </a:extLst>
              </a:tr>
              <a:tr h="371333">
                <a:tc>
                  <a:txBody>
                    <a:bodyPr/>
                    <a:lstStyle/>
                    <a:p>
                      <a:pPr algn="l"/>
                      <a:r>
                        <a:rPr lang="de-DE" sz="1100" dirty="0">
                          <a:solidFill>
                            <a:schemeClr val="accent1"/>
                          </a:solidFill>
                          <a:latin typeface="+mn-lt"/>
                        </a:rPr>
                        <a:t>Edelmetalle</a:t>
                      </a:r>
                    </a:p>
                  </a:txBody>
                  <a:tcPr marL="98466" marR="98466" marT="49233" marB="49233">
                    <a:noFill/>
                  </a:tcPr>
                </a:tc>
                <a:tc>
                  <a:txBody>
                    <a:bodyPr/>
                    <a:lstStyle/>
                    <a:p>
                      <a:pPr marL="171450" indent="-171450" algn="l">
                        <a:buFont typeface="Arial" panose="020B0604020202020204" pitchFamily="34" charset="0"/>
                        <a:buChar char="•"/>
                      </a:pPr>
                      <a:r>
                        <a:rPr lang="de-DE" sz="1100" dirty="0">
                          <a:solidFill>
                            <a:schemeClr val="accent1"/>
                          </a:solidFill>
                          <a:latin typeface="+mn-lt"/>
                        </a:rPr>
                        <a:t>ETCs auf Edelmetalle</a:t>
                      </a:r>
                    </a:p>
                  </a:txBody>
                  <a:tcPr marL="98466" marR="98466" marT="49233" marB="49233">
                    <a:noFill/>
                  </a:tcPr>
                </a:tc>
                <a:extLst>
                  <a:ext uri="{0D108BD9-81ED-4DB2-BD59-A6C34878D82A}">
                    <a16:rowId xmlns:a16="http://schemas.microsoft.com/office/drawing/2014/main" val="1050036542"/>
                  </a:ext>
                </a:extLst>
              </a:tr>
            </a:tbl>
          </a:graphicData>
        </a:graphic>
      </p:graphicFrame>
    </p:spTree>
    <p:extLst>
      <p:ext uri="{BB962C8B-B14F-4D97-AF65-F5344CB8AC3E}">
        <p14:creationId xmlns:p14="http://schemas.microsoft.com/office/powerpoint/2010/main" val="524433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4D79B4F-FB47-5E42-8701-6714307B9EAC}"/>
              </a:ext>
            </a:extLst>
          </p:cNvPr>
          <p:cNvSpPr>
            <a:spLocks noGrp="1"/>
          </p:cNvSpPr>
          <p:nvPr>
            <p:ph type="sldNum" sz="quarter" idx="12"/>
          </p:nvPr>
        </p:nvSpPr>
        <p:spPr/>
        <p:txBody>
          <a:bodyPr/>
          <a:lstStyle/>
          <a:p>
            <a:fld id="{3AE71D6B-ACB6-4F4C-A895-DCAEF1760EAA}" type="slidenum">
              <a:rPr lang="de-DE" smtClean="0"/>
              <a:t>30</a:t>
            </a:fld>
            <a:endParaRPr lang="de-DE"/>
          </a:p>
        </p:txBody>
      </p:sp>
      <p:sp>
        <p:nvSpPr>
          <p:cNvPr id="4" name="Textplatzhalter 3">
            <a:extLst>
              <a:ext uri="{FF2B5EF4-FFF2-40B4-BE49-F238E27FC236}">
                <a16:creationId xmlns:a16="http://schemas.microsoft.com/office/drawing/2014/main" id="{F3F0F8FF-5F98-414C-AA4C-EE5E7C8A69CD}"/>
              </a:ext>
            </a:extLst>
          </p:cNvPr>
          <p:cNvSpPr>
            <a:spLocks noGrp="1"/>
          </p:cNvSpPr>
          <p:nvPr>
            <p:ph type="body" sz="quarter" idx="13"/>
          </p:nvPr>
        </p:nvSpPr>
        <p:spPr/>
        <p:txBody>
          <a:bodyPr/>
          <a:lstStyle/>
          <a:p>
            <a:pPr marL="0" indent="0">
              <a:buNone/>
            </a:pPr>
            <a:r>
              <a:rPr lang="de-DE" b="0" dirty="0">
                <a:solidFill>
                  <a:schemeClr val="accent1"/>
                </a:solidFill>
                <a:latin typeface="+mj-lt"/>
              </a:rPr>
              <a:t>Zu einer guten Vermögensverwaltung gehört auch ein konsequentes Risikomanagement. Gerade in turbulenten Marktphasen ist es wichtig, über Prozesse, Entscheidungskriterien und Ablaufpläne zu verfügen, die nahtlos ineinander greife und dabei helfen, Ihr Vermögen zu schützen. Selbstverständlich nutzen wir dafür eine Palette gängiger Risikomanagementinstrumente, und überwachen Ihr Portfolio fortwährend nach Risikopositionen und Gefahrenquellen. Unser Risikomanagement ist integriert in allen Ebenen des Investmentprozesses und hilft uns dabei eine kontinuierliche Wertentwicklung Ihres Vermögens bei niedriger Schwankungsanfälligkeit sicherzustellen.</a:t>
            </a:r>
          </a:p>
        </p:txBody>
      </p:sp>
      <p:sp>
        <p:nvSpPr>
          <p:cNvPr id="5" name="Titel 4">
            <a:extLst>
              <a:ext uri="{FF2B5EF4-FFF2-40B4-BE49-F238E27FC236}">
                <a16:creationId xmlns:a16="http://schemas.microsoft.com/office/drawing/2014/main" id="{537A3C45-7FF2-434E-8D23-48D2A77104A8}"/>
              </a:ext>
            </a:extLst>
          </p:cNvPr>
          <p:cNvSpPr>
            <a:spLocks noGrp="1"/>
          </p:cNvSpPr>
          <p:nvPr>
            <p:ph type="title"/>
          </p:nvPr>
        </p:nvSpPr>
        <p:spPr/>
        <p:txBody>
          <a:bodyPr/>
          <a:lstStyle/>
          <a:p>
            <a:r>
              <a:rPr lang="de-DE" dirty="0"/>
              <a:t>Unser Risikomanagement</a:t>
            </a:r>
          </a:p>
        </p:txBody>
      </p:sp>
      <p:graphicFrame>
        <p:nvGraphicFramePr>
          <p:cNvPr id="6" name="Tabelle 6">
            <a:extLst>
              <a:ext uri="{FF2B5EF4-FFF2-40B4-BE49-F238E27FC236}">
                <a16:creationId xmlns:a16="http://schemas.microsoft.com/office/drawing/2014/main" id="{41FF7687-C208-E142-9348-792D5D220B92}"/>
              </a:ext>
            </a:extLst>
          </p:cNvPr>
          <p:cNvGraphicFramePr>
            <a:graphicFrameLocks/>
          </p:cNvGraphicFramePr>
          <p:nvPr>
            <p:extLst>
              <p:ext uri="{D42A27DB-BD31-4B8C-83A1-F6EECF244321}">
                <p14:modId xmlns:p14="http://schemas.microsoft.com/office/powerpoint/2010/main" val="2023876130"/>
              </p:ext>
            </p:extLst>
          </p:nvPr>
        </p:nvGraphicFramePr>
        <p:xfrm>
          <a:off x="3671888" y="1084314"/>
          <a:ext cx="6443662" cy="3613099"/>
        </p:xfrm>
        <a:graphic>
          <a:graphicData uri="http://schemas.openxmlformats.org/drawingml/2006/table">
            <a:tbl>
              <a:tblPr firstRow="1" bandRow="1">
                <a:tableStyleId>{5C22544A-7EE6-4342-B048-85BDC9FD1C3A}</a:tableStyleId>
              </a:tblPr>
              <a:tblGrid>
                <a:gridCol w="3249074">
                  <a:extLst>
                    <a:ext uri="{9D8B030D-6E8A-4147-A177-3AD203B41FA5}">
                      <a16:colId xmlns:a16="http://schemas.microsoft.com/office/drawing/2014/main" val="2926041861"/>
                    </a:ext>
                  </a:extLst>
                </a:gridCol>
                <a:gridCol w="3194588">
                  <a:extLst>
                    <a:ext uri="{9D8B030D-6E8A-4147-A177-3AD203B41FA5}">
                      <a16:colId xmlns:a16="http://schemas.microsoft.com/office/drawing/2014/main" val="562842418"/>
                    </a:ext>
                  </a:extLst>
                </a:gridCol>
              </a:tblGrid>
              <a:tr h="624747">
                <a:tc>
                  <a:txBody>
                    <a:bodyPr/>
                    <a:lstStyle/>
                    <a:p>
                      <a:endParaRPr lang="de-DE" sz="1100" b="0" dirty="0">
                        <a:solidFill>
                          <a:srgbClr val="1A314C"/>
                        </a:solidFill>
                      </a:endParaRPr>
                    </a:p>
                    <a:p>
                      <a:r>
                        <a:rPr lang="de-DE" sz="1100" b="0" dirty="0">
                          <a:solidFill>
                            <a:srgbClr val="1A314C"/>
                          </a:solidFill>
                        </a:rPr>
                        <a:t>Kursänderungsrisiko                                </a:t>
                      </a:r>
                    </a:p>
                  </a:txBody>
                  <a:tcPr>
                    <a:lnB w="12700" cap="flat" cmpd="sng" algn="ctr">
                      <a:solidFill>
                        <a:schemeClr val="tx1"/>
                      </a:solidFill>
                      <a:prstDash val="solid"/>
                      <a:round/>
                      <a:headEnd type="none" w="med" len="med"/>
                      <a:tailEnd type="none" w="med" len="med"/>
                    </a:lnB>
                    <a:solidFill>
                      <a:srgbClr val="FFFFFF"/>
                    </a:solidFill>
                  </a:tcPr>
                </a:tc>
                <a:tc>
                  <a:txBody>
                    <a:bodyPr/>
                    <a:lstStyle/>
                    <a:p>
                      <a:r>
                        <a:rPr lang="de-DE" sz="1100" b="0" dirty="0">
                          <a:solidFill>
                            <a:srgbClr val="1A314C"/>
                          </a:solidFill>
                        </a:rPr>
                        <a:t>Stopp-Loss-Strategie, in unsicheren Marktphasen enge, konsequenten </a:t>
                      </a:r>
                      <a:br>
                        <a:rPr lang="de-DE" sz="1100" b="0" dirty="0">
                          <a:solidFill>
                            <a:srgbClr val="1A314C"/>
                          </a:solidFill>
                        </a:rPr>
                      </a:br>
                      <a:r>
                        <a:rPr lang="de-DE" sz="1100" b="0" dirty="0">
                          <a:solidFill>
                            <a:srgbClr val="1A314C"/>
                          </a:solidFill>
                        </a:rPr>
                        <a:t>und aktive Strategie</a:t>
                      </a:r>
                    </a:p>
                  </a:txBody>
                  <a:tcPr anchor="ct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0613130"/>
                  </a:ext>
                </a:extLst>
              </a:tr>
              <a:tr h="949501">
                <a:tc>
                  <a:txBody>
                    <a:bodyPr/>
                    <a:lstStyle/>
                    <a:p>
                      <a:endParaRPr lang="de-DE" sz="1100" dirty="0">
                        <a:solidFill>
                          <a:srgbClr val="1A314C"/>
                        </a:solidFill>
                      </a:endParaRPr>
                    </a:p>
                    <a:p>
                      <a:endParaRPr lang="de-DE" sz="1100" dirty="0">
                        <a:solidFill>
                          <a:srgbClr val="1A314C"/>
                        </a:solidFill>
                      </a:endParaRPr>
                    </a:p>
                    <a:p>
                      <a:r>
                        <a:rPr lang="de-DE" sz="1100" dirty="0">
                          <a:solidFill>
                            <a:srgbClr val="1A314C"/>
                          </a:solidFill>
                        </a:rPr>
                        <a:t>Bonitäts-/Emittentenrisiko</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de-DE" sz="1100" dirty="0">
                          <a:solidFill>
                            <a:srgbClr val="1A314C"/>
                          </a:solidFill>
                        </a:rPr>
                        <a:t>Hauptsächliche Investition in Titel im Investment Grade, kontinuierliche Überwachung der einzelnen Emittenten, konkrete Meinung zu jedem Emittenten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1993817"/>
                  </a:ext>
                </a:extLst>
              </a:tr>
              <a:tr h="637445">
                <a:tc>
                  <a:txBody>
                    <a:bodyPr/>
                    <a:lstStyle/>
                    <a:p>
                      <a:r>
                        <a:rPr lang="de-DE" sz="1100" dirty="0">
                          <a:solidFill>
                            <a:srgbClr val="1A314C"/>
                          </a:solidFill>
                        </a:rPr>
                        <a:t>Währungsrisiko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de-DE" sz="1100" dirty="0">
                          <a:solidFill>
                            <a:srgbClr val="1A314C"/>
                          </a:solidFill>
                        </a:rPr>
                        <a:t>Breite und global-orientierte Diversifikation reduziert das Einzelwährungsrisiko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90649648"/>
                  </a:ext>
                </a:extLst>
              </a:tr>
              <a:tr h="465631">
                <a:tc>
                  <a:txBody>
                    <a:bodyPr/>
                    <a:lstStyle/>
                    <a:p>
                      <a:r>
                        <a:rPr lang="de-DE" sz="1100" dirty="0">
                          <a:solidFill>
                            <a:srgbClr val="1A314C"/>
                          </a:solidFill>
                        </a:rPr>
                        <a:t>Zinsänderungsrisiko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de-DE" sz="1100" dirty="0">
                          <a:solidFill>
                            <a:srgbClr val="1A314C"/>
                          </a:solidFill>
                        </a:rPr>
                        <a:t>Aktives Zins- und Laufzeitmanagement (</a:t>
                      </a:r>
                      <a:r>
                        <a:rPr lang="de-DE" sz="1100" dirty="0" err="1">
                          <a:solidFill>
                            <a:srgbClr val="1A314C"/>
                          </a:solidFill>
                        </a:rPr>
                        <a:t>Durationsmanagement</a:t>
                      </a:r>
                      <a:r>
                        <a:rPr lang="de-DE" sz="1100" dirty="0">
                          <a:solidFill>
                            <a:srgbClr val="1A314C"/>
                          </a:solidFill>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77554919"/>
                  </a:ext>
                </a:extLst>
              </a:tr>
              <a:tr h="935775">
                <a:tc>
                  <a:txBody>
                    <a:bodyPr/>
                    <a:lstStyle/>
                    <a:p>
                      <a:endParaRPr lang="de-DE" sz="1100" dirty="0">
                        <a:solidFill>
                          <a:srgbClr val="1A314C"/>
                        </a:solidFill>
                      </a:endParaRPr>
                    </a:p>
                    <a:p>
                      <a:endParaRPr lang="de-DE" sz="1100" dirty="0">
                        <a:solidFill>
                          <a:srgbClr val="1A314C"/>
                        </a:solidFill>
                      </a:endParaRPr>
                    </a:p>
                    <a:p>
                      <a:r>
                        <a:rPr lang="de-DE" sz="1100" dirty="0">
                          <a:solidFill>
                            <a:srgbClr val="1A314C"/>
                          </a:solidFill>
                        </a:rPr>
                        <a:t>Liquiditätsrisiko</a:t>
                      </a:r>
                    </a:p>
                  </a:txBody>
                  <a:tcPr>
                    <a:lnT w="12700" cap="flat" cmpd="sng" algn="ctr">
                      <a:solidFill>
                        <a:schemeClr val="tx1"/>
                      </a:solidFill>
                      <a:prstDash val="solid"/>
                      <a:round/>
                      <a:headEnd type="none" w="med" len="med"/>
                      <a:tailEnd type="none" w="med" len="med"/>
                    </a:lnT>
                    <a:solidFill>
                      <a:srgbClr val="FFFFFF"/>
                    </a:solidFill>
                  </a:tcPr>
                </a:tc>
                <a:tc>
                  <a:txBody>
                    <a:bodyPr/>
                    <a:lstStyle/>
                    <a:p>
                      <a:r>
                        <a:rPr lang="de-DE" sz="1100" dirty="0">
                          <a:solidFill>
                            <a:srgbClr val="1A314C"/>
                          </a:solidFill>
                        </a:rPr>
                        <a:t>Wir investieren ausschließlich in liquide Anlagen, geschlossene oder beschränkt-verfügbare Produkte werden nicht </a:t>
                      </a:r>
                    </a:p>
                    <a:p>
                      <a:r>
                        <a:rPr lang="de-DE" sz="1100" dirty="0">
                          <a:solidFill>
                            <a:srgbClr val="1A314C"/>
                          </a:solidFill>
                        </a:rPr>
                        <a:t>erworben</a:t>
                      </a:r>
                    </a:p>
                  </a:txBody>
                  <a:tcPr anchor="ctr">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2430660365"/>
                  </a:ext>
                </a:extLst>
              </a:tr>
            </a:tbl>
          </a:graphicData>
        </a:graphic>
      </p:graphicFrame>
      <p:pic>
        <p:nvPicPr>
          <p:cNvPr id="9" name="Grafik 8">
            <a:extLst>
              <a:ext uri="{FF2B5EF4-FFF2-40B4-BE49-F238E27FC236}">
                <a16:creationId xmlns:a16="http://schemas.microsoft.com/office/drawing/2014/main" id="{3995B83B-6815-1643-9A07-10D00AA8D1D7}"/>
              </a:ext>
            </a:extLst>
          </p:cNvPr>
          <p:cNvPicPr>
            <a:picLocks noChangeAspect="1"/>
          </p:cNvPicPr>
          <p:nvPr/>
        </p:nvPicPr>
        <p:blipFill>
          <a:blip r:embed="rId2"/>
          <a:stretch>
            <a:fillRect/>
          </a:stretch>
        </p:blipFill>
        <p:spPr>
          <a:xfrm>
            <a:off x="6360379" y="1273973"/>
            <a:ext cx="228600" cy="209550"/>
          </a:xfrm>
          <a:prstGeom prst="rect">
            <a:avLst/>
          </a:prstGeom>
        </p:spPr>
      </p:pic>
      <p:pic>
        <p:nvPicPr>
          <p:cNvPr id="10" name="Grafik 9">
            <a:extLst>
              <a:ext uri="{FF2B5EF4-FFF2-40B4-BE49-F238E27FC236}">
                <a16:creationId xmlns:a16="http://schemas.microsoft.com/office/drawing/2014/main" id="{4AEE4103-808A-EF4F-803D-6EE049944D01}"/>
              </a:ext>
            </a:extLst>
          </p:cNvPr>
          <p:cNvPicPr>
            <a:picLocks noChangeAspect="1"/>
          </p:cNvPicPr>
          <p:nvPr/>
        </p:nvPicPr>
        <p:blipFill>
          <a:blip r:embed="rId2"/>
          <a:stretch>
            <a:fillRect/>
          </a:stretch>
        </p:blipFill>
        <p:spPr>
          <a:xfrm>
            <a:off x="6360379" y="2047631"/>
            <a:ext cx="228600" cy="209550"/>
          </a:xfrm>
          <a:prstGeom prst="rect">
            <a:avLst/>
          </a:prstGeom>
        </p:spPr>
      </p:pic>
      <p:pic>
        <p:nvPicPr>
          <p:cNvPr id="11" name="Grafik 10">
            <a:extLst>
              <a:ext uri="{FF2B5EF4-FFF2-40B4-BE49-F238E27FC236}">
                <a16:creationId xmlns:a16="http://schemas.microsoft.com/office/drawing/2014/main" id="{1A5D1D36-CCE0-014D-AF10-EC28B9A5764C}"/>
              </a:ext>
            </a:extLst>
          </p:cNvPr>
          <p:cNvPicPr>
            <a:picLocks noChangeAspect="1"/>
          </p:cNvPicPr>
          <p:nvPr/>
        </p:nvPicPr>
        <p:blipFill>
          <a:blip r:embed="rId2"/>
          <a:stretch>
            <a:fillRect/>
          </a:stretch>
        </p:blipFill>
        <p:spPr>
          <a:xfrm>
            <a:off x="6370327" y="2847971"/>
            <a:ext cx="228600" cy="209550"/>
          </a:xfrm>
          <a:prstGeom prst="rect">
            <a:avLst/>
          </a:prstGeom>
        </p:spPr>
      </p:pic>
      <p:pic>
        <p:nvPicPr>
          <p:cNvPr id="12" name="Grafik 11">
            <a:extLst>
              <a:ext uri="{FF2B5EF4-FFF2-40B4-BE49-F238E27FC236}">
                <a16:creationId xmlns:a16="http://schemas.microsoft.com/office/drawing/2014/main" id="{385AB819-FDA6-5F47-8B33-7ED9CFDCA106}"/>
              </a:ext>
            </a:extLst>
          </p:cNvPr>
          <p:cNvPicPr>
            <a:picLocks noChangeAspect="1"/>
          </p:cNvPicPr>
          <p:nvPr/>
        </p:nvPicPr>
        <p:blipFill>
          <a:blip r:embed="rId2"/>
          <a:stretch>
            <a:fillRect/>
          </a:stretch>
        </p:blipFill>
        <p:spPr>
          <a:xfrm>
            <a:off x="6370327" y="3438761"/>
            <a:ext cx="228600" cy="209550"/>
          </a:xfrm>
          <a:prstGeom prst="rect">
            <a:avLst/>
          </a:prstGeom>
        </p:spPr>
      </p:pic>
      <p:pic>
        <p:nvPicPr>
          <p:cNvPr id="13" name="Grafik 12">
            <a:extLst>
              <a:ext uri="{FF2B5EF4-FFF2-40B4-BE49-F238E27FC236}">
                <a16:creationId xmlns:a16="http://schemas.microsoft.com/office/drawing/2014/main" id="{06EAE3EB-F04A-7C47-B2FC-F45383CB5EAC}"/>
              </a:ext>
            </a:extLst>
          </p:cNvPr>
          <p:cNvPicPr>
            <a:picLocks noChangeAspect="1"/>
          </p:cNvPicPr>
          <p:nvPr/>
        </p:nvPicPr>
        <p:blipFill>
          <a:blip r:embed="rId2"/>
          <a:stretch>
            <a:fillRect/>
          </a:stretch>
        </p:blipFill>
        <p:spPr>
          <a:xfrm>
            <a:off x="6370327" y="4092146"/>
            <a:ext cx="228600" cy="209550"/>
          </a:xfrm>
          <a:prstGeom prst="rect">
            <a:avLst/>
          </a:prstGeom>
        </p:spPr>
      </p:pic>
    </p:spTree>
    <p:extLst>
      <p:ext uri="{BB962C8B-B14F-4D97-AF65-F5344CB8AC3E}">
        <p14:creationId xmlns:p14="http://schemas.microsoft.com/office/powerpoint/2010/main" val="1283139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CF1D031-CBB6-FD9D-F9E6-3D1B479045DA}"/>
              </a:ext>
            </a:extLst>
          </p:cNvPr>
          <p:cNvSpPr>
            <a:spLocks noGrp="1"/>
          </p:cNvSpPr>
          <p:nvPr>
            <p:ph type="sldNum" sz="quarter" idx="12"/>
          </p:nvPr>
        </p:nvSpPr>
        <p:spPr/>
        <p:txBody>
          <a:bodyPr/>
          <a:lstStyle/>
          <a:p>
            <a:fld id="{3AE71D6B-ACB6-4F4C-A895-DCAEF1760EAA}" type="slidenum">
              <a:rPr lang="de-DE" smtClean="0"/>
              <a:t>31</a:t>
            </a:fld>
            <a:endParaRPr lang="de-DE"/>
          </a:p>
        </p:txBody>
      </p:sp>
      <p:sp>
        <p:nvSpPr>
          <p:cNvPr id="3" name="Inhaltsplatzhalter 2">
            <a:extLst>
              <a:ext uri="{FF2B5EF4-FFF2-40B4-BE49-F238E27FC236}">
                <a16:creationId xmlns:a16="http://schemas.microsoft.com/office/drawing/2014/main" id="{5F05450D-2EA3-036E-8347-A8044FF79161}"/>
              </a:ext>
            </a:extLst>
          </p:cNvPr>
          <p:cNvSpPr>
            <a:spLocks noGrp="1"/>
          </p:cNvSpPr>
          <p:nvPr>
            <p:ph idx="1"/>
          </p:nvPr>
        </p:nvSpPr>
        <p:spPr/>
        <p:txBody>
          <a:bodyPr/>
          <a:lstStyle/>
          <a:p>
            <a:pPr>
              <a:spcAft>
                <a:spcPts val="0"/>
              </a:spcAft>
            </a:pPr>
            <a:r>
              <a:rPr lang="de-DE" dirty="0"/>
              <a:t>Vermögensverwaltungsbericht</a:t>
            </a:r>
          </a:p>
          <a:p>
            <a:pPr>
              <a:spcBef>
                <a:spcPts val="400"/>
              </a:spcBef>
            </a:pPr>
            <a:r>
              <a:rPr lang="de-DE" b="0" dirty="0"/>
              <a:t>Wir stellen Ihnen mindestens quartalsweise einen detaillierten und transparenten Vermögensverwaltungs-bericht zur Verfügung. Folgende Bestandteile sind in dem Bericht enthalten:</a:t>
            </a:r>
          </a:p>
          <a:p>
            <a:pPr marL="171450" indent="-171450">
              <a:spcBef>
                <a:spcPts val="200"/>
              </a:spcBef>
              <a:buFont typeface="Arial" panose="020B0604020202020204" pitchFamily="34" charset="0"/>
              <a:buChar char="•"/>
            </a:pPr>
            <a:r>
              <a:rPr lang="de-DE" b="0" dirty="0"/>
              <a:t>Lagebericht</a:t>
            </a:r>
          </a:p>
          <a:p>
            <a:pPr marL="171450" indent="-171450">
              <a:spcBef>
                <a:spcPts val="200"/>
              </a:spcBef>
              <a:buFont typeface="Arial" panose="020B0604020202020204" pitchFamily="34" charset="0"/>
              <a:buChar char="•"/>
            </a:pPr>
            <a:r>
              <a:rPr lang="de-DE" b="0" dirty="0"/>
              <a:t>Wertentwicklung</a:t>
            </a:r>
          </a:p>
          <a:p>
            <a:pPr marL="171450" indent="-171450">
              <a:spcBef>
                <a:spcPts val="200"/>
              </a:spcBef>
              <a:buFont typeface="Arial" panose="020B0604020202020204" pitchFamily="34" charset="0"/>
              <a:buChar char="•"/>
            </a:pPr>
            <a:r>
              <a:rPr lang="de-DE" b="0" dirty="0"/>
              <a:t>Vermögensübersicht</a:t>
            </a:r>
          </a:p>
          <a:p>
            <a:pPr marL="171450" indent="-171450">
              <a:spcBef>
                <a:spcPts val="200"/>
              </a:spcBef>
              <a:buFont typeface="Arial" panose="020B0604020202020204" pitchFamily="34" charset="0"/>
              <a:buChar char="•"/>
            </a:pPr>
            <a:r>
              <a:rPr lang="de-DE" b="0" dirty="0"/>
              <a:t>Transaktionsliste</a:t>
            </a:r>
          </a:p>
          <a:p>
            <a:pPr marL="171450" indent="-171450">
              <a:spcBef>
                <a:spcPts val="200"/>
              </a:spcBef>
              <a:buFont typeface="Arial" panose="020B0604020202020204" pitchFamily="34" charset="0"/>
              <a:buChar char="•"/>
            </a:pPr>
            <a:r>
              <a:rPr lang="de-DE" b="0" dirty="0"/>
              <a:t>Honorarabrechnung </a:t>
            </a:r>
          </a:p>
          <a:p>
            <a:pPr marL="171450" indent="-171450">
              <a:spcBef>
                <a:spcPts val="200"/>
              </a:spcBef>
              <a:buFont typeface="Arial" panose="020B0604020202020204" pitchFamily="34" charset="0"/>
              <a:buChar char="•"/>
            </a:pPr>
            <a:r>
              <a:rPr lang="de-DE" b="0" dirty="0"/>
              <a:t>Risikokennzahlen, fortlaufende</a:t>
            </a:r>
          </a:p>
          <a:p>
            <a:pPr marL="171450" indent="-171450">
              <a:spcBef>
                <a:spcPts val="200"/>
              </a:spcBef>
              <a:buFont typeface="Arial" panose="020B0604020202020204" pitchFamily="34" charset="0"/>
              <a:buChar char="•"/>
            </a:pPr>
            <a:r>
              <a:rPr lang="de-DE" b="0" dirty="0"/>
              <a:t>Geeignetheitserklärung</a:t>
            </a:r>
          </a:p>
          <a:p>
            <a:pPr>
              <a:spcBef>
                <a:spcPts val="400"/>
              </a:spcBef>
            </a:pPr>
            <a:r>
              <a:rPr lang="de-DE" b="0" dirty="0"/>
              <a:t>Zusätzlich erhalten Sie einmal jährlich ein ausführliches </a:t>
            </a:r>
            <a:r>
              <a:rPr lang="de-DE" b="0" dirty="0" err="1"/>
              <a:t>Kostenreporting</a:t>
            </a:r>
            <a:r>
              <a:rPr lang="de-DE" b="0" dirty="0"/>
              <a:t>. Dieses enthält alle Kosten, die im Rahmen Ihres Vermögensverwaltungsvertrags angefallen sind.</a:t>
            </a:r>
          </a:p>
        </p:txBody>
      </p:sp>
      <p:sp>
        <p:nvSpPr>
          <p:cNvPr id="4" name="Titel 3">
            <a:extLst>
              <a:ext uri="{FF2B5EF4-FFF2-40B4-BE49-F238E27FC236}">
                <a16:creationId xmlns:a16="http://schemas.microsoft.com/office/drawing/2014/main" id="{72E82E3C-1E56-69D0-2735-EEDC7CB1B6BA}"/>
              </a:ext>
            </a:extLst>
          </p:cNvPr>
          <p:cNvSpPr>
            <a:spLocks noGrp="1"/>
          </p:cNvSpPr>
          <p:nvPr>
            <p:ph type="title"/>
          </p:nvPr>
        </p:nvSpPr>
        <p:spPr/>
        <p:txBody>
          <a:bodyPr/>
          <a:lstStyle/>
          <a:p>
            <a:r>
              <a:rPr lang="de-DE" dirty="0"/>
              <a:t>Unser Service</a:t>
            </a:r>
          </a:p>
        </p:txBody>
      </p:sp>
    </p:spTree>
    <p:extLst>
      <p:ext uri="{BB962C8B-B14F-4D97-AF65-F5344CB8AC3E}">
        <p14:creationId xmlns:p14="http://schemas.microsoft.com/office/powerpoint/2010/main" val="784487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4520BB9-E68D-47AE-EB64-BAE575D3D3CA}"/>
              </a:ext>
            </a:extLst>
          </p:cNvPr>
          <p:cNvSpPr>
            <a:spLocks noGrp="1"/>
          </p:cNvSpPr>
          <p:nvPr>
            <p:ph type="sldNum" sz="quarter" idx="12"/>
          </p:nvPr>
        </p:nvSpPr>
        <p:spPr/>
        <p:txBody>
          <a:bodyPr/>
          <a:lstStyle/>
          <a:p>
            <a:fld id="{3AE71D6B-ACB6-4F4C-A895-DCAEF1760EAA}" type="slidenum">
              <a:rPr lang="de-DE" smtClean="0"/>
              <a:pPr/>
              <a:t>32</a:t>
            </a:fld>
            <a:endParaRPr lang="de-DE" dirty="0"/>
          </a:p>
        </p:txBody>
      </p:sp>
      <p:sp>
        <p:nvSpPr>
          <p:cNvPr id="3" name="Inhaltsplatzhalter 2">
            <a:extLst>
              <a:ext uri="{FF2B5EF4-FFF2-40B4-BE49-F238E27FC236}">
                <a16:creationId xmlns:a16="http://schemas.microsoft.com/office/drawing/2014/main" id="{CD355ADA-6D4A-3BBC-8EE3-ED00B5B315F8}"/>
              </a:ext>
            </a:extLst>
          </p:cNvPr>
          <p:cNvSpPr>
            <a:spLocks noGrp="1"/>
          </p:cNvSpPr>
          <p:nvPr>
            <p:ph idx="1"/>
          </p:nvPr>
        </p:nvSpPr>
        <p:spPr>
          <a:xfrm>
            <a:off x="1199324" y="1414864"/>
            <a:ext cx="4140201" cy="4954290"/>
          </a:xfrm>
        </p:spPr>
        <p:txBody>
          <a:bodyPr/>
          <a:lstStyle/>
          <a:p>
            <a:pPr>
              <a:spcAft>
                <a:spcPts val="0"/>
              </a:spcAft>
            </a:pPr>
            <a:r>
              <a:rPr lang="de-DE" dirty="0"/>
              <a:t>Steuerservice</a:t>
            </a:r>
          </a:p>
          <a:p>
            <a:pPr>
              <a:spcBef>
                <a:spcPts val="400"/>
              </a:spcBef>
            </a:pPr>
            <a:r>
              <a:rPr lang="de-DE" b="0" dirty="0"/>
              <a:t>Die Erstellung aller steuerlich relevanten und benötigten Unterlagen erfolgt automatisch und zeitnah mit dem Ablauf des Kalenderjahrs.</a:t>
            </a:r>
          </a:p>
          <a:p>
            <a:r>
              <a:rPr lang="de-DE" dirty="0"/>
              <a:t>Laufende Unterlagen </a:t>
            </a:r>
          </a:p>
          <a:p>
            <a:pPr>
              <a:spcBef>
                <a:spcPts val="400"/>
              </a:spcBef>
            </a:pPr>
            <a:r>
              <a:rPr lang="de-DE" b="0" dirty="0"/>
              <a:t>Nach jeder Wertpapiertransaktion und Ertragsausschüttung erhalten Sie eine entsprechende Dokumentation zugesandt.  Kontoauszüge werden monatlich erstellt. Somit ist für Sie ein hohes Maß an Transparenz gewährleistet.</a:t>
            </a:r>
          </a:p>
          <a:p>
            <a:r>
              <a:rPr lang="de-DE" dirty="0">
                <a:solidFill>
                  <a:srgbClr val="BB9256"/>
                </a:solidFill>
              </a:rPr>
              <a:t>&gt;&gt; Gerne stellen wir Ihnen in regelmäßigen Abständen oder auf Wunsch einen aktuellen Bericht zur Verfügung!</a:t>
            </a:r>
          </a:p>
        </p:txBody>
      </p:sp>
      <p:sp>
        <p:nvSpPr>
          <p:cNvPr id="4" name="Titel 3">
            <a:extLst>
              <a:ext uri="{FF2B5EF4-FFF2-40B4-BE49-F238E27FC236}">
                <a16:creationId xmlns:a16="http://schemas.microsoft.com/office/drawing/2014/main" id="{39B1E004-66AB-F74C-B2B6-5F103D42430F}"/>
              </a:ext>
            </a:extLst>
          </p:cNvPr>
          <p:cNvSpPr>
            <a:spLocks noGrp="1"/>
          </p:cNvSpPr>
          <p:nvPr>
            <p:ph type="title"/>
          </p:nvPr>
        </p:nvSpPr>
        <p:spPr>
          <a:xfrm>
            <a:off x="1195481" y="882000"/>
            <a:ext cx="3960375" cy="360000"/>
          </a:xfrm>
        </p:spPr>
        <p:txBody>
          <a:bodyPr/>
          <a:lstStyle/>
          <a:p>
            <a:r>
              <a:rPr lang="de-DE" dirty="0"/>
              <a:t>Unser Service</a:t>
            </a:r>
          </a:p>
        </p:txBody>
      </p:sp>
    </p:spTree>
    <p:extLst>
      <p:ext uri="{BB962C8B-B14F-4D97-AF65-F5344CB8AC3E}">
        <p14:creationId xmlns:p14="http://schemas.microsoft.com/office/powerpoint/2010/main" val="1251342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0DE09C2-2A59-8E9D-3394-09D12E785939}"/>
              </a:ext>
            </a:extLst>
          </p:cNvPr>
          <p:cNvSpPr>
            <a:spLocks noGrp="1"/>
          </p:cNvSpPr>
          <p:nvPr>
            <p:ph type="sldNum" sz="quarter" idx="12"/>
          </p:nvPr>
        </p:nvSpPr>
        <p:spPr/>
        <p:txBody>
          <a:bodyPr/>
          <a:lstStyle/>
          <a:p>
            <a:fld id="{3AE71D6B-ACB6-4F4C-A895-DCAEF1760EAA}" type="slidenum">
              <a:rPr lang="de-DE" smtClean="0"/>
              <a:t>33</a:t>
            </a:fld>
            <a:endParaRPr lang="de-DE"/>
          </a:p>
        </p:txBody>
      </p:sp>
      <p:sp>
        <p:nvSpPr>
          <p:cNvPr id="4" name="Titel 3">
            <a:extLst>
              <a:ext uri="{FF2B5EF4-FFF2-40B4-BE49-F238E27FC236}">
                <a16:creationId xmlns:a16="http://schemas.microsoft.com/office/drawing/2014/main" id="{9C97CBB2-7EB8-0455-7143-952C4A25AE92}"/>
              </a:ext>
            </a:extLst>
          </p:cNvPr>
          <p:cNvSpPr>
            <a:spLocks noGrp="1"/>
          </p:cNvSpPr>
          <p:nvPr>
            <p:ph type="title"/>
          </p:nvPr>
        </p:nvSpPr>
        <p:spPr/>
        <p:txBody>
          <a:bodyPr/>
          <a:lstStyle/>
          <a:p>
            <a:r>
              <a:rPr lang="de-DE" dirty="0"/>
              <a:t>Honorarübersicht</a:t>
            </a:r>
          </a:p>
        </p:txBody>
      </p:sp>
      <p:graphicFrame>
        <p:nvGraphicFramePr>
          <p:cNvPr id="5" name="Tabelle 4">
            <a:extLst>
              <a:ext uri="{FF2B5EF4-FFF2-40B4-BE49-F238E27FC236}">
                <a16:creationId xmlns:a16="http://schemas.microsoft.com/office/drawing/2014/main" id="{3F2EFFCC-2835-2877-8FFE-6F115FCCEF17}"/>
              </a:ext>
            </a:extLst>
          </p:cNvPr>
          <p:cNvGraphicFramePr>
            <a:graphicFrameLocks noGrp="1"/>
          </p:cNvGraphicFramePr>
          <p:nvPr>
            <p:extLst>
              <p:ext uri="{D42A27DB-BD31-4B8C-83A1-F6EECF244321}">
                <p14:modId xmlns:p14="http://schemas.microsoft.com/office/powerpoint/2010/main" val="2047383281"/>
              </p:ext>
            </p:extLst>
          </p:nvPr>
        </p:nvGraphicFramePr>
        <p:xfrm>
          <a:off x="814812" y="1032843"/>
          <a:ext cx="8784063" cy="4389165"/>
        </p:xfrm>
        <a:graphic>
          <a:graphicData uri="http://schemas.openxmlformats.org/drawingml/2006/table">
            <a:tbl>
              <a:tblPr firstRow="1" bandRow="1"/>
              <a:tblGrid>
                <a:gridCol w="1479649">
                  <a:extLst>
                    <a:ext uri="{9D8B030D-6E8A-4147-A177-3AD203B41FA5}">
                      <a16:colId xmlns:a16="http://schemas.microsoft.com/office/drawing/2014/main" val="20000"/>
                    </a:ext>
                  </a:extLst>
                </a:gridCol>
                <a:gridCol w="1788839">
                  <a:extLst>
                    <a:ext uri="{9D8B030D-6E8A-4147-A177-3AD203B41FA5}">
                      <a16:colId xmlns:a16="http://schemas.microsoft.com/office/drawing/2014/main" val="3953192555"/>
                    </a:ext>
                  </a:extLst>
                </a:gridCol>
                <a:gridCol w="1838525">
                  <a:extLst>
                    <a:ext uri="{9D8B030D-6E8A-4147-A177-3AD203B41FA5}">
                      <a16:colId xmlns:a16="http://schemas.microsoft.com/office/drawing/2014/main" val="2318029501"/>
                    </a:ext>
                  </a:extLst>
                </a:gridCol>
                <a:gridCol w="1838525">
                  <a:extLst>
                    <a:ext uri="{9D8B030D-6E8A-4147-A177-3AD203B41FA5}">
                      <a16:colId xmlns:a16="http://schemas.microsoft.com/office/drawing/2014/main" val="3185518545"/>
                    </a:ext>
                  </a:extLst>
                </a:gridCol>
                <a:gridCol w="1838525">
                  <a:extLst>
                    <a:ext uri="{9D8B030D-6E8A-4147-A177-3AD203B41FA5}">
                      <a16:colId xmlns:a16="http://schemas.microsoft.com/office/drawing/2014/main" val="2569749662"/>
                    </a:ext>
                  </a:extLst>
                </a:gridCol>
              </a:tblGrid>
              <a:tr h="450592">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endParaRPr lang="de-DE" sz="1100" b="1" dirty="0">
                        <a:solidFill>
                          <a:srgbClr val="FFFFFF"/>
                        </a:solidFill>
                        <a:latin typeface="+mn-lt"/>
                        <a:cs typeface="Noto Sans"/>
                      </a:endParaRP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100" b="1" dirty="0">
                          <a:solidFill>
                            <a:srgbClr val="FFFFFF"/>
                          </a:solidFill>
                          <a:latin typeface="+mn-lt"/>
                          <a:ea typeface="Noto Sans bold" panose="020B0802040504020204" pitchFamily="34" charset="0"/>
                          <a:cs typeface="Noto Sans bold" panose="020B0802040504020204" pitchFamily="34" charset="0"/>
                        </a:rPr>
                        <a:t>ESG Defensiv</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ea typeface="Noto Sans bold" panose="020B0802040504020204" pitchFamily="34" charset="0"/>
                          <a:cs typeface="Noto Sans bold" panose="020B0802040504020204" pitchFamily="34" charset="0"/>
                        </a:rPr>
                        <a:t>ESG Defensiv Plus</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ea typeface="Noto Sans bold" panose="020B0802040504020204" pitchFamily="34" charset="0"/>
                          <a:cs typeface="Noto Sans bold" panose="020B0802040504020204" pitchFamily="34" charset="0"/>
                        </a:rPr>
                        <a:t>ESG Ausgewogen</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ea typeface="Noto Sans bold" panose="020B0802040504020204" pitchFamily="34" charset="0"/>
                          <a:cs typeface="Noto Sans bold" panose="020B0802040504020204" pitchFamily="34" charset="0"/>
                        </a:rPr>
                        <a:t>ESG Offensiv</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extLst>
                  <a:ext uri="{0D108BD9-81ED-4DB2-BD59-A6C34878D82A}">
                    <a16:rowId xmlns:a16="http://schemas.microsoft.com/office/drawing/2014/main" val="10000"/>
                  </a:ext>
                </a:extLst>
              </a:tr>
              <a:tr h="1857173">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lnSpc>
                          <a:spcPts val="1180"/>
                        </a:lnSpc>
                      </a:pPr>
                      <a:r>
                        <a:rPr lang="de-DE" sz="1000" b="1" kern="0" spc="20" dirty="0">
                          <a:solidFill>
                            <a:schemeClr val="accent1"/>
                          </a:solidFill>
                          <a:latin typeface="+mj-lt"/>
                          <a:ea typeface="Noto Sans bold" panose="020B0802040504020204" pitchFamily="34" charset="0"/>
                          <a:cs typeface="Noto Sans bold" panose="020B0802040504020204" pitchFamily="34" charset="0"/>
                        </a:rPr>
                        <a:t>All-in-Fee jährlich</a:t>
                      </a:r>
                    </a:p>
                    <a:p>
                      <a:pPr algn="l">
                        <a:lnSpc>
                          <a:spcPct val="100000"/>
                        </a:lnSpc>
                      </a:pPr>
                      <a:r>
                        <a:rPr lang="de-DE" sz="1000" b="0" kern="0" spc="20" dirty="0">
                          <a:solidFill>
                            <a:schemeClr val="accent1"/>
                          </a:solidFill>
                          <a:latin typeface="+mj-lt"/>
                          <a:ea typeface="+mn-ea"/>
                          <a:cs typeface="Noto Sans"/>
                        </a:rPr>
                        <a:t>Die Belastung erfolgt halbjährlich. Als Berechnungs-grundlage dient das durchschnittlich verfügbare Anlage-volumen zum Stichtag 30.06. und 31.12.</a:t>
                      </a:r>
                    </a:p>
                  </a:txBody>
                  <a:tcPr marL="78296" marR="78296" marT="39148" marB="39148"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000" b="0" kern="0" spc="20" dirty="0">
                          <a:solidFill>
                            <a:schemeClr val="accent1"/>
                          </a:solidFill>
                          <a:latin typeface="+mj-lt"/>
                          <a:ea typeface="+mn-ea"/>
                          <a:cs typeface="Noto Sans"/>
                        </a:rPr>
                        <a:t>Jährlich 1,25 % netto des durchschnittlich verfügbaren Anlage-volumens = 1,4875 %* brutto </a:t>
                      </a:r>
                    </a:p>
                    <a:p>
                      <a:pPr algn="l"/>
                      <a:endParaRPr lang="de-DE" sz="1000" b="0" kern="0" spc="20" dirty="0">
                        <a:solidFill>
                          <a:schemeClr val="accent1"/>
                        </a:solidFill>
                        <a:latin typeface="+mj-lt"/>
                        <a:ea typeface="+mn-ea"/>
                        <a:cs typeface="Noto Sans"/>
                      </a:endParaRPr>
                    </a:p>
                    <a:p>
                      <a:pPr algn="l"/>
                      <a:r>
                        <a:rPr lang="de-DE" sz="1000" b="0" kern="0" spc="20" dirty="0">
                          <a:solidFill>
                            <a:schemeClr val="accent1"/>
                          </a:solidFill>
                          <a:latin typeface="+mj-lt"/>
                          <a:ea typeface="+mn-ea"/>
                          <a:cs typeface="Noto Sans"/>
                        </a:rPr>
                        <a:t>Mindestens 3.000 € netto bzw. mindestens </a:t>
                      </a:r>
                    </a:p>
                    <a:p>
                      <a:pPr algn="l"/>
                      <a:r>
                        <a:rPr lang="de-DE" sz="1000" b="0" kern="0" spc="20" dirty="0">
                          <a:solidFill>
                            <a:schemeClr val="accent1"/>
                          </a:solidFill>
                          <a:latin typeface="+mj-lt"/>
                          <a:ea typeface="+mn-ea"/>
                          <a:cs typeface="Noto Sans"/>
                        </a:rPr>
                        <a:t>3.570 €* brutto</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000" b="0" kern="0" spc="20" dirty="0">
                          <a:solidFill>
                            <a:schemeClr val="accent1"/>
                          </a:solidFill>
                          <a:latin typeface="+mj-lt"/>
                          <a:ea typeface="+mn-ea"/>
                          <a:cs typeface="Noto Sans"/>
                        </a:rPr>
                        <a:t>Jährlich 1,55 % netto</a:t>
                      </a:r>
                      <a:br>
                        <a:rPr lang="de-DE" sz="1000" b="0" kern="0" spc="20" dirty="0">
                          <a:solidFill>
                            <a:schemeClr val="accent1"/>
                          </a:solidFill>
                          <a:latin typeface="+mj-lt"/>
                          <a:ea typeface="+mn-ea"/>
                          <a:cs typeface="Noto Sans"/>
                        </a:rPr>
                      </a:br>
                      <a:r>
                        <a:rPr lang="de-DE" sz="1000" b="0" kern="0" spc="20" dirty="0">
                          <a:solidFill>
                            <a:schemeClr val="accent1"/>
                          </a:solidFill>
                          <a:latin typeface="+mj-lt"/>
                          <a:ea typeface="+mn-ea"/>
                          <a:cs typeface="Noto Sans"/>
                        </a:rPr>
                        <a:t>des </a:t>
                      </a:r>
                      <a:r>
                        <a:rPr lang="de-DE" sz="1000" b="0" kern="0" spc="20" dirty="0">
                          <a:solidFill>
                            <a:schemeClr val="accent1"/>
                          </a:solidFill>
                          <a:latin typeface="+mj-lt"/>
                          <a:ea typeface=""/>
                          <a:cs typeface="Noto Sans"/>
                        </a:rPr>
                        <a:t>durchschnittlich verfügbaren Anlage-volumens = 1,8445 %* brutto</a:t>
                      </a:r>
                    </a:p>
                    <a:p>
                      <a:pPr algn="l"/>
                      <a:endParaRPr lang="de-DE" sz="1000" b="0" kern="0" spc="20" dirty="0">
                        <a:solidFill>
                          <a:schemeClr val="accent1"/>
                        </a:solidFill>
                        <a:latin typeface="+mj-lt"/>
                        <a:ea typeface=""/>
                        <a:cs typeface="Noto Sans"/>
                      </a:endParaRPr>
                    </a:p>
                    <a:p>
                      <a:pPr algn="l"/>
                      <a:r>
                        <a:rPr lang="de-DE" sz="1000" b="0" kern="0" spc="20" dirty="0">
                          <a:solidFill>
                            <a:schemeClr val="accent1"/>
                          </a:solidFill>
                          <a:latin typeface="+mj-lt"/>
                          <a:ea typeface=""/>
                          <a:cs typeface="Noto Sans"/>
                        </a:rPr>
                        <a:t>Mindestens 3.000 € netto bzw. mindestens </a:t>
                      </a:r>
                    </a:p>
                    <a:p>
                      <a:pPr algn="l"/>
                      <a:r>
                        <a:rPr lang="de-DE" sz="1000" b="0" kern="0" spc="20" dirty="0">
                          <a:solidFill>
                            <a:schemeClr val="accent1"/>
                          </a:solidFill>
                          <a:latin typeface="+mj-lt"/>
                          <a:ea typeface=""/>
                          <a:cs typeface="Noto Sans"/>
                        </a:rPr>
                        <a:t>3.570 €* brutto</a:t>
                      </a:r>
                      <a:endParaRPr lang="de-DE" sz="1000" b="0" kern="0" spc="20" dirty="0">
                        <a:solidFill>
                          <a:schemeClr val="accent1"/>
                        </a:solidFill>
                        <a:latin typeface="+mj-lt"/>
                        <a:ea typeface="+mn-ea"/>
                        <a:cs typeface="Noto Sans"/>
                      </a:endParaRP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000" b="0" kern="0" spc="20" dirty="0">
                          <a:solidFill>
                            <a:schemeClr val="accent1"/>
                          </a:solidFill>
                          <a:latin typeface="+mj-lt"/>
                          <a:ea typeface="+mn-ea"/>
                          <a:cs typeface="Noto Sans"/>
                        </a:rPr>
                        <a:t>Jährlich 1,55 % netto </a:t>
                      </a:r>
                      <a:br>
                        <a:rPr lang="de-DE" sz="1000" b="0" kern="0" spc="20" dirty="0">
                          <a:solidFill>
                            <a:schemeClr val="accent1"/>
                          </a:solidFill>
                          <a:latin typeface="+mj-lt"/>
                          <a:ea typeface="+mn-ea"/>
                          <a:cs typeface="Noto Sans"/>
                        </a:rPr>
                      </a:br>
                      <a:r>
                        <a:rPr lang="de-DE" sz="1000" b="0" kern="0" spc="20" dirty="0">
                          <a:solidFill>
                            <a:schemeClr val="accent1"/>
                          </a:solidFill>
                          <a:latin typeface="+mj-lt"/>
                          <a:ea typeface="+mn-ea"/>
                          <a:cs typeface="Noto Sans"/>
                        </a:rPr>
                        <a:t>des </a:t>
                      </a:r>
                      <a:r>
                        <a:rPr lang="de-DE" sz="1000" b="0" kern="0" spc="20" dirty="0">
                          <a:solidFill>
                            <a:schemeClr val="accent1"/>
                          </a:solidFill>
                          <a:latin typeface="+mj-lt"/>
                          <a:ea typeface=""/>
                          <a:cs typeface="Noto Sans"/>
                        </a:rPr>
                        <a:t>durchschnittlich verfügbaren Anlage-volumens = 1,8445 %* brutto</a:t>
                      </a:r>
                    </a:p>
                    <a:p>
                      <a:pPr algn="l"/>
                      <a:endParaRPr lang="de-DE" sz="1000" b="0" kern="0" spc="20" dirty="0">
                        <a:solidFill>
                          <a:schemeClr val="accent1"/>
                        </a:solidFill>
                        <a:latin typeface="+mj-lt"/>
                        <a:ea typeface="+mn-ea"/>
                        <a:cs typeface="Noto Sans"/>
                      </a:endParaRPr>
                    </a:p>
                    <a:p>
                      <a:pPr algn="l"/>
                      <a:r>
                        <a:rPr lang="de-DE" sz="1000" b="0" kern="0" spc="20" dirty="0">
                          <a:solidFill>
                            <a:schemeClr val="accent1"/>
                          </a:solidFill>
                          <a:latin typeface="+mj-lt"/>
                          <a:ea typeface=""/>
                          <a:cs typeface="Noto Sans"/>
                        </a:rPr>
                        <a:t>Mindestens 3.000 € netto bzw. mindestens </a:t>
                      </a:r>
                    </a:p>
                    <a:p>
                      <a:pPr algn="l"/>
                      <a:r>
                        <a:rPr lang="de-DE" sz="1000" b="0" kern="0" spc="20" dirty="0">
                          <a:solidFill>
                            <a:schemeClr val="accent1"/>
                          </a:solidFill>
                          <a:latin typeface="+mj-lt"/>
                          <a:ea typeface=""/>
                          <a:cs typeface="Noto Sans"/>
                        </a:rPr>
                        <a:t>3.570 €* brutto</a:t>
                      </a:r>
                      <a:endParaRPr lang="de-DE" sz="1000" b="0" kern="0" spc="20" dirty="0">
                        <a:solidFill>
                          <a:schemeClr val="accent1"/>
                        </a:solidFill>
                        <a:latin typeface="+mj-lt"/>
                        <a:ea typeface="+mn-ea"/>
                        <a:cs typeface="Noto Sans"/>
                      </a:endParaRP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000" b="0" kern="0" spc="20" dirty="0">
                          <a:solidFill>
                            <a:schemeClr val="accent1"/>
                          </a:solidFill>
                          <a:latin typeface="+mj-lt"/>
                          <a:ea typeface=""/>
                          <a:cs typeface="Noto Sans"/>
                        </a:rPr>
                        <a:t>Jährlich 1,55 % netto </a:t>
                      </a:r>
                      <a:br>
                        <a:rPr lang="de-DE" sz="1000" b="0" kern="0" spc="20" dirty="0">
                          <a:solidFill>
                            <a:schemeClr val="accent1"/>
                          </a:solidFill>
                          <a:latin typeface="+mj-lt"/>
                          <a:ea typeface=""/>
                          <a:cs typeface="Noto Sans"/>
                        </a:rPr>
                      </a:br>
                      <a:r>
                        <a:rPr lang="de-DE" sz="1000" b="0" kern="0" spc="20" dirty="0">
                          <a:solidFill>
                            <a:schemeClr val="accent1"/>
                          </a:solidFill>
                          <a:latin typeface="+mj-lt"/>
                          <a:ea typeface=""/>
                          <a:cs typeface="Noto Sans"/>
                        </a:rPr>
                        <a:t>des durchschnittlich verfügbaren Anlage-volumens = 1,8445 %* brutto</a:t>
                      </a:r>
                    </a:p>
                    <a:p>
                      <a:pPr algn="l"/>
                      <a:endParaRPr lang="de-DE" sz="1000" b="0" kern="0" spc="20" dirty="0">
                        <a:solidFill>
                          <a:schemeClr val="accent1"/>
                        </a:solidFill>
                        <a:latin typeface="+mj-lt"/>
                        <a:ea typeface=""/>
                        <a:cs typeface="Noto Sans"/>
                      </a:endParaRPr>
                    </a:p>
                    <a:p>
                      <a:pPr algn="l"/>
                      <a:r>
                        <a:rPr lang="de-DE" sz="1000" b="0" kern="0" spc="20" dirty="0">
                          <a:solidFill>
                            <a:schemeClr val="accent1"/>
                          </a:solidFill>
                          <a:latin typeface="+mj-lt"/>
                          <a:ea typeface=""/>
                          <a:cs typeface="Noto Sans"/>
                        </a:rPr>
                        <a:t>Mindestens 3.000 € netto bzw. mindestens </a:t>
                      </a:r>
                    </a:p>
                    <a:p>
                      <a:pPr algn="l"/>
                      <a:r>
                        <a:rPr lang="de-DE" sz="1000" b="0" kern="0" spc="20" dirty="0">
                          <a:solidFill>
                            <a:schemeClr val="accent1"/>
                          </a:solidFill>
                          <a:latin typeface="+mj-lt"/>
                          <a:ea typeface=""/>
                          <a:cs typeface="Noto Sans"/>
                        </a:rPr>
                        <a:t>3.570 €* brutto</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081400">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000" b="1" kern="0" spc="20" dirty="0">
                          <a:solidFill>
                            <a:schemeClr val="accent1"/>
                          </a:solidFill>
                          <a:latin typeface="+mj-lt"/>
                          <a:ea typeface="+mn-ea"/>
                          <a:cs typeface="Noto Sans"/>
                        </a:rPr>
                        <a:t>Erfolgsabhängige </a:t>
                      </a:r>
                    </a:p>
                    <a:p>
                      <a:pPr algn="l"/>
                      <a:r>
                        <a:rPr lang="de-DE" sz="1000" b="1" kern="0" spc="20" dirty="0">
                          <a:solidFill>
                            <a:schemeClr val="accent1"/>
                          </a:solidFill>
                          <a:latin typeface="+mj-lt"/>
                          <a:ea typeface="+mn-ea"/>
                          <a:cs typeface="Noto Sans"/>
                        </a:rPr>
                        <a:t>All-in-Fee jährlich</a:t>
                      </a:r>
                    </a:p>
                    <a:p>
                      <a:pPr algn="l"/>
                      <a:r>
                        <a:rPr lang="de-DE" sz="1000" b="0" kern="0" spc="20" dirty="0">
                          <a:solidFill>
                            <a:schemeClr val="accent1"/>
                          </a:solidFill>
                          <a:latin typeface="+mj-lt"/>
                          <a:ea typeface="+mn-ea"/>
                          <a:cs typeface="Noto Sans"/>
                        </a:rPr>
                        <a:t>Die Belastung erfolgt jährlich. </a:t>
                      </a:r>
                    </a:p>
                    <a:p>
                      <a:pPr algn="l"/>
                      <a:r>
                        <a:rPr lang="de-DE" sz="1000" b="0" kern="0" spc="20" dirty="0">
                          <a:solidFill>
                            <a:schemeClr val="accent1"/>
                          </a:solidFill>
                          <a:latin typeface="+mj-lt"/>
                          <a:ea typeface="+mn-ea"/>
                          <a:cs typeface="Noto Sans"/>
                        </a:rPr>
                        <a:t>Als Berechnungs-grundlage dient das durchschnittliche Anlagevolumen im Honorareitraum zum Stichtag 31.12.</a:t>
                      </a:r>
                    </a:p>
                    <a:p>
                      <a:pPr>
                        <a:lnSpc>
                          <a:spcPts val="1180"/>
                        </a:lnSpc>
                      </a:pPr>
                      <a:endParaRPr lang="de-DE" sz="1000" b="0" kern="0" spc="20" dirty="0">
                        <a:solidFill>
                          <a:schemeClr val="accent1"/>
                        </a:solidFill>
                        <a:latin typeface="+mj-lt"/>
                        <a:cs typeface="Noto Sans"/>
                      </a:endParaRP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endParaRPr lang="de-DE" sz="1000" b="0" kern="0" spc="20" dirty="0">
                        <a:solidFill>
                          <a:schemeClr val="accent1"/>
                        </a:solidFill>
                        <a:latin typeface="+mj-lt"/>
                        <a:ea typeface="+mn-ea"/>
                        <a:cs typeface="Noto Sans"/>
                      </a:endParaRP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000" b="0" kern="0" spc="20" dirty="0">
                          <a:solidFill>
                            <a:schemeClr val="accent1"/>
                          </a:solidFill>
                          <a:latin typeface="+mj-lt"/>
                          <a:ea typeface="+mn-ea"/>
                          <a:cs typeface="Noto Sans"/>
                        </a:rPr>
                        <a:t>Jährlich 1,05 % netto, plus 10 % des Zugewinns des durchschnittlich verfügbaren Anlage-volumens = 1,2495 %* brutto + 11,90 %* brutto</a:t>
                      </a:r>
                    </a:p>
                    <a:p>
                      <a:pPr marL="0" indent="0" algn="l" defTabSz="914400" rtl="0" eaLnBrk="1" latinLnBrk="0" hangingPunct="1">
                        <a:buFont typeface="Symbol" panose="05050102010706020507" pitchFamily="18" charset="2"/>
                        <a:buNone/>
                      </a:pPr>
                      <a:endParaRPr lang="de-DE" sz="1000" b="0" kern="0" spc="20" dirty="0">
                        <a:solidFill>
                          <a:schemeClr val="accent1"/>
                        </a:solidFill>
                        <a:latin typeface="+mj-lt"/>
                        <a:ea typeface="+mn-ea"/>
                        <a:cs typeface="Noto Sans"/>
                      </a:endParaRPr>
                    </a:p>
                    <a:p>
                      <a:pPr algn="l"/>
                      <a:r>
                        <a:rPr lang="de-DE" sz="1000" b="0" kern="0" spc="20" dirty="0">
                          <a:solidFill>
                            <a:schemeClr val="accent1"/>
                          </a:solidFill>
                          <a:latin typeface="+mj-lt"/>
                          <a:ea typeface=""/>
                          <a:cs typeface="Noto Sans"/>
                        </a:rPr>
                        <a:t>Mindestens 3.000 € netto bzw. mindestens </a:t>
                      </a:r>
                    </a:p>
                    <a:p>
                      <a:pPr algn="l"/>
                      <a:r>
                        <a:rPr lang="de-DE" sz="1000" b="0" kern="0" spc="20" dirty="0">
                          <a:solidFill>
                            <a:schemeClr val="accent1"/>
                          </a:solidFill>
                          <a:latin typeface="+mj-lt"/>
                          <a:ea typeface=""/>
                          <a:cs typeface="Noto Sans"/>
                        </a:rPr>
                        <a:t>3.570 €* brutto</a:t>
                      </a:r>
                      <a:endParaRPr lang="de-DE" sz="1000" b="0" kern="0" spc="20" dirty="0">
                        <a:solidFill>
                          <a:schemeClr val="accent1"/>
                        </a:solidFill>
                        <a:latin typeface="+mj-lt"/>
                        <a:ea typeface="+mn-ea"/>
                        <a:cs typeface="Noto Sans"/>
                      </a:endParaRP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000" b="0" kern="0" spc="20" dirty="0">
                          <a:solidFill>
                            <a:schemeClr val="accent1"/>
                          </a:solidFill>
                          <a:latin typeface="+mj-lt"/>
                          <a:ea typeface=""/>
                          <a:cs typeface="Noto Sans"/>
                        </a:rPr>
                        <a:t>Jährlich 1,05 % netto, plus 10 % des Zugewinns des durchschnittlich verfügbaren Anlage-volumens = 1,2495 %* brutto + 11,90 %* brutto </a:t>
                      </a:r>
                    </a:p>
                    <a:p>
                      <a:pPr marL="0" indent="0" algn="l" defTabSz="914400" rtl="0" eaLnBrk="1" latinLnBrk="0" hangingPunct="1">
                        <a:buFont typeface="Symbol" panose="05050102010706020507" pitchFamily="18" charset="2"/>
                        <a:buNone/>
                      </a:pPr>
                      <a:endParaRPr lang="de-DE" sz="1000" b="0" kern="0" spc="20" dirty="0">
                        <a:solidFill>
                          <a:schemeClr val="accent1"/>
                        </a:solidFill>
                        <a:latin typeface="+mj-lt"/>
                        <a:ea typeface=""/>
                        <a:cs typeface="Noto Sans"/>
                      </a:endParaRPr>
                    </a:p>
                    <a:p>
                      <a:pPr algn="l"/>
                      <a:r>
                        <a:rPr lang="de-DE" sz="1000" b="0" kern="0" spc="20" dirty="0">
                          <a:solidFill>
                            <a:schemeClr val="accent1"/>
                          </a:solidFill>
                          <a:latin typeface="+mj-lt"/>
                          <a:ea typeface=""/>
                          <a:cs typeface="Noto Sans"/>
                        </a:rPr>
                        <a:t>Mindestens 3.000 € netto bzw. mindestens </a:t>
                      </a:r>
                    </a:p>
                    <a:p>
                      <a:pPr algn="l"/>
                      <a:r>
                        <a:rPr lang="de-DE" sz="1000" b="0" kern="0" spc="20" dirty="0">
                          <a:solidFill>
                            <a:schemeClr val="accent1"/>
                          </a:solidFill>
                          <a:latin typeface="+mj-lt"/>
                          <a:ea typeface=""/>
                          <a:cs typeface="Noto Sans"/>
                        </a:rPr>
                        <a:t>3.570 €* brutto</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indent="0" algn="l" defTabSz="914400" rtl="0" eaLnBrk="1" latinLnBrk="0" hangingPunct="1">
                        <a:buFont typeface="Symbol" panose="05050102010706020507" pitchFamily="18" charset="2"/>
                        <a:buNone/>
                      </a:pPr>
                      <a:r>
                        <a:rPr lang="de-DE" sz="1000" b="0" kern="0" spc="20" dirty="0">
                          <a:solidFill>
                            <a:schemeClr val="accent1"/>
                          </a:solidFill>
                          <a:latin typeface="+mj-lt"/>
                          <a:ea typeface=""/>
                          <a:cs typeface="Noto Sans"/>
                        </a:rPr>
                        <a:t>Jährlich 1,05 % netto, plus 10 % des Zugewinns des durchschnittlich verfügbaren Anlage-volumens = 1,2495 %* brutto + 11,90 %* brutto</a:t>
                      </a:r>
                    </a:p>
                    <a:p>
                      <a:pPr marL="0" indent="0" algn="l" defTabSz="914400" rtl="0" eaLnBrk="1" latinLnBrk="0" hangingPunct="1">
                        <a:buFont typeface="Symbol" panose="05050102010706020507" pitchFamily="18" charset="2"/>
                        <a:buNone/>
                      </a:pPr>
                      <a:endParaRPr lang="de-DE" sz="1000" b="0" kern="0" spc="20" dirty="0">
                        <a:solidFill>
                          <a:schemeClr val="accent1"/>
                        </a:solidFill>
                        <a:latin typeface="+mj-lt"/>
                        <a:ea typeface=""/>
                        <a:cs typeface="Noto Sans"/>
                      </a:endParaRPr>
                    </a:p>
                    <a:p>
                      <a:pPr algn="l"/>
                      <a:r>
                        <a:rPr lang="de-DE" sz="1000" b="0" kern="0" spc="20" dirty="0">
                          <a:solidFill>
                            <a:schemeClr val="accent1"/>
                          </a:solidFill>
                          <a:latin typeface="+mj-lt"/>
                          <a:ea typeface=""/>
                          <a:cs typeface="Noto Sans"/>
                        </a:rPr>
                        <a:t>Mindestens 3.000 € netto bzw. mindestens </a:t>
                      </a:r>
                    </a:p>
                    <a:p>
                      <a:pPr algn="l"/>
                      <a:r>
                        <a:rPr lang="de-DE" sz="1000" b="0" kern="0" spc="20" dirty="0">
                          <a:solidFill>
                            <a:schemeClr val="accent1"/>
                          </a:solidFill>
                          <a:latin typeface="+mj-lt"/>
                          <a:ea typeface=""/>
                          <a:cs typeface="Noto Sans"/>
                        </a:rPr>
                        <a:t>3.570 €* brutto</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0002"/>
                  </a:ext>
                </a:extLst>
              </a:tr>
            </a:tbl>
          </a:graphicData>
        </a:graphic>
      </p:graphicFrame>
      <p:sp>
        <p:nvSpPr>
          <p:cNvPr id="6" name="Textfeld 5">
            <a:extLst>
              <a:ext uri="{FF2B5EF4-FFF2-40B4-BE49-F238E27FC236}">
                <a16:creationId xmlns:a16="http://schemas.microsoft.com/office/drawing/2014/main" id="{00DA0E0E-D75D-8B4F-2AE4-1CF616A0B5A1}"/>
              </a:ext>
            </a:extLst>
          </p:cNvPr>
          <p:cNvSpPr txBox="1"/>
          <p:nvPr/>
        </p:nvSpPr>
        <p:spPr>
          <a:xfrm>
            <a:off x="7757359" y="5512475"/>
            <a:ext cx="2571184" cy="200055"/>
          </a:xfrm>
          <a:prstGeom prst="rect">
            <a:avLst/>
          </a:prstGeom>
          <a:noFill/>
        </p:spPr>
        <p:txBody>
          <a:bodyPr wrap="square" rtlCol="0">
            <a:spAutoFit/>
          </a:bodyPr>
          <a:lstStyle/>
          <a:p>
            <a:r>
              <a:rPr lang="de-DE" sz="700" dirty="0">
                <a:solidFill>
                  <a:schemeClr val="bg1">
                    <a:lumMod val="50000"/>
                  </a:schemeClr>
                </a:solidFill>
                <a:latin typeface="+mj-lt"/>
              </a:rPr>
              <a:t>*inklusive 19% gesetzliche Umsatzsteuer</a:t>
            </a:r>
          </a:p>
        </p:txBody>
      </p:sp>
    </p:spTree>
    <p:extLst>
      <p:ext uri="{BB962C8B-B14F-4D97-AF65-F5344CB8AC3E}">
        <p14:creationId xmlns:p14="http://schemas.microsoft.com/office/powerpoint/2010/main" val="448243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EEE-A04E-6DAC-BC1B-672E88405F5C}"/>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086986D-FF02-10E6-714C-4BC3C095FB32}"/>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34</a:t>
            </a:fld>
            <a:endParaRPr lang="de-DE"/>
          </a:p>
        </p:txBody>
      </p:sp>
      <p:sp>
        <p:nvSpPr>
          <p:cNvPr id="6" name="Titel">
            <a:extLst>
              <a:ext uri="{FF2B5EF4-FFF2-40B4-BE49-F238E27FC236}">
                <a16:creationId xmlns:a16="http://schemas.microsoft.com/office/drawing/2014/main" id="{9A4A8219-EDFE-2E10-CAD7-8EE453B1C94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Risikohinweise</a:t>
            </a:r>
            <a:endParaRPr lang="de-DE" dirty="0">
              <a:solidFill>
                <a:srgbClr val="FF0000"/>
              </a:solidFill>
            </a:endParaRPr>
          </a:p>
        </p:txBody>
      </p:sp>
      <p:sp>
        <p:nvSpPr>
          <p:cNvPr id="8" name="Text 1">
            <a:extLst>
              <a:ext uri="{FF2B5EF4-FFF2-40B4-BE49-F238E27FC236}">
                <a16:creationId xmlns:a16="http://schemas.microsoft.com/office/drawing/2014/main" id="{2CA92FC6-4022-9D35-AA38-EEFAC8D0B3FD}"/>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Währungsrisiko:</a:t>
            </a:r>
            <a:r>
              <a:rPr lang="de-DE" dirty="0"/>
              <a:t> Bei Anlagen in Fremdwährungen hängt die Rendite nicht nur von der Kursentwicklung des Wertpapiers ab, sondern auch von der Entwicklung des Wechselkurses zum Euro. Ungünstige Wechselkursänderungen können Gewinne schmälern oder zu Verlusten führen.</a:t>
            </a:r>
            <a:endParaRPr lang="de-DE" b="1" dirty="0"/>
          </a:p>
          <a:p>
            <a:pPr lvl="2"/>
            <a:endParaRPr lang="de-DE" b="1" dirty="0"/>
          </a:p>
          <a:p>
            <a:pPr lvl="2"/>
            <a:r>
              <a:rPr lang="de-DE" b="1" dirty="0"/>
              <a:t>Meinungsvorbehalt</a:t>
            </a:r>
            <a:r>
              <a:rPr lang="de-DE" dirty="0"/>
              <a:t>: Die dargestellten Meinungsäußerungen geben die aktuelle Einschätzung des Erstellers wieder und können sich ohne vorherige Ankündigung ändern.</a:t>
            </a:r>
          </a:p>
          <a:p>
            <a:pPr lvl="2"/>
            <a:endParaRPr lang="de-DE" dirty="0"/>
          </a:p>
          <a:p>
            <a:pPr lvl="2"/>
            <a:r>
              <a:rPr lang="de-DE" b="1" dirty="0"/>
              <a:t>Steuerliche Hinweise:</a:t>
            </a:r>
            <a:r>
              <a:rPr lang="de-DE" dirty="0"/>
              <a:t> Die steuerliche Behandlung der Erträge hängt von den persönlichen Verhältnissen des Kunden ab und kann künftigen Änderungen unterworfen sein. Diese Information ersetzt keine individuelle Steuerberatung.</a:t>
            </a:r>
          </a:p>
        </p:txBody>
      </p:sp>
      <p:sp>
        <p:nvSpPr>
          <p:cNvPr id="14" name="Text 1">
            <a:extLst>
              <a:ext uri="{FF2B5EF4-FFF2-40B4-BE49-F238E27FC236}">
                <a16:creationId xmlns:a16="http://schemas.microsoft.com/office/drawing/2014/main" id="{262685F1-866B-40B7-CD4A-5027053E814A}"/>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Markt- und Kursrisiken</a:t>
            </a:r>
            <a:r>
              <a:rPr lang="de-DE" dirty="0"/>
              <a:t>: Anlagen an den Kapitalmärkten sind mit Risiken verbunden. Die Kurse, Erträge und Werte einer Investmentanlage, auch der beschriebenen Investitionsmöglichkeiten können schwanken. Ein Kapitalverlust ist nicht auszuschließen.</a:t>
            </a:r>
            <a:br>
              <a:rPr lang="de-DE" dirty="0">
                <a:solidFill>
                  <a:srgbClr val="FF0000"/>
                </a:solidFill>
              </a:rPr>
            </a:br>
            <a:endParaRPr lang="de-DE" dirty="0">
              <a:solidFill>
                <a:srgbClr val="FF0000"/>
              </a:solidFill>
            </a:endParaRPr>
          </a:p>
          <a:p>
            <a:pPr lvl="2"/>
            <a:r>
              <a:rPr lang="de-DE" b="1" dirty="0"/>
              <a:t>Frühere Entwicklungen</a:t>
            </a:r>
            <a:r>
              <a:rPr lang="de-DE" dirty="0"/>
              <a:t>, Simulationen oder Prognosen sind kein verlässlicher Indikator für die zukünftige Wertentwicklung. Eine positive Entwicklung in der Vergangenheit ist insbesondere keine Garantie für die zukünftige Wertentwicklung. </a:t>
            </a:r>
          </a:p>
          <a:p>
            <a:pPr lvl="2"/>
            <a:endParaRPr lang="de-DE" dirty="0"/>
          </a:p>
          <a:p>
            <a:pPr lvl="2"/>
            <a:r>
              <a:rPr lang="de-DE" dirty="0"/>
              <a:t>Insbesondere bei Anlagen mit geringer Nominalverzinsung kann die </a:t>
            </a:r>
            <a:r>
              <a:rPr lang="de-DE" b="1" dirty="0"/>
              <a:t>Inflation</a:t>
            </a:r>
            <a:r>
              <a:rPr lang="de-DE" dirty="0"/>
              <a:t> zu einem realen Wertverlust führen.</a:t>
            </a:r>
          </a:p>
          <a:p>
            <a:pPr lvl="2"/>
            <a:endParaRPr lang="de-DE" dirty="0"/>
          </a:p>
          <a:p>
            <a:pPr lvl="2"/>
            <a:r>
              <a:rPr lang="de-DE" dirty="0"/>
              <a:t>Eine kurze Anlagedauer sowie anfallende </a:t>
            </a:r>
            <a:r>
              <a:rPr lang="de-DE" b="1" dirty="0"/>
              <a:t>Kosten</a:t>
            </a:r>
            <a:r>
              <a:rPr lang="de-DE" dirty="0"/>
              <a:t> und Gebühren können das Risiko-Rendite-Verhältnis sowie die tatsächliche Netto-Rendite erheblich beeinträchtigen.</a:t>
            </a:r>
          </a:p>
          <a:p>
            <a:pPr marL="0" lvl="2" indent="0">
              <a:buNone/>
            </a:pPr>
            <a:endParaRPr lang="de-DE" dirty="0"/>
          </a:p>
          <a:p>
            <a:pPr lvl="2"/>
            <a:endParaRPr lang="de-DE" dirty="0"/>
          </a:p>
          <a:p>
            <a:pPr lvl="2"/>
            <a:endParaRPr lang="de-DE" dirty="0"/>
          </a:p>
        </p:txBody>
      </p:sp>
    </p:spTree>
    <p:extLst>
      <p:ext uri="{BB962C8B-B14F-4D97-AF65-F5344CB8AC3E}">
        <p14:creationId xmlns:p14="http://schemas.microsoft.com/office/powerpoint/2010/main" val="2681415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16CC-F0AE-71CB-1251-609EEDFB115A}"/>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B47530D-88A6-A760-B34A-D1BE097ED3C6}"/>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35</a:t>
            </a:fld>
            <a:endParaRPr lang="de-DE"/>
          </a:p>
        </p:txBody>
      </p:sp>
      <p:sp>
        <p:nvSpPr>
          <p:cNvPr id="6" name="Titel">
            <a:extLst>
              <a:ext uri="{FF2B5EF4-FFF2-40B4-BE49-F238E27FC236}">
                <a16:creationId xmlns:a16="http://schemas.microsoft.com/office/drawing/2014/main" id="{2811FDDA-3594-45DD-834F-5736DCC6EF3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
        <p:nvSpPr>
          <p:cNvPr id="8" name="Text 1">
            <a:extLst>
              <a:ext uri="{FF2B5EF4-FFF2-40B4-BE49-F238E27FC236}">
                <a16:creationId xmlns:a16="http://schemas.microsoft.com/office/drawing/2014/main" id="{6055C3FA-5170-362F-1D1E-FE305637A52B}"/>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a:lnSpc>
                <a:spcPct val="100000"/>
              </a:lnSpc>
              <a:spcBef>
                <a:spcPts val="600"/>
              </a:spcBef>
            </a:pPr>
            <a:r>
              <a:rPr lang="de-DE" sz="1000" dirty="0">
                <a:solidFill>
                  <a:srgbClr val="000000"/>
                </a:solidFill>
                <a:latin typeface="+mn-lt"/>
              </a:rPr>
              <a:t>Verantwortlich für die Inhalte</a:t>
            </a:r>
          </a:p>
          <a:p>
            <a:pPr>
              <a:lnSpc>
                <a:spcPct val="100000"/>
              </a:lnSpc>
              <a:spcBef>
                <a:spcPts val="600"/>
              </a:spcBef>
            </a:pPr>
            <a:r>
              <a:rPr lang="de-DE" sz="1000" b="0" dirty="0">
                <a:solidFill>
                  <a:srgbClr val="000000"/>
                </a:solidFill>
                <a:latin typeface="+mn-lt"/>
              </a:rPr>
              <a:t>Fürst Fugger Privatbank Aktiengesellschaft</a:t>
            </a:r>
            <a:br>
              <a:rPr lang="de-DE" sz="1000" b="0" dirty="0">
                <a:solidFill>
                  <a:srgbClr val="000000"/>
                </a:solidFill>
                <a:latin typeface="+mn-lt"/>
              </a:rPr>
            </a:br>
            <a:r>
              <a:rPr lang="de-DE" sz="1000" b="0" dirty="0">
                <a:solidFill>
                  <a:srgbClr val="000000"/>
                </a:solidFill>
                <a:latin typeface="+mn-lt"/>
              </a:rPr>
              <a:t>Maximilianstraße 38</a:t>
            </a:r>
            <a:br>
              <a:rPr lang="de-DE" sz="1000" b="0" dirty="0">
                <a:solidFill>
                  <a:srgbClr val="000000"/>
                </a:solidFill>
                <a:latin typeface="+mn-lt"/>
              </a:rPr>
            </a:br>
            <a:r>
              <a:rPr lang="de-DE" sz="1000" b="0" dirty="0">
                <a:solidFill>
                  <a:srgbClr val="000000"/>
                </a:solidFill>
                <a:latin typeface="+mn-lt"/>
              </a:rPr>
              <a:t>86150 Augsburg</a:t>
            </a:r>
            <a:br>
              <a:rPr lang="de-DE" sz="1000" b="0" dirty="0">
                <a:solidFill>
                  <a:srgbClr val="000000"/>
                </a:solidFill>
                <a:latin typeface="+mn-lt"/>
              </a:rPr>
            </a:br>
            <a:r>
              <a:rPr lang="de-DE" sz="1000" b="0" dirty="0">
                <a:solidFill>
                  <a:srgbClr val="000000"/>
                </a:solidFill>
                <a:latin typeface="+mn-lt"/>
              </a:rPr>
              <a:t>Telefon 0821 3201-0</a:t>
            </a:r>
            <a:br>
              <a:rPr lang="de-DE" sz="1000" b="0" dirty="0">
                <a:solidFill>
                  <a:srgbClr val="000000"/>
                </a:solidFill>
                <a:latin typeface="+mn-lt"/>
              </a:rPr>
            </a:br>
            <a:r>
              <a:rPr lang="de-DE" sz="1000" b="0" dirty="0">
                <a:solidFill>
                  <a:srgbClr val="000000"/>
                </a:solidFill>
                <a:latin typeface="+mn-lt"/>
              </a:rPr>
              <a:t>Telefax 0821 3201-27</a:t>
            </a:r>
            <a:r>
              <a:rPr lang="de-DE" sz="1000" b="0" dirty="0">
                <a:solidFill>
                  <a:srgbClr val="FF0000"/>
                </a:solidFill>
                <a:latin typeface="+mn-lt"/>
              </a:rPr>
              <a:t>X</a:t>
            </a:r>
          </a:p>
          <a:p>
            <a:pPr>
              <a:lnSpc>
                <a:spcPct val="100000"/>
              </a:lnSpc>
            </a:pPr>
            <a:r>
              <a:rPr lang="de-DE" sz="1000" dirty="0">
                <a:solidFill>
                  <a:srgbClr val="000000"/>
                </a:solidFill>
                <a:latin typeface="+mn-lt"/>
              </a:rPr>
              <a:t>E-Mail </a:t>
            </a:r>
            <a:r>
              <a:rPr lang="de-DE" sz="1000" u="sng" dirty="0">
                <a:solidFill>
                  <a:schemeClr val="accent3"/>
                </a:solidFill>
                <a:latin typeface="+mn-lt"/>
                <a:hlinkClick r:id="rId3">
                  <a:extLst>
                    <a:ext uri="{A12FA001-AC4F-418D-AE19-62706E023703}">
                      <ahyp:hlinkClr xmlns:ahyp="http://schemas.microsoft.com/office/drawing/2018/hyperlinkcolor" val="tx"/>
                    </a:ext>
                  </a:extLst>
                </a:hlinkClick>
              </a:rPr>
              <a:t>info@fuggerbank.de</a:t>
            </a:r>
            <a:r>
              <a:rPr lang="de-DE" sz="1000" dirty="0">
                <a:solidFill>
                  <a:schemeClr val="accent3"/>
                </a:solidFill>
                <a:latin typeface="+mn-lt"/>
              </a:rPr>
              <a:t>     </a:t>
            </a:r>
          </a:p>
          <a:p>
            <a:pPr>
              <a:lnSpc>
                <a:spcPct val="100000"/>
              </a:lnSpc>
            </a:pPr>
            <a:r>
              <a:rPr lang="de-DE" sz="1000" dirty="0">
                <a:solidFill>
                  <a:srgbClr val="000000"/>
                </a:solidFill>
                <a:latin typeface="+mn-lt"/>
              </a:rPr>
              <a:t>Homepage </a:t>
            </a:r>
            <a:r>
              <a:rPr lang="de-DE" sz="1000" dirty="0">
                <a:solidFill>
                  <a:schemeClr val="accent3"/>
                </a:solidFill>
                <a:latin typeface="+mn-lt"/>
                <a:hlinkClick r:id="rId4">
                  <a:extLst>
                    <a:ext uri="{A12FA001-AC4F-418D-AE19-62706E023703}">
                      <ahyp:hlinkClr xmlns:ahyp="http://schemas.microsoft.com/office/drawing/2018/hyperlinkcolor" val="tx"/>
                    </a:ext>
                  </a:extLst>
                </a:hlinkClick>
              </a:rPr>
              <a:t>www.fuggerbank.de</a:t>
            </a:r>
            <a:r>
              <a:rPr lang="de-DE" sz="1000" dirty="0">
                <a:solidFill>
                  <a:schemeClr val="accent3"/>
                </a:solidFill>
                <a:latin typeface="+mn-lt"/>
              </a:rPr>
              <a:t> </a:t>
            </a:r>
          </a:p>
          <a:p>
            <a:pPr>
              <a:lnSpc>
                <a:spcPts val="1100"/>
              </a:lnSpc>
            </a:pPr>
            <a:r>
              <a:rPr lang="de-DE" sz="1000" dirty="0">
                <a:solidFill>
                  <a:srgbClr val="000000"/>
                </a:solidFill>
                <a:latin typeface="+mn-lt"/>
              </a:rPr>
              <a:t>Vorstand </a:t>
            </a:r>
            <a:r>
              <a:rPr lang="de-DE" sz="1000" b="0" dirty="0">
                <a:solidFill>
                  <a:srgbClr val="000000"/>
                </a:solidFill>
                <a:latin typeface="+mn-lt"/>
              </a:rPr>
              <a:t>Dr. Martin Fritz (Vorsitzender)</a:t>
            </a:r>
            <a:br>
              <a:rPr lang="de-DE" sz="1000" b="0" dirty="0">
                <a:solidFill>
                  <a:srgbClr val="000000"/>
                </a:solidFill>
                <a:latin typeface="+mn-lt"/>
              </a:rPr>
            </a:br>
            <a:r>
              <a:rPr lang="de-DE" sz="1000" b="0" dirty="0">
                <a:solidFill>
                  <a:srgbClr val="000000"/>
                </a:solidFill>
                <a:latin typeface="+mn-lt"/>
              </a:rPr>
              <a:t>                   Jochen Hagen</a:t>
            </a:r>
          </a:p>
          <a:p>
            <a:pPr>
              <a:lnSpc>
                <a:spcPts val="600"/>
              </a:lnSpc>
            </a:pPr>
            <a:r>
              <a:rPr lang="de-DE" sz="1000" dirty="0">
                <a:solidFill>
                  <a:srgbClr val="000000"/>
                </a:solidFill>
                <a:latin typeface="+mn-lt"/>
              </a:rPr>
              <a:t>Vorsitzender des Aufsichtsrats </a:t>
            </a:r>
            <a:r>
              <a:rPr lang="de-DE" sz="1000" b="0" dirty="0">
                <a:solidFill>
                  <a:srgbClr val="000000"/>
                </a:solidFill>
                <a:latin typeface="+mn-lt"/>
              </a:rPr>
              <a:t>Dr. Jürgen Voß</a:t>
            </a:r>
          </a:p>
          <a:p>
            <a:pPr>
              <a:lnSpc>
                <a:spcPts val="600"/>
              </a:lnSpc>
            </a:pPr>
            <a:r>
              <a:rPr lang="en-US" sz="1000" b="0" dirty="0">
                <a:solidFill>
                  <a:srgbClr val="000000"/>
                </a:solidFill>
                <a:latin typeface="+mn-lt"/>
              </a:rPr>
              <a:t>BLZ 720 300 14 	BIC FUBKDE71</a:t>
            </a:r>
            <a:endParaRPr lang="de-DE" sz="1000" b="0" dirty="0">
              <a:solidFill>
                <a:srgbClr val="000000"/>
              </a:solidFill>
              <a:latin typeface="+mn-lt"/>
            </a:endParaRPr>
          </a:p>
          <a:p>
            <a:pPr>
              <a:lnSpc>
                <a:spcPts val="600"/>
              </a:lnSpc>
            </a:pPr>
            <a:r>
              <a:rPr lang="en-US" sz="1000" b="0" dirty="0" err="1">
                <a:solidFill>
                  <a:srgbClr val="000000"/>
                </a:solidFill>
                <a:latin typeface="+mn-lt"/>
              </a:rPr>
              <a:t>USt</a:t>
            </a:r>
            <a:r>
              <a:rPr lang="en-US" sz="1000" b="0" dirty="0">
                <a:solidFill>
                  <a:srgbClr val="000000"/>
                </a:solidFill>
                <a:latin typeface="+mn-lt"/>
              </a:rPr>
              <a:t>.-</a:t>
            </a:r>
            <a:r>
              <a:rPr lang="en-US" sz="1000" b="0" dirty="0" err="1">
                <a:solidFill>
                  <a:srgbClr val="000000"/>
                </a:solidFill>
                <a:latin typeface="+mn-lt"/>
              </a:rPr>
              <a:t>IdNr</a:t>
            </a:r>
            <a:r>
              <a:rPr lang="en-US" sz="1000" b="0" dirty="0">
                <a:solidFill>
                  <a:srgbClr val="000000"/>
                </a:solidFill>
                <a:latin typeface="+mn-lt"/>
              </a:rPr>
              <a:t>. </a:t>
            </a:r>
            <a:r>
              <a:rPr lang="de-DE" sz="1000" b="0" dirty="0">
                <a:solidFill>
                  <a:srgbClr val="000000"/>
                </a:solidFill>
                <a:latin typeface="+mn-lt"/>
              </a:rPr>
              <a:t>DE127460248 St.-Nr. 103/120/20616</a:t>
            </a:r>
          </a:p>
          <a:p>
            <a:pPr>
              <a:lnSpc>
                <a:spcPts val="600"/>
              </a:lnSpc>
            </a:pPr>
            <a:r>
              <a:rPr lang="de-DE" sz="1000" dirty="0">
                <a:solidFill>
                  <a:srgbClr val="000000"/>
                </a:solidFill>
                <a:latin typeface="+mn-lt"/>
              </a:rPr>
              <a:t>Handelsregister </a:t>
            </a:r>
            <a:r>
              <a:rPr lang="de-DE" sz="1000" b="0" dirty="0">
                <a:solidFill>
                  <a:srgbClr val="000000"/>
                </a:solidFill>
                <a:latin typeface="+mn-lt"/>
              </a:rPr>
              <a:t>Amtsgericht Augsburg HRB 30002</a:t>
            </a:r>
          </a:p>
          <a:p>
            <a:pPr>
              <a:lnSpc>
                <a:spcPts val="600"/>
              </a:lnSpc>
            </a:pPr>
            <a:r>
              <a:rPr lang="de-DE" sz="1000" dirty="0">
                <a:solidFill>
                  <a:srgbClr val="000000"/>
                </a:solidFill>
                <a:latin typeface="+mn-lt"/>
              </a:rPr>
              <a:t>Zuständige Aufsichtsbehörden</a:t>
            </a:r>
          </a:p>
          <a:p>
            <a:pPr>
              <a:lnSpc>
                <a:spcPts val="600"/>
              </a:lnSpc>
            </a:pPr>
            <a:r>
              <a:rPr lang="de-DE" sz="1000" b="0" dirty="0">
                <a:solidFill>
                  <a:srgbClr val="000000"/>
                </a:solidFill>
                <a:latin typeface="+mn-lt"/>
              </a:rPr>
              <a:t>Bundesanstalt für Finanzdienstleistungsaufsicht (BaFin)</a:t>
            </a:r>
            <a:br>
              <a:rPr lang="de-DE" sz="1000" b="0" dirty="0">
                <a:solidFill>
                  <a:srgbClr val="000000"/>
                </a:solidFill>
                <a:latin typeface="+mn-lt"/>
              </a:rPr>
            </a:br>
            <a:br>
              <a:rPr lang="de-DE" sz="1000" b="0" dirty="0">
                <a:solidFill>
                  <a:schemeClr val="accent3"/>
                </a:solidFill>
                <a:latin typeface="+mn-lt"/>
              </a:rPr>
            </a:br>
            <a:r>
              <a:rPr lang="de-DE" sz="1000" b="0" u="sng" dirty="0">
                <a:solidFill>
                  <a:schemeClr val="accent3"/>
                </a:solidFill>
                <a:latin typeface="+mn-lt"/>
                <a:hlinkClick r:id="rId5">
                  <a:extLst>
                    <a:ext uri="{A12FA001-AC4F-418D-AE19-62706E023703}">
                      <ahyp:hlinkClr xmlns:ahyp="http://schemas.microsoft.com/office/drawing/2018/hyperlinkcolor" val="tx"/>
                    </a:ext>
                  </a:extLst>
                </a:hlinkClick>
              </a:rPr>
              <a:t>www.bafin.de</a:t>
            </a:r>
            <a:endParaRPr lang="de-DE" sz="1000" b="0" dirty="0">
              <a:solidFill>
                <a:schemeClr val="accent3"/>
              </a:solidFill>
              <a:latin typeface="+mn-lt"/>
            </a:endParaRPr>
          </a:p>
          <a:p>
            <a:pPr>
              <a:lnSpc>
                <a:spcPts val="600"/>
              </a:lnSpc>
            </a:pPr>
            <a:r>
              <a:rPr lang="de-DE" sz="1000" b="0" dirty="0">
                <a:solidFill>
                  <a:srgbClr val="000000"/>
                </a:solidFill>
                <a:latin typeface="+mn-lt"/>
              </a:rPr>
              <a:t>Europäische Zentralbank </a:t>
            </a:r>
            <a:r>
              <a:rPr lang="de-DE" sz="1000" b="0" dirty="0">
                <a:solidFill>
                  <a:schemeClr val="accent3"/>
                </a:solidFill>
                <a:latin typeface="+mn-lt"/>
                <a:hlinkClick r:id="rId6">
                  <a:extLst>
                    <a:ext uri="{A12FA001-AC4F-418D-AE19-62706E023703}">
                      <ahyp:hlinkClr xmlns:ahyp="http://schemas.microsoft.com/office/drawing/2018/hyperlinkcolor" val="tx"/>
                    </a:ext>
                  </a:extLst>
                </a:hlinkClick>
              </a:rPr>
              <a:t>https://www.ecb.europa.eu/</a:t>
            </a:r>
            <a:r>
              <a:rPr lang="de-DE" sz="1000" b="0" dirty="0">
                <a:solidFill>
                  <a:schemeClr val="accent3"/>
                </a:solidFill>
                <a:latin typeface="+mn-lt"/>
              </a:rPr>
              <a:t> </a:t>
            </a:r>
          </a:p>
          <a:p>
            <a:pPr>
              <a:lnSpc>
                <a:spcPts val="600"/>
              </a:lnSpc>
            </a:pPr>
            <a:br>
              <a:rPr lang="de-DE" dirty="0">
                <a:solidFill>
                  <a:srgbClr val="000000"/>
                </a:solidFill>
                <a:latin typeface="+mn-lt"/>
              </a:rPr>
            </a:br>
            <a:endParaRPr lang="de-DE" dirty="0">
              <a:solidFill>
                <a:srgbClr val="000000"/>
              </a:solidFill>
              <a:latin typeface="+mn-lt"/>
            </a:endParaRPr>
          </a:p>
          <a:p>
            <a:pPr lvl="2"/>
            <a:endParaRPr lang="de-DE" dirty="0"/>
          </a:p>
        </p:txBody>
      </p:sp>
      <p:sp>
        <p:nvSpPr>
          <p:cNvPr id="14" name="Text 1">
            <a:extLst>
              <a:ext uri="{FF2B5EF4-FFF2-40B4-BE49-F238E27FC236}">
                <a16:creationId xmlns:a16="http://schemas.microsoft.com/office/drawing/2014/main" id="{8CCE4820-0FDA-9A4D-5A63-CD644FE440C8}"/>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b="0" dirty="0">
                <a:solidFill>
                  <a:srgbClr val="000000"/>
                </a:solidFill>
                <a:latin typeface="+mn-lt"/>
              </a:rPr>
              <a:t>Die vorliegenden Inhalte sind als reine Kundeninformation der Fürst Fugger Privatbank zu verstehen. Sie stellen weder ein verbindliches Angebot noch eine Anlageberatung dar. Da jeder Anlageerfolg eine individuelle Analyse Ihrer Ziele und Vermögensverhältnisse voraussetzt, ersetzt dieses Dokument kein persönliches Beratungsgespräch.</a:t>
            </a:r>
          </a:p>
          <a:p>
            <a:r>
              <a:rPr lang="de-DE" b="0" dirty="0">
                <a:solidFill>
                  <a:srgbClr val="000000"/>
                </a:solidFill>
                <a:latin typeface="+mn-lt"/>
              </a:rPr>
              <a:t>Wir haben die Informationen mit gebotener Sorgfalt zusammengestellt. Bitte haben Sie Verständnis, dass wir für die Richtigkeit der genutzten Quellen keine Gewähr übernehmen können und unsere Haftung auf Vorsatz sowie grobe Fahrlässigkeit beschränkt ist. Die Vertraulichkeit bleibt gewahrt: Eine Weitergabe an Dritte oder eine Vervielfältigung ist nur nach unserer ausdrücklichen Zustimmung zulässig.</a:t>
            </a:r>
          </a:p>
          <a:p>
            <a:pPr lvl="2"/>
            <a:endParaRPr lang="de-DE" dirty="0"/>
          </a:p>
        </p:txBody>
      </p:sp>
    </p:spTree>
    <p:extLst>
      <p:ext uri="{BB962C8B-B14F-4D97-AF65-F5344CB8AC3E}">
        <p14:creationId xmlns:p14="http://schemas.microsoft.com/office/powerpoint/2010/main" val="1409241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BD092B-3E1D-4D44-8BCC-43FEAC72E7AA}"/>
              </a:ext>
            </a:extLst>
          </p:cNvPr>
          <p:cNvSpPr>
            <a:spLocks noGrp="1"/>
          </p:cNvSpPr>
          <p:nvPr>
            <p:ph type="title"/>
          </p:nvPr>
        </p:nvSpPr>
        <p:spPr/>
        <p:txBody>
          <a:bodyPr/>
          <a:lstStyle/>
          <a:p>
            <a:r>
              <a:rPr lang="de-DE" dirty="0"/>
              <a:t>Unser Reporting</a:t>
            </a:r>
          </a:p>
        </p:txBody>
      </p:sp>
    </p:spTree>
    <p:extLst>
      <p:ext uri="{BB962C8B-B14F-4D97-AF65-F5344CB8AC3E}">
        <p14:creationId xmlns:p14="http://schemas.microsoft.com/office/powerpoint/2010/main" val="214174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952F355-56A8-9B4C-9C8A-5B39F231AADD}"/>
              </a:ext>
            </a:extLst>
          </p:cNvPr>
          <p:cNvSpPr>
            <a:spLocks noGrp="1"/>
          </p:cNvSpPr>
          <p:nvPr>
            <p:ph type="body" sz="quarter" idx="10"/>
          </p:nvPr>
        </p:nvSpPr>
        <p:spPr>
          <a:xfrm>
            <a:off x="1036594" y="2084366"/>
            <a:ext cx="7423194" cy="1827500"/>
          </a:xfrm>
        </p:spPr>
        <p:txBody>
          <a:bodyPr/>
          <a:lstStyle/>
          <a:p>
            <a:r>
              <a:rPr lang="de-DE" dirty="0"/>
              <a:t>RECHTLICHE HINWEISE </a:t>
            </a:r>
            <a:br>
              <a:rPr lang="de-DE" dirty="0"/>
            </a:br>
            <a:r>
              <a:rPr lang="de-DE" dirty="0"/>
              <a:t>UND IMPRESSUM</a:t>
            </a:r>
          </a:p>
        </p:txBody>
      </p:sp>
      <p:sp>
        <p:nvSpPr>
          <p:cNvPr id="3" name="Textplatzhalter 2">
            <a:extLst>
              <a:ext uri="{FF2B5EF4-FFF2-40B4-BE49-F238E27FC236}">
                <a16:creationId xmlns:a16="http://schemas.microsoft.com/office/drawing/2014/main" id="{41FB8F5F-EAD0-9448-8FEA-C366C8E028CD}"/>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98593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38</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781801" y="1050707"/>
            <a:ext cx="3823927" cy="4791074"/>
          </a:xfrm>
        </p:spPr>
        <p:txBody>
          <a:bodyPr/>
          <a:lstStyle/>
          <a:p>
            <a:pPr>
              <a:spcBef>
                <a:spcPts val="400"/>
              </a:spcBef>
            </a:pPr>
            <a:r>
              <a:rPr lang="de-DE" b="0" dirty="0"/>
              <a:t>Die dargestellten Meinungsäußerungen geben die aktuellen Einschätzungen des Erstellers wieder und können sich ohne vorherige Ankündigung ändern. </a:t>
            </a:r>
          </a:p>
          <a:p>
            <a:pPr>
              <a:spcBef>
                <a:spcPts val="400"/>
              </a:spcBef>
            </a:pPr>
            <a:r>
              <a:rPr lang="de-DE" b="0" dirty="0"/>
              <a:t>Vorstehende Angaben wurden mit großer Sorgfalt recherchiert. Bitte haben Sie dafür Verständnis, dass </a:t>
            </a:r>
            <a:br>
              <a:rPr lang="de-DE" b="0" dirty="0"/>
            </a:br>
            <a:r>
              <a:rPr lang="de-DE" b="0" dirty="0"/>
              <a:t>wir unsere Haftung auf Vorsatz und grobe Fahrlässigkeit beschränken müssen, und keinerlei Garantien bezüglich der Korrektheit oder Vollständigkeit der gemachten Angaben übernehmen können. Die Informationen stammen aus bzw. basieren auf Quellen, welche die Fürst Fugger Privatbank für geeignet erachtet. Es wird keine Gewähr übernommen, dass diese richtig, vollständig und aktuell sind. </a:t>
            </a:r>
          </a:p>
          <a:p>
            <a:pPr>
              <a:spcBef>
                <a:spcPts val="400"/>
              </a:spcBef>
              <a:spcAft>
                <a:spcPts val="3900"/>
              </a:spcAft>
            </a:pPr>
            <a:r>
              <a:rPr lang="de-DE" b="0" dirty="0"/>
              <a:t>Die in diesem Vortrag wiedergegebenen Informationen wurden zum angegebenen Zweck erstellt und erfolgen ausschließlich zu Informationszwecken. Eine </a:t>
            </a:r>
            <a:r>
              <a:rPr lang="de-DE" b="0" dirty="0" err="1"/>
              <a:t>ander-weitige</a:t>
            </a:r>
            <a:r>
              <a:rPr lang="de-DE" b="0" dirty="0"/>
              <a:t> Speicherung, Veröffentlichung oder Weitergabe an Dritte ist nicht gestattet und darf nur nach vorheriger Zustimmung der Fürst Fugger Privatbank erfolgen. </a:t>
            </a:r>
          </a:p>
          <a:p>
            <a:pPr algn="r">
              <a:lnSpc>
                <a:spcPct val="100000"/>
              </a:lnSpc>
              <a:spcBef>
                <a:spcPts val="0"/>
              </a:spcBef>
              <a:spcAft>
                <a:spcPts val="0"/>
              </a:spcAft>
            </a:pPr>
            <a:r>
              <a:rPr lang="de-DE" sz="800" b="0" dirty="0">
                <a:solidFill>
                  <a:schemeClr val="bg1">
                    <a:lumMod val="50000"/>
                  </a:schemeClr>
                </a:solidFill>
              </a:rPr>
              <a:t>Herausgeber: Fürst Fugger Privatbank</a:t>
            </a:r>
          </a:p>
          <a:p>
            <a:pPr algn="r">
              <a:lnSpc>
                <a:spcPct val="100000"/>
              </a:lnSpc>
              <a:spcBef>
                <a:spcPts val="0"/>
              </a:spcBef>
              <a:spcAft>
                <a:spcPts val="0"/>
              </a:spcAft>
            </a:pPr>
            <a:r>
              <a:rPr lang="de-DE" sz="800" b="0" u="sng" dirty="0">
                <a:solidFill>
                  <a:schemeClr val="bg1">
                    <a:lumMod val="50000"/>
                  </a:schemeClr>
                </a:solidFill>
                <a:hlinkClick r:id="rId3">
                  <a:extLst>
                    <a:ext uri="{A12FA001-AC4F-418D-AE19-62706E023703}">
                      <ahyp:hlinkClr xmlns:ahyp="http://schemas.microsoft.com/office/drawing/2018/hyperlinkcolor" val="tx"/>
                    </a:ext>
                  </a:extLst>
                </a:hlinkClick>
              </a:rPr>
              <a:t>www.fuggerbank.de</a:t>
            </a:r>
            <a:r>
              <a:rPr lang="de-DE" sz="800" b="0" u="sng" dirty="0">
                <a:solidFill>
                  <a:schemeClr val="bg1">
                    <a:lumMod val="50000"/>
                  </a:schemeClr>
                </a:solidFill>
              </a:rPr>
              <a:t> </a:t>
            </a:r>
            <a:r>
              <a:rPr lang="de-DE" sz="800" b="0" dirty="0">
                <a:solidFill>
                  <a:schemeClr val="bg1">
                    <a:lumMod val="50000"/>
                  </a:schemeClr>
                </a:solidFill>
              </a:rPr>
              <a:t>Stand: 31.07.2024</a:t>
            </a:r>
          </a:p>
        </p:txBody>
      </p:sp>
      <p:sp>
        <p:nvSpPr>
          <p:cNvPr id="5" name="Inhaltsplatzhalter 4">
            <a:extLst>
              <a:ext uri="{FF2B5EF4-FFF2-40B4-BE49-F238E27FC236}">
                <a16:creationId xmlns:a16="http://schemas.microsoft.com/office/drawing/2014/main" id="{A24F3140-E7DE-563B-E0DE-B188622D07CA}"/>
              </a:ext>
            </a:extLst>
          </p:cNvPr>
          <p:cNvSpPr>
            <a:spLocks noGrp="1"/>
          </p:cNvSpPr>
          <p:nvPr>
            <p:ph idx="1"/>
          </p:nvPr>
        </p:nvSpPr>
        <p:spPr>
          <a:xfrm>
            <a:off x="693753" y="1050707"/>
            <a:ext cx="3823927" cy="4791074"/>
          </a:xfrm>
        </p:spPr>
        <p:txBody>
          <a:bodyPr/>
          <a:lstStyle/>
          <a:p>
            <a:pPr>
              <a:spcBef>
                <a:spcPts val="400"/>
              </a:spcBef>
            </a:pPr>
            <a:r>
              <a:rPr lang="de-DE" b="0" dirty="0"/>
              <a:t>Im vorliegenden Dokument handelt es sich um eine Werbemitteilung der Fürst Fugger Privatbank. </a:t>
            </a:r>
          </a:p>
          <a:p>
            <a:pPr>
              <a:spcBef>
                <a:spcPts val="400"/>
              </a:spcBef>
            </a:pPr>
            <a:r>
              <a:rPr lang="de-DE" b="0" dirty="0"/>
              <a:t>Die hier enthaltenen Informationen dienen nicht als Angebot, Anlageberatung oder Empfehlung und können eine auf Ihre individuellen Verhältnisse, insbesondere Ihre Kenntnisse/Erfahrungen, Ihre finanzielle Situation und Ihre Anlageziele abgestellte Beratung oder Dienstleistung nicht ersetzten. </a:t>
            </a:r>
          </a:p>
          <a:p>
            <a:pPr>
              <a:spcBef>
                <a:spcPts val="400"/>
              </a:spcBef>
            </a:pPr>
            <a:r>
              <a:rPr lang="de-DE" b="0" dirty="0"/>
              <a:t>Die Kurse, Erträge und Werte einer Investmentanlage, auch der beschriebenen Investitionsmöglichkeiten können schwanken, steigen oder fallen. Verweise auf frühere Entwicklungen, Simulationen oder Prognosen sind kein verlässlicher Indikator für die zukünftige Wertentwicklung. Eine positive Entwicklung in der Vergangenheit ist insbesondere keine Garantie für die zukünftige Wertentwicklung. Die Inflation kann negative Auswirkungen auf den Wert und die nominale Rendite Ihres Anlagevermögens haben. So kann insbesondere bei risikofreien Anlagen ein Wertverlust dadurch eintreten, dass die negative Auswirkung der Inflation die nominal Rendite übersteigt. Auch eine geringe Anlagedauer und die Gesamtkosten und -gebühren können negativ das Risiko-Rendite-Verhältnis beeinflussen. </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Rechtliche Hinweise und Impressum </a:t>
            </a:r>
          </a:p>
        </p:txBody>
      </p:sp>
    </p:spTree>
    <p:extLst>
      <p:ext uri="{BB962C8B-B14F-4D97-AF65-F5344CB8AC3E}">
        <p14:creationId xmlns:p14="http://schemas.microsoft.com/office/powerpoint/2010/main" val="3996292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19A067D8-C414-224B-80B2-E98E3602E963}"/>
              </a:ext>
            </a:extLst>
          </p:cNvPr>
          <p:cNvSpPr>
            <a:spLocks noGrp="1"/>
          </p:cNvSpPr>
          <p:nvPr>
            <p:ph type="body" sz="quarter" idx="10"/>
          </p:nvPr>
        </p:nvSpPr>
        <p:spPr/>
        <p:txBody>
          <a:bodyPr/>
          <a:lstStyle/>
          <a:p>
            <a:r>
              <a:rPr lang="de-DE" dirty="0"/>
              <a:t>VIELEN DANK.</a:t>
            </a:r>
          </a:p>
        </p:txBody>
      </p:sp>
    </p:spTree>
    <p:extLst>
      <p:ext uri="{BB962C8B-B14F-4D97-AF65-F5344CB8AC3E}">
        <p14:creationId xmlns:p14="http://schemas.microsoft.com/office/powerpoint/2010/main" val="1632853416"/>
      </p:ext>
    </p:extLst>
  </p:cSld>
  <p:clrMapOvr>
    <a:masterClrMapping/>
  </p:clrMapOvr>
</p:sld>
</file>

<file path=ppt/theme/theme1.xml><?xml version="1.0" encoding="utf-8"?>
<a:theme xmlns:a="http://schemas.openxmlformats.org/drawingml/2006/main" name="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5944</Words>
  <Application>Microsoft Office PowerPoint</Application>
  <PresentationFormat>Benutzerdefiniert</PresentationFormat>
  <Paragraphs>1947</Paragraphs>
  <Slides>39</Slides>
  <Notes>2</Notes>
  <HiddenSlides>0</HiddenSlides>
  <MMClips>0</MMClips>
  <ScaleCrop>false</ScaleCrop>
  <HeadingPairs>
    <vt:vector size="6" baseType="variant">
      <vt:variant>
        <vt:lpstr>Verwendete Schriftarten</vt:lpstr>
      </vt:variant>
      <vt:variant>
        <vt:i4>9</vt:i4>
      </vt:variant>
      <vt:variant>
        <vt:lpstr>Design</vt:lpstr>
      </vt:variant>
      <vt:variant>
        <vt:i4>2</vt:i4>
      </vt:variant>
      <vt:variant>
        <vt:lpstr>Folientitel</vt:lpstr>
      </vt:variant>
      <vt:variant>
        <vt:i4>39</vt:i4>
      </vt:variant>
    </vt:vector>
  </HeadingPairs>
  <TitlesOfParts>
    <vt:vector size="50" baseType="lpstr">
      <vt:lpstr>Arial</vt:lpstr>
      <vt:lpstr>Calibri</vt:lpstr>
      <vt:lpstr>Gill Sans</vt:lpstr>
      <vt:lpstr>Lucida Grande</vt:lpstr>
      <vt:lpstr>Noto Sans</vt:lpstr>
      <vt:lpstr>Noto Serif</vt:lpstr>
      <vt:lpstr>Open Sans</vt:lpstr>
      <vt:lpstr>Symbol</vt:lpstr>
      <vt:lpstr>Wingdings 2</vt:lpstr>
      <vt:lpstr>Office</vt:lpstr>
      <vt:lpstr>1_Office</vt:lpstr>
      <vt:lpstr>PowerPoint-Präsentation</vt:lpstr>
      <vt:lpstr>Inhalt</vt:lpstr>
      <vt:lpstr>NACHHALTIGKEIT  LIEGT UNS AM HERZEN</vt:lpstr>
      <vt:lpstr>PowerPoint-Präsentation</vt:lpstr>
      <vt:lpstr>Die drei Säulen der Nachhaltigkeit</vt:lpstr>
      <vt:lpstr>ESG und Nachhaltigkeit</vt:lpstr>
      <vt:lpstr>Investmentprozess und Risiken</vt:lpstr>
      <vt:lpstr>PowerPoint-Präsentation</vt:lpstr>
      <vt:lpstr>PowerPoint-Präsentation</vt:lpstr>
      <vt:lpstr>Nachhaltigkeits- und Investmentkonzept|SDG-Beitrag</vt:lpstr>
      <vt:lpstr>Nachhaltigkeitsprozess Offenlegungsverordnung: Nachteilige Auswirkungen auf Nachhaltigkeit (Principal Adverse Impacts on Sustainability – PAIs) </vt:lpstr>
      <vt:lpstr>PowerPoint-Präsentation</vt:lpstr>
      <vt:lpstr>Wir orientieren uns an den UN Global Compact Richtlinien </vt:lpstr>
      <vt:lpstr>Anlagerichtlinien</vt:lpstr>
      <vt:lpstr>PowerPoint-Präsentation</vt:lpstr>
      <vt:lpstr>Anlagestrategie ESG Defensiv</vt:lpstr>
      <vt:lpstr>Anlagestrategie ESG Defensiv | Wertentwicklung</vt:lpstr>
      <vt:lpstr>Anlagestrategie ESG Defensiv Plus</vt:lpstr>
      <vt:lpstr>Anlagestrategie ESG Defensiv Plus | Wertentwicklung</vt:lpstr>
      <vt:lpstr>Anlagestrategie ESG Ausgewogen</vt:lpstr>
      <vt:lpstr>Anlagestrategie ESG Ausgewogen | Wertentwicklung</vt:lpstr>
      <vt:lpstr>Anlagestrategie ESG Offensiv</vt:lpstr>
      <vt:lpstr>Anlagestrategie ESG Offensiv | Wertentwicklung</vt:lpstr>
      <vt:lpstr>Wertentwicklung der ESG Vermögensverwaltungsstrategien </vt:lpstr>
      <vt:lpstr>PowerPoint-Präsentation</vt:lpstr>
      <vt:lpstr>Unsere Standorte</vt:lpstr>
      <vt:lpstr>Unsere Standorte</vt:lpstr>
      <vt:lpstr>PowerPoint-Präsentation</vt:lpstr>
      <vt:lpstr>Anlageklassen und Ausgestaltung</vt:lpstr>
      <vt:lpstr>Unser Risikomanagement</vt:lpstr>
      <vt:lpstr>Unser Service</vt:lpstr>
      <vt:lpstr>Unser Service</vt:lpstr>
      <vt:lpstr>Honorarübersicht</vt:lpstr>
      <vt:lpstr>Risikohinweise</vt:lpstr>
      <vt:lpstr>Rechtliche Hinweise und Impressum</vt:lpstr>
      <vt:lpstr>Unser Reporting</vt:lpstr>
      <vt:lpstr>PowerPoint-Präsentation</vt:lpstr>
      <vt:lpstr>Rechtliche Hinweise und Impressum </vt:lpstr>
      <vt:lpstr>PowerPoint-Präsentation</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194</cp:revision>
  <dcterms:created xsi:type="dcterms:W3CDTF">2023-08-14T05:18:02Z</dcterms:created>
  <dcterms:modified xsi:type="dcterms:W3CDTF">2026-07-06T08:47:38Z</dcterms:modified>
  <cp:category>Vorlagen;Design</cp:category>
</cp:coreProperties>
</file>