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86" r:id="rId2"/>
  </p:sldMasterIdLst>
  <p:notesMasterIdLst>
    <p:notesMasterId r:id="rId42"/>
  </p:notesMasterIdLst>
  <p:sldIdLst>
    <p:sldId id="551" r:id="rId3"/>
    <p:sldId id="564" r:id="rId4"/>
    <p:sldId id="339" r:id="rId5"/>
    <p:sldId id="557" r:id="rId6"/>
    <p:sldId id="535" r:id="rId7"/>
    <p:sldId id="366" r:id="rId8"/>
    <p:sldId id="536" r:id="rId9"/>
    <p:sldId id="257" r:id="rId10"/>
    <p:sldId id="258" r:id="rId11"/>
    <p:sldId id="556" r:id="rId12"/>
    <p:sldId id="555" r:id="rId13"/>
    <p:sldId id="259" r:id="rId14"/>
    <p:sldId id="544" r:id="rId15"/>
    <p:sldId id="545" r:id="rId16"/>
    <p:sldId id="558" r:id="rId17"/>
    <p:sldId id="260" r:id="rId18"/>
    <p:sldId id="276" r:id="rId19"/>
    <p:sldId id="272" r:id="rId20"/>
    <p:sldId id="277" r:id="rId21"/>
    <p:sldId id="273" r:id="rId22"/>
    <p:sldId id="278" r:id="rId23"/>
    <p:sldId id="274" r:id="rId24"/>
    <p:sldId id="279" r:id="rId25"/>
    <p:sldId id="307" r:id="rId26"/>
    <p:sldId id="559" r:id="rId27"/>
    <p:sldId id="553" r:id="rId28"/>
    <p:sldId id="554" r:id="rId29"/>
    <p:sldId id="560" r:id="rId30"/>
    <p:sldId id="548" r:id="rId31"/>
    <p:sldId id="549" r:id="rId32"/>
    <p:sldId id="538" r:id="rId33"/>
    <p:sldId id="539" r:id="rId34"/>
    <p:sldId id="542" r:id="rId35"/>
    <p:sldId id="312" r:id="rId36"/>
    <p:sldId id="311" r:id="rId37"/>
    <p:sldId id="563" r:id="rId38"/>
    <p:sldId id="561" r:id="rId39"/>
    <p:sldId id="541" r:id="rId40"/>
    <p:sldId id="562" r:id="rId4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157" autoAdjust="0"/>
  </p:normalViewPr>
  <p:slideViewPr>
    <p:cSldViewPr snapToGrid="0" showGuides="1">
      <p:cViewPr varScale="1">
        <p:scale>
          <a:sx n="85" d="100"/>
          <a:sy n="85" d="100"/>
        </p:scale>
        <p:origin x="300" y="5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6.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A91-4840-B572-B2AFB3B677F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A91-4840-B572-B2AFB3B677F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A91-4840-B572-B2AFB3B677F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A91-4840-B572-B2AFB3B677FD}"/>
              </c:ext>
            </c:extLst>
          </c:dPt>
          <c:dLbls>
            <c:dLbl>
              <c:idx val="0"/>
              <c:layout>
                <c:manualLayout>
                  <c:x val="0.26745343399085358"/>
                  <c:y val="-2.043712016958279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A91-4840-B572-B2AFB3B677F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A91-4840-B572-B2AFB3B677FD}"/>
                </c:ext>
              </c:extLst>
            </c:dLbl>
            <c:dLbl>
              <c:idx val="2"/>
              <c:layout>
                <c:manualLayout>
                  <c:x val="-0.21318976731050654"/>
                  <c:y val="0.248220058050069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A91-4840-B572-B2AFB3B677FD}"/>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A91-4840-B572-B2AFB3B677F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S_Diagramm_ESG!$B$4:$B$7</c:f>
              <c:strCache>
                <c:ptCount val="4"/>
                <c:pt idx="0">
                  <c:v>EDELMETALLE</c:v>
                </c:pt>
                <c:pt idx="1">
                  <c:v>RENTEN</c:v>
                </c:pt>
                <c:pt idx="2">
                  <c:v>AKTIEN </c:v>
                </c:pt>
                <c:pt idx="3">
                  <c:v>LIQUIDITÄT</c:v>
                </c:pt>
              </c:strCache>
            </c:strRef>
          </c:cat>
          <c:val>
            <c:numRef>
              <c:f>S_Diagramm_ESG!$C$4:$C$7</c:f>
              <c:numCache>
                <c:formatCode>0.00%</c:formatCode>
                <c:ptCount val="4"/>
                <c:pt idx="0">
                  <c:v>9.7299999999999998E-2</c:v>
                </c:pt>
                <c:pt idx="1">
                  <c:v>0.61420000000000008</c:v>
                </c:pt>
                <c:pt idx="2">
                  <c:v>0.22969999999999996</c:v>
                </c:pt>
                <c:pt idx="3">
                  <c:v>5.8799999999999998E-2</c:v>
                </c:pt>
              </c:numCache>
            </c:numRef>
          </c:val>
          <c:extLst>
            <c:ext xmlns:c16="http://schemas.microsoft.com/office/drawing/2014/chart" uri="{C3380CC4-5D6E-409C-BE32-E72D297353CC}">
              <c16:uniqueId val="{00000008-6A91-4840-B572-B2AFB3B677F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1472766177"/>
          <c:w val="0.23958689936318936"/>
          <c:h val="0.2477288527233823"/>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formatCode="mmm\-yy">
                  <c:v>45688</c:v>
                </c:pt>
                <c:pt idx="50" formatCode="mmm\-yy">
                  <c:v>45716</c:v>
                </c:pt>
                <c:pt idx="51" formatCode="mmm\-yy">
                  <c:v>45747</c:v>
                </c:pt>
                <c:pt idx="52" formatCode="mmm\-yy">
                  <c:v>45777</c:v>
                </c:pt>
                <c:pt idx="53" formatCode="mmm\-yy">
                  <c:v>45808</c:v>
                </c:pt>
                <c:pt idx="54" formatCode="mmm\-yy">
                  <c:v>45838</c:v>
                </c:pt>
                <c:pt idx="55" formatCode="mmm\-yy">
                  <c:v>45869</c:v>
                </c:pt>
                <c:pt idx="56" formatCode="mmm\-yy">
                  <c:v>45900</c:v>
                </c:pt>
                <c:pt idx="57" formatCode="mmm\-yy">
                  <c:v>45930</c:v>
                </c:pt>
                <c:pt idx="58" formatCode="mmm\-yy">
                  <c:v>45961</c:v>
                </c:pt>
                <c:pt idx="59" formatCode="mmm\-yy">
                  <c:v>45991</c:v>
                </c:pt>
                <c:pt idx="60" formatCode="mmm\-yy">
                  <c:v>46022</c:v>
                </c:pt>
                <c:pt idx="61" formatCode="mmm\-yy">
                  <c:v>46053</c:v>
                </c:pt>
                <c:pt idx="62" formatCode="mmm\-yy">
                  <c:v>46081</c:v>
                </c:pt>
                <c:pt idx="63" formatCode="mmm\-yy">
                  <c:v>46112</c:v>
                </c:pt>
                <c:pt idx="64" formatCode="mmm\-yy">
                  <c:v>46142</c:v>
                </c:pt>
                <c:pt idx="65" formatCode="mmm\-yy">
                  <c:v>46173</c:v>
                </c:pt>
                <c:pt idx="66" formatCode="mmm\-yy">
                  <c:v>46203</c:v>
                </c:pt>
                <c:pt idx="67" formatCode="mmm\-yy">
                  <c:v>46209</c:v>
                </c:pt>
              </c:numCache>
            </c:numRef>
          </c:cat>
          <c:val>
            <c:numRef>
              <c:f>Tabelle1!$B$2:$B$230</c:f>
              <c:numCache>
                <c:formatCode>General</c:formatCode>
                <c:ptCount val="229"/>
                <c:pt idx="0">
                  <c:v>1</c:v>
                </c:pt>
                <c:pt idx="1">
                  <c:v>0.99850000000000005</c:v>
                </c:pt>
                <c:pt idx="2">
                  <c:v>0.98821545000000011</c:v>
                </c:pt>
                <c:pt idx="3">
                  <c:v>1.0001728569450001</c:v>
                </c:pt>
                <c:pt idx="4">
                  <c:v>1.0046736348012526</c:v>
                </c:pt>
                <c:pt idx="5">
                  <c:v>1.0116058828813812</c:v>
                </c:pt>
                <c:pt idx="6">
                  <c:v>1.0218231022984832</c:v>
                </c:pt>
                <c:pt idx="7">
                  <c:v>1.0275204047332362</c:v>
                </c:pt>
                <c:pt idx="8">
                  <c:v>1.0313222302307492</c:v>
                </c:pt>
                <c:pt idx="9">
                  <c:v>1.0197714212521649</c:v>
                </c:pt>
                <c:pt idx="10">
                  <c:v>1.0288473869013091</c:v>
                </c:pt>
                <c:pt idx="11">
                  <c:v>1.0386214370768716</c:v>
                </c:pt>
                <c:pt idx="12">
                  <c:v>1.0452686142741636</c:v>
                </c:pt>
                <c:pt idx="13">
                  <c:v>1.0154680060812071</c:v>
                </c:pt>
                <c:pt idx="14">
                  <c:v>1.0031808432076246</c:v>
                </c:pt>
                <c:pt idx="15">
                  <c:v>1.0005725730152848</c:v>
                </c:pt>
                <c:pt idx="16">
                  <c:v>0.98366289653132644</c:v>
                </c:pt>
                <c:pt idx="17">
                  <c:v>0.95995662072492149</c:v>
                </c:pt>
                <c:pt idx="18">
                  <c:v>0.92933400452379644</c:v>
                </c:pt>
                <c:pt idx="19">
                  <c:v>0.96822430927810599</c:v>
                </c:pt>
                <c:pt idx="20">
                  <c:v>0.9440187015461533</c:v>
                </c:pt>
                <c:pt idx="21">
                  <c:v>0.91371570122652179</c:v>
                </c:pt>
                <c:pt idx="22">
                  <c:v>0.91271061395517261</c:v>
                </c:pt>
                <c:pt idx="23">
                  <c:v>0.92740525483985092</c:v>
                </c:pt>
                <c:pt idx="24">
                  <c:v>0.91117566288015361</c:v>
                </c:pt>
                <c:pt idx="25">
                  <c:v>0.92467700826488042</c:v>
                </c:pt>
                <c:pt idx="26">
                  <c:v>0.91163906244834558</c:v>
                </c:pt>
                <c:pt idx="27">
                  <c:v>0.92768390994743655</c:v>
                </c:pt>
                <c:pt idx="28">
                  <c:v>0.9270345312104733</c:v>
                </c:pt>
                <c:pt idx="29">
                  <c:v>0.93380188328830982</c:v>
                </c:pt>
                <c:pt idx="30">
                  <c:v>0.92941301443685476</c:v>
                </c:pt>
                <c:pt idx="31">
                  <c:v>0.9301617727966105</c:v>
                </c:pt>
                <c:pt idx="32">
                  <c:v>0.92783636836461902</c:v>
                </c:pt>
                <c:pt idx="33">
                  <c:v>0.91846522104413642</c:v>
                </c:pt>
                <c:pt idx="34">
                  <c:v>0.91754675582309231</c:v>
                </c:pt>
                <c:pt idx="35">
                  <c:v>0.93791629380236496</c:v>
                </c:pt>
                <c:pt idx="36">
                  <c:v>0.9615517844061845</c:v>
                </c:pt>
                <c:pt idx="37">
                  <c:v>0.96223088035392124</c:v>
                </c:pt>
                <c:pt idx="38">
                  <c:v>0.96107620329749655</c:v>
                </c:pt>
                <c:pt idx="39">
                  <c:v>0.98097048070575465</c:v>
                </c:pt>
                <c:pt idx="40">
                  <c:v>0.97361320210046154</c:v>
                </c:pt>
                <c:pt idx="41">
                  <c:v>0.97818918415033362</c:v>
                </c:pt>
                <c:pt idx="42">
                  <c:v>0.98973181652330755</c:v>
                </c:pt>
                <c:pt idx="43">
                  <c:v>0.99879095555642261</c:v>
                </c:pt>
                <c:pt idx="44">
                  <c:v>1.0026862402830927</c:v>
                </c:pt>
                <c:pt idx="45">
                  <c:v>1.0155206241587162</c:v>
                </c:pt>
                <c:pt idx="46">
                  <c:v>1.0156221762211322</c:v>
                </c:pt>
                <c:pt idx="47">
                  <c:v>1.034309624263601</c:v>
                </c:pt>
                <c:pt idx="48">
                  <c:v>1.0280003355555929</c:v>
                </c:pt>
                <c:pt idx="49">
                  <c:v>1.0415982099941545</c:v>
                </c:pt>
                <c:pt idx="50">
                  <c:v>1.0473270001491224</c:v>
                </c:pt>
                <c:pt idx="51">
                  <c:v>1.0266946582461847</c:v>
                </c:pt>
                <c:pt idx="52">
                  <c:v>1.0305960979475202</c:v>
                </c:pt>
                <c:pt idx="53">
                  <c:v>1.0424479530739168</c:v>
                </c:pt>
                <c:pt idx="54">
                  <c:v>1.039841833191232</c:v>
                </c:pt>
                <c:pt idx="55">
                  <c:v>1.0460529384411124</c:v>
                </c:pt>
                <c:pt idx="56">
                  <c:v>1.0487726760810592</c:v>
                </c:pt>
                <c:pt idx="57">
                  <c:v>1.0706920250111531</c:v>
                </c:pt>
                <c:pt idx="58">
                  <c:v>1.0939260419538952</c:v>
                </c:pt>
                <c:pt idx="59">
                  <c:v>1.0951293606000445</c:v>
                </c:pt>
                <c:pt idx="60">
                  <c:v>1.1002764685948647</c:v>
                </c:pt>
                <c:pt idx="61">
                  <c:v>1.1172198297290759</c:v>
                </c:pt>
                <c:pt idx="62">
                  <c:v>1.1335208241111392</c:v>
                </c:pt>
                <c:pt idx="63">
                  <c:v>1.0928230394794103</c:v>
                </c:pt>
                <c:pt idx="64">
                  <c:v>1.1157975953199024</c:v>
                </c:pt>
                <c:pt idx="65">
                  <c:v>1.1359276823420479</c:v>
                </c:pt>
                <c:pt idx="66">
                  <c:v>1.132755005583123</c:v>
                </c:pt>
                <c:pt idx="67">
                  <c:v>1.1264643533887022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-0.12909999999999999</c:v>
                </c:pt>
                <c:pt idx="1">
                  <c:v>5.5599999999999997E-2</c:v>
                </c:pt>
                <c:pt idx="2">
                  <c:v>6.9099999999999995E-2</c:v>
                </c:pt>
                <c:pt idx="3">
                  <c:v>7.0300000000000001E-2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-0.1305</c:v>
                </c:pt>
                <c:pt idx="1">
                  <c:v>8.2900000000000001E-2</c:v>
                </c:pt>
                <c:pt idx="2">
                  <c:v>4.6699999999999998E-2</c:v>
                </c:pt>
                <c:pt idx="3">
                  <c:v>3.4599999999999999E-2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CA2F-4531-BD17-27F4B55B56F1}"/>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CA2F-4531-BD17-27F4B55B56F1}"/>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CA2F-4531-BD17-27F4B55B56F1}"/>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CA2F-4531-BD17-27F4B55B56F1}"/>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2F-4531-BD17-27F4B55B56F1}"/>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2F-4531-BD17-27F4B55B56F1}"/>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A2F-4531-BD17-27F4B55B56F1}"/>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A2F-4531-BD17-27F4B55B56F1}"/>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S_Diagramm_ESG!$F$4:$F$7</c:f>
              <c:strCache>
                <c:ptCount val="4"/>
                <c:pt idx="0">
                  <c:v>EDELMETALLE</c:v>
                </c:pt>
                <c:pt idx="1">
                  <c:v>RENTEN</c:v>
                </c:pt>
                <c:pt idx="2">
                  <c:v>AKTIEN </c:v>
                </c:pt>
                <c:pt idx="3">
                  <c:v>LIQUIDITÄT</c:v>
                </c:pt>
              </c:strCache>
            </c:strRef>
          </c:cat>
          <c:val>
            <c:numRef>
              <c:f>S_Diagramm_ESG!$G$4:$G$7</c:f>
              <c:numCache>
                <c:formatCode>0.00%</c:formatCode>
                <c:ptCount val="4"/>
                <c:pt idx="0">
                  <c:v>9.5699999999999993E-2</c:v>
                </c:pt>
                <c:pt idx="1">
                  <c:v>0.36360000000000003</c:v>
                </c:pt>
                <c:pt idx="2">
                  <c:v>0.4758</c:v>
                </c:pt>
                <c:pt idx="3">
                  <c:v>6.4899999999999999E-2</c:v>
                </c:pt>
              </c:numCache>
            </c:numRef>
          </c:val>
          <c:extLst>
            <c:ext xmlns:c16="http://schemas.microsoft.com/office/drawing/2014/chart" uri="{C3380CC4-5D6E-409C-BE32-E72D297353CC}">
              <c16:uniqueId val="{00000008-CA2F-4531-BD17-27F4B55B56F1}"/>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075351606611236"/>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0.99509999999999998</c:v>
                </c:pt>
                <c:pt idx="2">
                  <c:v>0.99798578999999987</c:v>
                </c:pt>
                <c:pt idx="3">
                  <c:v>1.0160493327989999</c:v>
                </c:pt>
                <c:pt idx="4">
                  <c:v>1.0268194557266692</c:v>
                </c:pt>
                <c:pt idx="5">
                  <c:v>1.0357527849914911</c:v>
                </c:pt>
                <c:pt idx="6">
                  <c:v>1.071071954959701</c:v>
                </c:pt>
                <c:pt idx="7">
                  <c:v>1.0728674732081966</c:v>
                </c:pt>
                <c:pt idx="8">
                  <c:v>1.097650711839306</c:v>
                </c:pt>
                <c:pt idx="9">
                  <c:v>1.0744902818194966</c:v>
                </c:pt>
                <c:pt idx="10">
                  <c:v>1.1025344781749855</c:v>
                </c:pt>
                <c:pt idx="11">
                  <c:v>1.1185212281085228</c:v>
                </c:pt>
                <c:pt idx="12">
                  <c:v>1.1360820113898267</c:v>
                </c:pt>
                <c:pt idx="13">
                  <c:v>1.0825244639822338</c:v>
                </c:pt>
                <c:pt idx="14">
                  <c:v>1.0663948494688984</c:v>
                </c:pt>
                <c:pt idx="15">
                  <c:v>1.0827106906657726</c:v>
                </c:pt>
                <c:pt idx="16">
                  <c:v>1.0529361466724638</c:v>
                </c:pt>
                <c:pt idx="17">
                  <c:v>1.0264021557763177</c:v>
                </c:pt>
                <c:pt idx="18">
                  <c:v>0.99899721821709009</c:v>
                </c:pt>
                <c:pt idx="19">
                  <c:v>1.0470626457002912</c:v>
                </c:pt>
                <c:pt idx="20">
                  <c:v>1.0158601788584225</c:v>
                </c:pt>
                <c:pt idx="21">
                  <c:v>0.99401918501296649</c:v>
                </c:pt>
                <c:pt idx="22">
                  <c:v>0.99799526175301834</c:v>
                </c:pt>
                <c:pt idx="23">
                  <c:v>1.0134641883101903</c:v>
                </c:pt>
                <c:pt idx="24">
                  <c:v>0.98924239420957671</c:v>
                </c:pt>
                <c:pt idx="25">
                  <c:v>0.99894965670653635</c:v>
                </c:pt>
                <c:pt idx="26">
                  <c:v>0.98656268096337529</c:v>
                </c:pt>
                <c:pt idx="27">
                  <c:v>1.0044194654888123</c:v>
                </c:pt>
                <c:pt idx="28">
                  <c:v>1.0038168138095189</c:v>
                </c:pt>
                <c:pt idx="29">
                  <c:v>1.0174687224773284</c:v>
                </c:pt>
                <c:pt idx="30">
                  <c:v>1.0105499351644827</c:v>
                </c:pt>
                <c:pt idx="31">
                  <c:v>1.0131464421678942</c:v>
                </c:pt>
                <c:pt idx="32">
                  <c:v>1.0138556446774116</c:v>
                </c:pt>
                <c:pt idx="33">
                  <c:v>1.0040212449240407</c:v>
                </c:pt>
                <c:pt idx="34">
                  <c:v>0.99478424947073951</c:v>
                </c:pt>
                <c:pt idx="35">
                  <c:v>1.0204496831070846</c:v>
                </c:pt>
                <c:pt idx="36">
                  <c:v>1.039532092181187</c:v>
                </c:pt>
                <c:pt idx="37">
                  <c:v>1.051383199833192</c:v>
                </c:pt>
                <c:pt idx="38">
                  <c:v>1.0597942654318575</c:v>
                </c:pt>
                <c:pt idx="39">
                  <c:v>1.0842755129633332</c:v>
                </c:pt>
                <c:pt idx="40">
                  <c:v>1.067902952717587</c:v>
                </c:pt>
                <c:pt idx="41">
                  <c:v>1.0809313687407416</c:v>
                </c:pt>
                <c:pt idx="42">
                  <c:v>1.1009285990624453</c:v>
                </c:pt>
                <c:pt idx="43">
                  <c:v>1.1108579016206044</c:v>
                </c:pt>
                <c:pt idx="44">
                  <c:v>1.119411507463083</c:v>
                </c:pt>
                <c:pt idx="45">
                  <c:v>1.1329563867033863</c:v>
                </c:pt>
                <c:pt idx="46">
                  <c:v>1.1322766128713642</c:v>
                </c:pt>
                <c:pt idx="47">
                  <c:v>1.1549221451287914</c:v>
                </c:pt>
                <c:pt idx="48">
                  <c:v>1.1407166027437072</c:v>
                </c:pt>
                <c:pt idx="49">
                  <c:v>1.1632290156317504</c:v>
                </c:pt>
                <c:pt idx="50">
                  <c:v>1.1756755660990101</c:v>
                </c:pt>
                <c:pt idx="51">
                  <c:v>1.1546309734658378</c:v>
                </c:pt>
                <c:pt idx="52">
                  <c:v>1.1449320732887247</c:v>
                </c:pt>
                <c:pt idx="53">
                  <c:v>1.1578698057168875</c:v>
                </c:pt>
                <c:pt idx="54">
                  <c:v>1.1462911076597186</c:v>
                </c:pt>
                <c:pt idx="55">
                  <c:v>1.1586768690498148</c:v>
                </c:pt>
                <c:pt idx="56">
                  <c:v>1.163890914960539</c:v>
                </c:pt>
                <c:pt idx="57">
                  <c:v>1.1846081732468365</c:v>
                </c:pt>
                <c:pt idx="58">
                  <c:v>1.2075895718078253</c:v>
                </c:pt>
                <c:pt idx="59">
                  <c:v>1.2147143502814914</c:v>
                </c:pt>
                <c:pt idx="60">
                  <c:v>1.22661855091425</c:v>
                </c:pt>
                <c:pt idx="61">
                  <c:v>1.2394674294247008</c:v>
                </c:pt>
                <c:pt idx="62">
                  <c:v>1.2805432995905111</c:v>
                </c:pt>
                <c:pt idx="63">
                  <c:v>1.2185028903489759</c:v>
                </c:pt>
                <c:pt idx="64">
                  <c:v>1.2456836590343636</c:v>
                </c:pt>
                <c:pt idx="65">
                  <c:v>1.2716455591688369</c:v>
                </c:pt>
                <c:pt idx="66">
                  <c:v>1.267013858675363</c:v>
                </c:pt>
                <c:pt idx="67">
                  <c:v>1.2702438603352857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-0.1303</c:v>
                </c:pt>
                <c:pt idx="1">
                  <c:v>5.1200000000000002E-2</c:v>
                </c:pt>
                <c:pt idx="2">
                  <c:v>9.7299999999999998E-2</c:v>
                </c:pt>
                <c:pt idx="3">
                  <c:v>7.5300000000000006E-2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-0.1363</c:v>
                </c:pt>
                <c:pt idx="1">
                  <c:v>0.10829999999999999</c:v>
                </c:pt>
                <c:pt idx="2">
                  <c:v>7.9799999999999996E-2</c:v>
                </c:pt>
                <c:pt idx="3">
                  <c:v>5.91E-2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997C-4485-8DF7-5D755549B77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997C-4485-8DF7-5D755549B77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997C-4485-8DF7-5D755549B77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997C-4485-8DF7-5D755549B77D}"/>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97C-4485-8DF7-5D755549B77D}"/>
                </c:ext>
              </c:extLst>
            </c:dLbl>
            <c:dLbl>
              <c:idx val="1"/>
              <c:layout>
                <c:manualLayout>
                  <c:x val="0.20823662500344894"/>
                  <c:y val="0.3659954674605702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97C-4485-8DF7-5D755549B77D}"/>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97C-4485-8DF7-5D755549B77D}"/>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97C-4485-8DF7-5D755549B77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S_Diagramm_ESG!$J$4:$J$7</c:f>
              <c:strCache>
                <c:ptCount val="4"/>
                <c:pt idx="0">
                  <c:v>EDELMETALLE</c:v>
                </c:pt>
                <c:pt idx="1">
                  <c:v>RENTEN</c:v>
                </c:pt>
                <c:pt idx="2">
                  <c:v>AKTIEN </c:v>
                </c:pt>
                <c:pt idx="3">
                  <c:v>LIQUIDITÄT</c:v>
                </c:pt>
              </c:strCache>
            </c:strRef>
          </c:cat>
          <c:val>
            <c:numRef>
              <c:f>S_Diagramm_ESG!$K$4:$K$7</c:f>
              <c:numCache>
                <c:formatCode>0.00%</c:formatCode>
                <c:ptCount val="4"/>
                <c:pt idx="0">
                  <c:v>9.4500000000000001E-2</c:v>
                </c:pt>
                <c:pt idx="1">
                  <c:v>0.19039999999999999</c:v>
                </c:pt>
                <c:pt idx="2">
                  <c:v>0.67730000000000001</c:v>
                </c:pt>
                <c:pt idx="3">
                  <c:v>3.78E-2</c:v>
                </c:pt>
              </c:numCache>
            </c:numRef>
          </c:val>
          <c:extLst>
            <c:ext xmlns:c16="http://schemas.microsoft.com/office/drawing/2014/chart" uri="{C3380CC4-5D6E-409C-BE32-E72D297353CC}">
              <c16:uniqueId val="{00000008-997C-4485-8DF7-5D755549B77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28093700852579"/>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Tabelle1!$B$2:$B$206</c:f>
              <c:numCache>
                <c:formatCode>General</c:formatCode>
                <c:ptCount val="205"/>
                <c:pt idx="0">
                  <c:v>1</c:v>
                </c:pt>
                <c:pt idx="1">
                  <c:v>0.99639999999999995</c:v>
                </c:pt>
                <c:pt idx="2">
                  <c:v>1.00148164</c:v>
                </c:pt>
                <c:pt idx="3">
                  <c:v>1.0309252002160001</c:v>
                </c:pt>
                <c:pt idx="4">
                  <c:v>1.0483478360996503</c:v>
                </c:pt>
                <c:pt idx="5">
                  <c:v>1.0661697493133442</c:v>
                </c:pt>
                <c:pt idx="6">
                  <c:v>1.1105224108847793</c:v>
                </c:pt>
                <c:pt idx="7">
                  <c:v>1.1197668991680689</c:v>
                </c:pt>
                <c:pt idx="8">
                  <c:v>1.1587347872591176</c:v>
                </c:pt>
                <c:pt idx="9">
                  <c:v>1.1251314784286031</c:v>
                </c:pt>
                <c:pt idx="10">
                  <c:v>1.1753123423665188</c:v>
                </c:pt>
                <c:pt idx="11">
                  <c:v>1.2078684942500715</c:v>
                </c:pt>
                <c:pt idx="12">
                  <c:v>1.2246578663201475</c:v>
                </c:pt>
                <c:pt idx="13">
                  <c:v>1.1457807454115791</c:v>
                </c:pt>
                <c:pt idx="14">
                  <c:v>1.1162196021799604</c:v>
                </c:pt>
                <c:pt idx="15">
                  <c:v>1.1376510185418158</c:v>
                </c:pt>
                <c:pt idx="16">
                  <c:v>1.0919174475964348</c:v>
                </c:pt>
                <c:pt idx="17">
                  <c:v>1.0658206205988801</c:v>
                </c:pt>
                <c:pt idx="18">
                  <c:v>1.0198837518510684</c:v>
                </c:pt>
                <c:pt idx="19">
                  <c:v>1.084234999982302</c:v>
                </c:pt>
                <c:pt idx="20">
                  <c:v>1.046503621982918</c:v>
                </c:pt>
                <c:pt idx="21">
                  <c:v>1.0044341763792046</c:v>
                </c:pt>
                <c:pt idx="22">
                  <c:v>1.0185966982661514</c:v>
                </c:pt>
                <c:pt idx="23">
                  <c:v>1.0447746334115915</c:v>
                </c:pt>
                <c:pt idx="24">
                  <c:v>1.0134313944092437</c:v>
                </c:pt>
                <c:pt idx="25">
                  <c:v>1.0402697179906106</c:v>
                </c:pt>
                <c:pt idx="26">
                  <c:v>1.0251858070797468</c:v>
                </c:pt>
                <c:pt idx="27">
                  <c:v>1.0456895232213417</c:v>
                </c:pt>
                <c:pt idx="28">
                  <c:v>1.0480946091247507</c:v>
                </c:pt>
                <c:pt idx="29">
                  <c:v>1.0664362647844339</c:v>
                </c:pt>
                <c:pt idx="30">
                  <c:v>1.0680359191816107</c:v>
                </c:pt>
                <c:pt idx="31">
                  <c:v>1.0754430686919108</c:v>
                </c:pt>
                <c:pt idx="32">
                  <c:v>1.0617849417195235</c:v>
                </c:pt>
                <c:pt idx="33">
                  <c:v>1.0378947805308343</c:v>
                </c:pt>
                <c:pt idx="34">
                  <c:v>1.0101829898906611</c:v>
                </c:pt>
                <c:pt idx="35">
                  <c:v>1.0507923460842656</c:v>
                </c:pt>
                <c:pt idx="36">
                  <c:v>1.0755910454518545</c:v>
                </c:pt>
                <c:pt idx="37">
                  <c:v>1.0827304154649218</c:v>
                </c:pt>
                <c:pt idx="38">
                  <c:v>1.0927998083287456</c:v>
                </c:pt>
                <c:pt idx="39">
                  <c:v>1.1283158020994297</c:v>
                </c:pt>
                <c:pt idx="40">
                  <c:v>1.1159043282763359</c:v>
                </c:pt>
                <c:pt idx="41">
                  <c:v>1.1530639424079381</c:v>
                </c:pt>
                <c:pt idx="42">
                  <c:v>1.1645945818320174</c:v>
                </c:pt>
                <c:pt idx="43">
                  <c:v>1.1725558377380145</c:v>
                </c:pt>
                <c:pt idx="44">
                  <c:v>1.1784186169267046</c:v>
                </c:pt>
                <c:pt idx="45">
                  <c:v>1.1951521612870637</c:v>
                </c:pt>
                <c:pt idx="46">
                  <c:v>1.1935984634773906</c:v>
                </c:pt>
                <c:pt idx="47">
                  <c:v>1.2253481826058892</c:v>
                </c:pt>
                <c:pt idx="48">
                  <c:v>1.2129721659615698</c:v>
                </c:pt>
                <c:pt idx="49">
                  <c:v>1.2401602092782986</c:v>
                </c:pt>
                <c:pt idx="50">
                  <c:v>1.2349515363993298</c:v>
                </c:pt>
                <c:pt idx="51">
                  <c:v>1.1985204660755495</c:v>
                </c:pt>
                <c:pt idx="52">
                  <c:v>1.1858161491351487</c:v>
                </c:pt>
                <c:pt idx="53">
                  <c:v>1.2151058080187869</c:v>
                </c:pt>
                <c:pt idx="54">
                  <c:v>1.2016181335497784</c:v>
                </c:pt>
                <c:pt idx="55">
                  <c:v>1.2181786243831882</c:v>
                </c:pt>
                <c:pt idx="56">
                  <c:v>1.2206149816319547</c:v>
                </c:pt>
                <c:pt idx="57">
                  <c:v>1.2540598321286704</c:v>
                </c:pt>
                <c:pt idx="58">
                  <c:v>1.3051000672963073</c:v>
                </c:pt>
                <c:pt idx="59">
                  <c:v>1.3159323978548667</c:v>
                </c:pt>
                <c:pt idx="60">
                  <c:v>1.3297496880323427</c:v>
                </c:pt>
                <c:pt idx="61">
                  <c:v>1.3345586850686502</c:v>
                </c:pt>
                <c:pt idx="62">
                  <c:v>1.3726322760839815</c:v>
                </c:pt>
                <c:pt idx="63">
                  <c:v>1.2931800948332377</c:v>
                </c:pt>
                <c:pt idx="64">
                  <c:v>1.3438126828848764</c:v>
                </c:pt>
                <c:pt idx="65">
                  <c:v>1.38360487349465</c:v>
                </c:pt>
                <c:pt idx="66">
                  <c:v>1.365096877862197</c:v>
                </c:pt>
                <c:pt idx="67">
                  <c:v>1.364237578064976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4"/>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-0.17380000000000001</c:v>
                </c:pt>
                <c:pt idx="1">
                  <c:v>6.1800000000000001E-2</c:v>
                </c:pt>
                <c:pt idx="2">
                  <c:v>0.12770000000000001</c:v>
                </c:pt>
                <c:pt idx="3">
                  <c:v>9.6199999999999994E-2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-0.14099999999999999</c:v>
                </c:pt>
                <c:pt idx="1">
                  <c:v>0.12509999999999999</c:v>
                </c:pt>
                <c:pt idx="2">
                  <c:v>0.1022</c:v>
                </c:pt>
                <c:pt idx="3">
                  <c:v>7.5200000000000003E-2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3E3-427F-86E9-1CA2C6500CF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3E3-427F-86E9-1CA2C6500CF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3E3-427F-86E9-1CA2C6500CF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3E3-427F-86E9-1CA2C6500CFF}"/>
              </c:ext>
            </c:extLst>
          </c:dPt>
          <c:dLbls>
            <c:dLbl>
              <c:idx val="0"/>
              <c:layout>
                <c:manualLayout>
                  <c:x val="0.12704991308666502"/>
                  <c:y val="-8.52691276669426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3E3-427F-86E9-1CA2C6500CFF}"/>
                </c:ext>
              </c:extLst>
            </c:dLbl>
            <c:dLbl>
              <c:idx val="1"/>
              <c:layout>
                <c:manualLayout>
                  <c:x val="0.17576938995116284"/>
                  <c:y val="-4.97724788475872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3E3-427F-86E9-1CA2C6500CFF}"/>
                </c:ext>
              </c:extLst>
            </c:dLbl>
            <c:dLbl>
              <c:idx val="2"/>
              <c:layout>
                <c:manualLayout>
                  <c:x val="0.35584085202659826"/>
                  <c:y val="1.67946663253150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3E3-427F-86E9-1CA2C6500CFF}"/>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3E3-427F-86E9-1CA2C6500CF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S_Diagramm_ESG!$N$4:$N$7</c:f>
              <c:strCache>
                <c:ptCount val="4"/>
                <c:pt idx="0">
                  <c:v>EDELMETALLE</c:v>
                </c:pt>
                <c:pt idx="1">
                  <c:v>RENTEN</c:v>
                </c:pt>
                <c:pt idx="2">
                  <c:v>AKTIEN </c:v>
                </c:pt>
                <c:pt idx="3">
                  <c:v>LIQUIDITÄT</c:v>
                </c:pt>
              </c:strCache>
            </c:strRef>
          </c:cat>
          <c:val>
            <c:numRef>
              <c:f>S_Diagramm_ESG!$O$4:$O$7</c:f>
              <c:numCache>
                <c:formatCode>0.00%</c:formatCode>
                <c:ptCount val="4"/>
                <c:pt idx="0">
                  <c:v>4.4600000000000001E-2</c:v>
                </c:pt>
                <c:pt idx="1">
                  <c:v>3.5700000000000003E-2</c:v>
                </c:pt>
                <c:pt idx="2">
                  <c:v>0.86619999999999997</c:v>
                </c:pt>
                <c:pt idx="3">
                  <c:v>5.3499999999999999E-2</c:v>
                </c:pt>
              </c:numCache>
            </c:numRef>
          </c:val>
          <c:extLst>
            <c:ext xmlns:c16="http://schemas.microsoft.com/office/drawing/2014/chart" uri="{C3380CC4-5D6E-409C-BE32-E72D297353CC}">
              <c16:uniqueId val="{00000008-63E3-427F-86E9-1CA2C6500CF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03187148795836"/>
          <c:w val="0.2628093700852579"/>
          <c:h val="0.2479681285120415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c:v>
                </c:pt>
                <c:pt idx="2">
                  <c:v>0.99613799999999997</c:v>
                </c:pt>
                <c:pt idx="3">
                  <c:v>1.0342900853999999</c:v>
                </c:pt>
                <c:pt idx="4">
                  <c:v>1.0535278809884399</c:v>
                </c:pt>
                <c:pt idx="5">
                  <c:v>1.0695415047794643</c:v>
                </c:pt>
                <c:pt idx="6">
                  <c:v>1.1310401413042837</c:v>
                </c:pt>
                <c:pt idx="7">
                  <c:v>1.1473013033478399</c:v>
                </c:pt>
                <c:pt idx="8">
                  <c:v>1.1988151318681579</c:v>
                </c:pt>
                <c:pt idx="9">
                  <c:v>1.1592542325165087</c:v>
                </c:pt>
                <c:pt idx="10">
                  <c:v>1.2162895407563208</c:v>
                </c:pt>
                <c:pt idx="11">
                  <c:v>1.233439223280985</c:v>
                </c:pt>
                <c:pt idx="12">
                  <c:v>1.2713058074357111</c:v>
                </c:pt>
                <c:pt idx="13">
                  <c:v>1.1626814028524652</c:v>
                </c:pt>
                <c:pt idx="14">
                  <c:v>1.1226851625943404</c:v>
                </c:pt>
                <c:pt idx="15">
                  <c:v>1.1655717358054443</c:v>
                </c:pt>
                <c:pt idx="16">
                  <c:v>1.125942296788059</c:v>
                </c:pt>
                <c:pt idx="17">
                  <c:v>1.0967803913012482</c:v>
                </c:pt>
                <c:pt idx="18">
                  <c:v>1.0452317129100894</c:v>
                </c:pt>
                <c:pt idx="19">
                  <c:v>1.1358660542462917</c:v>
                </c:pt>
                <c:pt idx="20">
                  <c:v>1.096905848585644</c:v>
                </c:pt>
                <c:pt idx="21">
                  <c:v>1.0340531434616866</c:v>
                </c:pt>
                <c:pt idx="22">
                  <c:v>1.0620759836494982</c:v>
                </c:pt>
                <c:pt idx="23">
                  <c:v>1.0995672658723255</c:v>
                </c:pt>
                <c:pt idx="24">
                  <c:v>1.0702088198735344</c:v>
                </c:pt>
                <c:pt idx="25">
                  <c:v>1.0916483131620609</c:v>
                </c:pt>
                <c:pt idx="26">
                  <c:v>1.0936132801257525</c:v>
                </c:pt>
                <c:pt idx="27">
                  <c:v>1.1154855457282675</c:v>
                </c:pt>
                <c:pt idx="28">
                  <c:v>1.1147047058462578</c:v>
                </c:pt>
                <c:pt idx="29">
                  <c:v>1.1401199731395524</c:v>
                </c:pt>
                <c:pt idx="30">
                  <c:v>1.1596160246802385</c:v>
                </c:pt>
                <c:pt idx="31">
                  <c:v>1.1645516113948831</c:v>
                </c:pt>
                <c:pt idx="32">
                  <c:v>1.1572149362430952</c:v>
                </c:pt>
                <c:pt idx="33">
                  <c:v>1.1369636748588412</c:v>
                </c:pt>
                <c:pt idx="34">
                  <c:v>1.1135422231567491</c:v>
                </c:pt>
                <c:pt idx="35">
                  <c:v>1.1775709009882622</c:v>
                </c:pt>
                <c:pt idx="36">
                  <c:v>1.2080699873238583</c:v>
                </c:pt>
                <c:pt idx="37">
                  <c:v>1.2223219815870636</c:v>
                </c:pt>
                <c:pt idx="38">
                  <c:v>1.2501909227672485</c:v>
                </c:pt>
                <c:pt idx="39">
                  <c:v>1.2911971850340143</c:v>
                </c:pt>
                <c:pt idx="40">
                  <c:v>1.2603375723117012</c:v>
                </c:pt>
                <c:pt idx="41">
                  <c:v>1.3135238178632549</c:v>
                </c:pt>
                <c:pt idx="42">
                  <c:v>1.3387434751662295</c:v>
                </c:pt>
                <c:pt idx="43">
                  <c:v>1.3352757279425065</c:v>
                </c:pt>
                <c:pt idx="44">
                  <c:v>1.3491625955131086</c:v>
                </c:pt>
                <c:pt idx="45">
                  <c:v>1.3490276792535574</c:v>
                </c:pt>
                <c:pt idx="46">
                  <c:v>1.3298714862081569</c:v>
                </c:pt>
                <c:pt idx="47">
                  <c:v>1.3701665922402639</c:v>
                </c:pt>
                <c:pt idx="48">
                  <c:v>1.3530395098372607</c:v>
                </c:pt>
                <c:pt idx="49">
                  <c:v>1.4016258055960069</c:v>
                </c:pt>
                <c:pt idx="50">
                  <c:v>1.4070921462378314</c:v>
                </c:pt>
                <c:pt idx="51">
                  <c:v>1.3323755532726025</c:v>
                </c:pt>
                <c:pt idx="52">
                  <c:v>1.3095919313116411</c:v>
                </c:pt>
                <c:pt idx="53">
                  <c:v>1.3664282211305665</c:v>
                </c:pt>
                <c:pt idx="54">
                  <c:v>1.3552235097172958</c:v>
                </c:pt>
                <c:pt idx="55">
                  <c:v>1.3708081057508164</c:v>
                </c:pt>
                <c:pt idx="56">
                  <c:v>1.3662844390018387</c:v>
                </c:pt>
                <c:pt idx="57">
                  <c:v>1.3957961828842784</c:v>
                </c:pt>
                <c:pt idx="58">
                  <c:v>1.4541404633288413</c:v>
                </c:pt>
                <c:pt idx="59">
                  <c:v>1.4451247924562025</c:v>
                </c:pt>
                <c:pt idx="60">
                  <c:v>1.4653565395505894</c:v>
                </c:pt>
                <c:pt idx="61">
                  <c:v>1.4691216312130391</c:v>
                </c:pt>
                <c:pt idx="62">
                  <c:v>1.5213039453289503</c:v>
                </c:pt>
                <c:pt idx="63">
                  <c:v>1.4274340841818922</c:v>
                </c:pt>
                <c:pt idx="64">
                  <c:v>1.5220327485987255</c:v>
                </c:pt>
                <c:pt idx="65">
                  <c:v>1.6087603377019855</c:v>
                </c:pt>
                <c:pt idx="66">
                  <c:v>1.6138619605904125</c:v>
                </c:pt>
                <c:pt idx="67">
                  <c:v>1.6085416967210531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5"/>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-0.1595</c:v>
                </c:pt>
                <c:pt idx="1">
                  <c:v>0.12989999999999999</c:v>
                </c:pt>
                <c:pt idx="2">
                  <c:v>0.12</c:v>
                </c:pt>
                <c:pt idx="3">
                  <c:v>8.3000000000000004E-2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-0.15</c:v>
                </c:pt>
                <c:pt idx="1">
                  <c:v>0.15290000000000001</c:v>
                </c:pt>
                <c:pt idx="2">
                  <c:v>0.13980000000000001</c:v>
                </c:pt>
                <c:pt idx="3">
                  <c:v>0.1013</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17</a:t>
            </a:fld>
            <a:endParaRPr lang="de-DE"/>
          </a:p>
        </p:txBody>
      </p:sp>
    </p:spTree>
    <p:extLst>
      <p:ext uri="{BB962C8B-B14F-4D97-AF65-F5344CB8AC3E}">
        <p14:creationId xmlns:p14="http://schemas.microsoft.com/office/powerpoint/2010/main" val="36113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38</a:t>
            </a:fld>
            <a:endParaRPr lang="de-DE"/>
          </a:p>
        </p:txBody>
      </p:sp>
    </p:spTree>
    <p:extLst>
      <p:ext uri="{BB962C8B-B14F-4D97-AF65-F5344CB8AC3E}">
        <p14:creationId xmlns:p14="http://schemas.microsoft.com/office/powerpoint/2010/main" val="4231617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emf"/><Relationship Id="rId3" Type="http://schemas.openxmlformats.org/officeDocument/2006/relationships/image" Target="../media/image24.gi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e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778007278"/>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391640844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2"/>
          <a:stretch>
            <a:fillRect/>
          </a:stretch>
        </p:blipFill>
        <p:spPr>
          <a:xfrm>
            <a:off x="9057939" y="362676"/>
            <a:ext cx="1057612" cy="758721"/>
          </a:xfrm>
          <a:prstGeom prst="rect">
            <a:avLst/>
          </a:prstGeom>
        </p:spPr>
      </p:pic>
      <p:pic>
        <p:nvPicPr>
          <p:cNvPr id="14" name="Grafik 13">
            <a:extLst>
              <a:ext uri="{FF2B5EF4-FFF2-40B4-BE49-F238E27FC236}">
                <a16:creationId xmlns:a16="http://schemas.microsoft.com/office/drawing/2014/main" id="{586D1027-A8AC-F497-DBD8-6C26431378D1}"/>
              </a:ext>
            </a:extLst>
          </p:cNvPr>
          <p:cNvPicPr>
            <a:picLocks noChangeAspect="1"/>
          </p:cNvPicPr>
          <p:nvPr userDrawn="1"/>
        </p:nvPicPr>
        <p:blipFill>
          <a:blip r:embed="rId3"/>
          <a:stretch>
            <a:fillRect/>
          </a:stretch>
        </p:blipFill>
        <p:spPr>
          <a:xfrm>
            <a:off x="0" y="-1179263"/>
            <a:ext cx="10439400" cy="2632030"/>
          </a:xfrm>
          <a:prstGeom prst="rect">
            <a:avLst/>
          </a:prstGeom>
        </p:spPr>
      </p:pic>
    </p:spTree>
    <p:extLst>
      <p:ext uri="{BB962C8B-B14F-4D97-AF65-F5344CB8AC3E}">
        <p14:creationId xmlns:p14="http://schemas.microsoft.com/office/powerpoint/2010/main" val="7218197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937365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091296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990160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75253747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6993853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8911926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751287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21436655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652998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4186956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8709941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2496652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2570377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31277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81105195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65375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3306203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220129738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2310600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2166862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3586603012"/>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51605339"/>
      </p:ext>
    </p:extLst>
  </p:cSld>
  <p:clrMapOvr>
    <a:masterClrMapping/>
  </p:clrMapOvr>
  <p:hf hdr="0" ftr="0"/>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0659730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1254328019"/>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28189453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13877715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293918556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theme" Target="../theme/theme2.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897447612"/>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chart" Target="../charts/chart2.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5.xml"/><Relationship Id="rId3"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8.xml"/><Relationship Id="rId3" Type="http://schemas.openxmlformats.org/officeDocument/2006/relationships/chart" Target="../charts/char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11.xml"/><Relationship Id="rId3" Type="http://schemas.openxmlformats.org/officeDocument/2006/relationships/chart" Target="../charts/char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eg"/><Relationship Id="rId3" Type="http://schemas.openxmlformats.org/officeDocument/2006/relationships/image" Target="../media/image36.jpeg"/><Relationship Id="rId4" Type="http://schemas.openxmlformats.org/officeDocument/2006/relationships/image" Target="../media/image3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8.png"/><Relationship Id="rId3" Type="http://schemas.openxmlformats.org/officeDocument/2006/relationships/image" Target="../media/image39.jpe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hyperlink" Target="http://www.fuggerbank.de/"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4</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 Strategien	15</a:t>
            </a:r>
          </a:p>
          <a:p>
            <a:pPr>
              <a:lnSpc>
                <a:spcPct val="100000"/>
              </a:lnSpc>
            </a:pPr>
            <a:r>
              <a:rPr lang="de-DE" sz="1000" b="0" dirty="0">
                <a:solidFill>
                  <a:schemeClr val="accent3"/>
                </a:solidFill>
              </a:rPr>
              <a:t>Defensiv – Defensiv Plus – Ausgewogen - Offensiv</a:t>
            </a:r>
            <a:endParaRPr lang="de-DE" dirty="0"/>
          </a:p>
          <a:p>
            <a:r>
              <a:rPr lang="de-DE" dirty="0"/>
              <a:t>Fürst Fugger Privatbank und ihre Standorte	25</a:t>
            </a:r>
          </a:p>
          <a:p>
            <a:r>
              <a:rPr lang="de-DE" dirty="0"/>
              <a:t>Anlagen	28</a:t>
            </a:r>
          </a:p>
          <a:p>
            <a:r>
              <a:rPr lang="de-DE" dirty="0"/>
              <a:t>Rechtliche Hinweise und Impressum	37</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pic>
        <p:nvPicPr>
          <p:cNvPr id="6" name="Grafik 5">
            <a:extLst>
              <a:ext uri="{FF2B5EF4-FFF2-40B4-BE49-F238E27FC236}">
                <a16:creationId xmlns:a16="http://schemas.microsoft.com/office/drawing/2014/main" id="{584BC9EC-D871-CAD2-B12F-F254F791EA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44114" y="319100"/>
            <a:ext cx="1746149" cy="533486"/>
          </a:xfrm>
          <a:prstGeom prst="rect">
            <a:avLst/>
          </a:prstGeom>
        </p:spPr>
      </p:pic>
    </p:spTree>
    <p:extLst>
      <p:ext uri="{BB962C8B-B14F-4D97-AF65-F5344CB8AC3E}">
        <p14:creationId xmlns:p14="http://schemas.microsoft.com/office/powerpoint/2010/main" val="1981260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AEABE56D-8419-693C-7939-9EBC302C2160}"/>
              </a:ext>
            </a:extLst>
          </p:cNvPr>
          <p:cNvGrpSpPr>
            <a:grpSpLocks noGrp="1" noUngrp="1" noRot="1" noMove="1" noResize="1"/>
          </p:cNvGrpSpPr>
          <p:nvPr/>
        </p:nvGrpSpPr>
        <p:grpSpPr>
          <a:xfrm>
            <a:off x="1530927" y="1064563"/>
            <a:ext cx="7377546" cy="4530437"/>
            <a:chOff x="1530927" y="1064563"/>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1530927" y="1064563"/>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3627065" y="1100001"/>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grpSp>
      <p:sp>
        <p:nvSpPr>
          <p:cNvPr id="6" name="Quelle">
            <a:extLst>
              <a:ext uri="{FF2B5EF4-FFF2-40B4-BE49-F238E27FC236}">
                <a16:creationId xmlns:a16="http://schemas.microsoft.com/office/drawing/2014/main" id="{1C4EA012-F223-F360-1480-306B606B5892}"/>
              </a:ext>
            </a:extLst>
          </p:cNvPr>
          <p:cNvSpPr txBox="1"/>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1951566008"/>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232"/>
            <a:ext cx="5023481" cy="438743"/>
            <a:chOff x="2521092" y="2278171"/>
            <a:chExt cx="4400129" cy="384301"/>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171"/>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3837611246"/>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Mitarbeiter-</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17" name="Gruppieren 16">
            <a:extLst>
              <a:ext uri="{FF2B5EF4-FFF2-40B4-BE49-F238E27FC236}">
                <a16:creationId xmlns:a16="http://schemas.microsoft.com/office/drawing/2014/main" id="{AB14120B-7791-8E69-4FF7-770733DE9512}"/>
              </a:ext>
            </a:extLst>
          </p:cNvPr>
          <p:cNvGrpSpPr>
            <a:grpSpLocks noGrp="1" noUngrp="1" noRot="1" noMove="1" noResize="1"/>
          </p:cNvGrpSpPr>
          <p:nvPr/>
        </p:nvGrpSpPr>
        <p:grpSpPr>
          <a:xfrm>
            <a:off x="1045196" y="1012608"/>
            <a:ext cx="8217682" cy="4634346"/>
            <a:chOff x="1060018" y="1189153"/>
            <a:chExt cx="8217682" cy="4634346"/>
          </a:xfrm>
        </p:grpSpPr>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5154036" y="3388785"/>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grpSp>
          <p:nvGrpSpPr>
            <p:cNvPr id="11" name="Gruppieren 10">
              <a:extLst>
                <a:ext uri="{FF2B5EF4-FFF2-40B4-BE49-F238E27FC236}">
                  <a16:creationId xmlns:a16="http://schemas.microsoft.com/office/drawing/2014/main" id="{6CDC03DC-4661-EB6D-1AE6-BDF9581A10AD}"/>
                </a:ext>
              </a:extLst>
            </p:cNvPr>
            <p:cNvGrpSpPr>
              <a:grpSpLocks noGrp="1" noUngrp="1" noRot="1" noMove="1" noResize="1"/>
            </p:cNvGrpSpPr>
            <p:nvPr/>
          </p:nvGrpSpPr>
          <p:grpSpPr>
            <a:xfrm>
              <a:off x="1060018" y="1189153"/>
              <a:ext cx="8188037" cy="4634346"/>
              <a:chOff x="1953490" y="976745"/>
              <a:chExt cx="8188037"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grpSp>
            <p:nvGrpSpPr>
              <p:cNvPr id="4" name="Gruppieren 3">
                <a:extLst>
                  <a:ext uri="{FF2B5EF4-FFF2-40B4-BE49-F238E27FC236}">
                    <a16:creationId xmlns:a16="http://schemas.microsoft.com/office/drawing/2014/main" id="{BEB511CA-8D06-8446-B809-90118B76B98C}"/>
                  </a:ext>
                </a:extLst>
              </p:cNvPr>
              <p:cNvGrpSpPr>
                <a:grpSpLocks noGrp="1" noUngrp="1" noRot="1" noMove="1" noResize="1"/>
              </p:cNvGrpSpPr>
              <p:nvPr/>
            </p:nvGrpSpPr>
            <p:grpSpPr>
              <a:xfrm>
                <a:off x="1963538" y="1056017"/>
                <a:ext cx="7960043" cy="4152131"/>
                <a:chOff x="1963538" y="1056017"/>
                <a:chExt cx="7960043" cy="4152131"/>
              </a:xfrm>
            </p:grpSpPr>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grpSp>
      </p:grpSp>
      <p:sp>
        <p:nvSpPr>
          <p:cNvPr id="28" name="Quelle">
            <a:extLst>
              <a:ext uri="{FF2B5EF4-FFF2-40B4-BE49-F238E27FC236}">
                <a16:creationId xmlns:a16="http://schemas.microsoft.com/office/drawing/2014/main" id="{E0849F0D-FE42-A05D-E520-B872AC885E99}"/>
              </a:ext>
            </a:extLst>
          </p:cNvPr>
          <p:cNvSpPr txBox="1"/>
          <p:nvPr/>
        </p:nvSpPr>
        <p:spPr>
          <a:xfrm>
            <a:off x="1164217" y="541651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680444007"/>
              </p:ext>
            </p:extLst>
          </p:nvPr>
        </p:nvGraphicFramePr>
        <p:xfrm>
          <a:off x="358775" y="1041400"/>
          <a:ext cx="9756037" cy="444008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1986777">
                  <a:extLst>
                    <a:ext uri="{9D8B030D-6E8A-4147-A177-3AD203B41FA5}">
                      <a16:colId xmlns:a16="http://schemas.microsoft.com/office/drawing/2014/main" val="3953192555"/>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gridCol w="2041961">
                  <a:extLst>
                    <a:ext uri="{9D8B030D-6E8A-4147-A177-3AD203B41FA5}">
                      <a16:colId xmlns:a16="http://schemas.microsoft.com/office/drawing/2014/main" val="2569749662"/>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cs typeface="Noto Sans"/>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Einkommensorientierte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Renditeorientierte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Wachstumsorientierte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Aktienorientierte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Langfristige Vermögenssicherung ohne größere Wertschwankungen im Vordergrund.</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Sicherheit tritt gegenüber den Kurschancen etwas zurück.</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Moderate Kursrisiken werden in Kauf genommen.</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Ausgewogenes Verhältnis zwischen Ertragschancen und Risiken. </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Höhere Risiken spiegeln sich in höheren Ertragschancen wider. Langfristiger, überdurchschnittlicher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Schwerpunkt Europa</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25%</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20%, max.50%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30%, max.70%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mind. 50%, max.100%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80%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Defensiv – Defensiv Plus – Ausgewogen – Offensiv</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1300-000002000000}"/>
              </a:ext>
            </a:extLst>
          </p:cNvPr>
          <p:cNvGraphicFramePr>
            <a:graphicFrameLocks noGrp="1" noDrilldown="1" noMove="1" noResize="1"/>
          </p:cNvGraphicFramePr>
          <p:nvPr>
            <p:extLst>
              <p:ext uri="{D42A27DB-BD31-4B8C-83A1-F6EECF244321}">
                <p14:modId xmlns:p14="http://schemas.microsoft.com/office/powerpoint/2010/main" val="1564450468"/>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16E6C1A-CD51-1DC7-44C5-AF3A5D77D8BC}"/>
              </a:ext>
            </a:extLst>
          </p:cNvPr>
          <p:cNvGraphicFramePr>
            <a:graphicFrameLocks noGrp="1" noDrilldown="1" noMove="1" noResize="1"/>
          </p:cNvGraphicFramePr>
          <p:nvPr>
            <p:extLst>
              <p:ext uri="{D42A27DB-BD31-4B8C-83A1-F6EECF244321}">
                <p14:modId xmlns:p14="http://schemas.microsoft.com/office/powerpoint/2010/main" val="3641240042"/>
              </p:ext>
            </p:extLst>
          </p:nvPr>
        </p:nvGraphicFramePr>
        <p:xfrm>
          <a:off x="4508500" y="1040400"/>
          <a:ext cx="5613400" cy="5307154"/>
        </p:xfrm>
        <a:graphic>
          <a:graphicData uri="http://schemas.openxmlformats.org/drawingml/2006/table">
            <a:tbl>
              <a:tblPr/>
              <a:tblGrid>
                <a:gridCol w="2184400">
                  <a:extLst>
                    <a:ext uri="{9D8B030D-6E8A-4147-A177-3AD203B41FA5}">
                      <a16:colId xmlns:a16="http://schemas.microsoft.com/office/drawing/2014/main" val="417514362"/>
                    </a:ext>
                  </a:extLst>
                </a:gridCol>
                <a:gridCol w="50800">
                  <a:extLst>
                    <a:ext uri="{9D8B030D-6E8A-4147-A177-3AD203B41FA5}">
                      <a16:colId xmlns:a16="http://schemas.microsoft.com/office/drawing/2014/main" val="3471539392"/>
                    </a:ext>
                  </a:extLst>
                </a:gridCol>
                <a:gridCol w="571500">
                  <a:extLst>
                    <a:ext uri="{9D8B030D-6E8A-4147-A177-3AD203B41FA5}">
                      <a16:colId xmlns:a16="http://schemas.microsoft.com/office/drawing/2014/main" val="3196786145"/>
                    </a:ext>
                  </a:extLst>
                </a:gridCol>
                <a:gridCol w="50800">
                  <a:extLst>
                    <a:ext uri="{9D8B030D-6E8A-4147-A177-3AD203B41FA5}">
                      <a16:colId xmlns:a16="http://schemas.microsoft.com/office/drawing/2014/main" val="3521102505"/>
                    </a:ext>
                  </a:extLst>
                </a:gridCol>
                <a:gridCol w="571500">
                  <a:extLst>
                    <a:ext uri="{9D8B030D-6E8A-4147-A177-3AD203B41FA5}">
                      <a16:colId xmlns:a16="http://schemas.microsoft.com/office/drawing/2014/main" val="3031123287"/>
                    </a:ext>
                  </a:extLst>
                </a:gridCol>
                <a:gridCol w="50800">
                  <a:extLst>
                    <a:ext uri="{9D8B030D-6E8A-4147-A177-3AD203B41FA5}">
                      <a16:colId xmlns:a16="http://schemas.microsoft.com/office/drawing/2014/main" val="2004331814"/>
                    </a:ext>
                  </a:extLst>
                </a:gridCol>
                <a:gridCol w="571500">
                  <a:extLst>
                    <a:ext uri="{9D8B030D-6E8A-4147-A177-3AD203B41FA5}">
                      <a16:colId xmlns:a16="http://schemas.microsoft.com/office/drawing/2014/main" val="4035104349"/>
                    </a:ext>
                  </a:extLst>
                </a:gridCol>
                <a:gridCol w="50800">
                  <a:extLst>
                    <a:ext uri="{9D8B030D-6E8A-4147-A177-3AD203B41FA5}">
                      <a16:colId xmlns:a16="http://schemas.microsoft.com/office/drawing/2014/main" val="1107168230"/>
                    </a:ext>
                  </a:extLst>
                </a:gridCol>
                <a:gridCol w="571500">
                  <a:extLst>
                    <a:ext uri="{9D8B030D-6E8A-4147-A177-3AD203B41FA5}">
                      <a16:colId xmlns:a16="http://schemas.microsoft.com/office/drawing/2014/main" val="662444682"/>
                    </a:ext>
                  </a:extLst>
                </a:gridCol>
                <a:gridCol w="50800">
                  <a:extLst>
                    <a:ext uri="{9D8B030D-6E8A-4147-A177-3AD203B41FA5}">
                      <a16:colId xmlns:a16="http://schemas.microsoft.com/office/drawing/2014/main" val="3376217829"/>
                    </a:ext>
                  </a:extLst>
                </a:gridCol>
                <a:gridCol w="889000">
                  <a:extLst>
                    <a:ext uri="{9D8B030D-6E8A-4147-A177-3AD203B41FA5}">
                      <a16:colId xmlns:a16="http://schemas.microsoft.com/office/drawing/2014/main" val="286708767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624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5295612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71753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477471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49587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588726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11463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18032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327372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806672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771996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986812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13622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34346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055822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04603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62667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543164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30128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070837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706294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29437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6741537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4154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53879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714330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83579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978544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578330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609128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34247799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30856110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a:t>
            </a:r>
          </a:p>
        </p:txBody>
      </p:sp>
    </p:spTree>
    <p:extLst>
      <p:ext uri="{BB962C8B-B14F-4D97-AF65-F5344CB8AC3E}">
        <p14:creationId xmlns:p14="http://schemas.microsoft.com/office/powerpoint/2010/main" val="3986531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C9BE1D94-C46E-4F6C-AA96-7BB41F2F916E}"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2662908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3"/>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25874857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269092371"/>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12,65%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2,18%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4,51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 </a:t>
            </a:r>
            <a:r>
              <a:rPr lang="de-DE" b="0" dirty="0"/>
              <a:t>Wertentwicklung</a:t>
            </a:r>
          </a:p>
        </p:txBody>
      </p:sp>
    </p:spTree>
    <p:extLst>
      <p:ext uri="{BB962C8B-B14F-4D97-AF65-F5344CB8AC3E}">
        <p14:creationId xmlns:p14="http://schemas.microsoft.com/office/powerpoint/2010/main" val="2832446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1300-000003000000}"/>
              </a:ext>
            </a:extLst>
          </p:cNvPr>
          <p:cNvGraphicFramePr>
            <a:graphicFrameLocks noGrp="1" noDrilldown="1" noMove="1" noResize="1"/>
          </p:cNvGraphicFramePr>
          <p:nvPr>
            <p:extLst>
              <p:ext uri="{D42A27DB-BD31-4B8C-83A1-F6EECF244321}">
                <p14:modId xmlns:p14="http://schemas.microsoft.com/office/powerpoint/2010/main" val="3394807363"/>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C3D06020-167A-D4FC-2E20-B740FE17C8B3}"/>
              </a:ext>
            </a:extLst>
          </p:cNvPr>
          <p:cNvGraphicFramePr>
            <a:graphicFrameLocks noGrp="1" noDrilldown="1" noMove="1" noResize="1"/>
          </p:cNvGraphicFramePr>
          <p:nvPr>
            <p:extLst>
              <p:ext uri="{D42A27DB-BD31-4B8C-83A1-F6EECF244321}">
                <p14:modId xmlns:p14="http://schemas.microsoft.com/office/powerpoint/2010/main" val="3024969539"/>
              </p:ext>
            </p:extLst>
          </p:nvPr>
        </p:nvGraphicFramePr>
        <p:xfrm>
          <a:off x="4508500" y="1040400"/>
          <a:ext cx="5613400" cy="5658282"/>
        </p:xfrm>
        <a:graphic>
          <a:graphicData uri="http://schemas.openxmlformats.org/drawingml/2006/table">
            <a:tbl>
              <a:tblPr/>
              <a:tblGrid>
                <a:gridCol w="2184400">
                  <a:extLst>
                    <a:ext uri="{9D8B030D-6E8A-4147-A177-3AD203B41FA5}">
                      <a16:colId xmlns:a16="http://schemas.microsoft.com/office/drawing/2014/main" val="1176240102"/>
                    </a:ext>
                  </a:extLst>
                </a:gridCol>
                <a:gridCol w="50800">
                  <a:extLst>
                    <a:ext uri="{9D8B030D-6E8A-4147-A177-3AD203B41FA5}">
                      <a16:colId xmlns:a16="http://schemas.microsoft.com/office/drawing/2014/main" val="3947541641"/>
                    </a:ext>
                  </a:extLst>
                </a:gridCol>
                <a:gridCol w="571500">
                  <a:extLst>
                    <a:ext uri="{9D8B030D-6E8A-4147-A177-3AD203B41FA5}">
                      <a16:colId xmlns:a16="http://schemas.microsoft.com/office/drawing/2014/main" val="3531339267"/>
                    </a:ext>
                  </a:extLst>
                </a:gridCol>
                <a:gridCol w="50800">
                  <a:extLst>
                    <a:ext uri="{9D8B030D-6E8A-4147-A177-3AD203B41FA5}">
                      <a16:colId xmlns:a16="http://schemas.microsoft.com/office/drawing/2014/main" val="3811246795"/>
                    </a:ext>
                  </a:extLst>
                </a:gridCol>
                <a:gridCol w="571500">
                  <a:extLst>
                    <a:ext uri="{9D8B030D-6E8A-4147-A177-3AD203B41FA5}">
                      <a16:colId xmlns:a16="http://schemas.microsoft.com/office/drawing/2014/main" val="151777475"/>
                    </a:ext>
                  </a:extLst>
                </a:gridCol>
                <a:gridCol w="50800">
                  <a:extLst>
                    <a:ext uri="{9D8B030D-6E8A-4147-A177-3AD203B41FA5}">
                      <a16:colId xmlns:a16="http://schemas.microsoft.com/office/drawing/2014/main" val="1986783775"/>
                    </a:ext>
                  </a:extLst>
                </a:gridCol>
                <a:gridCol w="571500">
                  <a:extLst>
                    <a:ext uri="{9D8B030D-6E8A-4147-A177-3AD203B41FA5}">
                      <a16:colId xmlns:a16="http://schemas.microsoft.com/office/drawing/2014/main" val="4041539597"/>
                    </a:ext>
                  </a:extLst>
                </a:gridCol>
                <a:gridCol w="50800">
                  <a:extLst>
                    <a:ext uri="{9D8B030D-6E8A-4147-A177-3AD203B41FA5}">
                      <a16:colId xmlns:a16="http://schemas.microsoft.com/office/drawing/2014/main" val="2631399414"/>
                    </a:ext>
                  </a:extLst>
                </a:gridCol>
                <a:gridCol w="571500">
                  <a:extLst>
                    <a:ext uri="{9D8B030D-6E8A-4147-A177-3AD203B41FA5}">
                      <a16:colId xmlns:a16="http://schemas.microsoft.com/office/drawing/2014/main" val="3905281889"/>
                    </a:ext>
                  </a:extLst>
                </a:gridCol>
                <a:gridCol w="50800">
                  <a:extLst>
                    <a:ext uri="{9D8B030D-6E8A-4147-A177-3AD203B41FA5}">
                      <a16:colId xmlns:a16="http://schemas.microsoft.com/office/drawing/2014/main" val="3289919576"/>
                    </a:ext>
                  </a:extLst>
                </a:gridCol>
                <a:gridCol w="889000">
                  <a:extLst>
                    <a:ext uri="{9D8B030D-6E8A-4147-A177-3AD203B41FA5}">
                      <a16:colId xmlns:a16="http://schemas.microsoft.com/office/drawing/2014/main" val="4195672974"/>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68595030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625678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958057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629282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45696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114158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150935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691994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926230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0058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444350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678040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07065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0963975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2407750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3816814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45063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38906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5606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38601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9702699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41578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41685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3690661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77491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255793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8889574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400417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033143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734201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2144565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92423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4835739"/>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 20%, max. 50%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 Plus</a:t>
            </a:r>
          </a:p>
        </p:txBody>
      </p:sp>
    </p:spTree>
    <p:extLst>
      <p:ext uri="{BB962C8B-B14F-4D97-AF65-F5344CB8AC3E}">
        <p14:creationId xmlns:p14="http://schemas.microsoft.com/office/powerpoint/2010/main" val="3658980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60ECC05-F173-4416-997E-F783D498FDBF}"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408582874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53210007"/>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86858368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27,02%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4,43%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Plus | </a:t>
            </a:r>
            <a:r>
              <a:rPr lang="de-DE" b="0" dirty="0"/>
              <a:t>Wertentwicklung</a:t>
            </a:r>
          </a:p>
        </p:txBody>
      </p:sp>
    </p:spTree>
    <p:extLst>
      <p:ext uri="{BB962C8B-B14F-4D97-AF65-F5344CB8AC3E}">
        <p14:creationId xmlns:p14="http://schemas.microsoft.com/office/powerpoint/2010/main" val="1773469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graphicFrame>
        <p:nvGraphicFramePr>
          <p:cNvPr id="5" name="C_Kennzahlen">
            <a:extLst>
              <a:ext uri="{FF2B5EF4-FFF2-40B4-BE49-F238E27FC236}">
                <a16:creationId xmlns:a16="http://schemas.microsoft.com/office/drawing/2014/main" id="{00000000-0008-0000-1300-000004000000}"/>
              </a:ext>
            </a:extLst>
          </p:cNvPr>
          <p:cNvGraphicFramePr>
            <a:graphicFrameLocks noGrp="1" noDrilldown="1" noMove="1" noResize="1"/>
          </p:cNvGraphicFramePr>
          <p:nvPr>
            <p:extLst>
              <p:ext uri="{D42A27DB-BD31-4B8C-83A1-F6EECF244321}">
                <p14:modId xmlns:p14="http://schemas.microsoft.com/office/powerpoint/2010/main" val="127032680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205CA40E-7B03-EF7F-DCEB-629657600EEF}"/>
              </a:ext>
            </a:extLst>
          </p:cNvPr>
          <p:cNvGraphicFramePr>
            <a:graphicFrameLocks noGrp="1" noDrilldown="1" noMove="1" noResize="1"/>
          </p:cNvGraphicFramePr>
          <p:nvPr>
            <p:extLst>
              <p:ext uri="{D42A27DB-BD31-4B8C-83A1-F6EECF244321}">
                <p14:modId xmlns:p14="http://schemas.microsoft.com/office/powerpoint/2010/main" val="3669610764"/>
              </p:ext>
            </p:extLst>
          </p:nvPr>
        </p:nvGraphicFramePr>
        <p:xfrm>
          <a:off x="4508500" y="1040400"/>
          <a:ext cx="5613400" cy="5833846"/>
        </p:xfrm>
        <a:graphic>
          <a:graphicData uri="http://schemas.openxmlformats.org/drawingml/2006/table">
            <a:tbl>
              <a:tblPr/>
              <a:tblGrid>
                <a:gridCol w="2184400">
                  <a:extLst>
                    <a:ext uri="{9D8B030D-6E8A-4147-A177-3AD203B41FA5}">
                      <a16:colId xmlns:a16="http://schemas.microsoft.com/office/drawing/2014/main" val="2346331999"/>
                    </a:ext>
                  </a:extLst>
                </a:gridCol>
                <a:gridCol w="50800">
                  <a:extLst>
                    <a:ext uri="{9D8B030D-6E8A-4147-A177-3AD203B41FA5}">
                      <a16:colId xmlns:a16="http://schemas.microsoft.com/office/drawing/2014/main" val="4125722374"/>
                    </a:ext>
                  </a:extLst>
                </a:gridCol>
                <a:gridCol w="571500">
                  <a:extLst>
                    <a:ext uri="{9D8B030D-6E8A-4147-A177-3AD203B41FA5}">
                      <a16:colId xmlns:a16="http://schemas.microsoft.com/office/drawing/2014/main" val="1920535577"/>
                    </a:ext>
                  </a:extLst>
                </a:gridCol>
                <a:gridCol w="50800">
                  <a:extLst>
                    <a:ext uri="{9D8B030D-6E8A-4147-A177-3AD203B41FA5}">
                      <a16:colId xmlns:a16="http://schemas.microsoft.com/office/drawing/2014/main" val="3145207689"/>
                    </a:ext>
                  </a:extLst>
                </a:gridCol>
                <a:gridCol w="571500">
                  <a:extLst>
                    <a:ext uri="{9D8B030D-6E8A-4147-A177-3AD203B41FA5}">
                      <a16:colId xmlns:a16="http://schemas.microsoft.com/office/drawing/2014/main" val="3590274897"/>
                    </a:ext>
                  </a:extLst>
                </a:gridCol>
                <a:gridCol w="50800">
                  <a:extLst>
                    <a:ext uri="{9D8B030D-6E8A-4147-A177-3AD203B41FA5}">
                      <a16:colId xmlns:a16="http://schemas.microsoft.com/office/drawing/2014/main" val="1498569388"/>
                    </a:ext>
                  </a:extLst>
                </a:gridCol>
                <a:gridCol w="571500">
                  <a:extLst>
                    <a:ext uri="{9D8B030D-6E8A-4147-A177-3AD203B41FA5}">
                      <a16:colId xmlns:a16="http://schemas.microsoft.com/office/drawing/2014/main" val="2814157178"/>
                    </a:ext>
                  </a:extLst>
                </a:gridCol>
                <a:gridCol w="50800">
                  <a:extLst>
                    <a:ext uri="{9D8B030D-6E8A-4147-A177-3AD203B41FA5}">
                      <a16:colId xmlns:a16="http://schemas.microsoft.com/office/drawing/2014/main" val="1140556145"/>
                    </a:ext>
                  </a:extLst>
                </a:gridCol>
                <a:gridCol w="571500">
                  <a:extLst>
                    <a:ext uri="{9D8B030D-6E8A-4147-A177-3AD203B41FA5}">
                      <a16:colId xmlns:a16="http://schemas.microsoft.com/office/drawing/2014/main" val="4093469341"/>
                    </a:ext>
                  </a:extLst>
                </a:gridCol>
                <a:gridCol w="50800">
                  <a:extLst>
                    <a:ext uri="{9D8B030D-6E8A-4147-A177-3AD203B41FA5}">
                      <a16:colId xmlns:a16="http://schemas.microsoft.com/office/drawing/2014/main" val="3588878150"/>
                    </a:ext>
                  </a:extLst>
                </a:gridCol>
                <a:gridCol w="889000">
                  <a:extLst>
                    <a:ext uri="{9D8B030D-6E8A-4147-A177-3AD203B41FA5}">
                      <a16:colId xmlns:a16="http://schemas.microsoft.com/office/drawing/2014/main" val="3959661648"/>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46365347"/>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58691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1745850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535159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39056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14991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2817588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745074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024455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37553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955808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82850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66462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705109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239485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4224386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6776424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65456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045102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0259432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15867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64388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2803261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04156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060430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21657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318310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537364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4804692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98992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62403801"/>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9224208"/>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6682730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038122687"/>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Ausgewogen</a:t>
            </a:r>
          </a:p>
        </p:txBody>
      </p:sp>
    </p:spTree>
    <p:extLst>
      <p:ext uri="{BB962C8B-B14F-4D97-AF65-F5344CB8AC3E}">
        <p14:creationId xmlns:p14="http://schemas.microsoft.com/office/powerpoint/2010/main" val="3515420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0E0ECCF0-FFEB-4FBC-9EA3-C20479E5B539}"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254487927"/>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00396411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16462709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36,42%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22</a:t>
            </a:fld>
            <a:endParaRPr lang="de-DE"/>
          </a:p>
        </p:txBody>
      </p:sp>
      <p:graphicFrame>
        <p:nvGraphicFramePr>
          <p:cNvPr id="5" name="C_Kennzahlen">
            <a:extLst>
              <a:ext uri="{FF2B5EF4-FFF2-40B4-BE49-F238E27FC236}">
                <a16:creationId xmlns:a16="http://schemas.microsoft.com/office/drawing/2014/main" id="{00000000-0008-0000-1300-000005000000}"/>
              </a:ext>
            </a:extLst>
          </p:cNvPr>
          <p:cNvGraphicFramePr>
            <a:graphicFrameLocks noGrp="1" noDrilldown="1" noMove="1" noResize="1"/>
          </p:cNvGraphicFramePr>
          <p:nvPr>
            <p:extLst>
              <p:ext uri="{D42A27DB-BD31-4B8C-83A1-F6EECF244321}">
                <p14:modId xmlns:p14="http://schemas.microsoft.com/office/powerpoint/2010/main" val="4206248745"/>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9D376711-67F5-4779-C789-A9AA8F9B90CF}"/>
              </a:ext>
            </a:extLst>
          </p:cNvPr>
          <p:cNvGraphicFramePr>
            <a:graphicFrameLocks noGrp="1" noDrilldown="1" noMove="1" noResize="1"/>
          </p:cNvGraphicFramePr>
          <p:nvPr>
            <p:extLst>
              <p:ext uri="{D42A27DB-BD31-4B8C-83A1-F6EECF244321}">
                <p14:modId xmlns:p14="http://schemas.microsoft.com/office/powerpoint/2010/main" val="2840150007"/>
              </p:ext>
            </p:extLst>
          </p:nvPr>
        </p:nvGraphicFramePr>
        <p:xfrm>
          <a:off x="4508500" y="1040400"/>
          <a:ext cx="5613400" cy="5131590"/>
        </p:xfrm>
        <a:graphic>
          <a:graphicData uri="http://schemas.openxmlformats.org/drawingml/2006/table">
            <a:tbl>
              <a:tblPr/>
              <a:tblGrid>
                <a:gridCol w="2184400">
                  <a:extLst>
                    <a:ext uri="{9D8B030D-6E8A-4147-A177-3AD203B41FA5}">
                      <a16:colId xmlns:a16="http://schemas.microsoft.com/office/drawing/2014/main" val="3959457268"/>
                    </a:ext>
                  </a:extLst>
                </a:gridCol>
                <a:gridCol w="50800">
                  <a:extLst>
                    <a:ext uri="{9D8B030D-6E8A-4147-A177-3AD203B41FA5}">
                      <a16:colId xmlns:a16="http://schemas.microsoft.com/office/drawing/2014/main" val="4162440423"/>
                    </a:ext>
                  </a:extLst>
                </a:gridCol>
                <a:gridCol w="571500">
                  <a:extLst>
                    <a:ext uri="{9D8B030D-6E8A-4147-A177-3AD203B41FA5}">
                      <a16:colId xmlns:a16="http://schemas.microsoft.com/office/drawing/2014/main" val="1616716074"/>
                    </a:ext>
                  </a:extLst>
                </a:gridCol>
                <a:gridCol w="50800">
                  <a:extLst>
                    <a:ext uri="{9D8B030D-6E8A-4147-A177-3AD203B41FA5}">
                      <a16:colId xmlns:a16="http://schemas.microsoft.com/office/drawing/2014/main" val="4083657097"/>
                    </a:ext>
                  </a:extLst>
                </a:gridCol>
                <a:gridCol w="571500">
                  <a:extLst>
                    <a:ext uri="{9D8B030D-6E8A-4147-A177-3AD203B41FA5}">
                      <a16:colId xmlns:a16="http://schemas.microsoft.com/office/drawing/2014/main" val="1840590747"/>
                    </a:ext>
                  </a:extLst>
                </a:gridCol>
                <a:gridCol w="50800">
                  <a:extLst>
                    <a:ext uri="{9D8B030D-6E8A-4147-A177-3AD203B41FA5}">
                      <a16:colId xmlns:a16="http://schemas.microsoft.com/office/drawing/2014/main" val="3477893400"/>
                    </a:ext>
                  </a:extLst>
                </a:gridCol>
                <a:gridCol w="571500">
                  <a:extLst>
                    <a:ext uri="{9D8B030D-6E8A-4147-A177-3AD203B41FA5}">
                      <a16:colId xmlns:a16="http://schemas.microsoft.com/office/drawing/2014/main" val="627914520"/>
                    </a:ext>
                  </a:extLst>
                </a:gridCol>
                <a:gridCol w="50800">
                  <a:extLst>
                    <a:ext uri="{9D8B030D-6E8A-4147-A177-3AD203B41FA5}">
                      <a16:colId xmlns:a16="http://schemas.microsoft.com/office/drawing/2014/main" val="3818420082"/>
                    </a:ext>
                  </a:extLst>
                </a:gridCol>
                <a:gridCol w="571500">
                  <a:extLst>
                    <a:ext uri="{9D8B030D-6E8A-4147-A177-3AD203B41FA5}">
                      <a16:colId xmlns:a16="http://schemas.microsoft.com/office/drawing/2014/main" val="4202137315"/>
                    </a:ext>
                  </a:extLst>
                </a:gridCol>
                <a:gridCol w="50800">
                  <a:extLst>
                    <a:ext uri="{9D8B030D-6E8A-4147-A177-3AD203B41FA5}">
                      <a16:colId xmlns:a16="http://schemas.microsoft.com/office/drawing/2014/main" val="3372189643"/>
                    </a:ext>
                  </a:extLst>
                </a:gridCol>
                <a:gridCol w="889000">
                  <a:extLst>
                    <a:ext uri="{9D8B030D-6E8A-4147-A177-3AD203B41FA5}">
                      <a16:colId xmlns:a16="http://schemas.microsoft.com/office/drawing/2014/main" val="353523185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517011865"/>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4389858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2044772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62932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1543524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329365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14825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653052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2424816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085045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299581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59498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47434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45376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01215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5270144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07331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892343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071335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062986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084379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56373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518559"/>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498470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3536387"/>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523629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838471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4735013"/>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483029"/>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38270487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Offensiv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50 %,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Offensiv</a:t>
            </a:r>
          </a:p>
        </p:txBody>
      </p:sp>
    </p:spTree>
    <p:extLst>
      <p:ext uri="{BB962C8B-B14F-4D97-AF65-F5344CB8AC3E}">
        <p14:creationId xmlns:p14="http://schemas.microsoft.com/office/powerpoint/2010/main" val="33945485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12,5% </a:t>
            </a:r>
            <a:r>
              <a:rPr lang="de-DE" dirty="0" err="1"/>
              <a:t>iBoxx</a:t>
            </a:r>
            <a:r>
              <a:rPr lang="de-DE" dirty="0"/>
              <a:t> EUR Corp. OV. 3-5y TR; 12,5% </a:t>
            </a:r>
            <a:r>
              <a:rPr lang="de-DE" dirty="0" err="1"/>
              <a:t>iBoxx</a:t>
            </a:r>
            <a:r>
              <a:rPr lang="de-DE" dirty="0"/>
              <a:t> EUR Sovereigns Germ. 5-7y TR</a:t>
            </a:r>
            <a:r>
              <a:rPr lang="de-DE"/>
              <a:t>; 37,5% </a:t>
            </a:r>
            <a:r>
              <a:rPr lang="de-DE" dirty="0"/>
              <a:t>DAX</a:t>
            </a:r>
            <a:r>
              <a:rPr lang="de-DE"/>
              <a:t>; 37,5% </a:t>
            </a:r>
            <a:r>
              <a:rPr lang="de-DE" dirty="0"/>
              <a:t>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1C9114-221C-4AF9-96A0-9783BF59B45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360413756"/>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79821773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330575814"/>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60,85%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7,37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Offensiv |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24</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ESG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291537874"/>
              </p:ext>
            </p:extLst>
          </p:nvPr>
        </p:nvGraphicFramePr>
        <p:xfrm>
          <a:off x="1573904" y="1231522"/>
          <a:ext cx="7291591"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ESG Defensiv</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Defensiv Plus</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Offensiv </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1573904" y="4350785"/>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p:txBody>
          <a:bodyPr/>
          <a:lstStyle/>
          <a:p>
            <a:r>
              <a:rPr lang="de-DE" dirty="0"/>
              <a:t>DIE 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11" name="Gruppieren 10">
            <a:extLst>
              <a:ext uri="{FF2B5EF4-FFF2-40B4-BE49-F238E27FC236}">
                <a16:creationId xmlns:a16="http://schemas.microsoft.com/office/drawing/2014/main" id="{3127580F-4FEA-75A6-F275-78B82D3C957E}"/>
              </a:ext>
            </a:extLst>
          </p:cNvPr>
          <p:cNvGrpSpPr/>
          <p:nvPr/>
        </p:nvGrpSpPr>
        <p:grpSpPr>
          <a:xfrm>
            <a:off x="1896896" y="1776659"/>
            <a:ext cx="6645608" cy="1656000"/>
            <a:chOff x="1896896" y="729000"/>
            <a:chExt cx="6645608" cy="1656000"/>
          </a:xfrm>
        </p:grpSpPr>
        <p:pic>
          <p:nvPicPr>
            <p:cNvPr id="8" name="Bild links">
              <a:extLst>
                <a:ext uri="{FF2B5EF4-FFF2-40B4-BE49-F238E27FC236}">
                  <a16:creationId xmlns:a16="http://schemas.microsoft.com/office/drawing/2014/main" id="{A97CC405-DA0D-B177-A616-313E07735FD4}"/>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9" name="Bild mitte">
              <a:extLst>
                <a:ext uri="{FF2B5EF4-FFF2-40B4-BE49-F238E27FC236}">
                  <a16:creationId xmlns:a16="http://schemas.microsoft.com/office/drawing/2014/main" id="{BE1E6CA1-75C7-FFA6-A477-C025B5B65204}"/>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0" name="Bild rechts">
              <a:extLst>
                <a:ext uri="{FF2B5EF4-FFF2-40B4-BE49-F238E27FC236}">
                  <a16:creationId xmlns:a16="http://schemas.microsoft.com/office/drawing/2014/main" id="{D79F7FC6-3E48-30E8-3025-E32FD52FF62A}"/>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dirty="0">
                <a:solidFill>
                  <a:schemeClr val="accent1"/>
                </a:solidFill>
                <a:latin typeface="Noto Serif"/>
                <a:cs typeface="Noto Serif"/>
              </a:rPr>
              <a:t> 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7" name="Gruppieren 6">
            <a:extLst>
              <a:ext uri="{FF2B5EF4-FFF2-40B4-BE49-F238E27FC236}">
                <a16:creationId xmlns:a16="http://schemas.microsoft.com/office/drawing/2014/main" id="{73AB481D-BF23-D788-6291-3B27DF4F1D3C}"/>
              </a:ext>
            </a:extLst>
          </p:cNvPr>
          <p:cNvGrpSpPr/>
          <p:nvPr/>
        </p:nvGrpSpPr>
        <p:grpSpPr>
          <a:xfrm>
            <a:off x="1961465" y="1776659"/>
            <a:ext cx="6516470" cy="1656000"/>
            <a:chOff x="1961465" y="1776659"/>
            <a:chExt cx="6516470" cy="1656000"/>
          </a:xfrm>
        </p:grpSpPr>
        <p:pic>
          <p:nvPicPr>
            <p:cNvPr id="4" name="Bild rechts">
              <a:extLst>
                <a:ext uri="{FF2B5EF4-FFF2-40B4-BE49-F238E27FC236}">
                  <a16:creationId xmlns:a16="http://schemas.microsoft.com/office/drawing/2014/main" id="{6E59FB3E-4B16-C8CD-B99A-9E786031EC93}"/>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5" name="Bild mitte">
              <a:extLst>
                <a:ext uri="{FF2B5EF4-FFF2-40B4-BE49-F238E27FC236}">
                  <a16:creationId xmlns:a16="http://schemas.microsoft.com/office/drawing/2014/main" id="{BC19898C-9F2E-47EA-050B-8EB1B273825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6" name="Bild links">
              <a:extLst>
                <a:ext uri="{FF2B5EF4-FFF2-40B4-BE49-F238E27FC236}">
                  <a16:creationId xmlns:a16="http://schemas.microsoft.com/office/drawing/2014/main" id="{351E43C7-E083-3DE2-FD6F-FD8EA42C470F}"/>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31</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 fortlaufende</a:t>
            </a:r>
          </a:p>
          <a:p>
            <a:pPr marL="171450" indent="-171450">
              <a:spcBef>
                <a:spcPts val="200"/>
              </a:spcBef>
              <a:buFont typeface="Arial" panose="020B0604020202020204" pitchFamily="34" charset="0"/>
              <a:buChar char="•"/>
            </a:pPr>
            <a:r>
              <a:rPr lang="de-DE" b="0" dirty="0"/>
              <a:t>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32</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33</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047383281"/>
              </p:ext>
            </p:extLst>
          </p:nvPr>
        </p:nvGraphicFramePr>
        <p:xfrm>
          <a:off x="814812" y="1032843"/>
          <a:ext cx="8784063" cy="4389165"/>
        </p:xfrm>
        <a:graphic>
          <a:graphicData uri="http://schemas.openxmlformats.org/drawingml/2006/table">
            <a:tbl>
              <a:tblPr firstRow="1" bandRow="1"/>
              <a:tblGrid>
                <a:gridCol w="1479649">
                  <a:extLst>
                    <a:ext uri="{9D8B030D-6E8A-4147-A177-3AD203B41FA5}">
                      <a16:colId xmlns:a16="http://schemas.microsoft.com/office/drawing/2014/main" val="20000"/>
                    </a:ext>
                  </a:extLst>
                </a:gridCol>
                <a:gridCol w="1788839">
                  <a:extLst>
                    <a:ext uri="{9D8B030D-6E8A-4147-A177-3AD203B41FA5}">
                      <a16:colId xmlns:a16="http://schemas.microsoft.com/office/drawing/2014/main" val="3953192555"/>
                    </a:ext>
                  </a:extLst>
                </a:gridCol>
                <a:gridCol w="1838525">
                  <a:extLst>
                    <a:ext uri="{9D8B030D-6E8A-4147-A177-3AD203B41FA5}">
                      <a16:colId xmlns:a16="http://schemas.microsoft.com/office/drawing/2014/main" val="2318029501"/>
                    </a:ext>
                  </a:extLst>
                </a:gridCol>
                <a:gridCol w="1838525">
                  <a:extLst>
                    <a:ext uri="{9D8B030D-6E8A-4147-A177-3AD203B41FA5}">
                      <a16:colId xmlns:a16="http://schemas.microsoft.com/office/drawing/2014/main" val="3185518545"/>
                    </a:ext>
                  </a:extLst>
                </a:gridCol>
                <a:gridCol w="1838525">
                  <a:extLst>
                    <a:ext uri="{9D8B030D-6E8A-4147-A177-3AD203B41FA5}">
                      <a16:colId xmlns:a16="http://schemas.microsoft.com/office/drawing/2014/main" val="2569749662"/>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3.000 € netto bzw. mindestens </a:t>
                      </a:r>
                    </a:p>
                    <a:p>
                      <a:pPr algn="l"/>
                      <a:r>
                        <a:rPr lang="de-DE" sz="1000" b="0" kern="0" spc="20" dirty="0">
                          <a:solidFill>
                            <a:schemeClr val="accent1"/>
                          </a:solidFill>
                          <a:latin typeface="+mj-lt"/>
                          <a:ea typeface="+mn-ea"/>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 </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
                          <a:cs typeface="Noto Sans"/>
                        </a:rPr>
                        <a:t>Jährlich 1,55 % netto </a:t>
                      </a:r>
                      <a:br>
                        <a:rPr lang="de-DE" sz="1000" b="0" kern="0" spc="20" dirty="0">
                          <a:solidFill>
                            <a:schemeClr val="accent1"/>
                          </a:solidFill>
                          <a:latin typeface="+mj-lt"/>
                          <a:ea typeface=""/>
                          <a:cs typeface="Noto Sans"/>
                        </a:rPr>
                      </a:br>
                      <a:r>
                        <a:rPr lang="de-DE" sz="1000" b="0" kern="0" spc="20" dirty="0">
                          <a:solidFill>
                            <a:schemeClr val="accent1"/>
                          </a:solidFill>
                          <a:latin typeface="+mj-lt"/>
                          <a:ea typeface=""/>
                          <a:cs typeface="Noto Sans"/>
                        </a:rPr>
                        <a:t>des 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0814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000" b="1" kern="0" spc="20" dirty="0">
                          <a:solidFill>
                            <a:schemeClr val="accent1"/>
                          </a:solidFill>
                          <a:latin typeface="+mj-lt"/>
                          <a:ea typeface="+mn-ea"/>
                          <a:cs typeface="Noto Sans"/>
                        </a:rPr>
                        <a:t>Erfolgsabhängige </a:t>
                      </a:r>
                    </a:p>
                    <a:p>
                      <a:pPr algn="l"/>
                      <a:r>
                        <a:rPr lang="de-DE" sz="1000" b="1" kern="0" spc="20" dirty="0">
                          <a:solidFill>
                            <a:schemeClr val="accent1"/>
                          </a:solidFill>
                          <a:latin typeface="+mj-lt"/>
                          <a:ea typeface="+mn-ea"/>
                          <a:cs typeface="Noto Sans"/>
                        </a:rPr>
                        <a:t>All-in-Fee jährlich</a:t>
                      </a:r>
                    </a:p>
                    <a:p>
                      <a:pPr algn="l"/>
                      <a:r>
                        <a:rPr lang="de-DE" sz="1000" b="0" kern="0" spc="20" dirty="0">
                          <a:solidFill>
                            <a:schemeClr val="accent1"/>
                          </a:solidFill>
                          <a:latin typeface="+mj-lt"/>
                          <a:ea typeface="+mn-ea"/>
                          <a:cs typeface="Noto Sans"/>
                        </a:rPr>
                        <a:t>Die Belastung erfolgt jährlich. </a:t>
                      </a:r>
                    </a:p>
                    <a:p>
                      <a:pPr algn="l"/>
                      <a:r>
                        <a:rPr lang="de-DE" sz="1000" b="0" kern="0" spc="20" dirty="0">
                          <a:solidFill>
                            <a:schemeClr val="accent1"/>
                          </a:solidFill>
                          <a:latin typeface="+mj-lt"/>
                          <a:ea typeface="+mn-ea"/>
                          <a:cs typeface="Noto Sans"/>
                        </a:rPr>
                        <a:t>Als Berechnungs-grundlage dient das durchschnittliche Anlagevolumen im Honorareitraum zum Stichtag 31.12.</a:t>
                      </a:r>
                    </a:p>
                    <a:p>
                      <a:pPr>
                        <a:lnSpc>
                          <a:spcPts val="1180"/>
                        </a:lnSpc>
                      </a:pPr>
                      <a:endParaRPr lang="de-DE" sz="1000" b="0" kern="0" spc="20" dirty="0">
                        <a:solidFill>
                          <a:schemeClr val="accent1"/>
                        </a:solidFill>
                        <a:latin typeface="+mj-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mn-ea"/>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 </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35</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a:t>
            </a:r>
            <a:r>
              <a:rPr lang="de-DE" sz="1000" b="0" dirty="0">
                <a:solidFill>
                  <a:srgbClr val="FF0000"/>
                </a:solidFill>
                <a:latin typeface="+mn-lt"/>
              </a:rPr>
              <a:t>X</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985932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38</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pPr>
              <a:spcBef>
                <a:spcPts val="400"/>
              </a:spcBef>
            </a:pPr>
            <a:r>
              <a:rPr lang="de-DE" b="0" dirty="0"/>
              <a:t>Die dargestellten Meinungsäußerungen geben die aktuellen Einschätzungen des Erstellers wieder und können sich ohne vorherige Ankündigung ändern. </a:t>
            </a:r>
          </a:p>
          <a:p>
            <a:pPr>
              <a:spcBef>
                <a:spcPts val="400"/>
              </a:spcBef>
            </a:pPr>
            <a:r>
              <a:rPr lang="de-DE" b="0" dirty="0"/>
              <a:t>Vorstehende Angaben wurden mit großer Sorgfalt recherchiert. Bitte haben Sie dafür Verständnis, dass </a:t>
            </a:r>
            <a:br>
              <a:rPr lang="de-DE" b="0" dirty="0"/>
            </a:br>
            <a:r>
              <a:rPr lang="de-DE" b="0" dirty="0"/>
              <a:t>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pPr>
              <a:spcBef>
                <a:spcPts val="400"/>
              </a:spcBef>
              <a:spcAft>
                <a:spcPts val="3900"/>
              </a:spcAft>
            </a:pPr>
            <a:r>
              <a:rPr lang="de-DE" b="0" dirty="0"/>
              <a:t>Die in diesem Vortrag wiedergegebenen Informationen wurden zum angegebenen Zweck erstellt und erfolgen ausschließlich zu Informationszwecken. Eine </a:t>
            </a:r>
            <a:r>
              <a:rPr lang="de-DE" b="0" dirty="0" err="1"/>
              <a:t>ander-weitige</a:t>
            </a:r>
            <a:r>
              <a:rPr lang="de-DE" b="0" dirty="0"/>
              <a:t> Speicherung, Veröffentlichung oder Weitergabe an Dritte ist nicht gestattet und darf nur nach vorheriger Zustimmung der Fürst Fugger Privatbank erfolgen. </a:t>
            </a:r>
          </a:p>
          <a:p>
            <a:pPr algn="r">
              <a:lnSpc>
                <a:spcPct val="100000"/>
              </a:lnSpc>
              <a:spcBef>
                <a:spcPts val="0"/>
              </a:spcBef>
              <a:spcAft>
                <a:spcPts val="0"/>
              </a:spcAft>
            </a:pPr>
            <a:r>
              <a:rPr lang="de-DE" sz="800" b="0" dirty="0">
                <a:solidFill>
                  <a:schemeClr val="bg1">
                    <a:lumMod val="50000"/>
                  </a:schemeClr>
                </a:solidFill>
              </a:rPr>
              <a:t>Herausgeber: Fürst Fugger Privatbank</a:t>
            </a:r>
          </a:p>
          <a:p>
            <a:pPr algn="r">
              <a:lnSpc>
                <a:spcPct val="100000"/>
              </a:lnSpc>
              <a:spcBef>
                <a:spcPts val="0"/>
              </a:spcBef>
              <a:spcAft>
                <a:spcPts val="0"/>
              </a:spcAft>
            </a:pPr>
            <a:r>
              <a:rPr lang="de-DE" sz="800" b="0" u="sng" dirty="0">
                <a:solidFill>
                  <a:schemeClr val="bg1">
                    <a:lumMod val="50000"/>
                  </a:schemeClr>
                </a:solidFill>
                <a:hlinkClick r:id="rId3">
                  <a:extLst>
                    <a:ext uri="{A12FA001-AC4F-418D-AE19-62706E023703}">
                      <ahyp:hlinkClr xmlns:ahyp="http://schemas.microsoft.com/office/drawing/2018/hyperlinkcolor" val="tx"/>
                    </a:ext>
                  </a:extLst>
                </a:hlinkClick>
              </a:rPr>
              <a:t>www.fuggerbank.de</a:t>
            </a:r>
            <a:r>
              <a:rPr lang="de-DE" sz="800" b="0" u="sng" dirty="0">
                <a:solidFill>
                  <a:schemeClr val="bg1">
                    <a:lumMod val="50000"/>
                  </a:schemeClr>
                </a:solidFill>
              </a:rPr>
              <a:t> </a:t>
            </a:r>
            <a:r>
              <a:rPr lang="de-DE" sz="800" b="0" dirty="0">
                <a:solidFill>
                  <a:schemeClr val="bg1">
                    <a:lumMod val="50000"/>
                  </a:schemeClr>
                </a:solidFill>
              </a:rPr>
              <a:t>Stand: 31.07.2024</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pPr>
              <a:spcBef>
                <a:spcPts val="400"/>
              </a:spcBef>
            </a:pPr>
            <a:r>
              <a:rPr lang="de-DE" b="0" dirty="0"/>
              <a:t>Im vorliegenden Dokument handelt es sich um eine Werbemitteilung der Fürst Fugger Privatbank. </a:t>
            </a:r>
          </a:p>
          <a:p>
            <a:pPr>
              <a:spcBef>
                <a:spcPts val="400"/>
              </a:spcBef>
            </a:pPr>
            <a:r>
              <a:rPr lang="de-DE" b="0"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ersetzten. </a:t>
            </a:r>
          </a:p>
          <a:p>
            <a:pPr>
              <a:spcBef>
                <a:spcPts val="400"/>
              </a:spcBef>
            </a:pPr>
            <a:r>
              <a:rPr lang="de-DE" b="0"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 Rendite übersteigt. Auch eine geringe Anlagedauer und die Gesamtkosten und -gebühren können negativ das Risiko-Rendite-Verhältnis beeinflussen. </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Rechtliche Hinweise und Impressum </a:t>
            </a:r>
          </a:p>
        </p:txBody>
      </p:sp>
    </p:spTree>
    <p:extLst>
      <p:ext uri="{BB962C8B-B14F-4D97-AF65-F5344CB8AC3E}">
        <p14:creationId xmlns:p14="http://schemas.microsoft.com/office/powerpoint/2010/main" val="3996292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5944</Words>
  <Application>Microsoft Office PowerPoint</Application>
  <PresentationFormat>Benutzerdefiniert</PresentationFormat>
  <Paragraphs>1947</Paragraphs>
  <Slides>39</Slides>
  <Notes>2</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39</vt:i4>
      </vt:variant>
    </vt:vector>
  </HeadingPairs>
  <TitlesOfParts>
    <vt:vector size="50" baseType="lpstr">
      <vt:lpstr>Arial</vt:lpstr>
      <vt:lpstr>Calibri</vt:lpstr>
      <vt:lpstr>Gill Sans</vt:lpstr>
      <vt:lpstr>Lucida Grande</vt:lpstr>
      <vt:lpstr>Noto Sans</vt:lpstr>
      <vt:lpstr>Noto Serif</vt:lpstr>
      <vt:lpstr>Open Sans</vt:lpstr>
      <vt:lpstr>Symbol</vt:lpstr>
      <vt:lpstr>Wingdings 2</vt:lpstr>
      <vt:lpstr>Office</vt:lpstr>
      <vt:lpstr>1_Office</vt:lpstr>
      <vt:lpstr>PowerPoint-Präsentation</vt:lpstr>
      <vt:lpstr>Inhalt</vt:lpstr>
      <vt:lpstr>NACHHALTIGKEIT  LIEGT UNS AM HERZEN</vt:lpstr>
      <vt:lpstr>PowerPoint-Präsentation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 Defensiv</vt:lpstr>
      <vt:lpstr>Anlagestrategie ESG Defensiv | Wertentwicklung</vt:lpstr>
      <vt:lpstr>Anlagestrategie ESG Defensiv Plus</vt:lpstr>
      <vt:lpstr>Anlagestrategie ESG Defensiv Plus | Wertentwicklung</vt:lpstr>
      <vt:lpstr>Anlagestrategie ESG Ausgewogen</vt:lpstr>
      <vt:lpstr>Anlagestrategie ESG Ausgewogen | Wertentwicklung</vt:lpstr>
      <vt:lpstr>Anlagestrategie ESG Offensiv</vt:lpstr>
      <vt:lpstr>Anlagestrategie ESG Offensiv | Wertentwicklung</vt:lpstr>
      <vt:lpstr>Wertentwicklung der ESG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Risikohinweise</vt:lpstr>
      <vt:lpstr>Rechtliche Hinweise und Impressum</vt:lpstr>
      <vt:lpstr>Unser Reporting</vt:lpstr>
      <vt:lpstr>PowerPoint-Präsentation</vt:lpstr>
      <vt:lpstr>Rechtliche Hinweise und Impressum </vt:lpstr>
      <vt:lpstr>PowerPoint-Präsentation</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194</cp:revision>
  <dcterms:created xsi:type="dcterms:W3CDTF">2023-08-14T05:18:02Z</dcterms:created>
  <dcterms:modified xsi:type="dcterms:W3CDTF">2026-07-06T08:47:38Z</dcterms:modified>
  <cp:category>Vorlagen;Design</cp:category>
</cp:coreProperties>
</file>