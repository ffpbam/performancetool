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285" r:id="rId16"/>
    <p:sldId id="291" r:id="rId17"/>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7086527929901421"/>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6725099395434276"/>
          <c:w val="1"/>
          <c:h val="0.73657493251459671"/>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a:t>
          </a:r>
          <a:r>
            <a:rPr lang="de-DE" sz="900" b="1" cap="all" dirty="0">
              <a:solidFill>
                <a:schemeClr val="bg1"/>
              </a:solidFill>
            </a:rPr>
            <a:t>31.12.</a:t>
          </a:r>
          <a:r>
            <a:rPr lang="de-DE" sz="900" b="1" cap="all" baseline="0" dirty="0">
              <a:solidFill>
                <a:schemeClr val="bg1"/>
              </a:solidFill>
            </a:rPr>
            <a:t>2024</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28.png"/><Relationship Id="rId1" Type="http://schemas.openxmlformats.org/officeDocument/2006/relationships/slideMaster" Target="../slideMasters/slideMaster1.xml"/><Relationship Id="rId4" Type="http://schemas.openxmlformats.org/officeDocument/2006/relationships/image" Target="../media/image29.png"/></Relationships>
</file>

<file path=ppt/slideLayouts/_rels/slideLayout4.xml.rels><?xml version="1.0" encoding="UTF-8" standalone="yes"?><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0.png"/><Relationship Id="rId1" Type="http://schemas.openxmlformats.org/officeDocument/2006/relationships/slideMaster" Target="../slideMasters/slideMaster1.xml"/><Relationship Id="rId4" Type="http://schemas.openxmlformats.org/officeDocument/2006/relationships/image" Target="../media/image2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Die Strategie Pro Dividende stellt eine exklusive Erweiterung unserer Classic Vermögensverwaltung dar.</a:t>
            </a:r>
          </a:p>
          <a:p>
            <a:r>
              <a:rPr lang="de-DE" dirty="0"/>
              <a:t>Diese Strategievariante bietet die Möglichkeit, an der Entwicklung der internationalen Aktienmärkte zu </a:t>
            </a:r>
            <a:br>
              <a:rPr lang="de-DE" dirty="0"/>
            </a:br>
            <a:r>
              <a:rPr lang="de-DE" dirty="0"/>
              <a:t>partizipieren – und das mit einem dezidierten Fokus auf  kontinuierliche Dividendenerträge. Wir wollen bewusst ein stabiles Auszahlungsprofil der Strategie gewährleisten.</a:t>
            </a:r>
          </a:p>
          <a:p>
            <a:r>
              <a:rPr lang="de-DE" dirty="0"/>
              <a:t>Das Vorhalten von Liquidität wird in dieser Strategie ausgeschlossen bzw. vertraglich auf maximal 15 % für </a:t>
            </a:r>
            <a:br>
              <a:rPr lang="de-DE" dirty="0"/>
            </a:br>
            <a:r>
              <a:rPr lang="de-DE" dirty="0"/>
              <a:t>die Steuerung der Vermögensverwaltung begrenzt.</a:t>
            </a:r>
          </a:p>
          <a:p>
            <a:r>
              <a:rPr lang="de-DE" dirty="0"/>
              <a:t>Ziel ist eine dauerhafte, einkommensorientierte Partizipation am Aktienmarkt unter Verzicht auf taktische Maßnahmen wie etwa das Vorhalten großer Liquiditätsbestände zum Abfedern von Kursrückgängen.</a:t>
            </a:r>
          </a:p>
          <a:p>
            <a:r>
              <a:rPr lang="de-DE" dirty="0"/>
              <a:t>Diese sehr spezielle Vermögensverwaltungslösung ist ab einem Anlagevolumen von 500.000 Euro darstellbar.</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Pro Dividende</a:t>
            </a:r>
          </a:p>
        </p:txBody>
      </p:sp>
    </p:spTree>
    <p:extLst>
      <p:ext uri="{BB962C8B-B14F-4D97-AF65-F5344CB8AC3E}">
        <p14:creationId xmlns:p14="http://schemas.microsoft.com/office/powerpoint/2010/main" val="10119810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3"/>
          </p:nvPr>
        </p:nvSpPr>
        <p:spPr>
          <a:xfrm>
            <a:off x="1187450" y="1411288"/>
            <a:ext cx="4140200" cy="4421187"/>
          </a:xfrm>
        </p:spPr>
        <p:txBody>
          <a:bodyPr/>
          <a:lstStyle/>
          <a:p>
            <a:pPr marL="0" indent="0">
              <a:buNone/>
            </a:pPr>
            <a:r>
              <a:rPr lang="de-DE" dirty="0"/>
              <a:t>In dieser Strategie sind folgende Punkte bei der Auswahl </a:t>
            </a:r>
            <a:br>
              <a:rPr lang="de-DE" dirty="0"/>
            </a:br>
            <a:r>
              <a:rPr lang="de-DE" dirty="0"/>
              <a:t>für uns relevant:</a:t>
            </a:r>
          </a:p>
          <a:p>
            <a:pPr lvl="1"/>
            <a:r>
              <a:rPr lang="de-DE" dirty="0"/>
              <a:t>Das Unternehmen verfügt über eine starke Marktposition (Burggraben) und ferner über ein vorzügliches Management und Geschäftsmodell.</a:t>
            </a:r>
          </a:p>
          <a:p>
            <a:pPr lvl="1"/>
            <a:r>
              <a:rPr lang="de-DE" dirty="0"/>
              <a:t>Eine Dividendenrendite von mindestens 2 % wird für jedes Unternehmen vorausgesetzt.</a:t>
            </a:r>
          </a:p>
          <a:p>
            <a:pPr lvl="1"/>
            <a:r>
              <a:rPr lang="de-DE" dirty="0"/>
              <a:t>Währungen, Länder und Branchen können von den Managern frei gewählt werden.</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Strategie Pro Dividende</a:t>
            </a:r>
          </a:p>
        </p:txBody>
      </p:sp>
    </p:spTree>
    <p:extLst>
      <p:ext uri="{BB962C8B-B14F-4D97-AF65-F5344CB8AC3E}">
        <p14:creationId xmlns:p14="http://schemas.microsoft.com/office/powerpoint/2010/main" val="1267825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nchor="t" anchorCtr="0"/>
          <a:lstStyle/>
          <a:p>
            <a:r>
              <a:rPr lang="de-DE" dirty="0"/>
              <a:t>Wesentliche Finanzkennzahlen auf einen Blick 31.12.2024</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grpSp>
        <p:nvGrpSpPr>
          <p:cNvPr id="13" name="Textlinie">
            <a:extLst>
              <a:ext uri="{FF2B5EF4-FFF2-40B4-BE49-F238E27FC236}">
                <a16:creationId xmlns:a16="http://schemas.microsoft.com/office/drawing/2014/main" id="{56C474AC-C2CB-F8B9-CBD2-688DC08BDA13}"/>
              </a:ext>
            </a:extLst>
          </p:cNvPr>
          <p:cNvGrpSpPr>
            <a:grpSpLocks noGrp="1" noUngrp="1" noRot="1" noMove="1" noResize="1"/>
          </p:cNvGrpSpPr>
          <p:nvPr/>
        </p:nvGrpSpPr>
        <p:grpSpPr>
          <a:xfrm>
            <a:off x="5327650" y="1725370"/>
            <a:ext cx="4787900" cy="184666"/>
            <a:chOff x="5327650" y="1725370"/>
            <a:chExt cx="4787900" cy="184666"/>
          </a:xfrm>
        </p:grpSpPr>
        <p:cxnSp>
          <p:nvCxnSpPr>
            <p:cNvPr id="10" name="Linie rechts">
              <a:extLst>
                <a:ext uri="{FF2B5EF4-FFF2-40B4-BE49-F238E27FC236}">
                  <a16:creationId xmlns:a16="http://schemas.microsoft.com/office/drawing/2014/main" id="{3E379351-53AE-4A53-7CFD-EFEC6FD9EFAB}"/>
                </a:ext>
              </a:extLst>
            </p:cNvPr>
            <p:cNvCxnSpPr>
              <a:cxnSpLocks noGrp="1" noRot="1" noMove="1" noResize="1" noEditPoints="1" noAdjustHandles="1" noChangeArrowheads="1" noChangeShapeType="1"/>
            </p:cNvCxnSpPr>
            <p:nvPr/>
          </p:nvCxnSpPr>
          <p:spPr>
            <a:xfrm>
              <a:off x="7934325" y="1799167"/>
              <a:ext cx="2181225" cy="0"/>
            </a:xfrm>
            <a:prstGeom prst="line">
              <a:avLst/>
            </a:prstGeom>
            <a:ln w="12700">
              <a:solidFill>
                <a:schemeClr val="accent2"/>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sp>
          <p:nvSpPr>
            <p:cNvPr id="12" name="Text">
              <a:extLst>
                <a:ext uri="{FF2B5EF4-FFF2-40B4-BE49-F238E27FC236}">
                  <a16:creationId xmlns:a16="http://schemas.microsoft.com/office/drawing/2014/main" id="{A7990DBA-1571-09C9-78C3-00F3E9C5A659}"/>
                </a:ext>
              </a:extLst>
            </p:cNvPr>
            <p:cNvSpPr txBox="1">
              <a:spLocks noGrp="1" noRot="1" noMove="1" noResize="1" noEditPoints="1" noAdjustHandles="1" noChangeArrowheads="1" noChangeShapeType="1"/>
            </p:cNvSpPr>
            <p:nvPr/>
          </p:nvSpPr>
          <p:spPr>
            <a:xfrm>
              <a:off x="7406635" y="1725370"/>
              <a:ext cx="591830" cy="184666"/>
            </a:xfrm>
            <a:prstGeom prst="rect">
              <a:avLst/>
            </a:prstGeom>
            <a:noFill/>
          </p:spPr>
          <p:txBody>
            <a:bodyPr wrap="none" rtlCol="0" anchor="ctr" anchorCtr="0">
              <a:spAutoFit/>
            </a:bodyPr>
            <a:lstStyle/>
            <a:p>
              <a:pPr algn="ctr"/>
              <a:r>
                <a:rPr lang="de-DE" sz="600" b="1" dirty="0">
                  <a:solidFill>
                    <a:schemeClr val="accent2"/>
                  </a:solidFill>
                </a:rPr>
                <a:t>CAGR 6,5%</a:t>
              </a:r>
            </a:p>
          </p:txBody>
        </p:sp>
        <p:cxnSp>
          <p:nvCxnSpPr>
            <p:cNvPr id="9" name="Linie links">
              <a:extLst>
                <a:ext uri="{FF2B5EF4-FFF2-40B4-BE49-F238E27FC236}">
                  <a16:creationId xmlns:a16="http://schemas.microsoft.com/office/drawing/2014/main" id="{ECD25257-8C23-BF4E-E4DA-BE4C64E4FC89}"/>
                </a:ext>
              </a:extLst>
            </p:cNvPr>
            <p:cNvCxnSpPr>
              <a:cxnSpLocks noGrp="1" noRot="1" noMove="1" noResize="1" noEditPoints="1" noAdjustHandles="1" noChangeArrowheads="1" noChangeShapeType="1"/>
            </p:cNvCxnSpPr>
            <p:nvPr/>
          </p:nvCxnSpPr>
          <p:spPr>
            <a:xfrm>
              <a:off x="5327650" y="1799167"/>
              <a:ext cx="2118783" cy="0"/>
            </a:xfrm>
            <a:prstGeom prst="line">
              <a:avLst/>
            </a:prstGeom>
            <a:ln w="12700">
              <a:solidFill>
                <a:schemeClr val="accent2"/>
              </a:solidFill>
              <a:headEnd type="oval" w="sm" len="sm"/>
            </a:ln>
          </p:spPr>
          <p:style>
            <a:lnRef idx="1">
              <a:schemeClr val="accent1"/>
            </a:lnRef>
            <a:fillRef idx="0">
              <a:schemeClr val="accent1"/>
            </a:fillRef>
            <a:effectRef idx="0">
              <a:schemeClr val="accent1"/>
            </a:effectRef>
            <a:fontRef idx="minor">
              <a:schemeClr val="tx1"/>
            </a:fontRef>
          </p:style>
        </p:cxnSp>
      </p:grpSp>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