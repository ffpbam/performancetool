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5.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1606" r:id="rId30"/>
    <p:sldId id="1607" r:id="rId31"/>
    <p:sldId id="1605" r:id="rId29"/>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 Id="rId29" Type="http://schemas.openxmlformats.org/officeDocument/2006/relationships/slide" Target="slides/slide17.xml"/><Relationship Id="rId30" Type="http://schemas.openxmlformats.org/officeDocument/2006/relationships/slide" Target="slides/slide16.xml"/><Relationship Id="rId3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microsoft.com/office/2011/relationships/chartStyle" Target="style10.xml"/><Relationship Id="rId2" Type="http://schemas.microsoft.com/office/2011/relationships/chartColorStyle" Target="colors10.xml"/><Relationship Id="rId3" Type="http://schemas.openxmlformats.org/officeDocument/2006/relationships/package" Target="../embeddings/Microsoft_Excel_Worksheet6.xlsx"/><Relationship Id="rId4" Type="http://schemas.openxmlformats.org/officeDocument/2006/relationships/chartUserShapes" Target="../drawings/drawing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0514786418400876"/>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0591473984700434"/>
          <c:w val="1"/>
          <c:h val="0.79791118662193516"/>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Tabelle1!$A$2:$A$14</c:f>
              <c:numCache>
                <c:formatCode>General</c:formatCode>
                <c:ptCount val="13"/>
                <c:pt idx="0">
                  <c:v>2013</c:v>
                </c:pt>
                <c:pt idx="1">
                  <c:v>2014</c:v>
                </c:pt>
                <c:pt idx="2">
                  <c:v>2015</c:v>
                </c:pt>
                <c:pt idx="3">
                  <c:v>2016</c:v>
                </c:pt>
                <c:pt idx="4">
                  <c:v>2017</c:v>
                </c:pt>
                <c:pt idx="5">
                  <c:v>2018</c:v>
                </c:pt>
                <c:pt idx="6">
                  <c:v>2019</c:v>
                </c:pt>
                <c:pt idx="7">
                  <c:v>2020</c:v>
                </c:pt>
                <c:pt idx="8">
                  <c:v>2021</c:v>
                </c:pt>
                <c:pt idx="9">
                  <c:v>2022</c:v>
                </c:pt>
                <c:pt idx="10">
                  <c:v>2023</c:v>
                </c:pt>
                <c:pt idx="11">
                  <c:v>2024</c:v>
                </c:pt>
                <c:pt idx="12">
                  <c:v>2025</c:v>
                </c:pt>
              </c:numCache>
            </c:numRef>
          </c:cat>
          <c:val>
            <c:numRef>
              <c:f>Tabelle1!$B$2:$B$14</c:f>
              <c:numCache>
                <c:formatCode>General</c:formatCode>
                <c:ptCount val="13"/>
                <c:pt idx="0">
                  <c:v>3318</c:v>
                </c:pt>
                <c:pt idx="1">
                  <c:v>3677</c:v>
                </c:pt>
                <c:pt idx="2">
                  <c:v>3942</c:v>
                </c:pt>
                <c:pt idx="3">
                  <c:v>4266</c:v>
                </c:pt>
                <c:pt idx="4">
                  <c:v>4692</c:v>
                </c:pt>
                <c:pt idx="5">
                  <c:v>4444</c:v>
                </c:pt>
                <c:pt idx="6">
                  <c:v>4963</c:v>
                </c:pt>
                <c:pt idx="7">
                  <c:v>5246</c:v>
                </c:pt>
                <c:pt idx="8">
                  <c:v>6626</c:v>
                </c:pt>
                <c:pt idx="9">
                  <c:v>5789</c:v>
                </c:pt>
                <c:pt idx="10">
                  <c:v>6204</c:v>
                </c:pt>
                <c:pt idx="11">
                  <c:v>6780</c:v>
                </c:pt>
                <c:pt idx="12">
                  <c:v>7358</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DEZEMBER 2025 (OHNE INSTITUTIONELLES GESCHÄFT)</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7.svg"/><Relationship Id="rId4" Type="http://schemas.openxmlformats.org/officeDocument/2006/relationships/image" Target="../media/image29.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1.svg"/><Relationship Id="rId4" Type="http://schemas.openxmlformats.org/officeDocument/2006/relationships/image" Target="../media/image2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889926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4953966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Dividende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kontinuierliche Dividendenerträge. Wir wollen bewusst ein stabiles Auszahlungsprofil der Strategie gewährleisten.</a:t>
            </a:r>
          </a:p>
          <a:p>
            <a:r>
              <a:rPr lang="de-DE" dirty="0"/>
              <a:t>Das Vorhalten von Liquidität wird in dieser Strategie ausgeschlossen bzw. vertraglich auf maximal 15 % für </a:t>
            </a:r>
            <a:br>
              <a:rPr lang="de-DE" dirty="0"/>
            </a:br>
            <a:r>
              <a:rPr lang="de-DE" dirty="0"/>
              <a:t>die Steuerung der Vermögensverwaltung begrenzt.</a:t>
            </a:r>
          </a:p>
          <a:p>
            <a:r>
              <a:rPr lang="de-DE" dirty="0"/>
              <a:t>Ziel ist eine dauerhafte, einkommensorientierte Partizipation am Aktienmarkt 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011981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pPr marL="0" indent="0">
              <a:buNone/>
            </a:pPr>
            <a:r>
              <a:rPr lang="de-DE" dirty="0"/>
              <a:t>In dieser Strategie sind folgende Punkte bei der Auswahl </a:t>
            </a:r>
            <a:br>
              <a:rPr lang="de-DE" dirty="0"/>
            </a:br>
            <a:r>
              <a:rPr lang="de-DE" dirty="0"/>
              <a:t>für uns relevant:</a:t>
            </a:r>
          </a:p>
          <a:p>
            <a:pPr lvl="1"/>
            <a:r>
              <a:rPr lang="de-DE" dirty="0"/>
              <a:t>Das Unternehmen verfügt über eine starke Marktposition (Burggraben) und ferner über ein vorzügliches Management und Geschäftsmodell.</a:t>
            </a:r>
          </a:p>
          <a:p>
            <a:pPr lvl="1"/>
            <a:r>
              <a:rPr lang="de-DE" dirty="0"/>
              <a:t>Eine Dividendenrendite von mindestens 2 % wird für jedes Unternehmen vorausgesetzt.</a:t>
            </a:r>
          </a:p>
          <a:p>
            <a:pPr lvl="1"/>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26782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81D1C97D-0B85-13EC-24EC-F99812756CF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15</a:t>
            </a:fld>
            <a:endParaRPr lang="de-DE"/>
          </a:p>
        </p:txBody>
      </p:sp>
      <p:sp>
        <p:nvSpPr>
          <p:cNvPr id="6" name="Titel">
            <a:extLst>
              <a:ext uri="{FF2B5EF4-FFF2-40B4-BE49-F238E27FC236}">
                <a16:creationId xmlns:a16="http://schemas.microsoft.com/office/drawing/2014/main" id="{8A593740-F4A8-2A26-ED51-81863F08E08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Steuerlicher Hinweis zum Honorar</a:t>
            </a:r>
          </a:p>
        </p:txBody>
      </p:sp>
      <p:sp>
        <p:nvSpPr>
          <p:cNvPr id="8" name="Text 1">
            <a:extLst>
              <a:ext uri="{FF2B5EF4-FFF2-40B4-BE49-F238E27FC236}">
                <a16:creationId xmlns:a16="http://schemas.microsoft.com/office/drawing/2014/main" id="{3202C050-C091-696A-2180-76024B7BC3C0}"/>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Im Rahmen der Belastung der Vermögensverwaltungsgebühr werden wir den steuerlich abzugsfähigen Transaktionskostenanteil in den allgemeinen Verlustverrechnungstopf für Ihre Konten und Depots einstellen, damit erfolgt automatisch die Verrechnung mit Ihren abgeltungssteuerpflichtigen Erträgen und damit eine Steuerminderung. Die Bank übernimmt keine Gewähr dafür, dass der Transaktionskostenanteil der &gt;&gt;all-in-fee&lt;&lt;  sowohl dem Grunde als auch der Höhe nach als Steuer mindernd anerkannt wird. </a:t>
            </a:r>
          </a:p>
          <a:p>
            <a:pPr lvl="2"/>
            <a:endParaRPr lang="de-DE" dirty="0"/>
          </a:p>
        </p:txBody>
      </p:sp>
      <p:sp>
        <p:nvSpPr>
          <p:cNvPr id="14" name="Text 1">
            <a:extLst>
              <a:ext uri="{FF2B5EF4-FFF2-40B4-BE49-F238E27FC236}">
                <a16:creationId xmlns:a16="http://schemas.microsoft.com/office/drawing/2014/main" id="{C794E5D2-FEC0-5D64-F611-5B08C6B01664}"/>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dirty="0"/>
              <a:t>Mit der Einführung der Abgeltungssteuer zum 1.Januar 2009 sind Werbungskosten bei der Ermittlung von Einkünften aus Kapitalvermögen grundsätzlich nicht mehr abzugsfähig. Hingegen wirken sich Anschaffungsnebenkosten und Veräußerungskosten steuermindernd aus.</a:t>
            </a:r>
            <a:br>
              <a:rPr lang="de-DE" dirty="0"/>
            </a:br>
            <a:endParaRPr lang="de-DE" dirty="0"/>
          </a:p>
          <a:p>
            <a:pPr lvl="2"/>
            <a:r>
              <a:rPr lang="de-DE" dirty="0"/>
              <a:t>Im Rahmen der Vermögensverwaltung &gt;&gt;all-in-fee&lt;&lt; werden sämtliche Management- und eigene Transaktionsleistungen der Bank, sowie alle Dienstleistungen abgegolten, die im Zusammenhang mit der Führung der verwalteten Konten und Depots erbracht werden. Es gilt ein Anteil der Transaktionskosten (Anschaffungsnebenkosten und Veräußerungskosten) an der &gt;&gt;all-in-fee&lt;&lt; in Höhe von 50% als vereinbart und wird im Vermögensverwaltungsvertrag festgeschrieben. </a:t>
            </a:r>
          </a:p>
          <a:p>
            <a:pPr lvl="2"/>
            <a:endParaRPr lang="de-DE" dirty="0"/>
          </a:p>
        </p:txBody>
      </p:sp>
    </p:spTree>
    <p:extLst>
      <p:ext uri="{BB962C8B-B14F-4D97-AF65-F5344CB8AC3E}">
        <p14:creationId xmlns:p14="http://schemas.microsoft.com/office/powerpoint/2010/main" val="23963615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14</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p:cNvGraphicFramePr>
          <p:nvPr>
            <p:ph idx="1"/>
            <p:extLst>
              <p:ext uri="{D42A27DB-BD31-4B8C-83A1-F6EECF244321}">
                <p14:modId xmlns:p14="http://schemas.microsoft.com/office/powerpoint/2010/main" val="396633397"/>
              </p:ext>
            </p:extLst>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 Dividende</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lstStyle/>
          <a:p>
            <a:r>
              <a:rPr lang="de-DE" dirty="0"/>
              <a:t>Wesentliche Finanzkennzahlen auf einen Blick (Dezember 2025)</a:t>
            </a:r>
          </a:p>
          <a:p>
            <a:pPr lvl="1"/>
            <a:r>
              <a:rPr lang="de-DE" dirty="0"/>
              <a:t>Bilanzsumme 	</a:t>
            </a:r>
            <a:r>
              <a:rPr lang="de-DE" b="1" dirty="0"/>
              <a:t>623,0 Mio. EUR</a:t>
            </a:r>
          </a:p>
          <a:p>
            <a:pPr lvl="1"/>
            <a:r>
              <a:rPr lang="de-DE" dirty="0"/>
              <a:t>Assets </a:t>
            </a:r>
            <a:r>
              <a:rPr lang="de-DE" dirty="0" err="1"/>
              <a:t>under</a:t>
            </a:r>
            <a:r>
              <a:rPr lang="de-DE" dirty="0"/>
              <a:t> Control 	</a:t>
            </a:r>
            <a:r>
              <a:rPr lang="de-DE" b="1" dirty="0"/>
              <a:t>7.358 Mio. EUR</a:t>
            </a:r>
          </a:p>
          <a:p>
            <a:pPr lvl="1"/>
            <a:r>
              <a:rPr lang="de-DE" dirty="0"/>
              <a:t>EK-Rendite (vor Steuern) 	</a:t>
            </a:r>
            <a:r>
              <a:rPr lang="de-DE" b="1" dirty="0"/>
              <a:t>34,1 %</a:t>
            </a:r>
          </a:p>
          <a:p>
            <a:pPr lvl="1"/>
            <a:r>
              <a:rPr lang="de-DE" dirty="0"/>
              <a:t>Mitarbeiter 	</a:t>
            </a:r>
            <a:r>
              <a:rPr lang="de-DE" b="1" dirty="0"/>
              <a:t>146</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16421113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