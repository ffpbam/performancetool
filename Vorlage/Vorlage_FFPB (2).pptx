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drawings/drawing1.xml" ContentType="application/vnd.openxmlformats-officedocument.drawingml.chartshapes+xml"/>
  <Override PartName="/ppt/drawings/drawing2.xml" ContentType="application/vnd.openxmlformats-officedocument.drawingml.chartshapes+xml"/>
  <Override PartName="/ppt/drawings/drawing3.xml" ContentType="application/vnd.openxmlformats-officedocument.drawingml.chartshapes+xml"/>
  <Override PartName="/ppt/drawings/drawing4.xml" ContentType="application/vnd.openxmlformats-officedocument.drawingml.chartshapes+xml"/>
  <Override PartName="/ppt/drawings/drawing5.xml" ContentType="application/vnd.openxmlformats-officedocument.drawingml.chartshapes+xml"/>
  <Override PartName="/ppt/drawings/drawing6.xml" ContentType="application/vnd.openxmlformats-officedocument.drawingml.chartshapes+xml"/>
  <Override PartName="/ppt/media/image10.svg" ContentType="image/svg+xml"/>
  <Override PartName="/ppt/media/image2.svg" ContentType="image/svg+xml"/>
  <Override PartName="/ppt/media/image6.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2"/>
  </p:notesMasterIdLst>
  <p:sldIdLst>
    <p:sldId id="1587" r:id="rId2"/>
    <p:sldId id="267" r:id="rId3"/>
    <p:sldId id="296" r:id="rId4"/>
    <p:sldId id="297" r:id="rId5"/>
    <p:sldId id="268" r:id="rId6"/>
    <p:sldId id="269" r:id="rId7"/>
    <p:sldId id="327" r:id="rId14"/>
    <p:sldId id="332" r:id="rId15"/>
    <p:sldId id="1598" r:id="rId16"/>
    <p:sldId id="1599" r:id="rId13"/>
    <p:sldId id="328" r:id="rId17"/>
    <p:sldId id="284" r:id="rId18"/>
    <p:sldId id="300" r:id="rId19"/>
    <p:sldId id="286" r:id="rId20"/>
    <p:sldId id="1594" r:id="rId21"/>
    <p:sldId id="288" r:id="rId22"/>
    <p:sldId id="289" r:id="rId23"/>
    <p:sldId id="290" r:id="rId24"/>
    <p:sldId id="291" r:id="rId25"/>
    <p:sldId id="292" r:id="rId26"/>
    <p:sldId id="293" r:id="rId27"/>
    <p:sldId id="294" r:id="rId28"/>
    <p:sldId id="295" r:id="rId29"/>
    <p:sldId id="298" r:id="rId30"/>
    <p:sldId id="299" r:id="rId31"/>
  </p:sldIdLst>
  <p:sldSz cx="10439400" cy="6659563"/>
  <p:notesSz cx="6858000" cy="9144000"/>
  <p:defaultTextStyle>
    <a:defPPr>
      <a:defRPr lang="de-DE"/>
    </a:defPPr>
    <a:lvl1pPr marL="0" algn="l" defTabSz="820674" rtl="0" eaLnBrk="1" latinLnBrk="0" hangingPunct="1">
      <a:defRPr sz="1616" kern="1200">
        <a:solidFill>
          <a:schemeClr val="tx1"/>
        </a:solidFill>
        <a:latin typeface="+mn-lt"/>
        <a:ea typeface="+mn-ea"/>
        <a:cs typeface="+mn-cs"/>
      </a:defRPr>
    </a:lvl1pPr>
    <a:lvl2pPr marL="410337" algn="l" defTabSz="820674" rtl="0" eaLnBrk="1" latinLnBrk="0" hangingPunct="1">
      <a:defRPr sz="1616" kern="1200">
        <a:solidFill>
          <a:schemeClr val="tx1"/>
        </a:solidFill>
        <a:latin typeface="+mn-lt"/>
        <a:ea typeface="+mn-ea"/>
        <a:cs typeface="+mn-cs"/>
      </a:defRPr>
    </a:lvl2pPr>
    <a:lvl3pPr marL="820674" algn="l" defTabSz="820674" rtl="0" eaLnBrk="1" latinLnBrk="0" hangingPunct="1">
      <a:defRPr sz="1616" kern="1200">
        <a:solidFill>
          <a:schemeClr val="tx1"/>
        </a:solidFill>
        <a:latin typeface="+mn-lt"/>
        <a:ea typeface="+mn-ea"/>
        <a:cs typeface="+mn-cs"/>
      </a:defRPr>
    </a:lvl3pPr>
    <a:lvl4pPr marL="1231011" algn="l" defTabSz="820674" rtl="0" eaLnBrk="1" latinLnBrk="0" hangingPunct="1">
      <a:defRPr sz="1616" kern="1200">
        <a:solidFill>
          <a:schemeClr val="tx1"/>
        </a:solidFill>
        <a:latin typeface="+mn-lt"/>
        <a:ea typeface="+mn-ea"/>
        <a:cs typeface="+mn-cs"/>
      </a:defRPr>
    </a:lvl4pPr>
    <a:lvl5pPr marL="1641348" algn="l" defTabSz="820674" rtl="0" eaLnBrk="1" latinLnBrk="0" hangingPunct="1">
      <a:defRPr sz="1616" kern="1200">
        <a:solidFill>
          <a:schemeClr val="tx1"/>
        </a:solidFill>
        <a:latin typeface="+mn-lt"/>
        <a:ea typeface="+mn-ea"/>
        <a:cs typeface="+mn-cs"/>
      </a:defRPr>
    </a:lvl5pPr>
    <a:lvl6pPr marL="2051685" algn="l" defTabSz="820674" rtl="0" eaLnBrk="1" latinLnBrk="0" hangingPunct="1">
      <a:defRPr sz="1616" kern="1200">
        <a:solidFill>
          <a:schemeClr val="tx1"/>
        </a:solidFill>
        <a:latin typeface="+mn-lt"/>
        <a:ea typeface="+mn-ea"/>
        <a:cs typeface="+mn-cs"/>
      </a:defRPr>
    </a:lvl6pPr>
    <a:lvl7pPr marL="2462022" algn="l" defTabSz="820674" rtl="0" eaLnBrk="1" latinLnBrk="0" hangingPunct="1">
      <a:defRPr sz="1616" kern="1200">
        <a:solidFill>
          <a:schemeClr val="tx1"/>
        </a:solidFill>
        <a:latin typeface="+mn-lt"/>
        <a:ea typeface="+mn-ea"/>
        <a:cs typeface="+mn-cs"/>
      </a:defRPr>
    </a:lvl7pPr>
    <a:lvl8pPr marL="2872359" algn="l" defTabSz="820674" rtl="0" eaLnBrk="1" latinLnBrk="0" hangingPunct="1">
      <a:defRPr sz="1616" kern="1200">
        <a:solidFill>
          <a:schemeClr val="tx1"/>
        </a:solidFill>
        <a:latin typeface="+mn-lt"/>
        <a:ea typeface="+mn-ea"/>
        <a:cs typeface="+mn-cs"/>
      </a:defRPr>
    </a:lvl8pPr>
    <a:lvl9pPr marL="3282696" algn="l" defTabSz="820674" rtl="0" eaLnBrk="1" latinLnBrk="0" hangingPunct="1">
      <a:defRPr sz="1616"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32E72B6-AE88-9C61-DED9-DF60B27C041D}" name="Andreas Pischetsrieder" initials="AP" userId="S::YH428EO@fuggerbank.de::2de2f04b-e8ac-43ac-92b7-e216de85df3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Helle Formatvorlage 2 - Akz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Designformatvorlage 1 - Akz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346" autoAdjust="0"/>
    <p:restoredTop sz="94161" autoAdjust="0"/>
  </p:normalViewPr>
  <p:slideViewPr>
    <p:cSldViewPr snapToGrid="0" showGuides="1">
      <p:cViewPr varScale="1">
        <p:scale>
          <a:sx n="114" d="100"/>
          <a:sy n="114" d="100"/>
        </p:scale>
        <p:origin x="966" y="96"/>
      </p:cViewPr>
      <p:guideLst/>
    </p:cSldViewPr>
  </p:slideViewPr>
  <p:notesTextViewPr>
    <p:cViewPr>
      <p:scale>
        <a:sx n="1" d="1"/>
        <a:sy n="1" d="1"/>
      </p:scale>
      <p:origin x="0" y="0"/>
    </p:cViewPr>
  </p:notesTextViewPr>
  <p:gridSpacing cx="36004" cy="36004"/>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13" Type="http://schemas.openxmlformats.org/officeDocument/2006/relationships/slide" Target="slides/slide25.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microsoft.com/office/2018/10/relationships/authors" Target="author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oleObject" Target="file:///\\fis.i4168.pb.rz.bankenit.de\inst_4168\daten\Gesamtbank\PK\Verm&#246;gensverwaltung\Brosch&#252;ren_neu_MAD\Anlagevorschlag\Master_Anlagevorschlag\Anlagevorschlag_Master_Neu.xlsm" TargetMode="Externa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oleObject" Target="file:///\\fis.i4168.pb.rz.bankenit.de\inst_4168\daten\Gesamtbank\PK\Verm&#246;gensverwaltung\Brosch&#252;ren_neu_MAD\Anlagevorschlag\Master_Anlagevorschlag\Anlagevorschlag_Master_Neu.xlsm" TargetMode="External"/><Relationship Id="rId4" Type="http://schemas.openxmlformats.org/officeDocument/2006/relationships/chartUserShapes" Target="../drawings/drawing2.xml"/></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oleObject" Target="file:///\\fis.i4168.pb.rz.bankenit.de\inst_4168\daten\Gesamtbank\PK\Verm&#246;gensverwaltung\Brosch&#252;ren_neu_MAD\Anlagevorschlag\Master_Anlagevorschlag\Anlagevorschlag_Master_Neu.xlsm" TargetMode="External"/><Relationship Id="rId4" Type="http://schemas.openxmlformats.org/officeDocument/2006/relationships/chartUserShapes" Target="../drawings/drawing3.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oleObject" Target="file:///\\fis.i4168.pb.rz.bankenit.de\inst_4168\daten\Gesamtbank\PK\Verm&#246;gensverwaltung\Brosch&#252;ren_neu_MAD\Anlagevorschlag\Master_Anlagevorschlag\Anlagevorschlag_Master_Neu.xlsm" TargetMode="External"/><Relationship Id="rId4" Type="http://schemas.openxmlformats.org/officeDocument/2006/relationships/chartUserShapes" Target="../drawings/drawing4.xml"/></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oleObject" Target="file:///\\fis.i4168.pb.rz.bankenit.de\inst_4168\daten\Gesamtbank\PK\Verm&#246;gensverwaltung\Brosch&#252;ren_neu_MAD\Anlagevorschlag\Master_Anlagevorschlag\Anlagevorschlag_Master_Neu.xlsm" TargetMode="External"/><Relationship Id="rId4" Type="http://schemas.openxmlformats.org/officeDocument/2006/relationships/chartUserShapes" Target="../drawings/drawing5.xml"/></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package" Target="../embeddings/Microsoft_Excel_Worksheet.xlsx"/><Relationship Id="rId4" Type="http://schemas.openxmlformats.org/officeDocument/2006/relationships/chartUserShapes" Target="../drawings/drawing6.xml"/></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1.xlsx"/><Relationship Id="rId2" Type="http://schemas.microsoft.com/office/2011/relationships/chartColorStyle" Target="colors7.xml"/><Relationship Id="rId3" Type="http://schemas.microsoft.com/office/2011/relationships/chartStyle" Target="style7.xml"/></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2.xlsx"/><Relationship Id="rId2" Type="http://schemas.microsoft.com/office/2011/relationships/chartColorStyle" Target="colors8.xml"/><Relationship Id="rId3"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3958629503272219"/>
          <c:y val="0.15984019607843136"/>
          <c:w val="0.53915817130822108"/>
          <c:h val="0.67915167333212323"/>
        </c:manualLayout>
      </c:layout>
      <c:doughnutChart>
        <c:varyColors val="1"/>
        <c:ser>
          <c:idx val="0"/>
          <c:order val="0"/>
          <c:dPt>
            <c:idx val="0"/>
            <c:bubble3D val="0"/>
            <c:spPr>
              <a:solidFill>
                <a:srgbClr val="14355C"/>
              </a:solidFill>
              <a:ln w="19050">
                <a:solidFill>
                  <a:schemeClr val="lt1"/>
                </a:solidFill>
              </a:ln>
              <a:effectLst/>
            </c:spPr>
            <c:extLst>
              <c:ext xmlns:c16="http://schemas.microsoft.com/office/drawing/2014/chart" uri="{C3380CC4-5D6E-409C-BE32-E72D297353CC}">
                <c16:uniqueId val="{00000001-1925-425E-BE52-24228E36E840}"/>
              </c:ext>
            </c:extLst>
          </c:dPt>
          <c:dPt>
            <c:idx val="1"/>
            <c:bubble3D val="0"/>
            <c:spPr>
              <a:solidFill>
                <a:srgbClr val="66A4CE"/>
              </a:solidFill>
              <a:ln w="19050">
                <a:solidFill>
                  <a:schemeClr val="lt1"/>
                </a:solidFill>
              </a:ln>
              <a:effectLst/>
            </c:spPr>
            <c:extLst>
              <c:ext xmlns:c16="http://schemas.microsoft.com/office/drawing/2014/chart" uri="{C3380CC4-5D6E-409C-BE32-E72D297353CC}">
                <c16:uniqueId val="{00000003-1925-425E-BE52-24228E36E840}"/>
              </c:ext>
            </c:extLst>
          </c:dPt>
          <c:dPt>
            <c:idx val="2"/>
            <c:bubble3D val="0"/>
            <c:spPr>
              <a:solidFill>
                <a:srgbClr val="BB9256"/>
              </a:solidFill>
              <a:ln w="19050">
                <a:solidFill>
                  <a:schemeClr val="lt1"/>
                </a:solidFill>
              </a:ln>
              <a:effectLst/>
            </c:spPr>
            <c:extLst>
              <c:ext xmlns:c16="http://schemas.microsoft.com/office/drawing/2014/chart" uri="{C3380CC4-5D6E-409C-BE32-E72D297353CC}">
                <c16:uniqueId val="{00000005-1925-425E-BE52-24228E36E840}"/>
              </c:ext>
            </c:extLst>
          </c:dPt>
          <c:dPt>
            <c:idx val="3"/>
            <c:bubble3D val="0"/>
            <c:spPr>
              <a:solidFill>
                <a:srgbClr val="D1E9F8"/>
              </a:solidFill>
              <a:ln w="19050">
                <a:solidFill>
                  <a:schemeClr val="lt1"/>
                </a:solidFill>
              </a:ln>
              <a:effectLst/>
            </c:spPr>
            <c:extLst>
              <c:ext xmlns:c16="http://schemas.microsoft.com/office/drawing/2014/chart" uri="{C3380CC4-5D6E-409C-BE32-E72D297353CC}">
                <c16:uniqueId val="{00000007-1925-425E-BE52-24228E36E840}"/>
              </c:ext>
            </c:extLst>
          </c:dPt>
          <c:dLbls>
            <c:dLbl>
              <c:idx val="0"/>
              <c:layout>
                <c:manualLayout>
                  <c:x val="0.12431454562134395"/>
                  <c:y val="4.433953728026980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1925-425E-BE52-24228E36E840}"/>
                </c:ext>
              </c:extLst>
            </c:dLbl>
            <c:dLbl>
              <c:idx val="1"/>
              <c:layout>
                <c:manualLayout>
                  <c:x val="-0.16608432400636575"/>
                  <c:y val="-4.381853315497442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1925-425E-BE52-24228E36E840}"/>
                </c:ext>
              </c:extLst>
            </c:dLbl>
            <c:dLbl>
              <c:idx val="2"/>
              <c:layout>
                <c:manualLayout>
                  <c:x val="-0.11648483286847469"/>
                  <c:y val="-8.108871712222315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1925-425E-BE52-24228E36E840}"/>
                </c:ext>
              </c:extLst>
            </c:dLbl>
            <c:dLbl>
              <c:idx val="3"/>
              <c:layout>
                <c:manualLayout>
                  <c:x val="4.8761092828663845E-2"/>
                  <c:y val="-9.460350330926035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1925-425E-BE52-24228E36E840}"/>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000000"/>
                    </a:solidFill>
                    <a:latin typeface="+mn-lt"/>
                    <a:ea typeface="+mn-ea"/>
                    <a:cs typeface="+mn-cs"/>
                  </a:defRPr>
                </a:pPr>
                <a:endParaRPr lang="de-DE"/>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S_DiagrammPortfolio!$B$4:$B$7</c:f>
              <c:strCache>
                <c:ptCount val="4"/>
                <c:pt idx="0">
                  <c:v>AKTIEN</c:v>
                </c:pt>
                <c:pt idx="1">
                  <c:v>RENTEN</c:v>
                </c:pt>
                <c:pt idx="2">
                  <c:v>EDELMETALLE</c:v>
                </c:pt>
                <c:pt idx="3">
                  <c:v>LIQUIDITÄT</c:v>
                </c:pt>
              </c:strCache>
            </c:strRef>
          </c:cat>
          <c:val>
            <c:numRef>
              <c:f>S_DiagrammPortfolio!$C$4:$C$7</c:f>
              <c:numCache>
                <c:formatCode>0.0%</c:formatCode>
                <c:ptCount val="4"/>
                <c:pt idx="0">
                  <c:v>0.75</c:v>
                </c:pt>
                <c:pt idx="1">
                  <c:v>0.17</c:v>
                </c:pt>
                <c:pt idx="2">
                  <c:v>0.05</c:v>
                </c:pt>
                <c:pt idx="3">
                  <c:v>0.03</c:v>
                </c:pt>
              </c:numCache>
            </c:numRef>
          </c:val>
          <c:extLst>
            <c:ext xmlns:c16="http://schemas.microsoft.com/office/drawing/2014/chart" uri="{C3380CC4-5D6E-409C-BE32-E72D297353CC}">
              <c16:uniqueId val="{00000008-1925-425E-BE52-24228E36E840}"/>
            </c:ext>
          </c:extLst>
        </c:ser>
        <c:dLbls>
          <c:showLegendKey val="0"/>
          <c:showVal val="1"/>
          <c:showCatName val="0"/>
          <c:showSerName val="0"/>
          <c:showPercent val="0"/>
          <c:showBubbleSize val="0"/>
          <c:showLeaderLines val="1"/>
        </c:dLbls>
        <c:firstSliceAng val="0"/>
        <c:holeSize val="79"/>
      </c:doughnutChart>
      <c:spPr>
        <a:noFill/>
        <a:ln>
          <a:noFill/>
        </a:ln>
        <a:effectLst/>
      </c:spPr>
    </c:plotArea>
    <c:legend>
      <c:legendPos val="r"/>
      <c:layout>
        <c:manualLayout>
          <c:xMode val="edge"/>
          <c:yMode val="edge"/>
          <c:x val="0"/>
          <c:y val="0.78348274975883558"/>
          <c:w val="0.23995598340864063"/>
          <c:h val="0.21651725024116442"/>
        </c:manualLayout>
      </c:layout>
      <c:overlay val="0"/>
      <c:spPr>
        <a:noFill/>
        <a:ln>
          <a:noFill/>
        </a:ln>
        <a:effectLst/>
      </c:spPr>
      <c:txPr>
        <a:bodyPr rot="0" spcFirstLastPara="1" vertOverflow="ellipsis" vert="horz" wrap="square" anchor="t" anchorCtr="0"/>
        <a:lstStyle/>
        <a:p>
          <a:pPr rtl="0">
            <a:defRPr sz="900" b="1" i="0" u="none" strike="noStrike" kern="1200" baseline="0">
              <a:solidFill>
                <a:sysClr val="windowText" lastClr="000000"/>
              </a:solidFill>
              <a:latin typeface="+mn-lt"/>
              <a:ea typeface="+mn-ea"/>
              <a:cs typeface="+mn-cs"/>
            </a:defRPr>
          </a:pPr>
          <a:endParaRPr lang="de-DE"/>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de-DE"/>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3958629503272219"/>
          <c:y val="0.15984019607843136"/>
          <c:w val="0.53915817130822108"/>
          <c:h val="0.67915167333212323"/>
        </c:manualLayout>
      </c:layout>
      <c:doughnutChart>
        <c:varyColors val="1"/>
        <c:ser>
          <c:idx val="0"/>
          <c:order val="0"/>
          <c:dPt>
            <c:idx val="0"/>
            <c:bubble3D val="0"/>
            <c:spPr>
              <a:solidFill>
                <a:srgbClr val="14355C"/>
              </a:solidFill>
              <a:ln w="19050">
                <a:solidFill>
                  <a:schemeClr val="lt1"/>
                </a:solidFill>
              </a:ln>
              <a:effectLst/>
            </c:spPr>
            <c:extLst>
              <c:ext xmlns:c16="http://schemas.microsoft.com/office/drawing/2014/chart" uri="{C3380CC4-5D6E-409C-BE32-E72D297353CC}">
                <c16:uniqueId val="{00000001-77CF-4E50-A6D9-362ECCC49EF8}"/>
              </c:ext>
            </c:extLst>
          </c:dPt>
          <c:dPt>
            <c:idx val="1"/>
            <c:bubble3D val="0"/>
            <c:spPr>
              <a:solidFill>
                <a:srgbClr val="66A4CE"/>
              </a:solidFill>
              <a:ln w="19050">
                <a:solidFill>
                  <a:schemeClr val="lt1"/>
                </a:solidFill>
              </a:ln>
              <a:effectLst/>
            </c:spPr>
            <c:extLst>
              <c:ext xmlns:c16="http://schemas.microsoft.com/office/drawing/2014/chart" uri="{C3380CC4-5D6E-409C-BE32-E72D297353CC}">
                <c16:uniqueId val="{00000003-77CF-4E50-A6D9-362ECCC49EF8}"/>
              </c:ext>
            </c:extLst>
          </c:dPt>
          <c:dPt>
            <c:idx val="2"/>
            <c:bubble3D val="0"/>
            <c:spPr>
              <a:solidFill>
                <a:srgbClr val="BB9256"/>
              </a:solidFill>
              <a:ln w="19050">
                <a:solidFill>
                  <a:schemeClr val="lt1"/>
                </a:solidFill>
              </a:ln>
              <a:effectLst/>
            </c:spPr>
            <c:extLst>
              <c:ext xmlns:c16="http://schemas.microsoft.com/office/drawing/2014/chart" uri="{C3380CC4-5D6E-409C-BE32-E72D297353CC}">
                <c16:uniqueId val="{00000005-77CF-4E50-A6D9-362ECCC49EF8}"/>
              </c:ext>
            </c:extLst>
          </c:dPt>
          <c:dPt>
            <c:idx val="3"/>
            <c:bubble3D val="0"/>
            <c:spPr>
              <a:solidFill>
                <a:srgbClr val="D1E9F8"/>
              </a:solidFill>
              <a:ln w="19050">
                <a:solidFill>
                  <a:schemeClr val="lt1"/>
                </a:solidFill>
              </a:ln>
              <a:effectLst/>
            </c:spPr>
            <c:extLst>
              <c:ext xmlns:c16="http://schemas.microsoft.com/office/drawing/2014/chart" uri="{C3380CC4-5D6E-409C-BE32-E72D297353CC}">
                <c16:uniqueId val="{00000007-77CF-4E50-A6D9-362ECCC49EF8}"/>
              </c:ext>
            </c:extLst>
          </c:dPt>
          <c:dLbls>
            <c:dLbl>
              <c:idx val="0"/>
              <c:layout>
                <c:manualLayout>
                  <c:x val="0.12431454562134395"/>
                  <c:y val="4.433953728026980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7CF-4E50-A6D9-362ECCC49EF8}"/>
                </c:ext>
              </c:extLst>
            </c:dLbl>
            <c:dLbl>
              <c:idx val="1"/>
              <c:layout>
                <c:manualLayout>
                  <c:x val="-0.16608432400636575"/>
                  <c:y val="-4.381853315497442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7CF-4E50-A6D9-362ECCC49EF8}"/>
                </c:ext>
              </c:extLst>
            </c:dLbl>
            <c:dLbl>
              <c:idx val="2"/>
              <c:layout>
                <c:manualLayout>
                  <c:x val="-0.11648483286847469"/>
                  <c:y val="-8.108871712222315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7CF-4E50-A6D9-362ECCC49EF8}"/>
                </c:ext>
              </c:extLst>
            </c:dLbl>
            <c:dLbl>
              <c:idx val="3"/>
              <c:layout>
                <c:manualLayout>
                  <c:x val="4.8761092828663845E-2"/>
                  <c:y val="-9.460350330926035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7CF-4E50-A6D9-362ECCC49EF8}"/>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000000"/>
                    </a:solidFill>
                    <a:latin typeface="+mn-lt"/>
                    <a:ea typeface="+mn-ea"/>
                    <a:cs typeface="+mn-cs"/>
                  </a:defRPr>
                </a:pPr>
                <a:endParaRPr lang="de-DE"/>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S_DiagrammPortfolio!$B$4:$B$7</c:f>
              <c:strCache>
                <c:ptCount val="4"/>
                <c:pt idx="0">
                  <c:v>AKTIEN</c:v>
                </c:pt>
                <c:pt idx="1">
                  <c:v>RENTEN</c:v>
                </c:pt>
                <c:pt idx="2">
                  <c:v>EDELMETALLE</c:v>
                </c:pt>
                <c:pt idx="3">
                  <c:v>LIQUIDITÄT</c:v>
                </c:pt>
              </c:strCache>
            </c:strRef>
          </c:cat>
          <c:val>
            <c:numRef>
              <c:f>S_DiagrammPortfolio!$C$4:$C$7</c:f>
              <c:numCache>
                <c:formatCode>0.0%</c:formatCode>
                <c:ptCount val="4"/>
                <c:pt idx="0">
                  <c:v>0.75</c:v>
                </c:pt>
                <c:pt idx="1">
                  <c:v>0.17</c:v>
                </c:pt>
                <c:pt idx="2">
                  <c:v>0.05</c:v>
                </c:pt>
                <c:pt idx="3">
                  <c:v>0.03</c:v>
                </c:pt>
              </c:numCache>
            </c:numRef>
          </c:val>
          <c:extLst>
            <c:ext xmlns:c16="http://schemas.microsoft.com/office/drawing/2014/chart" uri="{C3380CC4-5D6E-409C-BE32-E72D297353CC}">
              <c16:uniqueId val="{00000008-77CF-4E50-A6D9-362ECCC49EF8}"/>
            </c:ext>
          </c:extLst>
        </c:ser>
        <c:dLbls>
          <c:showLegendKey val="0"/>
          <c:showVal val="1"/>
          <c:showCatName val="0"/>
          <c:showSerName val="0"/>
          <c:showPercent val="0"/>
          <c:showBubbleSize val="0"/>
          <c:showLeaderLines val="1"/>
        </c:dLbls>
        <c:firstSliceAng val="0"/>
        <c:holeSize val="79"/>
      </c:doughnutChart>
      <c:spPr>
        <a:noFill/>
        <a:ln>
          <a:noFill/>
        </a:ln>
        <a:effectLst/>
      </c:spPr>
    </c:plotArea>
    <c:legend>
      <c:legendPos val="r"/>
      <c:layout>
        <c:manualLayout>
          <c:xMode val="edge"/>
          <c:yMode val="edge"/>
          <c:x val="0"/>
          <c:y val="0.78348274975883558"/>
          <c:w val="0.23995598340864063"/>
          <c:h val="0.21651725024116442"/>
        </c:manualLayout>
      </c:layout>
      <c:overlay val="0"/>
      <c:spPr>
        <a:noFill/>
        <a:ln>
          <a:noFill/>
        </a:ln>
        <a:effectLst/>
      </c:spPr>
      <c:txPr>
        <a:bodyPr rot="0" spcFirstLastPara="1" vertOverflow="ellipsis" vert="horz" wrap="square" anchor="t" anchorCtr="0"/>
        <a:lstStyle/>
        <a:p>
          <a:pPr rtl="0">
            <a:defRPr sz="900" b="1" i="0" u="none" strike="noStrike" kern="1200" baseline="0">
              <a:solidFill>
                <a:sysClr val="windowText" lastClr="000000"/>
              </a:solidFill>
              <a:latin typeface="+mn-lt"/>
              <a:ea typeface="+mn-ea"/>
              <a:cs typeface="+mn-cs"/>
            </a:defRPr>
          </a:pPr>
          <a:endParaRPr lang="de-DE"/>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de-DE"/>
    </a:p>
  </c:txPr>
  <c:externalData r:id="rId3">
    <c:autoUpdate val="0"/>
  </c:externalData>
  <c:userShapes r:id="rId4"/>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9241459557162226"/>
          <c:y val="0.22124636125023478"/>
          <c:w val="0.34923629128441663"/>
          <c:h val="0.4489772367894781"/>
        </c:manualLayout>
      </c:layout>
      <c:doughnutChart>
        <c:varyColors val="1"/>
        <c:ser>
          <c:idx val="0"/>
          <c:order val="0"/>
          <c:dPt>
            <c:idx val="0"/>
            <c:bubble3D val="0"/>
            <c:spPr>
              <a:solidFill>
                <a:srgbClr val="14355C"/>
              </a:solidFill>
              <a:ln w="19050">
                <a:solidFill>
                  <a:schemeClr val="lt1"/>
                </a:solidFill>
              </a:ln>
              <a:effectLst/>
            </c:spPr>
            <c:extLst>
              <c:ext xmlns:c16="http://schemas.microsoft.com/office/drawing/2014/chart" uri="{C3380CC4-5D6E-409C-BE32-E72D297353CC}">
                <c16:uniqueId val="{00000001-785B-4416-9C47-BBFA370507CB}"/>
              </c:ext>
            </c:extLst>
          </c:dPt>
          <c:dPt>
            <c:idx val="1"/>
            <c:bubble3D val="0"/>
            <c:spPr>
              <a:solidFill>
                <a:srgbClr val="D1E9F8"/>
              </a:solidFill>
              <a:ln w="19050">
                <a:solidFill>
                  <a:schemeClr val="lt1"/>
                </a:solidFill>
              </a:ln>
              <a:effectLst/>
            </c:spPr>
            <c:extLst>
              <c:ext xmlns:c16="http://schemas.microsoft.com/office/drawing/2014/chart" uri="{C3380CC4-5D6E-409C-BE32-E72D297353CC}">
                <c16:uniqueId val="{00000003-785B-4416-9C47-BBFA370507CB}"/>
              </c:ext>
            </c:extLst>
          </c:dPt>
          <c:dPt>
            <c:idx val="2"/>
            <c:bubble3D val="0"/>
            <c:spPr>
              <a:solidFill>
                <a:srgbClr val="66A4CE"/>
              </a:solidFill>
              <a:ln w="19050">
                <a:solidFill>
                  <a:schemeClr val="lt1"/>
                </a:solidFill>
              </a:ln>
              <a:effectLst/>
            </c:spPr>
            <c:extLst>
              <c:ext xmlns:c16="http://schemas.microsoft.com/office/drawing/2014/chart" uri="{C3380CC4-5D6E-409C-BE32-E72D297353CC}">
                <c16:uniqueId val="{00000005-785B-4416-9C47-BBFA370507CB}"/>
              </c:ext>
            </c:extLst>
          </c:dPt>
          <c:dPt>
            <c:idx val="3"/>
            <c:bubble3D val="0"/>
            <c:spPr>
              <a:solidFill>
                <a:srgbClr val="386FA7"/>
              </a:solidFill>
              <a:ln w="19050">
                <a:solidFill>
                  <a:schemeClr val="lt1"/>
                </a:solidFill>
              </a:ln>
              <a:effectLst/>
            </c:spPr>
            <c:extLst>
              <c:ext xmlns:c16="http://schemas.microsoft.com/office/drawing/2014/chart" uri="{C3380CC4-5D6E-409C-BE32-E72D297353CC}">
                <c16:uniqueId val="{00000007-785B-4416-9C47-BBFA370507CB}"/>
              </c:ext>
            </c:extLst>
          </c:dPt>
          <c:dPt>
            <c:idx val="4"/>
            <c:bubble3D val="0"/>
            <c:spPr>
              <a:solidFill>
                <a:srgbClr val="BB9256"/>
              </a:solidFill>
              <a:ln w="19050">
                <a:solidFill>
                  <a:schemeClr val="lt1"/>
                </a:solidFill>
              </a:ln>
              <a:effectLst/>
            </c:spPr>
            <c:extLst>
              <c:ext xmlns:c16="http://schemas.microsoft.com/office/drawing/2014/chart" uri="{C3380CC4-5D6E-409C-BE32-E72D297353CC}">
                <c16:uniqueId val="{00000009-785B-4416-9C47-BBFA370507CB}"/>
              </c:ext>
            </c:extLst>
          </c:dPt>
          <c:dPt>
            <c:idx val="5"/>
            <c:bubble3D val="0"/>
            <c:spPr>
              <a:solidFill>
                <a:srgbClr val="808080"/>
              </a:solidFill>
              <a:ln w="19050">
                <a:solidFill>
                  <a:schemeClr val="lt1"/>
                </a:solidFill>
              </a:ln>
              <a:effectLst/>
            </c:spPr>
            <c:extLst>
              <c:ext xmlns:c16="http://schemas.microsoft.com/office/drawing/2014/chart" uri="{C3380CC4-5D6E-409C-BE32-E72D297353CC}">
                <c16:uniqueId val="{0000000B-785B-4416-9C47-BBFA370507CB}"/>
              </c:ext>
            </c:extLst>
          </c:dPt>
          <c:dPt>
            <c:idx val="6"/>
            <c:bubble3D val="0"/>
            <c:spPr>
              <a:solidFill>
                <a:srgbClr val="5F8CA1"/>
              </a:solidFill>
              <a:ln w="19050">
                <a:solidFill>
                  <a:schemeClr val="lt1"/>
                </a:solidFill>
              </a:ln>
              <a:effectLst/>
            </c:spPr>
            <c:extLst>
              <c:ext xmlns:c16="http://schemas.microsoft.com/office/drawing/2014/chart" uri="{C3380CC4-5D6E-409C-BE32-E72D297353CC}">
                <c16:uniqueId val="{0000000D-785B-4416-9C47-BBFA370507CB}"/>
              </c:ext>
            </c:extLst>
          </c:dPt>
          <c:dPt>
            <c:idx val="7"/>
            <c:bubble3D val="0"/>
            <c:spPr>
              <a:solidFill>
                <a:srgbClr val="66A4CE"/>
              </a:solidFill>
              <a:ln w="19050">
                <a:solidFill>
                  <a:schemeClr val="lt1"/>
                </a:solidFill>
              </a:ln>
              <a:effectLst/>
            </c:spPr>
            <c:extLst>
              <c:ext xmlns:c16="http://schemas.microsoft.com/office/drawing/2014/chart" uri="{C3380CC4-5D6E-409C-BE32-E72D297353CC}">
                <c16:uniqueId val="{0000000F-785B-4416-9C47-BBFA370507CB}"/>
              </c:ext>
            </c:extLst>
          </c:dPt>
          <c:dPt>
            <c:idx val="8"/>
            <c:bubble3D val="0"/>
            <c:spPr>
              <a:solidFill>
                <a:srgbClr val="72BA86"/>
              </a:solidFill>
              <a:ln w="19050">
                <a:solidFill>
                  <a:schemeClr val="lt1"/>
                </a:solidFill>
              </a:ln>
              <a:effectLst/>
            </c:spPr>
            <c:extLst>
              <c:ext xmlns:c16="http://schemas.microsoft.com/office/drawing/2014/chart" uri="{C3380CC4-5D6E-409C-BE32-E72D297353CC}">
                <c16:uniqueId val="{00000011-785B-4416-9C47-BBFA370507CB}"/>
              </c:ext>
            </c:extLst>
          </c:dPt>
          <c:dPt>
            <c:idx val="9"/>
            <c:bubble3D val="0"/>
            <c:spPr>
              <a:solidFill>
                <a:srgbClr val="66A4CE"/>
              </a:solidFill>
              <a:ln w="19050">
                <a:solidFill>
                  <a:schemeClr val="lt1"/>
                </a:solidFill>
              </a:ln>
              <a:effectLst/>
            </c:spPr>
            <c:extLst>
              <c:ext xmlns:c16="http://schemas.microsoft.com/office/drawing/2014/chart" uri="{C3380CC4-5D6E-409C-BE32-E72D297353CC}">
                <c16:uniqueId val="{00000013-785B-4416-9C47-BBFA370507CB}"/>
              </c:ext>
            </c:extLst>
          </c:dPt>
          <c:dPt>
            <c:idx val="10"/>
            <c:bubble3D val="0"/>
            <c:spPr>
              <a:solidFill>
                <a:srgbClr val="D1E4C6"/>
              </a:solidFill>
              <a:ln w="19050">
                <a:solidFill>
                  <a:schemeClr val="lt1"/>
                </a:solidFill>
              </a:ln>
              <a:effectLst/>
            </c:spPr>
            <c:extLst>
              <c:ext xmlns:c16="http://schemas.microsoft.com/office/drawing/2014/chart" uri="{C3380CC4-5D6E-409C-BE32-E72D297353CC}">
                <c16:uniqueId val="{00000015-785B-4416-9C47-BBFA370507CB}"/>
              </c:ext>
            </c:extLst>
          </c:dPt>
          <c:dLbls>
            <c:dLbl>
              <c:idx val="0"/>
              <c:layout>
                <c:manualLayout>
                  <c:x val="0.11213059526433887"/>
                  <c:y val="-0.1214555293045233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85B-4416-9C47-BBFA370507CB}"/>
                </c:ext>
              </c:extLst>
            </c:dLbl>
            <c:dLbl>
              <c:idx val="1"/>
              <c:layout>
                <c:manualLayout>
                  <c:x val="0.15263366739583864"/>
                  <c:y val="0.1354671469365355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85B-4416-9C47-BBFA370507CB}"/>
                </c:ext>
              </c:extLst>
            </c:dLbl>
            <c:dLbl>
              <c:idx val="2"/>
              <c:layout>
                <c:manualLayout>
                  <c:x val="9.8721744586322088E-2"/>
                  <c:y val="0.1431064233658650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85B-4416-9C47-BBFA370507CB}"/>
                </c:ext>
              </c:extLst>
            </c:dLbl>
            <c:dLbl>
              <c:idx val="3"/>
              <c:layout>
                <c:manualLayout>
                  <c:x val="-4.3407139629462266E-3"/>
                  <c:y val="0.1707433611273247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85B-4416-9C47-BBFA370507CB}"/>
                </c:ext>
              </c:extLst>
            </c:dLbl>
            <c:dLbl>
              <c:idx val="4"/>
              <c:layout>
                <c:manualLayout>
                  <c:x val="-0.15391105567063842"/>
                  <c:y val="1.603632728259618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785B-4416-9C47-BBFA370507CB}"/>
                </c:ext>
              </c:extLst>
            </c:dLbl>
            <c:dLbl>
              <c:idx val="5"/>
              <c:layout>
                <c:manualLayout>
                  <c:x val="-0.20148266889432004"/>
                  <c:y val="4.9359107777441347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785B-4416-9C47-BBFA370507CB}"/>
                </c:ext>
              </c:extLst>
            </c:dLbl>
            <c:dLbl>
              <c:idx val="6"/>
              <c:layout>
                <c:manualLayout>
                  <c:x val="-0.1177301837626404"/>
                  <c:y val="-1.425403919671834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785B-4416-9C47-BBFA370507CB}"/>
                </c:ext>
              </c:extLst>
            </c:dLbl>
            <c:dLbl>
              <c:idx val="7"/>
              <c:layout>
                <c:manualLayout>
                  <c:x val="-0.22397449593868171"/>
                  <c:y val="-4.032627500953408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785B-4416-9C47-BBFA370507CB}"/>
                </c:ext>
              </c:extLst>
            </c:dLbl>
            <c:dLbl>
              <c:idx val="8"/>
              <c:layout>
                <c:manualLayout>
                  <c:x val="-0.13476550373376536"/>
                  <c:y val="-0.1012753517324863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785B-4416-9C47-BBFA370507CB}"/>
                </c:ext>
              </c:extLst>
            </c:dLbl>
            <c:dLbl>
              <c:idx val="9"/>
              <c:layout>
                <c:manualLayout>
                  <c:x val="-4.5877618292345643E-2"/>
                  <c:y val="-0.135033802309981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785B-4416-9C47-BBFA370507CB}"/>
                </c:ext>
              </c:extLst>
            </c:dLbl>
            <c:dLbl>
              <c:idx val="10"/>
              <c:layout>
                <c:manualLayout>
                  <c:x val="6.8816427438518457E-2"/>
                  <c:y val="-0.11140288690573499"/>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785B-4416-9C47-BBFA370507CB}"/>
                </c:ext>
              </c:extLst>
            </c:dLbl>
            <c:spPr>
              <a:noFill/>
              <a:ln w="9525">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de-DE"/>
              </a:p>
            </c:txPr>
            <c:showLegendKey val="0"/>
            <c:showVal val="1"/>
            <c:showCatName val="0"/>
            <c:showSerName val="0"/>
            <c:showPercent val="0"/>
            <c:showBubbleSize val="0"/>
            <c:showLeaderLines val="1"/>
            <c:leaderLines>
              <c:spPr>
                <a:ln w="9525" cap="flat" cmpd="sng" algn="ctr">
                  <a:solidFill>
                    <a:schemeClr val="tx1"/>
                  </a:solidFill>
                  <a:round/>
                  <a:tailEnd type="oval" w="sm" len="sm"/>
                </a:ln>
                <a:effectLst/>
              </c:spPr>
            </c:leaderLines>
            <c:extLst>
              <c:ext xmlns:c15="http://schemas.microsoft.com/office/drawing/2012/chart" uri="{CE6537A1-D6FC-4f65-9D91-7224C49458BB}"/>
            </c:extLst>
          </c:dLbls>
          <c:cat>
            <c:strRef>
              <c:f>S_DiagrammPortfolio!$J$4:$J$14</c:f>
              <c:strCache>
                <c:ptCount val="11"/>
                <c:pt idx="0">
                  <c:v>Informationstechnologie</c:v>
                </c:pt>
                <c:pt idx="1">
                  <c:v>Handel,Konsum</c:v>
                </c:pt>
                <c:pt idx="2">
                  <c:v>Banken,Versicherer,Finanzdienstl.</c:v>
                </c:pt>
                <c:pt idx="3">
                  <c:v>Corporates</c:v>
                </c:pt>
                <c:pt idx="4">
                  <c:v>Chemie,Pharma</c:v>
                </c:pt>
                <c:pt idx="5">
                  <c:v>Eisen,Stahl,Rohstoffe</c:v>
                </c:pt>
                <c:pt idx="6">
                  <c:v>Prod. Gew. &amp; Industrie</c:v>
                </c:pt>
                <c:pt idx="7">
                  <c:v>Financials</c:v>
                </c:pt>
                <c:pt idx="8">
                  <c:v>Versorger</c:v>
                </c:pt>
                <c:pt idx="9">
                  <c:v>staatsgarantiert</c:v>
                </c:pt>
                <c:pt idx="10">
                  <c:v>Bau,Baustoffe</c:v>
                </c:pt>
              </c:strCache>
            </c:strRef>
          </c:cat>
          <c:val>
            <c:numRef>
              <c:f>S_DiagrammPortfolio!$K$4:$K$14</c:f>
              <c:numCache>
                <c:formatCode>0.00%</c:formatCode>
                <c:ptCount val="11"/>
                <c:pt idx="0">
                  <c:v>0.2165</c:v>
                </c:pt>
                <c:pt idx="1">
                  <c:v>0.1598</c:v>
                </c:pt>
                <c:pt idx="2">
                  <c:v>0.15459999999999999</c:v>
                </c:pt>
                <c:pt idx="3">
                  <c:v>0.1031</c:v>
                </c:pt>
                <c:pt idx="4">
                  <c:v>0.1031</c:v>
                </c:pt>
                <c:pt idx="5">
                  <c:v>8.7599999999999997E-2</c:v>
                </c:pt>
                <c:pt idx="6">
                  <c:v>5.1499999999999997E-2</c:v>
                </c:pt>
                <c:pt idx="7">
                  <c:v>4.6399999999999997E-2</c:v>
                </c:pt>
                <c:pt idx="8">
                  <c:v>3.09E-2</c:v>
                </c:pt>
                <c:pt idx="9">
                  <c:v>2.58E-2</c:v>
                </c:pt>
                <c:pt idx="10">
                  <c:v>2.06E-2</c:v>
                </c:pt>
              </c:numCache>
            </c:numRef>
          </c:val>
          <c:extLst>
            <c:ext xmlns:c16="http://schemas.microsoft.com/office/drawing/2014/chart" uri="{C3380CC4-5D6E-409C-BE32-E72D297353CC}">
              <c16:uniqueId val="{00000016-785B-4416-9C47-BBFA370507CB}"/>
            </c:ext>
          </c:extLst>
        </c:ser>
        <c:dLbls>
          <c:showLegendKey val="0"/>
          <c:showVal val="1"/>
          <c:showCatName val="0"/>
          <c:showSerName val="0"/>
          <c:showPercent val="0"/>
          <c:showBubbleSize val="0"/>
          <c:showLeaderLines val="1"/>
        </c:dLbls>
        <c:firstSliceAng val="0"/>
        <c:holeSize val="79"/>
      </c:doughnutChart>
      <c:spPr>
        <a:noFill/>
        <a:ln>
          <a:noFill/>
        </a:ln>
        <a:effectLst/>
      </c:spPr>
    </c:plotArea>
    <c:legend>
      <c:legendPos val="r"/>
      <c:layout>
        <c:manualLayout>
          <c:xMode val="edge"/>
          <c:yMode val="edge"/>
          <c:x val="0"/>
          <c:y val="0.44697711354398234"/>
          <c:w val="0.49970741075463171"/>
          <c:h val="0.5530228864560176"/>
        </c:manualLayout>
      </c:layout>
      <c:overlay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de-DE"/>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de-DE"/>
    </a:p>
  </c:txPr>
  <c:externalData r:id="rId3">
    <c:autoUpdate val="0"/>
  </c:externalData>
  <c:userShapes r:id="rId4"/>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9531174596445554"/>
          <c:y val="0.17508252835308752"/>
          <c:w val="0.42581960372958788"/>
          <c:h val="0.56419448666794292"/>
        </c:manualLayout>
      </c:layout>
      <c:doughnutChart>
        <c:varyColors val="1"/>
        <c:ser>
          <c:idx val="0"/>
          <c:order val="0"/>
          <c:dPt>
            <c:idx val="0"/>
            <c:bubble3D val="0"/>
            <c:spPr>
              <a:solidFill>
                <a:srgbClr val="14355C"/>
              </a:solidFill>
              <a:ln w="19050">
                <a:solidFill>
                  <a:schemeClr val="lt1"/>
                </a:solidFill>
              </a:ln>
              <a:effectLst/>
            </c:spPr>
            <c:extLst>
              <c:ext xmlns:c16="http://schemas.microsoft.com/office/drawing/2014/chart" uri="{C3380CC4-5D6E-409C-BE32-E72D297353CC}">
                <c16:uniqueId val="{00000001-14B4-4881-A081-C22B855485BC}"/>
              </c:ext>
            </c:extLst>
          </c:dPt>
          <c:dPt>
            <c:idx val="1"/>
            <c:bubble3D val="0"/>
            <c:spPr>
              <a:solidFill>
                <a:srgbClr val="66A4CE"/>
              </a:solidFill>
              <a:ln w="19050">
                <a:solidFill>
                  <a:schemeClr val="lt1"/>
                </a:solidFill>
              </a:ln>
              <a:effectLst/>
            </c:spPr>
            <c:extLst>
              <c:ext xmlns:c16="http://schemas.microsoft.com/office/drawing/2014/chart" uri="{C3380CC4-5D6E-409C-BE32-E72D297353CC}">
                <c16:uniqueId val="{00000003-14B4-4881-A081-C22B855485BC}"/>
              </c:ext>
            </c:extLst>
          </c:dPt>
          <c:dPt>
            <c:idx val="2"/>
            <c:bubble3D val="0"/>
            <c:spPr>
              <a:solidFill>
                <a:srgbClr val="BB9256"/>
              </a:solidFill>
              <a:ln w="19050">
                <a:solidFill>
                  <a:schemeClr val="lt1"/>
                </a:solidFill>
              </a:ln>
              <a:effectLst/>
            </c:spPr>
            <c:extLst>
              <c:ext xmlns:c16="http://schemas.microsoft.com/office/drawing/2014/chart" uri="{C3380CC4-5D6E-409C-BE32-E72D297353CC}">
                <c16:uniqueId val="{00000005-14B4-4881-A081-C22B855485BC}"/>
              </c:ext>
            </c:extLst>
          </c:dPt>
          <c:dPt>
            <c:idx val="3"/>
            <c:bubble3D val="0"/>
            <c:spPr>
              <a:solidFill>
                <a:srgbClr val="B9B9B9"/>
              </a:solidFill>
              <a:ln w="19050">
                <a:solidFill>
                  <a:schemeClr val="lt1"/>
                </a:solidFill>
              </a:ln>
              <a:effectLst/>
            </c:spPr>
            <c:extLst>
              <c:ext xmlns:c16="http://schemas.microsoft.com/office/drawing/2014/chart" uri="{C3380CC4-5D6E-409C-BE32-E72D297353CC}">
                <c16:uniqueId val="{00000007-14B4-4881-A081-C22B855485BC}"/>
              </c:ext>
            </c:extLst>
          </c:dPt>
          <c:dPt>
            <c:idx val="4"/>
            <c:bubble3D val="0"/>
            <c:spPr>
              <a:solidFill>
                <a:srgbClr val="D1E4C6"/>
              </a:solidFill>
              <a:ln w="19050">
                <a:solidFill>
                  <a:schemeClr val="lt1"/>
                </a:solidFill>
              </a:ln>
              <a:effectLst/>
            </c:spPr>
            <c:extLst>
              <c:ext xmlns:c16="http://schemas.microsoft.com/office/drawing/2014/chart" uri="{C3380CC4-5D6E-409C-BE32-E72D297353CC}">
                <c16:uniqueId val="{00000009-14B4-4881-A081-C22B855485BC}"/>
              </c:ext>
            </c:extLst>
          </c:dPt>
          <c:dLbls>
            <c:dLbl>
              <c:idx val="0"/>
              <c:layout>
                <c:manualLayout>
                  <c:x val="0.16611383828441076"/>
                  <c:y val="-0.1521362162427401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14B4-4881-A081-C22B855485BC}"/>
                </c:ext>
              </c:extLst>
            </c:dLbl>
            <c:dLbl>
              <c:idx val="1"/>
              <c:layout>
                <c:manualLayout>
                  <c:x val="8.0820494843203639E-2"/>
                  <c:y val="0.2020799965434407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14B4-4881-A081-C22B855485BC}"/>
                </c:ext>
              </c:extLst>
            </c:dLbl>
            <c:dLbl>
              <c:idx val="2"/>
              <c:layout>
                <c:manualLayout>
                  <c:x val="-0.13545153417607544"/>
                  <c:y val="-6.6697791702697495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14B4-4881-A081-C22B855485BC}"/>
                </c:ext>
              </c:extLst>
            </c:dLbl>
            <c:dLbl>
              <c:idx val="3"/>
              <c:layout>
                <c:manualLayout>
                  <c:x val="-0.17586574461884003"/>
                  <c:y val="1.057461097205531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14B4-4881-A081-C22B855485BC}"/>
                </c:ext>
              </c:extLst>
            </c:dLbl>
            <c:dLbl>
              <c:idx val="4"/>
              <c:layout>
                <c:manualLayout>
                  <c:x val="-0.12942094825811637"/>
                  <c:y val="-9.52654139439761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14B4-4881-A081-C22B855485BC}"/>
                </c:ext>
              </c:extLst>
            </c:dLbl>
            <c:spPr>
              <a:noFill/>
              <a:ln w="9525">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de-DE"/>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S_DiagrammPortfolio!$F$4:$F$8</c:f>
              <c:strCache>
                <c:ptCount val="5"/>
                <c:pt idx="0">
                  <c:v>NORDAMERIKA</c:v>
                </c:pt>
                <c:pt idx="1">
                  <c:v>EUROPA OHNE DEUTSCHLAND</c:v>
                </c:pt>
                <c:pt idx="2">
                  <c:v>DEUTSCHLAND</c:v>
                </c:pt>
                <c:pt idx="3">
                  <c:v>SONSTIGE REGIONEN</c:v>
                </c:pt>
                <c:pt idx="4">
                  <c:v>EMERGING MARKETS</c:v>
                </c:pt>
              </c:strCache>
            </c:strRef>
          </c:cat>
          <c:val>
            <c:numRef>
              <c:f>S_DiagrammPortfolio!$G$4:$G$8</c:f>
              <c:numCache>
                <c:formatCode>0.00%</c:formatCode>
                <c:ptCount val="5"/>
                <c:pt idx="0">
                  <c:v>0.41749999999999998</c:v>
                </c:pt>
                <c:pt idx="1">
                  <c:v>0.26290000000000002</c:v>
                </c:pt>
                <c:pt idx="2">
                  <c:v>0.25259999999999999</c:v>
                </c:pt>
                <c:pt idx="3">
                  <c:v>5.1499999999999997E-2</c:v>
                </c:pt>
                <c:pt idx="4">
                  <c:v>1.55E-2</c:v>
                </c:pt>
              </c:numCache>
            </c:numRef>
          </c:val>
          <c:extLst>
            <c:ext xmlns:c16="http://schemas.microsoft.com/office/drawing/2014/chart" uri="{C3380CC4-5D6E-409C-BE32-E72D297353CC}">
              <c16:uniqueId val="{0000000A-14B4-4881-A081-C22B855485BC}"/>
            </c:ext>
          </c:extLst>
        </c:ser>
        <c:dLbls>
          <c:showLegendKey val="0"/>
          <c:showVal val="1"/>
          <c:showCatName val="0"/>
          <c:showSerName val="0"/>
          <c:showPercent val="0"/>
          <c:showBubbleSize val="0"/>
          <c:showLeaderLines val="1"/>
        </c:dLbls>
        <c:firstSliceAng val="0"/>
        <c:holeSize val="79"/>
      </c:doughnutChart>
      <c:spPr>
        <a:noFill/>
        <a:ln>
          <a:noFill/>
        </a:ln>
        <a:effectLst/>
      </c:spPr>
    </c:plotArea>
    <c:legend>
      <c:legendPos val="r"/>
      <c:legendEntry>
        <c:idx val="0"/>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de-DE"/>
          </a:p>
        </c:txPr>
      </c:legendEntry>
      <c:layout>
        <c:manualLayout>
          <c:xMode val="edge"/>
          <c:yMode val="edge"/>
          <c:x val="0"/>
          <c:y val="0.52367293028011941"/>
          <c:w val="0.48029551909123169"/>
          <c:h val="0.4763270697198807"/>
        </c:manualLayout>
      </c:layout>
      <c:overlay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de-DE"/>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de-DE"/>
    </a:p>
  </c:txPr>
  <c:externalData r:id="rId3">
    <c:autoUpdate val="0"/>
  </c:externalData>
  <c:userShapes r:id="rId4"/>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0057094441934027"/>
          <c:y val="0.21052072896841212"/>
          <c:w val="0.41578671486669677"/>
          <c:h val="0.48958430326754543"/>
        </c:manualLayout>
      </c:layout>
      <c:doughnutChart>
        <c:varyColors val="1"/>
        <c:ser>
          <c:idx val="0"/>
          <c:order val="0"/>
          <c:dPt>
            <c:idx val="0"/>
            <c:bubble3D val="0"/>
            <c:spPr>
              <a:solidFill>
                <a:srgbClr val="14355C"/>
              </a:solidFill>
              <a:ln w="19050">
                <a:solidFill>
                  <a:schemeClr val="lt1"/>
                </a:solidFill>
              </a:ln>
              <a:effectLst/>
            </c:spPr>
            <c:extLst>
              <c:ext xmlns:c16="http://schemas.microsoft.com/office/drawing/2014/chart" uri="{C3380CC4-5D6E-409C-BE32-E72D297353CC}">
                <c16:uniqueId val="{00000001-901D-4D06-9087-9C4DED8B0FD7}"/>
              </c:ext>
            </c:extLst>
          </c:dPt>
          <c:dPt>
            <c:idx val="1"/>
            <c:bubble3D val="0"/>
            <c:spPr>
              <a:solidFill>
                <a:srgbClr val="386FA7"/>
              </a:solidFill>
              <a:ln w="19050">
                <a:solidFill>
                  <a:schemeClr val="lt1"/>
                </a:solidFill>
              </a:ln>
              <a:effectLst/>
            </c:spPr>
            <c:extLst>
              <c:ext xmlns:c16="http://schemas.microsoft.com/office/drawing/2014/chart" uri="{C3380CC4-5D6E-409C-BE32-E72D297353CC}">
                <c16:uniqueId val="{00000003-901D-4D06-9087-9C4DED8B0FD7}"/>
              </c:ext>
            </c:extLst>
          </c:dPt>
          <c:dPt>
            <c:idx val="2"/>
            <c:bubble3D val="0"/>
            <c:spPr>
              <a:solidFill>
                <a:srgbClr val="D1E4C6"/>
              </a:solidFill>
              <a:ln w="19050">
                <a:solidFill>
                  <a:schemeClr val="lt1"/>
                </a:solidFill>
              </a:ln>
              <a:effectLst/>
            </c:spPr>
            <c:extLst>
              <c:ext xmlns:c16="http://schemas.microsoft.com/office/drawing/2014/chart" uri="{C3380CC4-5D6E-409C-BE32-E72D297353CC}">
                <c16:uniqueId val="{00000005-901D-4D06-9087-9C4DED8B0FD7}"/>
              </c:ext>
            </c:extLst>
          </c:dPt>
          <c:dPt>
            <c:idx val="3"/>
            <c:bubble3D val="0"/>
            <c:spPr>
              <a:solidFill>
                <a:srgbClr val="D1E9F8"/>
              </a:solidFill>
              <a:ln w="19050">
                <a:solidFill>
                  <a:schemeClr val="lt1"/>
                </a:solidFill>
              </a:ln>
              <a:effectLst/>
            </c:spPr>
            <c:extLst>
              <c:ext xmlns:c16="http://schemas.microsoft.com/office/drawing/2014/chart" uri="{C3380CC4-5D6E-409C-BE32-E72D297353CC}">
                <c16:uniqueId val="{00000007-901D-4D06-9087-9C4DED8B0FD7}"/>
              </c:ext>
            </c:extLst>
          </c:dPt>
          <c:dPt>
            <c:idx val="4"/>
            <c:bubble3D val="0"/>
            <c:spPr>
              <a:solidFill>
                <a:srgbClr val="72BA86"/>
              </a:solidFill>
              <a:ln w="19050">
                <a:solidFill>
                  <a:schemeClr val="lt1"/>
                </a:solidFill>
              </a:ln>
              <a:effectLst/>
            </c:spPr>
            <c:extLst>
              <c:ext xmlns:c16="http://schemas.microsoft.com/office/drawing/2014/chart" uri="{C3380CC4-5D6E-409C-BE32-E72D297353CC}">
                <c16:uniqueId val="{00000009-901D-4D06-9087-9C4DED8B0FD7}"/>
              </c:ext>
            </c:extLst>
          </c:dPt>
          <c:dLbls>
            <c:dLbl>
              <c:idx val="0"/>
              <c:layout>
                <c:manualLayout>
                  <c:x val="0.14070192693583863"/>
                  <c:y val="6.644792528997572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01D-4D06-9087-9C4DED8B0FD7}"/>
                </c:ext>
              </c:extLst>
            </c:dLbl>
            <c:dLbl>
              <c:idx val="1"/>
              <c:layout>
                <c:manualLayout>
                  <c:x val="1.4357339483248828E-2"/>
                  <c:y val="0.1402789533899486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01D-4D06-9087-9C4DED8B0FD7}"/>
                </c:ext>
              </c:extLst>
            </c:dLbl>
            <c:dLbl>
              <c:idx val="2"/>
              <c:layout>
                <c:manualLayout>
                  <c:x val="-0.16080220221238689"/>
                  <c:y val="-3.322396264498786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901D-4D06-9087-9C4DED8B0FD7}"/>
                </c:ext>
              </c:extLst>
            </c:dLbl>
            <c:dLbl>
              <c:idx val="3"/>
              <c:layout>
                <c:manualLayout>
                  <c:x val="-5.7429357932995313E-2"/>
                  <c:y val="-0.114438093554958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901D-4D06-9087-9C4DED8B0FD7}"/>
                </c:ext>
              </c:extLst>
            </c:dLbl>
            <c:dLbl>
              <c:idx val="4"/>
              <c:layout>
                <c:manualLayout>
                  <c:x val="0.15505926641908735"/>
                  <c:y val="-9.967188793496360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901D-4D06-9087-9C4DED8B0FD7}"/>
                </c:ext>
              </c:extLst>
            </c:dLbl>
            <c:spPr>
              <a:noFill/>
              <a:ln w="9525">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de-DE"/>
              </a:p>
            </c:txPr>
            <c:showLegendKey val="0"/>
            <c:showVal val="1"/>
            <c:showCatName val="0"/>
            <c:showSerName val="0"/>
            <c:showPercent val="0"/>
            <c:showBubbleSize val="0"/>
            <c:showLeaderLines val="1"/>
            <c:leaderLines>
              <c:spPr>
                <a:ln w="9525" cap="flat" cmpd="sng" algn="ctr">
                  <a:solidFill>
                    <a:schemeClr val="tx1"/>
                  </a:solidFill>
                  <a:round/>
                  <a:tailEnd type="oval" w="sm" len="sm"/>
                </a:ln>
                <a:effectLst/>
              </c:spPr>
            </c:leaderLines>
            <c:extLst>
              <c:ext xmlns:c15="http://schemas.microsoft.com/office/drawing/2012/chart" uri="{CE6537A1-D6FC-4f65-9D91-7224C49458BB}"/>
            </c:extLst>
          </c:dLbls>
          <c:cat>
            <c:strRef>
              <c:f>S_DiagrammPortfolio!$N$4:$N$8</c:f>
              <c:strCache>
                <c:ptCount val="5"/>
                <c:pt idx="0">
                  <c:v>EUR</c:v>
                </c:pt>
                <c:pt idx="1">
                  <c:v>USD</c:v>
                </c:pt>
                <c:pt idx="2">
                  <c:v>CHF</c:v>
                </c:pt>
                <c:pt idx="3">
                  <c:v>GBP</c:v>
                </c:pt>
                <c:pt idx="4">
                  <c:v>SONSTIGE WÄHRUNGEN</c:v>
                </c:pt>
              </c:strCache>
            </c:strRef>
          </c:cat>
          <c:val>
            <c:numRef>
              <c:f>S_DiagrammPortfolio!$O$4:$O$8</c:f>
              <c:numCache>
                <c:formatCode>0.00%</c:formatCode>
                <c:ptCount val="5"/>
                <c:pt idx="0">
                  <c:v>0.4536</c:v>
                </c:pt>
                <c:pt idx="1">
                  <c:v>0.39689999999999998</c:v>
                </c:pt>
                <c:pt idx="2">
                  <c:v>7.22E-2</c:v>
                </c:pt>
                <c:pt idx="3">
                  <c:v>6.1899999999999997E-2</c:v>
                </c:pt>
                <c:pt idx="4">
                  <c:v>1.55E-2</c:v>
                </c:pt>
              </c:numCache>
            </c:numRef>
          </c:val>
          <c:extLst>
            <c:ext xmlns:c16="http://schemas.microsoft.com/office/drawing/2014/chart" uri="{C3380CC4-5D6E-409C-BE32-E72D297353CC}">
              <c16:uniqueId val="{0000000A-901D-4D06-9087-9C4DED8B0FD7}"/>
            </c:ext>
          </c:extLst>
        </c:ser>
        <c:dLbls>
          <c:showLegendKey val="0"/>
          <c:showVal val="1"/>
          <c:showCatName val="0"/>
          <c:showSerName val="0"/>
          <c:showPercent val="0"/>
          <c:showBubbleSize val="0"/>
          <c:showLeaderLines val="1"/>
        </c:dLbls>
        <c:firstSliceAng val="0"/>
        <c:holeSize val="79"/>
      </c:doughnutChart>
      <c:spPr>
        <a:noFill/>
        <a:ln>
          <a:noFill/>
        </a:ln>
        <a:effectLst/>
      </c:spPr>
    </c:plotArea>
    <c:legend>
      <c:legendPos val="r"/>
      <c:layout>
        <c:manualLayout>
          <c:xMode val="edge"/>
          <c:yMode val="edge"/>
          <c:x val="0"/>
          <c:y val="0.73051674743509842"/>
          <c:w val="0.38764816604771835"/>
          <c:h val="0.26948325256490152"/>
        </c:manualLayout>
      </c:layout>
      <c:overlay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de-DE"/>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de-DE"/>
    </a:p>
  </c:txPr>
  <c:externalData r:id="rId3">
    <c:autoUpdate val="0"/>
  </c:externalData>
  <c:userShapes r:id="rId4"/>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9.4822364711042416E-4"/>
          <c:y val="0.10514786418400876"/>
        </c:manualLayout>
      </c:layout>
      <c:overlay val="0"/>
      <c:spPr>
        <a:noFill/>
        <a:ln>
          <a:noFill/>
        </a:ln>
        <a:effectLst/>
      </c:spPr>
      <c:txPr>
        <a:bodyPr rot="0" spcFirstLastPara="1" vertOverflow="ellipsis" vert="horz" wrap="square" anchor="ctr" anchorCtr="1"/>
        <a:lstStyle/>
        <a:p>
          <a:pPr algn="l">
            <a:defRPr sz="600" b="0" i="0" u="none" strike="noStrike" kern="1200" spc="0" baseline="0">
              <a:solidFill>
                <a:schemeClr val="bg2"/>
              </a:solidFill>
              <a:latin typeface="+mn-lt"/>
              <a:ea typeface="+mn-ea"/>
              <a:cs typeface="+mn-cs"/>
            </a:defRPr>
          </a:pPr>
          <a:endParaRPr lang="de-DE"/>
        </a:p>
      </c:txPr>
    </c:title>
    <c:autoTitleDeleted val="0"/>
    <c:plotArea>
      <c:layout>
        <c:manualLayout>
          <c:layoutTarget val="inner"/>
          <c:xMode val="edge"/>
          <c:yMode val="edge"/>
          <c:x val="0"/>
          <c:y val="0.10591473984700434"/>
          <c:w val="1"/>
          <c:h val="0.79791118662193516"/>
        </c:manualLayout>
      </c:layout>
      <c:barChart>
        <c:barDir val="col"/>
        <c:grouping val="clustered"/>
        <c:varyColors val="0"/>
        <c:ser>
          <c:idx val="0"/>
          <c:order val="0"/>
          <c:tx>
            <c:strRef>
              <c:f>Tabelle1!$B$1</c:f>
              <c:strCache>
                <c:ptCount val="1"/>
                <c:pt idx="0">
                  <c:v>Jährliches Wachstum in Mio. EUR</c:v>
                </c:pt>
              </c:strCache>
            </c:strRef>
          </c:tx>
          <c:spPr>
            <a:solidFill>
              <a:schemeClr val="accent3"/>
            </a:solidFill>
            <a:ln>
              <a:noFill/>
            </a:ln>
            <a:effectLst/>
          </c:spPr>
          <c:invertIfNegative val="0"/>
          <c:dLbls>
            <c:numFmt formatCode="#,##0" sourceLinked="0"/>
            <c:spPr>
              <a:solidFill>
                <a:schemeClr val="bg1"/>
              </a:solid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Tabelle1!$A$2:$A$13</c:f>
              <c:numCache>
                <c:formatCode>General</c:formatCode>
                <c:ptCount val="12"/>
                <c:pt idx="0">
                  <c:v>2013</c:v>
                </c:pt>
                <c:pt idx="1">
                  <c:v>2014</c:v>
                </c:pt>
                <c:pt idx="2">
                  <c:v>2015</c:v>
                </c:pt>
                <c:pt idx="3">
                  <c:v>2016</c:v>
                </c:pt>
                <c:pt idx="4">
                  <c:v>2017</c:v>
                </c:pt>
                <c:pt idx="5">
                  <c:v>2018</c:v>
                </c:pt>
                <c:pt idx="6">
                  <c:v>2019</c:v>
                </c:pt>
                <c:pt idx="7">
                  <c:v>2020</c:v>
                </c:pt>
                <c:pt idx="8">
                  <c:v>2021</c:v>
                </c:pt>
                <c:pt idx="9">
                  <c:v>2022</c:v>
                </c:pt>
                <c:pt idx="10">
                  <c:v>2023</c:v>
                </c:pt>
                <c:pt idx="11">
                  <c:v>2024</c:v>
                </c:pt>
              </c:numCache>
            </c:numRef>
          </c:cat>
          <c:val>
            <c:numRef>
              <c:f>Tabelle1!$B$2:$B$13</c:f>
              <c:numCache>
                <c:formatCode>General</c:formatCode>
                <c:ptCount val="12"/>
                <c:pt idx="0">
                  <c:v>3318</c:v>
                </c:pt>
                <c:pt idx="1">
                  <c:v>3677</c:v>
                </c:pt>
                <c:pt idx="2">
                  <c:v>3942</c:v>
                </c:pt>
                <c:pt idx="3">
                  <c:v>4266</c:v>
                </c:pt>
                <c:pt idx="4">
                  <c:v>4692</c:v>
                </c:pt>
                <c:pt idx="5">
                  <c:v>4444</c:v>
                </c:pt>
                <c:pt idx="6">
                  <c:v>4963</c:v>
                </c:pt>
                <c:pt idx="7">
                  <c:v>5246</c:v>
                </c:pt>
                <c:pt idx="8">
                  <c:v>6626</c:v>
                </c:pt>
                <c:pt idx="9">
                  <c:v>5789</c:v>
                </c:pt>
                <c:pt idx="10">
                  <c:v>6204</c:v>
                </c:pt>
                <c:pt idx="11">
                  <c:v>6780</c:v>
                </c:pt>
              </c:numCache>
            </c:numRef>
          </c:val>
          <c:extLst>
            <c:ext xmlns:c16="http://schemas.microsoft.com/office/drawing/2014/chart" uri="{C3380CC4-5D6E-409C-BE32-E72D297353CC}">
              <c16:uniqueId val="{00000000-FCED-41A9-920E-B9B1600F4171}"/>
            </c:ext>
          </c:extLst>
        </c:ser>
        <c:dLbls>
          <c:dLblPos val="outEnd"/>
          <c:showLegendKey val="0"/>
          <c:showVal val="1"/>
          <c:showCatName val="0"/>
          <c:showSerName val="0"/>
          <c:showPercent val="0"/>
          <c:showBubbleSize val="0"/>
        </c:dLbls>
        <c:gapWidth val="219"/>
        <c:overlap val="-27"/>
        <c:axId val="1339092176"/>
        <c:axId val="1561065551"/>
      </c:barChart>
      <c:catAx>
        <c:axId val="1339092176"/>
        <c:scaling>
          <c:orientation val="minMax"/>
        </c:scaling>
        <c:delete val="0"/>
        <c:axPos val="b"/>
        <c:numFmt formatCode="General" sourceLinked="1"/>
        <c:majorTickMark val="none"/>
        <c:minorTickMark val="none"/>
        <c:tickLblPos val="nextTo"/>
        <c:spPr>
          <a:noFill/>
          <a:ln w="3175" cap="flat" cmpd="sng" algn="ctr">
            <a:solidFill>
              <a:schemeClr val="bg1">
                <a:lumMod val="65000"/>
              </a:schemeClr>
            </a:solidFill>
            <a:round/>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de-DE"/>
          </a:p>
        </c:txPr>
        <c:crossAx val="1561065551"/>
        <c:crosses val="autoZero"/>
        <c:auto val="1"/>
        <c:lblAlgn val="ctr"/>
        <c:lblOffset val="100"/>
        <c:noMultiLvlLbl val="0"/>
      </c:catAx>
      <c:valAx>
        <c:axId val="1561065551"/>
        <c:scaling>
          <c:orientation val="minMax"/>
        </c:scaling>
        <c:delete val="1"/>
        <c:axPos val="l"/>
        <c:majorGridlines>
          <c:spPr>
            <a:ln w="3175" cap="flat" cmpd="sng" algn="ctr">
              <a:solidFill>
                <a:schemeClr val="bg1">
                  <a:lumMod val="65000"/>
                </a:schemeClr>
              </a:solidFill>
              <a:round/>
            </a:ln>
            <a:effectLst/>
          </c:spPr>
        </c:majorGridlines>
        <c:numFmt formatCode="General" sourceLinked="1"/>
        <c:majorTickMark val="out"/>
        <c:minorTickMark val="none"/>
        <c:tickLblPos val="nextTo"/>
        <c:crossAx val="1339092176"/>
        <c:crosses val="autoZero"/>
        <c:crossBetween val="between"/>
        <c:majorUnit val="50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de-DE"/>
    </a:p>
  </c:txPr>
  <c:externalData r:id="rId3">
    <c:autoUpdate val="0"/>
  </c:externalData>
  <c:userShapes r:id="rId4"/>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781144037027447"/>
          <c:y val="0.16666666666666666"/>
          <c:w val="0.8757731626770392"/>
          <c:h val="0.77222222222222225"/>
        </c:manualLayout>
      </c:layout>
      <c:barChart>
        <c:barDir val="col"/>
        <c:grouping val="clustered"/>
        <c:varyColors val="0"/>
        <c:ser>
          <c:idx val="0"/>
          <c:order val="0"/>
          <c:tx>
            <c:strRef>
              <c:f>Tabelle1!$B$1</c:f>
              <c:strCache>
                <c:ptCount val="1"/>
                <c:pt idx="0">
                  <c:v>Musterdepot</c:v>
                </c:pt>
              </c:strCache>
            </c:strRef>
          </c:tx>
          <c:spPr>
            <a:solidFill>
              <a:schemeClr val="accent3"/>
            </a:solidFill>
            <a:ln>
              <a:solidFill>
                <a:schemeClr val="accent3"/>
              </a:solidFill>
            </a:ln>
            <a:effectLst/>
          </c:spPr>
          <c:invertIfNegative val="0"/>
          <c:dLbls>
            <c:spPr>
              <a:solidFill>
                <a:schemeClr val="bg1"/>
              </a:solid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Tabelle1!$A$2:$A$6</c:f>
              <c:numCache>
                <c:formatCode>General</c:formatCode>
                <c:ptCount val="5"/>
                <c:pt idx="0">
                  <c:v>2021</c:v>
                </c:pt>
                <c:pt idx="1">
                  <c:v>2022</c:v>
                </c:pt>
                <c:pt idx="2">
                  <c:v>2023</c:v>
                </c:pt>
                <c:pt idx="3">
                  <c:v>2024</c:v>
                </c:pt>
                <c:pt idx="4">
                  <c:v>2025</c:v>
                </c:pt>
              </c:numCache>
            </c:numRef>
          </c:cat>
          <c:val>
            <c:numRef>
              <c:f>Tabelle1!$B$2:$B$6</c:f>
              <c:numCache>
                <c:formatCode>0.00%</c:formatCode>
                <c:ptCount val="5"/>
                <c:pt idx="0">
                  <c:v>0.01</c:v>
                </c:pt>
                <c:pt idx="1">
                  <c:v>0.01</c:v>
                </c:pt>
                <c:pt idx="2">
                  <c:v>-0.05</c:v>
                </c:pt>
                <c:pt idx="3">
                  <c:v>0.01</c:v>
                </c:pt>
                <c:pt idx="4">
                  <c:v>0.01</c:v>
                </c:pt>
              </c:numCache>
            </c:numRef>
          </c:val>
          <c:extLst>
            <c:ext xmlns:c16="http://schemas.microsoft.com/office/drawing/2014/chart" uri="{C3380CC4-5D6E-409C-BE32-E72D297353CC}">
              <c16:uniqueId val="{00000000-D28F-4E9D-8866-2DFCFDB79BD8}"/>
            </c:ext>
          </c:extLst>
        </c:ser>
        <c:ser>
          <c:idx val="1"/>
          <c:order val="1"/>
          <c:tx>
            <c:strRef>
              <c:f>Tabelle1!$C$1</c:f>
              <c:strCache>
                <c:ptCount val="1"/>
                <c:pt idx="0">
                  <c:v>Spalte1</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Tabelle1!$A$2:$A$6</c:f>
              <c:numCache>
                <c:formatCode>General</c:formatCode>
                <c:ptCount val="5"/>
                <c:pt idx="0">
                  <c:v>2021</c:v>
                </c:pt>
                <c:pt idx="1">
                  <c:v>2022</c:v>
                </c:pt>
                <c:pt idx="2">
                  <c:v>2023</c:v>
                </c:pt>
                <c:pt idx="3">
                  <c:v>2024</c:v>
                </c:pt>
                <c:pt idx="4">
                  <c:v>2025</c:v>
                </c:pt>
              </c:numCache>
            </c:numRef>
          </c:cat>
          <c:val>
            <c:numRef>
              <c:f>Tabelle1!$C$2:$C$6</c:f>
              <c:numCache>
                <c:formatCode>0.00%</c:formatCode>
                <c:ptCount val="5"/>
                <c:pt idx="0">
                  <c:v>0.01</c:v>
                </c:pt>
                <c:pt idx="1">
                  <c:v>0.01</c:v>
                </c:pt>
                <c:pt idx="2">
                  <c:v>0.02</c:v>
                </c:pt>
                <c:pt idx="3">
                  <c:v>0.01</c:v>
                </c:pt>
                <c:pt idx="4">
                  <c:v>0.01</c:v>
                </c:pt>
              </c:numCache>
            </c:numRef>
          </c:val>
          <c:extLst>
            <c:ext xmlns:c16="http://schemas.microsoft.com/office/drawing/2014/chart" uri="{C3380CC4-5D6E-409C-BE32-E72D297353CC}">
              <c16:uniqueId val="{00000000-9BFC-4B5F-B91E-8A183F11D510}"/>
            </c:ext>
          </c:extLst>
        </c:ser>
        <c:dLbls>
          <c:dLblPos val="outEnd"/>
          <c:showLegendKey val="0"/>
          <c:showVal val="1"/>
          <c:showCatName val="0"/>
          <c:showSerName val="0"/>
          <c:showPercent val="0"/>
          <c:showBubbleSize val="0"/>
        </c:dLbls>
        <c:gapWidth val="60"/>
        <c:overlap val="-40"/>
        <c:axId val="196509247"/>
        <c:axId val="1801327183"/>
      </c:barChart>
      <c:catAx>
        <c:axId val="196509247"/>
        <c:scaling>
          <c:orientation val="minMax"/>
        </c:scaling>
        <c:delete val="0"/>
        <c:axPos val="b"/>
        <c:numFmt formatCode="General" sourceLinked="1"/>
        <c:majorTickMark val="none"/>
        <c:minorTickMark val="none"/>
        <c:tickLblPos val="low"/>
        <c:spPr>
          <a:noFill/>
          <a:ln w="3175" cap="flat" cmpd="sng" algn="ctr">
            <a:solidFill>
              <a:schemeClr val="bg1">
                <a:lumMod val="65000"/>
              </a:schemeClr>
            </a:solidFill>
            <a:round/>
          </a:ln>
          <a:effectLst/>
        </c:spPr>
        <c:txPr>
          <a:bodyPr rot="-60000000" spcFirstLastPara="1" vertOverflow="ellipsis" vert="horz" wrap="square" anchor="ctr" anchorCtr="1"/>
          <a:lstStyle/>
          <a:p>
            <a:pPr>
              <a:defRPr sz="700" b="1" i="0" u="none" strike="noStrike" kern="1200" baseline="0">
                <a:solidFill>
                  <a:schemeClr val="tx1">
                    <a:lumMod val="65000"/>
                    <a:lumOff val="35000"/>
                  </a:schemeClr>
                </a:solidFill>
                <a:latin typeface="+mn-lt"/>
                <a:ea typeface="+mn-ea"/>
                <a:cs typeface="+mn-cs"/>
              </a:defRPr>
            </a:pPr>
            <a:endParaRPr lang="de-DE"/>
          </a:p>
        </c:txPr>
        <c:crossAx val="1801327183"/>
        <c:crosses val="autoZero"/>
        <c:auto val="1"/>
        <c:lblAlgn val="ctr"/>
        <c:lblOffset val="100"/>
        <c:noMultiLvlLbl val="0"/>
      </c:catAx>
      <c:valAx>
        <c:axId val="1801327183"/>
        <c:scaling>
          <c:orientation val="minMax"/>
        </c:scaling>
        <c:delete val="0"/>
        <c:axPos val="l"/>
        <c:majorGridlines>
          <c:spPr>
            <a:ln w="3175" cap="flat" cmpd="sng" algn="ctr">
              <a:solidFill>
                <a:schemeClr val="bg1">
                  <a:lumMod val="6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de-DE"/>
          </a:p>
        </c:txPr>
        <c:crossAx val="196509247"/>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de-DE"/>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2746102160765996E-2"/>
          <c:y val="0.13544018058690746"/>
          <c:w val="0.92588380119341251"/>
          <c:h val="0.71255079006772015"/>
        </c:manualLayout>
      </c:layout>
      <c:lineChart>
        <c:grouping val="standard"/>
        <c:varyColors val="0"/>
        <c:ser>
          <c:idx val="0"/>
          <c:order val="0"/>
          <c:tx>
            <c:strRef>
              <c:f>Tabelle1!$B$1</c:f>
              <c:strCache>
                <c:ptCount val="1"/>
                <c:pt idx="0">
                  <c:v>Wertentwicklung</c:v>
                </c:pt>
              </c:strCache>
            </c:strRef>
          </c:tx>
          <c:spPr>
            <a:ln w="9525" cap="rnd">
              <a:solidFill>
                <a:schemeClr val="accent3"/>
              </a:solidFill>
              <a:round/>
            </a:ln>
            <a:effectLst/>
          </c:spPr>
          <c:marker>
            <c:symbol val="none"/>
          </c:marker>
          <c:cat>
            <c:numRef>
              <c:f>Tabelle1!$A$2:$A$8000</c:f>
              <c:numCache>
                <c:formatCode>m/d/yyyy</c:formatCode>
                <c:ptCount val="7999"/>
                <c:pt idx="0">
                  <c:v>42004</c:v>
                </c:pt>
                <c:pt idx="1">
                  <c:v>42005</c:v>
                </c:pt>
                <c:pt idx="2">
                  <c:v>42006</c:v>
                </c:pt>
                <c:pt idx="3">
                  <c:v>42007</c:v>
                </c:pt>
                <c:pt idx="4">
                  <c:v>42008</c:v>
                </c:pt>
                <c:pt idx="5">
                  <c:v>42009</c:v>
                </c:pt>
                <c:pt idx="6">
                  <c:v>42010</c:v>
                </c:pt>
                <c:pt idx="7">
                  <c:v>42011</c:v>
                </c:pt>
                <c:pt idx="8">
                  <c:v>42012</c:v>
                </c:pt>
                <c:pt idx="9">
                  <c:v>42013</c:v>
                </c:pt>
                <c:pt idx="10">
                  <c:v>42014</c:v>
                </c:pt>
                <c:pt idx="11">
                  <c:v>42015</c:v>
                </c:pt>
                <c:pt idx="12">
                  <c:v>42016</c:v>
                </c:pt>
                <c:pt idx="13">
                  <c:v>42017</c:v>
                </c:pt>
                <c:pt idx="14">
                  <c:v>42018</c:v>
                </c:pt>
                <c:pt idx="15">
                  <c:v>42019</c:v>
                </c:pt>
                <c:pt idx="16">
                  <c:v>42020</c:v>
                </c:pt>
                <c:pt idx="17">
                  <c:v>42021</c:v>
                </c:pt>
                <c:pt idx="18">
                  <c:v>42022</c:v>
                </c:pt>
                <c:pt idx="19">
                  <c:v>42023</c:v>
                </c:pt>
                <c:pt idx="20">
                  <c:v>42024</c:v>
                </c:pt>
                <c:pt idx="21">
                  <c:v>42025</c:v>
                </c:pt>
                <c:pt idx="22">
                  <c:v>42026</c:v>
                </c:pt>
                <c:pt idx="23">
                  <c:v>42027</c:v>
                </c:pt>
                <c:pt idx="24">
                  <c:v>42028</c:v>
                </c:pt>
                <c:pt idx="25">
                  <c:v>42029</c:v>
                </c:pt>
                <c:pt idx="26">
                  <c:v>42030</c:v>
                </c:pt>
                <c:pt idx="27">
                  <c:v>42031</c:v>
                </c:pt>
                <c:pt idx="28">
                  <c:v>42032</c:v>
                </c:pt>
                <c:pt idx="29">
                  <c:v>42033</c:v>
                </c:pt>
                <c:pt idx="30">
                  <c:v>42034</c:v>
                </c:pt>
                <c:pt idx="31">
                  <c:v>42035</c:v>
                </c:pt>
                <c:pt idx="32">
                  <c:v>42036</c:v>
                </c:pt>
                <c:pt idx="33">
                  <c:v>42037</c:v>
                </c:pt>
                <c:pt idx="34">
                  <c:v>42038</c:v>
                </c:pt>
                <c:pt idx="35">
                  <c:v>42039</c:v>
                </c:pt>
                <c:pt idx="36">
                  <c:v>42040</c:v>
                </c:pt>
                <c:pt idx="37">
                  <c:v>42041</c:v>
                </c:pt>
                <c:pt idx="38">
                  <c:v>42042</c:v>
                </c:pt>
                <c:pt idx="39">
                  <c:v>42043</c:v>
                </c:pt>
                <c:pt idx="40">
                  <c:v>42044</c:v>
                </c:pt>
                <c:pt idx="41">
                  <c:v>42045</c:v>
                </c:pt>
                <c:pt idx="42">
                  <c:v>42046</c:v>
                </c:pt>
                <c:pt idx="43">
                  <c:v>42047</c:v>
                </c:pt>
                <c:pt idx="44">
                  <c:v>42048</c:v>
                </c:pt>
                <c:pt idx="45">
                  <c:v>42049</c:v>
                </c:pt>
                <c:pt idx="46">
                  <c:v>42050</c:v>
                </c:pt>
                <c:pt idx="47">
                  <c:v>42051</c:v>
                </c:pt>
                <c:pt idx="48">
                  <c:v>42052</c:v>
                </c:pt>
                <c:pt idx="49">
                  <c:v>42053</c:v>
                </c:pt>
                <c:pt idx="50">
                  <c:v>42054</c:v>
                </c:pt>
                <c:pt idx="51">
                  <c:v>42055</c:v>
                </c:pt>
                <c:pt idx="52">
                  <c:v>42056</c:v>
                </c:pt>
                <c:pt idx="53">
                  <c:v>42057</c:v>
                </c:pt>
                <c:pt idx="54">
                  <c:v>42058</c:v>
                </c:pt>
                <c:pt idx="55">
                  <c:v>42059</c:v>
                </c:pt>
                <c:pt idx="56">
                  <c:v>42060</c:v>
                </c:pt>
                <c:pt idx="57">
                  <c:v>42061</c:v>
                </c:pt>
                <c:pt idx="58">
                  <c:v>42062</c:v>
                </c:pt>
                <c:pt idx="59">
                  <c:v>42063</c:v>
                </c:pt>
                <c:pt idx="60">
                  <c:v>42064</c:v>
                </c:pt>
                <c:pt idx="61">
                  <c:v>42065</c:v>
                </c:pt>
                <c:pt idx="62">
                  <c:v>42066</c:v>
                </c:pt>
                <c:pt idx="63">
                  <c:v>42067</c:v>
                </c:pt>
                <c:pt idx="64">
                  <c:v>42068</c:v>
                </c:pt>
                <c:pt idx="65">
                  <c:v>42069</c:v>
                </c:pt>
                <c:pt idx="66">
                  <c:v>42070</c:v>
                </c:pt>
                <c:pt idx="67">
                  <c:v>42071</c:v>
                </c:pt>
                <c:pt idx="68">
                  <c:v>42072</c:v>
                </c:pt>
                <c:pt idx="69">
                  <c:v>42073</c:v>
                </c:pt>
                <c:pt idx="70">
                  <c:v>42074</c:v>
                </c:pt>
                <c:pt idx="71">
                  <c:v>42075</c:v>
                </c:pt>
                <c:pt idx="72">
                  <c:v>42076</c:v>
                </c:pt>
                <c:pt idx="73">
                  <c:v>42077</c:v>
                </c:pt>
                <c:pt idx="74">
                  <c:v>42078</c:v>
                </c:pt>
                <c:pt idx="75">
                  <c:v>42079</c:v>
                </c:pt>
                <c:pt idx="76">
                  <c:v>42080</c:v>
                </c:pt>
                <c:pt idx="77">
                  <c:v>42081</c:v>
                </c:pt>
                <c:pt idx="78">
                  <c:v>42082</c:v>
                </c:pt>
                <c:pt idx="79">
                  <c:v>42083</c:v>
                </c:pt>
                <c:pt idx="80">
                  <c:v>42084</c:v>
                </c:pt>
                <c:pt idx="81">
                  <c:v>42085</c:v>
                </c:pt>
                <c:pt idx="82">
                  <c:v>42086</c:v>
                </c:pt>
                <c:pt idx="83">
                  <c:v>42087</c:v>
                </c:pt>
                <c:pt idx="84">
                  <c:v>42088</c:v>
                </c:pt>
                <c:pt idx="85">
                  <c:v>42089</c:v>
                </c:pt>
                <c:pt idx="86">
                  <c:v>42090</c:v>
                </c:pt>
                <c:pt idx="87">
                  <c:v>42091</c:v>
                </c:pt>
                <c:pt idx="88">
                  <c:v>42092</c:v>
                </c:pt>
                <c:pt idx="89">
                  <c:v>42093</c:v>
                </c:pt>
                <c:pt idx="90">
                  <c:v>42094</c:v>
                </c:pt>
                <c:pt idx="91">
                  <c:v>42095</c:v>
                </c:pt>
                <c:pt idx="92">
                  <c:v>42096</c:v>
                </c:pt>
                <c:pt idx="93">
                  <c:v>42097</c:v>
                </c:pt>
                <c:pt idx="94">
                  <c:v>42098</c:v>
                </c:pt>
                <c:pt idx="95">
                  <c:v>42099</c:v>
                </c:pt>
                <c:pt idx="96">
                  <c:v>42100</c:v>
                </c:pt>
                <c:pt idx="97">
                  <c:v>42101</c:v>
                </c:pt>
                <c:pt idx="98">
                  <c:v>42102</c:v>
                </c:pt>
                <c:pt idx="99">
                  <c:v>42103</c:v>
                </c:pt>
                <c:pt idx="100">
                  <c:v>42104</c:v>
                </c:pt>
                <c:pt idx="101">
                  <c:v>42105</c:v>
                </c:pt>
                <c:pt idx="102">
                  <c:v>42106</c:v>
                </c:pt>
                <c:pt idx="103">
                  <c:v>42107</c:v>
                </c:pt>
                <c:pt idx="104">
                  <c:v>42108</c:v>
                </c:pt>
                <c:pt idx="105">
                  <c:v>42109</c:v>
                </c:pt>
                <c:pt idx="106">
                  <c:v>42110</c:v>
                </c:pt>
                <c:pt idx="107">
                  <c:v>42111</c:v>
                </c:pt>
                <c:pt idx="108">
                  <c:v>42112</c:v>
                </c:pt>
                <c:pt idx="109">
                  <c:v>42113</c:v>
                </c:pt>
                <c:pt idx="110">
                  <c:v>42114</c:v>
                </c:pt>
                <c:pt idx="111">
                  <c:v>42115</c:v>
                </c:pt>
                <c:pt idx="112">
                  <c:v>42116</c:v>
                </c:pt>
                <c:pt idx="113">
                  <c:v>42117</c:v>
                </c:pt>
                <c:pt idx="114">
                  <c:v>42118</c:v>
                </c:pt>
                <c:pt idx="115">
                  <c:v>42119</c:v>
                </c:pt>
                <c:pt idx="116">
                  <c:v>42120</c:v>
                </c:pt>
                <c:pt idx="117">
                  <c:v>42121</c:v>
                </c:pt>
                <c:pt idx="118">
                  <c:v>42122</c:v>
                </c:pt>
                <c:pt idx="119">
                  <c:v>42123</c:v>
                </c:pt>
                <c:pt idx="120">
                  <c:v>42124</c:v>
                </c:pt>
                <c:pt idx="121">
                  <c:v>42125</c:v>
                </c:pt>
                <c:pt idx="122">
                  <c:v>42126</c:v>
                </c:pt>
                <c:pt idx="123">
                  <c:v>42127</c:v>
                </c:pt>
                <c:pt idx="124">
                  <c:v>42128</c:v>
                </c:pt>
                <c:pt idx="125">
                  <c:v>42129</c:v>
                </c:pt>
                <c:pt idx="126">
                  <c:v>42130</c:v>
                </c:pt>
                <c:pt idx="127">
                  <c:v>42131</c:v>
                </c:pt>
                <c:pt idx="128">
                  <c:v>42132</c:v>
                </c:pt>
                <c:pt idx="129">
                  <c:v>42133</c:v>
                </c:pt>
                <c:pt idx="130">
                  <c:v>42134</c:v>
                </c:pt>
                <c:pt idx="131">
                  <c:v>42135</c:v>
                </c:pt>
                <c:pt idx="132">
                  <c:v>42136</c:v>
                </c:pt>
                <c:pt idx="133">
                  <c:v>42137</c:v>
                </c:pt>
                <c:pt idx="134">
                  <c:v>42138</c:v>
                </c:pt>
                <c:pt idx="135">
                  <c:v>42139</c:v>
                </c:pt>
                <c:pt idx="136">
                  <c:v>42140</c:v>
                </c:pt>
                <c:pt idx="137">
                  <c:v>42141</c:v>
                </c:pt>
                <c:pt idx="138">
                  <c:v>42142</c:v>
                </c:pt>
                <c:pt idx="139">
                  <c:v>42143</c:v>
                </c:pt>
                <c:pt idx="140">
                  <c:v>42144</c:v>
                </c:pt>
                <c:pt idx="141">
                  <c:v>42145</c:v>
                </c:pt>
                <c:pt idx="142">
                  <c:v>42146</c:v>
                </c:pt>
                <c:pt idx="143">
                  <c:v>42147</c:v>
                </c:pt>
                <c:pt idx="144">
                  <c:v>42148</c:v>
                </c:pt>
                <c:pt idx="145">
                  <c:v>42149</c:v>
                </c:pt>
                <c:pt idx="146">
                  <c:v>42150</c:v>
                </c:pt>
                <c:pt idx="147">
                  <c:v>42151</c:v>
                </c:pt>
                <c:pt idx="148">
                  <c:v>42152</c:v>
                </c:pt>
                <c:pt idx="149">
                  <c:v>42153</c:v>
                </c:pt>
                <c:pt idx="150">
                  <c:v>42154</c:v>
                </c:pt>
                <c:pt idx="151">
                  <c:v>42155</c:v>
                </c:pt>
                <c:pt idx="152">
                  <c:v>42156</c:v>
                </c:pt>
                <c:pt idx="153">
                  <c:v>42157</c:v>
                </c:pt>
                <c:pt idx="154">
                  <c:v>42158</c:v>
                </c:pt>
                <c:pt idx="155">
                  <c:v>42159</c:v>
                </c:pt>
                <c:pt idx="156">
                  <c:v>42160</c:v>
                </c:pt>
                <c:pt idx="157">
                  <c:v>42161</c:v>
                </c:pt>
                <c:pt idx="158">
                  <c:v>42162</c:v>
                </c:pt>
                <c:pt idx="159">
                  <c:v>42163</c:v>
                </c:pt>
                <c:pt idx="160">
                  <c:v>42164</c:v>
                </c:pt>
                <c:pt idx="161">
                  <c:v>42165</c:v>
                </c:pt>
                <c:pt idx="162">
                  <c:v>42166</c:v>
                </c:pt>
                <c:pt idx="163">
                  <c:v>42167</c:v>
                </c:pt>
                <c:pt idx="164">
                  <c:v>42168</c:v>
                </c:pt>
                <c:pt idx="165">
                  <c:v>42169</c:v>
                </c:pt>
                <c:pt idx="166">
                  <c:v>42170</c:v>
                </c:pt>
                <c:pt idx="167">
                  <c:v>42171</c:v>
                </c:pt>
                <c:pt idx="168">
                  <c:v>42172</c:v>
                </c:pt>
                <c:pt idx="169">
                  <c:v>42173</c:v>
                </c:pt>
                <c:pt idx="170">
                  <c:v>42174</c:v>
                </c:pt>
                <c:pt idx="171">
                  <c:v>42175</c:v>
                </c:pt>
                <c:pt idx="172">
                  <c:v>42176</c:v>
                </c:pt>
                <c:pt idx="173">
                  <c:v>42177</c:v>
                </c:pt>
                <c:pt idx="174">
                  <c:v>42178</c:v>
                </c:pt>
                <c:pt idx="175">
                  <c:v>42179</c:v>
                </c:pt>
                <c:pt idx="176">
                  <c:v>42180</c:v>
                </c:pt>
                <c:pt idx="177">
                  <c:v>42181</c:v>
                </c:pt>
                <c:pt idx="178">
                  <c:v>42182</c:v>
                </c:pt>
                <c:pt idx="179">
                  <c:v>42183</c:v>
                </c:pt>
                <c:pt idx="180">
                  <c:v>42184</c:v>
                </c:pt>
                <c:pt idx="181">
                  <c:v>42185</c:v>
                </c:pt>
                <c:pt idx="182">
                  <c:v>42186</c:v>
                </c:pt>
                <c:pt idx="183">
                  <c:v>42187</c:v>
                </c:pt>
                <c:pt idx="184">
                  <c:v>42188</c:v>
                </c:pt>
                <c:pt idx="185">
                  <c:v>42189</c:v>
                </c:pt>
                <c:pt idx="186">
                  <c:v>42190</c:v>
                </c:pt>
                <c:pt idx="187">
                  <c:v>42191</c:v>
                </c:pt>
                <c:pt idx="188">
                  <c:v>42192</c:v>
                </c:pt>
                <c:pt idx="189">
                  <c:v>42193</c:v>
                </c:pt>
                <c:pt idx="190">
                  <c:v>42194</c:v>
                </c:pt>
                <c:pt idx="191">
                  <c:v>42195</c:v>
                </c:pt>
                <c:pt idx="192">
                  <c:v>42196</c:v>
                </c:pt>
                <c:pt idx="193">
                  <c:v>42197</c:v>
                </c:pt>
                <c:pt idx="194">
                  <c:v>42198</c:v>
                </c:pt>
                <c:pt idx="195">
                  <c:v>42199</c:v>
                </c:pt>
                <c:pt idx="196">
                  <c:v>42200</c:v>
                </c:pt>
                <c:pt idx="197">
                  <c:v>42201</c:v>
                </c:pt>
                <c:pt idx="198">
                  <c:v>42202</c:v>
                </c:pt>
                <c:pt idx="199">
                  <c:v>42203</c:v>
                </c:pt>
                <c:pt idx="200">
                  <c:v>42204</c:v>
                </c:pt>
                <c:pt idx="201">
                  <c:v>42205</c:v>
                </c:pt>
                <c:pt idx="202">
                  <c:v>42206</c:v>
                </c:pt>
                <c:pt idx="203">
                  <c:v>42207</c:v>
                </c:pt>
                <c:pt idx="204">
                  <c:v>42208</c:v>
                </c:pt>
                <c:pt idx="205">
                  <c:v>42209</c:v>
                </c:pt>
                <c:pt idx="206">
                  <c:v>42210</c:v>
                </c:pt>
                <c:pt idx="207">
                  <c:v>42211</c:v>
                </c:pt>
                <c:pt idx="208">
                  <c:v>42212</c:v>
                </c:pt>
                <c:pt idx="209">
                  <c:v>42213</c:v>
                </c:pt>
                <c:pt idx="210">
                  <c:v>42214</c:v>
                </c:pt>
                <c:pt idx="211">
                  <c:v>42215</c:v>
                </c:pt>
                <c:pt idx="212">
                  <c:v>42216</c:v>
                </c:pt>
                <c:pt idx="213">
                  <c:v>42217</c:v>
                </c:pt>
                <c:pt idx="214">
                  <c:v>42218</c:v>
                </c:pt>
                <c:pt idx="215">
                  <c:v>42219</c:v>
                </c:pt>
                <c:pt idx="216">
                  <c:v>42220</c:v>
                </c:pt>
                <c:pt idx="217">
                  <c:v>42221</c:v>
                </c:pt>
                <c:pt idx="218">
                  <c:v>42222</c:v>
                </c:pt>
                <c:pt idx="219">
                  <c:v>42223</c:v>
                </c:pt>
                <c:pt idx="220">
                  <c:v>42224</c:v>
                </c:pt>
                <c:pt idx="221">
                  <c:v>42225</c:v>
                </c:pt>
                <c:pt idx="222">
                  <c:v>42226</c:v>
                </c:pt>
                <c:pt idx="223">
                  <c:v>42227</c:v>
                </c:pt>
                <c:pt idx="224">
                  <c:v>42228</c:v>
                </c:pt>
                <c:pt idx="225">
                  <c:v>42229</c:v>
                </c:pt>
                <c:pt idx="226">
                  <c:v>42230</c:v>
                </c:pt>
                <c:pt idx="227">
                  <c:v>42231</c:v>
                </c:pt>
                <c:pt idx="228">
                  <c:v>42232</c:v>
                </c:pt>
                <c:pt idx="229">
                  <c:v>42233</c:v>
                </c:pt>
                <c:pt idx="230">
                  <c:v>42234</c:v>
                </c:pt>
                <c:pt idx="231">
                  <c:v>42235</c:v>
                </c:pt>
                <c:pt idx="232">
                  <c:v>42236</c:v>
                </c:pt>
                <c:pt idx="233">
                  <c:v>42237</c:v>
                </c:pt>
                <c:pt idx="234">
                  <c:v>42238</c:v>
                </c:pt>
                <c:pt idx="235">
                  <c:v>42239</c:v>
                </c:pt>
                <c:pt idx="236">
                  <c:v>42240</c:v>
                </c:pt>
                <c:pt idx="237">
                  <c:v>42241</c:v>
                </c:pt>
                <c:pt idx="238">
                  <c:v>42242</c:v>
                </c:pt>
                <c:pt idx="239">
                  <c:v>42243</c:v>
                </c:pt>
                <c:pt idx="240">
                  <c:v>42244</c:v>
                </c:pt>
                <c:pt idx="241">
                  <c:v>42245</c:v>
                </c:pt>
                <c:pt idx="242">
                  <c:v>42246</c:v>
                </c:pt>
                <c:pt idx="243">
                  <c:v>42247</c:v>
                </c:pt>
                <c:pt idx="244">
                  <c:v>42248</c:v>
                </c:pt>
                <c:pt idx="245">
                  <c:v>42249</c:v>
                </c:pt>
                <c:pt idx="246">
                  <c:v>42250</c:v>
                </c:pt>
                <c:pt idx="247">
                  <c:v>42251</c:v>
                </c:pt>
                <c:pt idx="248">
                  <c:v>42252</c:v>
                </c:pt>
                <c:pt idx="249">
                  <c:v>42253</c:v>
                </c:pt>
                <c:pt idx="250">
                  <c:v>42254</c:v>
                </c:pt>
                <c:pt idx="251">
                  <c:v>42255</c:v>
                </c:pt>
                <c:pt idx="252">
                  <c:v>42256</c:v>
                </c:pt>
                <c:pt idx="253">
                  <c:v>42257</c:v>
                </c:pt>
                <c:pt idx="254">
                  <c:v>42258</c:v>
                </c:pt>
                <c:pt idx="255">
                  <c:v>42259</c:v>
                </c:pt>
                <c:pt idx="256">
                  <c:v>42260</c:v>
                </c:pt>
                <c:pt idx="257">
                  <c:v>42261</c:v>
                </c:pt>
                <c:pt idx="258">
                  <c:v>42262</c:v>
                </c:pt>
                <c:pt idx="259">
                  <c:v>42263</c:v>
                </c:pt>
                <c:pt idx="260">
                  <c:v>42264</c:v>
                </c:pt>
                <c:pt idx="261">
                  <c:v>42265</c:v>
                </c:pt>
                <c:pt idx="262">
                  <c:v>42266</c:v>
                </c:pt>
                <c:pt idx="263">
                  <c:v>42267</c:v>
                </c:pt>
                <c:pt idx="264">
                  <c:v>42268</c:v>
                </c:pt>
                <c:pt idx="265">
                  <c:v>42269</c:v>
                </c:pt>
                <c:pt idx="266">
                  <c:v>42270</c:v>
                </c:pt>
                <c:pt idx="267">
                  <c:v>42271</c:v>
                </c:pt>
                <c:pt idx="268">
                  <c:v>42272</c:v>
                </c:pt>
                <c:pt idx="269">
                  <c:v>42273</c:v>
                </c:pt>
                <c:pt idx="270">
                  <c:v>42274</c:v>
                </c:pt>
                <c:pt idx="271">
                  <c:v>42275</c:v>
                </c:pt>
                <c:pt idx="272">
                  <c:v>42276</c:v>
                </c:pt>
                <c:pt idx="273">
                  <c:v>42277</c:v>
                </c:pt>
                <c:pt idx="274">
                  <c:v>42278</c:v>
                </c:pt>
                <c:pt idx="275">
                  <c:v>42279</c:v>
                </c:pt>
                <c:pt idx="276">
                  <c:v>42280</c:v>
                </c:pt>
                <c:pt idx="277">
                  <c:v>42281</c:v>
                </c:pt>
                <c:pt idx="278">
                  <c:v>42282</c:v>
                </c:pt>
                <c:pt idx="279">
                  <c:v>42283</c:v>
                </c:pt>
                <c:pt idx="280">
                  <c:v>42284</c:v>
                </c:pt>
                <c:pt idx="281">
                  <c:v>42285</c:v>
                </c:pt>
                <c:pt idx="282">
                  <c:v>42286</c:v>
                </c:pt>
                <c:pt idx="283">
                  <c:v>42287</c:v>
                </c:pt>
                <c:pt idx="284">
                  <c:v>42288</c:v>
                </c:pt>
                <c:pt idx="285">
                  <c:v>42289</c:v>
                </c:pt>
                <c:pt idx="286">
                  <c:v>42290</c:v>
                </c:pt>
                <c:pt idx="287">
                  <c:v>42291</c:v>
                </c:pt>
                <c:pt idx="288">
                  <c:v>42292</c:v>
                </c:pt>
                <c:pt idx="289">
                  <c:v>42293</c:v>
                </c:pt>
                <c:pt idx="290">
                  <c:v>42294</c:v>
                </c:pt>
                <c:pt idx="291">
                  <c:v>42295</c:v>
                </c:pt>
                <c:pt idx="292">
                  <c:v>42296</c:v>
                </c:pt>
                <c:pt idx="293">
                  <c:v>42297</c:v>
                </c:pt>
                <c:pt idx="294">
                  <c:v>42298</c:v>
                </c:pt>
                <c:pt idx="295">
                  <c:v>42299</c:v>
                </c:pt>
                <c:pt idx="296">
                  <c:v>42300</c:v>
                </c:pt>
                <c:pt idx="297">
                  <c:v>42301</c:v>
                </c:pt>
                <c:pt idx="298">
                  <c:v>42302</c:v>
                </c:pt>
                <c:pt idx="299">
                  <c:v>42303</c:v>
                </c:pt>
                <c:pt idx="300">
                  <c:v>42304</c:v>
                </c:pt>
                <c:pt idx="301">
                  <c:v>42305</c:v>
                </c:pt>
                <c:pt idx="302">
                  <c:v>42306</c:v>
                </c:pt>
                <c:pt idx="303">
                  <c:v>42307</c:v>
                </c:pt>
                <c:pt idx="304">
                  <c:v>42308</c:v>
                </c:pt>
                <c:pt idx="305">
                  <c:v>42309</c:v>
                </c:pt>
                <c:pt idx="306">
                  <c:v>42310</c:v>
                </c:pt>
                <c:pt idx="307">
                  <c:v>42311</c:v>
                </c:pt>
                <c:pt idx="308">
                  <c:v>42312</c:v>
                </c:pt>
                <c:pt idx="309">
                  <c:v>42313</c:v>
                </c:pt>
                <c:pt idx="310">
                  <c:v>42314</c:v>
                </c:pt>
                <c:pt idx="311">
                  <c:v>42315</c:v>
                </c:pt>
                <c:pt idx="312">
                  <c:v>42316</c:v>
                </c:pt>
                <c:pt idx="313">
                  <c:v>42317</c:v>
                </c:pt>
                <c:pt idx="314">
                  <c:v>42318</c:v>
                </c:pt>
                <c:pt idx="315">
                  <c:v>42319</c:v>
                </c:pt>
                <c:pt idx="316">
                  <c:v>42320</c:v>
                </c:pt>
                <c:pt idx="317">
                  <c:v>42321</c:v>
                </c:pt>
                <c:pt idx="318">
                  <c:v>42322</c:v>
                </c:pt>
                <c:pt idx="319">
                  <c:v>42323</c:v>
                </c:pt>
                <c:pt idx="320">
                  <c:v>42324</c:v>
                </c:pt>
                <c:pt idx="321">
                  <c:v>42325</c:v>
                </c:pt>
                <c:pt idx="322">
                  <c:v>42326</c:v>
                </c:pt>
                <c:pt idx="323">
                  <c:v>42327</c:v>
                </c:pt>
                <c:pt idx="324">
                  <c:v>42328</c:v>
                </c:pt>
                <c:pt idx="325">
                  <c:v>42329</c:v>
                </c:pt>
                <c:pt idx="326">
                  <c:v>42330</c:v>
                </c:pt>
                <c:pt idx="327">
                  <c:v>42331</c:v>
                </c:pt>
                <c:pt idx="328">
                  <c:v>42332</c:v>
                </c:pt>
                <c:pt idx="329">
                  <c:v>42333</c:v>
                </c:pt>
                <c:pt idx="330">
                  <c:v>42334</c:v>
                </c:pt>
                <c:pt idx="331">
                  <c:v>42335</c:v>
                </c:pt>
                <c:pt idx="332">
                  <c:v>42336</c:v>
                </c:pt>
                <c:pt idx="333">
                  <c:v>42337</c:v>
                </c:pt>
                <c:pt idx="334">
                  <c:v>42338</c:v>
                </c:pt>
                <c:pt idx="335">
                  <c:v>42339</c:v>
                </c:pt>
                <c:pt idx="336">
                  <c:v>42340</c:v>
                </c:pt>
                <c:pt idx="337">
                  <c:v>42341</c:v>
                </c:pt>
                <c:pt idx="338">
                  <c:v>42342</c:v>
                </c:pt>
                <c:pt idx="339">
                  <c:v>42343</c:v>
                </c:pt>
                <c:pt idx="340">
                  <c:v>42344</c:v>
                </c:pt>
                <c:pt idx="341">
                  <c:v>42345</c:v>
                </c:pt>
                <c:pt idx="342">
                  <c:v>42346</c:v>
                </c:pt>
                <c:pt idx="343">
                  <c:v>42347</c:v>
                </c:pt>
                <c:pt idx="344">
                  <c:v>42348</c:v>
                </c:pt>
                <c:pt idx="345">
                  <c:v>42349</c:v>
                </c:pt>
                <c:pt idx="346">
                  <c:v>42350</c:v>
                </c:pt>
                <c:pt idx="347">
                  <c:v>42351</c:v>
                </c:pt>
                <c:pt idx="348">
                  <c:v>42352</c:v>
                </c:pt>
                <c:pt idx="349">
                  <c:v>42353</c:v>
                </c:pt>
                <c:pt idx="350">
                  <c:v>42354</c:v>
                </c:pt>
                <c:pt idx="351">
                  <c:v>42355</c:v>
                </c:pt>
                <c:pt idx="352">
                  <c:v>42356</c:v>
                </c:pt>
                <c:pt idx="353">
                  <c:v>42357</c:v>
                </c:pt>
                <c:pt idx="354">
                  <c:v>42358</c:v>
                </c:pt>
              </c:numCache>
            </c:numRef>
          </c:cat>
          <c:val>
            <c:numRef>
              <c:f>Tabelle1!$B$2:$B$8000</c:f>
              <c:numCache>
                <c:formatCode>General</c:formatCode>
                <c:ptCount val="7999"/>
                <c:pt idx="0">
                  <c:v>1</c:v>
                </c:pt>
                <c:pt idx="1">
                  <c:v>1</c:v>
                </c:pt>
                <c:pt idx="2">
                  <c:v>0.99980000000000002</c:v>
                </c:pt>
                <c:pt idx="3">
                  <c:v>0.99980000000000002</c:v>
                </c:pt>
                <c:pt idx="4">
                  <c:v>0.99980000000000002</c:v>
                </c:pt>
                <c:pt idx="5">
                  <c:v>0.99980000000000002</c:v>
                </c:pt>
                <c:pt idx="6">
                  <c:v>1.0001</c:v>
                </c:pt>
                <c:pt idx="7">
                  <c:v>0.99990000000000001</c:v>
                </c:pt>
                <c:pt idx="8">
                  <c:v>1.0004</c:v>
                </c:pt>
                <c:pt idx="9">
                  <c:v>1.0001</c:v>
                </c:pt>
                <c:pt idx="10">
                  <c:v>1.0001</c:v>
                </c:pt>
                <c:pt idx="11">
                  <c:v>1.0001</c:v>
                </c:pt>
                <c:pt idx="12">
                  <c:v>1.0003</c:v>
                </c:pt>
                <c:pt idx="13">
                  <c:v>1.0005999999999999</c:v>
                </c:pt>
                <c:pt idx="14">
                  <c:v>1.0007999999999999</c:v>
                </c:pt>
                <c:pt idx="15">
                  <c:v>1.0021</c:v>
                </c:pt>
                <c:pt idx="16">
                  <c:v>1.0014000000000001</c:v>
                </c:pt>
                <c:pt idx="17">
                  <c:v>1.0014000000000001</c:v>
                </c:pt>
                <c:pt idx="18">
                  <c:v>1.0014000000000001</c:v>
                </c:pt>
                <c:pt idx="19">
                  <c:v>1.0013000000000001</c:v>
                </c:pt>
                <c:pt idx="20">
                  <c:v>1.0015000000000001</c:v>
                </c:pt>
                <c:pt idx="21">
                  <c:v>1.0004</c:v>
                </c:pt>
                <c:pt idx="22">
                  <c:v>1.002</c:v>
                </c:pt>
                <c:pt idx="23">
                  <c:v>1.0039</c:v>
                </c:pt>
                <c:pt idx="24">
                  <c:v>1.0039</c:v>
                </c:pt>
                <c:pt idx="25">
                  <c:v>1.004</c:v>
                </c:pt>
                <c:pt idx="26">
                  <c:v>1.0038</c:v>
                </c:pt>
                <c:pt idx="27">
                  <c:v>1.0032000000000001</c:v>
                </c:pt>
                <c:pt idx="28">
                  <c:v>1.0034000000000001</c:v>
                </c:pt>
                <c:pt idx="29">
                  <c:v>1.0036</c:v>
                </c:pt>
                <c:pt idx="30">
                  <c:v>1.0039</c:v>
                </c:pt>
                <c:pt idx="31">
                  <c:v>1.0039</c:v>
                </c:pt>
                <c:pt idx="32">
                  <c:v>1.0039</c:v>
                </c:pt>
                <c:pt idx="33">
                  <c:v>1.0042</c:v>
                </c:pt>
                <c:pt idx="34">
                  <c:v>1.0038</c:v>
                </c:pt>
                <c:pt idx="35">
                  <c:v>1.0038</c:v>
                </c:pt>
                <c:pt idx="36">
                  <c:v>1.0036</c:v>
                </c:pt>
                <c:pt idx="37">
                  <c:v>1.0039</c:v>
                </c:pt>
                <c:pt idx="38">
                  <c:v>1</c:v>
                </c:pt>
                <c:pt idx="39">
                  <c:v>1</c:v>
                </c:pt>
                <c:pt idx="40">
                  <c:v>0.8</c:v>
                </c:pt>
                <c:pt idx="41">
                  <c:v>1.0033000000000001</c:v>
                </c:pt>
                <c:pt idx="42">
                  <c:v>1.0035000000000001</c:v>
                </c:pt>
                <c:pt idx="43">
                  <c:v>1.0046999999999999</c:v>
                </c:pt>
                <c:pt idx="44">
                  <c:v>1.0047999999999999</c:v>
                </c:pt>
                <c:pt idx="45">
                  <c:v>1.0048999999999999</c:v>
                </c:pt>
                <c:pt idx="46">
                  <c:v>1.0048999999999999</c:v>
                </c:pt>
                <c:pt idx="47">
                  <c:v>1.0046999999999999</c:v>
                </c:pt>
                <c:pt idx="48">
                  <c:v>1.0042</c:v>
                </c:pt>
                <c:pt idx="49">
                  <c:v>1.0044</c:v>
                </c:pt>
                <c:pt idx="50">
                  <c:v>1.0047999999999999</c:v>
                </c:pt>
                <c:pt idx="51">
                  <c:v>1.0051000000000001</c:v>
                </c:pt>
                <c:pt idx="52">
                  <c:v>1.0051000000000001</c:v>
                </c:pt>
                <c:pt idx="53">
                  <c:v>1.0052000000000001</c:v>
                </c:pt>
                <c:pt idx="54">
                  <c:v>1.0059</c:v>
                </c:pt>
                <c:pt idx="55">
                  <c:v>1.0066999999999999</c:v>
                </c:pt>
                <c:pt idx="56">
                  <c:v>1.0078</c:v>
                </c:pt>
                <c:pt idx="57">
                  <c:v>1.0099</c:v>
                </c:pt>
                <c:pt idx="58">
                  <c:v>1.0098</c:v>
                </c:pt>
                <c:pt idx="59">
                  <c:v>1.0099</c:v>
                </c:pt>
                <c:pt idx="60">
                  <c:v>1.0099</c:v>
                </c:pt>
                <c:pt idx="61">
                  <c:v>1.0093000000000001</c:v>
                </c:pt>
                <c:pt idx="62">
                  <c:v>1.008</c:v>
                </c:pt>
                <c:pt idx="63">
                  <c:v>1.0086999999999999</c:v>
                </c:pt>
                <c:pt idx="64">
                  <c:v>1.0104</c:v>
                </c:pt>
                <c:pt idx="65">
                  <c:v>1.0106999999999999</c:v>
                </c:pt>
                <c:pt idx="66">
                  <c:v>1.0106999999999999</c:v>
                </c:pt>
                <c:pt idx="67">
                  <c:v>1.0107999999999999</c:v>
                </c:pt>
                <c:pt idx="68">
                  <c:v>1.0122</c:v>
                </c:pt>
                <c:pt idx="69">
                  <c:v>1.0148999999999999</c:v>
                </c:pt>
                <c:pt idx="70">
                  <c:v>1.0181</c:v>
                </c:pt>
                <c:pt idx="71">
                  <c:v>1.0168999999999999</c:v>
                </c:pt>
                <c:pt idx="72">
                  <c:v>1.0175000000000001</c:v>
                </c:pt>
                <c:pt idx="73">
                  <c:v>1.0175000000000001</c:v>
                </c:pt>
                <c:pt idx="74">
                  <c:v>1.0176000000000001</c:v>
                </c:pt>
                <c:pt idx="75">
                  <c:v>1.0175000000000001</c:v>
                </c:pt>
                <c:pt idx="76">
                  <c:v>1.0157</c:v>
                </c:pt>
                <c:pt idx="77">
                  <c:v>1.0149999999999999</c:v>
                </c:pt>
                <c:pt idx="78">
                  <c:v>1.0158</c:v>
                </c:pt>
                <c:pt idx="79">
                  <c:v>1.016</c:v>
                </c:pt>
                <c:pt idx="80">
                  <c:v>1.016</c:v>
                </c:pt>
                <c:pt idx="81">
                  <c:v>1.0161</c:v>
                </c:pt>
                <c:pt idx="82">
                  <c:v>1.0139</c:v>
                </c:pt>
                <c:pt idx="83">
                  <c:v>1.0143</c:v>
                </c:pt>
                <c:pt idx="84">
                  <c:v>1.0136000000000001</c:v>
                </c:pt>
                <c:pt idx="85">
                  <c:v>1.0136000000000001</c:v>
                </c:pt>
                <c:pt idx="86">
                  <c:v>1.0142</c:v>
                </c:pt>
                <c:pt idx="87">
                  <c:v>1.0142</c:v>
                </c:pt>
                <c:pt idx="88">
                  <c:v>1.0143</c:v>
                </c:pt>
                <c:pt idx="89">
                  <c:v>1.016</c:v>
                </c:pt>
                <c:pt idx="90">
                  <c:v>1.0170999999999999</c:v>
                </c:pt>
                <c:pt idx="91">
                  <c:v>1.0176000000000001</c:v>
                </c:pt>
                <c:pt idx="92">
                  <c:v>1.0166999999999999</c:v>
                </c:pt>
                <c:pt idx="93">
                  <c:v>1.0163</c:v>
                </c:pt>
                <c:pt idx="94">
                  <c:v>1.0164</c:v>
                </c:pt>
                <c:pt idx="95">
                  <c:v>1.0164</c:v>
                </c:pt>
                <c:pt idx="96">
                  <c:v>1.0166999999999999</c:v>
                </c:pt>
                <c:pt idx="97">
                  <c:v>1.0185</c:v>
                </c:pt>
                <c:pt idx="98">
                  <c:v>1.0190999999999999</c:v>
                </c:pt>
                <c:pt idx="99">
                  <c:v>1.0204</c:v>
                </c:pt>
                <c:pt idx="100">
                  <c:v>1.0221</c:v>
                </c:pt>
                <c:pt idx="101">
                  <c:v>1.0221</c:v>
                </c:pt>
                <c:pt idx="102">
                  <c:v>1.0222</c:v>
                </c:pt>
                <c:pt idx="103">
                  <c:v>1.0226999999999999</c:v>
                </c:pt>
                <c:pt idx="104">
                  <c:v>1.0221</c:v>
                </c:pt>
                <c:pt idx="105">
                  <c:v>1.0233000000000001</c:v>
                </c:pt>
                <c:pt idx="106">
                  <c:v>1.0214000000000001</c:v>
                </c:pt>
                <c:pt idx="107">
                  <c:v>1.0188999999999999</c:v>
                </c:pt>
                <c:pt idx="108">
                  <c:v>1.0188999999999999</c:v>
                </c:pt>
                <c:pt idx="109">
                  <c:v>1.0189999999999999</c:v>
                </c:pt>
                <c:pt idx="110">
                  <c:v>1.0199</c:v>
                </c:pt>
                <c:pt idx="111">
                  <c:v>1.0190999999999999</c:v>
                </c:pt>
                <c:pt idx="112">
                  <c:v>1.0181</c:v>
                </c:pt>
                <c:pt idx="113">
                  <c:v>1.0170999999999999</c:v>
                </c:pt>
                <c:pt idx="114">
                  <c:v>1.0170999999999999</c:v>
                </c:pt>
                <c:pt idx="115">
                  <c:v>1.0172000000000001</c:v>
                </c:pt>
                <c:pt idx="116">
                  <c:v>1.0172000000000001</c:v>
                </c:pt>
                <c:pt idx="117">
                  <c:v>1.0182</c:v>
                </c:pt>
                <c:pt idx="118">
                  <c:v>1.0166999999999999</c:v>
                </c:pt>
                <c:pt idx="119">
                  <c:v>1.0105</c:v>
                </c:pt>
                <c:pt idx="120">
                  <c:v>1.0069999999999999</c:v>
                </c:pt>
                <c:pt idx="121">
                  <c:v>1.0068999999999999</c:v>
                </c:pt>
                <c:pt idx="122">
                  <c:v>1.0068999999999999</c:v>
                </c:pt>
                <c:pt idx="123">
                  <c:v>1.0068999999999999</c:v>
                </c:pt>
                <c:pt idx="124">
                  <c:v>1.0068999999999999</c:v>
                </c:pt>
                <c:pt idx="125">
                  <c:v>1.0027999999999999</c:v>
                </c:pt>
                <c:pt idx="126">
                  <c:v>0.99919999999999998</c:v>
                </c:pt>
                <c:pt idx="127">
                  <c:v>0.99909999999999999</c:v>
                </c:pt>
                <c:pt idx="128">
                  <c:v>1.0025999999999999</c:v>
                </c:pt>
                <c:pt idx="129">
                  <c:v>1.0026999999999999</c:v>
                </c:pt>
                <c:pt idx="130">
                  <c:v>1.0026999999999999</c:v>
                </c:pt>
                <c:pt idx="131">
                  <c:v>1.0024</c:v>
                </c:pt>
                <c:pt idx="132">
                  <c:v>0.99970000000000003</c:v>
                </c:pt>
                <c:pt idx="133">
                  <c:v>0.99850000000000005</c:v>
                </c:pt>
                <c:pt idx="134">
                  <c:v>0.99850000000000005</c:v>
                </c:pt>
                <c:pt idx="135">
                  <c:v>0.99880000000000002</c:v>
                </c:pt>
                <c:pt idx="136">
                  <c:v>0.99880000000000002</c:v>
                </c:pt>
                <c:pt idx="137">
                  <c:v>0.99890000000000001</c:v>
                </c:pt>
                <c:pt idx="138">
                  <c:v>1.0002</c:v>
                </c:pt>
                <c:pt idx="139">
                  <c:v>1.0034000000000001</c:v>
                </c:pt>
                <c:pt idx="140">
                  <c:v>1.0035000000000001</c:v>
                </c:pt>
                <c:pt idx="141">
                  <c:v>1.0041</c:v>
                </c:pt>
                <c:pt idx="142">
                  <c:v>1.0048999999999999</c:v>
                </c:pt>
                <c:pt idx="143">
                  <c:v>1.0049999999999999</c:v>
                </c:pt>
                <c:pt idx="144">
                  <c:v>1.0049999999999999</c:v>
                </c:pt>
                <c:pt idx="145">
                  <c:v>1.0047999999999999</c:v>
                </c:pt>
                <c:pt idx="146">
                  <c:v>1.0051000000000001</c:v>
                </c:pt>
                <c:pt idx="147">
                  <c:v>1.0056</c:v>
                </c:pt>
                <c:pt idx="148">
                  <c:v>1.0041</c:v>
                </c:pt>
                <c:pt idx="149">
                  <c:v>1.0029999999999999</c:v>
                </c:pt>
                <c:pt idx="150">
                  <c:v>1.0031000000000001</c:v>
                </c:pt>
                <c:pt idx="151">
                  <c:v>1.0031000000000001</c:v>
                </c:pt>
                <c:pt idx="152">
                  <c:v>1.0031000000000001</c:v>
                </c:pt>
                <c:pt idx="153">
                  <c:v>0.99839999999999995</c:v>
                </c:pt>
                <c:pt idx="154">
                  <c:v>0.99509999999999998</c:v>
                </c:pt>
                <c:pt idx="155">
                  <c:v>0.99409999999999998</c:v>
                </c:pt>
                <c:pt idx="156">
                  <c:v>0.99450000000000005</c:v>
                </c:pt>
                <c:pt idx="157">
                  <c:v>0.99460000000000004</c:v>
                </c:pt>
                <c:pt idx="158">
                  <c:v>0.99460000000000004</c:v>
                </c:pt>
                <c:pt idx="159">
                  <c:v>0.99270000000000003</c:v>
                </c:pt>
                <c:pt idx="160">
                  <c:v>0.99050000000000005</c:v>
                </c:pt>
                <c:pt idx="161">
                  <c:v>0.99060000000000004</c:v>
                </c:pt>
                <c:pt idx="162">
                  <c:v>0.99309999999999998</c:v>
                </c:pt>
                <c:pt idx="163">
                  <c:v>0.99209999999999998</c:v>
                </c:pt>
                <c:pt idx="164">
                  <c:v>0.99219999999999997</c:v>
                </c:pt>
                <c:pt idx="165">
                  <c:v>0.99219999999999997</c:v>
                </c:pt>
                <c:pt idx="166">
                  <c:v>0.99060000000000004</c:v>
                </c:pt>
                <c:pt idx="167">
                  <c:v>0.99009999999999998</c:v>
                </c:pt>
                <c:pt idx="168">
                  <c:v>0.98950000000000005</c:v>
                </c:pt>
                <c:pt idx="169">
                  <c:v>0.98870000000000002</c:v>
                </c:pt>
                <c:pt idx="170">
                  <c:v>0.98919999999999997</c:v>
                </c:pt>
                <c:pt idx="171">
                  <c:v>0.98929999999999996</c:v>
                </c:pt>
                <c:pt idx="172">
                  <c:v>0.98929999999999996</c:v>
                </c:pt>
                <c:pt idx="173">
                  <c:v>0.99180000000000001</c:v>
                </c:pt>
                <c:pt idx="174">
                  <c:v>0.99419999999999997</c:v>
                </c:pt>
                <c:pt idx="175">
                  <c:v>0.99360000000000004</c:v>
                </c:pt>
                <c:pt idx="176">
                  <c:v>0.99280000000000002</c:v>
                </c:pt>
                <c:pt idx="177">
                  <c:v>0.99229999999999996</c:v>
                </c:pt>
                <c:pt idx="178">
                  <c:v>0.99239999999999995</c:v>
                </c:pt>
                <c:pt idx="179">
                  <c:v>0.99239999999999995</c:v>
                </c:pt>
                <c:pt idx="180">
                  <c:v>0.98799999999999999</c:v>
                </c:pt>
                <c:pt idx="181">
                  <c:v>0.98870000000000002</c:v>
                </c:pt>
                <c:pt idx="182">
                  <c:v>0.99039999999999995</c:v>
                </c:pt>
                <c:pt idx="183">
                  <c:v>0.99029999999999996</c:v>
                </c:pt>
                <c:pt idx="184">
                  <c:v>0.99070000000000003</c:v>
                </c:pt>
                <c:pt idx="185">
                  <c:v>0.99070000000000003</c:v>
                </c:pt>
                <c:pt idx="186">
                  <c:v>0.99080000000000001</c:v>
                </c:pt>
                <c:pt idx="187">
                  <c:v>0.98919999999999997</c:v>
                </c:pt>
                <c:pt idx="188">
                  <c:v>0.99</c:v>
                </c:pt>
                <c:pt idx="189">
                  <c:v>0.98839999999999995</c:v>
                </c:pt>
                <c:pt idx="190">
                  <c:v>0.98939999999999995</c:v>
                </c:pt>
                <c:pt idx="191">
                  <c:v>0.98909999999999998</c:v>
                </c:pt>
                <c:pt idx="192">
                  <c:v>0.98909999999999998</c:v>
                </c:pt>
                <c:pt idx="193">
                  <c:v>0.98909999999999998</c:v>
                </c:pt>
                <c:pt idx="194">
                  <c:v>0.9919</c:v>
                </c:pt>
                <c:pt idx="195">
                  <c:v>0.99299999999999999</c:v>
                </c:pt>
                <c:pt idx="196">
                  <c:v>0.99519999999999997</c:v>
                </c:pt>
                <c:pt idx="197">
                  <c:v>0.99739999999999995</c:v>
                </c:pt>
                <c:pt idx="198">
                  <c:v>0.99890000000000001</c:v>
                </c:pt>
                <c:pt idx="199">
                  <c:v>0.99890000000000001</c:v>
                </c:pt>
                <c:pt idx="200">
                  <c:v>0.999</c:v>
                </c:pt>
                <c:pt idx="201">
                  <c:v>0.99990000000000001</c:v>
                </c:pt>
                <c:pt idx="202">
                  <c:v>0.99850000000000005</c:v>
                </c:pt>
                <c:pt idx="203">
                  <c:v>0.99839999999999995</c:v>
                </c:pt>
                <c:pt idx="204">
                  <c:v>0.998</c:v>
                </c:pt>
                <c:pt idx="205">
                  <c:v>0.99750000000000005</c:v>
                </c:pt>
                <c:pt idx="206">
                  <c:v>0.99760000000000004</c:v>
                </c:pt>
                <c:pt idx="207">
                  <c:v>0.99760000000000004</c:v>
                </c:pt>
                <c:pt idx="208">
                  <c:v>0.99450000000000005</c:v>
                </c:pt>
                <c:pt idx="209">
                  <c:v>0.99560000000000004</c:v>
                </c:pt>
                <c:pt idx="210">
                  <c:v>0.99660000000000004</c:v>
                </c:pt>
                <c:pt idx="211">
                  <c:v>0.99829999999999997</c:v>
                </c:pt>
                <c:pt idx="212">
                  <c:v>0.99850000000000005</c:v>
                </c:pt>
                <c:pt idx="213">
                  <c:v>0.99850000000000005</c:v>
                </c:pt>
                <c:pt idx="214">
                  <c:v>0.99850000000000005</c:v>
                </c:pt>
                <c:pt idx="215">
                  <c:v>1.0008999999999999</c:v>
                </c:pt>
                <c:pt idx="216">
                  <c:v>1.0012000000000001</c:v>
                </c:pt>
                <c:pt idx="217">
                  <c:v>1.0019</c:v>
                </c:pt>
                <c:pt idx="218">
                  <c:v>1.0019</c:v>
                </c:pt>
                <c:pt idx="219">
                  <c:v>1.0011000000000001</c:v>
                </c:pt>
                <c:pt idx="220">
                  <c:v>1.0012000000000001</c:v>
                </c:pt>
                <c:pt idx="221">
                  <c:v>1.0012000000000001</c:v>
                </c:pt>
                <c:pt idx="222">
                  <c:v>1.0024</c:v>
                </c:pt>
                <c:pt idx="223">
                  <c:v>0.99870000000000003</c:v>
                </c:pt>
                <c:pt idx="224">
                  <c:v>0.99329999999999996</c:v>
                </c:pt>
                <c:pt idx="225">
                  <c:v>0.99199999999999999</c:v>
                </c:pt>
                <c:pt idx="226">
                  <c:v>0.99119999999999997</c:v>
                </c:pt>
                <c:pt idx="227">
                  <c:v>0.99119999999999997</c:v>
                </c:pt>
                <c:pt idx="228">
                  <c:v>0.99129999999999996</c:v>
                </c:pt>
                <c:pt idx="229">
                  <c:v>0.99150000000000005</c:v>
                </c:pt>
                <c:pt idx="230">
                  <c:v>0.99119999999999997</c:v>
                </c:pt>
                <c:pt idx="231">
                  <c:v>0.98650000000000004</c:v>
                </c:pt>
                <c:pt idx="232">
                  <c:v>0.98160000000000003</c:v>
                </c:pt>
                <c:pt idx="233">
                  <c:v>0.9748</c:v>
                </c:pt>
                <c:pt idx="234">
                  <c:v>0.97489999999999999</c:v>
                </c:pt>
                <c:pt idx="235">
                  <c:v>0.97489999999999999</c:v>
                </c:pt>
                <c:pt idx="236">
                  <c:v>0.96419999999999995</c:v>
                </c:pt>
                <c:pt idx="237">
                  <c:v>0.97060000000000002</c:v>
                </c:pt>
                <c:pt idx="238">
                  <c:v>0.96940000000000004</c:v>
                </c:pt>
                <c:pt idx="239">
                  <c:v>0.97599999999999998</c:v>
                </c:pt>
                <c:pt idx="240">
                  <c:v>0.9768</c:v>
                </c:pt>
                <c:pt idx="241">
                  <c:v>0.9768</c:v>
                </c:pt>
                <c:pt idx="242">
                  <c:v>0.9768</c:v>
                </c:pt>
                <c:pt idx="243">
                  <c:v>0.97499999999999998</c:v>
                </c:pt>
                <c:pt idx="244">
                  <c:v>0.97009999999999996</c:v>
                </c:pt>
                <c:pt idx="245">
                  <c:v>0.97070000000000001</c:v>
                </c:pt>
                <c:pt idx="246">
                  <c:v>0.97599999999999998</c:v>
                </c:pt>
                <c:pt idx="247">
                  <c:v>0.97160000000000002</c:v>
                </c:pt>
                <c:pt idx="248">
                  <c:v>0.97170000000000001</c:v>
                </c:pt>
                <c:pt idx="249">
                  <c:v>0.97170000000000001</c:v>
                </c:pt>
                <c:pt idx="250">
                  <c:v>0.9728</c:v>
                </c:pt>
                <c:pt idx="251">
                  <c:v>0.97519999999999996</c:v>
                </c:pt>
                <c:pt idx="252">
                  <c:v>0.97640000000000005</c:v>
                </c:pt>
                <c:pt idx="253">
                  <c:v>0.97419999999999995</c:v>
                </c:pt>
                <c:pt idx="254">
                  <c:v>0.97270000000000001</c:v>
                </c:pt>
                <c:pt idx="255">
                  <c:v>0.97270000000000001</c:v>
                </c:pt>
                <c:pt idx="256">
                  <c:v>0.9728</c:v>
                </c:pt>
                <c:pt idx="257">
                  <c:v>0.97289999999999999</c:v>
                </c:pt>
                <c:pt idx="258">
                  <c:v>0.97299999999999998</c:v>
                </c:pt>
                <c:pt idx="259">
                  <c:v>0.9738</c:v>
                </c:pt>
                <c:pt idx="260">
                  <c:v>0.97299999999999998</c:v>
                </c:pt>
                <c:pt idx="261">
                  <c:v>0.96789999999999998</c:v>
                </c:pt>
                <c:pt idx="262">
                  <c:v>0.96799999999999997</c:v>
                </c:pt>
                <c:pt idx="263">
                  <c:v>0.96799999999999997</c:v>
                </c:pt>
                <c:pt idx="264">
                  <c:v>0.96930000000000005</c:v>
                </c:pt>
                <c:pt idx="265">
                  <c:v>0.96089999999999998</c:v>
                </c:pt>
                <c:pt idx="266">
                  <c:v>0.96099999999999997</c:v>
                </c:pt>
                <c:pt idx="267">
                  <c:v>0.95609999999999995</c:v>
                </c:pt>
                <c:pt idx="268">
                  <c:v>0.96009999999999995</c:v>
                </c:pt>
                <c:pt idx="269">
                  <c:v>0.96020000000000005</c:v>
                </c:pt>
                <c:pt idx="270">
                  <c:v>0.96020000000000005</c:v>
                </c:pt>
                <c:pt idx="271">
                  <c:v>0.95389999999999997</c:v>
                </c:pt>
                <c:pt idx="272">
                  <c:v>0.95099999999999996</c:v>
                </c:pt>
                <c:pt idx="273">
                  <c:v>0.95640000000000003</c:v>
                </c:pt>
                <c:pt idx="274">
                  <c:v>0.95509999999999995</c:v>
                </c:pt>
                <c:pt idx="275">
                  <c:v>0.95660000000000001</c:v>
                </c:pt>
                <c:pt idx="276">
                  <c:v>0.95660000000000001</c:v>
                </c:pt>
                <c:pt idx="277" formatCode="0%">
                  <c:v>0.95660000000000001</c:v>
                </c:pt>
                <c:pt idx="278" formatCode="0%">
                  <c:v>0.96319999999999995</c:v>
                </c:pt>
                <c:pt idx="279" formatCode="0%">
                  <c:v>0.96579999999999999</c:v>
                </c:pt>
                <c:pt idx="280" formatCode="0%">
                  <c:v>0.96840000000000004</c:v>
                </c:pt>
                <c:pt idx="281" formatCode="0%">
                  <c:v>0.96830000000000005</c:v>
                </c:pt>
                <c:pt idx="282" formatCode="0%">
                  <c:v>0.97050000000000003</c:v>
                </c:pt>
                <c:pt idx="283" formatCode="0%">
                  <c:v>0.97050000000000003</c:v>
                </c:pt>
                <c:pt idx="284" formatCode="0%">
                  <c:v>0.97060000000000002</c:v>
                </c:pt>
                <c:pt idx="285" formatCode="0%">
                  <c:v>0.97119999999999995</c:v>
                </c:pt>
                <c:pt idx="286" formatCode="0%">
                  <c:v>0.96850000000000003</c:v>
                </c:pt>
                <c:pt idx="287" formatCode="0%">
                  <c:v>0.96619999999999995</c:v>
                </c:pt>
                <c:pt idx="288" formatCode="0%">
                  <c:v>0.96960000000000002</c:v>
                </c:pt>
                <c:pt idx="289" formatCode="0%">
                  <c:v>0.97089999999999999</c:v>
                </c:pt>
                <c:pt idx="290" formatCode="0%">
                  <c:v>0.97089999999999999</c:v>
                </c:pt>
                <c:pt idx="291" formatCode="0%">
                  <c:v>0.97099999999999997</c:v>
                </c:pt>
                <c:pt idx="292" formatCode="0%">
                  <c:v>0.97170000000000001</c:v>
                </c:pt>
                <c:pt idx="293" formatCode="0%">
                  <c:v>0.97030000000000005</c:v>
                </c:pt>
                <c:pt idx="294" formatCode="0%">
                  <c:v>0.97250000000000003</c:v>
                </c:pt>
                <c:pt idx="295" formatCode="0%">
                  <c:v>0.98229999999999995</c:v>
                </c:pt>
                <c:pt idx="296" formatCode="0%">
                  <c:v>0.99109999999999998</c:v>
                </c:pt>
                <c:pt idx="297" formatCode="0%">
                  <c:v>0.99109999999999998</c:v>
                </c:pt>
                <c:pt idx="298" formatCode="0%">
                  <c:v>0.99119999999999997</c:v>
                </c:pt>
                <c:pt idx="299" formatCode="0%">
                  <c:v>0.99109999999999998</c:v>
                </c:pt>
                <c:pt idx="300" formatCode="0%">
                  <c:v>0.98899999999999999</c:v>
                </c:pt>
                <c:pt idx="301" formatCode="0%">
                  <c:v>0.99380000000000002</c:v>
                </c:pt>
                <c:pt idx="302" formatCode="0%">
                  <c:v>0.99260000000000004</c:v>
                </c:pt>
                <c:pt idx="303" formatCode="0%">
                  <c:v>0.9919</c:v>
                </c:pt>
                <c:pt idx="304" formatCode="0%">
                  <c:v>0.99199999999999999</c:v>
                </c:pt>
                <c:pt idx="305" formatCode="0%">
                  <c:v>0.99199999999999999</c:v>
                </c:pt>
                <c:pt idx="306" formatCode="0%">
                  <c:v>0.99370000000000003</c:v>
                </c:pt>
                <c:pt idx="307" formatCode="0%">
                  <c:v>0.99529999999999996</c:v>
                </c:pt>
                <c:pt idx="308" formatCode="0%">
                  <c:v>0.99470000000000003</c:v>
                </c:pt>
                <c:pt idx="309" formatCode="0%">
                  <c:v>0.99480000000000002</c:v>
                </c:pt>
                <c:pt idx="310" formatCode="0%">
                  <c:v>0.99639999999999995</c:v>
                </c:pt>
                <c:pt idx="311" formatCode="0%">
                  <c:v>0.99639999999999995</c:v>
                </c:pt>
                <c:pt idx="312" formatCode="0%">
                  <c:v>0.99639999999999995</c:v>
                </c:pt>
                <c:pt idx="313" formatCode="0%">
                  <c:v>0.99250000000000005</c:v>
                </c:pt>
                <c:pt idx="314" formatCode="0%">
                  <c:v>0.99370000000000003</c:v>
                </c:pt>
                <c:pt idx="315" formatCode="0%">
                  <c:v>0.99429999999999996</c:v>
                </c:pt>
                <c:pt idx="316" formatCode="0%">
                  <c:v>0.9899</c:v>
                </c:pt>
                <c:pt idx="317" formatCode="0%">
                  <c:v>0.9879</c:v>
                </c:pt>
                <c:pt idx="318" formatCode="0%">
                  <c:v>0.9879</c:v>
                </c:pt>
                <c:pt idx="319" formatCode="0%">
                  <c:v>0.98799999999999999</c:v>
                </c:pt>
                <c:pt idx="320" formatCode="0%">
                  <c:v>0.9899</c:v>
                </c:pt>
                <c:pt idx="321" formatCode="0%">
                  <c:v>0.99629999999999996</c:v>
                </c:pt>
                <c:pt idx="322" formatCode="0%">
                  <c:v>0.99719999999999998</c:v>
                </c:pt>
                <c:pt idx="323" formatCode="0%">
                  <c:v>0.99909999999999999</c:v>
                </c:pt>
                <c:pt idx="324" formatCode="0%">
                  <c:v>1.0003</c:v>
                </c:pt>
                <c:pt idx="325" formatCode="0%">
                  <c:v>1.0004</c:v>
                </c:pt>
                <c:pt idx="326" formatCode="0%">
                  <c:v>1.0004</c:v>
                </c:pt>
                <c:pt idx="327" formatCode="0%">
                  <c:v>1.0003</c:v>
                </c:pt>
                <c:pt idx="328" formatCode="0%">
                  <c:v>0.99770000000000003</c:v>
                </c:pt>
                <c:pt idx="329" formatCode="0%">
                  <c:v>1.0029999999999999</c:v>
                </c:pt>
                <c:pt idx="330" formatCode="0%">
                  <c:v>1.0057</c:v>
                </c:pt>
                <c:pt idx="331" formatCode="0%">
                  <c:v>1.0057</c:v>
                </c:pt>
                <c:pt idx="332" formatCode="0%">
                  <c:v>1.0058</c:v>
                </c:pt>
                <c:pt idx="333" formatCode="0%">
                  <c:v>1.0058</c:v>
                </c:pt>
                <c:pt idx="334" formatCode="0%">
                  <c:v>1.0076000000000001</c:v>
                </c:pt>
                <c:pt idx="335" formatCode="0%">
                  <c:v>1.0039</c:v>
                </c:pt>
                <c:pt idx="336" formatCode="0%">
                  <c:v>1.0029999999999999</c:v>
                </c:pt>
                <c:pt idx="337" formatCode="0%">
                  <c:v>0.99129999999999996</c:v>
                </c:pt>
                <c:pt idx="338" formatCode="0%">
                  <c:v>0.9889</c:v>
                </c:pt>
                <c:pt idx="339" formatCode="0%">
                  <c:v>0.9889</c:v>
                </c:pt>
                <c:pt idx="340" formatCode="0%">
                  <c:v>0.9889</c:v>
                </c:pt>
                <c:pt idx="341" formatCode="0%">
                  <c:v>0.99170000000000003</c:v>
                </c:pt>
                <c:pt idx="342" formatCode="0%">
                  <c:v>0.98680000000000001</c:v>
                </c:pt>
                <c:pt idx="343" formatCode="0%">
                  <c:v>0.98429999999999995</c:v>
                </c:pt>
                <c:pt idx="344" formatCode="0%">
                  <c:v>0.9849</c:v>
                </c:pt>
                <c:pt idx="345" formatCode="0%">
                  <c:v>0.97799999999999998</c:v>
                </c:pt>
                <c:pt idx="346" formatCode="0%">
                  <c:v>0.97799999999999998</c:v>
                </c:pt>
                <c:pt idx="347" formatCode="0%">
                  <c:v>0.97809999999999997</c:v>
                </c:pt>
                <c:pt idx="348" formatCode="0%">
                  <c:v>0.97270000000000001</c:v>
                </c:pt>
                <c:pt idx="349" formatCode="0%">
                  <c:v>0.97870000000000001</c:v>
                </c:pt>
                <c:pt idx="350" formatCode="0%">
                  <c:v>0.98050000000000004</c:v>
                </c:pt>
                <c:pt idx="351" formatCode="0%">
                  <c:v>0.98619999999999997</c:v>
                </c:pt>
                <c:pt idx="352" formatCode="0%">
                  <c:v>0.98350000000000004</c:v>
                </c:pt>
                <c:pt idx="353" formatCode="0%">
                  <c:v>0.98360000000000003</c:v>
                </c:pt>
                <c:pt idx="354" formatCode="0%">
                  <c:v>0.98360000000000003</c:v>
                </c:pt>
              </c:numCache>
            </c:numRef>
          </c:val>
          <c:smooth val="0"/>
          <c:extLst>
            <c:ext xmlns:c16="http://schemas.microsoft.com/office/drawing/2014/chart" uri="{C3380CC4-5D6E-409C-BE32-E72D297353CC}">
              <c16:uniqueId val="{00000000-667D-4B47-A104-311D517F7B75}"/>
            </c:ext>
          </c:extLst>
        </c:ser>
        <c:ser>
          <c:idx val="1"/>
          <c:order val="1"/>
          <c:tx>
            <c:strRef>
              <c:f>Tabelle1!$C$1</c:f>
              <c:strCache>
                <c:ptCount val="1"/>
                <c:pt idx="0">
                  <c:v>Benchmark</c:v>
                </c:pt>
              </c:strCache>
            </c:strRef>
          </c:tx>
          <c:spPr>
            <a:ln w="28575" cap="rnd">
              <a:solidFill>
                <a:schemeClr val="accent5"/>
              </a:solidFill>
              <a:round/>
            </a:ln>
            <a:effectLst/>
          </c:spPr>
          <c:marker>
            <c:symbol val="none"/>
          </c:marker>
          <c:cat>
            <c:numRef>
              <c:f>Tabelle1!$A$2:$A$8000</c:f>
              <c:numCache>
                <c:formatCode>m/d/yyyy</c:formatCode>
                <c:ptCount val="7999"/>
                <c:pt idx="0">
                  <c:v>42004</c:v>
                </c:pt>
                <c:pt idx="1">
                  <c:v>42005</c:v>
                </c:pt>
                <c:pt idx="2">
                  <c:v>42006</c:v>
                </c:pt>
                <c:pt idx="3">
                  <c:v>42007</c:v>
                </c:pt>
                <c:pt idx="4">
                  <c:v>42008</c:v>
                </c:pt>
                <c:pt idx="5">
                  <c:v>42009</c:v>
                </c:pt>
                <c:pt idx="6">
                  <c:v>42010</c:v>
                </c:pt>
                <c:pt idx="7">
                  <c:v>42011</c:v>
                </c:pt>
                <c:pt idx="8">
                  <c:v>42012</c:v>
                </c:pt>
                <c:pt idx="9">
                  <c:v>42013</c:v>
                </c:pt>
                <c:pt idx="10">
                  <c:v>42014</c:v>
                </c:pt>
                <c:pt idx="11">
                  <c:v>42015</c:v>
                </c:pt>
                <c:pt idx="12">
                  <c:v>42016</c:v>
                </c:pt>
                <c:pt idx="13">
                  <c:v>42017</c:v>
                </c:pt>
                <c:pt idx="14">
                  <c:v>42018</c:v>
                </c:pt>
                <c:pt idx="15">
                  <c:v>42019</c:v>
                </c:pt>
                <c:pt idx="16">
                  <c:v>42020</c:v>
                </c:pt>
                <c:pt idx="17">
                  <c:v>42021</c:v>
                </c:pt>
                <c:pt idx="18">
                  <c:v>42022</c:v>
                </c:pt>
                <c:pt idx="19">
                  <c:v>42023</c:v>
                </c:pt>
                <c:pt idx="20">
                  <c:v>42024</c:v>
                </c:pt>
                <c:pt idx="21">
                  <c:v>42025</c:v>
                </c:pt>
                <c:pt idx="22">
                  <c:v>42026</c:v>
                </c:pt>
                <c:pt idx="23">
                  <c:v>42027</c:v>
                </c:pt>
                <c:pt idx="24">
                  <c:v>42028</c:v>
                </c:pt>
                <c:pt idx="25">
                  <c:v>42029</c:v>
                </c:pt>
                <c:pt idx="26">
                  <c:v>42030</c:v>
                </c:pt>
                <c:pt idx="27">
                  <c:v>42031</c:v>
                </c:pt>
                <c:pt idx="28">
                  <c:v>42032</c:v>
                </c:pt>
                <c:pt idx="29">
                  <c:v>42033</c:v>
                </c:pt>
                <c:pt idx="30">
                  <c:v>42034</c:v>
                </c:pt>
                <c:pt idx="31">
                  <c:v>42035</c:v>
                </c:pt>
                <c:pt idx="32">
                  <c:v>42036</c:v>
                </c:pt>
                <c:pt idx="33">
                  <c:v>42037</c:v>
                </c:pt>
                <c:pt idx="34">
                  <c:v>42038</c:v>
                </c:pt>
                <c:pt idx="35">
                  <c:v>42039</c:v>
                </c:pt>
                <c:pt idx="36">
                  <c:v>42040</c:v>
                </c:pt>
                <c:pt idx="37">
                  <c:v>42041</c:v>
                </c:pt>
                <c:pt idx="38">
                  <c:v>42042</c:v>
                </c:pt>
                <c:pt idx="39">
                  <c:v>42043</c:v>
                </c:pt>
                <c:pt idx="40">
                  <c:v>42044</c:v>
                </c:pt>
                <c:pt idx="41">
                  <c:v>42045</c:v>
                </c:pt>
                <c:pt idx="42">
                  <c:v>42046</c:v>
                </c:pt>
                <c:pt idx="43">
                  <c:v>42047</c:v>
                </c:pt>
                <c:pt idx="44">
                  <c:v>42048</c:v>
                </c:pt>
                <c:pt idx="45">
                  <c:v>42049</c:v>
                </c:pt>
                <c:pt idx="46">
                  <c:v>42050</c:v>
                </c:pt>
                <c:pt idx="47">
                  <c:v>42051</c:v>
                </c:pt>
                <c:pt idx="48">
                  <c:v>42052</c:v>
                </c:pt>
                <c:pt idx="49">
                  <c:v>42053</c:v>
                </c:pt>
                <c:pt idx="50">
                  <c:v>42054</c:v>
                </c:pt>
                <c:pt idx="51">
                  <c:v>42055</c:v>
                </c:pt>
                <c:pt idx="52">
                  <c:v>42056</c:v>
                </c:pt>
                <c:pt idx="53">
                  <c:v>42057</c:v>
                </c:pt>
                <c:pt idx="54">
                  <c:v>42058</c:v>
                </c:pt>
                <c:pt idx="55">
                  <c:v>42059</c:v>
                </c:pt>
                <c:pt idx="56">
                  <c:v>42060</c:v>
                </c:pt>
                <c:pt idx="57">
                  <c:v>42061</c:v>
                </c:pt>
                <c:pt idx="58">
                  <c:v>42062</c:v>
                </c:pt>
                <c:pt idx="59">
                  <c:v>42063</c:v>
                </c:pt>
                <c:pt idx="60">
                  <c:v>42064</c:v>
                </c:pt>
                <c:pt idx="61">
                  <c:v>42065</c:v>
                </c:pt>
                <c:pt idx="62">
                  <c:v>42066</c:v>
                </c:pt>
                <c:pt idx="63">
                  <c:v>42067</c:v>
                </c:pt>
                <c:pt idx="64">
                  <c:v>42068</c:v>
                </c:pt>
                <c:pt idx="65">
                  <c:v>42069</c:v>
                </c:pt>
                <c:pt idx="66">
                  <c:v>42070</c:v>
                </c:pt>
                <c:pt idx="67">
                  <c:v>42071</c:v>
                </c:pt>
                <c:pt idx="68">
                  <c:v>42072</c:v>
                </c:pt>
                <c:pt idx="69">
                  <c:v>42073</c:v>
                </c:pt>
                <c:pt idx="70">
                  <c:v>42074</c:v>
                </c:pt>
                <c:pt idx="71">
                  <c:v>42075</c:v>
                </c:pt>
                <c:pt idx="72">
                  <c:v>42076</c:v>
                </c:pt>
                <c:pt idx="73">
                  <c:v>42077</c:v>
                </c:pt>
                <c:pt idx="74">
                  <c:v>42078</c:v>
                </c:pt>
                <c:pt idx="75">
                  <c:v>42079</c:v>
                </c:pt>
                <c:pt idx="76">
                  <c:v>42080</c:v>
                </c:pt>
                <c:pt idx="77">
                  <c:v>42081</c:v>
                </c:pt>
                <c:pt idx="78">
                  <c:v>42082</c:v>
                </c:pt>
                <c:pt idx="79">
                  <c:v>42083</c:v>
                </c:pt>
                <c:pt idx="80">
                  <c:v>42084</c:v>
                </c:pt>
                <c:pt idx="81">
                  <c:v>42085</c:v>
                </c:pt>
                <c:pt idx="82">
                  <c:v>42086</c:v>
                </c:pt>
                <c:pt idx="83">
                  <c:v>42087</c:v>
                </c:pt>
                <c:pt idx="84">
                  <c:v>42088</c:v>
                </c:pt>
                <c:pt idx="85">
                  <c:v>42089</c:v>
                </c:pt>
                <c:pt idx="86">
                  <c:v>42090</c:v>
                </c:pt>
                <c:pt idx="87">
                  <c:v>42091</c:v>
                </c:pt>
                <c:pt idx="88">
                  <c:v>42092</c:v>
                </c:pt>
                <c:pt idx="89">
                  <c:v>42093</c:v>
                </c:pt>
                <c:pt idx="90">
                  <c:v>42094</c:v>
                </c:pt>
                <c:pt idx="91">
                  <c:v>42095</c:v>
                </c:pt>
                <c:pt idx="92">
                  <c:v>42096</c:v>
                </c:pt>
                <c:pt idx="93">
                  <c:v>42097</c:v>
                </c:pt>
                <c:pt idx="94">
                  <c:v>42098</c:v>
                </c:pt>
                <c:pt idx="95">
                  <c:v>42099</c:v>
                </c:pt>
                <c:pt idx="96">
                  <c:v>42100</c:v>
                </c:pt>
                <c:pt idx="97">
                  <c:v>42101</c:v>
                </c:pt>
                <c:pt idx="98">
                  <c:v>42102</c:v>
                </c:pt>
                <c:pt idx="99">
                  <c:v>42103</c:v>
                </c:pt>
                <c:pt idx="100">
                  <c:v>42104</c:v>
                </c:pt>
                <c:pt idx="101">
                  <c:v>42105</c:v>
                </c:pt>
                <c:pt idx="102">
                  <c:v>42106</c:v>
                </c:pt>
                <c:pt idx="103">
                  <c:v>42107</c:v>
                </c:pt>
                <c:pt idx="104">
                  <c:v>42108</c:v>
                </c:pt>
                <c:pt idx="105">
                  <c:v>42109</c:v>
                </c:pt>
                <c:pt idx="106">
                  <c:v>42110</c:v>
                </c:pt>
                <c:pt idx="107">
                  <c:v>42111</c:v>
                </c:pt>
                <c:pt idx="108">
                  <c:v>42112</c:v>
                </c:pt>
                <c:pt idx="109">
                  <c:v>42113</c:v>
                </c:pt>
                <c:pt idx="110">
                  <c:v>42114</c:v>
                </c:pt>
                <c:pt idx="111">
                  <c:v>42115</c:v>
                </c:pt>
                <c:pt idx="112">
                  <c:v>42116</c:v>
                </c:pt>
                <c:pt idx="113">
                  <c:v>42117</c:v>
                </c:pt>
                <c:pt idx="114">
                  <c:v>42118</c:v>
                </c:pt>
                <c:pt idx="115">
                  <c:v>42119</c:v>
                </c:pt>
                <c:pt idx="116">
                  <c:v>42120</c:v>
                </c:pt>
                <c:pt idx="117">
                  <c:v>42121</c:v>
                </c:pt>
                <c:pt idx="118">
                  <c:v>42122</c:v>
                </c:pt>
                <c:pt idx="119">
                  <c:v>42123</c:v>
                </c:pt>
                <c:pt idx="120">
                  <c:v>42124</c:v>
                </c:pt>
                <c:pt idx="121">
                  <c:v>42125</c:v>
                </c:pt>
                <c:pt idx="122">
                  <c:v>42126</c:v>
                </c:pt>
                <c:pt idx="123">
                  <c:v>42127</c:v>
                </c:pt>
                <c:pt idx="124">
                  <c:v>42128</c:v>
                </c:pt>
                <c:pt idx="125">
                  <c:v>42129</c:v>
                </c:pt>
                <c:pt idx="126">
                  <c:v>42130</c:v>
                </c:pt>
                <c:pt idx="127">
                  <c:v>42131</c:v>
                </c:pt>
                <c:pt idx="128">
                  <c:v>42132</c:v>
                </c:pt>
                <c:pt idx="129">
                  <c:v>42133</c:v>
                </c:pt>
                <c:pt idx="130">
                  <c:v>42134</c:v>
                </c:pt>
                <c:pt idx="131">
                  <c:v>42135</c:v>
                </c:pt>
                <c:pt idx="132">
                  <c:v>42136</c:v>
                </c:pt>
                <c:pt idx="133">
                  <c:v>42137</c:v>
                </c:pt>
                <c:pt idx="134">
                  <c:v>42138</c:v>
                </c:pt>
                <c:pt idx="135">
                  <c:v>42139</c:v>
                </c:pt>
                <c:pt idx="136">
                  <c:v>42140</c:v>
                </c:pt>
                <c:pt idx="137">
                  <c:v>42141</c:v>
                </c:pt>
                <c:pt idx="138">
                  <c:v>42142</c:v>
                </c:pt>
                <c:pt idx="139">
                  <c:v>42143</c:v>
                </c:pt>
                <c:pt idx="140">
                  <c:v>42144</c:v>
                </c:pt>
                <c:pt idx="141">
                  <c:v>42145</c:v>
                </c:pt>
                <c:pt idx="142">
                  <c:v>42146</c:v>
                </c:pt>
                <c:pt idx="143">
                  <c:v>42147</c:v>
                </c:pt>
                <c:pt idx="144">
                  <c:v>42148</c:v>
                </c:pt>
                <c:pt idx="145">
                  <c:v>42149</c:v>
                </c:pt>
                <c:pt idx="146">
                  <c:v>42150</c:v>
                </c:pt>
                <c:pt idx="147">
                  <c:v>42151</c:v>
                </c:pt>
                <c:pt idx="148">
                  <c:v>42152</c:v>
                </c:pt>
                <c:pt idx="149">
                  <c:v>42153</c:v>
                </c:pt>
                <c:pt idx="150">
                  <c:v>42154</c:v>
                </c:pt>
                <c:pt idx="151">
                  <c:v>42155</c:v>
                </c:pt>
                <c:pt idx="152">
                  <c:v>42156</c:v>
                </c:pt>
                <c:pt idx="153">
                  <c:v>42157</c:v>
                </c:pt>
                <c:pt idx="154">
                  <c:v>42158</c:v>
                </c:pt>
                <c:pt idx="155">
                  <c:v>42159</c:v>
                </c:pt>
                <c:pt idx="156">
                  <c:v>42160</c:v>
                </c:pt>
                <c:pt idx="157">
                  <c:v>42161</c:v>
                </c:pt>
                <c:pt idx="158">
                  <c:v>42162</c:v>
                </c:pt>
                <c:pt idx="159">
                  <c:v>42163</c:v>
                </c:pt>
                <c:pt idx="160">
                  <c:v>42164</c:v>
                </c:pt>
                <c:pt idx="161">
                  <c:v>42165</c:v>
                </c:pt>
                <c:pt idx="162">
                  <c:v>42166</c:v>
                </c:pt>
                <c:pt idx="163">
                  <c:v>42167</c:v>
                </c:pt>
                <c:pt idx="164">
                  <c:v>42168</c:v>
                </c:pt>
                <c:pt idx="165">
                  <c:v>42169</c:v>
                </c:pt>
                <c:pt idx="166">
                  <c:v>42170</c:v>
                </c:pt>
                <c:pt idx="167">
                  <c:v>42171</c:v>
                </c:pt>
                <c:pt idx="168">
                  <c:v>42172</c:v>
                </c:pt>
                <c:pt idx="169">
                  <c:v>42173</c:v>
                </c:pt>
                <c:pt idx="170">
                  <c:v>42174</c:v>
                </c:pt>
                <c:pt idx="171">
                  <c:v>42175</c:v>
                </c:pt>
                <c:pt idx="172">
                  <c:v>42176</c:v>
                </c:pt>
                <c:pt idx="173">
                  <c:v>42177</c:v>
                </c:pt>
                <c:pt idx="174">
                  <c:v>42178</c:v>
                </c:pt>
                <c:pt idx="175">
                  <c:v>42179</c:v>
                </c:pt>
                <c:pt idx="176">
                  <c:v>42180</c:v>
                </c:pt>
                <c:pt idx="177">
                  <c:v>42181</c:v>
                </c:pt>
                <c:pt idx="178">
                  <c:v>42182</c:v>
                </c:pt>
                <c:pt idx="179">
                  <c:v>42183</c:v>
                </c:pt>
                <c:pt idx="180">
                  <c:v>42184</c:v>
                </c:pt>
                <c:pt idx="181">
                  <c:v>42185</c:v>
                </c:pt>
                <c:pt idx="182">
                  <c:v>42186</c:v>
                </c:pt>
                <c:pt idx="183">
                  <c:v>42187</c:v>
                </c:pt>
                <c:pt idx="184">
                  <c:v>42188</c:v>
                </c:pt>
                <c:pt idx="185">
                  <c:v>42189</c:v>
                </c:pt>
                <c:pt idx="186">
                  <c:v>42190</c:v>
                </c:pt>
                <c:pt idx="187">
                  <c:v>42191</c:v>
                </c:pt>
                <c:pt idx="188">
                  <c:v>42192</c:v>
                </c:pt>
                <c:pt idx="189">
                  <c:v>42193</c:v>
                </c:pt>
                <c:pt idx="190">
                  <c:v>42194</c:v>
                </c:pt>
                <c:pt idx="191">
                  <c:v>42195</c:v>
                </c:pt>
                <c:pt idx="192">
                  <c:v>42196</c:v>
                </c:pt>
                <c:pt idx="193">
                  <c:v>42197</c:v>
                </c:pt>
                <c:pt idx="194">
                  <c:v>42198</c:v>
                </c:pt>
                <c:pt idx="195">
                  <c:v>42199</c:v>
                </c:pt>
                <c:pt idx="196">
                  <c:v>42200</c:v>
                </c:pt>
                <c:pt idx="197">
                  <c:v>42201</c:v>
                </c:pt>
                <c:pt idx="198">
                  <c:v>42202</c:v>
                </c:pt>
                <c:pt idx="199">
                  <c:v>42203</c:v>
                </c:pt>
                <c:pt idx="200">
                  <c:v>42204</c:v>
                </c:pt>
                <c:pt idx="201">
                  <c:v>42205</c:v>
                </c:pt>
                <c:pt idx="202">
                  <c:v>42206</c:v>
                </c:pt>
                <c:pt idx="203">
                  <c:v>42207</c:v>
                </c:pt>
                <c:pt idx="204">
                  <c:v>42208</c:v>
                </c:pt>
                <c:pt idx="205">
                  <c:v>42209</c:v>
                </c:pt>
                <c:pt idx="206">
                  <c:v>42210</c:v>
                </c:pt>
                <c:pt idx="207">
                  <c:v>42211</c:v>
                </c:pt>
                <c:pt idx="208">
                  <c:v>42212</c:v>
                </c:pt>
                <c:pt idx="209">
                  <c:v>42213</c:v>
                </c:pt>
                <c:pt idx="210">
                  <c:v>42214</c:v>
                </c:pt>
                <c:pt idx="211">
                  <c:v>42215</c:v>
                </c:pt>
                <c:pt idx="212">
                  <c:v>42216</c:v>
                </c:pt>
                <c:pt idx="213">
                  <c:v>42217</c:v>
                </c:pt>
                <c:pt idx="214">
                  <c:v>42218</c:v>
                </c:pt>
                <c:pt idx="215">
                  <c:v>42219</c:v>
                </c:pt>
                <c:pt idx="216">
                  <c:v>42220</c:v>
                </c:pt>
                <c:pt idx="217">
                  <c:v>42221</c:v>
                </c:pt>
                <c:pt idx="218">
                  <c:v>42222</c:v>
                </c:pt>
                <c:pt idx="219">
                  <c:v>42223</c:v>
                </c:pt>
                <c:pt idx="220">
                  <c:v>42224</c:v>
                </c:pt>
                <c:pt idx="221">
                  <c:v>42225</c:v>
                </c:pt>
                <c:pt idx="222">
                  <c:v>42226</c:v>
                </c:pt>
                <c:pt idx="223">
                  <c:v>42227</c:v>
                </c:pt>
                <c:pt idx="224">
                  <c:v>42228</c:v>
                </c:pt>
                <c:pt idx="225">
                  <c:v>42229</c:v>
                </c:pt>
                <c:pt idx="226">
                  <c:v>42230</c:v>
                </c:pt>
                <c:pt idx="227">
                  <c:v>42231</c:v>
                </c:pt>
                <c:pt idx="228">
                  <c:v>42232</c:v>
                </c:pt>
                <c:pt idx="229">
                  <c:v>42233</c:v>
                </c:pt>
                <c:pt idx="230">
                  <c:v>42234</c:v>
                </c:pt>
                <c:pt idx="231">
                  <c:v>42235</c:v>
                </c:pt>
                <c:pt idx="232">
                  <c:v>42236</c:v>
                </c:pt>
                <c:pt idx="233">
                  <c:v>42237</c:v>
                </c:pt>
                <c:pt idx="234">
                  <c:v>42238</c:v>
                </c:pt>
                <c:pt idx="235">
                  <c:v>42239</c:v>
                </c:pt>
                <c:pt idx="236">
                  <c:v>42240</c:v>
                </c:pt>
                <c:pt idx="237">
                  <c:v>42241</c:v>
                </c:pt>
                <c:pt idx="238">
                  <c:v>42242</c:v>
                </c:pt>
                <c:pt idx="239">
                  <c:v>42243</c:v>
                </c:pt>
                <c:pt idx="240">
                  <c:v>42244</c:v>
                </c:pt>
                <c:pt idx="241">
                  <c:v>42245</c:v>
                </c:pt>
                <c:pt idx="242">
                  <c:v>42246</c:v>
                </c:pt>
                <c:pt idx="243">
                  <c:v>42247</c:v>
                </c:pt>
                <c:pt idx="244">
                  <c:v>42248</c:v>
                </c:pt>
                <c:pt idx="245">
                  <c:v>42249</c:v>
                </c:pt>
                <c:pt idx="246">
                  <c:v>42250</c:v>
                </c:pt>
                <c:pt idx="247">
                  <c:v>42251</c:v>
                </c:pt>
                <c:pt idx="248">
                  <c:v>42252</c:v>
                </c:pt>
                <c:pt idx="249">
                  <c:v>42253</c:v>
                </c:pt>
                <c:pt idx="250">
                  <c:v>42254</c:v>
                </c:pt>
                <c:pt idx="251">
                  <c:v>42255</c:v>
                </c:pt>
                <c:pt idx="252">
                  <c:v>42256</c:v>
                </c:pt>
                <c:pt idx="253">
                  <c:v>42257</c:v>
                </c:pt>
                <c:pt idx="254">
                  <c:v>42258</c:v>
                </c:pt>
                <c:pt idx="255">
                  <c:v>42259</c:v>
                </c:pt>
                <c:pt idx="256">
                  <c:v>42260</c:v>
                </c:pt>
                <c:pt idx="257">
                  <c:v>42261</c:v>
                </c:pt>
                <c:pt idx="258">
                  <c:v>42262</c:v>
                </c:pt>
                <c:pt idx="259">
                  <c:v>42263</c:v>
                </c:pt>
                <c:pt idx="260">
                  <c:v>42264</c:v>
                </c:pt>
                <c:pt idx="261">
                  <c:v>42265</c:v>
                </c:pt>
                <c:pt idx="262">
                  <c:v>42266</c:v>
                </c:pt>
                <c:pt idx="263">
                  <c:v>42267</c:v>
                </c:pt>
                <c:pt idx="264">
                  <c:v>42268</c:v>
                </c:pt>
                <c:pt idx="265">
                  <c:v>42269</c:v>
                </c:pt>
                <c:pt idx="266">
                  <c:v>42270</c:v>
                </c:pt>
                <c:pt idx="267">
                  <c:v>42271</c:v>
                </c:pt>
                <c:pt idx="268">
                  <c:v>42272</c:v>
                </c:pt>
                <c:pt idx="269">
                  <c:v>42273</c:v>
                </c:pt>
                <c:pt idx="270">
                  <c:v>42274</c:v>
                </c:pt>
                <c:pt idx="271">
                  <c:v>42275</c:v>
                </c:pt>
                <c:pt idx="272">
                  <c:v>42276</c:v>
                </c:pt>
                <c:pt idx="273">
                  <c:v>42277</c:v>
                </c:pt>
                <c:pt idx="274">
                  <c:v>42278</c:v>
                </c:pt>
                <c:pt idx="275">
                  <c:v>42279</c:v>
                </c:pt>
                <c:pt idx="276">
                  <c:v>42280</c:v>
                </c:pt>
                <c:pt idx="277">
                  <c:v>42281</c:v>
                </c:pt>
                <c:pt idx="278">
                  <c:v>42282</c:v>
                </c:pt>
                <c:pt idx="279">
                  <c:v>42283</c:v>
                </c:pt>
                <c:pt idx="280">
                  <c:v>42284</c:v>
                </c:pt>
                <c:pt idx="281">
                  <c:v>42285</c:v>
                </c:pt>
                <c:pt idx="282">
                  <c:v>42286</c:v>
                </c:pt>
                <c:pt idx="283">
                  <c:v>42287</c:v>
                </c:pt>
                <c:pt idx="284">
                  <c:v>42288</c:v>
                </c:pt>
                <c:pt idx="285">
                  <c:v>42289</c:v>
                </c:pt>
                <c:pt idx="286">
                  <c:v>42290</c:v>
                </c:pt>
                <c:pt idx="287">
                  <c:v>42291</c:v>
                </c:pt>
                <c:pt idx="288">
                  <c:v>42292</c:v>
                </c:pt>
                <c:pt idx="289">
                  <c:v>42293</c:v>
                </c:pt>
                <c:pt idx="290">
                  <c:v>42294</c:v>
                </c:pt>
                <c:pt idx="291">
                  <c:v>42295</c:v>
                </c:pt>
                <c:pt idx="292">
                  <c:v>42296</c:v>
                </c:pt>
                <c:pt idx="293">
                  <c:v>42297</c:v>
                </c:pt>
                <c:pt idx="294">
                  <c:v>42298</c:v>
                </c:pt>
                <c:pt idx="295">
                  <c:v>42299</c:v>
                </c:pt>
                <c:pt idx="296">
                  <c:v>42300</c:v>
                </c:pt>
                <c:pt idx="297">
                  <c:v>42301</c:v>
                </c:pt>
                <c:pt idx="298">
                  <c:v>42302</c:v>
                </c:pt>
                <c:pt idx="299">
                  <c:v>42303</c:v>
                </c:pt>
                <c:pt idx="300">
                  <c:v>42304</c:v>
                </c:pt>
                <c:pt idx="301">
                  <c:v>42305</c:v>
                </c:pt>
                <c:pt idx="302">
                  <c:v>42306</c:v>
                </c:pt>
                <c:pt idx="303">
                  <c:v>42307</c:v>
                </c:pt>
                <c:pt idx="304">
                  <c:v>42308</c:v>
                </c:pt>
                <c:pt idx="305">
                  <c:v>42309</c:v>
                </c:pt>
                <c:pt idx="306">
                  <c:v>42310</c:v>
                </c:pt>
                <c:pt idx="307">
                  <c:v>42311</c:v>
                </c:pt>
                <c:pt idx="308">
                  <c:v>42312</c:v>
                </c:pt>
                <c:pt idx="309">
                  <c:v>42313</c:v>
                </c:pt>
                <c:pt idx="310">
                  <c:v>42314</c:v>
                </c:pt>
                <c:pt idx="311">
                  <c:v>42315</c:v>
                </c:pt>
                <c:pt idx="312">
                  <c:v>42316</c:v>
                </c:pt>
                <c:pt idx="313">
                  <c:v>42317</c:v>
                </c:pt>
                <c:pt idx="314">
                  <c:v>42318</c:v>
                </c:pt>
                <c:pt idx="315">
                  <c:v>42319</c:v>
                </c:pt>
                <c:pt idx="316">
                  <c:v>42320</c:v>
                </c:pt>
                <c:pt idx="317">
                  <c:v>42321</c:v>
                </c:pt>
                <c:pt idx="318">
                  <c:v>42322</c:v>
                </c:pt>
                <c:pt idx="319">
                  <c:v>42323</c:v>
                </c:pt>
                <c:pt idx="320">
                  <c:v>42324</c:v>
                </c:pt>
                <c:pt idx="321">
                  <c:v>42325</c:v>
                </c:pt>
                <c:pt idx="322">
                  <c:v>42326</c:v>
                </c:pt>
                <c:pt idx="323">
                  <c:v>42327</c:v>
                </c:pt>
                <c:pt idx="324">
                  <c:v>42328</c:v>
                </c:pt>
                <c:pt idx="325">
                  <c:v>42329</c:v>
                </c:pt>
                <c:pt idx="326">
                  <c:v>42330</c:v>
                </c:pt>
                <c:pt idx="327">
                  <c:v>42331</c:v>
                </c:pt>
                <c:pt idx="328">
                  <c:v>42332</c:v>
                </c:pt>
                <c:pt idx="329">
                  <c:v>42333</c:v>
                </c:pt>
                <c:pt idx="330">
                  <c:v>42334</c:v>
                </c:pt>
                <c:pt idx="331">
                  <c:v>42335</c:v>
                </c:pt>
                <c:pt idx="332">
                  <c:v>42336</c:v>
                </c:pt>
                <c:pt idx="333">
                  <c:v>42337</c:v>
                </c:pt>
                <c:pt idx="334">
                  <c:v>42338</c:v>
                </c:pt>
                <c:pt idx="335">
                  <c:v>42339</c:v>
                </c:pt>
                <c:pt idx="336">
                  <c:v>42340</c:v>
                </c:pt>
                <c:pt idx="337">
                  <c:v>42341</c:v>
                </c:pt>
                <c:pt idx="338">
                  <c:v>42342</c:v>
                </c:pt>
                <c:pt idx="339">
                  <c:v>42343</c:v>
                </c:pt>
                <c:pt idx="340">
                  <c:v>42344</c:v>
                </c:pt>
                <c:pt idx="341">
                  <c:v>42345</c:v>
                </c:pt>
                <c:pt idx="342">
                  <c:v>42346</c:v>
                </c:pt>
                <c:pt idx="343">
                  <c:v>42347</c:v>
                </c:pt>
                <c:pt idx="344">
                  <c:v>42348</c:v>
                </c:pt>
                <c:pt idx="345">
                  <c:v>42349</c:v>
                </c:pt>
                <c:pt idx="346">
                  <c:v>42350</c:v>
                </c:pt>
                <c:pt idx="347">
                  <c:v>42351</c:v>
                </c:pt>
                <c:pt idx="348">
                  <c:v>42352</c:v>
                </c:pt>
                <c:pt idx="349">
                  <c:v>42353</c:v>
                </c:pt>
                <c:pt idx="350">
                  <c:v>42354</c:v>
                </c:pt>
                <c:pt idx="351">
                  <c:v>42355</c:v>
                </c:pt>
                <c:pt idx="352">
                  <c:v>42356</c:v>
                </c:pt>
                <c:pt idx="353">
                  <c:v>42357</c:v>
                </c:pt>
                <c:pt idx="354">
                  <c:v>42358</c:v>
                </c:pt>
              </c:numCache>
            </c:numRef>
          </c:cat>
          <c:val>
            <c:numRef>
              <c:f>Tabelle1!$C$2:$C$8000</c:f>
              <c:numCache>
                <c:formatCode>General</c:formatCode>
                <c:ptCount val="7999"/>
                <c:pt idx="0">
                  <c:v>1</c:v>
                </c:pt>
                <c:pt idx="1">
                  <c:v>1</c:v>
                </c:pt>
                <c:pt idx="2">
                  <c:v>0.99980000000000002</c:v>
                </c:pt>
                <c:pt idx="3">
                  <c:v>0.99980000000000002</c:v>
                </c:pt>
                <c:pt idx="4">
                  <c:v>0.99980000000000002</c:v>
                </c:pt>
                <c:pt idx="5">
                  <c:v>0.99980000000000002</c:v>
                </c:pt>
                <c:pt idx="6">
                  <c:v>1.0001</c:v>
                </c:pt>
                <c:pt idx="7">
                  <c:v>0.99990000000000001</c:v>
                </c:pt>
                <c:pt idx="8">
                  <c:v>1.0004</c:v>
                </c:pt>
                <c:pt idx="9">
                  <c:v>1.0001</c:v>
                </c:pt>
                <c:pt idx="10">
                  <c:v>1.0001</c:v>
                </c:pt>
                <c:pt idx="11">
                  <c:v>1.0001</c:v>
                </c:pt>
                <c:pt idx="12">
                  <c:v>1.0003</c:v>
                </c:pt>
                <c:pt idx="13">
                  <c:v>1.0005999999999999</c:v>
                </c:pt>
                <c:pt idx="14">
                  <c:v>1.0007999999999999</c:v>
                </c:pt>
                <c:pt idx="15">
                  <c:v>1.0021</c:v>
                </c:pt>
                <c:pt idx="16">
                  <c:v>1.0014000000000001</c:v>
                </c:pt>
                <c:pt idx="17">
                  <c:v>1.0014000000000001</c:v>
                </c:pt>
                <c:pt idx="18">
                  <c:v>1.0014000000000001</c:v>
                </c:pt>
                <c:pt idx="19">
                  <c:v>1.0013000000000001</c:v>
                </c:pt>
                <c:pt idx="20">
                  <c:v>1.0015000000000001</c:v>
                </c:pt>
                <c:pt idx="21">
                  <c:v>1.0004</c:v>
                </c:pt>
                <c:pt idx="22">
                  <c:v>1.002</c:v>
                </c:pt>
                <c:pt idx="23">
                  <c:v>1.0039</c:v>
                </c:pt>
                <c:pt idx="24">
                  <c:v>1.0039</c:v>
                </c:pt>
                <c:pt idx="25">
                  <c:v>1.004</c:v>
                </c:pt>
                <c:pt idx="26">
                  <c:v>1.0038</c:v>
                </c:pt>
                <c:pt idx="27">
                  <c:v>1.0032000000000001</c:v>
                </c:pt>
                <c:pt idx="28">
                  <c:v>1.0034000000000001</c:v>
                </c:pt>
                <c:pt idx="29">
                  <c:v>1.0036</c:v>
                </c:pt>
                <c:pt idx="30">
                  <c:v>1.0039</c:v>
                </c:pt>
                <c:pt idx="31">
                  <c:v>1.3</c:v>
                </c:pt>
                <c:pt idx="32">
                  <c:v>1.0039</c:v>
                </c:pt>
                <c:pt idx="33">
                  <c:v>1.0042</c:v>
                </c:pt>
                <c:pt idx="34">
                  <c:v>1.0038</c:v>
                </c:pt>
                <c:pt idx="35">
                  <c:v>1.0038</c:v>
                </c:pt>
                <c:pt idx="36">
                  <c:v>1.0036</c:v>
                </c:pt>
                <c:pt idx="37">
                  <c:v>1.0039</c:v>
                </c:pt>
                <c:pt idx="38">
                  <c:v>1.0039</c:v>
                </c:pt>
                <c:pt idx="39">
                  <c:v>1.004</c:v>
                </c:pt>
                <c:pt idx="40">
                  <c:v>1.0033000000000001</c:v>
                </c:pt>
                <c:pt idx="41">
                  <c:v>1.0033000000000001</c:v>
                </c:pt>
                <c:pt idx="42">
                  <c:v>1.0035000000000001</c:v>
                </c:pt>
                <c:pt idx="43">
                  <c:v>1.0046999999999999</c:v>
                </c:pt>
                <c:pt idx="44">
                  <c:v>1.0047999999999999</c:v>
                </c:pt>
                <c:pt idx="45">
                  <c:v>1.0048999999999999</c:v>
                </c:pt>
                <c:pt idx="46">
                  <c:v>1.0048999999999999</c:v>
                </c:pt>
                <c:pt idx="47">
                  <c:v>1.0046999999999999</c:v>
                </c:pt>
                <c:pt idx="48">
                  <c:v>1.0042</c:v>
                </c:pt>
                <c:pt idx="49">
                  <c:v>1.0044</c:v>
                </c:pt>
                <c:pt idx="50">
                  <c:v>1.0047999999999999</c:v>
                </c:pt>
                <c:pt idx="51">
                  <c:v>1.0051000000000001</c:v>
                </c:pt>
                <c:pt idx="52">
                  <c:v>1.0051000000000001</c:v>
                </c:pt>
                <c:pt idx="53">
                  <c:v>1.0052000000000001</c:v>
                </c:pt>
                <c:pt idx="54">
                  <c:v>1.0059</c:v>
                </c:pt>
                <c:pt idx="55">
                  <c:v>1.0066999999999999</c:v>
                </c:pt>
                <c:pt idx="56">
                  <c:v>1.0078</c:v>
                </c:pt>
                <c:pt idx="57">
                  <c:v>1.0099</c:v>
                </c:pt>
                <c:pt idx="58">
                  <c:v>1.0098</c:v>
                </c:pt>
                <c:pt idx="59">
                  <c:v>1.0099</c:v>
                </c:pt>
                <c:pt idx="60">
                  <c:v>1.0099</c:v>
                </c:pt>
                <c:pt idx="61">
                  <c:v>1.0093000000000001</c:v>
                </c:pt>
                <c:pt idx="62">
                  <c:v>1.008</c:v>
                </c:pt>
                <c:pt idx="63">
                  <c:v>1.0086999999999999</c:v>
                </c:pt>
                <c:pt idx="64">
                  <c:v>1.0104</c:v>
                </c:pt>
                <c:pt idx="65">
                  <c:v>1.0106999999999999</c:v>
                </c:pt>
                <c:pt idx="66">
                  <c:v>1.0106999999999999</c:v>
                </c:pt>
                <c:pt idx="67">
                  <c:v>1.0107999999999999</c:v>
                </c:pt>
                <c:pt idx="68">
                  <c:v>1.0122</c:v>
                </c:pt>
                <c:pt idx="69">
                  <c:v>1.0148999999999999</c:v>
                </c:pt>
                <c:pt idx="70">
                  <c:v>1.0181</c:v>
                </c:pt>
                <c:pt idx="71">
                  <c:v>1.0168999999999999</c:v>
                </c:pt>
                <c:pt idx="72">
                  <c:v>1.0175000000000001</c:v>
                </c:pt>
                <c:pt idx="73">
                  <c:v>1.0175000000000001</c:v>
                </c:pt>
                <c:pt idx="74">
                  <c:v>1.0176000000000001</c:v>
                </c:pt>
                <c:pt idx="75">
                  <c:v>1.0175000000000001</c:v>
                </c:pt>
                <c:pt idx="76">
                  <c:v>1.0157</c:v>
                </c:pt>
                <c:pt idx="77">
                  <c:v>1.0149999999999999</c:v>
                </c:pt>
                <c:pt idx="78">
                  <c:v>1.0158</c:v>
                </c:pt>
                <c:pt idx="79">
                  <c:v>1.016</c:v>
                </c:pt>
                <c:pt idx="80">
                  <c:v>1.016</c:v>
                </c:pt>
                <c:pt idx="81">
                  <c:v>1.0161</c:v>
                </c:pt>
                <c:pt idx="82">
                  <c:v>1.0139</c:v>
                </c:pt>
                <c:pt idx="83">
                  <c:v>1.0143</c:v>
                </c:pt>
                <c:pt idx="84">
                  <c:v>1.0136000000000001</c:v>
                </c:pt>
                <c:pt idx="85">
                  <c:v>1.0136000000000001</c:v>
                </c:pt>
                <c:pt idx="86">
                  <c:v>1.0142</c:v>
                </c:pt>
                <c:pt idx="87">
                  <c:v>1.0142</c:v>
                </c:pt>
                <c:pt idx="88">
                  <c:v>1.0143</c:v>
                </c:pt>
                <c:pt idx="89">
                  <c:v>1.016</c:v>
                </c:pt>
                <c:pt idx="90">
                  <c:v>1.0170999999999999</c:v>
                </c:pt>
                <c:pt idx="91">
                  <c:v>1.0176000000000001</c:v>
                </c:pt>
                <c:pt idx="92">
                  <c:v>1.0166999999999999</c:v>
                </c:pt>
                <c:pt idx="93">
                  <c:v>1.0163</c:v>
                </c:pt>
                <c:pt idx="94">
                  <c:v>1.0164</c:v>
                </c:pt>
                <c:pt idx="95">
                  <c:v>1.0164</c:v>
                </c:pt>
                <c:pt idx="96">
                  <c:v>1.0166999999999999</c:v>
                </c:pt>
                <c:pt idx="97">
                  <c:v>1.0185</c:v>
                </c:pt>
                <c:pt idx="98">
                  <c:v>1.0190999999999999</c:v>
                </c:pt>
                <c:pt idx="99">
                  <c:v>1.0204</c:v>
                </c:pt>
                <c:pt idx="100">
                  <c:v>1.0221</c:v>
                </c:pt>
                <c:pt idx="101">
                  <c:v>1.0221</c:v>
                </c:pt>
                <c:pt idx="102">
                  <c:v>1.0222</c:v>
                </c:pt>
                <c:pt idx="103">
                  <c:v>1.0226999999999999</c:v>
                </c:pt>
                <c:pt idx="104">
                  <c:v>1.0221</c:v>
                </c:pt>
                <c:pt idx="105">
                  <c:v>1.0233000000000001</c:v>
                </c:pt>
                <c:pt idx="106">
                  <c:v>1.0214000000000001</c:v>
                </c:pt>
                <c:pt idx="107">
                  <c:v>1.0188999999999999</c:v>
                </c:pt>
                <c:pt idx="108">
                  <c:v>1.0188999999999999</c:v>
                </c:pt>
                <c:pt idx="109">
                  <c:v>1.0189999999999999</c:v>
                </c:pt>
                <c:pt idx="110">
                  <c:v>1.0199</c:v>
                </c:pt>
                <c:pt idx="111">
                  <c:v>1.0190999999999999</c:v>
                </c:pt>
                <c:pt idx="112">
                  <c:v>1.0181</c:v>
                </c:pt>
                <c:pt idx="113">
                  <c:v>1.0170999999999999</c:v>
                </c:pt>
                <c:pt idx="114">
                  <c:v>1.0170999999999999</c:v>
                </c:pt>
                <c:pt idx="115">
                  <c:v>1.0172000000000001</c:v>
                </c:pt>
                <c:pt idx="116">
                  <c:v>1.0172000000000001</c:v>
                </c:pt>
                <c:pt idx="117">
                  <c:v>1.0182</c:v>
                </c:pt>
                <c:pt idx="118">
                  <c:v>1.0166999999999999</c:v>
                </c:pt>
                <c:pt idx="119">
                  <c:v>1.0105</c:v>
                </c:pt>
                <c:pt idx="120">
                  <c:v>1.0069999999999999</c:v>
                </c:pt>
                <c:pt idx="121">
                  <c:v>1.0068999999999999</c:v>
                </c:pt>
                <c:pt idx="122">
                  <c:v>1.0068999999999999</c:v>
                </c:pt>
                <c:pt idx="123">
                  <c:v>1.0068999999999999</c:v>
                </c:pt>
                <c:pt idx="124">
                  <c:v>1.0068999999999999</c:v>
                </c:pt>
                <c:pt idx="125">
                  <c:v>1.0027999999999999</c:v>
                </c:pt>
                <c:pt idx="126">
                  <c:v>0.99919999999999998</c:v>
                </c:pt>
                <c:pt idx="127">
                  <c:v>0.99909999999999999</c:v>
                </c:pt>
                <c:pt idx="128">
                  <c:v>1.0025999999999999</c:v>
                </c:pt>
                <c:pt idx="129">
                  <c:v>1.0026999999999999</c:v>
                </c:pt>
                <c:pt idx="130">
                  <c:v>1.0026999999999999</c:v>
                </c:pt>
                <c:pt idx="131">
                  <c:v>1.0024</c:v>
                </c:pt>
                <c:pt idx="132">
                  <c:v>0.99970000000000003</c:v>
                </c:pt>
                <c:pt idx="133">
                  <c:v>0.99850000000000005</c:v>
                </c:pt>
                <c:pt idx="134">
                  <c:v>0.99850000000000005</c:v>
                </c:pt>
                <c:pt idx="135">
                  <c:v>0.99880000000000002</c:v>
                </c:pt>
                <c:pt idx="136">
                  <c:v>0.99880000000000002</c:v>
                </c:pt>
                <c:pt idx="137">
                  <c:v>0.99890000000000001</c:v>
                </c:pt>
                <c:pt idx="138">
                  <c:v>1.0002</c:v>
                </c:pt>
                <c:pt idx="139">
                  <c:v>1.0034000000000001</c:v>
                </c:pt>
                <c:pt idx="140">
                  <c:v>1.0035000000000001</c:v>
                </c:pt>
                <c:pt idx="141">
                  <c:v>1.0041</c:v>
                </c:pt>
                <c:pt idx="142">
                  <c:v>1.0048999999999999</c:v>
                </c:pt>
                <c:pt idx="143">
                  <c:v>1.0049999999999999</c:v>
                </c:pt>
                <c:pt idx="144">
                  <c:v>1.0049999999999999</c:v>
                </c:pt>
                <c:pt idx="145">
                  <c:v>1.0047999999999999</c:v>
                </c:pt>
                <c:pt idx="146">
                  <c:v>1.0051000000000001</c:v>
                </c:pt>
                <c:pt idx="147">
                  <c:v>1.0056</c:v>
                </c:pt>
                <c:pt idx="148">
                  <c:v>1.0041</c:v>
                </c:pt>
                <c:pt idx="149">
                  <c:v>1.0029999999999999</c:v>
                </c:pt>
                <c:pt idx="150">
                  <c:v>1.0031000000000001</c:v>
                </c:pt>
                <c:pt idx="151">
                  <c:v>1.0031000000000001</c:v>
                </c:pt>
                <c:pt idx="152">
                  <c:v>1.0031000000000001</c:v>
                </c:pt>
                <c:pt idx="153">
                  <c:v>0.99839999999999995</c:v>
                </c:pt>
                <c:pt idx="154">
                  <c:v>0.99509999999999998</c:v>
                </c:pt>
                <c:pt idx="155">
                  <c:v>0.99409999999999998</c:v>
                </c:pt>
                <c:pt idx="156">
                  <c:v>0.99450000000000005</c:v>
                </c:pt>
                <c:pt idx="157">
                  <c:v>0.99460000000000004</c:v>
                </c:pt>
                <c:pt idx="158">
                  <c:v>0.99460000000000004</c:v>
                </c:pt>
                <c:pt idx="159">
                  <c:v>0.99270000000000003</c:v>
                </c:pt>
                <c:pt idx="160">
                  <c:v>0.99050000000000005</c:v>
                </c:pt>
                <c:pt idx="161">
                  <c:v>0.99060000000000004</c:v>
                </c:pt>
                <c:pt idx="162">
                  <c:v>0.99309999999999998</c:v>
                </c:pt>
                <c:pt idx="163">
                  <c:v>0.99209999999999998</c:v>
                </c:pt>
                <c:pt idx="164">
                  <c:v>0.99219999999999997</c:v>
                </c:pt>
                <c:pt idx="165">
                  <c:v>0.99219999999999997</c:v>
                </c:pt>
                <c:pt idx="166">
                  <c:v>0.99060000000000004</c:v>
                </c:pt>
                <c:pt idx="167">
                  <c:v>0.99009999999999998</c:v>
                </c:pt>
                <c:pt idx="168">
                  <c:v>0.98950000000000005</c:v>
                </c:pt>
                <c:pt idx="169">
                  <c:v>0.98870000000000002</c:v>
                </c:pt>
                <c:pt idx="170">
                  <c:v>0.98919999999999997</c:v>
                </c:pt>
                <c:pt idx="171">
                  <c:v>0.98929999999999996</c:v>
                </c:pt>
                <c:pt idx="172">
                  <c:v>0.98929999999999996</c:v>
                </c:pt>
                <c:pt idx="173">
                  <c:v>0.99180000000000001</c:v>
                </c:pt>
                <c:pt idx="174">
                  <c:v>0.99419999999999997</c:v>
                </c:pt>
                <c:pt idx="175">
                  <c:v>0.99360000000000004</c:v>
                </c:pt>
                <c:pt idx="176">
                  <c:v>0.99280000000000002</c:v>
                </c:pt>
                <c:pt idx="177">
                  <c:v>0.99229999999999996</c:v>
                </c:pt>
                <c:pt idx="178">
                  <c:v>0.99239999999999995</c:v>
                </c:pt>
                <c:pt idx="179">
                  <c:v>0.99239999999999995</c:v>
                </c:pt>
                <c:pt idx="180">
                  <c:v>0.98799999999999999</c:v>
                </c:pt>
                <c:pt idx="181">
                  <c:v>0.98870000000000002</c:v>
                </c:pt>
                <c:pt idx="182">
                  <c:v>0.99039999999999995</c:v>
                </c:pt>
                <c:pt idx="183">
                  <c:v>0.99029999999999996</c:v>
                </c:pt>
                <c:pt idx="184">
                  <c:v>0.99070000000000003</c:v>
                </c:pt>
                <c:pt idx="185">
                  <c:v>0.99070000000000003</c:v>
                </c:pt>
                <c:pt idx="186">
                  <c:v>0.99080000000000001</c:v>
                </c:pt>
                <c:pt idx="187">
                  <c:v>0.98919999999999997</c:v>
                </c:pt>
                <c:pt idx="188">
                  <c:v>0.99</c:v>
                </c:pt>
                <c:pt idx="189">
                  <c:v>0.98839999999999995</c:v>
                </c:pt>
                <c:pt idx="190">
                  <c:v>0.98939999999999995</c:v>
                </c:pt>
                <c:pt idx="191">
                  <c:v>0.98909999999999998</c:v>
                </c:pt>
                <c:pt idx="192">
                  <c:v>0.98909999999999998</c:v>
                </c:pt>
                <c:pt idx="193">
                  <c:v>0.98909999999999998</c:v>
                </c:pt>
                <c:pt idx="194">
                  <c:v>0.9919</c:v>
                </c:pt>
                <c:pt idx="195">
                  <c:v>0.99299999999999999</c:v>
                </c:pt>
                <c:pt idx="196">
                  <c:v>0.99519999999999997</c:v>
                </c:pt>
                <c:pt idx="197">
                  <c:v>0.99739999999999995</c:v>
                </c:pt>
                <c:pt idx="198">
                  <c:v>0.99890000000000001</c:v>
                </c:pt>
                <c:pt idx="199">
                  <c:v>0.99890000000000001</c:v>
                </c:pt>
                <c:pt idx="200">
                  <c:v>0.999</c:v>
                </c:pt>
                <c:pt idx="201">
                  <c:v>0.99990000000000001</c:v>
                </c:pt>
                <c:pt idx="202">
                  <c:v>0.99850000000000005</c:v>
                </c:pt>
                <c:pt idx="203">
                  <c:v>0.99839999999999995</c:v>
                </c:pt>
                <c:pt idx="204">
                  <c:v>0.998</c:v>
                </c:pt>
                <c:pt idx="205">
                  <c:v>0.99750000000000005</c:v>
                </c:pt>
                <c:pt idx="206">
                  <c:v>0.99760000000000004</c:v>
                </c:pt>
                <c:pt idx="207">
                  <c:v>0.99760000000000004</c:v>
                </c:pt>
                <c:pt idx="208">
                  <c:v>0.99450000000000005</c:v>
                </c:pt>
                <c:pt idx="209">
                  <c:v>0.99560000000000004</c:v>
                </c:pt>
                <c:pt idx="210">
                  <c:v>0.99660000000000004</c:v>
                </c:pt>
                <c:pt idx="211">
                  <c:v>0.99829999999999997</c:v>
                </c:pt>
                <c:pt idx="212">
                  <c:v>0.99850000000000005</c:v>
                </c:pt>
                <c:pt idx="213">
                  <c:v>0.99850000000000005</c:v>
                </c:pt>
                <c:pt idx="214">
                  <c:v>0.99850000000000005</c:v>
                </c:pt>
                <c:pt idx="215">
                  <c:v>1.0008999999999999</c:v>
                </c:pt>
                <c:pt idx="216">
                  <c:v>1.0012000000000001</c:v>
                </c:pt>
                <c:pt idx="217">
                  <c:v>1.0019</c:v>
                </c:pt>
                <c:pt idx="218">
                  <c:v>1.0019</c:v>
                </c:pt>
                <c:pt idx="219">
                  <c:v>1.0011000000000001</c:v>
                </c:pt>
                <c:pt idx="220">
                  <c:v>1.0012000000000001</c:v>
                </c:pt>
                <c:pt idx="221">
                  <c:v>1.0012000000000001</c:v>
                </c:pt>
                <c:pt idx="222">
                  <c:v>1.0024</c:v>
                </c:pt>
                <c:pt idx="223">
                  <c:v>0.99870000000000003</c:v>
                </c:pt>
                <c:pt idx="224">
                  <c:v>0.99329999999999996</c:v>
                </c:pt>
                <c:pt idx="225">
                  <c:v>0.99199999999999999</c:v>
                </c:pt>
                <c:pt idx="226">
                  <c:v>0.99119999999999997</c:v>
                </c:pt>
                <c:pt idx="227">
                  <c:v>0.99119999999999997</c:v>
                </c:pt>
                <c:pt idx="228">
                  <c:v>0.99129999999999996</c:v>
                </c:pt>
                <c:pt idx="229">
                  <c:v>0.99150000000000005</c:v>
                </c:pt>
                <c:pt idx="230">
                  <c:v>0.99119999999999997</c:v>
                </c:pt>
                <c:pt idx="231">
                  <c:v>0.98650000000000004</c:v>
                </c:pt>
                <c:pt idx="232">
                  <c:v>0.98160000000000003</c:v>
                </c:pt>
                <c:pt idx="233">
                  <c:v>0.9748</c:v>
                </c:pt>
                <c:pt idx="234">
                  <c:v>0.97489999999999999</c:v>
                </c:pt>
                <c:pt idx="235">
                  <c:v>0.97489999999999999</c:v>
                </c:pt>
                <c:pt idx="236">
                  <c:v>0.96419999999999995</c:v>
                </c:pt>
                <c:pt idx="237">
                  <c:v>0.97060000000000002</c:v>
                </c:pt>
                <c:pt idx="238">
                  <c:v>0.96940000000000004</c:v>
                </c:pt>
                <c:pt idx="239">
                  <c:v>0.97599999999999998</c:v>
                </c:pt>
                <c:pt idx="240">
                  <c:v>0.9768</c:v>
                </c:pt>
                <c:pt idx="241">
                  <c:v>0.9768</c:v>
                </c:pt>
                <c:pt idx="242">
                  <c:v>0.9768</c:v>
                </c:pt>
                <c:pt idx="243">
                  <c:v>0.97499999999999998</c:v>
                </c:pt>
                <c:pt idx="244">
                  <c:v>0.97009999999999996</c:v>
                </c:pt>
                <c:pt idx="245">
                  <c:v>0.97070000000000001</c:v>
                </c:pt>
                <c:pt idx="246">
                  <c:v>0.97599999999999998</c:v>
                </c:pt>
                <c:pt idx="247">
                  <c:v>0.97160000000000002</c:v>
                </c:pt>
                <c:pt idx="248">
                  <c:v>0.97170000000000001</c:v>
                </c:pt>
                <c:pt idx="249">
                  <c:v>0.97170000000000001</c:v>
                </c:pt>
                <c:pt idx="250">
                  <c:v>0.9728</c:v>
                </c:pt>
                <c:pt idx="251">
                  <c:v>0.97519999999999996</c:v>
                </c:pt>
                <c:pt idx="252">
                  <c:v>0.97640000000000005</c:v>
                </c:pt>
                <c:pt idx="253">
                  <c:v>0.97419999999999995</c:v>
                </c:pt>
                <c:pt idx="254">
                  <c:v>0.97270000000000001</c:v>
                </c:pt>
                <c:pt idx="255">
                  <c:v>0.97270000000000001</c:v>
                </c:pt>
                <c:pt idx="256">
                  <c:v>0.9728</c:v>
                </c:pt>
                <c:pt idx="257">
                  <c:v>0.97289999999999999</c:v>
                </c:pt>
                <c:pt idx="258">
                  <c:v>0.97299999999999998</c:v>
                </c:pt>
                <c:pt idx="259">
                  <c:v>0.9738</c:v>
                </c:pt>
                <c:pt idx="260">
                  <c:v>0.97299999999999998</c:v>
                </c:pt>
                <c:pt idx="261">
                  <c:v>0.96789999999999998</c:v>
                </c:pt>
                <c:pt idx="262">
                  <c:v>0.96799999999999997</c:v>
                </c:pt>
                <c:pt idx="263">
                  <c:v>0.96799999999999997</c:v>
                </c:pt>
                <c:pt idx="264">
                  <c:v>0.96930000000000005</c:v>
                </c:pt>
                <c:pt idx="265">
                  <c:v>0.96089999999999998</c:v>
                </c:pt>
                <c:pt idx="266">
                  <c:v>0.96099999999999997</c:v>
                </c:pt>
                <c:pt idx="267">
                  <c:v>0.95609999999999995</c:v>
                </c:pt>
                <c:pt idx="268">
                  <c:v>0.96009999999999995</c:v>
                </c:pt>
                <c:pt idx="269">
                  <c:v>0.96020000000000005</c:v>
                </c:pt>
                <c:pt idx="270">
                  <c:v>0.96020000000000005</c:v>
                </c:pt>
                <c:pt idx="271">
                  <c:v>0.95389999999999997</c:v>
                </c:pt>
                <c:pt idx="272">
                  <c:v>0.95099999999999996</c:v>
                </c:pt>
                <c:pt idx="273">
                  <c:v>0.95640000000000003</c:v>
                </c:pt>
                <c:pt idx="274">
                  <c:v>0.95509999999999995</c:v>
                </c:pt>
                <c:pt idx="275">
                  <c:v>0.95660000000000001</c:v>
                </c:pt>
                <c:pt idx="276">
                  <c:v>0.95660000000000001</c:v>
                </c:pt>
                <c:pt idx="277" formatCode="0%">
                  <c:v>0.95660000000000001</c:v>
                </c:pt>
                <c:pt idx="278" formatCode="0%">
                  <c:v>0.96319999999999995</c:v>
                </c:pt>
                <c:pt idx="279" formatCode="0%">
                  <c:v>0.96579999999999999</c:v>
                </c:pt>
                <c:pt idx="280" formatCode="0%">
                  <c:v>0.96840000000000004</c:v>
                </c:pt>
                <c:pt idx="281" formatCode="0%">
                  <c:v>0.96830000000000005</c:v>
                </c:pt>
                <c:pt idx="282" formatCode="0%">
                  <c:v>0.97050000000000003</c:v>
                </c:pt>
                <c:pt idx="283" formatCode="0%">
                  <c:v>0.97050000000000003</c:v>
                </c:pt>
                <c:pt idx="284" formatCode="0%">
                  <c:v>0.97060000000000002</c:v>
                </c:pt>
                <c:pt idx="285" formatCode="0%">
                  <c:v>0.97119999999999995</c:v>
                </c:pt>
                <c:pt idx="286" formatCode="0%">
                  <c:v>0.96850000000000003</c:v>
                </c:pt>
                <c:pt idx="287" formatCode="0%">
                  <c:v>0.96619999999999995</c:v>
                </c:pt>
                <c:pt idx="288" formatCode="0%">
                  <c:v>0.96960000000000002</c:v>
                </c:pt>
                <c:pt idx="289" formatCode="0%">
                  <c:v>0.97089999999999999</c:v>
                </c:pt>
                <c:pt idx="290" formatCode="0%">
                  <c:v>0.97089999999999999</c:v>
                </c:pt>
                <c:pt idx="291" formatCode="0%">
                  <c:v>0.97099999999999997</c:v>
                </c:pt>
                <c:pt idx="292" formatCode="0%">
                  <c:v>0.97170000000000001</c:v>
                </c:pt>
                <c:pt idx="293" formatCode="0%">
                  <c:v>0.97030000000000005</c:v>
                </c:pt>
                <c:pt idx="294" formatCode="0%">
                  <c:v>0.97250000000000003</c:v>
                </c:pt>
                <c:pt idx="295" formatCode="0%">
                  <c:v>0.98229999999999995</c:v>
                </c:pt>
                <c:pt idx="296" formatCode="0%">
                  <c:v>0.99109999999999998</c:v>
                </c:pt>
                <c:pt idx="297" formatCode="0%">
                  <c:v>0.99109999999999998</c:v>
                </c:pt>
                <c:pt idx="298" formatCode="0%">
                  <c:v>0.99119999999999997</c:v>
                </c:pt>
                <c:pt idx="299" formatCode="0%">
                  <c:v>0.99109999999999998</c:v>
                </c:pt>
                <c:pt idx="300" formatCode="0%">
                  <c:v>0.98899999999999999</c:v>
                </c:pt>
                <c:pt idx="301" formatCode="0%">
                  <c:v>0.99380000000000002</c:v>
                </c:pt>
                <c:pt idx="302" formatCode="0%">
                  <c:v>0.99260000000000004</c:v>
                </c:pt>
                <c:pt idx="303" formatCode="0%">
                  <c:v>0.9919</c:v>
                </c:pt>
                <c:pt idx="304" formatCode="0%">
                  <c:v>0.99199999999999999</c:v>
                </c:pt>
                <c:pt idx="305" formatCode="0%">
                  <c:v>0.99199999999999999</c:v>
                </c:pt>
                <c:pt idx="306" formatCode="0%">
                  <c:v>0.99370000000000003</c:v>
                </c:pt>
                <c:pt idx="307" formatCode="0%">
                  <c:v>0.99529999999999996</c:v>
                </c:pt>
                <c:pt idx="308" formatCode="0%">
                  <c:v>0.99470000000000003</c:v>
                </c:pt>
                <c:pt idx="309" formatCode="0%">
                  <c:v>0.99480000000000002</c:v>
                </c:pt>
                <c:pt idx="310" formatCode="0%">
                  <c:v>0.99639999999999995</c:v>
                </c:pt>
                <c:pt idx="311" formatCode="0%">
                  <c:v>0.99639999999999995</c:v>
                </c:pt>
                <c:pt idx="312" formatCode="0%">
                  <c:v>0.99639999999999995</c:v>
                </c:pt>
                <c:pt idx="313" formatCode="0%">
                  <c:v>0.99250000000000005</c:v>
                </c:pt>
                <c:pt idx="314" formatCode="0%">
                  <c:v>0.99370000000000003</c:v>
                </c:pt>
                <c:pt idx="315" formatCode="0%">
                  <c:v>0.99429999999999996</c:v>
                </c:pt>
                <c:pt idx="316" formatCode="0%">
                  <c:v>0.9899</c:v>
                </c:pt>
                <c:pt idx="317" formatCode="0%">
                  <c:v>0.9879</c:v>
                </c:pt>
                <c:pt idx="318" formatCode="0%">
                  <c:v>0.9879</c:v>
                </c:pt>
                <c:pt idx="319" formatCode="0%">
                  <c:v>0.98799999999999999</c:v>
                </c:pt>
                <c:pt idx="320" formatCode="0%">
                  <c:v>0.9899</c:v>
                </c:pt>
                <c:pt idx="321" formatCode="0%">
                  <c:v>0.99629999999999996</c:v>
                </c:pt>
                <c:pt idx="322" formatCode="0%">
                  <c:v>0.99719999999999998</c:v>
                </c:pt>
                <c:pt idx="323" formatCode="0%">
                  <c:v>0.99909999999999999</c:v>
                </c:pt>
                <c:pt idx="324" formatCode="0%">
                  <c:v>1.0003</c:v>
                </c:pt>
                <c:pt idx="325" formatCode="0%">
                  <c:v>1.0004</c:v>
                </c:pt>
                <c:pt idx="326" formatCode="0%">
                  <c:v>1.0004</c:v>
                </c:pt>
                <c:pt idx="327" formatCode="0%">
                  <c:v>1.0003</c:v>
                </c:pt>
                <c:pt idx="328" formatCode="0%">
                  <c:v>0.99770000000000003</c:v>
                </c:pt>
                <c:pt idx="329" formatCode="0%">
                  <c:v>1.0029999999999999</c:v>
                </c:pt>
                <c:pt idx="330" formatCode="0%">
                  <c:v>1.0057</c:v>
                </c:pt>
                <c:pt idx="331" formatCode="0%">
                  <c:v>1.0057</c:v>
                </c:pt>
                <c:pt idx="332" formatCode="0%">
                  <c:v>1.0058</c:v>
                </c:pt>
                <c:pt idx="333" formatCode="0%">
                  <c:v>1.0058</c:v>
                </c:pt>
                <c:pt idx="334" formatCode="0%">
                  <c:v>1.0076000000000001</c:v>
                </c:pt>
                <c:pt idx="335" formatCode="0%">
                  <c:v>1.0039</c:v>
                </c:pt>
                <c:pt idx="336" formatCode="0%">
                  <c:v>1.0029999999999999</c:v>
                </c:pt>
                <c:pt idx="337" formatCode="0%">
                  <c:v>0.99129999999999996</c:v>
                </c:pt>
                <c:pt idx="338" formatCode="0%">
                  <c:v>0.9889</c:v>
                </c:pt>
                <c:pt idx="339" formatCode="0%">
                  <c:v>0.9889</c:v>
                </c:pt>
                <c:pt idx="340" formatCode="0%">
                  <c:v>0.9889</c:v>
                </c:pt>
                <c:pt idx="341" formatCode="0%">
                  <c:v>0.99170000000000003</c:v>
                </c:pt>
                <c:pt idx="342" formatCode="0%">
                  <c:v>0.98680000000000001</c:v>
                </c:pt>
                <c:pt idx="343" formatCode="0%">
                  <c:v>0.98429999999999995</c:v>
                </c:pt>
                <c:pt idx="344" formatCode="0%">
                  <c:v>0.9849</c:v>
                </c:pt>
                <c:pt idx="345" formatCode="0%">
                  <c:v>0.97799999999999998</c:v>
                </c:pt>
                <c:pt idx="346" formatCode="0%">
                  <c:v>0.97799999999999998</c:v>
                </c:pt>
                <c:pt idx="347" formatCode="0%">
                  <c:v>0.97809999999999997</c:v>
                </c:pt>
                <c:pt idx="348" formatCode="0%">
                  <c:v>0.97270000000000001</c:v>
                </c:pt>
                <c:pt idx="349" formatCode="0%">
                  <c:v>0.97870000000000001</c:v>
                </c:pt>
                <c:pt idx="350" formatCode="0%">
                  <c:v>0.98050000000000004</c:v>
                </c:pt>
                <c:pt idx="351" formatCode="0%">
                  <c:v>0.98619999999999997</c:v>
                </c:pt>
                <c:pt idx="352" formatCode="0%">
                  <c:v>0.98350000000000004</c:v>
                </c:pt>
                <c:pt idx="353" formatCode="0%">
                  <c:v>0.98360000000000003</c:v>
                </c:pt>
                <c:pt idx="354" formatCode="0%">
                  <c:v>0.98360000000000003</c:v>
                </c:pt>
              </c:numCache>
            </c:numRef>
          </c:val>
          <c:smooth val="0"/>
          <c:extLst>
            <c:ext xmlns:c16="http://schemas.microsoft.com/office/drawing/2014/chart" uri="{C3380CC4-5D6E-409C-BE32-E72D297353CC}">
              <c16:uniqueId val="{00000000-6BFA-46ED-A210-E9F01A7553A4}"/>
            </c:ext>
          </c:extLst>
        </c:ser>
        <c:dLbls>
          <c:showLegendKey val="0"/>
          <c:showVal val="0"/>
          <c:showCatName val="0"/>
          <c:showSerName val="0"/>
          <c:showPercent val="0"/>
          <c:showBubbleSize val="0"/>
        </c:dLbls>
        <c:smooth val="0"/>
        <c:axId val="1717237183"/>
        <c:axId val="111903199"/>
      </c:lineChart>
      <c:dateAx>
        <c:axId val="1717237183"/>
        <c:scaling>
          <c:orientation val="minMax"/>
        </c:scaling>
        <c:delete val="0"/>
        <c:axPos val="b"/>
        <c:numFmt formatCode="mmm/yy" sourceLinked="0"/>
        <c:majorTickMark val="none"/>
        <c:minorTickMark val="none"/>
        <c:tickLblPos val="nextTo"/>
        <c:spPr>
          <a:noFill/>
          <a:ln w="3175" cap="flat" cmpd="sng" algn="ctr">
            <a:solidFill>
              <a:schemeClr val="bg1">
                <a:lumMod val="65000"/>
              </a:schemeClr>
            </a:solidFill>
            <a:round/>
          </a:ln>
          <a:effectLst/>
        </c:spPr>
        <c:txPr>
          <a:bodyPr rot="-5400000" spcFirstLastPara="1" vertOverflow="ellipsis" wrap="square" anchor="ctr" anchorCtr="1"/>
          <a:lstStyle/>
          <a:p>
            <a:pPr>
              <a:defRPr sz="700" b="0" i="0" u="none" strike="noStrike" kern="1200" baseline="0">
                <a:solidFill>
                  <a:schemeClr val="tx1"/>
                </a:solidFill>
                <a:latin typeface="+mn-lt"/>
                <a:ea typeface="+mn-ea"/>
                <a:cs typeface="+mn-cs"/>
              </a:defRPr>
            </a:pPr>
            <a:endParaRPr lang="de-DE"/>
          </a:p>
        </c:txPr>
        <c:crossAx val="111903199"/>
        <c:crosses val="autoZero"/>
        <c:auto val="1"/>
        <c:lblOffset val="100"/>
        <c:baseTimeUnit val="days"/>
        <c:majorUnit val="1"/>
        <c:majorTimeUnit val="years"/>
      </c:dateAx>
      <c:valAx>
        <c:axId val="111903199"/>
        <c:scaling>
          <c:orientation val="minMax"/>
          <c:min val="0.70000000000000007"/>
        </c:scaling>
        <c:delete val="0"/>
        <c:axPos val="l"/>
        <c:majorGridlines>
          <c:spPr>
            <a:ln w="3175" cap="flat" cmpd="sng" algn="ctr">
              <a:solidFill>
                <a:schemeClr val="bg1">
                  <a:lumMod val="6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de-DE"/>
          </a:p>
        </c:txPr>
        <c:crossAx val="1717237183"/>
        <c:crosses val="autoZero"/>
        <c:crossBetween val="between"/>
        <c:majorUnit val="0.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de-DE"/>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0.41876</cdr:x>
      <cdr:y>0.9543</cdr:y>
    </cdr:from>
    <cdr:to>
      <cdr:x>1</cdr:x>
      <cdr:y>1</cdr:y>
    </cdr:to>
    <cdr:sp macro="" textlink="">
      <cdr:nvSpPr>
        <cdr:cNvPr id="3" name="Rechteck 2">
          <a:extLst xmlns:a="http://schemas.openxmlformats.org/drawingml/2006/main">
            <a:ext uri="{FF2B5EF4-FFF2-40B4-BE49-F238E27FC236}">
              <a16:creationId xmlns:a16="http://schemas.microsoft.com/office/drawing/2014/main" id="{B486B4D9-CDB7-ECCC-BB44-8564EB067353}"/>
            </a:ext>
          </a:extLst>
        </cdr:cNvPr>
        <cdr:cNvSpPr/>
      </cdr:nvSpPr>
      <cdr:spPr>
        <a:xfrm xmlns:a="http://schemas.openxmlformats.org/drawingml/2006/main">
          <a:off x="1982538" y="4134898"/>
          <a:ext cx="2718000" cy="198000"/>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lIns="0" tIns="0" rIns="0" bIns="0" anchor="b" anchorCtr="0"/>
        <a:lstStyle xmlns:a="http://schemas.openxmlformats.org/drawingml/2006/main"/>
        <a:p xmlns:a="http://schemas.openxmlformats.org/drawingml/2006/main">
          <a:pPr algn="r"/>
          <a:fld id="{46B3E4B3-49D3-4C7E-B0B8-6570E474C5AF}" type="TxLink">
            <a:rPr lang="en-US" sz="600" b="0" i="0" u="none" strike="noStrike">
              <a:solidFill>
                <a:schemeClr val="bg1">
                  <a:lumMod val="50000"/>
                </a:schemeClr>
              </a:solidFill>
              <a:latin typeface="Open Sans"/>
              <a:ea typeface="Open Sans"/>
              <a:cs typeface="Open Sans"/>
            </a:rPr>
            <a:pPr algn="r"/>
            <a:t>Quelle: Eigene Berechnung Stand: 12.02.2026</a:t>
          </a:fld>
          <a:endParaRPr lang="de-DE" sz="600" b="0">
            <a:solidFill>
              <a:schemeClr val="bg1">
                <a:lumMod val="50000"/>
              </a:schemeClr>
            </a:solidFill>
          </a:endParaRPr>
        </a:p>
      </cdr:txBody>
    </cdr:sp>
  </cdr:relSizeAnchor>
  <cdr:relSizeAnchor xmlns:cdr="http://schemas.openxmlformats.org/drawingml/2006/chartDrawing">
    <cdr:from>
      <cdr:x>0</cdr:x>
      <cdr:y>0</cdr:y>
    </cdr:from>
    <cdr:to>
      <cdr:x>1</cdr:x>
      <cdr:y>0.05195</cdr:y>
    </cdr:to>
    <cdr:sp macro="" textlink="">
      <cdr:nvSpPr>
        <cdr:cNvPr id="4" name="Rechteck 3">
          <a:extLst xmlns:a="http://schemas.openxmlformats.org/drawingml/2006/main">
            <a:ext uri="{FF2B5EF4-FFF2-40B4-BE49-F238E27FC236}">
              <a16:creationId xmlns:a16="http://schemas.microsoft.com/office/drawing/2014/main" id="{CA353F3C-C16C-48DD-C632-28129586271A}"/>
            </a:ext>
          </a:extLst>
        </cdr:cNvPr>
        <cdr:cNvSpPr/>
      </cdr:nvSpPr>
      <cdr:spPr>
        <a:xfrm xmlns:a="http://schemas.openxmlformats.org/drawingml/2006/main">
          <a:off x="0" y="0"/>
          <a:ext cx="4680000" cy="225094"/>
        </a:xfrm>
        <a:prstGeom xmlns:a="http://schemas.openxmlformats.org/drawingml/2006/main" prst="rect">
          <a:avLst/>
        </a:prstGeom>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anchor="ctr" anchorCtr="0"/>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r>
            <a:rPr lang="de-DE" sz="1000" b="1"/>
            <a:t>AKTUELLE STRUKTUR</a:t>
          </a:r>
        </a:p>
      </cdr:txBody>
    </cdr:sp>
  </cdr:relSizeAnchor>
</c:userShapes>
</file>

<file path=ppt/drawings/drawing2.xml><?xml version="1.0" encoding="utf-8"?>
<c:userShapes xmlns:c="http://schemas.openxmlformats.org/drawingml/2006/chart">
  <cdr:relSizeAnchor xmlns:cdr="http://schemas.openxmlformats.org/drawingml/2006/chartDrawing">
    <cdr:from>
      <cdr:x>0.41876</cdr:x>
      <cdr:y>0.9543</cdr:y>
    </cdr:from>
    <cdr:to>
      <cdr:x>1</cdr:x>
      <cdr:y>1</cdr:y>
    </cdr:to>
    <cdr:sp macro="" textlink="">
      <cdr:nvSpPr>
        <cdr:cNvPr id="3" name="Rechteck 2">
          <a:extLst xmlns:a="http://schemas.openxmlformats.org/drawingml/2006/main">
            <a:ext uri="{FF2B5EF4-FFF2-40B4-BE49-F238E27FC236}">
              <a16:creationId xmlns:a16="http://schemas.microsoft.com/office/drawing/2014/main" id="{B486B4D9-CDB7-ECCC-BB44-8564EB067353}"/>
            </a:ext>
          </a:extLst>
        </cdr:cNvPr>
        <cdr:cNvSpPr/>
      </cdr:nvSpPr>
      <cdr:spPr>
        <a:xfrm xmlns:a="http://schemas.openxmlformats.org/drawingml/2006/main">
          <a:off x="1982538" y="4134898"/>
          <a:ext cx="2718000" cy="198000"/>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lIns="0" tIns="0" rIns="0" bIns="0" anchor="b" anchorCtr="0"/>
        <a:lstStyle xmlns:a="http://schemas.openxmlformats.org/drawingml/2006/main"/>
        <a:p xmlns:a="http://schemas.openxmlformats.org/drawingml/2006/main">
          <a:pPr algn="r"/>
          <a:fld id="{46B3E4B3-49D3-4C7E-B0B8-6570E474C5AF}" type="TxLink">
            <a:rPr lang="en-US" sz="600" b="0" i="0" u="none" strike="noStrike">
              <a:solidFill>
                <a:schemeClr val="bg1">
                  <a:lumMod val="50000"/>
                </a:schemeClr>
              </a:solidFill>
              <a:latin typeface="Open Sans"/>
              <a:ea typeface="Open Sans"/>
              <a:cs typeface="Open Sans"/>
            </a:rPr>
            <a:pPr algn="r"/>
            <a:t>Quelle: Eigene Berechnung Stand: 12.02.2026</a:t>
          </a:fld>
          <a:endParaRPr lang="de-DE" sz="600" b="0">
            <a:solidFill>
              <a:schemeClr val="bg1">
                <a:lumMod val="50000"/>
              </a:schemeClr>
            </a:solidFill>
          </a:endParaRPr>
        </a:p>
      </cdr:txBody>
    </cdr:sp>
  </cdr:relSizeAnchor>
  <cdr:relSizeAnchor xmlns:cdr="http://schemas.openxmlformats.org/drawingml/2006/chartDrawing">
    <cdr:from>
      <cdr:x>0</cdr:x>
      <cdr:y>0</cdr:y>
    </cdr:from>
    <cdr:to>
      <cdr:x>1</cdr:x>
      <cdr:y>0.05195</cdr:y>
    </cdr:to>
    <cdr:sp macro="" textlink="">
      <cdr:nvSpPr>
        <cdr:cNvPr id="4" name="Rechteck 3">
          <a:extLst xmlns:a="http://schemas.openxmlformats.org/drawingml/2006/main">
            <a:ext uri="{FF2B5EF4-FFF2-40B4-BE49-F238E27FC236}">
              <a16:creationId xmlns:a16="http://schemas.microsoft.com/office/drawing/2014/main" id="{CA353F3C-C16C-48DD-C632-28129586271A}"/>
            </a:ext>
          </a:extLst>
        </cdr:cNvPr>
        <cdr:cNvSpPr/>
      </cdr:nvSpPr>
      <cdr:spPr>
        <a:xfrm xmlns:a="http://schemas.openxmlformats.org/drawingml/2006/main">
          <a:off x="0" y="0"/>
          <a:ext cx="4680000" cy="225094"/>
        </a:xfrm>
        <a:prstGeom xmlns:a="http://schemas.openxmlformats.org/drawingml/2006/main" prst="rect">
          <a:avLst/>
        </a:prstGeom>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anchor="ctr" anchorCtr="0"/>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r>
            <a:rPr lang="de-DE" sz="1000" b="1"/>
            <a:t>ASSETKLASSEN</a:t>
          </a:r>
        </a:p>
      </cdr:txBody>
    </cdr:sp>
  </cdr:relSizeAnchor>
</c:userShapes>
</file>

<file path=ppt/drawings/drawing3.xml><?xml version="1.0" encoding="utf-8"?>
<c:userShapes xmlns:c="http://schemas.openxmlformats.org/drawingml/2006/chart">
  <cdr:relSizeAnchor xmlns:cdr="http://schemas.openxmlformats.org/drawingml/2006/chartDrawing">
    <cdr:from>
      <cdr:x>8.17488E-17</cdr:x>
      <cdr:y>0</cdr:y>
    </cdr:from>
    <cdr:to>
      <cdr:x>1</cdr:x>
      <cdr:y>0.0524</cdr:y>
    </cdr:to>
    <cdr:sp macro="" textlink="">
      <cdr:nvSpPr>
        <cdr:cNvPr id="2" name="Rechteck 1">
          <a:extLst xmlns:a="http://schemas.openxmlformats.org/drawingml/2006/main">
            <a:ext uri="{FF2B5EF4-FFF2-40B4-BE49-F238E27FC236}">
              <a16:creationId xmlns:a16="http://schemas.microsoft.com/office/drawing/2014/main" id="{FF85F3A9-F9C0-D614-E01A-7C226F277AFD}"/>
            </a:ext>
          </a:extLst>
        </cdr:cNvPr>
        <cdr:cNvSpPr/>
      </cdr:nvSpPr>
      <cdr:spPr>
        <a:xfrm xmlns:a="http://schemas.openxmlformats.org/drawingml/2006/main">
          <a:off x="8190" y="0"/>
          <a:ext cx="4680000" cy="227123"/>
        </a:xfrm>
        <a:prstGeom xmlns:a="http://schemas.openxmlformats.org/drawingml/2006/main" prst="rect">
          <a:avLst/>
        </a:prstGeom>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nchor="ctr" anchorCtr="0"/>
        <a:lstStyle xmlns:a="http://schemas.openxmlformats.org/drawingml/2006/main"/>
        <a:p xmlns:a="http://schemas.openxmlformats.org/drawingml/2006/main">
          <a:r>
            <a:rPr lang="de-DE" sz="1000" b="1"/>
            <a:t>Branchen</a:t>
          </a:r>
        </a:p>
      </cdr:txBody>
    </cdr:sp>
  </cdr:relSizeAnchor>
  <cdr:relSizeAnchor xmlns:cdr="http://schemas.openxmlformats.org/drawingml/2006/chartDrawing">
    <cdr:from>
      <cdr:x>0.42327</cdr:x>
      <cdr:y>0.95459</cdr:y>
    </cdr:from>
    <cdr:to>
      <cdr:x>0.99857</cdr:x>
      <cdr:y>1</cdr:y>
    </cdr:to>
    <cdr:sp macro="" textlink="">
      <cdr:nvSpPr>
        <cdr:cNvPr id="3" name="Rechteck 2">
          <a:extLst xmlns:a="http://schemas.openxmlformats.org/drawingml/2006/main">
            <a:ext uri="{FF2B5EF4-FFF2-40B4-BE49-F238E27FC236}">
              <a16:creationId xmlns:a16="http://schemas.microsoft.com/office/drawing/2014/main" id="{B486B4D9-CDB7-ECCC-BB44-8564EB067353}"/>
            </a:ext>
          </a:extLst>
        </cdr:cNvPr>
        <cdr:cNvSpPr/>
      </cdr:nvSpPr>
      <cdr:spPr>
        <a:xfrm xmlns:a="http://schemas.openxmlformats.org/drawingml/2006/main">
          <a:off x="1999739" y="4132257"/>
          <a:ext cx="2718000" cy="196572"/>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lIns="0" tIns="0" rIns="0" bIns="0" anchor="b" anchorCtr="0"/>
        <a:lstStyle xmlns:a="http://schemas.openxmlformats.org/drawingml/2006/main"/>
        <a:p xmlns:a="http://schemas.openxmlformats.org/drawingml/2006/main">
          <a:pPr algn="r"/>
          <a:fld id="{46B3E4B3-49D3-4C7E-B0B8-6570E474C5AF}" type="TxLink">
            <a:rPr lang="en-US" sz="600" b="0" i="0" u="none" strike="noStrike">
              <a:solidFill>
                <a:schemeClr val="bg1">
                  <a:lumMod val="50000"/>
                </a:schemeClr>
              </a:solidFill>
              <a:latin typeface="Open Sans"/>
              <a:ea typeface="Open Sans"/>
              <a:cs typeface="Open Sans"/>
            </a:rPr>
            <a:pPr algn="r"/>
            <a:t>Quelle: Eigene Berechnung Stand: 12.02.2026</a:t>
          </a:fld>
          <a:endParaRPr lang="de-DE" sz="600" b="0">
            <a:solidFill>
              <a:schemeClr val="bg1">
                <a:lumMod val="50000"/>
              </a:schemeClr>
            </a:solidFill>
          </a:endParaRPr>
        </a:p>
      </cdr:txBody>
    </cdr:sp>
  </cdr:relSizeAnchor>
</c:userShapes>
</file>

<file path=ppt/drawings/drawing4.xml><?xml version="1.0" encoding="utf-8"?>
<c:userShapes xmlns:c="http://schemas.openxmlformats.org/drawingml/2006/chart">
  <cdr:relSizeAnchor xmlns:cdr="http://schemas.openxmlformats.org/drawingml/2006/chartDrawing">
    <cdr:from>
      <cdr:x>0</cdr:x>
      <cdr:y>0</cdr:y>
    </cdr:from>
    <cdr:to>
      <cdr:x>1</cdr:x>
      <cdr:y>0.0524</cdr:y>
    </cdr:to>
    <cdr:sp macro="" textlink="">
      <cdr:nvSpPr>
        <cdr:cNvPr id="2" name="Rechteck 1">
          <a:extLst xmlns:a="http://schemas.openxmlformats.org/drawingml/2006/main">
            <a:ext uri="{FF2B5EF4-FFF2-40B4-BE49-F238E27FC236}">
              <a16:creationId xmlns:a16="http://schemas.microsoft.com/office/drawing/2014/main" id="{FF85F3A9-F9C0-D614-E01A-7C226F277AFD}"/>
            </a:ext>
          </a:extLst>
        </cdr:cNvPr>
        <cdr:cNvSpPr/>
      </cdr:nvSpPr>
      <cdr:spPr>
        <a:xfrm xmlns:a="http://schemas.openxmlformats.org/drawingml/2006/main">
          <a:off x="0" y="0"/>
          <a:ext cx="4413300" cy="176336"/>
        </a:xfrm>
        <a:prstGeom xmlns:a="http://schemas.openxmlformats.org/drawingml/2006/main" prst="rect">
          <a:avLst/>
        </a:prstGeom>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nchor="ctr" anchorCtr="0"/>
        <a:lstStyle xmlns:a="http://schemas.openxmlformats.org/drawingml/2006/main"/>
        <a:p xmlns:a="http://schemas.openxmlformats.org/drawingml/2006/main">
          <a:r>
            <a:rPr lang="de-DE" sz="1000" b="1"/>
            <a:t>REGIONEN</a:t>
          </a:r>
        </a:p>
      </cdr:txBody>
    </cdr:sp>
  </cdr:relSizeAnchor>
  <cdr:relSizeAnchor xmlns:cdr="http://schemas.openxmlformats.org/drawingml/2006/chartDrawing">
    <cdr:from>
      <cdr:x>0.42302</cdr:x>
      <cdr:y>0.95459</cdr:y>
    </cdr:from>
    <cdr:to>
      <cdr:x>1</cdr:x>
      <cdr:y>1</cdr:y>
    </cdr:to>
    <cdr:sp macro="" textlink="">
      <cdr:nvSpPr>
        <cdr:cNvPr id="3" name="Rechteck 2">
          <a:extLst xmlns:a="http://schemas.openxmlformats.org/drawingml/2006/main">
            <a:ext uri="{FF2B5EF4-FFF2-40B4-BE49-F238E27FC236}">
              <a16:creationId xmlns:a16="http://schemas.microsoft.com/office/drawing/2014/main" id="{B486B4D9-CDB7-ECCC-BB44-8564EB067353}"/>
            </a:ext>
          </a:extLst>
        </cdr:cNvPr>
        <cdr:cNvSpPr/>
      </cdr:nvSpPr>
      <cdr:spPr>
        <a:xfrm xmlns:a="http://schemas.openxmlformats.org/drawingml/2006/main">
          <a:off x="2025420" y="3934800"/>
          <a:ext cx="2762580" cy="187200"/>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lIns="0" tIns="0" rIns="0" bIns="0" anchor="b" anchorCtr="0"/>
        <a:lstStyle xmlns:a="http://schemas.openxmlformats.org/drawingml/2006/main"/>
        <a:p xmlns:a="http://schemas.openxmlformats.org/drawingml/2006/main">
          <a:pPr algn="r"/>
          <a:fld id="{46B3E4B3-49D3-4C7E-B0B8-6570E474C5AF}" type="TxLink">
            <a:rPr lang="en-US" sz="600" b="0" i="0" u="none" strike="noStrike">
              <a:solidFill>
                <a:schemeClr val="bg1">
                  <a:lumMod val="50000"/>
                </a:schemeClr>
              </a:solidFill>
              <a:latin typeface="Open Sans"/>
              <a:ea typeface="Open Sans"/>
              <a:cs typeface="Open Sans"/>
            </a:rPr>
            <a:pPr algn="r"/>
            <a:t>Quelle: Eigene Berechnung Stand: 12.02.2026</a:t>
          </a:fld>
          <a:endParaRPr lang="de-DE" sz="600" b="0">
            <a:solidFill>
              <a:schemeClr val="bg1">
                <a:lumMod val="50000"/>
              </a:schemeClr>
            </a:solidFill>
          </a:endParaRPr>
        </a:p>
      </cdr:txBody>
    </cdr:sp>
  </cdr:relSizeAnchor>
</c:userShapes>
</file>

<file path=ppt/drawings/drawing5.xml><?xml version="1.0" encoding="utf-8"?>
<c:userShapes xmlns:c="http://schemas.openxmlformats.org/drawingml/2006/chart">
  <cdr:relSizeAnchor xmlns:cdr="http://schemas.openxmlformats.org/drawingml/2006/chartDrawing">
    <cdr:from>
      <cdr:x>8.17488E-17</cdr:x>
      <cdr:y>0</cdr:y>
    </cdr:from>
    <cdr:to>
      <cdr:x>1</cdr:x>
      <cdr:y>0.0524</cdr:y>
    </cdr:to>
    <cdr:sp macro="" textlink="">
      <cdr:nvSpPr>
        <cdr:cNvPr id="2" name="Rechteck 1">
          <a:extLst xmlns:a="http://schemas.openxmlformats.org/drawingml/2006/main">
            <a:ext uri="{FF2B5EF4-FFF2-40B4-BE49-F238E27FC236}">
              <a16:creationId xmlns:a16="http://schemas.microsoft.com/office/drawing/2014/main" id="{FF85F3A9-F9C0-D614-E01A-7C226F277AFD}"/>
            </a:ext>
          </a:extLst>
        </cdr:cNvPr>
        <cdr:cNvSpPr/>
      </cdr:nvSpPr>
      <cdr:spPr>
        <a:xfrm xmlns:a="http://schemas.openxmlformats.org/drawingml/2006/main">
          <a:off x="8190" y="0"/>
          <a:ext cx="4680000" cy="227123"/>
        </a:xfrm>
        <a:prstGeom xmlns:a="http://schemas.openxmlformats.org/drawingml/2006/main" prst="rect">
          <a:avLst/>
        </a:prstGeom>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nchor="ctr" anchorCtr="0"/>
        <a:lstStyle xmlns:a="http://schemas.openxmlformats.org/drawingml/2006/main"/>
        <a:p xmlns:a="http://schemas.openxmlformats.org/drawingml/2006/main">
          <a:r>
            <a:rPr lang="de-DE" sz="1000" b="1"/>
            <a:t>Währungen</a:t>
          </a:r>
        </a:p>
      </cdr:txBody>
    </cdr:sp>
  </cdr:relSizeAnchor>
  <cdr:relSizeAnchor xmlns:cdr="http://schemas.openxmlformats.org/drawingml/2006/chartDrawing">
    <cdr:from>
      <cdr:x>0.42327</cdr:x>
      <cdr:y>0.95459</cdr:y>
    </cdr:from>
    <cdr:to>
      <cdr:x>0.99857</cdr:x>
      <cdr:y>1</cdr:y>
    </cdr:to>
    <cdr:sp macro="" textlink="">
      <cdr:nvSpPr>
        <cdr:cNvPr id="3" name="Rechteck 2">
          <a:extLst xmlns:a="http://schemas.openxmlformats.org/drawingml/2006/main">
            <a:ext uri="{FF2B5EF4-FFF2-40B4-BE49-F238E27FC236}">
              <a16:creationId xmlns:a16="http://schemas.microsoft.com/office/drawing/2014/main" id="{B486B4D9-CDB7-ECCC-BB44-8564EB067353}"/>
            </a:ext>
          </a:extLst>
        </cdr:cNvPr>
        <cdr:cNvSpPr/>
      </cdr:nvSpPr>
      <cdr:spPr>
        <a:xfrm xmlns:a="http://schemas.openxmlformats.org/drawingml/2006/main">
          <a:off x="1999739" y="4132257"/>
          <a:ext cx="2718000" cy="196572"/>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lIns="0" tIns="0" rIns="0" bIns="0" anchor="b" anchorCtr="0"/>
        <a:lstStyle xmlns:a="http://schemas.openxmlformats.org/drawingml/2006/main"/>
        <a:p xmlns:a="http://schemas.openxmlformats.org/drawingml/2006/main">
          <a:pPr algn="r"/>
          <a:fld id="{46B3E4B3-49D3-4C7E-B0B8-6570E474C5AF}" type="TxLink">
            <a:rPr lang="en-US" sz="600" b="0" i="0" u="none" strike="noStrike">
              <a:solidFill>
                <a:schemeClr val="bg1">
                  <a:lumMod val="50000"/>
                </a:schemeClr>
              </a:solidFill>
              <a:latin typeface="Open Sans"/>
              <a:ea typeface="Open Sans"/>
              <a:cs typeface="Open Sans"/>
            </a:rPr>
            <a:pPr algn="r"/>
            <a:t>Quelle: Eigene Berechnung Stand: 12.02.2026</a:t>
          </a:fld>
          <a:endParaRPr lang="de-DE" sz="600" b="0">
            <a:solidFill>
              <a:schemeClr val="bg1">
                <a:lumMod val="50000"/>
              </a:schemeClr>
            </a:solidFill>
          </a:endParaRPr>
        </a:p>
      </cdr:txBody>
    </cdr:sp>
  </cdr:relSizeAnchor>
</c:userShapes>
</file>

<file path=ppt/drawings/drawing6.xml><?xml version="1.0" encoding="utf-8"?>
<c:userShapes xmlns:c="http://schemas.openxmlformats.org/drawingml/2006/chart">
  <cdr:relSizeAnchor xmlns:cdr="http://schemas.openxmlformats.org/drawingml/2006/chartDrawing">
    <cdr:from>
      <cdr:x>0</cdr:x>
      <cdr:y>0</cdr:y>
    </cdr:from>
    <cdr:to>
      <cdr:x>1</cdr:x>
      <cdr:y>0.07884</cdr:y>
    </cdr:to>
    <cdr:sp macro="" textlink="">
      <cdr:nvSpPr>
        <cdr:cNvPr id="2" name="Textfeld 1">
          <a:extLst xmlns:a="http://schemas.openxmlformats.org/drawingml/2006/main">
            <a:ext uri="{FF2B5EF4-FFF2-40B4-BE49-F238E27FC236}">
              <a16:creationId xmlns:a16="http://schemas.microsoft.com/office/drawing/2014/main" id="{5124338B-8963-446A-4106-0A96A0A882CC}"/>
            </a:ext>
          </a:extLst>
        </cdr:cNvPr>
        <cdr:cNvSpPr txBox="1"/>
      </cdr:nvSpPr>
      <cdr:spPr>
        <a:xfrm xmlns:a="http://schemas.openxmlformats.org/drawingml/2006/main">
          <a:off x="0" y="0"/>
          <a:ext cx="4787900" cy="228536"/>
        </a:xfrm>
        <a:prstGeom xmlns:a="http://schemas.openxmlformats.org/drawingml/2006/main" prst="rect">
          <a:avLst/>
        </a:prstGeom>
        <a:solidFill xmlns:a="http://schemas.openxmlformats.org/drawingml/2006/main">
          <a:schemeClr val="accent1"/>
        </a:solidFill>
        <a:ln xmlns:a="http://schemas.openxmlformats.org/drawingml/2006/main">
          <a:noFill/>
        </a:ln>
      </cdr:spPr>
      <cdr:txBody>
        <a:bodyPr xmlns:a="http://schemas.openxmlformats.org/drawingml/2006/main" vertOverflow="clip" wrap="square" lIns="0" tIns="0" rIns="0" bIns="0" rtlCol="0" anchor="ctr" anchorCtr="1"/>
        <a:lstStyle xmlns:a="http://schemas.openxmlformats.org/drawingml/2006/main"/>
        <a:p xmlns:a="http://schemas.openxmlformats.org/drawingml/2006/main">
          <a:r>
            <a:rPr lang="de-DE" sz="900" b="1" cap="all" baseline="0" dirty="0">
              <a:solidFill>
                <a:schemeClr val="bg1"/>
              </a:solidFill>
            </a:rPr>
            <a:t>ASSETS UNDER CONTROL DEZEMBER 2024 (OHNE INSTITUTIONELLES GESCHÄFT)</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87CD71-7110-4B19-8EA5-90FE5CA1B0D6}" type="datetimeFigureOut">
              <a:rPr lang="de-DE" smtClean="0"/>
              <a:t>12.02.2026</a:t>
            </a:fld>
            <a:endParaRPr lang="de-DE"/>
          </a:p>
        </p:txBody>
      </p:sp>
      <p:sp>
        <p:nvSpPr>
          <p:cNvPr id="4" name="Folienbildplatzhalter 3"/>
          <p:cNvSpPr>
            <a:spLocks noGrp="1" noRot="1" noChangeAspect="1"/>
          </p:cNvSpPr>
          <p:nvPr>
            <p:ph type="sldImg" idx="2"/>
          </p:nvPr>
        </p:nvSpPr>
        <p:spPr>
          <a:xfrm>
            <a:off x="1009650" y="1143000"/>
            <a:ext cx="48387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190148-D400-40F3-B43F-3D48F1E65470}" type="slidenum">
              <a:rPr lang="de-DE" smtClean="0"/>
              <a:t>‹Nr.›</a:t>
            </a:fld>
            <a:endParaRPr lang="de-DE"/>
          </a:p>
        </p:txBody>
      </p:sp>
    </p:spTree>
    <p:extLst>
      <p:ext uri="{BB962C8B-B14F-4D97-AF65-F5344CB8AC3E}">
        <p14:creationId xmlns:p14="http://schemas.microsoft.com/office/powerpoint/2010/main" val="25293109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5.png"/><Relationship Id="rId4" Type="http://schemas.openxmlformats.org/officeDocument/2006/relationships/image" Target="../media/image6.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 Id="rId3" Type="http://schemas.openxmlformats.org/officeDocument/2006/relationships/image" Target="../media/image9.png"/><Relationship Id="rId4" Type="http://schemas.openxmlformats.org/officeDocument/2006/relationships/image" Target="../media/image10.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eg"/><Relationship Id="rId3" Type="http://schemas.openxmlformats.org/officeDocument/2006/relationships/image" Target="../media/image1.png"/><Relationship Id="rId4"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eg"/><Relationship Id="rId3" Type="http://schemas.openxmlformats.org/officeDocument/2006/relationships/image" Target="../media/image1.png"/><Relationship Id="rId4"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eg"/><Relationship Id="rId3" Type="http://schemas.openxmlformats.org/officeDocument/2006/relationships/image" Target="../media/image9.png"/><Relationship Id="rId4" Type="http://schemas.openxmlformats.org/officeDocument/2006/relationships/image" Target="../media/image10.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eg"/><Relationship Id="rId3" Type="http://schemas.openxmlformats.org/officeDocument/2006/relationships/image" Target="../media/image1.png"/><Relationship Id="rId4" Type="http://schemas.openxmlformats.org/officeDocument/2006/relationships/image" Target="../media/image2.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9.png"/><Relationship Id="rId4" Type="http://schemas.openxmlformats.org/officeDocument/2006/relationships/image" Target="../media/image10.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9.png"/><Relationship Id="rId4" Type="http://schemas.openxmlformats.org/officeDocument/2006/relationships/image" Target="../media/image10.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eg"/><Relationship Id="rId3" Type="http://schemas.openxmlformats.org/officeDocument/2006/relationships/image" Target="../media/image1.png"/><Relationship Id="rId4" Type="http://schemas.openxmlformats.org/officeDocument/2006/relationships/image" Target="../media/image2.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jpe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e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Logo">
            <a:extLst>
              <a:ext uri="{FF2B5EF4-FFF2-40B4-BE49-F238E27FC236}">
                <a16:creationId xmlns:a16="http://schemas.microsoft.com/office/drawing/2014/main" id="{AD26BE29-3DD0-DD2F-4205-A4E8DAEB2E21}"/>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8102713" y="5699126"/>
            <a:ext cx="1979991" cy="604930"/>
          </a:xfrm>
          <a:prstGeom prst="rect">
            <a:avLst/>
          </a:prstGeom>
        </p:spPr>
      </p:pic>
      <p:cxnSp>
        <p:nvCxnSpPr>
          <p:cNvPr id="8" name="Linie">
            <a:extLst>
              <a:ext uri="{FF2B5EF4-FFF2-40B4-BE49-F238E27FC236}">
                <a16:creationId xmlns:a16="http://schemas.microsoft.com/office/drawing/2014/main" id="{F06A9549-BE8B-F4ED-207A-F834FC827871}"/>
              </a:ext>
            </a:extLst>
          </p:cNvPr>
          <p:cNvCxnSpPr>
            <a:cxnSpLocks noGrp="1" noRot="1" noMove="1" noResize="1" noEditPoints="1" noAdjustHandles="1" noChangeArrowheads="1" noChangeShapeType="1"/>
          </p:cNvCxnSpPr>
          <p:nvPr userDrawn="1"/>
        </p:nvCxnSpPr>
        <p:spPr>
          <a:xfrm>
            <a:off x="1006475" y="2061882"/>
            <a:ext cx="828675"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Untertitel">
            <a:extLst>
              <a:ext uri="{FF2B5EF4-FFF2-40B4-BE49-F238E27FC236}">
                <a16:creationId xmlns:a16="http://schemas.microsoft.com/office/drawing/2014/main" id="{0AFF4D17-FE0D-4ED3-7D17-07E3D1797497}"/>
              </a:ext>
            </a:extLst>
          </p:cNvPr>
          <p:cNvSpPr>
            <a:spLocks noGrp="1" noRot="1" noMove="1" noResize="1" noEditPoints="1" noAdjustHandles="1" noChangeArrowheads="1" noChangeShapeType="1"/>
          </p:cNvSpPr>
          <p:nvPr>
            <p:ph type="subTitle" idx="1"/>
          </p:nvPr>
        </p:nvSpPr>
        <p:spPr>
          <a:xfrm>
            <a:off x="1006475" y="2305508"/>
            <a:ext cx="6626225" cy="303222"/>
          </a:xfrm>
        </p:spPr>
        <p:txBody>
          <a:bodyPr/>
          <a:lstStyle>
            <a:lvl1pPr marL="0" indent="0" algn="l">
              <a:buNone/>
              <a:defRPr sz="1400" b="0" cap="all" baseline="0">
                <a:latin typeface="+mn-lt"/>
              </a:defRPr>
            </a:lvl1pPr>
            <a:lvl2pPr marL="391500" indent="0" algn="ctr">
              <a:buNone/>
              <a:defRPr sz="1713"/>
            </a:lvl2pPr>
            <a:lvl3pPr marL="783001" indent="0" algn="ctr">
              <a:buNone/>
              <a:defRPr sz="1541"/>
            </a:lvl3pPr>
            <a:lvl4pPr marL="1174501" indent="0" algn="ctr">
              <a:buNone/>
              <a:defRPr sz="1370"/>
            </a:lvl4pPr>
            <a:lvl5pPr marL="1566001" indent="0" algn="ctr">
              <a:buNone/>
              <a:defRPr sz="1370"/>
            </a:lvl5pPr>
            <a:lvl6pPr marL="1957502" indent="0" algn="ctr">
              <a:buNone/>
              <a:defRPr sz="1370"/>
            </a:lvl6pPr>
            <a:lvl7pPr marL="2349002" indent="0" algn="ctr">
              <a:buNone/>
              <a:defRPr sz="1370"/>
            </a:lvl7pPr>
            <a:lvl8pPr marL="2740503" indent="0" algn="ctr">
              <a:buNone/>
              <a:defRPr sz="1370"/>
            </a:lvl8pPr>
            <a:lvl9pPr marL="3132003" indent="0" algn="ctr">
              <a:buNone/>
              <a:defRPr sz="1370"/>
            </a:lvl9pPr>
          </a:lstStyle>
          <a:p>
            <a:r>
              <a:rPr lang="de-DE" dirty="0"/>
              <a:t>Master-Untertitelformat bearbeiten</a:t>
            </a:r>
          </a:p>
        </p:txBody>
      </p:sp>
      <p:sp>
        <p:nvSpPr>
          <p:cNvPr id="2" name="Titel">
            <a:extLst>
              <a:ext uri="{FF2B5EF4-FFF2-40B4-BE49-F238E27FC236}">
                <a16:creationId xmlns:a16="http://schemas.microsoft.com/office/drawing/2014/main" id="{C1C34371-6866-6B79-4A4E-D51B359DA61B}"/>
              </a:ext>
            </a:extLst>
          </p:cNvPr>
          <p:cNvSpPr>
            <a:spLocks noGrp="1" noRot="1" noMove="1" noResize="1" noEditPoints="1" noAdjustHandles="1" noChangeArrowheads="1" noChangeShapeType="1"/>
          </p:cNvSpPr>
          <p:nvPr>
            <p:ph type="ctrTitle"/>
          </p:nvPr>
        </p:nvSpPr>
        <p:spPr>
          <a:xfrm>
            <a:off x="1006475" y="1041400"/>
            <a:ext cx="6626225" cy="931775"/>
          </a:xfrm>
        </p:spPr>
        <p:txBody>
          <a:bodyPr tIns="0" anchor="t" anchorCtr="0"/>
          <a:lstStyle>
            <a:lvl1pPr algn="l">
              <a:lnSpc>
                <a:spcPts val="3450"/>
              </a:lnSpc>
              <a:defRPr sz="2770"/>
            </a:lvl1pPr>
          </a:lstStyle>
          <a:p>
            <a:r>
              <a:rPr lang="de-DE" dirty="0"/>
              <a:t>Mastertitelformat bearbeiten</a:t>
            </a:r>
          </a:p>
        </p:txBody>
      </p:sp>
    </p:spTree>
    <p:extLst>
      <p:ext uri="{BB962C8B-B14F-4D97-AF65-F5344CB8AC3E}">
        <p14:creationId xmlns:p14="http://schemas.microsoft.com/office/powerpoint/2010/main" val="1802536731"/>
      </p:ext>
    </p:extLst>
  </p:cSld>
  <p:clrMapOvr>
    <a:masterClrMapping/>
  </p:clrMapOvr>
  <p:extLst>
    <p:ext uri="{DCECCB84-F9BA-43D5-87BE-67443E8EF086}">
      <p15:sldGuideLst xmlns:p15="http://schemas.microsoft.com/office/powerpoint/2012/main">
        <p15:guide id="1" orient="horz" pos="2097" userDrawn="1">
          <p15:clr>
            <a:srgbClr val="FBAE40"/>
          </p15:clr>
        </p15:guide>
        <p15:guide id="2" pos="328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haltsverzeichnis">
    <p:bg>
      <p:bgPr>
        <a:solidFill>
          <a:schemeClr val="bg1"/>
        </a:solidFill>
        <a:effectLst/>
      </p:bgPr>
    </p:bg>
    <p:spTree>
      <p:nvGrpSpPr>
        <p:cNvPr id="1" name=""/>
        <p:cNvGrpSpPr/>
        <p:nvPr/>
      </p:nvGrpSpPr>
      <p:grpSpPr>
        <a:xfrm>
          <a:off x="0" y="0"/>
          <a:ext cx="0" cy="0"/>
          <a:chOff x="0" y="0"/>
          <a:chExt cx="0" cy="0"/>
        </a:xfrm>
      </p:grpSpPr>
      <p:pic>
        <p:nvPicPr>
          <p:cNvPr id="8" name="Bild" descr="Ein Bild, das Kunst, Bild, Braun, draußen enthält.&#10;&#10;Automatisch generierte Beschreibung">
            <a:extLst>
              <a:ext uri="{FF2B5EF4-FFF2-40B4-BE49-F238E27FC236}">
                <a16:creationId xmlns:a16="http://schemas.microsoft.com/office/drawing/2014/main" id="{9264BB79-86C2-7714-48D1-D0D8AA044F36}"/>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a:fillRect/>
          </a:stretch>
        </p:blipFill>
        <p:spPr>
          <a:xfrm>
            <a:off x="0" y="0"/>
            <a:ext cx="10439400" cy="2882900"/>
          </a:xfrm>
          <a:custGeom>
            <a:avLst/>
            <a:gdLst>
              <a:gd name="connsiteX0" fmla="*/ 0 w 10439400"/>
              <a:gd name="connsiteY0" fmla="*/ 0 h 2882900"/>
              <a:gd name="connsiteX1" fmla="*/ 10439400 w 10439400"/>
              <a:gd name="connsiteY1" fmla="*/ 0 h 2882900"/>
              <a:gd name="connsiteX2" fmla="*/ 10439400 w 10439400"/>
              <a:gd name="connsiteY2" fmla="*/ 2882900 h 2882900"/>
              <a:gd name="connsiteX3" fmla="*/ 10439399 w 10439400"/>
              <a:gd name="connsiteY3" fmla="*/ 2882900 h 2882900"/>
              <a:gd name="connsiteX4" fmla="*/ 10439399 w 10439400"/>
              <a:gd name="connsiteY4" fmla="*/ 1354710 h 2882900"/>
              <a:gd name="connsiteX5" fmla="*/ 1511298 w 10439400"/>
              <a:gd name="connsiteY5" fmla="*/ 1354710 h 2882900"/>
              <a:gd name="connsiteX6" fmla="*/ 1511298 w 10439400"/>
              <a:gd name="connsiteY6" fmla="*/ 2882900 h 2882900"/>
              <a:gd name="connsiteX7" fmla="*/ 0 w 10439400"/>
              <a:gd name="connsiteY7" fmla="*/ 2882900 h 288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39400" h="2882900">
                <a:moveTo>
                  <a:pt x="0" y="0"/>
                </a:moveTo>
                <a:lnTo>
                  <a:pt x="10439400" y="0"/>
                </a:lnTo>
                <a:lnTo>
                  <a:pt x="10439400" y="2882900"/>
                </a:lnTo>
                <a:lnTo>
                  <a:pt x="10439399" y="2882900"/>
                </a:lnTo>
                <a:lnTo>
                  <a:pt x="10439399" y="1354710"/>
                </a:lnTo>
                <a:lnTo>
                  <a:pt x="1511298" y="1354710"/>
                </a:lnTo>
                <a:lnTo>
                  <a:pt x="1511298" y="2882900"/>
                </a:lnTo>
                <a:lnTo>
                  <a:pt x="0" y="2882900"/>
                </a:lnTo>
                <a:close/>
              </a:path>
            </a:pathLst>
          </a:custGeom>
        </p:spPr>
      </p:pic>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2016125" y="2147233"/>
            <a:ext cx="7272338" cy="3685241"/>
          </a:xfrm>
        </p:spPr>
        <p:txBody>
          <a:bodyPr/>
          <a:lstStyle>
            <a:lvl1pPr>
              <a:spcBef>
                <a:spcPts val="0"/>
              </a:spcBef>
              <a:spcAft>
                <a:spcPts val="900"/>
              </a:spcAft>
              <a:tabLst>
                <a:tab pos="7264400" algn="r"/>
              </a:tabLst>
              <a:defRPr sz="1300"/>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2016000" y="1620000"/>
            <a:ext cx="7272337" cy="360000"/>
          </a:xfrm>
        </p:spPr>
        <p:txBody>
          <a:bodyPr/>
          <a:lstStyle/>
          <a:p>
            <a:r>
              <a:rPr lang="de-DE" dirty="0"/>
              <a:t>Mastertitelformat bearbeiten</a:t>
            </a:r>
          </a:p>
        </p:txBody>
      </p:sp>
    </p:spTree>
    <p:extLst>
      <p:ext uri="{BB962C8B-B14F-4D97-AF65-F5344CB8AC3E}">
        <p14:creationId xmlns:p14="http://schemas.microsoft.com/office/powerpoint/2010/main" val="36234304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Bild links Inhalt 1">
    <p:bg>
      <p:bgPr>
        <a:solidFill>
          <a:schemeClr val="bg1"/>
        </a:solidFill>
        <a:effectLst/>
      </p:bgPr>
    </p:bg>
    <p:spTree>
      <p:nvGrpSpPr>
        <p:cNvPr id="1" name=""/>
        <p:cNvGrpSpPr/>
        <p:nvPr/>
      </p:nvGrpSpPr>
      <p:grpSpPr>
        <a:xfrm>
          <a:off x="0" y="0"/>
          <a:ext cx="0" cy="0"/>
          <a:chOff x="0" y="0"/>
          <a:chExt cx="0" cy="0"/>
        </a:xfrm>
      </p:grpSpPr>
      <p:pic>
        <p:nvPicPr>
          <p:cNvPr id="5" name="Grafik 4" descr="Ein Bild, das Kleidung, Person, Schuhwerk, Mann enthält.&#10;&#10;Automatisch generierte Beschreibung">
            <a:extLst>
              <a:ext uri="{FF2B5EF4-FFF2-40B4-BE49-F238E27FC236}">
                <a16:creationId xmlns:a16="http://schemas.microsoft.com/office/drawing/2014/main" id="{A6D42F99-B026-35AD-FBC7-BE938A526564}"/>
              </a:ext>
            </a:extLst>
          </p:cNvPr>
          <p:cNvPicPr>
            <a:picLocks noChangeAspect="1"/>
          </p:cNvPicPr>
          <p:nvPr userDrawn="1"/>
        </p:nvPicPr>
        <p:blipFill>
          <a:blip r:embed="rId2">
            <a:extLst>
              <a:ext uri="{28A0092B-C50C-407E-A947-70E740481C1C}">
                <a14:useLocalDpi xmlns:a14="http://schemas.microsoft.com/office/drawing/2010/main" val="0"/>
              </a:ext>
            </a:extLst>
          </a:blip>
          <a:srcRect r="7411"/>
          <a:stretch>
            <a:fillRect/>
          </a:stretch>
        </p:blipFill>
        <p:spPr>
          <a:xfrm>
            <a:off x="0" y="0"/>
            <a:ext cx="5631108" cy="6659563"/>
          </a:xfrm>
          <a:custGeom>
            <a:avLst/>
            <a:gdLst>
              <a:gd name="connsiteX0" fmla="*/ 0 w 5631108"/>
              <a:gd name="connsiteY0" fmla="*/ 0 h 6659563"/>
              <a:gd name="connsiteX1" fmla="*/ 5631108 w 5631108"/>
              <a:gd name="connsiteY1" fmla="*/ 0 h 6659563"/>
              <a:gd name="connsiteX2" fmla="*/ 5631108 w 5631108"/>
              <a:gd name="connsiteY2" fmla="*/ 584462 h 6659563"/>
              <a:gd name="connsiteX3" fmla="*/ 4498975 w 5631108"/>
              <a:gd name="connsiteY3" fmla="*/ 584462 h 6659563"/>
              <a:gd name="connsiteX4" fmla="*/ 4498975 w 5631108"/>
              <a:gd name="connsiteY4" fmla="*/ 6659563 h 6659563"/>
              <a:gd name="connsiteX5" fmla="*/ 0 w 5631108"/>
              <a:gd name="connsiteY5" fmla="*/ 6659563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584462"/>
                </a:lnTo>
                <a:lnTo>
                  <a:pt x="4498975" y="584462"/>
                </a:lnTo>
                <a:lnTo>
                  <a:pt x="4498975" y="6659563"/>
                </a:lnTo>
                <a:lnTo>
                  <a:pt x="0" y="6659563"/>
                </a:lnTo>
                <a:close/>
              </a:path>
            </a:pathLst>
          </a:custGeom>
        </p:spPr>
      </p:pic>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394862" y="6149482"/>
            <a:ext cx="1577376" cy="205348"/>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411638"/>
            <a:ext cx="3960813"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33889926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Bild rechts Inhalt 1">
    <p:bg>
      <p:bgPr>
        <a:solidFill>
          <a:schemeClr val="bg1"/>
        </a:solidFill>
        <a:effectLst/>
      </p:bgPr>
    </p:bg>
    <p:spTree>
      <p:nvGrpSpPr>
        <p:cNvPr id="1" name=""/>
        <p:cNvGrpSpPr/>
        <p:nvPr/>
      </p:nvGrpSpPr>
      <p:grpSpPr>
        <a:xfrm>
          <a:off x="0" y="0"/>
          <a:ext cx="0" cy="0"/>
          <a:chOff x="0" y="0"/>
          <a:chExt cx="0" cy="0"/>
        </a:xfrm>
      </p:grpSpPr>
      <p:pic>
        <p:nvPicPr>
          <p:cNvPr id="9" name="Bild" descr="Ein Bild, das hölzern, Metall, Hartholz, Holz enthält.&#10;&#10;Automatisch generierte Beschreibung">
            <a:extLst>
              <a:ext uri="{FF2B5EF4-FFF2-40B4-BE49-F238E27FC236}">
                <a16:creationId xmlns:a16="http://schemas.microsoft.com/office/drawing/2014/main" id="{F7700124-9417-71D8-BECA-C46F5444C6A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a:fillRect/>
          </a:stretch>
        </p:blipFill>
        <p:spPr>
          <a:xfrm>
            <a:off x="4808292" y="0"/>
            <a:ext cx="5631108" cy="6659563"/>
          </a:xfrm>
          <a:custGeom>
            <a:avLst/>
            <a:gdLst>
              <a:gd name="connsiteX0" fmla="*/ 0 w 5631108"/>
              <a:gd name="connsiteY0" fmla="*/ 0 h 6659563"/>
              <a:gd name="connsiteX1" fmla="*/ 5631108 w 5631108"/>
              <a:gd name="connsiteY1" fmla="*/ 0 h 6659563"/>
              <a:gd name="connsiteX2" fmla="*/ 5631108 w 5631108"/>
              <a:gd name="connsiteY2" fmla="*/ 6659563 h 6659563"/>
              <a:gd name="connsiteX3" fmla="*/ 1167058 w 5631108"/>
              <a:gd name="connsiteY3" fmla="*/ 6659563 h 6659563"/>
              <a:gd name="connsiteX4" fmla="*/ 1167058 w 5631108"/>
              <a:gd name="connsiteY4" fmla="*/ 577516 h 6659563"/>
              <a:gd name="connsiteX5" fmla="*/ 0 w 5631108"/>
              <a:gd name="connsiteY5" fmla="*/ 577516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6659563"/>
                </a:lnTo>
                <a:lnTo>
                  <a:pt x="1167058" y="6659563"/>
                </a:lnTo>
                <a:lnTo>
                  <a:pt x="1167058" y="577516"/>
                </a:lnTo>
                <a:lnTo>
                  <a:pt x="0" y="577516"/>
                </a:lnTo>
                <a:close/>
              </a:path>
            </a:pathLst>
          </a:custGeom>
        </p:spPr>
      </p:pic>
      <p:cxnSp>
        <p:nvCxnSpPr>
          <p:cNvPr id="10" name="Linie">
            <a:extLst>
              <a:ext uri="{FF2B5EF4-FFF2-40B4-BE49-F238E27FC236}">
                <a16:creationId xmlns:a16="http://schemas.microsoft.com/office/drawing/2014/main" id="{F51A3349-350D-3945-105D-B20B2BC98103}"/>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1" name="Logo">
            <a:extLst>
              <a:ext uri="{FF2B5EF4-FFF2-40B4-BE49-F238E27FC236}">
                <a16:creationId xmlns:a16="http://schemas.microsoft.com/office/drawing/2014/main" id="{07FE2620-AF9F-1703-4AB4-57CF1BDFD800}"/>
              </a:ext>
            </a:extLst>
          </p:cNvPr>
          <p:cNvPicPr>
            <a:picLocks noGrp="1" noRo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394863" y="6149482"/>
            <a:ext cx="1577376" cy="205348"/>
          </a:xfrm>
          <a:prstGeom prst="rect">
            <a:avLst/>
          </a:prstGeom>
        </p:spPr>
      </p:pic>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3AE71D6B-ACB6-4F4C-A895-DCAEF1760EAA}" type="slidenum">
              <a:rPr lang="de-DE" smtClean="0"/>
              <a:pPr/>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1187448" y="1411638"/>
            <a:ext cx="4140201"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11878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14953966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Bild links Inhalt 2">
    <p:bg>
      <p:bgPr>
        <a:solidFill>
          <a:schemeClr val="bg1"/>
        </a:solidFill>
        <a:effectLst/>
      </p:bgPr>
    </p:bg>
    <p:spTree>
      <p:nvGrpSpPr>
        <p:cNvPr id="1" name=""/>
        <p:cNvGrpSpPr/>
        <p:nvPr/>
      </p:nvGrpSpPr>
      <p:grpSpPr>
        <a:xfrm>
          <a:off x="0" y="0"/>
          <a:ext cx="0" cy="0"/>
          <a:chOff x="0" y="0"/>
          <a:chExt cx="0" cy="0"/>
        </a:xfrm>
      </p:grpSpPr>
      <p:pic>
        <p:nvPicPr>
          <p:cNvPr id="8" name="Bild" descr="Ein Bild, das Person, Kleidung, Menschliches Gesicht, Im Haus enthält.&#10;&#10;Automatisch generierte Beschreibung">
            <a:extLst>
              <a:ext uri="{FF2B5EF4-FFF2-40B4-BE49-F238E27FC236}">
                <a16:creationId xmlns:a16="http://schemas.microsoft.com/office/drawing/2014/main" id="{53E531CC-831C-129C-6A06-1F5C735C2C3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a:fillRect/>
          </a:stretch>
        </p:blipFill>
        <p:spPr>
          <a:xfrm>
            <a:off x="0" y="0"/>
            <a:ext cx="5631108" cy="6659563"/>
          </a:xfrm>
          <a:custGeom>
            <a:avLst/>
            <a:gdLst>
              <a:gd name="connsiteX0" fmla="*/ 0 w 5631108"/>
              <a:gd name="connsiteY0" fmla="*/ 0 h 6659563"/>
              <a:gd name="connsiteX1" fmla="*/ 5631108 w 5631108"/>
              <a:gd name="connsiteY1" fmla="*/ 0 h 6659563"/>
              <a:gd name="connsiteX2" fmla="*/ 5631108 w 5631108"/>
              <a:gd name="connsiteY2" fmla="*/ 587141 h 6659563"/>
              <a:gd name="connsiteX3" fmla="*/ 4498975 w 5631108"/>
              <a:gd name="connsiteY3" fmla="*/ 587141 h 6659563"/>
              <a:gd name="connsiteX4" fmla="*/ 4498975 w 5631108"/>
              <a:gd name="connsiteY4" fmla="*/ 6659563 h 6659563"/>
              <a:gd name="connsiteX5" fmla="*/ 0 w 5631108"/>
              <a:gd name="connsiteY5" fmla="*/ 6659563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587141"/>
                </a:lnTo>
                <a:lnTo>
                  <a:pt x="4498975" y="587141"/>
                </a:lnTo>
                <a:lnTo>
                  <a:pt x="4498975" y="6659563"/>
                </a:lnTo>
                <a:lnTo>
                  <a:pt x="0" y="6659563"/>
                </a:lnTo>
                <a:close/>
              </a:path>
            </a:pathLst>
          </a:custGeom>
        </p:spPr>
      </p:pic>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394862" y="6149482"/>
            <a:ext cx="1577376" cy="205348"/>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411638"/>
            <a:ext cx="3960813"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42244487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Bild rechts Inhalt 2">
    <p:bg>
      <p:bgPr>
        <a:solidFill>
          <a:schemeClr val="bg1"/>
        </a:solidFill>
        <a:effectLst/>
      </p:bgPr>
    </p:bg>
    <p:spTree>
      <p:nvGrpSpPr>
        <p:cNvPr id="1" name=""/>
        <p:cNvGrpSpPr/>
        <p:nvPr/>
      </p:nvGrpSpPr>
      <p:grpSpPr>
        <a:xfrm>
          <a:off x="0" y="0"/>
          <a:ext cx="0" cy="0"/>
          <a:chOff x="0" y="0"/>
          <a:chExt cx="0" cy="0"/>
        </a:xfrm>
      </p:grpSpPr>
      <p:pic>
        <p:nvPicPr>
          <p:cNvPr id="9" name="Bild">
            <a:extLst>
              <a:ext uri="{FF2B5EF4-FFF2-40B4-BE49-F238E27FC236}">
                <a16:creationId xmlns:a16="http://schemas.microsoft.com/office/drawing/2014/main" id="{F7700124-9417-71D8-BECA-C46F5444C6A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4808292" y="0"/>
            <a:ext cx="5631107" cy="6659563"/>
          </a:xfrm>
          <a:custGeom>
            <a:avLst/>
            <a:gdLst>
              <a:gd name="connsiteX0" fmla="*/ 0 w 5631108"/>
              <a:gd name="connsiteY0" fmla="*/ 0 h 6659563"/>
              <a:gd name="connsiteX1" fmla="*/ 5631108 w 5631108"/>
              <a:gd name="connsiteY1" fmla="*/ 0 h 6659563"/>
              <a:gd name="connsiteX2" fmla="*/ 5631108 w 5631108"/>
              <a:gd name="connsiteY2" fmla="*/ 6659563 h 6659563"/>
              <a:gd name="connsiteX3" fmla="*/ 1167058 w 5631108"/>
              <a:gd name="connsiteY3" fmla="*/ 6659563 h 6659563"/>
              <a:gd name="connsiteX4" fmla="*/ 1167058 w 5631108"/>
              <a:gd name="connsiteY4" fmla="*/ 577516 h 6659563"/>
              <a:gd name="connsiteX5" fmla="*/ 0 w 5631108"/>
              <a:gd name="connsiteY5" fmla="*/ 577516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6659563"/>
                </a:lnTo>
                <a:lnTo>
                  <a:pt x="1167058" y="6659563"/>
                </a:lnTo>
                <a:lnTo>
                  <a:pt x="1167058" y="577516"/>
                </a:lnTo>
                <a:lnTo>
                  <a:pt x="0" y="577516"/>
                </a:lnTo>
                <a:close/>
              </a:path>
            </a:pathLst>
          </a:custGeom>
        </p:spPr>
      </p:pic>
      <p:cxnSp>
        <p:nvCxnSpPr>
          <p:cNvPr id="10" name="Linie">
            <a:extLst>
              <a:ext uri="{FF2B5EF4-FFF2-40B4-BE49-F238E27FC236}">
                <a16:creationId xmlns:a16="http://schemas.microsoft.com/office/drawing/2014/main" id="{F51A3349-350D-3945-105D-B20B2BC98103}"/>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1" name="Logo">
            <a:extLst>
              <a:ext uri="{FF2B5EF4-FFF2-40B4-BE49-F238E27FC236}">
                <a16:creationId xmlns:a16="http://schemas.microsoft.com/office/drawing/2014/main" id="{07FE2620-AF9F-1703-4AB4-57CF1BDFD800}"/>
              </a:ext>
            </a:extLst>
          </p:cNvPr>
          <p:cNvPicPr>
            <a:picLocks noGrp="1" noRo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394863" y="6149482"/>
            <a:ext cx="1577376" cy="205348"/>
          </a:xfrm>
          <a:prstGeom prst="rect">
            <a:avLst/>
          </a:prstGeom>
        </p:spPr>
      </p:pic>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lvl1pPr>
              <a:defRPr>
                <a:solidFill>
                  <a:schemeClr val="accent1"/>
                </a:solidFill>
              </a:defRPr>
            </a:lvl1pPr>
          </a:lstStyle>
          <a:p>
            <a:fld id="{3AE71D6B-ACB6-4F4C-A895-DCAEF1760EAA}" type="slidenum">
              <a:rPr lang="de-DE" smtClean="0"/>
              <a:pPr/>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1187448" y="1411638"/>
            <a:ext cx="4140201"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11878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2546221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ild links Inhalt 3">
    <p:bg>
      <p:bgPr>
        <a:solidFill>
          <a:schemeClr val="bg1"/>
        </a:solidFill>
        <a:effectLst/>
      </p:bgPr>
    </p:bg>
    <p:spTree>
      <p:nvGrpSpPr>
        <p:cNvPr id="1" name=""/>
        <p:cNvGrpSpPr/>
        <p:nvPr/>
      </p:nvGrpSpPr>
      <p:grpSpPr>
        <a:xfrm>
          <a:off x="0" y="0"/>
          <a:ext cx="0" cy="0"/>
          <a:chOff x="0" y="0"/>
          <a:chExt cx="0" cy="0"/>
        </a:xfrm>
      </p:grpSpPr>
      <p:pic>
        <p:nvPicPr>
          <p:cNvPr id="8" name="Bild">
            <a:extLst>
              <a:ext uri="{FF2B5EF4-FFF2-40B4-BE49-F238E27FC236}">
                <a16:creationId xmlns:a16="http://schemas.microsoft.com/office/drawing/2014/main" id="{53E531CC-831C-129C-6A06-1F5C735C2C3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0"/>
            <a:ext cx="5631107" cy="6659563"/>
          </a:xfrm>
          <a:custGeom>
            <a:avLst/>
            <a:gdLst>
              <a:gd name="connsiteX0" fmla="*/ 0 w 5631108"/>
              <a:gd name="connsiteY0" fmla="*/ 0 h 6659563"/>
              <a:gd name="connsiteX1" fmla="*/ 5631108 w 5631108"/>
              <a:gd name="connsiteY1" fmla="*/ 0 h 6659563"/>
              <a:gd name="connsiteX2" fmla="*/ 5631108 w 5631108"/>
              <a:gd name="connsiteY2" fmla="*/ 587141 h 6659563"/>
              <a:gd name="connsiteX3" fmla="*/ 4498975 w 5631108"/>
              <a:gd name="connsiteY3" fmla="*/ 587141 h 6659563"/>
              <a:gd name="connsiteX4" fmla="*/ 4498975 w 5631108"/>
              <a:gd name="connsiteY4" fmla="*/ 6659563 h 6659563"/>
              <a:gd name="connsiteX5" fmla="*/ 0 w 5631108"/>
              <a:gd name="connsiteY5" fmla="*/ 6659563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587141"/>
                </a:lnTo>
                <a:lnTo>
                  <a:pt x="4498975" y="587141"/>
                </a:lnTo>
                <a:lnTo>
                  <a:pt x="4498975" y="6659563"/>
                </a:lnTo>
                <a:lnTo>
                  <a:pt x="0" y="6659563"/>
                </a:lnTo>
                <a:close/>
              </a:path>
            </a:pathLst>
          </a:custGeom>
        </p:spPr>
      </p:pic>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394866" y="6149482"/>
            <a:ext cx="1577369" cy="205347"/>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411638"/>
            <a:ext cx="3960813"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204049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Bild rechts Inhalt 3">
    <p:bg>
      <p:bgPr>
        <a:solidFill>
          <a:schemeClr val="bg1"/>
        </a:solidFill>
        <a:effectLst/>
      </p:bgPr>
    </p:bg>
    <p:spTree>
      <p:nvGrpSpPr>
        <p:cNvPr id="1" name=""/>
        <p:cNvGrpSpPr/>
        <p:nvPr/>
      </p:nvGrpSpPr>
      <p:grpSpPr>
        <a:xfrm>
          <a:off x="0" y="0"/>
          <a:ext cx="0" cy="0"/>
          <a:chOff x="0" y="0"/>
          <a:chExt cx="0" cy="0"/>
        </a:xfrm>
      </p:grpSpPr>
      <p:pic>
        <p:nvPicPr>
          <p:cNvPr id="9" name="Bild">
            <a:extLst>
              <a:ext uri="{FF2B5EF4-FFF2-40B4-BE49-F238E27FC236}">
                <a16:creationId xmlns:a16="http://schemas.microsoft.com/office/drawing/2014/main" id="{F7700124-9417-71D8-BECA-C46F5444C6A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4808292" y="1"/>
            <a:ext cx="5631107" cy="6659561"/>
          </a:xfrm>
          <a:custGeom>
            <a:avLst/>
            <a:gdLst>
              <a:gd name="connsiteX0" fmla="*/ 0 w 5631108"/>
              <a:gd name="connsiteY0" fmla="*/ 0 h 6659563"/>
              <a:gd name="connsiteX1" fmla="*/ 5631108 w 5631108"/>
              <a:gd name="connsiteY1" fmla="*/ 0 h 6659563"/>
              <a:gd name="connsiteX2" fmla="*/ 5631108 w 5631108"/>
              <a:gd name="connsiteY2" fmla="*/ 6659563 h 6659563"/>
              <a:gd name="connsiteX3" fmla="*/ 1167058 w 5631108"/>
              <a:gd name="connsiteY3" fmla="*/ 6659563 h 6659563"/>
              <a:gd name="connsiteX4" fmla="*/ 1167058 w 5631108"/>
              <a:gd name="connsiteY4" fmla="*/ 577516 h 6659563"/>
              <a:gd name="connsiteX5" fmla="*/ 0 w 5631108"/>
              <a:gd name="connsiteY5" fmla="*/ 577516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6659563"/>
                </a:lnTo>
                <a:lnTo>
                  <a:pt x="1167058" y="6659563"/>
                </a:lnTo>
                <a:lnTo>
                  <a:pt x="1167058" y="577516"/>
                </a:lnTo>
                <a:lnTo>
                  <a:pt x="0" y="577516"/>
                </a:lnTo>
                <a:close/>
              </a:path>
            </a:pathLst>
          </a:custGeom>
        </p:spPr>
      </p:pic>
      <p:cxnSp>
        <p:nvCxnSpPr>
          <p:cNvPr id="10" name="Linie">
            <a:extLst>
              <a:ext uri="{FF2B5EF4-FFF2-40B4-BE49-F238E27FC236}">
                <a16:creationId xmlns:a16="http://schemas.microsoft.com/office/drawing/2014/main" id="{F51A3349-350D-3945-105D-B20B2BC98103}"/>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1" name="Logo">
            <a:extLst>
              <a:ext uri="{FF2B5EF4-FFF2-40B4-BE49-F238E27FC236}">
                <a16:creationId xmlns:a16="http://schemas.microsoft.com/office/drawing/2014/main" id="{07FE2620-AF9F-1703-4AB4-57CF1BDFD800}"/>
              </a:ext>
            </a:extLst>
          </p:cNvPr>
          <p:cNvPicPr>
            <a:picLocks noGrp="1" noRo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394863" y="6149482"/>
            <a:ext cx="1577376" cy="205348"/>
          </a:xfrm>
          <a:prstGeom prst="rect">
            <a:avLst/>
          </a:prstGeom>
        </p:spPr>
      </p:pic>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3AE71D6B-ACB6-4F4C-A895-DCAEF1760EAA}" type="slidenum">
              <a:rPr lang="de-DE" smtClean="0"/>
              <a:pPr/>
              <a:t>‹Nr.›</a:t>
            </a:fld>
            <a:endParaRPr lang="de-DE" dirty="0"/>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1187448" y="1411638"/>
            <a:ext cx="4140201"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11878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1687416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Bild links Inhalt 4">
    <p:bg>
      <p:bgPr>
        <a:solidFill>
          <a:schemeClr val="bg1"/>
        </a:solidFill>
        <a:effectLst/>
      </p:bgPr>
    </p:bg>
    <p:spTree>
      <p:nvGrpSpPr>
        <p:cNvPr id="1" name=""/>
        <p:cNvGrpSpPr/>
        <p:nvPr/>
      </p:nvGrpSpPr>
      <p:grpSpPr>
        <a:xfrm>
          <a:off x="0" y="0"/>
          <a:ext cx="0" cy="0"/>
          <a:chOff x="0" y="0"/>
          <a:chExt cx="0" cy="0"/>
        </a:xfrm>
      </p:grpSpPr>
      <p:pic>
        <p:nvPicPr>
          <p:cNvPr id="8" name="Bild">
            <a:extLst>
              <a:ext uri="{FF2B5EF4-FFF2-40B4-BE49-F238E27FC236}">
                <a16:creationId xmlns:a16="http://schemas.microsoft.com/office/drawing/2014/main" id="{53E531CC-831C-129C-6A06-1F5C735C2C3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1"/>
            <a:ext cx="5631107" cy="6659561"/>
          </a:xfrm>
          <a:custGeom>
            <a:avLst/>
            <a:gdLst>
              <a:gd name="connsiteX0" fmla="*/ 0 w 5631108"/>
              <a:gd name="connsiteY0" fmla="*/ 0 h 6659563"/>
              <a:gd name="connsiteX1" fmla="*/ 5631108 w 5631108"/>
              <a:gd name="connsiteY1" fmla="*/ 0 h 6659563"/>
              <a:gd name="connsiteX2" fmla="*/ 5631108 w 5631108"/>
              <a:gd name="connsiteY2" fmla="*/ 587141 h 6659563"/>
              <a:gd name="connsiteX3" fmla="*/ 4498975 w 5631108"/>
              <a:gd name="connsiteY3" fmla="*/ 587141 h 6659563"/>
              <a:gd name="connsiteX4" fmla="*/ 4498975 w 5631108"/>
              <a:gd name="connsiteY4" fmla="*/ 6659563 h 6659563"/>
              <a:gd name="connsiteX5" fmla="*/ 0 w 5631108"/>
              <a:gd name="connsiteY5" fmla="*/ 6659563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587141"/>
                </a:lnTo>
                <a:lnTo>
                  <a:pt x="4498975" y="587141"/>
                </a:lnTo>
                <a:lnTo>
                  <a:pt x="4498975" y="6659563"/>
                </a:lnTo>
                <a:lnTo>
                  <a:pt x="0" y="6659563"/>
                </a:lnTo>
                <a:close/>
              </a:path>
            </a:pathLst>
          </a:custGeom>
        </p:spPr>
      </p:pic>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394866" y="6149482"/>
            <a:ext cx="1577369" cy="205347"/>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 name="Linie unten">
            <a:extLst>
              <a:ext uri="{FF2B5EF4-FFF2-40B4-BE49-F238E27FC236}">
                <a16:creationId xmlns:a16="http://schemas.microsoft.com/office/drawing/2014/main" id="{551D5771-5F33-1B94-F572-1D3F5C78F789}"/>
              </a:ext>
            </a:extLst>
          </p:cNvPr>
          <p:cNvCxnSpPr>
            <a:cxnSpLocks noGrp="1" noRot="1" noMove="1" noResize="1" noEditPoints="1" noAdjustHandles="1" noChangeArrowheads="1" noChangeShapeType="1"/>
          </p:cNvCxnSpPr>
          <p:nvPr userDrawn="1"/>
        </p:nvCxnSpPr>
        <p:spPr>
          <a:xfrm>
            <a:off x="5327650" y="4289818"/>
            <a:ext cx="4787899"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5" name="Inhalt2">
            <a:extLst>
              <a:ext uri="{FF2B5EF4-FFF2-40B4-BE49-F238E27FC236}">
                <a16:creationId xmlns:a16="http://schemas.microsoft.com/office/drawing/2014/main" id="{2334F1FD-34A0-6C6F-61E6-A156D657FC55}"/>
              </a:ext>
            </a:extLst>
          </p:cNvPr>
          <p:cNvSpPr>
            <a:spLocks noGrp="1" noRot="1" noMove="1" noResize="1" noEditPoints="1" noAdjustHandles="1" noChangeArrowheads="1" noChangeShapeType="1"/>
          </p:cNvSpPr>
          <p:nvPr>
            <p:ph sz="quarter" idx="13"/>
          </p:nvPr>
        </p:nvSpPr>
        <p:spPr>
          <a:xfrm>
            <a:off x="5327650" y="4759325"/>
            <a:ext cx="4787900" cy="1304925"/>
          </a:xfrm>
        </p:spPr>
        <p:txBody>
          <a:bodyPr/>
          <a:lstStyle>
            <a:lvl2pPr>
              <a:tabLst>
                <a:tab pos="1798638" algn="l"/>
              </a:tabLst>
              <a:defRPr/>
            </a:lvl2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411639"/>
            <a:ext cx="4787900" cy="2878180"/>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33428743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ild links Inhalt 5">
    <p:bg>
      <p:bgPr>
        <a:solidFill>
          <a:schemeClr val="bg1"/>
        </a:solidFill>
        <a:effectLst/>
      </p:bgPr>
    </p:bg>
    <p:spTree>
      <p:nvGrpSpPr>
        <p:cNvPr id="1" name=""/>
        <p:cNvGrpSpPr/>
        <p:nvPr/>
      </p:nvGrpSpPr>
      <p:grpSpPr>
        <a:xfrm>
          <a:off x="0" y="0"/>
          <a:ext cx="0" cy="0"/>
          <a:chOff x="0" y="0"/>
          <a:chExt cx="0" cy="0"/>
        </a:xfrm>
      </p:grpSpPr>
      <p:pic>
        <p:nvPicPr>
          <p:cNvPr id="8" name="Bild">
            <a:extLst>
              <a:ext uri="{FF2B5EF4-FFF2-40B4-BE49-F238E27FC236}">
                <a16:creationId xmlns:a16="http://schemas.microsoft.com/office/drawing/2014/main" id="{53E531CC-831C-129C-6A06-1F5C735C2C3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1"/>
            <a:ext cx="5631107" cy="6659561"/>
          </a:xfrm>
          <a:custGeom>
            <a:avLst/>
            <a:gdLst>
              <a:gd name="connsiteX0" fmla="*/ 0 w 5631108"/>
              <a:gd name="connsiteY0" fmla="*/ 0 h 6659563"/>
              <a:gd name="connsiteX1" fmla="*/ 5631108 w 5631108"/>
              <a:gd name="connsiteY1" fmla="*/ 0 h 6659563"/>
              <a:gd name="connsiteX2" fmla="*/ 5631108 w 5631108"/>
              <a:gd name="connsiteY2" fmla="*/ 587141 h 6659563"/>
              <a:gd name="connsiteX3" fmla="*/ 4498975 w 5631108"/>
              <a:gd name="connsiteY3" fmla="*/ 587141 h 6659563"/>
              <a:gd name="connsiteX4" fmla="*/ 4498975 w 5631108"/>
              <a:gd name="connsiteY4" fmla="*/ 6659563 h 6659563"/>
              <a:gd name="connsiteX5" fmla="*/ 0 w 5631108"/>
              <a:gd name="connsiteY5" fmla="*/ 6659563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587141"/>
                </a:lnTo>
                <a:lnTo>
                  <a:pt x="4498975" y="587141"/>
                </a:lnTo>
                <a:lnTo>
                  <a:pt x="4498975" y="6659563"/>
                </a:lnTo>
                <a:lnTo>
                  <a:pt x="0" y="6659563"/>
                </a:lnTo>
                <a:close/>
              </a:path>
            </a:pathLst>
          </a:custGeom>
        </p:spPr>
      </p:pic>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394866" y="6149482"/>
            <a:ext cx="1577369" cy="205347"/>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676400"/>
            <a:ext cx="3960813" cy="4156076"/>
          </a:xfrm>
        </p:spPr>
        <p:txBody>
          <a:bodyPr/>
          <a:lstStyle>
            <a:lvl1pPr>
              <a:spcBef>
                <a:spcPts val="1600"/>
              </a:spcBef>
              <a:defRPr b="0">
                <a:solidFill>
                  <a:schemeClr val="tx1"/>
                </a:solidFill>
                <a:latin typeface="+mn-lt"/>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583680"/>
          </a:xfrm>
        </p:spPr>
        <p:txBody>
          <a:bodyPr/>
          <a:lstStyle/>
          <a:p>
            <a:r>
              <a:rPr lang="de-DE" dirty="0"/>
              <a:t>Mastertitelformat bearbeiten</a:t>
            </a:r>
          </a:p>
        </p:txBody>
      </p:sp>
    </p:spTree>
    <p:extLst>
      <p:ext uri="{BB962C8B-B14F-4D97-AF65-F5344CB8AC3E}">
        <p14:creationId xmlns:p14="http://schemas.microsoft.com/office/powerpoint/2010/main" val="38928487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Bild rechts Inhalt 5">
    <p:bg>
      <p:bgPr>
        <a:solidFill>
          <a:schemeClr val="bg1"/>
        </a:solidFill>
        <a:effectLst/>
      </p:bgPr>
    </p:bg>
    <p:spTree>
      <p:nvGrpSpPr>
        <p:cNvPr id="1" name=""/>
        <p:cNvGrpSpPr/>
        <p:nvPr/>
      </p:nvGrpSpPr>
      <p:grpSpPr>
        <a:xfrm>
          <a:off x="0" y="0"/>
          <a:ext cx="0" cy="0"/>
          <a:chOff x="0" y="0"/>
          <a:chExt cx="0" cy="0"/>
        </a:xfrm>
      </p:grpSpPr>
      <p:pic>
        <p:nvPicPr>
          <p:cNvPr id="9" name="Bild">
            <a:extLst>
              <a:ext uri="{FF2B5EF4-FFF2-40B4-BE49-F238E27FC236}">
                <a16:creationId xmlns:a16="http://schemas.microsoft.com/office/drawing/2014/main" id="{F7700124-9417-71D8-BECA-C46F5444C6A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4808292" y="1"/>
            <a:ext cx="5631106" cy="6659561"/>
          </a:xfrm>
          <a:custGeom>
            <a:avLst/>
            <a:gdLst>
              <a:gd name="connsiteX0" fmla="*/ 0 w 5631108"/>
              <a:gd name="connsiteY0" fmla="*/ 0 h 6659563"/>
              <a:gd name="connsiteX1" fmla="*/ 5631108 w 5631108"/>
              <a:gd name="connsiteY1" fmla="*/ 0 h 6659563"/>
              <a:gd name="connsiteX2" fmla="*/ 5631108 w 5631108"/>
              <a:gd name="connsiteY2" fmla="*/ 6659563 h 6659563"/>
              <a:gd name="connsiteX3" fmla="*/ 1167058 w 5631108"/>
              <a:gd name="connsiteY3" fmla="*/ 6659563 h 6659563"/>
              <a:gd name="connsiteX4" fmla="*/ 1167058 w 5631108"/>
              <a:gd name="connsiteY4" fmla="*/ 577516 h 6659563"/>
              <a:gd name="connsiteX5" fmla="*/ 0 w 5631108"/>
              <a:gd name="connsiteY5" fmla="*/ 577516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6659563"/>
                </a:lnTo>
                <a:lnTo>
                  <a:pt x="1167058" y="6659563"/>
                </a:lnTo>
                <a:lnTo>
                  <a:pt x="1167058" y="577516"/>
                </a:lnTo>
                <a:lnTo>
                  <a:pt x="0" y="577516"/>
                </a:lnTo>
                <a:close/>
              </a:path>
            </a:pathLst>
          </a:custGeom>
        </p:spPr>
      </p:pic>
      <p:cxnSp>
        <p:nvCxnSpPr>
          <p:cNvPr id="10" name="Linie">
            <a:extLst>
              <a:ext uri="{FF2B5EF4-FFF2-40B4-BE49-F238E27FC236}">
                <a16:creationId xmlns:a16="http://schemas.microsoft.com/office/drawing/2014/main" id="{F51A3349-350D-3945-105D-B20B2BC98103}"/>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1" name="Logo">
            <a:extLst>
              <a:ext uri="{FF2B5EF4-FFF2-40B4-BE49-F238E27FC236}">
                <a16:creationId xmlns:a16="http://schemas.microsoft.com/office/drawing/2014/main" id="{07FE2620-AF9F-1703-4AB4-57CF1BDFD800}"/>
              </a:ext>
            </a:extLst>
          </p:cNvPr>
          <p:cNvPicPr>
            <a:picLocks noGrp="1" noRo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394863" y="6149482"/>
            <a:ext cx="1577376" cy="205348"/>
          </a:xfrm>
          <a:prstGeom prst="rect">
            <a:avLst/>
          </a:prstGeom>
        </p:spPr>
      </p:pic>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3AE71D6B-ACB6-4F4C-A895-DCAEF1760EAA}" type="slidenum">
              <a:rPr lang="de-DE" smtClean="0"/>
              <a:pPr/>
              <a:t>‹Nr.›</a:t>
            </a:fld>
            <a:endParaRPr lang="de-DE" dirty="0"/>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1187448" y="1411638"/>
            <a:ext cx="4140201" cy="4420838"/>
          </a:xfrm>
        </p:spPr>
        <p:txBody>
          <a:bodyPr/>
          <a:lstStyle>
            <a:lvl1pPr>
              <a:spcBef>
                <a:spcPts val="1600"/>
              </a:spcBef>
              <a:defRPr b="0">
                <a:solidFill>
                  <a:schemeClr val="tx1"/>
                </a:solidFill>
                <a:latin typeface="+mn-lt"/>
              </a:defRPr>
            </a:lvl1pPr>
            <a:lvl2pPr>
              <a:lnSpc>
                <a:spcPts val="1900"/>
              </a:lnSpc>
              <a:spcBef>
                <a:spcPts val="1800"/>
              </a:spcBef>
              <a:defRPr sz="1500" b="1">
                <a:solidFill>
                  <a:schemeClr val="accent3"/>
                </a:solidFill>
                <a:latin typeface="+mj-lt"/>
              </a:defRPr>
            </a:lvl2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11878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27728260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el 1 Inhalt">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358774" y="1041401"/>
            <a:ext cx="9756775"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33583645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el 2 Inhalte">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4" name="Inhalt 2">
            <a:extLst>
              <a:ext uri="{FF2B5EF4-FFF2-40B4-BE49-F238E27FC236}">
                <a16:creationId xmlns:a16="http://schemas.microsoft.com/office/drawing/2014/main" id="{4818D79A-2268-D45E-08FC-24A90E0E65C8}"/>
              </a:ext>
            </a:extLst>
          </p:cNvPr>
          <p:cNvSpPr>
            <a:spLocks noGrp="1" noRot="1" noMove="1" noResize="1" noEditPoints="1" noAdjustHandles="1" noChangeArrowheads="1" noChangeShapeType="1"/>
          </p:cNvSpPr>
          <p:nvPr>
            <p:ph idx="13"/>
          </p:nvPr>
        </p:nvSpPr>
        <p:spPr>
          <a:xfrm>
            <a:off x="3671888" y="1041401"/>
            <a:ext cx="6443662"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Inhalt 1">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358774" y="1041401"/>
            <a:ext cx="3132139" cy="4791074"/>
          </a:xfrm>
        </p:spPr>
        <p:txBody>
          <a:bodyPr/>
          <a:lstStyle>
            <a:lvl3pPr marL="108000" indent="-108000">
              <a:buFontTx/>
              <a:buBlip>
                <a:blip r:embed="rId2"/>
              </a:buBlip>
              <a:defRPr/>
            </a:lvl3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9032872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el 3 Inhalte">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5" name="Inhalt 3">
            <a:extLst>
              <a:ext uri="{FF2B5EF4-FFF2-40B4-BE49-F238E27FC236}">
                <a16:creationId xmlns:a16="http://schemas.microsoft.com/office/drawing/2014/main" id="{9506A371-2FE5-4393-8549-089825558FBF}"/>
              </a:ext>
            </a:extLst>
          </p:cNvPr>
          <p:cNvSpPr>
            <a:spLocks noGrp="1" noRot="1" noMove="1" noResize="1" noEditPoints="1" noAdjustHandles="1" noChangeArrowheads="1" noChangeShapeType="1"/>
          </p:cNvSpPr>
          <p:nvPr>
            <p:ph idx="14"/>
          </p:nvPr>
        </p:nvSpPr>
        <p:spPr>
          <a:xfrm>
            <a:off x="6985002" y="1041401"/>
            <a:ext cx="3132139"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Inhalt 2">
            <a:extLst>
              <a:ext uri="{FF2B5EF4-FFF2-40B4-BE49-F238E27FC236}">
                <a16:creationId xmlns:a16="http://schemas.microsoft.com/office/drawing/2014/main" id="{4818D79A-2268-D45E-08FC-24A90E0E65C8}"/>
              </a:ext>
            </a:extLst>
          </p:cNvPr>
          <p:cNvSpPr>
            <a:spLocks noGrp="1" noRot="1" noMove="1" noResize="1" noEditPoints="1" noAdjustHandles="1" noChangeArrowheads="1" noChangeShapeType="1"/>
          </p:cNvSpPr>
          <p:nvPr>
            <p:ph idx="13"/>
          </p:nvPr>
        </p:nvSpPr>
        <p:spPr>
          <a:xfrm>
            <a:off x="3671888" y="1041401"/>
            <a:ext cx="3132139"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Inhalt 1">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358774" y="1041401"/>
            <a:ext cx="3132139"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34400009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links Inhalt">
    <p:bg>
      <p:bgPr>
        <a:solidFill>
          <a:schemeClr val="bg1"/>
        </a:solidFill>
        <a:effectLst/>
      </p:bgPr>
    </p:bg>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cxnSp>
        <p:nvCxnSpPr>
          <p:cNvPr id="11" name="Linie unten">
            <a:extLst>
              <a:ext uri="{FF2B5EF4-FFF2-40B4-BE49-F238E27FC236}">
                <a16:creationId xmlns:a16="http://schemas.microsoft.com/office/drawing/2014/main" id="{B5CA13E5-1FAD-76FC-E7DE-8A3F9AF9CBBD}"/>
              </a:ext>
            </a:extLst>
          </p:cNvPr>
          <p:cNvCxnSpPr>
            <a:cxnSpLocks noGrp="1" noRot="1" noMove="1" noResize="1" noEditPoints="1" noAdjustHandles="1" noChangeArrowheads="1" noChangeShapeType="1"/>
          </p:cNvCxnSpPr>
          <p:nvPr userDrawn="1"/>
        </p:nvCxnSpPr>
        <p:spPr>
          <a:xfrm>
            <a:off x="3671888" y="4706378"/>
            <a:ext cx="6443661"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Linie oben">
            <a:extLst>
              <a:ext uri="{FF2B5EF4-FFF2-40B4-BE49-F238E27FC236}">
                <a16:creationId xmlns:a16="http://schemas.microsoft.com/office/drawing/2014/main" id="{2491C51B-9AD5-C5E7-D799-FB1EF1A23302}"/>
              </a:ext>
            </a:extLst>
          </p:cNvPr>
          <p:cNvCxnSpPr>
            <a:cxnSpLocks noGrp="1" noRot="1" noMove="1" noResize="1" noEditPoints="1" noAdjustHandles="1" noChangeArrowheads="1" noChangeShapeType="1"/>
          </p:cNvCxnSpPr>
          <p:nvPr userDrawn="1"/>
        </p:nvCxnSpPr>
        <p:spPr>
          <a:xfrm>
            <a:off x="3671888" y="1041400"/>
            <a:ext cx="6443661"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3671888" y="1041401"/>
            <a:ext cx="6443661" cy="3656012"/>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Text">
            <a:extLst>
              <a:ext uri="{FF2B5EF4-FFF2-40B4-BE49-F238E27FC236}">
                <a16:creationId xmlns:a16="http://schemas.microsoft.com/office/drawing/2014/main" id="{860E9E8B-F7A7-A548-BBFA-F5137E763ED8}"/>
              </a:ext>
            </a:extLst>
          </p:cNvPr>
          <p:cNvSpPr>
            <a:spLocks noGrp="1" noRot="1" noMove="1" noResize="1" noEditPoints="1" noAdjustHandles="1" noChangeArrowheads="1" noChangeShapeType="1"/>
          </p:cNvSpPr>
          <p:nvPr>
            <p:ph type="body" sz="quarter" idx="13"/>
          </p:nvPr>
        </p:nvSpPr>
        <p:spPr>
          <a:xfrm>
            <a:off x="358775" y="1041400"/>
            <a:ext cx="3132138" cy="3656013"/>
          </a:xfrm>
        </p:spPr>
        <p:txBody>
          <a:bodyPr/>
          <a:lstStyle>
            <a:lvl1pPr marL="144000" indent="-144000">
              <a:buFontTx/>
              <a:buBlip>
                <a:blip r:embed="rId2"/>
              </a:buBlip>
              <a:defRPr b="0">
                <a:solidFill>
                  <a:schemeClr val="tx1"/>
                </a:solidFill>
                <a:latin typeface="+mn-lt"/>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3874320146"/>
      </p:ext>
    </p:extLst>
  </p:cSld>
  <p:clrMapOvr>
    <a:masterClrMapping/>
  </p:clrMapOvr>
  <p:extLst>
    <p:ext uri="{DCECCB84-F9BA-43D5-87BE-67443E8EF086}">
      <p15:sldGuideLst xmlns:p15="http://schemas.microsoft.com/office/powerpoint/2012/main">
        <p15:guide id="1" orient="horz" pos="2959"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nlagestrategie">
    <p:bg>
      <p:bgPr>
        <a:solidFill>
          <a:schemeClr val="bg1"/>
        </a:solidFill>
        <a:effectLst/>
      </p:bgPr>
    </p:bg>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cxnSp>
        <p:nvCxnSpPr>
          <p:cNvPr id="7" name="Linie rechts">
            <a:extLst>
              <a:ext uri="{FF2B5EF4-FFF2-40B4-BE49-F238E27FC236}">
                <a16:creationId xmlns:a16="http://schemas.microsoft.com/office/drawing/2014/main" id="{A5ABBF84-B345-ABF9-7BD6-D1761EA99283}"/>
              </a:ext>
            </a:extLst>
          </p:cNvPr>
          <p:cNvCxnSpPr>
            <a:cxnSpLocks noGrp="1" noRot="1" noMove="1" noResize="1" noEditPoints="1" noAdjustHandles="1" noChangeArrowheads="1" noChangeShapeType="1"/>
          </p:cNvCxnSpPr>
          <p:nvPr userDrawn="1"/>
        </p:nvCxnSpPr>
        <p:spPr>
          <a:xfrm>
            <a:off x="4504801" y="5832475"/>
            <a:ext cx="56160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 name="Linie links">
            <a:extLst>
              <a:ext uri="{FF2B5EF4-FFF2-40B4-BE49-F238E27FC236}">
                <a16:creationId xmlns:a16="http://schemas.microsoft.com/office/drawing/2014/main" id="{BB477708-9E90-3D08-DAEE-6728F2DEA9B9}"/>
              </a:ext>
            </a:extLst>
          </p:cNvPr>
          <p:cNvCxnSpPr>
            <a:cxnSpLocks noGrp="1" noRot="1" noMove="1" noResize="1" noEditPoints="1" noAdjustHandles="1" noChangeArrowheads="1" noChangeShapeType="1"/>
          </p:cNvCxnSpPr>
          <p:nvPr userDrawn="1"/>
        </p:nvCxnSpPr>
        <p:spPr>
          <a:xfrm>
            <a:off x="352779" y="5832475"/>
            <a:ext cx="3960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Tabelle">
            <a:extLst>
              <a:ext uri="{FF2B5EF4-FFF2-40B4-BE49-F238E27FC236}">
                <a16:creationId xmlns:a16="http://schemas.microsoft.com/office/drawing/2014/main" id="{9E812005-7793-D92F-6E15-643D1E827060}"/>
              </a:ext>
            </a:extLst>
          </p:cNvPr>
          <p:cNvSpPr>
            <a:spLocks noGrp="1" noRot="1" noMove="1" noResize="1" noEditPoints="1" noAdjustHandles="1" noChangeArrowheads="1" noChangeShapeType="1"/>
          </p:cNvSpPr>
          <p:nvPr>
            <p:ph type="tbl" sz="quarter" idx="13"/>
          </p:nvPr>
        </p:nvSpPr>
        <p:spPr>
          <a:xfrm>
            <a:off x="349068" y="1041400"/>
            <a:ext cx="3970519" cy="1484086"/>
          </a:xfrm>
        </p:spPr>
        <p:txBody>
          <a:bodyPr/>
          <a:lstStyle>
            <a:lvl1pPr>
              <a:defRPr sz="900"/>
            </a:lvl1pPr>
          </a:lstStyle>
          <a:p>
            <a:endParaRPr lang="de-DE" dirty="0"/>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39112825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nlagestrategie Wertentwicklung">
    <p:bg>
      <p:bgPr>
        <a:solidFill>
          <a:schemeClr val="bg1"/>
        </a:solidFill>
        <a:effectLst/>
      </p:bgPr>
    </p:bg>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p:cNvSpPr>
          <p:nvPr>
            <p:ph type="sldNum" sz="quarter" idx="12"/>
          </p:nvPr>
        </p:nvSpPr>
        <p:spPr/>
        <p:txBody>
          <a:bodyPr/>
          <a:lstStyle/>
          <a:p>
            <a:fld id="{3AE71D6B-ACB6-4F4C-A895-DCAEF1760EAA}" type="slidenum">
              <a:rPr lang="de-DE" smtClean="0"/>
              <a:t>‹Nr.›</a:t>
            </a:fld>
            <a:endParaRPr lang="de-DE"/>
          </a:p>
        </p:txBody>
      </p:sp>
      <p:cxnSp>
        <p:nvCxnSpPr>
          <p:cNvPr id="7" name="Linie rechts">
            <a:extLst>
              <a:ext uri="{FF2B5EF4-FFF2-40B4-BE49-F238E27FC236}">
                <a16:creationId xmlns:a16="http://schemas.microsoft.com/office/drawing/2014/main" id="{A5ABBF84-B345-ABF9-7BD6-D1761EA99283}"/>
              </a:ext>
            </a:extLst>
          </p:cNvPr>
          <p:cNvCxnSpPr>
            <a:cxnSpLocks/>
          </p:cNvCxnSpPr>
          <p:nvPr userDrawn="1"/>
        </p:nvCxnSpPr>
        <p:spPr>
          <a:xfrm>
            <a:off x="4504801" y="3857371"/>
            <a:ext cx="56160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 name="Linie links">
            <a:extLst>
              <a:ext uri="{FF2B5EF4-FFF2-40B4-BE49-F238E27FC236}">
                <a16:creationId xmlns:a16="http://schemas.microsoft.com/office/drawing/2014/main" id="{BB477708-9E90-3D08-DAEE-6728F2DEA9B9}"/>
              </a:ext>
            </a:extLst>
          </p:cNvPr>
          <p:cNvCxnSpPr>
            <a:cxnSpLocks/>
          </p:cNvCxnSpPr>
          <p:nvPr userDrawn="1"/>
        </p:nvCxnSpPr>
        <p:spPr>
          <a:xfrm>
            <a:off x="352779" y="4989784"/>
            <a:ext cx="3960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2" name="Fußnote">
            <a:extLst>
              <a:ext uri="{FF2B5EF4-FFF2-40B4-BE49-F238E27FC236}">
                <a16:creationId xmlns:a16="http://schemas.microsoft.com/office/drawing/2014/main" id="{ACF591ED-F264-96FA-8DD9-A565806966B6}"/>
              </a:ext>
            </a:extLst>
          </p:cNvPr>
          <p:cNvSpPr>
            <a:spLocks noGrp="1"/>
          </p:cNvSpPr>
          <p:nvPr>
            <p:ph type="body" sz="quarter" idx="16"/>
          </p:nvPr>
        </p:nvSpPr>
        <p:spPr>
          <a:xfrm>
            <a:off x="4498975" y="4016375"/>
            <a:ext cx="5616575" cy="1816100"/>
          </a:xfrm>
        </p:spPr>
        <p:txBody>
          <a:bodyPr/>
          <a:lstStyle>
            <a:lvl1pPr>
              <a:lnSpc>
                <a:spcPct val="100000"/>
              </a:lnSpc>
              <a:spcBef>
                <a:spcPts val="0"/>
              </a:spcBef>
              <a:spcAft>
                <a:spcPts val="0"/>
              </a:spcAft>
              <a:defRPr sz="600" b="0">
                <a:solidFill>
                  <a:schemeClr val="tx1"/>
                </a:solidFill>
                <a:latin typeface="+mn-lt"/>
              </a:defRPr>
            </a:lvl1pPr>
          </a:lstStyle>
          <a:p>
            <a:pPr lvl="0"/>
            <a:r>
              <a:rPr lang="de-DE" dirty="0"/>
              <a:t>Mastertextformat bearbeiten</a:t>
            </a:r>
          </a:p>
        </p:txBody>
      </p:sp>
      <p:sp>
        <p:nvSpPr>
          <p:cNvPr id="10" name="Diagramm rechts">
            <a:extLst>
              <a:ext uri="{FF2B5EF4-FFF2-40B4-BE49-F238E27FC236}">
                <a16:creationId xmlns:a16="http://schemas.microsoft.com/office/drawing/2014/main" id="{3A021442-F816-3F0A-E1A7-279CBD5A07BC}"/>
              </a:ext>
            </a:extLst>
          </p:cNvPr>
          <p:cNvSpPr>
            <a:spLocks noGrp="1"/>
          </p:cNvSpPr>
          <p:nvPr>
            <p:ph type="chart" sz="quarter" idx="15"/>
          </p:nvPr>
        </p:nvSpPr>
        <p:spPr>
          <a:xfrm>
            <a:off x="4505325" y="1041400"/>
            <a:ext cx="5584825" cy="2813050"/>
          </a:xfrm>
        </p:spPr>
        <p:txBody>
          <a:bodyPr/>
          <a:lstStyle/>
          <a:p>
            <a:endParaRPr lang="de-DE"/>
          </a:p>
        </p:txBody>
      </p:sp>
      <p:sp>
        <p:nvSpPr>
          <p:cNvPr id="4" name="Diagramm links">
            <a:extLst>
              <a:ext uri="{FF2B5EF4-FFF2-40B4-BE49-F238E27FC236}">
                <a16:creationId xmlns:a16="http://schemas.microsoft.com/office/drawing/2014/main" id="{C7B8DD6E-6ABD-EE02-4560-317478A589CC}"/>
              </a:ext>
            </a:extLst>
          </p:cNvPr>
          <p:cNvSpPr>
            <a:spLocks noGrp="1"/>
          </p:cNvSpPr>
          <p:nvPr>
            <p:ph type="chart" sz="quarter" idx="14"/>
          </p:nvPr>
        </p:nvSpPr>
        <p:spPr>
          <a:xfrm>
            <a:off x="349250" y="2679700"/>
            <a:ext cx="3959225" cy="2286000"/>
          </a:xfrm>
        </p:spPr>
        <p:txBody>
          <a:bodyPr/>
          <a:lstStyle/>
          <a:p>
            <a:endParaRPr lang="de-DE"/>
          </a:p>
        </p:txBody>
      </p:sp>
      <p:sp>
        <p:nvSpPr>
          <p:cNvPr id="8" name="Tabelle">
            <a:extLst>
              <a:ext uri="{FF2B5EF4-FFF2-40B4-BE49-F238E27FC236}">
                <a16:creationId xmlns:a16="http://schemas.microsoft.com/office/drawing/2014/main" id="{9E812005-7793-D92F-6E15-643D1E827060}"/>
              </a:ext>
            </a:extLst>
          </p:cNvPr>
          <p:cNvSpPr>
            <a:spLocks noGrp="1"/>
          </p:cNvSpPr>
          <p:nvPr>
            <p:ph type="tbl" sz="quarter" idx="13"/>
          </p:nvPr>
        </p:nvSpPr>
        <p:spPr>
          <a:xfrm>
            <a:off x="349068" y="1041400"/>
            <a:ext cx="3970519" cy="1484086"/>
          </a:xfrm>
        </p:spPr>
        <p:txBody>
          <a:bodyPr/>
          <a:lstStyle>
            <a:lvl1pPr>
              <a:defRPr sz="900"/>
            </a:lvl1pPr>
          </a:lstStyle>
          <a:p>
            <a:endParaRPr lang="de-DE" dirty="0"/>
          </a:p>
        </p:txBody>
      </p:sp>
      <p:sp>
        <p:nvSpPr>
          <p:cNvPr id="2" name="Titel">
            <a:extLst>
              <a:ext uri="{FF2B5EF4-FFF2-40B4-BE49-F238E27FC236}">
                <a16:creationId xmlns:a16="http://schemas.microsoft.com/office/drawing/2014/main" id="{8B3C277F-6B41-4AE4-99E4-3674B59C66BE}"/>
              </a:ext>
            </a:extLst>
          </p:cNvPr>
          <p:cNvSpPr>
            <a:spLocks noGrp="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32837470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nlagrstrategie schmal">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B3C277F-6B41-4AE4-99E4-3674B59C66BE}"/>
              </a:ext>
            </a:extLst>
          </p:cNvPr>
          <p:cNvSpPr>
            <a:spLocks noGrp="1"/>
          </p:cNvSpPr>
          <p:nvPr>
            <p:ph type="title"/>
          </p:nvPr>
        </p:nvSpPr>
        <p:spPr/>
        <p:txBody>
          <a:bodyPr/>
          <a:lstStyle/>
          <a:p>
            <a:r>
              <a:rPr lang="de-DE" dirty="0"/>
              <a:t>Mastertitelformat bearbeiten</a:t>
            </a:r>
          </a:p>
        </p:txBody>
      </p:sp>
      <p:sp>
        <p:nvSpPr>
          <p:cNvPr id="3" name="Inhaltsplatzhalter 2">
            <a:extLst>
              <a:ext uri="{FF2B5EF4-FFF2-40B4-BE49-F238E27FC236}">
                <a16:creationId xmlns:a16="http://schemas.microsoft.com/office/drawing/2014/main" id="{260C15E9-224A-AC2C-0CDE-881556E09104}"/>
              </a:ext>
            </a:extLst>
          </p:cNvPr>
          <p:cNvSpPr>
            <a:spLocks noGrp="1"/>
          </p:cNvSpPr>
          <p:nvPr>
            <p:ph idx="1"/>
          </p:nvPr>
        </p:nvSpPr>
        <p:spPr>
          <a:xfrm>
            <a:off x="358775" y="1041401"/>
            <a:ext cx="2305050"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oliennummernplatzhalter 5">
            <a:extLst>
              <a:ext uri="{FF2B5EF4-FFF2-40B4-BE49-F238E27FC236}">
                <a16:creationId xmlns:a16="http://schemas.microsoft.com/office/drawing/2014/main" id="{89109038-E711-508C-216E-C687B5316E9C}"/>
              </a:ext>
            </a:extLst>
          </p:cNvPr>
          <p:cNvSpPr>
            <a:spLocks noGrp="1"/>
          </p:cNvSpPr>
          <p:nvPr>
            <p:ph type="sldNum" sz="quarter" idx="12"/>
          </p:nvPr>
        </p:nvSpPr>
        <p:spPr/>
        <p:txBody>
          <a:bodyPr/>
          <a:lstStyle/>
          <a:p>
            <a:fld id="{3AE71D6B-ACB6-4F4C-A895-DCAEF1760EAA}" type="slidenum">
              <a:rPr lang="de-DE" smtClean="0"/>
              <a:t>‹Nr.›</a:t>
            </a:fld>
            <a:endParaRPr lang="de-DE"/>
          </a:p>
        </p:txBody>
      </p:sp>
      <p:sp>
        <p:nvSpPr>
          <p:cNvPr id="8" name="Tabellenplatzhalter 7">
            <a:extLst>
              <a:ext uri="{FF2B5EF4-FFF2-40B4-BE49-F238E27FC236}">
                <a16:creationId xmlns:a16="http://schemas.microsoft.com/office/drawing/2014/main" id="{9E812005-7793-D92F-6E15-643D1E827060}"/>
              </a:ext>
            </a:extLst>
          </p:cNvPr>
          <p:cNvSpPr>
            <a:spLocks noGrp="1"/>
          </p:cNvSpPr>
          <p:nvPr>
            <p:ph type="tbl" sz="quarter" idx="13"/>
          </p:nvPr>
        </p:nvSpPr>
        <p:spPr>
          <a:xfrm>
            <a:off x="2843212" y="1041400"/>
            <a:ext cx="3132137" cy="1419225"/>
          </a:xfrm>
        </p:spPr>
        <p:txBody>
          <a:bodyPr/>
          <a:lstStyle>
            <a:lvl1pPr>
              <a:defRPr sz="900"/>
            </a:lvl1pPr>
          </a:lstStyle>
          <a:p>
            <a:endParaRPr lang="de-DE" dirty="0"/>
          </a:p>
        </p:txBody>
      </p:sp>
      <p:cxnSp>
        <p:nvCxnSpPr>
          <p:cNvPr id="9" name="Gerader Verbinder 8">
            <a:extLst>
              <a:ext uri="{FF2B5EF4-FFF2-40B4-BE49-F238E27FC236}">
                <a16:creationId xmlns:a16="http://schemas.microsoft.com/office/drawing/2014/main" id="{6389BD36-56F5-8350-55A9-F82383A5CD68}"/>
              </a:ext>
            </a:extLst>
          </p:cNvPr>
          <p:cNvCxnSpPr>
            <a:cxnSpLocks/>
          </p:cNvCxnSpPr>
          <p:nvPr userDrawn="1"/>
        </p:nvCxnSpPr>
        <p:spPr>
          <a:xfrm>
            <a:off x="2843212" y="5832475"/>
            <a:ext cx="31320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 name="Gerader Verbinder 6">
            <a:extLst>
              <a:ext uri="{FF2B5EF4-FFF2-40B4-BE49-F238E27FC236}">
                <a16:creationId xmlns:a16="http://schemas.microsoft.com/office/drawing/2014/main" id="{24B2DBBF-D7FF-5445-B224-D356DA219899}"/>
              </a:ext>
            </a:extLst>
          </p:cNvPr>
          <p:cNvCxnSpPr>
            <a:cxnSpLocks/>
          </p:cNvCxnSpPr>
          <p:nvPr userDrawn="1"/>
        </p:nvCxnSpPr>
        <p:spPr>
          <a:xfrm>
            <a:off x="6156325" y="5832475"/>
            <a:ext cx="3959225"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4313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5" name="Foliennummer">
            <a:extLst>
              <a:ext uri="{FF2B5EF4-FFF2-40B4-BE49-F238E27FC236}">
                <a16:creationId xmlns:a16="http://schemas.microsoft.com/office/drawing/2014/main" id="{65B2DA67-26E2-B59F-F8C3-3BCBE1FDDE65}"/>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2" name="Titel">
            <a:extLst>
              <a:ext uri="{FF2B5EF4-FFF2-40B4-BE49-F238E27FC236}">
                <a16:creationId xmlns:a16="http://schemas.microsoft.com/office/drawing/2014/main" id="{368211C2-F61D-C7AC-FA9C-4391CDBCBAEC}"/>
              </a:ext>
            </a:extLst>
          </p:cNvPr>
          <p:cNvSpPr>
            <a:spLocks noGrp="1" noRot="1" noMove="1" noResize="1" noEditPoints="1" noAdjustHandles="1" noChangeArrowheads="1" noChangeShapeType="1"/>
          </p:cNvSpPr>
          <p:nvPr>
            <p:ph type="title"/>
          </p:nvPr>
        </p:nvSpPr>
        <p:spPr/>
        <p:txBody>
          <a:bodyPr/>
          <a:lstStyle/>
          <a:p>
            <a:r>
              <a:rPr lang="de-DE"/>
              <a:t>Mastertitelformat bearbeiten</a:t>
            </a:r>
          </a:p>
        </p:txBody>
      </p:sp>
    </p:spTree>
    <p:extLst>
      <p:ext uri="{BB962C8B-B14F-4D97-AF65-F5344CB8AC3E}">
        <p14:creationId xmlns:p14="http://schemas.microsoft.com/office/powerpoint/2010/main" val="11859439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4" name="Foliennummer">
            <a:extLst>
              <a:ext uri="{FF2B5EF4-FFF2-40B4-BE49-F238E27FC236}">
                <a16:creationId xmlns:a16="http://schemas.microsoft.com/office/drawing/2014/main" id="{1DD6015A-9BBE-CDE6-A152-9855AC75DFB9}"/>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Tree>
    <p:extLst>
      <p:ext uri="{BB962C8B-B14F-4D97-AF65-F5344CB8AC3E}">
        <p14:creationId xmlns:p14="http://schemas.microsoft.com/office/powerpoint/2010/main" val="413477136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nsprechpartner">
    <p:bg>
      <p:bgPr>
        <a:solidFill>
          <a:schemeClr val="bg1"/>
        </a:solidFill>
        <a:effectLst/>
      </p:bgPr>
    </p:bg>
    <p:spTree>
      <p:nvGrpSpPr>
        <p:cNvPr id="1" name=""/>
        <p:cNvGrpSpPr/>
        <p:nvPr/>
      </p:nvGrpSpPr>
      <p:grpSpPr>
        <a:xfrm>
          <a:off x="0" y="0"/>
          <a:ext cx="0" cy="0"/>
          <a:chOff x="0" y="0"/>
          <a:chExt cx="0" cy="0"/>
        </a:xfrm>
      </p:grpSpPr>
      <p:sp>
        <p:nvSpPr>
          <p:cNvPr id="5" name="Foliennummer">
            <a:extLst>
              <a:ext uri="{FF2B5EF4-FFF2-40B4-BE49-F238E27FC236}">
                <a16:creationId xmlns:a16="http://schemas.microsoft.com/office/drawing/2014/main" id="{65B2DA67-26E2-B59F-F8C3-3BCBE1FDDE65}"/>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cxnSp>
        <p:nvCxnSpPr>
          <p:cNvPr id="13" name="Linie rechts">
            <a:extLst>
              <a:ext uri="{FF2B5EF4-FFF2-40B4-BE49-F238E27FC236}">
                <a16:creationId xmlns:a16="http://schemas.microsoft.com/office/drawing/2014/main" id="{FD52525D-63CC-8107-F830-67B98C6B65F8}"/>
              </a:ext>
            </a:extLst>
          </p:cNvPr>
          <p:cNvCxnSpPr>
            <a:cxnSpLocks noGrp="1" noRot="1" noMove="1" noResize="1" noEditPoints="1" noAdjustHandles="1" noChangeArrowheads="1" noChangeShapeType="1"/>
          </p:cNvCxnSpPr>
          <p:nvPr userDrawn="1"/>
        </p:nvCxnSpPr>
        <p:spPr>
          <a:xfrm>
            <a:off x="3671888" y="404308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Linie links">
            <a:extLst>
              <a:ext uri="{FF2B5EF4-FFF2-40B4-BE49-F238E27FC236}">
                <a16:creationId xmlns:a16="http://schemas.microsoft.com/office/drawing/2014/main" id="{CF1A3792-E31E-29D6-F65C-F09548B87121}"/>
              </a:ext>
            </a:extLst>
          </p:cNvPr>
          <p:cNvCxnSpPr>
            <a:cxnSpLocks noGrp="1" noRot="1" noMove="1" noResize="1" noEditPoints="1" noAdjustHandles="1" noChangeArrowheads="1" noChangeShapeType="1"/>
          </p:cNvCxnSpPr>
          <p:nvPr userDrawn="1"/>
        </p:nvCxnSpPr>
        <p:spPr>
          <a:xfrm>
            <a:off x="358775" y="404308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Text rechts">
            <a:extLst>
              <a:ext uri="{FF2B5EF4-FFF2-40B4-BE49-F238E27FC236}">
                <a16:creationId xmlns:a16="http://schemas.microsoft.com/office/drawing/2014/main" id="{8442F4D5-B5A2-FB48-AB51-E3F593F57123}"/>
              </a:ext>
            </a:extLst>
          </p:cNvPr>
          <p:cNvSpPr>
            <a:spLocks noGrp="1" noRot="1" noMove="1" noResize="1" noEditPoints="1" noAdjustHandles="1" noChangeArrowheads="1" noChangeShapeType="1"/>
          </p:cNvSpPr>
          <p:nvPr>
            <p:ph type="body" sz="quarter" idx="18"/>
          </p:nvPr>
        </p:nvSpPr>
        <p:spPr>
          <a:xfrm>
            <a:off x="3671887" y="4172650"/>
            <a:ext cx="3132138"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14" name="Text links">
            <a:extLst>
              <a:ext uri="{FF2B5EF4-FFF2-40B4-BE49-F238E27FC236}">
                <a16:creationId xmlns:a16="http://schemas.microsoft.com/office/drawing/2014/main" id="{3DF09069-72A7-40B9-FF1C-BAF486DC94EC}"/>
              </a:ext>
            </a:extLst>
          </p:cNvPr>
          <p:cNvSpPr>
            <a:spLocks noGrp="1" noRot="1" noMove="1" noResize="1" noEditPoints="1" noAdjustHandles="1" noChangeArrowheads="1" noChangeShapeType="1"/>
          </p:cNvSpPr>
          <p:nvPr>
            <p:ph type="body" sz="quarter" idx="17"/>
          </p:nvPr>
        </p:nvSpPr>
        <p:spPr>
          <a:xfrm>
            <a:off x="358775" y="4172650"/>
            <a:ext cx="3132138"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9" name="Name rechts">
            <a:extLst>
              <a:ext uri="{FF2B5EF4-FFF2-40B4-BE49-F238E27FC236}">
                <a16:creationId xmlns:a16="http://schemas.microsoft.com/office/drawing/2014/main" id="{360DA725-655A-CCCE-2980-293201DCB5BF}"/>
              </a:ext>
            </a:extLst>
          </p:cNvPr>
          <p:cNvSpPr>
            <a:spLocks noGrp="1" noRot="1" noMove="1" noResize="1" noEditPoints="1" noAdjustHandles="1" noChangeArrowheads="1" noChangeShapeType="1"/>
          </p:cNvSpPr>
          <p:nvPr>
            <p:ph type="body" sz="quarter" idx="16"/>
          </p:nvPr>
        </p:nvSpPr>
        <p:spPr>
          <a:xfrm>
            <a:off x="3671887" y="3688398"/>
            <a:ext cx="3132138" cy="225425"/>
          </a:xfrm>
        </p:spPr>
        <p:txBody>
          <a:bodyPr/>
          <a:lstStyle/>
          <a:p>
            <a:pPr lvl="0"/>
            <a:r>
              <a:rPr lang="de-DE" dirty="0"/>
              <a:t>Mastertextformat bearbeiten</a:t>
            </a:r>
          </a:p>
        </p:txBody>
      </p:sp>
      <p:sp>
        <p:nvSpPr>
          <p:cNvPr id="8" name="Name links">
            <a:extLst>
              <a:ext uri="{FF2B5EF4-FFF2-40B4-BE49-F238E27FC236}">
                <a16:creationId xmlns:a16="http://schemas.microsoft.com/office/drawing/2014/main" id="{8C3AF5C3-BBF2-13A2-04A6-FD891999D8F8}"/>
              </a:ext>
            </a:extLst>
          </p:cNvPr>
          <p:cNvSpPr>
            <a:spLocks noGrp="1" noRot="1" noMove="1" noResize="1" noEditPoints="1" noAdjustHandles="1" noChangeArrowheads="1" noChangeShapeType="1"/>
          </p:cNvSpPr>
          <p:nvPr>
            <p:ph type="body" sz="quarter" idx="15"/>
          </p:nvPr>
        </p:nvSpPr>
        <p:spPr>
          <a:xfrm>
            <a:off x="358775" y="3688398"/>
            <a:ext cx="3132138" cy="225425"/>
          </a:xfrm>
        </p:spPr>
        <p:txBody>
          <a:bodyPr/>
          <a:lstStyle/>
          <a:p>
            <a:pPr lvl="0"/>
            <a:r>
              <a:rPr lang="de-DE" dirty="0"/>
              <a:t>Mastertextformat bearbeiten</a:t>
            </a:r>
          </a:p>
        </p:txBody>
      </p:sp>
      <p:sp>
        <p:nvSpPr>
          <p:cNvPr id="6" name="Bild rechts">
            <a:extLst>
              <a:ext uri="{FF2B5EF4-FFF2-40B4-BE49-F238E27FC236}">
                <a16:creationId xmlns:a16="http://schemas.microsoft.com/office/drawing/2014/main" id="{E021AD21-0793-2C29-9088-4167DE0263DC}"/>
              </a:ext>
            </a:extLst>
          </p:cNvPr>
          <p:cNvSpPr>
            <a:spLocks noGrp="1" noRot="1" noMove="1" noResize="1" noEditPoints="1" noAdjustHandles="1" noChangeArrowheads="1" noChangeShapeType="1"/>
          </p:cNvSpPr>
          <p:nvPr>
            <p:ph type="pic" sz="quarter" idx="14"/>
          </p:nvPr>
        </p:nvSpPr>
        <p:spPr>
          <a:xfrm>
            <a:off x="3671888" y="1646238"/>
            <a:ext cx="3132138" cy="1792287"/>
          </a:xfrm>
        </p:spPr>
        <p:txBody>
          <a:bodyPr/>
          <a:lstStyle/>
          <a:p>
            <a:endParaRPr lang="de-DE"/>
          </a:p>
        </p:txBody>
      </p:sp>
      <p:sp>
        <p:nvSpPr>
          <p:cNvPr id="4" name="Bild links">
            <a:extLst>
              <a:ext uri="{FF2B5EF4-FFF2-40B4-BE49-F238E27FC236}">
                <a16:creationId xmlns:a16="http://schemas.microsoft.com/office/drawing/2014/main" id="{0029B528-90F8-0BC4-8037-8F393CACCB4E}"/>
              </a:ext>
            </a:extLst>
          </p:cNvPr>
          <p:cNvSpPr>
            <a:spLocks noGrp="1" noRot="1" noMove="1" noResize="1" noEditPoints="1" noAdjustHandles="1" noChangeArrowheads="1" noChangeShapeType="1"/>
          </p:cNvSpPr>
          <p:nvPr>
            <p:ph type="pic" sz="quarter" idx="13"/>
          </p:nvPr>
        </p:nvSpPr>
        <p:spPr>
          <a:xfrm>
            <a:off x="358775" y="1646238"/>
            <a:ext cx="3132138" cy="1792287"/>
          </a:xfrm>
        </p:spPr>
        <p:txBody>
          <a:bodyPr/>
          <a:lstStyle/>
          <a:p>
            <a:endParaRPr lang="de-DE"/>
          </a:p>
        </p:txBody>
      </p:sp>
      <p:sp>
        <p:nvSpPr>
          <p:cNvPr id="2" name="Titel">
            <a:extLst>
              <a:ext uri="{FF2B5EF4-FFF2-40B4-BE49-F238E27FC236}">
                <a16:creationId xmlns:a16="http://schemas.microsoft.com/office/drawing/2014/main" id="{368211C2-F61D-C7AC-FA9C-4391CDBCBAEC}"/>
              </a:ext>
            </a:extLst>
          </p:cNvPr>
          <p:cNvSpPr>
            <a:spLocks noGrp="1" noRot="1" noMove="1" noResize="1" noEditPoints="1" noAdjustHandles="1" noChangeArrowheads="1" noChangeShapeType="1"/>
          </p:cNvSpPr>
          <p:nvPr>
            <p:ph type="title"/>
          </p:nvPr>
        </p:nvSpPr>
        <p:spPr>
          <a:xfrm>
            <a:off x="358775" y="324000"/>
            <a:ext cx="5616575" cy="685800"/>
          </a:xfrm>
        </p:spPr>
        <p:txBody>
          <a:bodyPr/>
          <a:lstStyle/>
          <a:p>
            <a:r>
              <a:rPr lang="de-DE" dirty="0"/>
              <a:t>Mastertitelformat bearbeiten</a:t>
            </a:r>
          </a:p>
        </p:txBody>
      </p:sp>
    </p:spTree>
    <p:extLst>
      <p:ext uri="{BB962C8B-B14F-4D97-AF65-F5344CB8AC3E}">
        <p14:creationId xmlns:p14="http://schemas.microsoft.com/office/powerpoint/2010/main" val="5149794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tandorte">
    <p:bg>
      <p:bgPr>
        <a:solidFill>
          <a:schemeClr val="bg1"/>
        </a:solidFill>
        <a:effectLst/>
      </p:bgPr>
    </p:bg>
    <p:spTree>
      <p:nvGrpSpPr>
        <p:cNvPr id="1" name=""/>
        <p:cNvGrpSpPr/>
        <p:nvPr/>
      </p:nvGrpSpPr>
      <p:grpSpPr>
        <a:xfrm>
          <a:off x="0" y="0"/>
          <a:ext cx="0" cy="0"/>
          <a:chOff x="0" y="0"/>
          <a:chExt cx="0" cy="0"/>
        </a:xfrm>
      </p:grpSpPr>
      <p:sp>
        <p:nvSpPr>
          <p:cNvPr id="5" name="Foliennummer">
            <a:extLst>
              <a:ext uri="{FF2B5EF4-FFF2-40B4-BE49-F238E27FC236}">
                <a16:creationId xmlns:a16="http://schemas.microsoft.com/office/drawing/2014/main" id="{65B2DA67-26E2-B59F-F8C3-3BCBE1FDDE65}"/>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cxnSp>
        <p:nvCxnSpPr>
          <p:cNvPr id="12" name="Linie rechts">
            <a:extLst>
              <a:ext uri="{FF2B5EF4-FFF2-40B4-BE49-F238E27FC236}">
                <a16:creationId xmlns:a16="http://schemas.microsoft.com/office/drawing/2014/main" id="{9578FC62-C673-CCCF-BE41-330AA9A6E201}"/>
              </a:ext>
            </a:extLst>
          </p:cNvPr>
          <p:cNvCxnSpPr>
            <a:cxnSpLocks noGrp="1" noRot="1" noMove="1" noResize="1" noEditPoints="1" noAdjustHandles="1" noChangeArrowheads="1" noChangeShapeType="1"/>
          </p:cNvCxnSpPr>
          <p:nvPr userDrawn="1"/>
        </p:nvCxnSpPr>
        <p:spPr>
          <a:xfrm>
            <a:off x="6976437" y="382464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Linie mitte">
            <a:extLst>
              <a:ext uri="{FF2B5EF4-FFF2-40B4-BE49-F238E27FC236}">
                <a16:creationId xmlns:a16="http://schemas.microsoft.com/office/drawing/2014/main" id="{FD52525D-63CC-8107-F830-67B98C6B65F8}"/>
              </a:ext>
            </a:extLst>
          </p:cNvPr>
          <p:cNvCxnSpPr>
            <a:cxnSpLocks noGrp="1" noRot="1" noMove="1" noResize="1" noEditPoints="1" noAdjustHandles="1" noChangeArrowheads="1" noChangeShapeType="1"/>
          </p:cNvCxnSpPr>
          <p:nvPr userDrawn="1"/>
        </p:nvCxnSpPr>
        <p:spPr>
          <a:xfrm>
            <a:off x="3671888" y="382464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Linie links">
            <a:extLst>
              <a:ext uri="{FF2B5EF4-FFF2-40B4-BE49-F238E27FC236}">
                <a16:creationId xmlns:a16="http://schemas.microsoft.com/office/drawing/2014/main" id="{CF1A3792-E31E-29D6-F65C-F09548B87121}"/>
              </a:ext>
            </a:extLst>
          </p:cNvPr>
          <p:cNvCxnSpPr>
            <a:cxnSpLocks noGrp="1" noRot="1" noMove="1" noResize="1" noEditPoints="1" noAdjustHandles="1" noChangeArrowheads="1" noChangeShapeType="1"/>
          </p:cNvCxnSpPr>
          <p:nvPr userDrawn="1"/>
        </p:nvCxnSpPr>
        <p:spPr>
          <a:xfrm>
            <a:off x="358775" y="382464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Text rechts">
            <a:extLst>
              <a:ext uri="{FF2B5EF4-FFF2-40B4-BE49-F238E27FC236}">
                <a16:creationId xmlns:a16="http://schemas.microsoft.com/office/drawing/2014/main" id="{4888ADCE-7FA3-531D-D5E7-E9A8A00D5834}"/>
              </a:ext>
            </a:extLst>
          </p:cNvPr>
          <p:cNvSpPr>
            <a:spLocks noGrp="1" noRot="1" noMove="1" noResize="1" noEditPoints="1" noAdjustHandles="1" noChangeArrowheads="1" noChangeShapeType="1"/>
          </p:cNvSpPr>
          <p:nvPr>
            <p:ph type="body" sz="quarter" idx="21"/>
          </p:nvPr>
        </p:nvSpPr>
        <p:spPr>
          <a:xfrm>
            <a:off x="6976436" y="3969450"/>
            <a:ext cx="3276000"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15" name="Text mitte">
            <a:extLst>
              <a:ext uri="{FF2B5EF4-FFF2-40B4-BE49-F238E27FC236}">
                <a16:creationId xmlns:a16="http://schemas.microsoft.com/office/drawing/2014/main" id="{8442F4D5-B5A2-FB48-AB51-E3F593F57123}"/>
              </a:ext>
            </a:extLst>
          </p:cNvPr>
          <p:cNvSpPr>
            <a:spLocks noGrp="1" noRot="1" noMove="1" noResize="1" noEditPoints="1" noAdjustHandles="1" noChangeArrowheads="1" noChangeShapeType="1"/>
          </p:cNvSpPr>
          <p:nvPr>
            <p:ph type="body" sz="quarter" idx="18"/>
          </p:nvPr>
        </p:nvSpPr>
        <p:spPr>
          <a:xfrm>
            <a:off x="3671887" y="3969450"/>
            <a:ext cx="3276000"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14" name="Text links">
            <a:extLst>
              <a:ext uri="{FF2B5EF4-FFF2-40B4-BE49-F238E27FC236}">
                <a16:creationId xmlns:a16="http://schemas.microsoft.com/office/drawing/2014/main" id="{3DF09069-72A7-40B9-FF1C-BAF486DC94EC}"/>
              </a:ext>
            </a:extLst>
          </p:cNvPr>
          <p:cNvSpPr>
            <a:spLocks noGrp="1" noRot="1" noMove="1" noResize="1" noEditPoints="1" noAdjustHandles="1" noChangeArrowheads="1" noChangeShapeType="1"/>
          </p:cNvSpPr>
          <p:nvPr>
            <p:ph type="body" sz="quarter" idx="17"/>
          </p:nvPr>
        </p:nvSpPr>
        <p:spPr>
          <a:xfrm>
            <a:off x="358775" y="3969450"/>
            <a:ext cx="3276000"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17" name="Name rechts">
            <a:extLst>
              <a:ext uri="{FF2B5EF4-FFF2-40B4-BE49-F238E27FC236}">
                <a16:creationId xmlns:a16="http://schemas.microsoft.com/office/drawing/2014/main" id="{CB48EDFE-72D8-1DDE-9F47-0C88F0D1F64F}"/>
              </a:ext>
            </a:extLst>
          </p:cNvPr>
          <p:cNvSpPr>
            <a:spLocks noGrp="1" noRot="1" noMove="1" noResize="1" noEditPoints="1" noAdjustHandles="1" noChangeArrowheads="1" noChangeShapeType="1"/>
          </p:cNvSpPr>
          <p:nvPr>
            <p:ph type="body" sz="quarter" idx="22"/>
          </p:nvPr>
        </p:nvSpPr>
        <p:spPr>
          <a:xfrm>
            <a:off x="6976436" y="3490278"/>
            <a:ext cx="3132138" cy="225425"/>
          </a:xfrm>
        </p:spPr>
        <p:txBody>
          <a:bodyPr/>
          <a:lstStyle/>
          <a:p>
            <a:pPr lvl="0"/>
            <a:r>
              <a:rPr lang="de-DE" dirty="0"/>
              <a:t>Mastertextformat bearbeiten</a:t>
            </a:r>
          </a:p>
        </p:txBody>
      </p:sp>
      <p:sp>
        <p:nvSpPr>
          <p:cNvPr id="9" name="Name mitte">
            <a:extLst>
              <a:ext uri="{FF2B5EF4-FFF2-40B4-BE49-F238E27FC236}">
                <a16:creationId xmlns:a16="http://schemas.microsoft.com/office/drawing/2014/main" id="{360DA725-655A-CCCE-2980-293201DCB5BF}"/>
              </a:ext>
            </a:extLst>
          </p:cNvPr>
          <p:cNvSpPr>
            <a:spLocks noGrp="1" noRot="1" noMove="1" noResize="1" noEditPoints="1" noAdjustHandles="1" noChangeArrowheads="1" noChangeShapeType="1"/>
          </p:cNvSpPr>
          <p:nvPr>
            <p:ph type="body" sz="quarter" idx="16"/>
          </p:nvPr>
        </p:nvSpPr>
        <p:spPr>
          <a:xfrm>
            <a:off x="3671887" y="3490278"/>
            <a:ext cx="3132138" cy="225425"/>
          </a:xfrm>
        </p:spPr>
        <p:txBody>
          <a:bodyPr/>
          <a:lstStyle/>
          <a:p>
            <a:pPr lvl="0"/>
            <a:r>
              <a:rPr lang="de-DE" dirty="0"/>
              <a:t>Mastertextformat bearbeiten</a:t>
            </a:r>
          </a:p>
        </p:txBody>
      </p:sp>
      <p:sp>
        <p:nvSpPr>
          <p:cNvPr id="8" name="Name links">
            <a:extLst>
              <a:ext uri="{FF2B5EF4-FFF2-40B4-BE49-F238E27FC236}">
                <a16:creationId xmlns:a16="http://schemas.microsoft.com/office/drawing/2014/main" id="{8C3AF5C3-BBF2-13A2-04A6-FD891999D8F8}"/>
              </a:ext>
            </a:extLst>
          </p:cNvPr>
          <p:cNvSpPr>
            <a:spLocks noGrp="1" noRot="1" noMove="1" noResize="1" noEditPoints="1" noAdjustHandles="1" noChangeArrowheads="1" noChangeShapeType="1"/>
          </p:cNvSpPr>
          <p:nvPr>
            <p:ph type="body" sz="quarter" idx="15"/>
          </p:nvPr>
        </p:nvSpPr>
        <p:spPr>
          <a:xfrm>
            <a:off x="358775" y="3490278"/>
            <a:ext cx="3132138" cy="225425"/>
          </a:xfrm>
        </p:spPr>
        <p:txBody>
          <a:bodyPr/>
          <a:lstStyle/>
          <a:p>
            <a:pPr lvl="0"/>
            <a:r>
              <a:rPr lang="de-DE" dirty="0"/>
              <a:t>Mastertextformat bearbeiten</a:t>
            </a:r>
          </a:p>
        </p:txBody>
      </p:sp>
      <p:sp>
        <p:nvSpPr>
          <p:cNvPr id="10" name="Bild rechts">
            <a:extLst>
              <a:ext uri="{FF2B5EF4-FFF2-40B4-BE49-F238E27FC236}">
                <a16:creationId xmlns:a16="http://schemas.microsoft.com/office/drawing/2014/main" id="{4BA8BEE0-583F-4067-18E1-4041C7CBE94E}"/>
              </a:ext>
            </a:extLst>
          </p:cNvPr>
          <p:cNvSpPr>
            <a:spLocks noGrp="1" noRot="1" noMove="1" noResize="1" noEditPoints="1" noAdjustHandles="1" noChangeArrowheads="1" noChangeShapeType="1"/>
          </p:cNvSpPr>
          <p:nvPr>
            <p:ph type="pic" sz="quarter" idx="20"/>
          </p:nvPr>
        </p:nvSpPr>
        <p:spPr>
          <a:xfrm>
            <a:off x="6886505" y="1564477"/>
            <a:ext cx="1656000" cy="1656000"/>
          </a:xfrm>
          <a:prstGeom prst="ellipse">
            <a:avLst/>
          </a:prstGeom>
        </p:spPr>
        <p:txBody>
          <a:bodyPr/>
          <a:lstStyle/>
          <a:p>
            <a:endParaRPr lang="de-DE" dirty="0"/>
          </a:p>
        </p:txBody>
      </p:sp>
      <p:sp>
        <p:nvSpPr>
          <p:cNvPr id="7" name="Bild mitte">
            <a:extLst>
              <a:ext uri="{FF2B5EF4-FFF2-40B4-BE49-F238E27FC236}">
                <a16:creationId xmlns:a16="http://schemas.microsoft.com/office/drawing/2014/main" id="{EEB43F9A-30D9-8B0B-CCD4-657C0E474967}"/>
              </a:ext>
            </a:extLst>
          </p:cNvPr>
          <p:cNvSpPr>
            <a:spLocks noGrp="1" noRot="1" noMove="1" noResize="1" noEditPoints="1" noAdjustHandles="1" noChangeArrowheads="1" noChangeShapeType="1"/>
          </p:cNvSpPr>
          <p:nvPr>
            <p:ph type="pic" sz="quarter" idx="19"/>
          </p:nvPr>
        </p:nvSpPr>
        <p:spPr>
          <a:xfrm>
            <a:off x="3590493" y="1564477"/>
            <a:ext cx="1656000" cy="1656000"/>
          </a:xfrm>
          <a:prstGeom prst="ellipse">
            <a:avLst/>
          </a:prstGeom>
        </p:spPr>
        <p:txBody>
          <a:bodyPr/>
          <a:lstStyle/>
          <a:p>
            <a:endParaRPr lang="de-DE"/>
          </a:p>
        </p:txBody>
      </p:sp>
      <p:sp>
        <p:nvSpPr>
          <p:cNvPr id="4" name="Bild links">
            <a:extLst>
              <a:ext uri="{FF2B5EF4-FFF2-40B4-BE49-F238E27FC236}">
                <a16:creationId xmlns:a16="http://schemas.microsoft.com/office/drawing/2014/main" id="{0029B528-90F8-0BC4-8037-8F393CACCB4E}"/>
              </a:ext>
            </a:extLst>
          </p:cNvPr>
          <p:cNvSpPr>
            <a:spLocks noGrp="1" noRot="1" noMove="1" noResize="1" noEditPoints="1" noAdjustHandles="1" noChangeArrowheads="1" noChangeShapeType="1"/>
          </p:cNvSpPr>
          <p:nvPr>
            <p:ph type="pic" sz="quarter" idx="13"/>
          </p:nvPr>
        </p:nvSpPr>
        <p:spPr>
          <a:xfrm>
            <a:off x="294481" y="1564477"/>
            <a:ext cx="1656000" cy="1656000"/>
          </a:xfrm>
          <a:prstGeom prst="ellipse">
            <a:avLst/>
          </a:prstGeom>
        </p:spPr>
        <p:txBody>
          <a:bodyPr/>
          <a:lstStyle/>
          <a:p>
            <a:endParaRPr lang="de-DE"/>
          </a:p>
        </p:txBody>
      </p:sp>
      <p:sp>
        <p:nvSpPr>
          <p:cNvPr id="3" name="Titel">
            <a:extLst>
              <a:ext uri="{FF2B5EF4-FFF2-40B4-BE49-F238E27FC236}">
                <a16:creationId xmlns:a16="http://schemas.microsoft.com/office/drawing/2014/main" id="{EFDA7145-AF61-F28D-FFDF-3C770ED41015}"/>
              </a:ext>
            </a:extLst>
          </p:cNvPr>
          <p:cNvSpPr>
            <a:spLocks noGrp="1" noRot="1" noMove="1" noResize="1" noEditPoints="1" noAdjustHandles="1" noChangeArrowheads="1" noChangeShapeType="1"/>
          </p:cNvSpPr>
          <p:nvPr>
            <p:ph type="title"/>
          </p:nvPr>
        </p:nvSpPr>
        <p:spPr/>
        <p:txBody>
          <a:bodyPr/>
          <a:lstStyle/>
          <a:p>
            <a:r>
              <a:rPr lang="de-DE"/>
              <a:t>Mastertitelformat bearbeiten</a:t>
            </a:r>
          </a:p>
        </p:txBody>
      </p:sp>
    </p:spTree>
    <p:extLst>
      <p:ext uri="{BB962C8B-B14F-4D97-AF65-F5344CB8AC3E}">
        <p14:creationId xmlns:p14="http://schemas.microsoft.com/office/powerpoint/2010/main" val="330301530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End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8" name="Linie">
            <a:extLst>
              <a:ext uri="{FF2B5EF4-FFF2-40B4-BE49-F238E27FC236}">
                <a16:creationId xmlns:a16="http://schemas.microsoft.com/office/drawing/2014/main" id="{F06A9549-BE8B-F4ED-207A-F834FC827871}"/>
              </a:ext>
            </a:extLst>
          </p:cNvPr>
          <p:cNvCxnSpPr>
            <a:cxnSpLocks noGrp="1" noRot="1" noMove="1" noResize="1" noEditPoints="1" noAdjustHandles="1" noChangeArrowheads="1" noChangeShapeType="1"/>
          </p:cNvCxnSpPr>
          <p:nvPr userDrawn="1"/>
        </p:nvCxnSpPr>
        <p:spPr>
          <a:xfrm>
            <a:off x="1006475" y="4133280"/>
            <a:ext cx="82867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Untertitel">
            <a:extLst>
              <a:ext uri="{FF2B5EF4-FFF2-40B4-BE49-F238E27FC236}">
                <a16:creationId xmlns:a16="http://schemas.microsoft.com/office/drawing/2014/main" id="{0AFF4D17-FE0D-4ED3-7D17-07E3D1797497}"/>
              </a:ext>
            </a:extLst>
          </p:cNvPr>
          <p:cNvSpPr>
            <a:spLocks noGrp="1" noRot="1" noMove="1" noResize="1" noEditPoints="1" noAdjustHandles="1" noChangeArrowheads="1" noChangeShapeType="1"/>
          </p:cNvSpPr>
          <p:nvPr>
            <p:ph type="subTitle" idx="1"/>
          </p:nvPr>
        </p:nvSpPr>
        <p:spPr>
          <a:xfrm>
            <a:off x="1006475" y="4386233"/>
            <a:ext cx="6626225" cy="303222"/>
          </a:xfrm>
        </p:spPr>
        <p:txBody>
          <a:bodyPr/>
          <a:lstStyle>
            <a:lvl1pPr marL="0" indent="0" algn="l">
              <a:buNone/>
              <a:defRPr sz="1400" b="0" cap="all" baseline="0">
                <a:solidFill>
                  <a:schemeClr val="bg1"/>
                </a:solidFill>
                <a:latin typeface="+mn-lt"/>
              </a:defRPr>
            </a:lvl1pPr>
            <a:lvl2pPr marL="391500" indent="0" algn="ctr">
              <a:buNone/>
              <a:defRPr sz="1713"/>
            </a:lvl2pPr>
            <a:lvl3pPr marL="783001" indent="0" algn="ctr">
              <a:buNone/>
              <a:defRPr sz="1541"/>
            </a:lvl3pPr>
            <a:lvl4pPr marL="1174501" indent="0" algn="ctr">
              <a:buNone/>
              <a:defRPr sz="1370"/>
            </a:lvl4pPr>
            <a:lvl5pPr marL="1566001" indent="0" algn="ctr">
              <a:buNone/>
              <a:defRPr sz="1370"/>
            </a:lvl5pPr>
            <a:lvl6pPr marL="1957502" indent="0" algn="ctr">
              <a:buNone/>
              <a:defRPr sz="1370"/>
            </a:lvl6pPr>
            <a:lvl7pPr marL="2349002" indent="0" algn="ctr">
              <a:buNone/>
              <a:defRPr sz="1370"/>
            </a:lvl7pPr>
            <a:lvl8pPr marL="2740503" indent="0" algn="ctr">
              <a:buNone/>
              <a:defRPr sz="1370"/>
            </a:lvl8pPr>
            <a:lvl9pPr marL="3132003" indent="0" algn="ctr">
              <a:buNone/>
              <a:defRPr sz="1370"/>
            </a:lvl9pPr>
          </a:lstStyle>
          <a:p>
            <a:r>
              <a:rPr lang="de-DE" dirty="0"/>
              <a:t>Master-Untertitelformat bearbeiten</a:t>
            </a:r>
          </a:p>
        </p:txBody>
      </p:sp>
      <p:sp>
        <p:nvSpPr>
          <p:cNvPr id="2" name="Titel">
            <a:extLst>
              <a:ext uri="{FF2B5EF4-FFF2-40B4-BE49-F238E27FC236}">
                <a16:creationId xmlns:a16="http://schemas.microsoft.com/office/drawing/2014/main" id="{C1C34371-6866-6B79-4A4E-D51B359DA61B}"/>
              </a:ext>
            </a:extLst>
          </p:cNvPr>
          <p:cNvSpPr>
            <a:spLocks noGrp="1" noRot="1" noMove="1" noResize="1" noEditPoints="1" noAdjustHandles="1" noChangeArrowheads="1" noChangeShapeType="1"/>
          </p:cNvSpPr>
          <p:nvPr>
            <p:ph type="ctrTitle"/>
          </p:nvPr>
        </p:nvSpPr>
        <p:spPr>
          <a:xfrm>
            <a:off x="1006475" y="3486031"/>
            <a:ext cx="6626225" cy="498140"/>
          </a:xfrm>
        </p:spPr>
        <p:txBody>
          <a:bodyPr tIns="0" anchor="t" anchorCtr="0"/>
          <a:lstStyle>
            <a:lvl1pPr algn="l">
              <a:lnSpc>
                <a:spcPts val="3450"/>
              </a:lnSpc>
              <a:defRPr sz="2770">
                <a:solidFill>
                  <a:schemeClr val="bg1"/>
                </a:solidFill>
              </a:defRPr>
            </a:lvl1pPr>
          </a:lstStyle>
          <a:p>
            <a:r>
              <a:rPr lang="de-DE" dirty="0"/>
              <a:t>Mastertitelformat bearbeiten</a:t>
            </a:r>
          </a:p>
        </p:txBody>
      </p:sp>
    </p:spTree>
    <p:extLst>
      <p:ext uri="{BB962C8B-B14F-4D97-AF65-F5344CB8AC3E}">
        <p14:creationId xmlns:p14="http://schemas.microsoft.com/office/powerpoint/2010/main" val="2759790798"/>
      </p:ext>
    </p:extLst>
  </p:cSld>
  <p:clrMapOvr>
    <a:masterClrMapping/>
  </p:clrMapOvr>
  <p:extLst>
    <p:ext uri="{DCECCB84-F9BA-43D5-87BE-67443E8EF086}">
      <p15:sldGuideLst xmlns:p15="http://schemas.microsoft.com/office/powerpoint/2012/main">
        <p15:guide id="1" orient="horz" pos="2097" userDrawn="1">
          <p15:clr>
            <a:srgbClr val="FBAE40"/>
          </p15:clr>
        </p15:guide>
        <p15:guide id="2" pos="3288"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Impressum">
    <p:bg>
      <p:bgPr>
        <a:solidFill>
          <a:schemeClr val="bg1"/>
        </a:solidFill>
        <a:effectLst/>
      </p:bgPr>
    </p:bg>
    <p:spTree>
      <p:nvGrpSpPr>
        <p:cNvPr id="1" name=""/>
        <p:cNvGrpSpPr/>
        <p:nvPr/>
      </p:nvGrpSpPr>
      <p:grpSpPr>
        <a:xfrm>
          <a:off x="0" y="0"/>
          <a:ext cx="0" cy="0"/>
          <a:chOff x="0" y="0"/>
          <a:chExt cx="0" cy="0"/>
        </a:xfrm>
      </p:grpSpPr>
      <p:sp>
        <p:nvSpPr>
          <p:cNvPr id="5" name="Datum">
            <a:extLst>
              <a:ext uri="{FF2B5EF4-FFF2-40B4-BE49-F238E27FC236}">
                <a16:creationId xmlns:a16="http://schemas.microsoft.com/office/drawing/2014/main" id="{EDAEF2B9-72B9-AC0D-2D72-82D271794187}"/>
              </a:ext>
            </a:extLst>
          </p:cNvPr>
          <p:cNvSpPr>
            <a:spLocks noGrp="1" noRot="1" noMove="1" noResize="1" noEditPoints="1" noAdjustHandles="1" noChangeArrowheads="1" noChangeShapeType="1"/>
          </p:cNvSpPr>
          <p:nvPr>
            <p:ph type="dt" sz="half" idx="11"/>
          </p:nvPr>
        </p:nvSpPr>
        <p:spPr>
          <a:xfrm>
            <a:off x="6137275" y="5800454"/>
            <a:ext cx="2340000" cy="108000"/>
          </a:xfrm>
          <a:prstGeom prst="rect">
            <a:avLst/>
          </a:prstGeom>
        </p:spPr>
        <p:txBody>
          <a:bodyPr/>
          <a:lstStyle/>
          <a:p>
            <a:r>
              <a:rPr lang="de-DE" dirty="0"/>
              <a:t>Stand. </a:t>
            </a:r>
            <a:fld id="{D2EEA022-D032-4EEB-B3BB-451FF23CBEEB}" type="datetimeFigureOut">
              <a:rPr lang="de-DE" smtClean="0"/>
              <a:pPr/>
              <a:t>12.02.2026</a:t>
            </a:fld>
            <a:endParaRPr lang="de-DE" dirty="0"/>
          </a:p>
        </p:txBody>
      </p:sp>
      <p:sp>
        <p:nvSpPr>
          <p:cNvPr id="7" name="Foliennummer">
            <a:extLst>
              <a:ext uri="{FF2B5EF4-FFF2-40B4-BE49-F238E27FC236}">
                <a16:creationId xmlns:a16="http://schemas.microsoft.com/office/drawing/2014/main" id="{83A09B95-C0A4-D314-1D39-F12826109A3B}"/>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pPr/>
              <a:t>‹Nr.›</a:t>
            </a:fld>
            <a:endParaRPr lang="de-DE" dirty="0"/>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2016125" y="1041401"/>
            <a:ext cx="8099424" cy="4791074"/>
          </a:xfrm>
        </p:spPr>
        <p:txBody>
          <a:bodyPr numCol="2" spcCol="180000"/>
          <a:lstStyle>
            <a:lvl1pPr>
              <a:spcBef>
                <a:spcPts val="1400"/>
              </a:spcBef>
              <a:defRPr b="0">
                <a:solidFill>
                  <a:schemeClr val="tx1"/>
                </a:solidFill>
                <a:latin typeface="+mn-lt"/>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1579887855"/>
      </p:ext>
    </p:extLst>
  </p:cSld>
  <p:clrMapOvr>
    <a:masterClrMapping/>
  </p:clrMapOvr>
  <p:hf hdr="0" ftr="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reserve="1">
  <p:cSld name="Grußfolie">
    <p:bg>
      <p:bgPr>
        <a:solidFill>
          <a:schemeClr val="accent1"/>
        </a:solidFill>
        <a:effectLst/>
      </p:bgPr>
    </p:bg>
    <p:spTree>
      <p:nvGrpSpPr>
        <p:cNvPr id="1" name=""/>
        <p:cNvGrpSpPr/>
        <p:nvPr/>
      </p:nvGrpSpPr>
      <p:grpSpPr>
        <a:xfrm>
          <a:off x="0" y="0"/>
          <a:ext cx="0" cy="0"/>
          <a:chOff x="0" y="0"/>
          <a:chExt cx="0" cy="0"/>
        </a:xfrm>
      </p:grpSpPr>
      <p:sp>
        <p:nvSpPr>
          <p:cNvPr id="6" name="Datum">
            <a:extLst>
              <a:ext uri="{FF2B5EF4-FFF2-40B4-BE49-F238E27FC236}">
                <a16:creationId xmlns:a16="http://schemas.microsoft.com/office/drawing/2014/main" id="{ECBFCEA1-E801-45A2-8E72-9E393E4A1B67}"/>
              </a:ext>
            </a:extLst>
          </p:cNvPr>
          <p:cNvSpPr>
            <a:spLocks noGrp="1" noRot="1" noMove="1" noResize="1" noEditPoints="1" noAdjustHandles="1" noChangeArrowheads="1" noChangeShapeType="1"/>
          </p:cNvSpPr>
          <p:nvPr>
            <p:ph type="dt" sz="half" idx="10"/>
          </p:nvPr>
        </p:nvSpPr>
        <p:spPr>
          <a:xfrm>
            <a:off x="1006475" y="6223766"/>
            <a:ext cx="2340000" cy="108000"/>
          </a:xfrm>
          <a:prstGeom prst="rect">
            <a:avLst/>
          </a:prstGeom>
        </p:spPr>
        <p:txBody>
          <a:bodyPr/>
          <a:lstStyle>
            <a:lvl1pPr>
              <a:defRPr>
                <a:solidFill>
                  <a:schemeClr val="bg1"/>
                </a:solidFill>
              </a:defRPr>
            </a:lvl1pPr>
          </a:lstStyle>
          <a:p>
            <a:r>
              <a:rPr lang="de-DE"/>
              <a:t>Stand: </a:t>
            </a:r>
            <a:fld id="{D2EEA022-D032-4EEB-B3BB-451FF23CBEEB}" type="datetimeFigureOut">
              <a:rPr lang="de-DE" smtClean="0"/>
              <a:pPr/>
              <a:t>12.02.2026</a:t>
            </a:fld>
            <a:endParaRPr lang="de-DE" dirty="0"/>
          </a:p>
        </p:txBody>
      </p:sp>
      <p:pic>
        <p:nvPicPr>
          <p:cNvPr id="4" name="Logo">
            <a:extLst>
              <a:ext uri="{FF2B5EF4-FFF2-40B4-BE49-F238E27FC236}">
                <a16:creationId xmlns:a16="http://schemas.microsoft.com/office/drawing/2014/main" id="{73B6AEAD-FB17-E7F3-790A-F01A246915FD}"/>
              </a:ext>
            </a:extLst>
          </p:cNvPr>
          <p:cNvPicPr>
            <a:picLocks noGrp="1" noRo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8102713" y="5699126"/>
            <a:ext cx="1979991" cy="604930"/>
          </a:xfrm>
          <a:prstGeom prst="rect">
            <a:avLst/>
          </a:prstGeom>
        </p:spPr>
      </p:pic>
      <p:cxnSp>
        <p:nvCxnSpPr>
          <p:cNvPr id="8" name="Linie">
            <a:extLst>
              <a:ext uri="{FF2B5EF4-FFF2-40B4-BE49-F238E27FC236}">
                <a16:creationId xmlns:a16="http://schemas.microsoft.com/office/drawing/2014/main" id="{F06A9549-BE8B-F4ED-207A-F834FC827871}"/>
              </a:ext>
            </a:extLst>
          </p:cNvPr>
          <p:cNvCxnSpPr>
            <a:cxnSpLocks noGrp="1" noRot="1" noMove="1" noResize="1" noEditPoints="1" noAdjustHandles="1" noChangeArrowheads="1" noChangeShapeType="1"/>
          </p:cNvCxnSpPr>
          <p:nvPr userDrawn="1"/>
        </p:nvCxnSpPr>
        <p:spPr>
          <a:xfrm>
            <a:off x="1006475" y="2064569"/>
            <a:ext cx="82867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Herausgeber">
            <a:extLst>
              <a:ext uri="{FF2B5EF4-FFF2-40B4-BE49-F238E27FC236}">
                <a16:creationId xmlns:a16="http://schemas.microsoft.com/office/drawing/2014/main" id="{D75E9C45-CFC0-4A11-8779-BF1E36B119AB}"/>
              </a:ext>
            </a:extLst>
          </p:cNvPr>
          <p:cNvSpPr txBox="1">
            <a:spLocks noGrp="1" noRot="1" noMove="1" noResize="1" noEditPoints="1" noAdjustHandles="1" noChangeArrowheads="1" noChangeShapeType="1"/>
          </p:cNvSpPr>
          <p:nvPr userDrawn="1"/>
        </p:nvSpPr>
        <p:spPr>
          <a:xfrm>
            <a:off x="1006475" y="6099437"/>
            <a:ext cx="2484438" cy="124329"/>
          </a:xfrm>
          <a:prstGeom prst="rect">
            <a:avLst/>
          </a:prstGeom>
          <a:noFill/>
        </p:spPr>
        <p:txBody>
          <a:bodyPr wrap="square" lIns="0" tIns="0" rIns="0" bIns="0" rtlCol="0">
            <a:noAutofit/>
          </a:bodyPr>
          <a:lstStyle/>
          <a:p>
            <a:pPr>
              <a:lnSpc>
                <a:spcPts val="900"/>
              </a:lnSpc>
            </a:pPr>
            <a:r>
              <a:rPr lang="de-DE" sz="600" dirty="0">
                <a:solidFill>
                  <a:schemeClr val="bg1"/>
                </a:solidFill>
              </a:rPr>
              <a:t>Herausgeber: Fürst Fugger Privatbank Aktiengesellschaft</a:t>
            </a:r>
          </a:p>
        </p:txBody>
      </p:sp>
      <p:sp>
        <p:nvSpPr>
          <p:cNvPr id="3" name="Untertitel">
            <a:extLst>
              <a:ext uri="{FF2B5EF4-FFF2-40B4-BE49-F238E27FC236}">
                <a16:creationId xmlns:a16="http://schemas.microsoft.com/office/drawing/2014/main" id="{0AFF4D17-FE0D-4ED3-7D17-07E3D1797497}"/>
              </a:ext>
            </a:extLst>
          </p:cNvPr>
          <p:cNvSpPr>
            <a:spLocks noGrp="1" noRot="1" noMove="1" noResize="1" noEditPoints="1" noAdjustHandles="1" noChangeArrowheads="1" noChangeShapeType="1"/>
          </p:cNvSpPr>
          <p:nvPr>
            <p:ph type="subTitle" idx="1"/>
          </p:nvPr>
        </p:nvSpPr>
        <p:spPr>
          <a:xfrm>
            <a:off x="1006475" y="2307362"/>
            <a:ext cx="6626225" cy="303222"/>
          </a:xfrm>
        </p:spPr>
        <p:txBody>
          <a:bodyPr/>
          <a:lstStyle>
            <a:lvl1pPr marL="0" indent="0" algn="l">
              <a:buNone/>
              <a:defRPr sz="1400" b="0" cap="none" baseline="0">
                <a:solidFill>
                  <a:schemeClr val="bg1"/>
                </a:solidFill>
                <a:latin typeface="+mn-lt"/>
              </a:defRPr>
            </a:lvl1pPr>
            <a:lvl2pPr marL="391500" indent="0" algn="ctr">
              <a:buNone/>
              <a:defRPr sz="1713"/>
            </a:lvl2pPr>
            <a:lvl3pPr marL="783001" indent="0" algn="ctr">
              <a:buNone/>
              <a:defRPr sz="1541"/>
            </a:lvl3pPr>
            <a:lvl4pPr marL="1174501" indent="0" algn="ctr">
              <a:buNone/>
              <a:defRPr sz="1370"/>
            </a:lvl4pPr>
            <a:lvl5pPr marL="1566001" indent="0" algn="ctr">
              <a:buNone/>
              <a:defRPr sz="1370"/>
            </a:lvl5pPr>
            <a:lvl6pPr marL="1957502" indent="0" algn="ctr">
              <a:buNone/>
              <a:defRPr sz="1370"/>
            </a:lvl6pPr>
            <a:lvl7pPr marL="2349002" indent="0" algn="ctr">
              <a:buNone/>
              <a:defRPr sz="1370"/>
            </a:lvl7pPr>
            <a:lvl8pPr marL="2740503" indent="0" algn="ctr">
              <a:buNone/>
              <a:defRPr sz="1370"/>
            </a:lvl8pPr>
            <a:lvl9pPr marL="3132003" indent="0" algn="ctr">
              <a:buNone/>
              <a:defRPr sz="1370"/>
            </a:lvl9pPr>
          </a:lstStyle>
          <a:p>
            <a:r>
              <a:rPr lang="de-DE" dirty="0"/>
              <a:t>Master-Untertitelformat bearbeiten</a:t>
            </a:r>
          </a:p>
        </p:txBody>
      </p:sp>
      <p:sp>
        <p:nvSpPr>
          <p:cNvPr id="2" name="Titel">
            <a:extLst>
              <a:ext uri="{FF2B5EF4-FFF2-40B4-BE49-F238E27FC236}">
                <a16:creationId xmlns:a16="http://schemas.microsoft.com/office/drawing/2014/main" id="{C1C34371-6866-6B79-4A4E-D51B359DA61B}"/>
              </a:ext>
            </a:extLst>
          </p:cNvPr>
          <p:cNvSpPr>
            <a:spLocks noGrp="1" noRot="1" noMove="1" noResize="1" noEditPoints="1" noAdjustHandles="1" noChangeArrowheads="1" noChangeShapeType="1"/>
          </p:cNvSpPr>
          <p:nvPr>
            <p:ph type="ctrTitle"/>
          </p:nvPr>
        </p:nvSpPr>
        <p:spPr>
          <a:xfrm>
            <a:off x="1006475" y="1046481"/>
            <a:ext cx="6626225" cy="858520"/>
          </a:xfrm>
        </p:spPr>
        <p:txBody>
          <a:bodyPr tIns="0" anchor="t" anchorCtr="0"/>
          <a:lstStyle>
            <a:lvl1pPr algn="l">
              <a:lnSpc>
                <a:spcPts val="3450"/>
              </a:lnSpc>
              <a:defRPr sz="2770">
                <a:solidFill>
                  <a:schemeClr val="bg1"/>
                </a:solidFill>
              </a:defRPr>
            </a:lvl1pPr>
          </a:lstStyle>
          <a:p>
            <a:r>
              <a:rPr lang="de-DE" dirty="0"/>
              <a:t>Mastertitelformat bearbeiten</a:t>
            </a:r>
          </a:p>
        </p:txBody>
      </p:sp>
    </p:spTree>
    <p:extLst>
      <p:ext uri="{BB962C8B-B14F-4D97-AF65-F5344CB8AC3E}">
        <p14:creationId xmlns:p14="http://schemas.microsoft.com/office/powerpoint/2010/main" val="1650700648"/>
      </p:ext>
    </p:extLst>
  </p:cSld>
  <p:clrMapOvr>
    <a:masterClrMapping/>
  </p:clrMapOvr>
  <p:extLst>
    <p:ext uri="{DCECCB84-F9BA-43D5-87BE-67443E8EF086}">
      <p15:sldGuideLst xmlns:p15="http://schemas.microsoft.com/office/powerpoint/2012/main">
        <p15:guide id="1" orient="horz" pos="2097" userDrawn="1">
          <p15:clr>
            <a:srgbClr val="FBAE40"/>
          </p15:clr>
        </p15:guide>
        <p15:guide id="2" pos="3288"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2_Anlagestrategie">
    <p:bg>
      <p:bgPr>
        <a:solidFill>
          <a:schemeClr val="bg1"/>
        </a:solidFill>
        <a:effectLst/>
      </p:bgPr>
    </p:bg>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cxnSp>
        <p:nvCxnSpPr>
          <p:cNvPr id="7" name="Linie rechts">
            <a:extLst>
              <a:ext uri="{FF2B5EF4-FFF2-40B4-BE49-F238E27FC236}">
                <a16:creationId xmlns:a16="http://schemas.microsoft.com/office/drawing/2014/main" id="{A5ABBF84-B345-ABF9-7BD6-D1761EA99283}"/>
              </a:ext>
            </a:extLst>
          </p:cNvPr>
          <p:cNvCxnSpPr>
            <a:cxnSpLocks/>
          </p:cNvCxnSpPr>
          <p:nvPr userDrawn="1"/>
        </p:nvCxnSpPr>
        <p:spPr>
          <a:xfrm>
            <a:off x="4518000" y="5848626"/>
            <a:ext cx="56160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 name="Linie links">
            <a:extLst>
              <a:ext uri="{FF2B5EF4-FFF2-40B4-BE49-F238E27FC236}">
                <a16:creationId xmlns:a16="http://schemas.microsoft.com/office/drawing/2014/main" id="{BB477708-9E90-3D08-DAEE-6728F2DEA9B9}"/>
              </a:ext>
            </a:extLst>
          </p:cNvPr>
          <p:cNvCxnSpPr>
            <a:cxnSpLocks/>
          </p:cNvCxnSpPr>
          <p:nvPr userDrawn="1"/>
        </p:nvCxnSpPr>
        <p:spPr>
          <a:xfrm>
            <a:off x="352779" y="5240797"/>
            <a:ext cx="4165221"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179432709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Portfolio">
    <p:bg>
      <p:bgPr>
        <a:solidFill>
          <a:schemeClr val="bg1"/>
        </a:solidFill>
        <a:effectLst/>
      </p:bgPr>
    </p:bg>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cxnSp>
        <p:nvCxnSpPr>
          <p:cNvPr id="7" name="Linie rechts">
            <a:extLst>
              <a:ext uri="{FF2B5EF4-FFF2-40B4-BE49-F238E27FC236}">
                <a16:creationId xmlns:a16="http://schemas.microsoft.com/office/drawing/2014/main" id="{A5ABBF84-B345-ABF9-7BD6-D1761EA99283}"/>
              </a:ext>
            </a:extLst>
          </p:cNvPr>
          <p:cNvCxnSpPr>
            <a:cxnSpLocks noGrp="1" noRot="1" noMove="1" noResize="1" noEditPoints="1" noAdjustHandles="1" noChangeArrowheads="1" noChangeShapeType="1"/>
          </p:cNvCxnSpPr>
          <p:nvPr userDrawn="1"/>
        </p:nvCxnSpPr>
        <p:spPr>
          <a:xfrm>
            <a:off x="5327650" y="5240797"/>
            <a:ext cx="4793151"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 name="Linie links">
            <a:extLst>
              <a:ext uri="{FF2B5EF4-FFF2-40B4-BE49-F238E27FC236}">
                <a16:creationId xmlns:a16="http://schemas.microsoft.com/office/drawing/2014/main" id="{BB477708-9E90-3D08-DAEE-6728F2DEA9B9}"/>
              </a:ext>
            </a:extLst>
          </p:cNvPr>
          <p:cNvCxnSpPr>
            <a:cxnSpLocks noGrp="1" noRot="1" noMove="1" noResize="1" noEditPoints="1" noAdjustHandles="1" noChangeArrowheads="1" noChangeShapeType="1"/>
          </p:cNvCxnSpPr>
          <p:nvPr userDrawn="1"/>
        </p:nvCxnSpPr>
        <p:spPr>
          <a:xfrm>
            <a:off x="352779" y="5240797"/>
            <a:ext cx="4795484"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262170688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Portfolio">
    <p:bg>
      <p:bgPr>
        <a:solidFill>
          <a:schemeClr val="bg1"/>
        </a:solidFill>
        <a:effectLst/>
      </p:bgPr>
    </p:bg>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cxnSp>
        <p:nvCxnSpPr>
          <p:cNvPr id="9" name="Linie links">
            <a:extLst>
              <a:ext uri="{FF2B5EF4-FFF2-40B4-BE49-F238E27FC236}">
                <a16:creationId xmlns:a16="http://schemas.microsoft.com/office/drawing/2014/main" id="{BB477708-9E90-3D08-DAEE-6728F2DEA9B9}"/>
              </a:ext>
            </a:extLst>
          </p:cNvPr>
          <p:cNvCxnSpPr>
            <a:cxnSpLocks noGrp="1" noRot="1" noMove="1" noResize="1" noEditPoints="1" noAdjustHandles="1" noChangeArrowheads="1" noChangeShapeType="1"/>
          </p:cNvCxnSpPr>
          <p:nvPr userDrawn="1"/>
        </p:nvCxnSpPr>
        <p:spPr>
          <a:xfrm>
            <a:off x="352779" y="5240797"/>
            <a:ext cx="4795484"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pic>
        <p:nvPicPr>
          <p:cNvPr id="3" name="Bild">
            <a:extLst>
              <a:ext uri="{FF2B5EF4-FFF2-40B4-BE49-F238E27FC236}">
                <a16:creationId xmlns:a16="http://schemas.microsoft.com/office/drawing/2014/main" id="{3DDD31F3-EA7E-499D-A956-FE11B487F34F}"/>
              </a:ext>
            </a:extLst>
          </p:cNvPr>
          <p:cNvPicPr/>
          <p:nvPr userDrawn="1"/>
        </p:nvPicPr>
        <p:blipFill>
          <a:blip r:embed="rId2">
            <a:extLst>
              <a:ext uri="{28A0092B-C50C-407E-A947-70E740481C1C}">
                <a14:useLocalDpi xmlns:a14="http://schemas.microsoft.com/office/drawing/2010/main" val="0"/>
              </a:ext>
            </a:extLst>
          </a:blip>
          <a:srcRect/>
          <a:stretch/>
        </p:blipFill>
        <p:spPr>
          <a:xfrm>
            <a:off x="4808292" y="0"/>
            <a:ext cx="5631107" cy="6659563"/>
          </a:xfrm>
          <a:custGeom>
            <a:avLst/>
            <a:gdLst>
              <a:gd name="connsiteX0" fmla="*/ 0 w 5631108"/>
              <a:gd name="connsiteY0" fmla="*/ 0 h 6659563"/>
              <a:gd name="connsiteX1" fmla="*/ 5631108 w 5631108"/>
              <a:gd name="connsiteY1" fmla="*/ 0 h 6659563"/>
              <a:gd name="connsiteX2" fmla="*/ 5631108 w 5631108"/>
              <a:gd name="connsiteY2" fmla="*/ 6659563 h 6659563"/>
              <a:gd name="connsiteX3" fmla="*/ 1167058 w 5631108"/>
              <a:gd name="connsiteY3" fmla="*/ 6659563 h 6659563"/>
              <a:gd name="connsiteX4" fmla="*/ 1167058 w 5631108"/>
              <a:gd name="connsiteY4" fmla="*/ 577516 h 6659563"/>
              <a:gd name="connsiteX5" fmla="*/ 0 w 5631108"/>
              <a:gd name="connsiteY5" fmla="*/ 577516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6659563"/>
                </a:lnTo>
                <a:lnTo>
                  <a:pt x="1167058" y="6659563"/>
                </a:lnTo>
                <a:lnTo>
                  <a:pt x="1167058" y="577516"/>
                </a:lnTo>
                <a:lnTo>
                  <a:pt x="0" y="577516"/>
                </a:lnTo>
                <a:close/>
              </a:path>
            </a:pathLst>
          </a:custGeom>
        </p:spPr>
      </p:pic>
    </p:spTree>
    <p:extLst>
      <p:ext uri="{BB962C8B-B14F-4D97-AF65-F5344CB8AC3E}">
        <p14:creationId xmlns:p14="http://schemas.microsoft.com/office/powerpoint/2010/main" val="419546311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theme" Target="../theme/theme1.xml"/><Relationship Id="rId30" Type="http://schemas.openxmlformats.org/officeDocument/2006/relationships/image" Target="../media/image1.png"/><Relationship Id="rId31" Type="http://schemas.openxmlformats.org/officeDocument/2006/relationships/image" Target="../media/image2.svg"/><Relationship Id="rId32"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Datum">
            <a:extLst>
              <a:ext uri="{FF2B5EF4-FFF2-40B4-BE49-F238E27FC236}">
                <a16:creationId xmlns:a16="http://schemas.microsoft.com/office/drawing/2014/main" id="{1441D935-D4CE-8629-989D-CCFB95BFBF88}"/>
              </a:ext>
            </a:extLst>
          </p:cNvPr>
          <p:cNvSpPr>
            <a:spLocks noGrp="1" noRot="1" noMove="1" noResize="1" noEditPoints="1" noAdjustHandles="1" noChangeArrowheads="1" noChangeShapeType="1"/>
          </p:cNvSpPr>
          <p:nvPr>
            <p:ph type="dt" sz="half" idx="2"/>
          </p:nvPr>
        </p:nvSpPr>
        <p:spPr>
          <a:xfrm>
            <a:off x="7740763" y="6804958"/>
            <a:ext cx="2340000" cy="108000"/>
          </a:xfrm>
          <a:prstGeom prst="rect">
            <a:avLst/>
          </a:prstGeom>
        </p:spPr>
        <p:txBody>
          <a:bodyPr vert="horz" wrap="none" lIns="0" tIns="0" rIns="0" bIns="0" rtlCol="0" anchor="ctr"/>
          <a:lstStyle>
            <a:lvl1pPr algn="l">
              <a:defRPr sz="600">
                <a:solidFill>
                  <a:schemeClr val="tx1">
                    <a:lumMod val="50000"/>
                    <a:lumOff val="50000"/>
                  </a:schemeClr>
                </a:solidFill>
              </a:defRPr>
            </a:lvl1pPr>
          </a:lstStyle>
          <a:p>
            <a:fld id="{D2EEA022-D032-4EEB-B3BB-451FF23CBEEB}" type="datetimeFigureOut">
              <a:rPr lang="de-DE" smtClean="0"/>
              <a:pPr/>
              <a:t>12.02.2026</a:t>
            </a:fld>
            <a:endParaRPr lang="de-DE" dirty="0"/>
          </a:p>
        </p:txBody>
      </p:sp>
      <p:sp>
        <p:nvSpPr>
          <p:cNvPr id="6" name="Foliennummer">
            <a:extLst>
              <a:ext uri="{FF2B5EF4-FFF2-40B4-BE49-F238E27FC236}">
                <a16:creationId xmlns:a16="http://schemas.microsoft.com/office/drawing/2014/main" id="{D677F6CD-9908-3B49-0E21-DF1BF9A27F4A}"/>
              </a:ext>
            </a:extLst>
          </p:cNvPr>
          <p:cNvSpPr>
            <a:spLocks noGrp="1" noRot="1" noMove="1" noResize="1" noEditPoints="1" noAdjustHandles="1" noChangeArrowheads="1" noChangeShapeType="1"/>
          </p:cNvSpPr>
          <p:nvPr>
            <p:ph type="sldNum" sz="quarter" idx="4"/>
          </p:nvPr>
        </p:nvSpPr>
        <p:spPr>
          <a:xfrm>
            <a:off x="7866000" y="6182738"/>
            <a:ext cx="2224263" cy="157725"/>
          </a:xfrm>
          <a:prstGeom prst="rect">
            <a:avLst/>
          </a:prstGeom>
        </p:spPr>
        <p:txBody>
          <a:bodyPr vert="horz" lIns="0" tIns="0" rIns="0" bIns="0" rtlCol="0" anchor="t" anchorCtr="0">
            <a:noAutofit/>
          </a:bodyPr>
          <a:lstStyle>
            <a:lvl1pPr algn="r">
              <a:defRPr sz="1000" b="1">
                <a:solidFill>
                  <a:schemeClr val="accent1"/>
                </a:solidFill>
                <a:latin typeface="+mj-lt"/>
              </a:defRPr>
            </a:lvl1pPr>
          </a:lstStyle>
          <a:p>
            <a:fld id="{3AE71D6B-ACB6-4F4C-A895-DCAEF1760EAA}" type="slidenum">
              <a:rPr lang="de-DE" smtClean="0"/>
              <a:pPr/>
              <a:t>‹Nr.›</a:t>
            </a:fld>
            <a:endParaRPr lang="de-DE" dirty="0"/>
          </a:p>
        </p:txBody>
      </p:sp>
      <p:pic>
        <p:nvPicPr>
          <p:cNvPr id="8" name="Logo">
            <a:extLst>
              <a:ext uri="{FF2B5EF4-FFF2-40B4-BE49-F238E27FC236}">
                <a16:creationId xmlns:a16="http://schemas.microsoft.com/office/drawing/2014/main" id="{3D23323B-A958-3EE3-70B5-D03430E8261D}"/>
              </a:ext>
            </a:extLst>
          </p:cNvPr>
          <p:cNvPicPr>
            <a:picLocks noGrp="1" noRot="1" noChangeAspect="1" noMove="1" noResize="1" noEditPoints="1" noAdjustHandles="1" noChangeArrowheads="1" noChangeShapeType="1" noCrop="1"/>
          </p:cNvPicPr>
          <p:nvPr userDrawn="1"/>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rcRect/>
          <a:stretch/>
        </p:blipFill>
        <p:spPr>
          <a:xfrm>
            <a:off x="394863" y="6149482"/>
            <a:ext cx="1577376" cy="205348"/>
          </a:xfrm>
          <a:prstGeom prst="rect">
            <a:avLst/>
          </a:prstGeom>
        </p:spPr>
      </p:pic>
      <p:cxnSp>
        <p:nvCxnSpPr>
          <p:cNvPr id="10" name="Linie">
            <a:extLst>
              <a:ext uri="{FF2B5EF4-FFF2-40B4-BE49-F238E27FC236}">
                <a16:creationId xmlns:a16="http://schemas.microsoft.com/office/drawing/2014/main" id="{30C87199-9CC3-886E-3A4B-0FA6C63EFFD7}"/>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Textplatzhalter">
            <a:extLst>
              <a:ext uri="{FF2B5EF4-FFF2-40B4-BE49-F238E27FC236}">
                <a16:creationId xmlns:a16="http://schemas.microsoft.com/office/drawing/2014/main" id="{23733324-201D-2B98-A6E9-A9E03DE47618}"/>
              </a:ext>
            </a:extLst>
          </p:cNvPr>
          <p:cNvSpPr>
            <a:spLocks noGrp="1" noRot="1" noMove="1" noResize="1" noEditPoints="1" noAdjustHandles="1" noChangeArrowheads="1" noChangeShapeType="1"/>
          </p:cNvSpPr>
          <p:nvPr>
            <p:ph type="body" idx="1"/>
          </p:nvPr>
        </p:nvSpPr>
        <p:spPr>
          <a:xfrm>
            <a:off x="358774" y="1041401"/>
            <a:ext cx="9756775" cy="4791074"/>
          </a:xfrm>
          <a:prstGeom prst="rect">
            <a:avLst/>
          </a:prstGeom>
        </p:spPr>
        <p:txBody>
          <a:bodyPr vert="horz" lIns="0" tIns="0" rIns="0" bIns="0" rtlCol="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Siebente Ebene</a:t>
            </a:r>
          </a:p>
          <a:p>
            <a:pPr lvl="7"/>
            <a:r>
              <a:rPr lang="de-DE" dirty="0"/>
              <a:t>Achte Ebene</a:t>
            </a:r>
          </a:p>
          <a:p>
            <a:pPr lvl="8"/>
            <a:r>
              <a:rPr lang="de-DE" dirty="0"/>
              <a:t>Neunte Ebene</a:t>
            </a:r>
          </a:p>
        </p:txBody>
      </p:sp>
      <p:sp>
        <p:nvSpPr>
          <p:cNvPr id="2" name="Titelplatzhalter">
            <a:extLst>
              <a:ext uri="{FF2B5EF4-FFF2-40B4-BE49-F238E27FC236}">
                <a16:creationId xmlns:a16="http://schemas.microsoft.com/office/drawing/2014/main" id="{25F389A5-5A88-033D-BB4F-AD00957B388F}"/>
              </a:ext>
            </a:extLst>
          </p:cNvPr>
          <p:cNvSpPr>
            <a:spLocks noGrp="1" noRot="1" noMove="1" noResize="1" noEditPoints="1" noAdjustHandles="1" noChangeArrowheads="1" noChangeShapeType="1"/>
          </p:cNvSpPr>
          <p:nvPr>
            <p:ph type="title"/>
          </p:nvPr>
        </p:nvSpPr>
        <p:spPr>
          <a:xfrm>
            <a:off x="358775" y="322580"/>
            <a:ext cx="9756774" cy="360000"/>
          </a:xfrm>
          <a:prstGeom prst="rect">
            <a:avLst/>
          </a:prstGeom>
        </p:spPr>
        <p:txBody>
          <a:bodyPr vert="horz" wrap="none" lIns="0" tIns="36000" rIns="0" bIns="0" rtlCol="0" anchor="t" anchorCtr="0">
            <a:noAutofit/>
          </a:bodyPr>
          <a:lstStyle/>
          <a:p>
            <a:r>
              <a:rPr lang="de-DE" dirty="0"/>
              <a:t>Mastertitelformat bearbeiten</a:t>
            </a:r>
          </a:p>
        </p:txBody>
      </p:sp>
    </p:spTree>
    <p:extLst>
      <p:ext uri="{BB962C8B-B14F-4D97-AF65-F5344CB8AC3E}">
        <p14:creationId xmlns:p14="http://schemas.microsoft.com/office/powerpoint/2010/main" val="2613421600"/>
      </p:ext>
    </p:extLst>
  </p:cSld>
  <p:clrMap bg1="lt1" tx1="dk1" bg2="lt2" tx2="dk2" accent1="accent1" accent2="accent2" accent3="accent3" accent4="accent4" accent5="accent5" accent6="accent6" hlink="hlink" folHlink="folHlink"/>
  <p:sldLayoutIdLst>
    <p:sldLayoutId id="2147483649" r:id="rId1"/>
    <p:sldLayoutId id="2147483662" r:id="rId2"/>
    <p:sldLayoutId id="2147483663" r:id="rId3"/>
    <p:sldLayoutId id="2147483664" r:id="rId4"/>
    <p:sldLayoutId id="2147483667" r:id="rId5"/>
    <p:sldLayoutId id="2147483668" r:id="rId6"/>
    <p:sldLayoutId id="2147483669" r:id="rId7"/>
    <p:sldLayoutId id="2147483670" r:id="rId8"/>
    <p:sldLayoutId id="2147483673" r:id="rId9"/>
    <p:sldLayoutId id="2147483677" r:id="rId10"/>
    <p:sldLayoutId id="2147483678" r:id="rId11"/>
    <p:sldLayoutId id="2147483650" r:id="rId12"/>
    <p:sldLayoutId id="2147483672" r:id="rId13"/>
    <p:sldLayoutId id="2147483671" r:id="rId14"/>
    <p:sldLayoutId id="2147483665" r:id="rId15"/>
    <p:sldLayoutId id="2147483660" r:id="rId16"/>
    <p:sldLayoutId id="2147483666" r:id="rId17"/>
    <p:sldLayoutId id="2147483661" r:id="rId18"/>
    <p:sldLayoutId id="2147483654" r:id="rId19"/>
    <p:sldLayoutId id="2147483655" r:id="rId20"/>
    <p:sldLayoutId id="2147483674" r:id="rId21"/>
    <p:sldLayoutId id="2147483675" r:id="rId22"/>
    <p:sldLayoutId id="2147483676" r:id="rId23"/>
    <p:sldLayoutId id="2147483679" r:id="rId24"/>
    <p:sldLayoutId id="2147483680" r:id="rId25"/>
    <p:sldLayoutId id="2147483681" r:id="rId26"/>
    <p:sldLayoutId id="2147483682" r:id="rId27"/>
    <p:sldLayoutId id="2147483683" r:id="rId28"/>
  </p:sldLayoutIdLst>
  <p:hf hdr="0" ftr="0" dt="0"/>
  <p:txStyles>
    <p:titleStyle>
      <a:lvl1pPr algn="l" defTabSz="783001" rtl="0" eaLnBrk="1" latinLnBrk="0" hangingPunct="1">
        <a:lnSpc>
          <a:spcPts val="2200"/>
        </a:lnSpc>
        <a:spcBef>
          <a:spcPct val="0"/>
        </a:spcBef>
        <a:buNone/>
        <a:defRPr sz="1700" b="1" kern="1200">
          <a:solidFill>
            <a:schemeClr val="accent1"/>
          </a:solidFill>
          <a:latin typeface="+mj-lt"/>
          <a:ea typeface="+mj-ea"/>
          <a:cs typeface="+mj-cs"/>
        </a:defRPr>
      </a:lvl1pPr>
    </p:titleStyle>
    <p:body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32"/>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32"/>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32"/>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32"/>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32"/>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32"/>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32"/>
        </a:buBlip>
        <a:defRPr sz="1100" kern="1200">
          <a:solidFill>
            <a:schemeClr val="tx1"/>
          </a:solidFill>
          <a:latin typeface="+mn-lt"/>
          <a:ea typeface="+mn-ea"/>
          <a:cs typeface="+mn-cs"/>
        </a:defRPr>
      </a:lvl9pPr>
    </p:bodyStyle>
    <p:otherStyle>
      <a:defPPr>
        <a:defRPr lang="de-DE"/>
      </a:defPPr>
      <a:lvl1pPr marL="0" algn="l" defTabSz="783001" rtl="0" eaLnBrk="1" latinLnBrk="0" hangingPunct="1">
        <a:defRPr sz="1541" kern="1200">
          <a:solidFill>
            <a:schemeClr val="tx1"/>
          </a:solidFill>
          <a:latin typeface="+mn-lt"/>
          <a:ea typeface="+mn-ea"/>
          <a:cs typeface="+mn-cs"/>
        </a:defRPr>
      </a:lvl1pPr>
      <a:lvl2pPr marL="391500" algn="l" defTabSz="783001" rtl="0" eaLnBrk="1" latinLnBrk="0" hangingPunct="1">
        <a:defRPr sz="1541" kern="1200">
          <a:solidFill>
            <a:schemeClr val="tx1"/>
          </a:solidFill>
          <a:latin typeface="+mn-lt"/>
          <a:ea typeface="+mn-ea"/>
          <a:cs typeface="+mn-cs"/>
        </a:defRPr>
      </a:lvl2pPr>
      <a:lvl3pPr marL="783001" algn="l" defTabSz="783001" rtl="0" eaLnBrk="1" latinLnBrk="0" hangingPunct="1">
        <a:defRPr sz="1541" kern="1200">
          <a:solidFill>
            <a:schemeClr val="tx1"/>
          </a:solidFill>
          <a:latin typeface="+mn-lt"/>
          <a:ea typeface="+mn-ea"/>
          <a:cs typeface="+mn-cs"/>
        </a:defRPr>
      </a:lvl3pPr>
      <a:lvl4pPr marL="1174501" algn="l" defTabSz="783001" rtl="0" eaLnBrk="1" latinLnBrk="0" hangingPunct="1">
        <a:defRPr sz="1541" kern="1200">
          <a:solidFill>
            <a:schemeClr val="tx1"/>
          </a:solidFill>
          <a:latin typeface="+mn-lt"/>
          <a:ea typeface="+mn-ea"/>
          <a:cs typeface="+mn-cs"/>
        </a:defRPr>
      </a:lvl4pPr>
      <a:lvl5pPr marL="1566001" algn="l" defTabSz="783001" rtl="0" eaLnBrk="1" latinLnBrk="0" hangingPunct="1">
        <a:defRPr sz="1541" kern="1200">
          <a:solidFill>
            <a:schemeClr val="tx1"/>
          </a:solidFill>
          <a:latin typeface="+mn-lt"/>
          <a:ea typeface="+mn-ea"/>
          <a:cs typeface="+mn-cs"/>
        </a:defRPr>
      </a:lvl5pPr>
      <a:lvl6pPr marL="1957502" algn="l" defTabSz="783001" rtl="0" eaLnBrk="1" latinLnBrk="0" hangingPunct="1">
        <a:defRPr sz="1541" kern="1200">
          <a:solidFill>
            <a:schemeClr val="tx1"/>
          </a:solidFill>
          <a:latin typeface="+mn-lt"/>
          <a:ea typeface="+mn-ea"/>
          <a:cs typeface="+mn-cs"/>
        </a:defRPr>
      </a:lvl6pPr>
      <a:lvl7pPr marL="2349002" algn="l" defTabSz="783001" rtl="0" eaLnBrk="1" latinLnBrk="0" hangingPunct="1">
        <a:defRPr sz="1541" kern="1200">
          <a:solidFill>
            <a:schemeClr val="tx1"/>
          </a:solidFill>
          <a:latin typeface="+mn-lt"/>
          <a:ea typeface="+mn-ea"/>
          <a:cs typeface="+mn-cs"/>
        </a:defRPr>
      </a:lvl7pPr>
      <a:lvl8pPr marL="2740503" algn="l" defTabSz="783001" rtl="0" eaLnBrk="1" latinLnBrk="0" hangingPunct="1">
        <a:defRPr sz="1541" kern="1200">
          <a:solidFill>
            <a:schemeClr val="tx1"/>
          </a:solidFill>
          <a:latin typeface="+mn-lt"/>
          <a:ea typeface="+mn-ea"/>
          <a:cs typeface="+mn-cs"/>
        </a:defRPr>
      </a:lvl8pPr>
      <a:lvl9pPr marL="3132003" algn="l" defTabSz="783001" rtl="0" eaLnBrk="1" latinLnBrk="0" hangingPunct="1">
        <a:defRPr sz="154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7" userDrawn="1">
          <p15:clr>
            <a:srgbClr val="F26B43"/>
          </p15:clr>
        </p15:guide>
        <p15:guide id="3" pos="226" userDrawn="1">
          <p15:clr>
            <a:srgbClr val="F26B43"/>
          </p15:clr>
        </p15:guide>
        <p15:guide id="15" pos="634" userDrawn="1">
          <p15:clr>
            <a:srgbClr val="F26B43"/>
          </p15:clr>
        </p15:guide>
        <p15:guide id="16" pos="748" userDrawn="1">
          <p15:clr>
            <a:srgbClr val="F26B43"/>
          </p15:clr>
        </p15:guide>
        <p15:guide id="17" pos="1156" userDrawn="1">
          <p15:clr>
            <a:srgbClr val="F26B43"/>
          </p15:clr>
        </p15:guide>
        <p15:guide id="18" pos="1270" userDrawn="1">
          <p15:clr>
            <a:srgbClr val="F26B43"/>
          </p15:clr>
        </p15:guide>
        <p15:guide id="19" pos="1678" userDrawn="1">
          <p15:clr>
            <a:srgbClr val="F26B43"/>
          </p15:clr>
        </p15:guide>
        <p15:guide id="20" pos="1791" userDrawn="1">
          <p15:clr>
            <a:srgbClr val="F26B43"/>
          </p15:clr>
        </p15:guide>
        <p15:guide id="21" pos="2199" userDrawn="1">
          <p15:clr>
            <a:srgbClr val="F26B43"/>
          </p15:clr>
        </p15:guide>
        <p15:guide id="22" pos="2313" userDrawn="1">
          <p15:clr>
            <a:srgbClr val="F26B43"/>
          </p15:clr>
        </p15:guide>
        <p15:guide id="23" pos="2721" userDrawn="1">
          <p15:clr>
            <a:srgbClr val="F26B43"/>
          </p15:clr>
        </p15:guide>
        <p15:guide id="24" pos="2834" userDrawn="1">
          <p15:clr>
            <a:srgbClr val="F26B43"/>
          </p15:clr>
        </p15:guide>
        <p15:guide id="25" pos="3243" userDrawn="1">
          <p15:clr>
            <a:srgbClr val="F26B43"/>
          </p15:clr>
        </p15:guide>
        <p15:guide id="26" pos="3356" userDrawn="1">
          <p15:clr>
            <a:srgbClr val="F26B43"/>
          </p15:clr>
        </p15:guide>
        <p15:guide id="27" pos="3764" userDrawn="1">
          <p15:clr>
            <a:srgbClr val="F26B43"/>
          </p15:clr>
        </p15:guide>
        <p15:guide id="28" pos="3878" userDrawn="1">
          <p15:clr>
            <a:srgbClr val="F26B43"/>
          </p15:clr>
        </p15:guide>
        <p15:guide id="29" pos="4286" userDrawn="1">
          <p15:clr>
            <a:srgbClr val="F26B43"/>
          </p15:clr>
        </p15:guide>
        <p15:guide id="30" pos="4399" userDrawn="1">
          <p15:clr>
            <a:srgbClr val="F26B43"/>
          </p15:clr>
        </p15:guide>
        <p15:guide id="31" pos="4808" userDrawn="1">
          <p15:clr>
            <a:srgbClr val="F26B43"/>
          </p15:clr>
        </p15:guide>
        <p15:guide id="32" pos="4921" userDrawn="1">
          <p15:clr>
            <a:srgbClr val="F26B43"/>
          </p15:clr>
        </p15:guide>
        <p15:guide id="33" pos="5329" userDrawn="1">
          <p15:clr>
            <a:srgbClr val="F26B43"/>
          </p15:clr>
        </p15:guide>
        <p15:guide id="34" pos="5443" userDrawn="1">
          <p15:clr>
            <a:srgbClr val="F26B43"/>
          </p15:clr>
        </p15:guide>
        <p15:guide id="35" pos="5851" userDrawn="1">
          <p15:clr>
            <a:srgbClr val="F26B43"/>
          </p15:clr>
        </p15:guide>
        <p15:guide id="36" pos="5964" userDrawn="1">
          <p15:clr>
            <a:srgbClr val="F26B43"/>
          </p15:clr>
        </p15:guide>
        <p15:guide id="37" pos="6372" userDrawn="1">
          <p15:clr>
            <a:srgbClr val="F26B43"/>
          </p15:clr>
        </p15:guide>
        <p15:guide id="38" orient="horz" pos="4002" userDrawn="1">
          <p15:clr>
            <a:srgbClr val="F26B43"/>
          </p15:clr>
        </p15:guide>
        <p15:guide id="39" orient="horz" userDrawn="1">
          <p15:clr>
            <a:srgbClr val="F26B43"/>
          </p15:clr>
        </p15:guide>
        <p15:guide id="40" orient="horz" pos="656" userDrawn="1">
          <p15:clr>
            <a:srgbClr val="F26B43"/>
          </p15:clr>
        </p15:guide>
        <p15:guide id="41" orient="horz" pos="4195" userDrawn="1">
          <p15:clr>
            <a:srgbClr val="F26B43"/>
          </p15:clr>
        </p15:guide>
        <p15:guide id="42" orient="horz" pos="367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chart" Target="../charts/chart3.xml"/><Relationship Id="rId3" Type="http://schemas.openxmlformats.org/officeDocument/2006/relationships/chart" Target="../charts/char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chart" Target="../charts/char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3.png"/><Relationship Id="rId3"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9.png"/><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chart" Target="../charts/char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image" Target="../media/image25.png"/><Relationship Id="rId3"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27.jpeg"/><Relationship Id="rId3" Type="http://schemas.openxmlformats.org/officeDocument/2006/relationships/image" Target="../media/image28.jpeg"/><Relationship Id="rId4" Type="http://schemas.openxmlformats.org/officeDocument/2006/relationships/image" Target="../media/image29.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30.png"/><Relationship Id="rId3" Type="http://schemas.openxmlformats.org/officeDocument/2006/relationships/image" Target="../media/image31.jpeg"/><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chart" Target="../charts/chart7.xml"/><Relationship Id="rId3" Type="http://schemas.openxmlformats.org/officeDocument/2006/relationships/chart" Target="../charts/char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98410-5E31-673D-9804-2E95F88ACB78}"/>
            </a:ext>
          </a:extLst>
        </p:cNvPr>
        <p:cNvGrpSpPr/>
        <p:nvPr/>
      </p:nvGrpSpPr>
      <p:grpSpPr>
        <a:xfrm>
          <a:off x="0" y="0"/>
          <a:ext cx="0" cy="0"/>
          <a:chOff x="0" y="0"/>
          <a:chExt cx="0" cy="0"/>
        </a:xfrm>
      </p:grpSpPr>
      <p:sp>
        <p:nvSpPr>
          <p:cNvPr id="6" name="Untertitel">
            <a:extLst>
              <a:ext uri="{FF2B5EF4-FFF2-40B4-BE49-F238E27FC236}">
                <a16:creationId xmlns:a16="http://schemas.microsoft.com/office/drawing/2014/main" id="{03F039F9-7DF9-F4A3-F012-6490E675058A}"/>
              </a:ext>
            </a:extLst>
          </p:cNvPr>
          <p:cNvSpPr>
            <a:spLocks noGrp="1" noRot="1" noMove="1" noResize="1" noEditPoints="1" noAdjustHandles="1" noChangeArrowheads="1" noChangeShapeType="1"/>
          </p:cNvSpPr>
          <p:nvPr>
            <p:ph type="subTitle" idx="1"/>
          </p:nvPr>
        </p:nvSpPr>
        <p:spPr>
          <a:xfrm>
            <a:off x="1006475" y="2305508"/>
            <a:ext cx="6626225" cy="303222"/>
          </a:xfrm>
        </p:spPr>
        <p:txBody>
          <a:bodyPr/>
          <a:lstStyle/>
          <a:p>
            <a:r>
              <a:rPr lang="de-DE" dirty="0"/>
              <a:t>UNABHÄNGIG. WERTEORIENTIERT. PERSÖNLICH.</a:t>
            </a:r>
          </a:p>
        </p:txBody>
      </p:sp>
      <p:sp>
        <p:nvSpPr>
          <p:cNvPr id="2" name="Titel">
            <a:extLst>
              <a:ext uri="{FF2B5EF4-FFF2-40B4-BE49-F238E27FC236}">
                <a16:creationId xmlns:a16="http://schemas.microsoft.com/office/drawing/2014/main" id="{746E2D1E-8A4A-3691-2BEB-945315291DC5}"/>
              </a:ext>
            </a:extLst>
          </p:cNvPr>
          <p:cNvSpPr>
            <a:spLocks noGrp="1" noRot="1" noMove="1" noResize="1" noEditPoints="1" noAdjustHandles="1" noChangeArrowheads="1" noChangeShapeType="1"/>
          </p:cNvSpPr>
          <p:nvPr>
            <p:ph type="ctrTitle"/>
          </p:nvPr>
        </p:nvSpPr>
        <p:spPr>
          <a:xfrm>
            <a:off x="1006475" y="1041400"/>
            <a:ext cx="6626225" cy="931775"/>
          </a:xfrm>
        </p:spPr>
        <p:txBody>
          <a:bodyPr/>
          <a:lstStyle/>
          <a:p>
            <a:r>
              <a:rPr lang="de-DE" dirty="0"/>
              <a:t>Unsere </a:t>
            </a:r>
            <a:br>
              <a:rPr lang="de-DE" dirty="0"/>
            </a:br>
            <a:r>
              <a:rPr lang="de-DE" dirty="0"/>
              <a:t>Vermögensverwaltung</a:t>
            </a:r>
          </a:p>
        </p:txBody>
      </p:sp>
    </p:spTree>
    <p:extLst>
      <p:ext uri="{BB962C8B-B14F-4D97-AF65-F5344CB8AC3E}">
        <p14:creationId xmlns:p14="http://schemas.microsoft.com/office/powerpoint/2010/main" val="28784990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
            <a:extLst>
              <a:ext uri="{FF2B5EF4-FFF2-40B4-BE49-F238E27FC236}">
                <a16:creationId xmlns:a16="http://schemas.microsoft.com/office/drawing/2014/main" id="{77DF082C-7F14-96A3-2286-2DE7F88EE075}"/>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2</a:t>
            </a:fld>
            <a:endParaRPr lang="de-DE"/>
          </a:p>
        </p:txBody>
      </p:sp>
      <p:sp>
        <p:nvSpPr>
          <p:cNvPr id="3" name="Inhalt">
            <a:extLst>
              <a:ext uri="{FF2B5EF4-FFF2-40B4-BE49-F238E27FC236}">
                <a16:creationId xmlns:a16="http://schemas.microsoft.com/office/drawing/2014/main" id="{7F2936BA-F0A5-9AB3-89AF-95CC696DBA02}"/>
              </a:ext>
            </a:extLst>
          </p:cNvPr>
          <p:cNvSpPr>
            <a:spLocks noGrp="1" noRot="1" noMove="1" noResize="1" noEditPoints="1" noAdjustHandles="1" noChangeArrowheads="1" noChangeShapeType="1"/>
          </p:cNvSpPr>
          <p:nvPr>
            <p:ph idx="1"/>
          </p:nvPr>
        </p:nvSpPr>
        <p:spPr>
          <a:xfrm>
            <a:off x="2016125" y="2147233"/>
            <a:ext cx="7272338" cy="3685241"/>
          </a:xfrm>
        </p:spPr>
        <p:txBody>
          <a:bodyPr/>
          <a:lstStyle/>
          <a:p>
            <a:pPr marL="342900" indent="-342900">
              <a:buFont typeface="+mj-lt"/>
              <a:buAutoNum type="arabicPeriod"/>
            </a:pPr>
            <a:r>
              <a:rPr lang="de-DE" dirty="0"/>
              <a:t>Unsere Vermögensverwaltung </a:t>
            </a:r>
            <a:r>
              <a:rPr lang="de-DE" u="sng" dirty="0">
                <a:uFill>
                  <a:solidFill>
                    <a:schemeClr val="accent3"/>
                  </a:solidFill>
                </a:uFill>
              </a:rPr>
              <a:t>	</a:t>
            </a:r>
            <a:endParaRPr lang="de-DE" dirty="0"/>
          </a:p>
          <a:p>
            <a:pPr marL="342900" indent="-342900">
              <a:buFont typeface="+mj-lt"/>
              <a:buAutoNum type="arabicPeriod"/>
            </a:pPr>
            <a:r>
              <a:rPr lang="de-DE" dirty="0"/>
              <a:t>Unser Anlagevorschlag </a:t>
            </a:r>
            <a:r>
              <a:rPr lang="de-DE" u="sng" dirty="0">
                <a:uFill>
                  <a:solidFill>
                    <a:schemeClr val="accent3"/>
                  </a:solidFill>
                </a:uFill>
              </a:rPr>
              <a:t>	</a:t>
            </a:r>
            <a:endParaRPr lang="de-DE" dirty="0"/>
          </a:p>
          <a:p>
            <a:pPr marL="342900" indent="-342900">
              <a:buFont typeface="+mj-lt"/>
              <a:buAutoNum type="arabicPeriod"/>
            </a:pPr>
            <a:r>
              <a:rPr lang="de-DE" dirty="0"/>
              <a:t>Honorar </a:t>
            </a:r>
            <a:r>
              <a:rPr lang="de-DE" u="sng" dirty="0">
                <a:uFill>
                  <a:solidFill>
                    <a:schemeClr val="accent3"/>
                  </a:solidFill>
                </a:uFill>
              </a:rPr>
              <a:t>	</a:t>
            </a:r>
            <a:endParaRPr lang="de-DE" dirty="0"/>
          </a:p>
          <a:p>
            <a:pPr marL="342900" indent="-342900">
              <a:buFont typeface="+mj-lt"/>
              <a:buAutoNum type="arabicPeriod"/>
            </a:pPr>
            <a:r>
              <a:rPr lang="de-DE" dirty="0"/>
              <a:t>Unsere Investmentphilosophie </a:t>
            </a:r>
            <a:r>
              <a:rPr lang="de-DE" u="sng" dirty="0">
                <a:uFill>
                  <a:solidFill>
                    <a:schemeClr val="accent3"/>
                  </a:solidFill>
                </a:uFill>
              </a:rPr>
              <a:t>	</a:t>
            </a:r>
            <a:endParaRPr lang="de-DE" dirty="0"/>
          </a:p>
          <a:p>
            <a:pPr marL="342900" indent="-342900">
              <a:buFont typeface="+mj-lt"/>
              <a:buAutoNum type="arabicPeriod"/>
            </a:pPr>
            <a:r>
              <a:rPr lang="de-DE" dirty="0"/>
              <a:t>Die Bank in Zahlen </a:t>
            </a:r>
            <a:r>
              <a:rPr lang="de-DE" u="sng" dirty="0">
                <a:uFill>
                  <a:solidFill>
                    <a:schemeClr val="accent3"/>
                  </a:solidFill>
                </a:uFill>
              </a:rPr>
              <a:t>	</a:t>
            </a:r>
            <a:endParaRPr lang="de-DE" dirty="0"/>
          </a:p>
          <a:p>
            <a:pPr marL="342900" indent="-342900">
              <a:buFont typeface="+mj-lt"/>
              <a:buAutoNum type="arabicPeriod"/>
            </a:pPr>
            <a:r>
              <a:rPr lang="de-DE" dirty="0"/>
              <a:t>Unsere Standorte </a:t>
            </a:r>
            <a:r>
              <a:rPr lang="de-DE" u="sng" dirty="0">
                <a:uFill>
                  <a:solidFill>
                    <a:schemeClr val="accent3"/>
                  </a:solidFill>
                </a:uFill>
              </a:rPr>
              <a:t>	</a:t>
            </a:r>
            <a:endParaRPr lang="de-DE" dirty="0"/>
          </a:p>
          <a:p>
            <a:pPr marL="342900" indent="-342900">
              <a:buFont typeface="+mj-lt"/>
              <a:buAutoNum type="arabicPeriod"/>
            </a:pPr>
            <a:r>
              <a:rPr lang="de-DE" dirty="0"/>
              <a:t>Unsere Tradition </a:t>
            </a:r>
            <a:r>
              <a:rPr lang="de-DE" u="sng" dirty="0">
                <a:uFill>
                  <a:solidFill>
                    <a:schemeClr val="accent3"/>
                  </a:solidFill>
                </a:uFill>
              </a:rPr>
              <a:t>	</a:t>
            </a:r>
            <a:endParaRPr lang="de-DE" dirty="0"/>
          </a:p>
          <a:p>
            <a:pPr marL="342900" indent="-342900">
              <a:buFont typeface="+mj-lt"/>
              <a:buAutoNum type="arabicPeriod"/>
            </a:pPr>
            <a:r>
              <a:rPr lang="de-DE" dirty="0"/>
              <a:t>Rechtliche Hinweise und Impressum </a:t>
            </a:r>
            <a:r>
              <a:rPr lang="de-DE" u="sng" dirty="0">
                <a:uFill>
                  <a:solidFill>
                    <a:schemeClr val="accent3"/>
                  </a:solidFill>
                </a:uFill>
              </a:rPr>
              <a:t>	</a:t>
            </a:r>
            <a:endParaRPr lang="de-DE" dirty="0"/>
          </a:p>
        </p:txBody>
      </p:sp>
      <p:sp>
        <p:nvSpPr>
          <p:cNvPr id="2" name="Titel">
            <a:extLst>
              <a:ext uri="{FF2B5EF4-FFF2-40B4-BE49-F238E27FC236}">
                <a16:creationId xmlns:a16="http://schemas.microsoft.com/office/drawing/2014/main" id="{B04F1B54-07E4-4DBF-DC92-6DA02727FBAA}"/>
              </a:ext>
            </a:extLst>
          </p:cNvPr>
          <p:cNvSpPr>
            <a:spLocks noGrp="1" noRot="1" noMove="1" noResize="1" noEditPoints="1" noAdjustHandles="1" noChangeArrowheads="1" noChangeShapeType="1"/>
          </p:cNvSpPr>
          <p:nvPr>
            <p:ph type="title"/>
          </p:nvPr>
        </p:nvSpPr>
        <p:spPr>
          <a:xfrm>
            <a:off x="2016124" y="1656652"/>
            <a:ext cx="7272337" cy="360000"/>
          </a:xfrm>
        </p:spPr>
        <p:txBody>
          <a:bodyPr/>
          <a:lstStyle/>
          <a:p>
            <a:r>
              <a:rPr lang="de-DE" dirty="0"/>
              <a:t>Inhalt</a:t>
            </a:r>
          </a:p>
        </p:txBody>
      </p:sp>
    </p:spTree>
    <p:extLst>
      <p:ext uri="{BB962C8B-B14F-4D97-AF65-F5344CB8AC3E}">
        <p14:creationId xmlns:p14="http://schemas.microsoft.com/office/powerpoint/2010/main" val="7392307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B92230C9-01C7-F4FE-82CC-6ECE520E2001}"/>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3</a:t>
            </a:fld>
            <a:endParaRPr lang="de-DE"/>
          </a:p>
        </p:txBody>
      </p:sp>
      <p:sp>
        <p:nvSpPr>
          <p:cNvPr id="3" name="Text">
            <a:extLst>
              <a:ext uri="{FF2B5EF4-FFF2-40B4-BE49-F238E27FC236}">
                <a16:creationId xmlns:a16="http://schemas.microsoft.com/office/drawing/2014/main" id="{91440A74-D9D2-B4F0-F449-0359F5947835}"/>
              </a:ext>
            </a:extLst>
          </p:cNvPr>
          <p:cNvSpPr>
            <a:spLocks noGrp="1" noRot="1" noMove="1" noResize="1" noEditPoints="1" noAdjustHandles="1" noChangeArrowheads="1" noChangeShapeType="1"/>
          </p:cNvSpPr>
          <p:nvPr>
            <p:ph idx="1"/>
          </p:nvPr>
        </p:nvSpPr>
        <p:spPr/>
        <p:txBody>
          <a:bodyPr/>
          <a:lstStyle/>
          <a:p>
            <a:r>
              <a:rPr lang="de-DE" dirty="0"/>
              <a:t>wir freuen uns, dass Sie auf unsere Vermögensverwaltung aufmerksam geworden sind. Unser Haus trägt einen geschichtsträchtigen Namen, der uns mit Stolz erfüllt und dem wir uns verpflichtet fühlen.</a:t>
            </a:r>
          </a:p>
          <a:p>
            <a:r>
              <a:rPr lang="de-DE" dirty="0"/>
              <a:t>Jakob Fugger gilt als der erfolgreichste Bankier seiner Zeit. Zu Beginn des 16. Jahrhunderts entwickelte er das Familien-unternehmen der Gebrüder Fugger vom Textilhandel zum führenden Finanzierer europäischer Adelsdynastien. Schürf-rechte für Silber und Kupfer als Gegenleistung für Darlehen an die Habsburger legten den Grundstein für enormen Reichtum, der noch höhere Kreditvergaben ermöglichte.  Seine Rolle als Kreditgeber der maßgeblichen politischen Akteure machten ihn zu einer der einflussreichsten Persönlichkeiten seiner Epoche. </a:t>
            </a:r>
          </a:p>
        </p:txBody>
      </p:sp>
      <p:sp>
        <p:nvSpPr>
          <p:cNvPr id="4" name="Titel">
            <a:extLst>
              <a:ext uri="{FF2B5EF4-FFF2-40B4-BE49-F238E27FC236}">
                <a16:creationId xmlns:a16="http://schemas.microsoft.com/office/drawing/2014/main" id="{323D42A3-160A-D4DE-FE4A-9BFA9ECD8662}"/>
              </a:ext>
            </a:extLst>
          </p:cNvPr>
          <p:cNvSpPr>
            <a:spLocks noGrp="1" noRot="1" noMove="1" noResize="1" noEditPoints="1" noAdjustHandles="1" noChangeArrowheads="1" noChangeShapeType="1"/>
          </p:cNvSpPr>
          <p:nvPr>
            <p:ph type="title"/>
          </p:nvPr>
        </p:nvSpPr>
        <p:spPr/>
        <p:txBody>
          <a:bodyPr/>
          <a:lstStyle/>
          <a:p>
            <a:r>
              <a:rPr lang="de-DE" dirty="0"/>
              <a:t>Sehr geehrte Interessentin,</a:t>
            </a:r>
            <a:br>
              <a:rPr lang="de-DE" dirty="0"/>
            </a:br>
            <a:r>
              <a:rPr lang="de-DE" dirty="0"/>
              <a:t>sehr geehrter Interessent,</a:t>
            </a:r>
          </a:p>
        </p:txBody>
      </p:sp>
    </p:spTree>
    <p:extLst>
      <p:ext uri="{BB962C8B-B14F-4D97-AF65-F5344CB8AC3E}">
        <p14:creationId xmlns:p14="http://schemas.microsoft.com/office/powerpoint/2010/main" val="2990020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5F897033-8FC2-1E7E-0C1F-C1B3B83042DF}"/>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pPr/>
              <a:t>4</a:t>
            </a:fld>
            <a:endParaRPr lang="de-DE" dirty="0"/>
          </a:p>
        </p:txBody>
      </p:sp>
      <p:sp>
        <p:nvSpPr>
          <p:cNvPr id="3" name="Text">
            <a:extLst>
              <a:ext uri="{FF2B5EF4-FFF2-40B4-BE49-F238E27FC236}">
                <a16:creationId xmlns:a16="http://schemas.microsoft.com/office/drawing/2014/main" id="{2CB82111-1751-7169-9828-A98AEBE30540}"/>
              </a:ext>
            </a:extLst>
          </p:cNvPr>
          <p:cNvSpPr>
            <a:spLocks noGrp="1" noRot="1" noMove="1" noResize="1" noEditPoints="1" noAdjustHandles="1" noChangeArrowheads="1" noChangeShapeType="1"/>
          </p:cNvSpPr>
          <p:nvPr>
            <p:ph idx="1"/>
          </p:nvPr>
        </p:nvSpPr>
        <p:spPr/>
        <p:txBody>
          <a:bodyPr/>
          <a:lstStyle/>
          <a:p>
            <a:r>
              <a:rPr lang="de-DE" dirty="0"/>
              <a:t>Kluge Investitionen in ländlichen Grundbesitz bildeten die Basis für den Kapitalerhalt des Familienvermögens in den kommenden schwierigen Zeiten. Als gläubiger Katholik </a:t>
            </a:r>
            <a:br>
              <a:rPr lang="de-DE" dirty="0"/>
            </a:br>
            <a:r>
              <a:rPr lang="de-DE" dirty="0"/>
              <a:t>fühlte sich Jakob Fugger immer auch dem Gemeinwohl verpflichtet und gründete mit der </a:t>
            </a:r>
            <a:r>
              <a:rPr lang="de-DE" dirty="0" err="1"/>
              <a:t>Fuggerei</a:t>
            </a:r>
            <a:r>
              <a:rPr lang="de-DE" dirty="0"/>
              <a:t> eine bis heute existierende Stiftung, die als die älteste erhaltene Sozial-siedlung der Welt gilt. Sie feierte 2021 ihr 500-jähriges Jubiläum.</a:t>
            </a:r>
          </a:p>
          <a:p>
            <a:pPr lvl="1"/>
            <a:r>
              <a:rPr lang="de-DE" dirty="0"/>
              <a:t>Auch wir investieren aus langjähriger  Tradition heraus breit aufgestellt am  Kapitalmarkt, um mit Sorgfalt und Weitsicht Ihr Vermögen zu erhalten und zu vermehren. </a:t>
            </a:r>
          </a:p>
          <a:p>
            <a:pPr lvl="1">
              <a:spcBef>
                <a:spcPts val="800"/>
              </a:spcBef>
            </a:pPr>
            <a:r>
              <a:rPr lang="de-DE" dirty="0"/>
              <a:t>Wir freuen uns auf eine erfolgreiche  Zusammenarbeit. </a:t>
            </a:r>
          </a:p>
        </p:txBody>
      </p:sp>
      <p:sp>
        <p:nvSpPr>
          <p:cNvPr id="4" name="Titel">
            <a:extLst>
              <a:ext uri="{FF2B5EF4-FFF2-40B4-BE49-F238E27FC236}">
                <a16:creationId xmlns:a16="http://schemas.microsoft.com/office/drawing/2014/main" id="{D17F4A2E-22EE-C9A9-9C76-55ABEAEDC660}"/>
              </a:ext>
            </a:extLst>
          </p:cNvPr>
          <p:cNvSpPr>
            <a:spLocks noGrp="1" noRot="1" noMove="1" noResize="1" noEditPoints="1" noAdjustHandles="1" noChangeArrowheads="1" noChangeShapeType="1"/>
          </p:cNvSpPr>
          <p:nvPr>
            <p:ph type="title"/>
          </p:nvPr>
        </p:nvSpPr>
        <p:spPr/>
        <p:txBody>
          <a:bodyPr/>
          <a:lstStyle/>
          <a:p>
            <a:r>
              <a:rPr lang="de-DE" dirty="0"/>
              <a:t>Die Fugger</a:t>
            </a:r>
          </a:p>
        </p:txBody>
      </p:sp>
    </p:spTree>
    <p:extLst>
      <p:ext uri="{BB962C8B-B14F-4D97-AF65-F5344CB8AC3E}">
        <p14:creationId xmlns:p14="http://schemas.microsoft.com/office/powerpoint/2010/main" val="24711337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
            <a:extLst>
              <a:ext uri="{FF2B5EF4-FFF2-40B4-BE49-F238E27FC236}">
                <a16:creationId xmlns:a16="http://schemas.microsoft.com/office/drawing/2014/main" id="{12726207-F190-D2FF-DCF9-A3BD0AFCAC6F}"/>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5</a:t>
            </a:fld>
            <a:endParaRPr lang="de-DE"/>
          </a:p>
        </p:txBody>
      </p:sp>
      <p:sp>
        <p:nvSpPr>
          <p:cNvPr id="3" name="Text">
            <a:extLst>
              <a:ext uri="{FF2B5EF4-FFF2-40B4-BE49-F238E27FC236}">
                <a16:creationId xmlns:a16="http://schemas.microsoft.com/office/drawing/2014/main" id="{09F416ED-28F0-4097-3F6C-AA3AA8BF0016}"/>
              </a:ext>
            </a:extLst>
          </p:cNvPr>
          <p:cNvSpPr>
            <a:spLocks noGrp="1" noRot="1" noMove="1" noResize="1" noEditPoints="1" noAdjustHandles="1" noChangeArrowheads="1" noChangeShapeType="1"/>
          </p:cNvSpPr>
          <p:nvPr>
            <p:ph idx="1"/>
          </p:nvPr>
        </p:nvSpPr>
        <p:spPr>
          <a:xfrm>
            <a:off x="5327650" y="1411638"/>
            <a:ext cx="3960813" cy="4420838"/>
          </a:xfrm>
        </p:spPr>
        <p:txBody>
          <a:bodyPr/>
          <a:lstStyle/>
          <a:p>
            <a:r>
              <a:rPr lang="de-DE" dirty="0"/>
              <a:t>Vermögenserhalt und langfristiges Wachstum</a:t>
            </a:r>
          </a:p>
          <a:p>
            <a:pPr lvl="2"/>
            <a:r>
              <a:rPr lang="de-DE" dirty="0"/>
              <a:t>Unsere Vermögensverwaltung ist auf Sicherheit und langfristige Wertentwicklung ausgerichtet.</a:t>
            </a:r>
          </a:p>
          <a:p>
            <a:r>
              <a:rPr lang="de-DE" dirty="0"/>
              <a:t>Basierend auf präzisen Vorgesprächen</a:t>
            </a:r>
          </a:p>
          <a:p>
            <a:pPr lvl="2"/>
            <a:r>
              <a:rPr lang="de-DE" dirty="0"/>
              <a:t>Auf Grundlage persönlicher Gespräche ermitteln wir exakt Ihre individuellen Präferenzen und Anforderungen hinsichtlich Rendite-Risiko-Profil und Zeithorizont. </a:t>
            </a:r>
          </a:p>
          <a:p>
            <a:r>
              <a:rPr lang="de-DE" dirty="0"/>
              <a:t>Ständige Überwachung und Anpassung</a:t>
            </a:r>
          </a:p>
          <a:p>
            <a:pPr lvl="2"/>
            <a:r>
              <a:rPr lang="de-DE" dirty="0"/>
              <a:t>Realisiert wird eine Anlagestrategie, die mit ihren einzelnen Positionen ständig überwacht und bei Marktveränderungen gegebenenfalls angepasst wird. Wertschwankungen des Portfolios können nicht ausgeschlossen werden. </a:t>
            </a:r>
          </a:p>
          <a:p>
            <a:r>
              <a:rPr lang="de-DE" dirty="0"/>
              <a:t>Breite Vermögensstreuung</a:t>
            </a:r>
          </a:p>
          <a:p>
            <a:pPr lvl="2"/>
            <a:r>
              <a:rPr lang="de-DE" dirty="0"/>
              <a:t>Wir bieten eine breite und transparente Streuung Ihres Vermögens, beispielsweise in Aktien, Anleihen, ETFʹs  </a:t>
            </a:r>
            <a:br>
              <a:rPr lang="de-DE" dirty="0"/>
            </a:br>
            <a:r>
              <a:rPr lang="de-DE" dirty="0"/>
              <a:t>und Fonds, Edelmetalle, risikoadjustierte Produkte wie Discountzertifikate und Aktienanleihen sowie Liquidität. </a:t>
            </a:r>
          </a:p>
        </p:txBody>
      </p:sp>
      <p:sp>
        <p:nvSpPr>
          <p:cNvPr id="2" name="Titel">
            <a:extLst>
              <a:ext uri="{FF2B5EF4-FFF2-40B4-BE49-F238E27FC236}">
                <a16:creationId xmlns:a16="http://schemas.microsoft.com/office/drawing/2014/main" id="{A045C7CC-A895-8F75-74B5-37B4A5A91499}"/>
              </a:ext>
            </a:extLst>
          </p:cNvPr>
          <p:cNvSpPr>
            <a:spLocks noGrp="1" noRot="1" noMove="1" noResize="1" noEditPoints="1" noAdjustHandles="1" noChangeArrowheads="1" noChangeShapeType="1"/>
          </p:cNvSpPr>
          <p:nvPr>
            <p:ph type="title"/>
          </p:nvPr>
        </p:nvSpPr>
        <p:spPr>
          <a:xfrm>
            <a:off x="5328088" y="882000"/>
            <a:ext cx="3960375" cy="360000"/>
          </a:xfrm>
        </p:spPr>
        <p:txBody>
          <a:bodyPr/>
          <a:lstStyle/>
          <a:p>
            <a:r>
              <a:rPr lang="de-DE"/>
              <a:t>Unsere Vermögensverwaltung</a:t>
            </a:r>
            <a:endParaRPr lang="de-DE" dirty="0"/>
          </a:p>
        </p:txBody>
      </p:sp>
    </p:spTree>
    <p:extLst>
      <p:ext uri="{BB962C8B-B14F-4D97-AF65-F5344CB8AC3E}">
        <p14:creationId xmlns:p14="http://schemas.microsoft.com/office/powerpoint/2010/main" val="10119810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
            <a:extLst>
              <a:ext uri="{FF2B5EF4-FFF2-40B4-BE49-F238E27FC236}">
                <a16:creationId xmlns:a16="http://schemas.microsoft.com/office/drawing/2014/main" id="{A29DC1F0-E085-7711-FFB6-0AE5ACDA858C}"/>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6</a:t>
            </a:fld>
            <a:endParaRPr lang="de-DE"/>
          </a:p>
        </p:txBody>
      </p:sp>
      <p:sp>
        <p:nvSpPr>
          <p:cNvPr id="3" name="Text">
            <a:extLst>
              <a:ext uri="{FF2B5EF4-FFF2-40B4-BE49-F238E27FC236}">
                <a16:creationId xmlns:a16="http://schemas.microsoft.com/office/drawing/2014/main" id="{694BBE29-D879-8CF9-FF94-DBAA530E7B02}"/>
              </a:ext>
            </a:extLst>
          </p:cNvPr>
          <p:cNvSpPr>
            <a:spLocks noGrp="1" noRot="1" noMove="1" noResize="1" noEditPoints="1" noAdjustHandles="1" noChangeArrowheads="1" noChangeShapeType="1"/>
          </p:cNvSpPr>
          <p:nvPr>
            <p:ph idx="1"/>
          </p:nvPr>
        </p:nvSpPr>
        <p:spPr>
          <a:xfrm>
            <a:off x="1187448" y="1411638"/>
            <a:ext cx="4140201" cy="4420838"/>
          </a:xfrm>
        </p:spPr>
        <p:txBody>
          <a:bodyPr/>
          <a:lstStyle/>
          <a:p>
            <a:r>
              <a:rPr lang="de-DE" dirty="0"/>
              <a:t>Aufteilung zur Begrenzung von Risiken</a:t>
            </a:r>
          </a:p>
          <a:p>
            <a:pPr lvl="2"/>
            <a:r>
              <a:rPr lang="de-DE" dirty="0"/>
              <a:t>Durch die Aufteilung in verschiedene Assetklassen werden Risiken begrenzt. Trotz breiter Diversifizierung und Risiko-streuung können Wertschwankungen bis hin zu einem Total-verlust einzelner Positionen nicht ausgeschlossen werden. </a:t>
            </a:r>
          </a:p>
          <a:p>
            <a:r>
              <a:rPr lang="de-DE" dirty="0"/>
              <a:t>Anbieterunabhängige Produktauswahl</a:t>
            </a:r>
          </a:p>
          <a:p>
            <a:pPr lvl="2"/>
            <a:r>
              <a:rPr lang="de-DE" dirty="0"/>
              <a:t>Unsere Einzelauswahl in den zuvor genannten Assetklassen ist an keinen Anbieter gebunden, somit können wir uns unabhängig in der Produktauswahl am Markt bewegen.</a:t>
            </a:r>
          </a:p>
          <a:p>
            <a:r>
              <a:rPr lang="de-DE" dirty="0"/>
              <a:t>Planung von erfahrenen Vermögensmanagern</a:t>
            </a:r>
          </a:p>
          <a:p>
            <a:pPr lvl="2"/>
            <a:r>
              <a:rPr lang="de-DE" dirty="0"/>
              <a:t>Unsere erfahrenen Vermögensmanager planen im so genannten Top-Down-Verfahren und setzen je nach Marktsituation die Anlageentscheidungen je Strategie verantwortungsvoll um. </a:t>
            </a:r>
          </a:p>
        </p:txBody>
      </p:sp>
      <p:sp>
        <p:nvSpPr>
          <p:cNvPr id="2" name="Titel">
            <a:extLst>
              <a:ext uri="{FF2B5EF4-FFF2-40B4-BE49-F238E27FC236}">
                <a16:creationId xmlns:a16="http://schemas.microsoft.com/office/drawing/2014/main" id="{C2B7D173-C063-D0B2-4ED2-450BB23700E5}"/>
              </a:ext>
            </a:extLst>
          </p:cNvPr>
          <p:cNvSpPr>
            <a:spLocks noGrp="1" noRot="1" noMove="1" noResize="1" noEditPoints="1" noAdjustHandles="1" noChangeArrowheads="1" noChangeShapeType="1"/>
          </p:cNvSpPr>
          <p:nvPr>
            <p:ph type="title"/>
          </p:nvPr>
        </p:nvSpPr>
        <p:spPr>
          <a:xfrm>
            <a:off x="1187888" y="882000"/>
            <a:ext cx="3960375" cy="360000"/>
          </a:xfrm>
        </p:spPr>
        <p:txBody>
          <a:bodyPr/>
          <a:lstStyle/>
          <a:p>
            <a:r>
              <a:rPr lang="de-DE" dirty="0"/>
              <a:t>Unsere Vermögensverwaltung </a:t>
            </a:r>
          </a:p>
        </p:txBody>
      </p:sp>
    </p:spTree>
    <p:extLst>
      <p:ext uri="{BB962C8B-B14F-4D97-AF65-F5344CB8AC3E}">
        <p14:creationId xmlns:p14="http://schemas.microsoft.com/office/powerpoint/2010/main" val="1267825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F2C2377A-3B03-9D9A-46F3-F13D6FE6195B}"/>
              </a:ext>
            </a:extLst>
          </p:cNvPr>
          <p:cNvSpPr>
            <a:spLocks noGrp="1"/>
          </p:cNvSpPr>
          <p:nvPr>
            <p:ph type="sldNum" sz="quarter" idx="12"/>
          </p:nvPr>
        </p:nvSpPr>
        <p:spPr/>
        <p:txBody>
          <a:bodyPr/>
          <a:lstStyle/>
          <a:p>
            <a:fld id="{3AE71D6B-ACB6-4F4C-A895-DCAEF1760EAA}" type="slidenum">
              <a:rPr lang="de-DE" smtClean="0"/>
              <a:t>13</a:t>
            </a:fld>
            <a:endParaRPr lang="de-DE"/>
          </a:p>
        </p:txBody>
      </p:sp>
      <p:graphicFrame>
        <p:nvGraphicFramePr>
          <p:cNvPr id="5" name="C_Kennzahlen">
            <a:extLst>
              <a:ext uri="{FF2B5EF4-FFF2-40B4-BE49-F238E27FC236}">
                <a16:creationId xmlns:a16="http://schemas.microsoft.com/office/drawing/2014/main" id="{00000000-0008-0000-2E00-000002000000}"/>
              </a:ext>
            </a:extLst>
          </p:cNvPr>
          <p:cNvGraphicFramePr>
            <a:graphicFrameLocks noGrp="1" noDrilldown="1" noMove="1" noResize="1"/>
          </p:cNvGraphicFramePr>
          <p:nvPr/>
        </p:nvGraphicFramePr>
        <p:xfrm>
          <a:off x="355601" y="1040400"/>
          <a:ext cx="4068001" cy="4158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T_Kennzahlen">
            <a:extLst>
              <a:ext uri="{FF2B5EF4-FFF2-40B4-BE49-F238E27FC236}">
                <a16:creationId xmlns:a16="http://schemas.microsoft.com/office/drawing/2014/main" id="{4B6043D2-DE70-475A-EE5E-9E66B8808302}"/>
              </a:ext>
            </a:extLst>
          </p:cNvPr>
          <p:cNvGraphicFramePr>
            <a:graphicFrameLocks/>
          </p:cNvGraphicFramePr>
          <p:nvPr/>
        </p:nvGraphicFramePr>
        <p:xfrm>
          <a:off x="4508500" y="1040400"/>
          <a:ext cx="5613400" cy="4773840"/>
        </p:xfrm>
        <a:graphic>
          <a:graphicData uri="http://schemas.openxmlformats.org/drawingml/2006/table">
            <a:tbl>
              <a:tblPr/>
              <a:tblGrid>
                <a:gridCol w="2184400">
                  <a:extLst>
                    <a:ext uri="{9D8B030D-6E8A-4147-A177-3AD203B41FA5}">
                      <a16:colId xmlns:a16="http://schemas.microsoft.com/office/drawing/2014/main" val="1199563191"/>
                    </a:ext>
                  </a:extLst>
                </a:gridCol>
                <a:gridCol w="50800">
                  <a:extLst>
                    <a:ext uri="{9D8B030D-6E8A-4147-A177-3AD203B41FA5}">
                      <a16:colId xmlns:a16="http://schemas.microsoft.com/office/drawing/2014/main" val="2902384095"/>
                    </a:ext>
                  </a:extLst>
                </a:gridCol>
                <a:gridCol w="571500">
                  <a:extLst>
                    <a:ext uri="{9D8B030D-6E8A-4147-A177-3AD203B41FA5}">
                      <a16:colId xmlns:a16="http://schemas.microsoft.com/office/drawing/2014/main" val="1550764800"/>
                    </a:ext>
                  </a:extLst>
                </a:gridCol>
                <a:gridCol w="50800">
                  <a:extLst>
                    <a:ext uri="{9D8B030D-6E8A-4147-A177-3AD203B41FA5}">
                      <a16:colId xmlns:a16="http://schemas.microsoft.com/office/drawing/2014/main" val="4017843948"/>
                    </a:ext>
                  </a:extLst>
                </a:gridCol>
                <a:gridCol w="571500">
                  <a:extLst>
                    <a:ext uri="{9D8B030D-6E8A-4147-A177-3AD203B41FA5}">
                      <a16:colId xmlns:a16="http://schemas.microsoft.com/office/drawing/2014/main" val="3526482402"/>
                    </a:ext>
                  </a:extLst>
                </a:gridCol>
                <a:gridCol w="50800">
                  <a:extLst>
                    <a:ext uri="{9D8B030D-6E8A-4147-A177-3AD203B41FA5}">
                      <a16:colId xmlns:a16="http://schemas.microsoft.com/office/drawing/2014/main" val="3990061892"/>
                    </a:ext>
                  </a:extLst>
                </a:gridCol>
                <a:gridCol w="571500">
                  <a:extLst>
                    <a:ext uri="{9D8B030D-6E8A-4147-A177-3AD203B41FA5}">
                      <a16:colId xmlns:a16="http://schemas.microsoft.com/office/drawing/2014/main" val="3050243912"/>
                    </a:ext>
                  </a:extLst>
                </a:gridCol>
                <a:gridCol w="50800">
                  <a:extLst>
                    <a:ext uri="{9D8B030D-6E8A-4147-A177-3AD203B41FA5}">
                      <a16:colId xmlns:a16="http://schemas.microsoft.com/office/drawing/2014/main" val="2677096311"/>
                    </a:ext>
                  </a:extLst>
                </a:gridCol>
                <a:gridCol w="571500">
                  <a:extLst>
                    <a:ext uri="{9D8B030D-6E8A-4147-A177-3AD203B41FA5}">
                      <a16:colId xmlns:a16="http://schemas.microsoft.com/office/drawing/2014/main" val="2013873284"/>
                    </a:ext>
                  </a:extLst>
                </a:gridCol>
                <a:gridCol w="50800">
                  <a:extLst>
                    <a:ext uri="{9D8B030D-6E8A-4147-A177-3AD203B41FA5}">
                      <a16:colId xmlns:a16="http://schemas.microsoft.com/office/drawing/2014/main" val="3753814976"/>
                    </a:ext>
                  </a:extLst>
                </a:gridCol>
                <a:gridCol w="889000">
                  <a:extLst>
                    <a:ext uri="{9D8B030D-6E8A-4147-A177-3AD203B41FA5}">
                      <a16:colId xmlns:a16="http://schemas.microsoft.com/office/drawing/2014/main" val="410378902"/>
                    </a:ext>
                  </a:extLst>
                </a:gridCol>
              </a:tblGrid>
              <a:tr h="216000">
                <a:tc>
                  <a:txBody>
                    <a:bodyPr/>
                    <a:lstStyle/>
                    <a:p>
                      <a:pPr algn="l" fontAlgn="ctr"/>
                      <a:r>
                        <a:rPr lang="de-DE" sz="600" b="0" i="0" u="none" strike="noStrike">
                          <a:solidFill>
                            <a:srgbClr val="FFFFFF"/>
                          </a:solidFill>
                          <a:effectLst/>
                          <a:latin typeface="Noto Sans" panose="020B0502040504020204" pitchFamily="34" charset="0"/>
                        </a:rPr>
                        <a:t>WERTPAPIER</a:t>
                      </a:r>
                    </a:p>
                  </a:txBody>
                  <a:tcPr marL="68583" marR="0" marT="0" marB="0" anchor="ctr">
                    <a:lnL>
                      <a:noFill/>
                    </a:lnL>
                    <a:lnR>
                      <a:noFill/>
                    </a:lnR>
                    <a:lnT>
                      <a:noFill/>
                    </a:lnT>
                    <a:lnB>
                      <a:noFill/>
                    </a:lnB>
                    <a:solidFill>
                      <a:srgbClr val="14355C"/>
                    </a:solidFill>
                  </a:tcPr>
                </a:tc>
                <a:tc>
                  <a:txBody>
                    <a:bodyPr/>
                    <a:lstStyle/>
                    <a:p>
                      <a:pPr algn="l" fontAlgn="ctr"/>
                      <a:endParaRPr lang="de-DE" sz="6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r>
                        <a:rPr lang="de-DE" sz="600" b="0" i="0" u="none" strike="noStrike">
                          <a:solidFill>
                            <a:srgbClr val="FFFFFF"/>
                          </a:solidFill>
                          <a:effectLst/>
                          <a:latin typeface="Noto Sans" panose="020B0502040504020204" pitchFamily="34" charset="0"/>
                        </a:rPr>
                        <a:t> </a:t>
                      </a:r>
                    </a:p>
                  </a:txBody>
                  <a:tcPr marL="0" marR="0" marT="0" marB="0" anchor="ctr">
                    <a:lnL>
                      <a:noFill/>
                    </a:lnL>
                    <a:lnR>
                      <a:noFill/>
                    </a:lnR>
                    <a:lnT>
                      <a:noFill/>
                    </a:lnT>
                    <a:lnB>
                      <a:noFill/>
                    </a:lnB>
                    <a:solidFill>
                      <a:srgbClr val="14355C"/>
                    </a:solidFill>
                  </a:tcPr>
                </a:tc>
                <a:tc>
                  <a:txBody>
                    <a:bodyPr/>
                    <a:lstStyle/>
                    <a:p>
                      <a:pPr algn="l" fontAlgn="ctr"/>
                      <a:endParaRPr lang="de-DE" sz="6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l" fontAlgn="ctr"/>
                      <a:r>
                        <a:rPr lang="de-DE" sz="600" b="0" i="0" u="none" strike="noStrike">
                          <a:solidFill>
                            <a:srgbClr val="FFFFFF"/>
                          </a:solidFill>
                          <a:effectLst/>
                          <a:latin typeface="Noto Sans" panose="020B0502040504020204" pitchFamily="34" charset="0"/>
                        </a:rPr>
                        <a:t> </a:t>
                      </a:r>
                    </a:p>
                  </a:txBody>
                  <a:tcPr marL="0" marR="0" marT="0" marB="0" anchor="ctr">
                    <a:lnL>
                      <a:noFill/>
                    </a:lnL>
                    <a:lnR>
                      <a:noFill/>
                    </a:lnR>
                    <a:lnT>
                      <a:noFill/>
                    </a:lnT>
                    <a:lnB>
                      <a:noFill/>
                    </a:lnB>
                    <a:solidFill>
                      <a:srgbClr val="14355C"/>
                    </a:solidFill>
                  </a:tcPr>
                </a:tc>
                <a:tc>
                  <a:txBody>
                    <a:bodyPr/>
                    <a:lstStyle/>
                    <a:p>
                      <a:pPr algn="l" fontAlgn="ctr"/>
                      <a:endParaRPr lang="de-DE" sz="6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r>
                        <a:rPr lang="de-DE" sz="600" b="0" i="0" u="none" strike="noStrike">
                          <a:solidFill>
                            <a:srgbClr val="FFFFFF"/>
                          </a:solidFill>
                          <a:effectLst/>
                          <a:latin typeface="Noto Sans" panose="020B0502040504020204" pitchFamily="34" charset="0"/>
                        </a:rPr>
                        <a:t>WKN</a:t>
                      </a:r>
                    </a:p>
                  </a:txBody>
                  <a:tcPr marL="0" marR="0" marT="0" marB="0" anchor="ctr">
                    <a:lnL>
                      <a:noFill/>
                    </a:lnL>
                    <a:lnR>
                      <a:noFill/>
                    </a:lnR>
                    <a:lnT>
                      <a:noFill/>
                    </a:lnT>
                    <a:lnB>
                      <a:noFill/>
                    </a:lnB>
                    <a:solidFill>
                      <a:srgbClr val="14355C"/>
                    </a:solidFill>
                  </a:tcPr>
                </a:tc>
                <a:tc>
                  <a:txBody>
                    <a:bodyPr/>
                    <a:lstStyle/>
                    <a:p>
                      <a:pPr algn="l" fontAlgn="ctr"/>
                      <a:endParaRPr lang="de-DE" sz="6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r>
                        <a:rPr lang="de-DE" sz="600" b="0" i="0" u="none" strike="noStrike">
                          <a:solidFill>
                            <a:srgbClr val="FFFFFF"/>
                          </a:solidFill>
                          <a:effectLst/>
                          <a:latin typeface="Noto Sans" panose="020B0502040504020204" pitchFamily="34" charset="0"/>
                        </a:rPr>
                        <a:t>Anteil %</a:t>
                      </a:r>
                    </a:p>
                  </a:txBody>
                  <a:tcPr marL="0" marR="0" marT="0" marB="0" anchor="ctr">
                    <a:lnL>
                      <a:noFill/>
                    </a:lnL>
                    <a:lnR>
                      <a:noFill/>
                    </a:lnR>
                    <a:lnT>
                      <a:noFill/>
                    </a:lnT>
                    <a:lnB>
                      <a:noFill/>
                    </a:lnB>
                    <a:solidFill>
                      <a:srgbClr val="14355C"/>
                    </a:solidFill>
                  </a:tcPr>
                </a:tc>
                <a:tc>
                  <a:txBody>
                    <a:bodyPr/>
                    <a:lstStyle/>
                    <a:p>
                      <a:pPr algn="l" fontAlgn="ctr"/>
                      <a:endParaRPr lang="de-DE" sz="6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r>
                        <a:rPr lang="de-DE" sz="600" b="0" i="0" u="none" strike="noStrike">
                          <a:solidFill>
                            <a:srgbClr val="FFFFFF"/>
                          </a:solidFill>
                          <a:effectLst/>
                          <a:latin typeface="Noto Sans" panose="020B0502040504020204" pitchFamily="34" charset="0"/>
                        </a:rPr>
                        <a:t>Marktwertrisiko</a:t>
                      </a:r>
                    </a:p>
                  </a:txBody>
                  <a:tcPr marL="0" marR="0" marT="0" marB="0" anchor="ctr">
                    <a:lnL>
                      <a:noFill/>
                    </a:lnL>
                    <a:lnR>
                      <a:noFill/>
                    </a:lnR>
                    <a:lnT>
                      <a:noFill/>
                    </a:lnT>
                    <a:lnB>
                      <a:noFill/>
                    </a:lnB>
                    <a:solidFill>
                      <a:srgbClr val="14355C"/>
                    </a:solidFill>
                  </a:tcPr>
                </a:tc>
                <a:extLst>
                  <a:ext uri="{0D108BD9-81ED-4DB2-BD59-A6C34878D82A}">
                    <a16:rowId xmlns:a16="http://schemas.microsoft.com/office/drawing/2014/main" val="172967212"/>
                  </a:ext>
                </a:extLst>
              </a:tr>
              <a:tr h="130224">
                <a:tc>
                  <a:txBody>
                    <a:bodyPr/>
                    <a:lstStyle/>
                    <a:p>
                      <a:pPr algn="l" fontAlgn="ctr"/>
                      <a:r>
                        <a:rPr lang="de-DE" sz="600" b="1" i="0" u="none" strike="noStrike">
                          <a:solidFill>
                            <a:srgbClr val="000000"/>
                          </a:solidFill>
                          <a:effectLst/>
                          <a:latin typeface="Noto Sans" panose="020B0502040504020204" pitchFamily="34" charset="0"/>
                        </a:rPr>
                        <a:t>AKTIEN</a:t>
                      </a:r>
                    </a:p>
                  </a:txBody>
                  <a:tcPr marL="68583"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1" i="0" u="none" strike="noStrike">
                          <a:solidFill>
                            <a:srgbClr val="000000"/>
                          </a:solidFill>
                          <a:effectLst/>
                          <a:latin typeface="Noto Sans" panose="020B0502040504020204" pitchFamily="34" charset="0"/>
                        </a:rPr>
                        <a:t>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1" i="0" u="none" strike="noStrike">
                          <a:solidFill>
                            <a:srgbClr val="000000"/>
                          </a:solidFill>
                          <a:effectLst/>
                          <a:latin typeface="Noto Sans" panose="020B0502040504020204" pitchFamily="34" charset="0"/>
                        </a:rPr>
                        <a:t>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1" i="0" u="none" strike="noStrike">
                          <a:solidFill>
                            <a:srgbClr val="000000"/>
                          </a:solidFill>
                          <a:effectLst/>
                          <a:latin typeface="Noto Sans" panose="020B0502040504020204" pitchFamily="34" charset="0"/>
                        </a:rPr>
                        <a:t>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1" i="0" u="none" strike="noStrike">
                          <a:solidFill>
                            <a:srgbClr val="000000"/>
                          </a:solidFill>
                          <a:effectLst/>
                          <a:latin typeface="Noto Sans" panose="020B0502040504020204" pitchFamily="34" charset="0"/>
                        </a:rPr>
                        <a:t>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1" i="0" u="none" strike="noStrike">
                          <a:solidFill>
                            <a:srgbClr val="000000"/>
                          </a:solidFill>
                          <a:effectLst/>
                          <a:latin typeface="Noto Sans" panose="020B0502040504020204" pitchFamily="34" charset="0"/>
                        </a:rPr>
                        <a:t>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06875881"/>
                  </a:ext>
                </a:extLst>
              </a:tr>
              <a:tr h="130224">
                <a:tc>
                  <a:txBody>
                    <a:bodyPr/>
                    <a:lstStyle/>
                    <a:p>
                      <a:pPr algn="l" fontAlgn="ctr"/>
                      <a:r>
                        <a:rPr lang="de-DE" sz="600" b="0" i="0" u="none" strike="noStrike">
                          <a:solidFill>
                            <a:srgbClr val="000000"/>
                          </a:solidFill>
                          <a:effectLst/>
                          <a:latin typeface="Noto Sans" panose="020B0502040504020204" pitchFamily="34" charset="0"/>
                        </a:rPr>
                        <a:t>3M Co.</a:t>
                      </a:r>
                    </a:p>
                  </a:txBody>
                  <a:tcPr marL="68583"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851745</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2,00%</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157841847"/>
                  </a:ext>
                </a:extLst>
              </a:tr>
              <a:tr h="130224">
                <a:tc>
                  <a:txBody>
                    <a:bodyPr/>
                    <a:lstStyle/>
                    <a:p>
                      <a:pPr algn="l" fontAlgn="ctr"/>
                      <a:r>
                        <a:rPr lang="de-DE" sz="600" b="0" i="0" u="none" strike="noStrike">
                          <a:solidFill>
                            <a:srgbClr val="000000"/>
                          </a:solidFill>
                          <a:effectLst/>
                          <a:latin typeface="Noto Sans" panose="020B0502040504020204" pitchFamily="34" charset="0"/>
                        </a:rPr>
                        <a:t>AT &amp; T Inc.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A0HL9Z</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2,00%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287511521"/>
                  </a:ext>
                </a:extLst>
              </a:tr>
              <a:tr h="130224">
                <a:tc>
                  <a:txBody>
                    <a:bodyPr/>
                    <a:lstStyle/>
                    <a:p>
                      <a:pPr algn="l" fontAlgn="ctr"/>
                      <a:r>
                        <a:rPr lang="de-DE" sz="600" b="0" i="0" u="none" strike="noStrike">
                          <a:solidFill>
                            <a:srgbClr val="000000"/>
                          </a:solidFill>
                          <a:effectLst/>
                          <a:latin typeface="Noto Sans" panose="020B0502040504020204" pitchFamily="34" charset="0"/>
                        </a:rPr>
                        <a:t>AbbVie Inc.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A1J84E</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2,50%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880839084"/>
                  </a:ext>
                </a:extLst>
              </a:tr>
              <a:tr h="130224">
                <a:tc>
                  <a:txBody>
                    <a:bodyPr/>
                    <a:lstStyle/>
                    <a:p>
                      <a:pPr algn="l" fontAlgn="ctr"/>
                      <a:r>
                        <a:rPr lang="da-DK" sz="600" b="0" i="0" u="none" strike="noStrike">
                          <a:solidFill>
                            <a:srgbClr val="000000"/>
                          </a:solidFill>
                          <a:effectLst/>
                          <a:latin typeface="Noto Sans" panose="020B0502040504020204" pitchFamily="34" charset="0"/>
                        </a:rPr>
                        <a:t>Ahold N.V. EO -,01</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A2ANT0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1,50%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400599012"/>
                  </a:ext>
                </a:extLst>
              </a:tr>
              <a:tr h="130224">
                <a:tc>
                  <a:txBody>
                    <a:bodyPr/>
                    <a:lstStyle/>
                    <a:p>
                      <a:pPr algn="l" fontAlgn="ctr"/>
                      <a:r>
                        <a:rPr lang="de-DE" sz="600" b="0" i="0" u="none" strike="noStrike">
                          <a:solidFill>
                            <a:srgbClr val="000000"/>
                          </a:solidFill>
                          <a:effectLst/>
                          <a:latin typeface="Noto Sans" panose="020B0502040504020204" pitchFamily="34" charset="0"/>
                        </a:rPr>
                        <a:t>Allianz SE</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840400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2,50%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040159260"/>
                  </a:ext>
                </a:extLst>
              </a:tr>
              <a:tr h="130224">
                <a:tc>
                  <a:txBody>
                    <a:bodyPr/>
                    <a:lstStyle/>
                    <a:p>
                      <a:pPr algn="l" fontAlgn="ctr"/>
                      <a:r>
                        <a:rPr lang="de-DE" sz="600" b="0" i="0" u="none" strike="noStrike">
                          <a:solidFill>
                            <a:srgbClr val="000000"/>
                          </a:solidFill>
                          <a:effectLst/>
                          <a:latin typeface="Noto Sans" panose="020B0502040504020204" pitchFamily="34" charset="0"/>
                        </a:rPr>
                        <a:t>Alphabet Inc. A</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A14Y6F</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3,50%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3848142"/>
                  </a:ext>
                </a:extLst>
              </a:tr>
              <a:tr h="130224">
                <a:tc>
                  <a:txBody>
                    <a:bodyPr/>
                    <a:lstStyle/>
                    <a:p>
                      <a:pPr algn="l" fontAlgn="ctr"/>
                      <a:r>
                        <a:rPr lang="de-DE" sz="600" b="0" i="0" u="none" strike="noStrike">
                          <a:solidFill>
                            <a:srgbClr val="000000"/>
                          </a:solidFill>
                          <a:effectLst/>
                          <a:latin typeface="Noto Sans" panose="020B0502040504020204" pitchFamily="34" charset="0"/>
                        </a:rPr>
                        <a:t>Amazon.com Inc.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906866</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3,00%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196766011"/>
                  </a:ext>
                </a:extLst>
              </a:tr>
              <a:tr h="130224">
                <a:tc>
                  <a:txBody>
                    <a:bodyPr/>
                    <a:lstStyle/>
                    <a:p>
                      <a:pPr algn="l" fontAlgn="ctr"/>
                      <a:r>
                        <a:rPr lang="de-DE" sz="600" b="0" i="0" u="none" strike="noStrike">
                          <a:solidFill>
                            <a:srgbClr val="000000"/>
                          </a:solidFill>
                          <a:effectLst/>
                          <a:latin typeface="Noto Sans" panose="020B0502040504020204" pitchFamily="34" charset="0"/>
                        </a:rPr>
                        <a:t>Banco Santander S.A.</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858872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1,50%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158860103"/>
                  </a:ext>
                </a:extLst>
              </a:tr>
              <a:tr h="130224">
                <a:tc>
                  <a:txBody>
                    <a:bodyPr/>
                    <a:lstStyle/>
                    <a:p>
                      <a:pPr algn="l" fontAlgn="ctr"/>
                      <a:r>
                        <a:rPr lang="de-DE" sz="600" b="0" i="0" u="none" strike="noStrike">
                          <a:solidFill>
                            <a:srgbClr val="000000"/>
                          </a:solidFill>
                          <a:effectLst/>
                          <a:latin typeface="Noto Sans" panose="020B0502040504020204" pitchFamily="34" charset="0"/>
                        </a:rPr>
                        <a:t>BlackRock Inc.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A40PW4</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2,50%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291808405"/>
                  </a:ext>
                </a:extLst>
              </a:tr>
              <a:tr h="130224">
                <a:tc>
                  <a:txBody>
                    <a:bodyPr/>
                    <a:lstStyle/>
                    <a:p>
                      <a:pPr algn="l" fontAlgn="ctr"/>
                      <a:r>
                        <a:rPr lang="de-DE" sz="600" b="0" i="0" u="none" strike="noStrike">
                          <a:solidFill>
                            <a:srgbClr val="000000"/>
                          </a:solidFill>
                          <a:effectLst/>
                          <a:latin typeface="Noto Sans" panose="020B0502040504020204" pitchFamily="34" charset="0"/>
                        </a:rPr>
                        <a:t>Broadcom Inc.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A2JG9Z</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2,00%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287335822"/>
                  </a:ext>
                </a:extLst>
              </a:tr>
              <a:tr h="130224">
                <a:tc>
                  <a:txBody>
                    <a:bodyPr/>
                    <a:lstStyle/>
                    <a:p>
                      <a:pPr algn="l" fontAlgn="ctr"/>
                      <a:r>
                        <a:rPr lang="de-DE" sz="600" b="0" i="0" u="none" strike="noStrike">
                          <a:solidFill>
                            <a:srgbClr val="000000"/>
                          </a:solidFill>
                          <a:effectLst/>
                          <a:latin typeface="Noto Sans" panose="020B0502040504020204" pitchFamily="34" charset="0"/>
                        </a:rPr>
                        <a:t>Coca-Cola Co.</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850663</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2,50%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667375258"/>
                  </a:ext>
                </a:extLst>
              </a:tr>
              <a:tr h="130224">
                <a:tc>
                  <a:txBody>
                    <a:bodyPr/>
                    <a:lstStyle/>
                    <a:p>
                      <a:pPr algn="l" fontAlgn="ctr"/>
                      <a:r>
                        <a:rPr lang="de-DE" sz="600" b="0" i="0" u="none" strike="noStrike">
                          <a:solidFill>
                            <a:srgbClr val="000000"/>
                          </a:solidFill>
                          <a:effectLst/>
                          <a:latin typeface="Noto Sans" panose="020B0502040504020204" pitchFamily="34" charset="0"/>
                        </a:rPr>
                        <a:t>Deutsche Telekom AG</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555750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2,50%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167941201"/>
                  </a:ext>
                </a:extLst>
              </a:tr>
              <a:tr h="130224">
                <a:tc>
                  <a:txBody>
                    <a:bodyPr/>
                    <a:lstStyle/>
                    <a:p>
                      <a:pPr algn="l" fontAlgn="ctr"/>
                      <a:r>
                        <a:rPr lang="de-DE" sz="600" b="0" i="0" u="none" strike="noStrike">
                          <a:solidFill>
                            <a:srgbClr val="000000"/>
                          </a:solidFill>
                          <a:effectLst/>
                          <a:latin typeface="Noto Sans" panose="020B0502040504020204" pitchFamily="34" charset="0"/>
                        </a:rPr>
                        <a:t>ENEL S.p.A.</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928624</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1,50%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005564632"/>
                  </a:ext>
                </a:extLst>
              </a:tr>
              <a:tr h="130224">
                <a:tc>
                  <a:txBody>
                    <a:bodyPr/>
                    <a:lstStyle/>
                    <a:p>
                      <a:pPr algn="l" fontAlgn="ctr"/>
                      <a:r>
                        <a:rPr lang="de-DE" sz="600" b="0" i="0" u="none" strike="noStrike">
                          <a:solidFill>
                            <a:srgbClr val="000000"/>
                          </a:solidFill>
                          <a:effectLst/>
                          <a:latin typeface="Noto Sans" panose="020B0502040504020204" pitchFamily="34" charset="0"/>
                        </a:rPr>
                        <a:t>Eli Lilly and Company</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858560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2,50%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053728395"/>
                  </a:ext>
                </a:extLst>
              </a:tr>
              <a:tr h="130224">
                <a:tc>
                  <a:txBody>
                    <a:bodyPr/>
                    <a:lstStyle/>
                    <a:p>
                      <a:pPr algn="l" fontAlgn="ctr"/>
                      <a:r>
                        <a:rPr lang="de-DE" sz="600" b="0" i="0" u="none" strike="noStrike">
                          <a:solidFill>
                            <a:srgbClr val="000000"/>
                          </a:solidFill>
                          <a:effectLst/>
                          <a:latin typeface="Noto Sans" panose="020B0502040504020204" pitchFamily="34" charset="0"/>
                        </a:rPr>
                        <a:t>Generali S.p.A.</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850312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1,50%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130962078"/>
                  </a:ext>
                </a:extLst>
              </a:tr>
              <a:tr h="130224">
                <a:tc>
                  <a:txBody>
                    <a:bodyPr/>
                    <a:lstStyle/>
                    <a:p>
                      <a:pPr algn="l" fontAlgn="ctr"/>
                      <a:r>
                        <a:rPr lang="de-DE" sz="600" b="0" i="0" u="none" strike="noStrike">
                          <a:solidFill>
                            <a:srgbClr val="000000"/>
                          </a:solidFill>
                          <a:effectLst/>
                          <a:latin typeface="Noto Sans" panose="020B0502040504020204" pitchFamily="34" charset="0"/>
                        </a:rPr>
                        <a:t>HSBC Holdings PLC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923893</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2,50%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801399865"/>
                  </a:ext>
                </a:extLst>
              </a:tr>
              <a:tr h="130224">
                <a:tc>
                  <a:txBody>
                    <a:bodyPr/>
                    <a:lstStyle/>
                    <a:p>
                      <a:pPr algn="l" fontAlgn="ctr"/>
                      <a:r>
                        <a:rPr lang="fr-FR" sz="600" b="0" i="0" u="none" strike="noStrike">
                          <a:solidFill>
                            <a:srgbClr val="000000"/>
                          </a:solidFill>
                          <a:effectLst/>
                          <a:latin typeface="Noto Sans" panose="020B0502040504020204" pitchFamily="34" charset="0"/>
                        </a:rPr>
                        <a:t>Hermes International S.C.A.</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886670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2,00%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841363547"/>
                  </a:ext>
                </a:extLst>
              </a:tr>
              <a:tr h="130224">
                <a:tc>
                  <a:txBody>
                    <a:bodyPr/>
                    <a:lstStyle/>
                    <a:p>
                      <a:pPr algn="l" fontAlgn="ctr"/>
                      <a:r>
                        <a:rPr lang="de-DE" sz="600" b="0" i="0" u="none" strike="noStrike">
                          <a:solidFill>
                            <a:srgbClr val="000000"/>
                          </a:solidFill>
                          <a:effectLst/>
                          <a:latin typeface="Noto Sans" panose="020B0502040504020204" pitchFamily="34" charset="0"/>
                        </a:rPr>
                        <a:t>Holcim Ltd.</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869898</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2,00%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974796317"/>
                  </a:ext>
                </a:extLst>
              </a:tr>
              <a:tr h="130224">
                <a:tc>
                  <a:txBody>
                    <a:bodyPr/>
                    <a:lstStyle/>
                    <a:p>
                      <a:pPr algn="l" fontAlgn="ctr"/>
                      <a:r>
                        <a:rPr lang="de-DE" sz="600" b="0" i="0" u="none" strike="noStrike">
                          <a:solidFill>
                            <a:srgbClr val="000000"/>
                          </a:solidFill>
                          <a:effectLst/>
                          <a:latin typeface="Noto Sans" panose="020B0502040504020204" pitchFamily="34" charset="0"/>
                        </a:rPr>
                        <a:t>ING Groep N.V.</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A2ANV3</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1,50%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112859553"/>
                  </a:ext>
                </a:extLst>
              </a:tr>
              <a:tr h="130224">
                <a:tc>
                  <a:txBody>
                    <a:bodyPr/>
                    <a:lstStyle/>
                    <a:p>
                      <a:pPr algn="l" fontAlgn="ctr"/>
                      <a:r>
                        <a:rPr lang="de-DE" sz="600" b="0" i="0" u="none" strike="noStrike">
                          <a:solidFill>
                            <a:srgbClr val="000000"/>
                          </a:solidFill>
                          <a:effectLst/>
                          <a:latin typeface="Noto Sans" panose="020B0502040504020204" pitchFamily="34" charset="0"/>
                        </a:rPr>
                        <a:t>Iberdrola S.A.</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A0M46B</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1,50%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904725441"/>
                  </a:ext>
                </a:extLst>
              </a:tr>
              <a:tr h="130224">
                <a:tc>
                  <a:txBody>
                    <a:bodyPr/>
                    <a:lstStyle/>
                    <a:p>
                      <a:pPr algn="l" fontAlgn="ctr"/>
                      <a:r>
                        <a:rPr lang="de-DE" sz="600" b="0" i="0" u="none" strike="noStrike">
                          <a:solidFill>
                            <a:srgbClr val="000000"/>
                          </a:solidFill>
                          <a:effectLst/>
                          <a:latin typeface="Noto Sans" panose="020B0502040504020204" pitchFamily="34" charset="0"/>
                        </a:rPr>
                        <a:t>Intl Business Machines Corp.</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851399</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2,00%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275699290"/>
                  </a:ext>
                </a:extLst>
              </a:tr>
              <a:tr h="130224">
                <a:tc>
                  <a:txBody>
                    <a:bodyPr/>
                    <a:lstStyle/>
                    <a:p>
                      <a:pPr algn="l" fontAlgn="ctr"/>
                      <a:r>
                        <a:rPr lang="de-DE" sz="600" b="0" i="0" u="none" strike="noStrike">
                          <a:solidFill>
                            <a:srgbClr val="000000"/>
                          </a:solidFill>
                          <a:effectLst/>
                          <a:latin typeface="Noto Sans" panose="020B0502040504020204" pitchFamily="34" charset="0"/>
                        </a:rPr>
                        <a:t>Johnson &amp; Johnson</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853260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2,50%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0080350"/>
                  </a:ext>
                </a:extLst>
              </a:tr>
              <a:tr h="130224">
                <a:tc>
                  <a:txBody>
                    <a:bodyPr/>
                    <a:lstStyle/>
                    <a:p>
                      <a:pPr algn="l" fontAlgn="ctr"/>
                      <a:r>
                        <a:rPr lang="de-DE" sz="600" b="0" i="0" u="none" strike="noStrike">
                          <a:solidFill>
                            <a:srgbClr val="000000"/>
                          </a:solidFill>
                          <a:effectLst/>
                          <a:latin typeface="Noto Sans" panose="020B0502040504020204" pitchFamily="34" charset="0"/>
                        </a:rPr>
                        <a:t>Mercadolibre Inc.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A0MYNP</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1,50%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553865686"/>
                  </a:ext>
                </a:extLst>
              </a:tr>
              <a:tr h="130224">
                <a:tc>
                  <a:txBody>
                    <a:bodyPr/>
                    <a:lstStyle/>
                    <a:p>
                      <a:pPr algn="l" fontAlgn="ctr"/>
                      <a:r>
                        <a:rPr lang="de-DE" sz="600" b="0" i="0" u="none" strike="noStrike">
                          <a:solidFill>
                            <a:srgbClr val="000000"/>
                          </a:solidFill>
                          <a:effectLst/>
                          <a:latin typeface="Noto Sans" panose="020B0502040504020204" pitchFamily="34" charset="0"/>
                        </a:rPr>
                        <a:t>Micron Technology Inc.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869020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2,00%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276680975"/>
                  </a:ext>
                </a:extLst>
              </a:tr>
              <a:tr h="130224">
                <a:tc>
                  <a:txBody>
                    <a:bodyPr/>
                    <a:lstStyle/>
                    <a:p>
                      <a:pPr algn="l" fontAlgn="ctr"/>
                      <a:r>
                        <a:rPr lang="de-DE" sz="600" b="0" i="0" u="none" strike="noStrike">
                          <a:solidFill>
                            <a:srgbClr val="000000"/>
                          </a:solidFill>
                          <a:effectLst/>
                          <a:latin typeface="Noto Sans" panose="020B0502040504020204" pitchFamily="34" charset="0"/>
                        </a:rPr>
                        <a:t>Microsoft Corp.</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870747</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3,50%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007564125"/>
                  </a:ext>
                </a:extLst>
              </a:tr>
              <a:tr h="130224">
                <a:tc>
                  <a:txBody>
                    <a:bodyPr/>
                    <a:lstStyle/>
                    <a:p>
                      <a:pPr algn="l" fontAlgn="ctr"/>
                      <a:r>
                        <a:rPr lang="de-DE" sz="600" b="0" i="0" u="none" strike="noStrike">
                          <a:solidFill>
                            <a:srgbClr val="000000"/>
                          </a:solidFill>
                          <a:effectLst/>
                          <a:latin typeface="Noto Sans" panose="020B0502040504020204" pitchFamily="34" charset="0"/>
                        </a:rPr>
                        <a:t>Münchener Rückvers.-Ges. AG</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843002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1,50%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594338199"/>
                  </a:ext>
                </a:extLst>
              </a:tr>
              <a:tr h="130224">
                <a:tc>
                  <a:txBody>
                    <a:bodyPr/>
                    <a:lstStyle/>
                    <a:p>
                      <a:pPr algn="l" fontAlgn="ctr"/>
                      <a:r>
                        <a:rPr lang="de-DE" sz="600" b="0" i="0" u="none" strike="noStrike">
                          <a:solidFill>
                            <a:srgbClr val="000000"/>
                          </a:solidFill>
                          <a:effectLst/>
                          <a:latin typeface="Noto Sans" panose="020B0502040504020204" pitchFamily="34" charset="0"/>
                        </a:rPr>
                        <a:t>NVIDIA Corp.</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918422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3,50%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446379147"/>
                  </a:ext>
                </a:extLst>
              </a:tr>
              <a:tr h="130224">
                <a:tc>
                  <a:txBody>
                    <a:bodyPr/>
                    <a:lstStyle/>
                    <a:p>
                      <a:pPr algn="l" fontAlgn="ctr"/>
                      <a:r>
                        <a:rPr lang="de-DE" sz="600" b="0" i="0" u="none" strike="noStrike">
                          <a:solidFill>
                            <a:srgbClr val="000000"/>
                          </a:solidFill>
                          <a:effectLst/>
                          <a:latin typeface="Noto Sans" panose="020B0502040504020204" pitchFamily="34" charset="0"/>
                        </a:rPr>
                        <a:t>Nordea Bank Abp</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A2N6F4</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1,50%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766391533"/>
                  </a:ext>
                </a:extLst>
              </a:tr>
              <a:tr h="130224">
                <a:tc>
                  <a:txBody>
                    <a:bodyPr/>
                    <a:lstStyle/>
                    <a:p>
                      <a:pPr algn="l" fontAlgn="ctr"/>
                      <a:r>
                        <a:rPr lang="de-DE" sz="600" b="0" i="0" u="none" strike="noStrike">
                          <a:solidFill>
                            <a:srgbClr val="000000"/>
                          </a:solidFill>
                          <a:effectLst/>
                          <a:latin typeface="Noto Sans" panose="020B0502040504020204" pitchFamily="34" charset="0"/>
                        </a:rPr>
                        <a:t>Novartis AG</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904278</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2,50%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086584194"/>
                  </a:ext>
                </a:extLst>
              </a:tr>
              <a:tr h="130224">
                <a:tc>
                  <a:txBody>
                    <a:bodyPr/>
                    <a:lstStyle/>
                    <a:p>
                      <a:pPr algn="l" fontAlgn="ctr"/>
                      <a:r>
                        <a:rPr lang="de-DE" sz="600" b="0" i="0" u="none" strike="noStrike">
                          <a:solidFill>
                            <a:srgbClr val="000000"/>
                          </a:solidFill>
                          <a:effectLst/>
                          <a:latin typeface="Noto Sans" panose="020B0502040504020204" pitchFamily="34" charset="0"/>
                        </a:rPr>
                        <a:t>Philip Morris Internat. Inc.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A0NDBJ</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2,50%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269826738"/>
                  </a:ext>
                </a:extLst>
              </a:tr>
              <a:tr h="130224">
                <a:tc>
                  <a:txBody>
                    <a:bodyPr/>
                    <a:lstStyle/>
                    <a:p>
                      <a:pPr algn="l" fontAlgn="ctr"/>
                      <a:r>
                        <a:rPr lang="de-DE" sz="600" b="0" i="0" u="none" strike="noStrike">
                          <a:solidFill>
                            <a:srgbClr val="000000"/>
                          </a:solidFill>
                          <a:effectLst/>
                          <a:latin typeface="Noto Sans" panose="020B0502040504020204" pitchFamily="34" charset="0"/>
                        </a:rPr>
                        <a:t>Roche Holding AG Genußscheine</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855167</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2,50%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776809598"/>
                  </a:ext>
                </a:extLst>
              </a:tr>
              <a:tr h="130224">
                <a:tc>
                  <a:txBody>
                    <a:bodyPr/>
                    <a:lstStyle/>
                    <a:p>
                      <a:pPr algn="l" fontAlgn="ctr"/>
                      <a:r>
                        <a:rPr lang="de-DE" sz="600" b="0" i="0" u="none" strike="noStrike">
                          <a:solidFill>
                            <a:srgbClr val="000000"/>
                          </a:solidFill>
                          <a:effectLst/>
                          <a:latin typeface="Noto Sans" panose="020B0502040504020204" pitchFamily="34" charset="0"/>
                        </a:rPr>
                        <a:t>Shell PLC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A3C99G</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3,50%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883248457"/>
                  </a:ext>
                </a:extLst>
              </a:tr>
              <a:tr h="130224">
                <a:tc>
                  <a:txBody>
                    <a:bodyPr/>
                    <a:lstStyle/>
                    <a:p>
                      <a:pPr algn="l" fontAlgn="ctr"/>
                      <a:r>
                        <a:rPr lang="de-DE" sz="600" b="0" i="0" u="none" strike="noStrike" dirty="0">
                          <a:solidFill>
                            <a:srgbClr val="000000"/>
                          </a:solidFill>
                          <a:effectLst/>
                          <a:latin typeface="Noto Sans" panose="020B0502040504020204" pitchFamily="34" charset="0"/>
                        </a:rPr>
                        <a:t>Siemens AG</a:t>
                      </a:r>
                    </a:p>
                  </a:txBody>
                  <a:tcPr marL="68583"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dirty="0">
                          <a:solidFill>
                            <a:srgbClr val="000000"/>
                          </a:solidFill>
                          <a:effectLst/>
                          <a:latin typeface="Noto Sans" panose="020B0502040504020204" pitchFamily="34" charset="0"/>
                        </a:rPr>
                        <a:t>723610</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0" i="0" u="none" strike="noStrike" dirty="0">
                          <a:solidFill>
                            <a:srgbClr val="000000"/>
                          </a:solidFill>
                          <a:effectLst/>
                          <a:latin typeface="Noto Sans" panose="020B0502040504020204" pitchFamily="34" charset="0"/>
                        </a:rPr>
                        <a:t>3,00%</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1" i="0" u="none" strike="noStrike">
                          <a:solidFill>
                            <a:srgbClr val="000000"/>
                          </a:solidFill>
                          <a:effectLst/>
                          <a:latin typeface="Noto Sans" panose="020B0502040504020204" pitchFamily="34" charset="0"/>
                        </a:rPr>
                        <a:t>-</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76136602"/>
                  </a:ext>
                </a:extLst>
              </a:tr>
              <a:tr h="130224">
                <a:tc>
                  <a:txBody>
                    <a:bodyPr/>
                    <a:lstStyle/>
                    <a:p>
                      <a:pPr algn="l" fontAlgn="ctr"/>
                      <a:endParaRPr lang="de-DE" sz="600" b="1" i="0" u="none" strike="noStrike">
                        <a:solidFill>
                          <a:srgbClr val="000000"/>
                        </a:solidFill>
                        <a:effectLst/>
                        <a:latin typeface="Noto Sans" panose="020B0502040504020204" pitchFamily="34" charset="0"/>
                      </a:endParaRPr>
                    </a:p>
                  </a:txBody>
                  <a:tcPr marL="68583"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r>
                        <a:rPr lang="de-DE" sz="6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endParaRPr lang="de-DE" sz="600" b="1" i="0" u="none" strike="noStrike">
                        <a:solidFill>
                          <a:srgbClr val="000000"/>
                        </a:solidFill>
                        <a:effectLst/>
                        <a:latin typeface="Noto Sans" panose="020B0502040504020204" pitchFamily="34" charset="0"/>
                      </a:endParaRP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r>
                        <a:rPr lang="de-DE" sz="6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endParaRPr lang="de-DE" sz="600" b="1" i="0" u="none" strike="noStrike">
                        <a:solidFill>
                          <a:srgbClr val="000000"/>
                        </a:solidFill>
                        <a:effectLst/>
                        <a:latin typeface="Noto Sans" panose="020B0502040504020204" pitchFamily="34" charset="0"/>
                      </a:endParaRP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ctr" fontAlgn="ctr"/>
                      <a:r>
                        <a:rPr lang="de-DE" sz="6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endParaRPr lang="de-DE" sz="600" b="1" i="0" u="none" strike="noStrike">
                        <a:solidFill>
                          <a:srgbClr val="000000"/>
                        </a:solidFill>
                        <a:effectLst/>
                        <a:latin typeface="Noto Sans" panose="020B0502040504020204" pitchFamily="34" charset="0"/>
                      </a:endParaRP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r>
                        <a:rPr lang="de-DE" sz="6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600" b="1" i="0" u="none" strike="noStrike">
                          <a:solidFill>
                            <a:srgbClr val="000000"/>
                          </a:solidFill>
                          <a:effectLst/>
                          <a:latin typeface="Noto Sans" panose="020B0502040504020204" pitchFamily="34" charset="0"/>
                        </a:rPr>
                        <a:t>75,00%</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r>
                        <a:rPr lang="de-DE" sz="6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endParaRPr lang="de-DE" sz="600" b="1" i="0" u="none" strike="noStrike" dirty="0">
                        <a:solidFill>
                          <a:srgbClr val="000000"/>
                        </a:solidFill>
                        <a:effectLst/>
                        <a:latin typeface="Noto Sans" panose="020B0502040504020204" pitchFamily="34" charset="0"/>
                      </a:endParaRP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extLst>
                  <a:ext uri="{0D108BD9-81ED-4DB2-BD59-A6C34878D82A}">
                    <a16:rowId xmlns:a16="http://schemas.microsoft.com/office/drawing/2014/main" val="2628745751"/>
                  </a:ext>
                </a:extLst>
              </a:tr>
            </a:tbl>
          </a:graphicData>
        </a:graphic>
      </p:graphicFrame>
      <p:sp>
        <p:nvSpPr>
          <p:cNvPr id="3" name="Titel 2">
            <a:extLst>
              <a:ext uri="{FF2B5EF4-FFF2-40B4-BE49-F238E27FC236}">
                <a16:creationId xmlns:a16="http://schemas.microsoft.com/office/drawing/2014/main" id="{93AB9F5D-48C2-E8E3-CB47-6997CA81853A}"/>
              </a:ext>
            </a:extLst>
          </p:cNvPr>
          <p:cNvSpPr>
            <a:spLocks noGrp="1"/>
          </p:cNvSpPr>
          <p:nvPr>
            <p:ph type="title"/>
          </p:nvPr>
        </p:nvSpPr>
        <p:spPr/>
        <p:txBody>
          <a:bodyPr/>
          <a:lstStyle/>
          <a:p>
            <a:r>
              <a:rPr lang="de-DE" dirty="0"/>
              <a:t>Anlagevorschlag</a:t>
            </a:r>
          </a:p>
        </p:txBody>
      </p:sp>
    </p:spTree>
    <p:extLst>
      <p:ext uri="{BB962C8B-B14F-4D97-AF65-F5344CB8AC3E}">
        <p14:creationId xmlns:p14="http://schemas.microsoft.com/office/powerpoint/2010/main" val="36888763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F2C2377A-3B03-9D9A-46F3-F13D6FE6195B}"/>
              </a:ext>
            </a:extLst>
          </p:cNvPr>
          <p:cNvSpPr>
            <a:spLocks noGrp="1"/>
          </p:cNvSpPr>
          <p:nvPr>
            <p:ph type="sldNum" sz="quarter" idx="12"/>
          </p:nvPr>
        </p:nvSpPr>
        <p:spPr/>
        <p:txBody>
          <a:bodyPr/>
          <a:lstStyle/>
          <a:p>
            <a:fld id="{3AE71D6B-ACB6-4F4C-A895-DCAEF1760EAA}" type="slidenum">
              <a:rPr lang="de-DE" smtClean="0"/>
              <a:t>14</a:t>
            </a:fld>
            <a:endParaRPr lang="de-DE"/>
          </a:p>
        </p:txBody>
      </p:sp>
      <p:graphicFrame>
        <p:nvGraphicFramePr>
          <p:cNvPr id="5" name="C_Kennzahlen">
            <a:extLst>
              <a:ext uri="{FF2B5EF4-FFF2-40B4-BE49-F238E27FC236}">
                <a16:creationId xmlns:a16="http://schemas.microsoft.com/office/drawing/2014/main" id="{00000000-0008-0000-2E00-000002000000}"/>
              </a:ext>
            </a:extLst>
          </p:cNvPr>
          <p:cNvGraphicFramePr>
            <a:graphicFrameLocks noGrp="1" noDrilldown="1" noMove="1" noResize="1"/>
          </p:cNvGraphicFramePr>
          <p:nvPr/>
        </p:nvGraphicFramePr>
        <p:xfrm>
          <a:off x="355601" y="1040400"/>
          <a:ext cx="4068001" cy="4158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T_Kennzahlen">
            <a:extLst>
              <a:ext uri="{FF2B5EF4-FFF2-40B4-BE49-F238E27FC236}">
                <a16:creationId xmlns:a16="http://schemas.microsoft.com/office/drawing/2014/main" id="{E3C7BCAA-0E17-E5A8-BC75-CEAB4291A886}"/>
              </a:ext>
            </a:extLst>
          </p:cNvPr>
          <p:cNvGraphicFramePr>
            <a:graphicFrameLocks noGrp="1" noDrilldown="1" noMove="1" noResize="1"/>
          </p:cNvGraphicFramePr>
          <p:nvPr/>
        </p:nvGraphicFramePr>
        <p:xfrm>
          <a:off x="4508500" y="1040400"/>
          <a:ext cx="5613400" cy="4773527"/>
        </p:xfrm>
        <a:graphic>
          <a:graphicData uri="http://schemas.openxmlformats.org/drawingml/2006/table">
            <a:tbl>
              <a:tblPr/>
              <a:tblGrid>
                <a:gridCol w="2184400">
                  <a:extLst>
                    <a:ext uri="{9D8B030D-6E8A-4147-A177-3AD203B41FA5}">
                      <a16:colId xmlns:a16="http://schemas.microsoft.com/office/drawing/2014/main" val="357058835"/>
                    </a:ext>
                  </a:extLst>
                </a:gridCol>
                <a:gridCol w="50800">
                  <a:extLst>
                    <a:ext uri="{9D8B030D-6E8A-4147-A177-3AD203B41FA5}">
                      <a16:colId xmlns:a16="http://schemas.microsoft.com/office/drawing/2014/main" val="4244896064"/>
                    </a:ext>
                  </a:extLst>
                </a:gridCol>
                <a:gridCol w="571500">
                  <a:extLst>
                    <a:ext uri="{9D8B030D-6E8A-4147-A177-3AD203B41FA5}">
                      <a16:colId xmlns:a16="http://schemas.microsoft.com/office/drawing/2014/main" val="3824065173"/>
                    </a:ext>
                  </a:extLst>
                </a:gridCol>
                <a:gridCol w="50800">
                  <a:extLst>
                    <a:ext uri="{9D8B030D-6E8A-4147-A177-3AD203B41FA5}">
                      <a16:colId xmlns:a16="http://schemas.microsoft.com/office/drawing/2014/main" val="1992476229"/>
                    </a:ext>
                  </a:extLst>
                </a:gridCol>
                <a:gridCol w="571500">
                  <a:extLst>
                    <a:ext uri="{9D8B030D-6E8A-4147-A177-3AD203B41FA5}">
                      <a16:colId xmlns:a16="http://schemas.microsoft.com/office/drawing/2014/main" val="2579450953"/>
                    </a:ext>
                  </a:extLst>
                </a:gridCol>
                <a:gridCol w="50800">
                  <a:extLst>
                    <a:ext uri="{9D8B030D-6E8A-4147-A177-3AD203B41FA5}">
                      <a16:colId xmlns:a16="http://schemas.microsoft.com/office/drawing/2014/main" val="251546744"/>
                    </a:ext>
                  </a:extLst>
                </a:gridCol>
                <a:gridCol w="571500">
                  <a:extLst>
                    <a:ext uri="{9D8B030D-6E8A-4147-A177-3AD203B41FA5}">
                      <a16:colId xmlns:a16="http://schemas.microsoft.com/office/drawing/2014/main" val="2512385112"/>
                    </a:ext>
                  </a:extLst>
                </a:gridCol>
                <a:gridCol w="50800">
                  <a:extLst>
                    <a:ext uri="{9D8B030D-6E8A-4147-A177-3AD203B41FA5}">
                      <a16:colId xmlns:a16="http://schemas.microsoft.com/office/drawing/2014/main" val="3863983101"/>
                    </a:ext>
                  </a:extLst>
                </a:gridCol>
                <a:gridCol w="571500">
                  <a:extLst>
                    <a:ext uri="{9D8B030D-6E8A-4147-A177-3AD203B41FA5}">
                      <a16:colId xmlns:a16="http://schemas.microsoft.com/office/drawing/2014/main" val="484081209"/>
                    </a:ext>
                  </a:extLst>
                </a:gridCol>
                <a:gridCol w="50800">
                  <a:extLst>
                    <a:ext uri="{9D8B030D-6E8A-4147-A177-3AD203B41FA5}">
                      <a16:colId xmlns:a16="http://schemas.microsoft.com/office/drawing/2014/main" val="334612058"/>
                    </a:ext>
                  </a:extLst>
                </a:gridCol>
                <a:gridCol w="889000">
                  <a:extLst>
                    <a:ext uri="{9D8B030D-6E8A-4147-A177-3AD203B41FA5}">
                      <a16:colId xmlns:a16="http://schemas.microsoft.com/office/drawing/2014/main" val="937435690"/>
                    </a:ext>
                  </a:extLst>
                </a:gridCol>
              </a:tblGrid>
              <a:tr h="216000">
                <a:tc>
                  <a:txBody>
                    <a:bodyPr/>
                    <a:lstStyle/>
                    <a:p>
                      <a:pPr algn="l" fontAlgn="ctr"/>
                      <a:r>
                        <a:rPr lang="de-DE" sz="700" b="0" i="0" u="none" strike="noStrike">
                          <a:solidFill>
                            <a:srgbClr val="FFFFFF"/>
                          </a:solidFill>
                          <a:effectLst/>
                          <a:latin typeface="Noto Sans" panose="020B0502040504020204" pitchFamily="34" charset="0"/>
                        </a:rPr>
                        <a:t>WERTPAPIER</a:t>
                      </a:r>
                    </a:p>
                  </a:txBody>
                  <a:tcPr marL="68673" marR="0" marT="0" marB="0" anchor="ctr">
                    <a:lnL>
                      <a:noFill/>
                    </a:lnL>
                    <a:lnR>
                      <a:noFill/>
                    </a:lnR>
                    <a:lnT>
                      <a:noFill/>
                    </a:lnT>
                    <a:lnB>
                      <a:noFill/>
                    </a:lnB>
                    <a:solidFill>
                      <a:srgbClr val="14355C"/>
                    </a:solidFill>
                  </a:tcPr>
                </a:tc>
                <a:tc>
                  <a:txBody>
                    <a:bodyPr/>
                    <a:lstStyle/>
                    <a:p>
                      <a:pPr algn="l" fontAlgn="ct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r>
                        <a:rPr lang="de-DE" sz="700" b="0" i="0" u="none" strike="noStrike">
                          <a:solidFill>
                            <a:srgbClr val="FFFFFF"/>
                          </a:solidFill>
                          <a:effectLst/>
                          <a:latin typeface="Noto Sans" panose="020B0502040504020204" pitchFamily="34" charset="0"/>
                        </a:rPr>
                        <a:t> </a:t>
                      </a:r>
                    </a:p>
                  </a:txBody>
                  <a:tcPr marL="0" marR="0" marT="0" marB="0" anchor="ctr">
                    <a:lnL>
                      <a:noFill/>
                    </a:lnL>
                    <a:lnR>
                      <a:noFill/>
                    </a:lnR>
                    <a:lnT>
                      <a:noFill/>
                    </a:lnT>
                    <a:lnB>
                      <a:noFill/>
                    </a:lnB>
                    <a:solidFill>
                      <a:srgbClr val="14355C"/>
                    </a:solidFill>
                  </a:tcPr>
                </a:tc>
                <a:tc>
                  <a:txBody>
                    <a:bodyPr/>
                    <a:lstStyle/>
                    <a:p>
                      <a:pPr algn="l" fontAlgn="ct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l" fontAlgn="ctr"/>
                      <a:r>
                        <a:rPr lang="de-DE" sz="700" b="0" i="0" u="none" strike="noStrike">
                          <a:solidFill>
                            <a:srgbClr val="FFFFFF"/>
                          </a:solidFill>
                          <a:effectLst/>
                          <a:latin typeface="Noto Sans" panose="020B0502040504020204" pitchFamily="34" charset="0"/>
                        </a:rPr>
                        <a:t> </a:t>
                      </a:r>
                    </a:p>
                  </a:txBody>
                  <a:tcPr marL="0" marR="0" marT="0" marB="0" anchor="ctr">
                    <a:lnL>
                      <a:noFill/>
                    </a:lnL>
                    <a:lnR>
                      <a:noFill/>
                    </a:lnR>
                    <a:lnT>
                      <a:noFill/>
                    </a:lnT>
                    <a:lnB>
                      <a:noFill/>
                    </a:lnB>
                    <a:solidFill>
                      <a:srgbClr val="14355C"/>
                    </a:solidFill>
                  </a:tcPr>
                </a:tc>
                <a:tc>
                  <a:txBody>
                    <a:bodyPr/>
                    <a:lstStyle/>
                    <a:p>
                      <a:pPr algn="l" fontAlgn="ct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r>
                        <a:rPr lang="de-DE" sz="700" b="0" i="0" u="none" strike="noStrike">
                          <a:solidFill>
                            <a:srgbClr val="FFFFFF"/>
                          </a:solidFill>
                          <a:effectLst/>
                          <a:latin typeface="Noto Sans" panose="020B0502040504020204" pitchFamily="34" charset="0"/>
                        </a:rPr>
                        <a:t>WKN</a:t>
                      </a:r>
                    </a:p>
                  </a:txBody>
                  <a:tcPr marL="0" marR="0" marT="0" marB="0" anchor="ctr">
                    <a:lnL>
                      <a:noFill/>
                    </a:lnL>
                    <a:lnR>
                      <a:noFill/>
                    </a:lnR>
                    <a:lnT>
                      <a:noFill/>
                    </a:lnT>
                    <a:lnB>
                      <a:noFill/>
                    </a:lnB>
                    <a:solidFill>
                      <a:srgbClr val="14355C"/>
                    </a:solidFill>
                  </a:tcPr>
                </a:tc>
                <a:tc>
                  <a:txBody>
                    <a:bodyPr/>
                    <a:lstStyle/>
                    <a:p>
                      <a:pPr algn="l" fontAlgn="ct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r>
                        <a:rPr lang="de-DE" sz="700" b="0" i="0" u="none" strike="noStrike">
                          <a:solidFill>
                            <a:srgbClr val="FFFFFF"/>
                          </a:solidFill>
                          <a:effectLst/>
                          <a:latin typeface="Noto Sans" panose="020B0502040504020204" pitchFamily="34" charset="0"/>
                        </a:rPr>
                        <a:t>Anteil %</a:t>
                      </a:r>
                    </a:p>
                  </a:txBody>
                  <a:tcPr marL="0" marR="0" marT="0" marB="0" anchor="ctr">
                    <a:lnL>
                      <a:noFill/>
                    </a:lnL>
                    <a:lnR>
                      <a:noFill/>
                    </a:lnR>
                    <a:lnT>
                      <a:noFill/>
                    </a:lnT>
                    <a:lnB>
                      <a:noFill/>
                    </a:lnB>
                    <a:solidFill>
                      <a:srgbClr val="14355C"/>
                    </a:solidFill>
                  </a:tcPr>
                </a:tc>
                <a:tc>
                  <a:txBody>
                    <a:bodyPr/>
                    <a:lstStyle/>
                    <a:p>
                      <a:pPr algn="l" fontAlgn="ct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r>
                        <a:rPr lang="de-DE" sz="700" b="0" i="0" u="none" strike="noStrike">
                          <a:solidFill>
                            <a:srgbClr val="FFFFFF"/>
                          </a:solidFill>
                          <a:effectLst/>
                          <a:latin typeface="Noto Sans" panose="020B0502040504020204" pitchFamily="34" charset="0"/>
                        </a:rPr>
                        <a:t>Rating</a:t>
                      </a:r>
                    </a:p>
                  </a:txBody>
                  <a:tcPr marL="0" marR="0" marT="0" marB="0" anchor="ctr">
                    <a:lnL>
                      <a:noFill/>
                    </a:lnL>
                    <a:lnR>
                      <a:noFill/>
                    </a:lnR>
                    <a:lnT>
                      <a:noFill/>
                    </a:lnT>
                    <a:lnB>
                      <a:noFill/>
                    </a:lnB>
                    <a:solidFill>
                      <a:srgbClr val="14355C"/>
                    </a:solidFill>
                  </a:tcPr>
                </a:tc>
                <a:extLst>
                  <a:ext uri="{0D108BD9-81ED-4DB2-BD59-A6C34878D82A}">
                    <a16:rowId xmlns:a16="http://schemas.microsoft.com/office/drawing/2014/main" val="4118748789"/>
                  </a:ext>
                </a:extLst>
              </a:tr>
              <a:tr h="350579">
                <a:tc>
                  <a:txBody>
                    <a:bodyPr/>
                    <a:lstStyle/>
                    <a:p>
                      <a:pPr algn="l" fontAlgn="ctr"/>
                      <a:r>
                        <a:rPr lang="de-DE" sz="700" b="1" i="0" u="none" strike="noStrike">
                          <a:solidFill>
                            <a:srgbClr val="000000"/>
                          </a:solidFill>
                          <a:effectLst/>
                          <a:latin typeface="Noto Sans" panose="020B0502040504020204" pitchFamily="34" charset="0"/>
                        </a:rPr>
                        <a:t>RENTEN</a:t>
                      </a:r>
                    </a:p>
                  </a:txBody>
                  <a:tcPr marL="68673"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1" i="0" u="none" strike="noStrike">
                          <a:solidFill>
                            <a:srgbClr val="000000"/>
                          </a:solidFill>
                          <a:effectLst/>
                          <a:latin typeface="Noto Sans" panose="020B0502040504020204" pitchFamily="34" charset="0"/>
                        </a:rPr>
                        <a:t>KUPON</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1" i="0" u="none" strike="noStrike">
                          <a:solidFill>
                            <a:srgbClr val="000000"/>
                          </a:solidFill>
                          <a:effectLst/>
                          <a:latin typeface="Noto Sans" panose="020B0502040504020204" pitchFamily="34" charset="0"/>
                        </a:rPr>
                        <a:t>FÄLLIGKEIT</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ct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669390718"/>
                  </a:ext>
                </a:extLst>
              </a:tr>
              <a:tr h="350579">
                <a:tc>
                  <a:txBody>
                    <a:bodyPr/>
                    <a:lstStyle/>
                    <a:p>
                      <a:pPr algn="l" fontAlgn="ctr"/>
                      <a:r>
                        <a:rPr lang="de-DE" sz="700" b="0" i="0" u="none" strike="noStrike">
                          <a:solidFill>
                            <a:srgbClr val="000000"/>
                          </a:solidFill>
                          <a:effectLst/>
                          <a:latin typeface="Noto Sans" panose="020B0502040504020204" pitchFamily="34" charset="0"/>
                        </a:rPr>
                        <a:t>Goldman Sachs IHS</a:t>
                      </a:r>
                    </a:p>
                  </a:txBody>
                  <a:tcPr marL="68673"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2,000%</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01.11.2028</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A19340</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2,00%</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BBB+</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626453592"/>
                  </a:ext>
                </a:extLst>
              </a:tr>
              <a:tr h="350579">
                <a:tc>
                  <a:txBody>
                    <a:bodyPr/>
                    <a:lstStyle/>
                    <a:p>
                      <a:pPr algn="l" fontAlgn="ctr"/>
                      <a:r>
                        <a:rPr lang="de-DE" sz="700" b="0" i="0" u="none" strike="noStrike">
                          <a:solidFill>
                            <a:srgbClr val="000000"/>
                          </a:solidFill>
                          <a:effectLst/>
                          <a:latin typeface="Noto Sans" panose="020B0502040504020204" pitchFamily="34" charset="0"/>
                        </a:rPr>
                        <a:t>Hochtief IHS</a:t>
                      </a:r>
                    </a:p>
                  </a:txBody>
                  <a:tcPr marL="6867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0,630%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26.04.2029</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A3E5S0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2,00%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BBB-</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613439627"/>
                  </a:ext>
                </a:extLst>
              </a:tr>
              <a:tr h="350579">
                <a:tc>
                  <a:txBody>
                    <a:bodyPr/>
                    <a:lstStyle/>
                    <a:p>
                      <a:pPr algn="l" fontAlgn="ctr"/>
                      <a:r>
                        <a:rPr lang="de-DE" sz="700" b="0" i="0" u="none" strike="noStrike">
                          <a:solidFill>
                            <a:srgbClr val="000000"/>
                          </a:solidFill>
                          <a:effectLst/>
                          <a:latin typeface="Noto Sans" panose="020B0502040504020204" pitchFamily="34" charset="0"/>
                        </a:rPr>
                        <a:t>Grenke Finance IHS</a:t>
                      </a:r>
                    </a:p>
                  </a:txBody>
                  <a:tcPr marL="6867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5,750%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06.07.2029</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A3LY39</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2,50%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BBB</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53173850"/>
                  </a:ext>
                </a:extLst>
              </a:tr>
              <a:tr h="350579">
                <a:tc>
                  <a:txBody>
                    <a:bodyPr/>
                    <a:lstStyle/>
                    <a:p>
                      <a:pPr algn="l" fontAlgn="ctr"/>
                      <a:r>
                        <a:rPr lang="de-DE" sz="700" b="0" i="0" u="none" strike="noStrike">
                          <a:solidFill>
                            <a:srgbClr val="000000"/>
                          </a:solidFill>
                          <a:effectLst/>
                          <a:latin typeface="Noto Sans" panose="020B0502040504020204" pitchFamily="34" charset="0"/>
                        </a:rPr>
                        <a:t>VW IHS</a:t>
                      </a:r>
                    </a:p>
                  </a:txBody>
                  <a:tcPr marL="6867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1,630%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16.01.2030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A1ZUTM</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2,00%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BBB+</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57601068"/>
                  </a:ext>
                </a:extLst>
              </a:tr>
              <a:tr h="350579">
                <a:tc>
                  <a:txBody>
                    <a:bodyPr/>
                    <a:lstStyle/>
                    <a:p>
                      <a:pPr algn="l" fontAlgn="ctr"/>
                      <a:r>
                        <a:rPr lang="de-DE" sz="700" b="0" i="0" u="none" strike="noStrike">
                          <a:solidFill>
                            <a:srgbClr val="000000"/>
                          </a:solidFill>
                          <a:effectLst/>
                          <a:latin typeface="Noto Sans" panose="020B0502040504020204" pitchFamily="34" charset="0"/>
                        </a:rPr>
                        <a:t>Porsche IHS</a:t>
                      </a:r>
                    </a:p>
                  </a:txBody>
                  <a:tcPr marL="6867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4,250%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27.09.2030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A351SX</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2,00%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077396839"/>
                  </a:ext>
                </a:extLst>
              </a:tr>
              <a:tr h="350579">
                <a:tc>
                  <a:txBody>
                    <a:bodyPr/>
                    <a:lstStyle/>
                    <a:p>
                      <a:pPr algn="l" fontAlgn="ctr"/>
                      <a:r>
                        <a:rPr lang="de-DE" sz="700" b="0" i="0" u="none" strike="noStrike">
                          <a:solidFill>
                            <a:srgbClr val="000000"/>
                          </a:solidFill>
                          <a:effectLst/>
                          <a:latin typeface="Noto Sans" panose="020B0502040504020204" pitchFamily="34" charset="0"/>
                        </a:rPr>
                        <a:t>Deutsche Post IHS</a:t>
                      </a:r>
                    </a:p>
                  </a:txBody>
                  <a:tcPr marL="6867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3,000%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25.11.2031</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A460PH</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2,00%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A-</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030185955"/>
                  </a:ext>
                </a:extLst>
              </a:tr>
              <a:tr h="350579">
                <a:tc>
                  <a:txBody>
                    <a:bodyPr/>
                    <a:lstStyle/>
                    <a:p>
                      <a:pPr algn="l" fontAlgn="ctr"/>
                      <a:r>
                        <a:rPr lang="nl-NL" sz="700" b="0" i="0" u="none" strike="noStrike">
                          <a:solidFill>
                            <a:srgbClr val="000000"/>
                          </a:solidFill>
                          <a:effectLst/>
                          <a:latin typeface="Noto Sans" panose="020B0502040504020204" pitchFamily="34" charset="0"/>
                        </a:rPr>
                        <a:t>KfW staatsg. Green Bond IHS</a:t>
                      </a:r>
                    </a:p>
                  </a:txBody>
                  <a:tcPr marL="6867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2,880%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31.03.2032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A38J3W</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2,50%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AAA</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597960300"/>
                  </a:ext>
                </a:extLst>
              </a:tr>
              <a:tr h="350579">
                <a:tc>
                  <a:txBody>
                    <a:bodyPr/>
                    <a:lstStyle/>
                    <a:p>
                      <a:pPr algn="l" fontAlgn="ctr"/>
                      <a:r>
                        <a:rPr lang="de-DE" sz="700" b="0" i="0" u="none" strike="noStrike">
                          <a:solidFill>
                            <a:srgbClr val="000000"/>
                          </a:solidFill>
                          <a:effectLst/>
                          <a:latin typeface="Noto Sans" panose="020B0502040504020204" pitchFamily="34" charset="0"/>
                        </a:rPr>
                        <a:t>Bayer IHS</a:t>
                      </a:r>
                    </a:p>
                  </a:txBody>
                  <a:tcPr marL="6867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4,630%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26.05.2033</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A351U1</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2,00%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BBB</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695989047"/>
                  </a:ext>
                </a:extLst>
              </a:tr>
              <a:tr h="350579">
                <a:tc>
                  <a:txBody>
                    <a:bodyPr/>
                    <a:lstStyle/>
                    <a:p>
                      <a:pPr algn="l" fontAlgn="ctr"/>
                      <a:r>
                        <a:rPr lang="de-DE" sz="700" b="1" i="0" u="none" strike="noStrike">
                          <a:solidFill>
                            <a:srgbClr val="000000"/>
                          </a:solidFill>
                          <a:effectLst/>
                          <a:latin typeface="Noto Sans" panose="020B0502040504020204" pitchFamily="34" charset="0"/>
                        </a:rPr>
                        <a:t>EDELMETALLE</a:t>
                      </a:r>
                    </a:p>
                  </a:txBody>
                  <a:tcPr marL="68673"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824325203"/>
                  </a:ext>
                </a:extLst>
              </a:tr>
              <a:tr h="350579">
                <a:tc>
                  <a:txBody>
                    <a:bodyPr/>
                    <a:lstStyle/>
                    <a:p>
                      <a:pPr algn="l" fontAlgn="ctr"/>
                      <a:r>
                        <a:rPr lang="de-DE" sz="700" b="0" i="0" u="none" strike="noStrike">
                          <a:solidFill>
                            <a:srgbClr val="000000"/>
                          </a:solidFill>
                          <a:effectLst/>
                          <a:latin typeface="Noto Sans" panose="020B0502040504020204" pitchFamily="34" charset="0"/>
                        </a:rPr>
                        <a:t>XETRA Gold</a:t>
                      </a:r>
                    </a:p>
                  </a:txBody>
                  <a:tcPr marL="68673"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A0S9GB</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5,00%</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0" i="0" u="none" strike="noStrike">
                          <a:solidFill>
                            <a:srgbClr val="000000"/>
                          </a:solidFill>
                          <a:effectLst/>
                          <a:latin typeface="Noto Sans" panose="020B0502040504020204" pitchFamily="34" charset="0"/>
                        </a:rPr>
                        <a:t>-</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196111804"/>
                  </a:ext>
                </a:extLst>
              </a:tr>
              <a:tr h="350579">
                <a:tc>
                  <a:txBody>
                    <a:bodyPr/>
                    <a:lstStyle/>
                    <a:p>
                      <a:pPr algn="l" fontAlgn="ctr"/>
                      <a:r>
                        <a:rPr lang="de-DE" sz="700" b="1" i="0" u="none" strike="noStrike">
                          <a:solidFill>
                            <a:srgbClr val="000000"/>
                          </a:solidFill>
                          <a:effectLst/>
                          <a:latin typeface="Noto Sans" panose="020B0502040504020204" pitchFamily="34" charset="0"/>
                        </a:rPr>
                        <a:t>LIQUIDITÄT</a:t>
                      </a:r>
                    </a:p>
                  </a:txBody>
                  <a:tcPr marL="68673"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1" i="0" u="none" strike="noStrike">
                          <a:solidFill>
                            <a:srgbClr val="000000"/>
                          </a:solidFill>
                          <a:effectLst/>
                          <a:latin typeface="Noto Sans" panose="020B0502040504020204" pitchFamily="34" charset="0"/>
                        </a:rPr>
                        <a:t>3,00%</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043265558"/>
                  </a:ext>
                </a:extLst>
              </a:tr>
              <a:tr h="350579">
                <a:tc>
                  <a:txBody>
                    <a:bodyPr/>
                    <a:lstStyle/>
                    <a:p>
                      <a:pPr algn="l" fontAlgn="ctr"/>
                      <a:r>
                        <a:rPr lang="de-DE" sz="700" b="1" i="0" u="none" strike="noStrike">
                          <a:solidFill>
                            <a:srgbClr val="000000"/>
                          </a:solidFill>
                          <a:effectLst/>
                          <a:latin typeface="Noto Sans" panose="020B0502040504020204" pitchFamily="34" charset="0"/>
                        </a:rPr>
                        <a:t> </a:t>
                      </a:r>
                    </a:p>
                  </a:txBody>
                  <a:tcPr marL="68673"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ctr" fontAlgn="ct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1" i="0" u="none" strike="noStrike">
                          <a:solidFill>
                            <a:srgbClr val="000000"/>
                          </a:solidFill>
                          <a:effectLst/>
                          <a:latin typeface="Noto Sans" panose="020B0502040504020204" pitchFamily="34" charset="0"/>
                        </a:rPr>
                        <a:t>100,00%</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r>
                        <a:rPr lang="de-DE" sz="700" b="1" i="0" u="none" strike="noStrike" dirty="0">
                          <a:solidFill>
                            <a:srgbClr val="000000"/>
                          </a:solidFill>
                          <a:effectLst/>
                          <a:latin typeface="Noto Sans" panose="020B0502040504020204" pitchFamily="34" charset="0"/>
                        </a:rPr>
                        <a:t>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extLst>
                  <a:ext uri="{0D108BD9-81ED-4DB2-BD59-A6C34878D82A}">
                    <a16:rowId xmlns:a16="http://schemas.microsoft.com/office/drawing/2014/main" val="2448046913"/>
                  </a:ext>
                </a:extLst>
              </a:tr>
            </a:tbl>
          </a:graphicData>
        </a:graphic>
      </p:graphicFrame>
      <p:sp>
        <p:nvSpPr>
          <p:cNvPr id="3" name="Titel 2">
            <a:extLst>
              <a:ext uri="{FF2B5EF4-FFF2-40B4-BE49-F238E27FC236}">
                <a16:creationId xmlns:a16="http://schemas.microsoft.com/office/drawing/2014/main" id="{93AB9F5D-48C2-E8E3-CB47-6997CA81853A}"/>
              </a:ext>
            </a:extLst>
          </p:cNvPr>
          <p:cNvSpPr>
            <a:spLocks noGrp="1"/>
          </p:cNvSpPr>
          <p:nvPr>
            <p:ph type="title"/>
          </p:nvPr>
        </p:nvSpPr>
        <p:spPr/>
        <p:txBody>
          <a:bodyPr/>
          <a:lstStyle/>
          <a:p>
            <a:r>
              <a:rPr lang="de-DE" dirty="0"/>
              <a:t>Anlagevorschlag</a:t>
            </a:r>
          </a:p>
        </p:txBody>
      </p:sp>
    </p:spTree>
    <p:extLst>
      <p:ext uri="{BB962C8B-B14F-4D97-AF65-F5344CB8AC3E}">
        <p14:creationId xmlns:p14="http://schemas.microsoft.com/office/powerpoint/2010/main" val="40858863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liennummer">
            <a:extLst>
              <a:ext uri="{FF2B5EF4-FFF2-40B4-BE49-F238E27FC236}">
                <a16:creationId xmlns:a16="http://schemas.microsoft.com/office/drawing/2014/main" id="{4007EA5A-96E6-B43F-0DF7-768482385798}"/>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pPr/>
              <a:t>15</a:t>
            </a:fld>
            <a:endParaRPr lang="de-DE"/>
          </a:p>
        </p:txBody>
      </p:sp>
      <p:graphicFrame>
        <p:nvGraphicFramePr>
          <p:cNvPr id="5" name="C_Kennzahlen2">
            <a:extLst>
              <a:ext uri="{FF2B5EF4-FFF2-40B4-BE49-F238E27FC236}">
                <a16:creationId xmlns:a16="http://schemas.microsoft.com/office/drawing/2014/main" id="{00000000-0008-0000-2E00-000004000000}"/>
              </a:ext>
            </a:extLst>
          </p:cNvPr>
          <p:cNvGraphicFramePr>
            <a:graphicFrameLocks noGrp="1" noDrilldown="1" noMove="1" noResize="1"/>
          </p:cNvGraphicFramePr>
          <p:nvPr/>
        </p:nvGraphicFramePr>
        <p:xfrm>
          <a:off x="5334000" y="1040400"/>
          <a:ext cx="4788000" cy="4158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_Kennzahlen1">
            <a:extLst>
              <a:ext uri="{FF2B5EF4-FFF2-40B4-BE49-F238E27FC236}">
                <a16:creationId xmlns:a16="http://schemas.microsoft.com/office/drawing/2014/main" id="{00000000-0008-0000-2E00-000005000000}"/>
              </a:ext>
            </a:extLst>
          </p:cNvPr>
          <p:cNvGraphicFramePr>
            <a:graphicFrameLocks noGrp="1" noDrilldown="1" noMove="1" noResize="1"/>
          </p:cNvGraphicFramePr>
          <p:nvPr/>
        </p:nvGraphicFramePr>
        <p:xfrm>
          <a:off x="355599" y="1040400"/>
          <a:ext cx="4788000" cy="4158000"/>
        </p:xfrm>
        <a:graphic>
          <a:graphicData uri="http://schemas.openxmlformats.org/drawingml/2006/chart">
            <c:chart xmlns:c="http://schemas.openxmlformats.org/drawingml/2006/chart" xmlns:r="http://schemas.openxmlformats.org/officeDocument/2006/relationships" r:id="rId3"/>
          </a:graphicData>
        </a:graphic>
      </p:graphicFrame>
      <p:sp>
        <p:nvSpPr>
          <p:cNvPr id="2" name="Titel">
            <a:extLst>
              <a:ext uri="{FF2B5EF4-FFF2-40B4-BE49-F238E27FC236}">
                <a16:creationId xmlns:a16="http://schemas.microsoft.com/office/drawing/2014/main" id="{FF6052D7-94BC-EEE9-673D-47403DA2FA11}"/>
              </a:ext>
            </a:extLst>
          </p:cNvPr>
          <p:cNvSpPr>
            <a:spLocks noGrp="1" noRot="1" noMove="1" noResize="1" noEditPoints="1" noAdjustHandles="1" noChangeArrowheads="1" noChangeShapeType="1"/>
          </p:cNvSpPr>
          <p:nvPr>
            <p:ph type="title"/>
          </p:nvPr>
        </p:nvSpPr>
        <p:spPr/>
        <p:txBody>
          <a:bodyPr/>
          <a:lstStyle/>
          <a:p>
            <a:r>
              <a:rPr lang="de-DE" dirty="0"/>
              <a:t>Aktuelle Portfoliozusammenstellung</a:t>
            </a:r>
          </a:p>
        </p:txBody>
      </p:sp>
    </p:spTree>
    <p:extLst>
      <p:ext uri="{BB962C8B-B14F-4D97-AF65-F5344CB8AC3E}">
        <p14:creationId xmlns:p14="http://schemas.microsoft.com/office/powerpoint/2010/main" val="13322588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34854F75-D5A4-EA14-63DF-598B30386FEB}"/>
              </a:ext>
            </a:extLst>
          </p:cNvPr>
          <p:cNvSpPr>
            <a:spLocks noGrp="1"/>
          </p:cNvSpPr>
          <p:nvPr>
            <p:ph type="sldNum" sz="quarter" idx="12"/>
          </p:nvPr>
        </p:nvSpPr>
        <p:spPr/>
        <p:txBody>
          <a:bodyPr/>
          <a:lstStyle/>
          <a:p>
            <a:fld id="{3AE71D6B-ACB6-4F4C-A895-DCAEF1760EAA}" type="slidenum">
              <a:rPr lang="de-DE" smtClean="0"/>
              <a:t>16</a:t>
            </a:fld>
            <a:endParaRPr lang="de-DE"/>
          </a:p>
        </p:txBody>
      </p:sp>
      <p:graphicFrame>
        <p:nvGraphicFramePr>
          <p:cNvPr id="4" name="C_Kennzahlen1">
            <a:extLst>
              <a:ext uri="{FF2B5EF4-FFF2-40B4-BE49-F238E27FC236}">
                <a16:creationId xmlns:a16="http://schemas.microsoft.com/office/drawing/2014/main" id="{06CC37AF-1957-4EDD-A195-2A5011DE1C17}"/>
              </a:ext>
            </a:extLst>
          </p:cNvPr>
          <p:cNvGraphicFramePr>
            <a:graphicFrameLocks noGrp="1" noDrilldown="1" noMove="1" noResize="1"/>
          </p:cNvGraphicFramePr>
          <p:nvPr/>
        </p:nvGraphicFramePr>
        <p:xfrm>
          <a:off x="355599" y="1040400"/>
          <a:ext cx="4788000" cy="4158000"/>
        </p:xfrm>
        <a:graphic>
          <a:graphicData uri="http://schemas.openxmlformats.org/drawingml/2006/chart">
            <c:chart xmlns:c="http://schemas.openxmlformats.org/drawingml/2006/chart" xmlns:r="http://schemas.openxmlformats.org/officeDocument/2006/relationships" r:id="rId2"/>
          </a:graphicData>
        </a:graphic>
      </p:graphicFrame>
      <p:sp>
        <p:nvSpPr>
          <p:cNvPr id="3" name="Titel 2">
            <a:extLst>
              <a:ext uri="{FF2B5EF4-FFF2-40B4-BE49-F238E27FC236}">
                <a16:creationId xmlns:a16="http://schemas.microsoft.com/office/drawing/2014/main" id="{1239D923-0285-AE25-A9C4-A7978C4FE940}"/>
              </a:ext>
            </a:extLst>
          </p:cNvPr>
          <p:cNvSpPr>
            <a:spLocks noGrp="1"/>
          </p:cNvSpPr>
          <p:nvPr>
            <p:ph type="title"/>
          </p:nvPr>
        </p:nvSpPr>
        <p:spPr/>
        <p:txBody>
          <a:bodyPr/>
          <a:lstStyle/>
          <a:p>
            <a:r>
              <a:rPr lang="de-DE" dirty="0"/>
              <a:t>Aktuelle Portfoliozusammenstellung</a:t>
            </a:r>
          </a:p>
        </p:txBody>
      </p:sp>
    </p:spTree>
    <p:extLst>
      <p:ext uri="{BB962C8B-B14F-4D97-AF65-F5344CB8AC3E}">
        <p14:creationId xmlns:p14="http://schemas.microsoft.com/office/powerpoint/2010/main" val="1703571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4C2BF4D1-4B2C-9B2E-31AE-AD42CE7AF9D2}"/>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pPr/>
              <a:t>17</a:t>
            </a:fld>
            <a:endParaRPr lang="de-DE"/>
          </a:p>
        </p:txBody>
      </p:sp>
      <p:sp>
        <p:nvSpPr>
          <p:cNvPr id="3" name="Text">
            <a:extLst>
              <a:ext uri="{FF2B5EF4-FFF2-40B4-BE49-F238E27FC236}">
                <a16:creationId xmlns:a16="http://schemas.microsoft.com/office/drawing/2014/main" id="{FC14C7F1-73B2-E2F2-67EB-A1D8EE45D2C2}"/>
              </a:ext>
            </a:extLst>
          </p:cNvPr>
          <p:cNvSpPr>
            <a:spLocks noGrp="1" noRot="1" noMove="1" noResize="1" noEditPoints="1" noAdjustHandles="1" noChangeArrowheads="1" noChangeShapeType="1"/>
          </p:cNvSpPr>
          <p:nvPr>
            <p:ph idx="1"/>
          </p:nvPr>
        </p:nvSpPr>
        <p:spPr/>
        <p:txBody>
          <a:bodyPr/>
          <a:lstStyle/>
          <a:p>
            <a:r>
              <a:rPr lang="de-DE" dirty="0"/>
              <a:t>»all-in-fee«-Honorar</a:t>
            </a:r>
          </a:p>
          <a:p>
            <a:pPr lvl="2"/>
            <a:r>
              <a:rPr lang="de-DE" dirty="0"/>
              <a:t>Die Honorargestaltung unserer Vermögensverwaltung ist fair, transparent und nachvollziehbar. Wir berechnen gegen-über unseren Kunden in unserer Vermögensverwaltung ein »all-in-fee«-Honorar, das sämtliche Gebühren unseres Hauses für Depotführung, Transaktionen und Verwaltung umfasst.</a:t>
            </a:r>
          </a:p>
          <a:p>
            <a:r>
              <a:rPr lang="de-DE" dirty="0"/>
              <a:t>Halbjährliche Abrechnung</a:t>
            </a:r>
          </a:p>
          <a:p>
            <a:pPr lvl="2"/>
            <a:r>
              <a:rPr lang="de-DE" dirty="0"/>
              <a:t>Die Abrechnung erfolgt halbjährlich. Als Berechnungs-grundlage dient das durchschnittlich verfügbare Kapital (Konto und Depot). Alternativ bieten wir Ihnen ein  »all-in-fee«-Modell mit erfolgsabhängiger Komponente an.</a:t>
            </a:r>
          </a:p>
          <a:p>
            <a:r>
              <a:rPr lang="de-DE" dirty="0"/>
              <a:t>Ausschluss</a:t>
            </a:r>
          </a:p>
          <a:p>
            <a:pPr lvl="2"/>
            <a:r>
              <a:rPr lang="de-DE" dirty="0"/>
              <a:t> Nicht enthalten sind evtl. anfallende Courtagen, Trans-aktionssteuern (z. B. Frankreich) und fremde Spesen an in- und ausländischen Börsenplätzen. Investmentfonds werden ohne Ausgabeaufschläge zum Netto-Ausgabepreis bei beiden Modellen abgerechnet.</a:t>
            </a:r>
          </a:p>
        </p:txBody>
      </p:sp>
      <p:sp>
        <p:nvSpPr>
          <p:cNvPr id="4" name="Titel">
            <a:extLst>
              <a:ext uri="{FF2B5EF4-FFF2-40B4-BE49-F238E27FC236}">
                <a16:creationId xmlns:a16="http://schemas.microsoft.com/office/drawing/2014/main" id="{127C1E86-2975-F5B5-8FF1-D9AF10EB60B2}"/>
              </a:ext>
            </a:extLst>
          </p:cNvPr>
          <p:cNvSpPr>
            <a:spLocks noGrp="1" noRot="1" noMove="1" noResize="1" noEditPoints="1" noAdjustHandles="1" noChangeArrowheads="1" noChangeShapeType="1"/>
          </p:cNvSpPr>
          <p:nvPr>
            <p:ph type="title"/>
          </p:nvPr>
        </p:nvSpPr>
        <p:spPr/>
        <p:txBody>
          <a:bodyPr/>
          <a:lstStyle/>
          <a:p>
            <a:r>
              <a:rPr lang="de-DE" dirty="0"/>
              <a:t>Unser Honorar</a:t>
            </a:r>
          </a:p>
        </p:txBody>
      </p:sp>
    </p:spTree>
    <p:extLst>
      <p:ext uri="{BB962C8B-B14F-4D97-AF65-F5344CB8AC3E}">
        <p14:creationId xmlns:p14="http://schemas.microsoft.com/office/powerpoint/2010/main" val="5759163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81D1C97D-0B85-13EC-24EC-F99812756CFC}"/>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18</a:t>
            </a:fld>
            <a:endParaRPr lang="de-DE"/>
          </a:p>
        </p:txBody>
      </p:sp>
      <p:sp>
        <p:nvSpPr>
          <p:cNvPr id="6" name="Titel">
            <a:extLst>
              <a:ext uri="{FF2B5EF4-FFF2-40B4-BE49-F238E27FC236}">
                <a16:creationId xmlns:a16="http://schemas.microsoft.com/office/drawing/2014/main" id="{8A593740-F4A8-2A26-ED51-81863F08E087}"/>
              </a:ext>
            </a:extLst>
          </p:cNvPr>
          <p:cNvSpPr>
            <a:spLocks noGrp="1" noRot="1" noMove="1" noResize="1" noEditPoints="1" noAdjustHandles="1" noChangeArrowheads="1" noChangeShapeType="1"/>
          </p:cNvSpPr>
          <p:nvPr>
            <p:ph type="title"/>
          </p:nvPr>
        </p:nvSpPr>
        <p:spPr>
          <a:xfrm>
            <a:off x="358775" y="322580"/>
            <a:ext cx="9756774" cy="360000"/>
          </a:xfrm>
        </p:spPr>
        <p:txBody>
          <a:bodyPr/>
          <a:lstStyle/>
          <a:p>
            <a:r>
              <a:rPr lang="de-DE" dirty="0"/>
              <a:t>Steuerlicher Hinweis zum Honorar</a:t>
            </a:r>
          </a:p>
        </p:txBody>
      </p:sp>
      <p:sp>
        <p:nvSpPr>
          <p:cNvPr id="8" name="Text 1">
            <a:extLst>
              <a:ext uri="{FF2B5EF4-FFF2-40B4-BE49-F238E27FC236}">
                <a16:creationId xmlns:a16="http://schemas.microsoft.com/office/drawing/2014/main" id="{3202C050-C091-696A-2180-76024B7BC3C0}"/>
              </a:ext>
            </a:extLst>
          </p:cNvPr>
          <p:cNvSpPr txBox="1">
            <a:spLocks/>
          </p:cNvSpPr>
          <p:nvPr/>
        </p:nvSpPr>
        <p:spPr>
          <a:xfrm>
            <a:off x="5387983" y="1167747"/>
            <a:ext cx="4295957" cy="4791074"/>
          </a:xfrm>
          <a:prstGeom prst="rect">
            <a:avLst/>
          </a:prstGeom>
        </p:spPr>
        <p:txBody>
          <a:bodyPr vert="horz" lIns="0" tIns="0" rIns="0" bIns="0" rtlCol="0">
            <a:noAutofit/>
          </a:bodyPr>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9pPr>
          </a:lstStyle>
          <a:p>
            <a:pPr lvl="2"/>
            <a:r>
              <a:rPr lang="de-DE" dirty="0"/>
              <a:t>Im Rahmen der Belastung der Vermögensverwaltungsgebühr werden wir den steuerlich abzugsfähigen Transaktionskostenanteil in den allgemeinen Verlustverrechnungstopf für Ihre Konten und Depots einstellen, damit erfolgt automatisch die Verrechnung mit Ihren abgeltungssteuerpflichtigen Erträgen und damit eine Steuerminderung. Die Bank übernimmt keine Gewähr dafür, dass der Transaktionskostenanteil der &gt;&gt;all-in-fee&lt;&lt;  sowohl dem Grunde als auch der Höhe nach als Steuer mindernd anerkannt wird. </a:t>
            </a:r>
          </a:p>
          <a:p>
            <a:pPr lvl="2"/>
            <a:endParaRPr lang="de-DE" dirty="0"/>
          </a:p>
        </p:txBody>
      </p:sp>
      <p:sp>
        <p:nvSpPr>
          <p:cNvPr id="14" name="Text 1">
            <a:extLst>
              <a:ext uri="{FF2B5EF4-FFF2-40B4-BE49-F238E27FC236}">
                <a16:creationId xmlns:a16="http://schemas.microsoft.com/office/drawing/2014/main" id="{C794E5D2-FEC0-5D64-F611-5B08C6B01664}"/>
              </a:ext>
            </a:extLst>
          </p:cNvPr>
          <p:cNvSpPr txBox="1">
            <a:spLocks/>
          </p:cNvSpPr>
          <p:nvPr/>
        </p:nvSpPr>
        <p:spPr>
          <a:xfrm>
            <a:off x="620040" y="1167747"/>
            <a:ext cx="4295957" cy="4791074"/>
          </a:xfrm>
          <a:prstGeom prst="rect">
            <a:avLst/>
          </a:prstGeom>
        </p:spPr>
        <p:txBody>
          <a:bodyPr vert="horz" lIns="0" tIns="0" rIns="0" bIns="0" rtlCol="0">
            <a:noAutofit/>
          </a:bodyPr>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9pPr>
          </a:lstStyle>
          <a:p>
            <a:pPr lvl="2"/>
            <a:r>
              <a:rPr lang="de-DE" dirty="0"/>
              <a:t>Mit der Einführung der Abgeltungssteuer zum 1.Januar 2009 sind Werbungskosten bei der Ermittlung von Einkünften aus Kapitalvermögen grundsätzlich nicht mehr abzugsfähig. Hingegen wirken sich Anschaffungsnebenkosten und Veräußerungskosten steuermindernd aus.</a:t>
            </a:r>
            <a:br>
              <a:rPr lang="de-DE" dirty="0"/>
            </a:br>
            <a:endParaRPr lang="de-DE" dirty="0"/>
          </a:p>
          <a:p>
            <a:pPr lvl="2"/>
            <a:r>
              <a:rPr lang="de-DE" dirty="0"/>
              <a:t>Im Rahmen der Vermögensverwaltung &gt;&gt;all-in-fee&lt;&lt; werden sämtliche Management- und eigene Transaktionsleistungen der Bank, sowie alle Dienstleistungen abgegolten, die im Zusammenhang mit der Führung der verwalteten Konten und Depots erbracht werden. Es gilt ein Anteil der Transaktionskosten (Anschaffungsnebenkosten und Veräußerungskosten) an der &gt;&gt;all-in-fee&lt;&lt; in Höhe von 50% als vereinbart und wird im Vermögensverwaltungsvertrag festgeschrieben. </a:t>
            </a:r>
          </a:p>
          <a:p>
            <a:pPr lvl="2"/>
            <a:endParaRPr lang="de-DE" dirty="0"/>
          </a:p>
        </p:txBody>
      </p:sp>
    </p:spTree>
    <p:extLst>
      <p:ext uri="{BB962C8B-B14F-4D97-AF65-F5344CB8AC3E}">
        <p14:creationId xmlns:p14="http://schemas.microsoft.com/office/powerpoint/2010/main" val="23963615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E5AB73C8-63DD-B360-5A7F-E1758BA253F8}"/>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19</a:t>
            </a:fld>
            <a:endParaRPr lang="de-DE"/>
          </a:p>
        </p:txBody>
      </p:sp>
      <p:sp>
        <p:nvSpPr>
          <p:cNvPr id="3" name="Text">
            <a:extLst>
              <a:ext uri="{FF2B5EF4-FFF2-40B4-BE49-F238E27FC236}">
                <a16:creationId xmlns:a16="http://schemas.microsoft.com/office/drawing/2014/main" id="{24FD612B-4314-DFD5-B833-7F27A3B852EB}"/>
              </a:ext>
            </a:extLst>
          </p:cNvPr>
          <p:cNvSpPr>
            <a:spLocks noGrp="1" noRot="1" noMove="1" noResize="1" noEditPoints="1" noAdjustHandles="1" noChangeArrowheads="1" noChangeShapeType="1"/>
          </p:cNvSpPr>
          <p:nvPr>
            <p:ph idx="1"/>
          </p:nvPr>
        </p:nvSpPr>
        <p:spPr/>
        <p:txBody>
          <a:bodyPr/>
          <a:lstStyle/>
          <a:p>
            <a:r>
              <a:rPr lang="de-DE" dirty="0"/>
              <a:t>Langfristiger Vermögenserhalt</a:t>
            </a:r>
          </a:p>
          <a:p>
            <a:pPr lvl="2"/>
            <a:r>
              <a:rPr lang="de-DE" dirty="0"/>
              <a:t>Langfristiger Vermögenserhalt durch ein realistisches Rendite-Risiko-Verhältnis mit einem konservativen Investmentansatz und dem Verzicht auf Aktionismus.</a:t>
            </a:r>
          </a:p>
          <a:p>
            <a:r>
              <a:rPr lang="de-DE" dirty="0"/>
              <a:t>Regelmäßiger Kundendialog</a:t>
            </a:r>
          </a:p>
          <a:p>
            <a:pPr lvl="2"/>
            <a:r>
              <a:rPr lang="de-DE" dirty="0"/>
              <a:t>Transparenz durch weitgehende Fokussierung auf Einzel-titel, aussagekräftige Portfolioberichte und den regel-mäßigen partnerschaftlichen Dialog mit unseren Kunden.</a:t>
            </a:r>
          </a:p>
          <a:p>
            <a:r>
              <a:rPr lang="de-DE" dirty="0"/>
              <a:t>Unabhängiges Investment</a:t>
            </a:r>
          </a:p>
          <a:p>
            <a:pPr lvl="2"/>
            <a:r>
              <a:rPr lang="de-DE" dirty="0"/>
              <a:t>Unabhängigkeit durch den Verzicht auf den Einsatz eigener Produkte.</a:t>
            </a:r>
          </a:p>
          <a:p>
            <a:r>
              <a:rPr lang="de-DE" dirty="0"/>
              <a:t>Breite Risikostreuung</a:t>
            </a:r>
          </a:p>
          <a:p>
            <a:pPr lvl="2"/>
            <a:r>
              <a:rPr lang="de-DE" dirty="0"/>
              <a:t>Risikostreuung durch Diversifizierung von Anlageklassen, Branchen, Regionen und Währungen.</a:t>
            </a:r>
          </a:p>
          <a:p>
            <a:r>
              <a:rPr lang="de-DE" dirty="0"/>
              <a:t>Erfahrene Mitarbeiter und professionelle Tools</a:t>
            </a:r>
          </a:p>
          <a:p>
            <a:pPr lvl="2"/>
            <a:r>
              <a:rPr lang="de-DE" dirty="0"/>
              <a:t>Professionalität durch den Einsatz moderner fundamentaler und quantitativer Analyseinstrumente und erfahrener Mitarbeiter als Entscheidungsträger.</a:t>
            </a:r>
          </a:p>
        </p:txBody>
      </p:sp>
      <p:sp>
        <p:nvSpPr>
          <p:cNvPr id="4" name="Titel">
            <a:extLst>
              <a:ext uri="{FF2B5EF4-FFF2-40B4-BE49-F238E27FC236}">
                <a16:creationId xmlns:a16="http://schemas.microsoft.com/office/drawing/2014/main" id="{E12E245F-B51F-131E-6109-E14B015469E8}"/>
              </a:ext>
            </a:extLst>
          </p:cNvPr>
          <p:cNvSpPr>
            <a:spLocks noGrp="1" noRot="1" noMove="1" noResize="1" noEditPoints="1" noAdjustHandles="1" noChangeArrowheads="1" noChangeShapeType="1"/>
          </p:cNvSpPr>
          <p:nvPr>
            <p:ph type="title"/>
          </p:nvPr>
        </p:nvSpPr>
        <p:spPr/>
        <p:txBody>
          <a:bodyPr/>
          <a:lstStyle/>
          <a:p>
            <a:r>
              <a:rPr lang="de-DE" dirty="0"/>
              <a:t>Unsere Investmentphilosophie</a:t>
            </a:r>
          </a:p>
        </p:txBody>
      </p:sp>
    </p:spTree>
    <p:extLst>
      <p:ext uri="{BB962C8B-B14F-4D97-AF65-F5344CB8AC3E}">
        <p14:creationId xmlns:p14="http://schemas.microsoft.com/office/powerpoint/2010/main" val="34735164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4B23C-4952-B118-10C4-11038750BE1D}"/>
            </a:ext>
          </a:extLst>
        </p:cNvPr>
        <p:cNvGrpSpPr/>
        <p:nvPr/>
      </p:nvGrpSpPr>
      <p:grpSpPr>
        <a:xfrm>
          <a:off x="0" y="0"/>
          <a:ext cx="0" cy="0"/>
          <a:chOff x="0" y="0"/>
          <a:chExt cx="0" cy="0"/>
        </a:xfrm>
      </p:grpSpPr>
      <p:sp>
        <p:nvSpPr>
          <p:cNvPr id="2" name="Foliennummer">
            <a:extLst>
              <a:ext uri="{FF2B5EF4-FFF2-40B4-BE49-F238E27FC236}">
                <a16:creationId xmlns:a16="http://schemas.microsoft.com/office/drawing/2014/main" id="{4507B016-EA07-C819-C973-1AD0148C4D56}"/>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pPr/>
              <a:t>20</a:t>
            </a:fld>
            <a:endParaRPr lang="de-DE" dirty="0"/>
          </a:p>
        </p:txBody>
      </p:sp>
      <p:sp>
        <p:nvSpPr>
          <p:cNvPr id="3" name="Text">
            <a:extLst>
              <a:ext uri="{FF2B5EF4-FFF2-40B4-BE49-F238E27FC236}">
                <a16:creationId xmlns:a16="http://schemas.microsoft.com/office/drawing/2014/main" id="{C062E8D2-57BE-4760-1DDE-D04E35D3BC15}"/>
              </a:ext>
            </a:extLst>
          </p:cNvPr>
          <p:cNvSpPr>
            <a:spLocks noGrp="1" noRot="1" noMove="1" noResize="1" noEditPoints="1" noAdjustHandles="1" noChangeArrowheads="1" noChangeShapeType="1"/>
          </p:cNvSpPr>
          <p:nvPr>
            <p:ph idx="1"/>
          </p:nvPr>
        </p:nvSpPr>
        <p:spPr/>
        <p:txBody>
          <a:bodyPr/>
          <a:lstStyle/>
          <a:p>
            <a:r>
              <a:rPr lang="de-DE" dirty="0"/>
              <a:t>Die optimale Vermögensverwaltungsstrategie</a:t>
            </a:r>
          </a:p>
          <a:p>
            <a:pPr lvl="2"/>
            <a:r>
              <a:rPr lang="de-DE" dirty="0"/>
              <a:t>Gemeinsame Festlegung der für Sie optimalen Vermögens-</a:t>
            </a:r>
            <a:r>
              <a:rPr lang="de-DE" dirty="0" err="1"/>
              <a:t>verwaltungsstrategie</a:t>
            </a:r>
            <a:r>
              <a:rPr lang="de-DE" dirty="0"/>
              <a:t> auf Basis einer Analyse Ihrer aktuellen Vermögensstruktur, Ihren individuellen Rendite-Risiko-präferenzen, Ihrem angestrebten Anlagehorizont und Ihren Anlagezielen.</a:t>
            </a:r>
          </a:p>
          <a:p>
            <a:pPr lvl="2"/>
            <a:r>
              <a:rPr lang="de-DE" dirty="0"/>
              <a:t>Erstallokation Ihres gewünschten Anlagebetrages in die von Ihnen gewählte Anlagestrategie.</a:t>
            </a:r>
          </a:p>
          <a:p>
            <a:r>
              <a:rPr lang="de-DE" dirty="0"/>
              <a:t>Ganzheitliches Risikomanagement</a:t>
            </a:r>
          </a:p>
          <a:p>
            <a:pPr lvl="2"/>
            <a:r>
              <a:rPr lang="de-DE" dirty="0"/>
              <a:t>Laufende strategische und taktische Anpassung der Asset-Allokation Ihres Vermögensverwaltungsportfolios auf Basis makroökonomischer und betriebswirtschaftlicher Daten. Unsere Anlageentscheidungen treffen wir vor allem auf der Basis fundamentaler Einschätzungen unserer erfahrenen Mitarbeiter in den Vermögensverwaltungsgremien und flankieren diese durch quantitative Analyseinstrumente. Besonderen Wert legen wir hierbei auf unser ganzheitliches Risikomanagement.</a:t>
            </a:r>
          </a:p>
          <a:p>
            <a:pPr lvl="2"/>
            <a:r>
              <a:rPr lang="de-DE" dirty="0"/>
              <a:t>Kontinuierliche Informationen über die Wertentwicklung Ihres Portfolios auf Basis regelmäßiger Berichte – auf Wunsch auch digital – und persönlicher Gespräche.</a:t>
            </a:r>
          </a:p>
        </p:txBody>
      </p:sp>
      <p:sp>
        <p:nvSpPr>
          <p:cNvPr id="4" name="Titel">
            <a:extLst>
              <a:ext uri="{FF2B5EF4-FFF2-40B4-BE49-F238E27FC236}">
                <a16:creationId xmlns:a16="http://schemas.microsoft.com/office/drawing/2014/main" id="{5B40CA86-9E97-426C-F695-509278588661}"/>
              </a:ext>
            </a:extLst>
          </p:cNvPr>
          <p:cNvSpPr>
            <a:spLocks noGrp="1" noRot="1" noMove="1" noResize="1" noEditPoints="1" noAdjustHandles="1" noChangeArrowheads="1" noChangeShapeType="1"/>
          </p:cNvSpPr>
          <p:nvPr>
            <p:ph type="title"/>
          </p:nvPr>
        </p:nvSpPr>
        <p:spPr/>
        <p:txBody>
          <a:bodyPr/>
          <a:lstStyle/>
          <a:p>
            <a:r>
              <a:rPr lang="de-DE" dirty="0"/>
              <a:t>Unser Investmentprozess</a:t>
            </a:r>
          </a:p>
        </p:txBody>
      </p:sp>
    </p:spTree>
    <p:extLst>
      <p:ext uri="{BB962C8B-B14F-4D97-AF65-F5344CB8AC3E}">
        <p14:creationId xmlns:p14="http://schemas.microsoft.com/office/powerpoint/2010/main" val="28892639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81D1C97D-0B85-13EC-24EC-F99812756CFC}"/>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21</a:t>
            </a:fld>
            <a:endParaRPr lang="de-DE"/>
          </a:p>
        </p:txBody>
      </p:sp>
      <p:sp>
        <p:nvSpPr>
          <p:cNvPr id="11" name="Text 3">
            <a:extLst>
              <a:ext uri="{FF2B5EF4-FFF2-40B4-BE49-F238E27FC236}">
                <a16:creationId xmlns:a16="http://schemas.microsoft.com/office/drawing/2014/main" id="{E721D5B7-2B6D-2367-6C3B-B7F2BC41399F}"/>
              </a:ext>
            </a:extLst>
          </p:cNvPr>
          <p:cNvSpPr>
            <a:spLocks noGrp="1" noRot="1" noMove="1" noResize="1" noEditPoints="1" noAdjustHandles="1" noChangeArrowheads="1" noChangeShapeType="1"/>
          </p:cNvSpPr>
          <p:nvPr>
            <p:ph idx="14"/>
          </p:nvPr>
        </p:nvSpPr>
        <p:spPr>
          <a:xfrm>
            <a:off x="6985002" y="1041401"/>
            <a:ext cx="3132139" cy="4791074"/>
          </a:xfrm>
        </p:spPr>
        <p:txBody>
          <a:bodyPr/>
          <a:lstStyle/>
          <a:p>
            <a:r>
              <a:rPr lang="de-DE" dirty="0"/>
              <a:t>Zinsänderungsrisiko</a:t>
            </a:r>
          </a:p>
          <a:p>
            <a:pPr lvl="1"/>
            <a:r>
              <a:rPr lang="de-DE" dirty="0"/>
              <a:t>Stark steigende Zinsen können den Wert eines bestehenden Anleiheportfolios temporär stark reduzieren. Durch ein professionelles und </a:t>
            </a:r>
            <a:r>
              <a:rPr lang="de-DE" dirty="0" err="1"/>
              <a:t>ak-tives</a:t>
            </a:r>
            <a:r>
              <a:rPr lang="de-DE" dirty="0"/>
              <a:t> Laufzeitenmanagement streben wir eine deutliche Verringerung dieses Risikos an. </a:t>
            </a:r>
          </a:p>
          <a:p>
            <a:r>
              <a:rPr lang="de-DE" dirty="0"/>
              <a:t>Liquiditätsrisiko</a:t>
            </a:r>
          </a:p>
          <a:p>
            <a:pPr lvl="1"/>
            <a:r>
              <a:rPr lang="de-DE" dirty="0"/>
              <a:t>Das Liquiditätsrisiko schließen wir aus, indem wir ausschließlich in liquide Anlagen </a:t>
            </a:r>
            <a:r>
              <a:rPr lang="de-DE" dirty="0" err="1"/>
              <a:t>investie-ren</a:t>
            </a:r>
            <a:r>
              <a:rPr lang="de-DE" dirty="0"/>
              <a:t>. Geschlossene oder beschränkt verfügbare Produkte werden nicht erworben. </a:t>
            </a:r>
          </a:p>
        </p:txBody>
      </p:sp>
      <p:sp>
        <p:nvSpPr>
          <p:cNvPr id="4" name="Text 2">
            <a:extLst>
              <a:ext uri="{FF2B5EF4-FFF2-40B4-BE49-F238E27FC236}">
                <a16:creationId xmlns:a16="http://schemas.microsoft.com/office/drawing/2014/main" id="{3043CE18-576B-2D06-5DFA-D88278972F54}"/>
              </a:ext>
            </a:extLst>
          </p:cNvPr>
          <p:cNvSpPr>
            <a:spLocks noGrp="1" noRot="1" noMove="1" noResize="1" noEditPoints="1" noAdjustHandles="1" noChangeArrowheads="1" noChangeShapeType="1"/>
          </p:cNvSpPr>
          <p:nvPr>
            <p:ph idx="13"/>
          </p:nvPr>
        </p:nvSpPr>
        <p:spPr>
          <a:xfrm>
            <a:off x="3671888" y="1041401"/>
            <a:ext cx="3132139" cy="4791074"/>
          </a:xfrm>
        </p:spPr>
        <p:txBody>
          <a:bodyPr/>
          <a:lstStyle/>
          <a:p>
            <a:r>
              <a:rPr lang="de-DE" dirty="0"/>
              <a:t>Bonitäts-/Emittentenrisiko</a:t>
            </a:r>
          </a:p>
          <a:p>
            <a:pPr lvl="1"/>
            <a:r>
              <a:rPr lang="de-DE" dirty="0"/>
              <a:t>Bei Anleihen guter Bonität kann mit hoher Wahrscheinlichkeit davon ausgegangen wer-den, dass diese bei Laufzeitende vollständig zu-rückgezahlt werden. Daher achten wir auf gute Ratingeinstufungen der Anleiheemittenten. Weil es aber immer wieder vorkommt, dass die Bonität eines Emittenten sich verschlechtert, ohne dass dies rechtzeitig von den Rating-agenturen erkannt und bekanntgegeben wird, bilden wir uns auch ein eigens Urteil im Rah-</a:t>
            </a:r>
            <a:r>
              <a:rPr lang="de-DE" dirty="0" err="1"/>
              <a:t>men</a:t>
            </a:r>
            <a:r>
              <a:rPr lang="de-DE" dirty="0"/>
              <a:t> einer kontinuierlichen Überwachung der Emittenten durch unsere Anleihespezialisten. </a:t>
            </a:r>
          </a:p>
          <a:p>
            <a:r>
              <a:rPr lang="de-DE" dirty="0"/>
              <a:t>Währungsrisiko</a:t>
            </a:r>
          </a:p>
          <a:p>
            <a:pPr lvl="1"/>
            <a:r>
              <a:rPr lang="de-DE" dirty="0"/>
              <a:t>Das Einzelwährungsrisiko reduzieren wir durch eine breite und global orientierte </a:t>
            </a:r>
            <a:r>
              <a:rPr lang="de-DE" dirty="0" err="1"/>
              <a:t>Diversifizie-rung</a:t>
            </a:r>
            <a:r>
              <a:rPr lang="de-DE" dirty="0"/>
              <a:t>. Bei unserer konservativen Strategie ist der Fremdwährungsanteil auf maximal 25% beschränkt.</a:t>
            </a:r>
          </a:p>
        </p:txBody>
      </p:sp>
      <p:sp>
        <p:nvSpPr>
          <p:cNvPr id="5" name="Text 1">
            <a:extLst>
              <a:ext uri="{FF2B5EF4-FFF2-40B4-BE49-F238E27FC236}">
                <a16:creationId xmlns:a16="http://schemas.microsoft.com/office/drawing/2014/main" id="{E998F134-05AB-FCF7-7224-9CAA4D134CE5}"/>
              </a:ext>
            </a:extLst>
          </p:cNvPr>
          <p:cNvSpPr>
            <a:spLocks noGrp="1" noRot="1" noMove="1" noResize="1" noEditPoints="1" noAdjustHandles="1" noChangeArrowheads="1" noChangeShapeType="1"/>
          </p:cNvSpPr>
          <p:nvPr>
            <p:ph idx="1"/>
          </p:nvPr>
        </p:nvSpPr>
        <p:spPr>
          <a:xfrm>
            <a:off x="358774" y="1041401"/>
            <a:ext cx="3132139" cy="4791074"/>
          </a:xfrm>
        </p:spPr>
        <p:txBody>
          <a:bodyPr/>
          <a:lstStyle/>
          <a:p>
            <a:r>
              <a:rPr lang="de-DE" dirty="0"/>
              <a:t>Kursänderungsrisiko</a:t>
            </a:r>
          </a:p>
          <a:p>
            <a:pPr lvl="1"/>
            <a:r>
              <a:rPr lang="de-DE" dirty="0"/>
              <a:t>Wertschwankungen eines Portfolios können niemals ausgeschlossen werden, weil Wertpapiermärkte typischerweise durch ihre Volatilität geprägt sind. Die Schwankungen können aber gemildert werden durch eine sorgfältige Einzeltitelauswahl und einer breiten Streuung. In turbulenten Marktphasen ist es wichtig, einen kühlen Kopf zu bewahren. Absicherungsmaßnahmen und vor allem eine aktive Steuerung der Investitionsquoten können Schwankungen reduzieren, Chancen können aber nur wahrgenommen werden, wenn man in einer Erholungsphase entsprechend investiert ist. Für eine sorgfältige Steuerung sind weder übertriebene Furcht noch Gier hilfreich, vielmehr braucht es Augen-maß und vor allem sehr viel Erfahrung und die professionelle Anwendung einer breiten Palette moderner Risikomanagement-instrumente.</a:t>
            </a:r>
          </a:p>
        </p:txBody>
      </p:sp>
      <p:sp>
        <p:nvSpPr>
          <p:cNvPr id="6" name="Titel">
            <a:extLst>
              <a:ext uri="{FF2B5EF4-FFF2-40B4-BE49-F238E27FC236}">
                <a16:creationId xmlns:a16="http://schemas.microsoft.com/office/drawing/2014/main" id="{8A593740-F4A8-2A26-ED51-81863F08E087}"/>
              </a:ext>
            </a:extLst>
          </p:cNvPr>
          <p:cNvSpPr>
            <a:spLocks noGrp="1" noRot="1" noMove="1" noResize="1" noEditPoints="1" noAdjustHandles="1" noChangeArrowheads="1" noChangeShapeType="1"/>
          </p:cNvSpPr>
          <p:nvPr>
            <p:ph type="title"/>
          </p:nvPr>
        </p:nvSpPr>
        <p:spPr>
          <a:xfrm>
            <a:off x="358775" y="322580"/>
            <a:ext cx="9756774" cy="360000"/>
          </a:xfrm>
        </p:spPr>
        <p:txBody>
          <a:bodyPr/>
          <a:lstStyle/>
          <a:p>
            <a:r>
              <a:rPr lang="de-DE" dirty="0"/>
              <a:t>Unser Risikomanagement</a:t>
            </a:r>
          </a:p>
        </p:txBody>
      </p:sp>
    </p:spTree>
    <p:extLst>
      <p:ext uri="{BB962C8B-B14F-4D97-AF65-F5344CB8AC3E}">
        <p14:creationId xmlns:p14="http://schemas.microsoft.com/office/powerpoint/2010/main" val="30897898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2E1F6443-B286-D081-D271-BC363530CE57}"/>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22</a:t>
            </a:fld>
            <a:endParaRPr lang="de-DE"/>
          </a:p>
        </p:txBody>
      </p:sp>
      <p:graphicFrame>
        <p:nvGraphicFramePr>
          <p:cNvPr id="6" name="Tabelle">
            <a:extLst>
              <a:ext uri="{FF2B5EF4-FFF2-40B4-BE49-F238E27FC236}">
                <a16:creationId xmlns:a16="http://schemas.microsoft.com/office/drawing/2014/main" id="{254E7761-68C2-F358-6C12-E31D307F6055}"/>
              </a:ext>
            </a:extLst>
          </p:cNvPr>
          <p:cNvGraphicFramePr>
            <a:graphicFrameLocks noGrp="1"/>
          </p:cNvGraphicFramePr>
          <p:nvPr>
            <p:ph idx="13"/>
            <p:extLst>
              <p:ext uri="{D42A27DB-BD31-4B8C-83A1-F6EECF244321}">
                <p14:modId xmlns:p14="http://schemas.microsoft.com/office/powerpoint/2010/main" val="3851782016"/>
              </p:ext>
            </p:extLst>
          </p:nvPr>
        </p:nvGraphicFramePr>
        <p:xfrm>
          <a:off x="3671888" y="1041400"/>
          <a:ext cx="6458309" cy="3708000"/>
        </p:xfrm>
        <a:graphic>
          <a:graphicData uri="http://schemas.openxmlformats.org/drawingml/2006/table">
            <a:tbl>
              <a:tblPr firstRow="1" bandRow="1">
                <a:tableStyleId>{69012ECD-51FC-41F1-AA8D-1B2483CD663E}</a:tableStyleId>
              </a:tblPr>
              <a:tblGrid>
                <a:gridCol w="2466000">
                  <a:extLst>
                    <a:ext uri="{9D8B030D-6E8A-4147-A177-3AD203B41FA5}">
                      <a16:colId xmlns:a16="http://schemas.microsoft.com/office/drawing/2014/main" val="1715752775"/>
                    </a:ext>
                  </a:extLst>
                </a:gridCol>
                <a:gridCol w="50309">
                  <a:extLst>
                    <a:ext uri="{9D8B030D-6E8A-4147-A177-3AD203B41FA5}">
                      <a16:colId xmlns:a16="http://schemas.microsoft.com/office/drawing/2014/main" val="2276385665"/>
                    </a:ext>
                  </a:extLst>
                </a:gridCol>
                <a:gridCol w="3942000">
                  <a:extLst>
                    <a:ext uri="{9D8B030D-6E8A-4147-A177-3AD203B41FA5}">
                      <a16:colId xmlns:a16="http://schemas.microsoft.com/office/drawing/2014/main" val="296509542"/>
                    </a:ext>
                  </a:extLst>
                </a:gridCol>
              </a:tblGrid>
              <a:tr h="216000">
                <a:tc>
                  <a:txBody>
                    <a:bodyPr/>
                    <a:lstStyle/>
                    <a:p>
                      <a:r>
                        <a:rPr lang="de-DE" sz="900" b="1" cap="all" baseline="0" dirty="0">
                          <a:solidFill>
                            <a:schemeClr val="bg1"/>
                          </a:solidFill>
                        </a:rPr>
                        <a:t>anlageklasse</a:t>
                      </a:r>
                    </a:p>
                  </a:txBody>
                  <a:tcPr marL="72000" marR="72000" marT="0" marB="0" anchor="ctr">
                    <a:lnL w="6350" cap="flat" cmpd="sng" algn="ctr">
                      <a:noFill/>
                      <a:prstDash val="solid"/>
                      <a:miter lim="800000"/>
                    </a:lnL>
                    <a:lnR>
                      <a:noFill/>
                    </a:lnR>
                    <a:lnT w="6350" cap="flat" cmpd="sng" algn="ctr">
                      <a:noFill/>
                      <a:prstDash val="solid"/>
                      <a:miter lim="800000"/>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cap="all" baseline="0" dirty="0">
                        <a:solidFill>
                          <a:schemeClr val="bg1"/>
                        </a:solidFill>
                      </a:endParaRPr>
                    </a:p>
                  </a:txBody>
                  <a:tcPr marL="0" marR="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1" cap="all" baseline="0" dirty="0" err="1">
                          <a:solidFill>
                            <a:schemeClr val="bg1"/>
                          </a:solidFill>
                        </a:rPr>
                        <a:t>anlagelösungen</a:t>
                      </a:r>
                      <a:endParaRPr lang="de-DE" sz="900" b="1" cap="all" baseline="0" dirty="0">
                        <a:solidFill>
                          <a:schemeClr val="bg1"/>
                        </a:solidFill>
                      </a:endParaRPr>
                    </a:p>
                  </a:txBody>
                  <a:tcPr marL="72000" marR="72000" marT="0" marB="0" anchor="ctr">
                    <a:lnL>
                      <a:noFill/>
                    </a:lnL>
                    <a:lnR w="6350" cap="flat" cmpd="sng" algn="ctr">
                      <a:noFill/>
                      <a:prstDash val="solid"/>
                      <a:miter lim="800000"/>
                    </a:lnR>
                    <a:lnT w="6350" cap="flat" cmpd="sng" algn="ctr">
                      <a:noFill/>
                      <a:prstDash val="solid"/>
                      <a:miter lim="800000"/>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1644817"/>
                  </a:ext>
                </a:extLst>
              </a:tr>
              <a:tr h="360000">
                <a:tc>
                  <a:txBody>
                    <a:bodyPr/>
                    <a:lstStyle/>
                    <a:p>
                      <a:r>
                        <a:rPr lang="de-DE" sz="900" b="0" dirty="0"/>
                        <a:t>Liquidität</a:t>
                      </a:r>
                    </a:p>
                  </a:txBody>
                  <a:tcPr marL="72000" marR="72000" marT="108000" marB="0">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108000" marB="0">
                    <a:lnL>
                      <a:noFill/>
                    </a:lnL>
                    <a:lnR w="6350" cap="flat" cmpd="sng" algn="ctr">
                      <a:noFill/>
                      <a:prstDash val="solid"/>
                      <a:miter lim="800000"/>
                    </a:lnR>
                    <a:lnT w="3175" cap="flat" cmpd="sng" algn="ctr">
                      <a:no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72000" lvl="0" indent="-72000" algn="l">
                        <a:spcAft>
                          <a:spcPts val="600"/>
                        </a:spcAft>
                        <a:buFontTx/>
                        <a:buBlip>
                          <a:blip r:embed="rId2"/>
                        </a:buBlip>
                      </a:pPr>
                      <a:r>
                        <a:rPr lang="de-DE" sz="900" b="0" dirty="0"/>
                        <a:t>Kontoguthaben</a:t>
                      </a:r>
                    </a:p>
                  </a:txBody>
                  <a:tcPr marL="36000" marR="36000" marT="108000" marB="0">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0595349"/>
                  </a:ext>
                </a:extLst>
              </a:tr>
              <a:tr h="1404000">
                <a:tc>
                  <a:txBody>
                    <a:bodyPr/>
                    <a:lstStyle/>
                    <a:p>
                      <a:r>
                        <a:rPr lang="de-DE" sz="900" b="0" dirty="0"/>
                        <a:t>Anleihen</a:t>
                      </a:r>
                    </a:p>
                  </a:txBody>
                  <a:tcPr marL="72000" marR="72000" marT="108000" marB="0">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108000" marB="0">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72000" lvl="0" indent="-72000" algn="l" defTabSz="783001" rtl="0" eaLnBrk="1" latinLnBrk="0" hangingPunct="1">
                        <a:spcAft>
                          <a:spcPts val="600"/>
                        </a:spcAft>
                        <a:buFontTx/>
                        <a:buBlip>
                          <a:blip r:embed="rId3"/>
                        </a:buBlip>
                      </a:pPr>
                      <a:r>
                        <a:rPr lang="de-DE" sz="900" b="0" kern="1200" dirty="0">
                          <a:solidFill>
                            <a:schemeClr val="tx1"/>
                          </a:solidFill>
                          <a:latin typeface="+mn-lt"/>
                          <a:ea typeface="+mn-ea"/>
                          <a:cs typeface="+mn-cs"/>
                        </a:rPr>
                        <a:t>Staatsanleihen</a:t>
                      </a:r>
                    </a:p>
                    <a:p>
                      <a:pPr marL="72000" lvl="0" indent="-72000" algn="l" defTabSz="783001" rtl="0" eaLnBrk="1" latinLnBrk="0" hangingPunct="1">
                        <a:spcAft>
                          <a:spcPts val="600"/>
                        </a:spcAft>
                        <a:buFontTx/>
                        <a:buBlip>
                          <a:blip r:embed="rId3"/>
                        </a:buBlip>
                      </a:pPr>
                      <a:r>
                        <a:rPr lang="de-DE" sz="900" b="0" kern="1200" dirty="0">
                          <a:solidFill>
                            <a:schemeClr val="tx1"/>
                          </a:solidFill>
                          <a:latin typeface="+mn-lt"/>
                          <a:ea typeface="+mn-ea"/>
                          <a:cs typeface="+mn-cs"/>
                        </a:rPr>
                        <a:t>Pfandbriefe</a:t>
                      </a:r>
                    </a:p>
                    <a:p>
                      <a:pPr marL="72000" lvl="0" indent="-72000" algn="l" defTabSz="783001" rtl="0" eaLnBrk="1" latinLnBrk="0" hangingPunct="1">
                        <a:spcAft>
                          <a:spcPts val="600"/>
                        </a:spcAft>
                        <a:buFontTx/>
                        <a:buBlip>
                          <a:blip r:embed="rId3"/>
                        </a:buBlip>
                      </a:pPr>
                      <a:r>
                        <a:rPr lang="de-DE" sz="900" b="0" kern="1200" dirty="0">
                          <a:solidFill>
                            <a:schemeClr val="tx1"/>
                          </a:solidFill>
                          <a:latin typeface="+mn-lt"/>
                          <a:ea typeface="+mn-ea"/>
                          <a:cs typeface="+mn-cs"/>
                        </a:rPr>
                        <a:t>Unternehmensanleihen/ Bankenanleihen</a:t>
                      </a:r>
                    </a:p>
                    <a:p>
                      <a:pPr marL="72000" lvl="0" indent="-72000" algn="l" defTabSz="783001" rtl="0" eaLnBrk="1" latinLnBrk="0" hangingPunct="1">
                        <a:spcAft>
                          <a:spcPts val="600"/>
                        </a:spcAft>
                        <a:buFontTx/>
                        <a:buBlip>
                          <a:blip r:embed="rId3"/>
                        </a:buBlip>
                      </a:pPr>
                      <a:r>
                        <a:rPr lang="de-DE" sz="900" b="0" kern="1200" dirty="0">
                          <a:solidFill>
                            <a:schemeClr val="tx1"/>
                          </a:solidFill>
                          <a:latin typeface="+mn-lt"/>
                          <a:ea typeface="+mn-ea"/>
                          <a:cs typeface="+mn-cs"/>
                        </a:rPr>
                        <a:t>Strukturierte Anleihen</a:t>
                      </a:r>
                    </a:p>
                    <a:p>
                      <a:pPr marL="72000" lvl="0" indent="-72000" algn="l" defTabSz="783001" rtl="0" eaLnBrk="1" latinLnBrk="0" hangingPunct="1">
                        <a:spcAft>
                          <a:spcPts val="600"/>
                        </a:spcAft>
                        <a:buFontTx/>
                        <a:buBlip>
                          <a:blip r:embed="rId3"/>
                        </a:buBlip>
                      </a:pPr>
                      <a:r>
                        <a:rPr lang="de-DE" sz="900" b="0" kern="1200" dirty="0">
                          <a:solidFill>
                            <a:schemeClr val="tx1"/>
                          </a:solidFill>
                          <a:latin typeface="+mn-lt"/>
                          <a:ea typeface="+mn-ea"/>
                          <a:cs typeface="+mn-cs"/>
                        </a:rPr>
                        <a:t>Investmentfonds</a:t>
                      </a:r>
                    </a:p>
                    <a:p>
                      <a:pPr marL="72000" lvl="0" indent="-72000" algn="l" defTabSz="783001" rtl="0" eaLnBrk="1" latinLnBrk="0" hangingPunct="1">
                        <a:spcAft>
                          <a:spcPts val="600"/>
                        </a:spcAft>
                        <a:buFontTx/>
                        <a:buBlip>
                          <a:blip r:embed="rId3"/>
                        </a:buBlip>
                      </a:pPr>
                      <a:r>
                        <a:rPr lang="de-DE" sz="900" b="0" kern="1200" dirty="0">
                          <a:solidFill>
                            <a:schemeClr val="tx1"/>
                          </a:solidFill>
                          <a:latin typeface="+mn-lt"/>
                          <a:ea typeface="+mn-ea"/>
                          <a:cs typeface="+mn-cs"/>
                        </a:rPr>
                        <a:t>ETFs</a:t>
                      </a:r>
                    </a:p>
                  </a:txBody>
                  <a:tcPr marL="36000" marR="36000" marT="108000" marB="0">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95848646"/>
                  </a:ext>
                </a:extLst>
              </a:tr>
              <a:tr h="756000">
                <a:tc>
                  <a:txBody>
                    <a:bodyPr/>
                    <a:lstStyle/>
                    <a:p>
                      <a:r>
                        <a:rPr lang="de-DE" sz="900" b="0" dirty="0"/>
                        <a:t>Aktien</a:t>
                      </a:r>
                    </a:p>
                  </a:txBody>
                  <a:tcPr marL="72000" marR="72000" marT="108000" marB="0">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108000" marB="0">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72000" lvl="0" indent="-72000" algn="l" defTabSz="783001" rtl="0" eaLnBrk="1" latinLnBrk="0" hangingPunct="1">
                        <a:spcAft>
                          <a:spcPts val="600"/>
                        </a:spcAft>
                        <a:buFontTx/>
                        <a:buBlip>
                          <a:blip r:embed="rId3"/>
                        </a:buBlip>
                      </a:pPr>
                      <a:r>
                        <a:rPr lang="de-DE" sz="900" b="0" kern="1200" dirty="0">
                          <a:solidFill>
                            <a:schemeClr val="tx1"/>
                          </a:solidFill>
                          <a:latin typeface="+mn-lt"/>
                          <a:ea typeface="+mn-ea"/>
                          <a:cs typeface="+mn-cs"/>
                        </a:rPr>
                        <a:t>Einzeltitel</a:t>
                      </a:r>
                    </a:p>
                    <a:p>
                      <a:pPr marL="72000" lvl="0" indent="-72000" algn="l" defTabSz="783001" rtl="0" eaLnBrk="1" latinLnBrk="0" hangingPunct="1">
                        <a:spcAft>
                          <a:spcPts val="600"/>
                        </a:spcAft>
                        <a:buFontTx/>
                        <a:buBlip>
                          <a:blip r:embed="rId3"/>
                        </a:buBlip>
                      </a:pPr>
                      <a:r>
                        <a:rPr lang="de-DE" sz="900" b="0" kern="1200" dirty="0">
                          <a:solidFill>
                            <a:schemeClr val="tx1"/>
                          </a:solidFill>
                          <a:latin typeface="+mn-lt"/>
                          <a:ea typeface="+mn-ea"/>
                          <a:cs typeface="+mn-cs"/>
                        </a:rPr>
                        <a:t>ETFs</a:t>
                      </a:r>
                    </a:p>
                    <a:p>
                      <a:pPr marL="72000" lvl="0" indent="-72000" algn="l" defTabSz="783001" rtl="0" eaLnBrk="1" latinLnBrk="0" hangingPunct="1">
                        <a:spcAft>
                          <a:spcPts val="600"/>
                        </a:spcAft>
                        <a:buFontTx/>
                        <a:buBlip>
                          <a:blip r:embed="rId3"/>
                        </a:buBlip>
                      </a:pPr>
                      <a:r>
                        <a:rPr lang="de-DE" sz="900" b="0" kern="1200" dirty="0">
                          <a:solidFill>
                            <a:schemeClr val="tx1"/>
                          </a:solidFill>
                          <a:latin typeface="+mn-lt"/>
                          <a:ea typeface="+mn-ea"/>
                          <a:cs typeface="+mn-cs"/>
                        </a:rPr>
                        <a:t>Investmentfonds</a:t>
                      </a:r>
                    </a:p>
                  </a:txBody>
                  <a:tcPr marL="36000" marR="36000" marT="108000" marB="0">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2306334"/>
                  </a:ext>
                </a:extLst>
              </a:tr>
              <a:tr h="576000">
                <a:tc>
                  <a:txBody>
                    <a:bodyPr/>
                    <a:lstStyle/>
                    <a:p>
                      <a:r>
                        <a:rPr lang="de-DE" sz="900" b="0" dirty="0"/>
                        <a:t>Risikoadjustierte Produkte </a:t>
                      </a:r>
                    </a:p>
                  </a:txBody>
                  <a:tcPr marL="72000" marR="72000" marT="108000" marB="0">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108000" marB="0">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72000" lvl="0" indent="-72000" algn="l" defTabSz="783001" rtl="0" eaLnBrk="1" latinLnBrk="0" hangingPunct="1">
                        <a:spcAft>
                          <a:spcPts val="600"/>
                        </a:spcAft>
                        <a:buFontTx/>
                        <a:buBlip>
                          <a:blip r:embed="rId3"/>
                        </a:buBlip>
                      </a:pPr>
                      <a:r>
                        <a:rPr lang="de-DE" sz="900" b="0" kern="1200" dirty="0">
                          <a:solidFill>
                            <a:schemeClr val="tx1"/>
                          </a:solidFill>
                          <a:latin typeface="+mn-lt"/>
                          <a:ea typeface="+mn-ea"/>
                          <a:cs typeface="+mn-cs"/>
                        </a:rPr>
                        <a:t>Discountzertifikate</a:t>
                      </a:r>
                    </a:p>
                    <a:p>
                      <a:pPr marL="72000" lvl="0" indent="-72000" algn="l" defTabSz="783001" rtl="0" eaLnBrk="1" latinLnBrk="0" hangingPunct="1">
                        <a:spcAft>
                          <a:spcPts val="600"/>
                        </a:spcAft>
                        <a:buFontTx/>
                        <a:buBlip>
                          <a:blip r:embed="rId3"/>
                        </a:buBlip>
                      </a:pPr>
                      <a:r>
                        <a:rPr lang="de-DE" sz="900" b="0" kern="1200" dirty="0">
                          <a:solidFill>
                            <a:schemeClr val="tx1"/>
                          </a:solidFill>
                          <a:latin typeface="+mn-lt"/>
                          <a:ea typeface="+mn-ea"/>
                          <a:cs typeface="+mn-cs"/>
                        </a:rPr>
                        <a:t>Aktienanleihen </a:t>
                      </a:r>
                    </a:p>
                  </a:txBody>
                  <a:tcPr marL="36000" marR="36000" marT="108000" marB="0">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63228351"/>
                  </a:ext>
                </a:extLst>
              </a:tr>
              <a:tr h="396000">
                <a:tc>
                  <a:txBody>
                    <a:bodyPr/>
                    <a:lstStyle/>
                    <a:p>
                      <a:r>
                        <a:rPr lang="de-DE" sz="900" b="0" dirty="0"/>
                        <a:t>Edelmetalle</a:t>
                      </a:r>
                    </a:p>
                  </a:txBody>
                  <a:tcPr marL="72000" marR="72000" marT="108000" marB="0">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108000" marB="0">
                    <a:lnL>
                      <a:noFill/>
                    </a:lnL>
                    <a:lnR w="6350" cap="flat" cmpd="sng" algn="ctr">
                      <a:noFill/>
                      <a:prstDash val="solid"/>
                      <a:miter lim="800000"/>
                    </a:lnR>
                    <a:lnT w="57150" cap="flat" cmpd="sng" algn="ctr">
                      <a:solidFill>
                        <a:schemeClr val="bg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72000" lvl="0" indent="-72000" algn="l" defTabSz="783001" rtl="0" eaLnBrk="1" latinLnBrk="0" hangingPunct="1">
                        <a:spcAft>
                          <a:spcPts val="600"/>
                        </a:spcAft>
                        <a:buFontTx/>
                        <a:buBlip>
                          <a:blip r:embed="rId3"/>
                        </a:buBlip>
                      </a:pPr>
                      <a:r>
                        <a:rPr lang="de-DE" sz="900" b="0" kern="1200" dirty="0">
                          <a:solidFill>
                            <a:schemeClr val="tx1"/>
                          </a:solidFill>
                          <a:latin typeface="+mn-lt"/>
                          <a:ea typeface="+mn-ea"/>
                          <a:cs typeface="+mn-cs"/>
                        </a:rPr>
                        <a:t>ETCs auf Edelmetalle</a:t>
                      </a:r>
                    </a:p>
                  </a:txBody>
                  <a:tcPr marL="36000" marR="36000" marT="108000" marB="0">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914861"/>
                  </a:ext>
                </a:extLst>
              </a:tr>
            </a:tbl>
          </a:graphicData>
        </a:graphic>
      </p:graphicFrame>
      <p:sp>
        <p:nvSpPr>
          <p:cNvPr id="4" name="Text">
            <a:extLst>
              <a:ext uri="{FF2B5EF4-FFF2-40B4-BE49-F238E27FC236}">
                <a16:creationId xmlns:a16="http://schemas.microsoft.com/office/drawing/2014/main" id="{163A3452-6B15-0579-2A3C-DEE1D79CEEDF}"/>
              </a:ext>
            </a:extLst>
          </p:cNvPr>
          <p:cNvSpPr>
            <a:spLocks noGrp="1" noRot="1" noMove="1" noResize="1" noEditPoints="1" noAdjustHandles="1" noChangeArrowheads="1" noChangeShapeType="1"/>
          </p:cNvSpPr>
          <p:nvPr>
            <p:ph idx="1"/>
          </p:nvPr>
        </p:nvSpPr>
        <p:spPr/>
        <p:txBody>
          <a:bodyPr/>
          <a:lstStyle/>
          <a:p>
            <a:pPr lvl="2"/>
            <a:r>
              <a:rPr lang="de-DE" dirty="0"/>
              <a:t>Die Kombination verschiedener </a:t>
            </a:r>
            <a:r>
              <a:rPr lang="de-DE" dirty="0" err="1"/>
              <a:t>Anlageklas-sen</a:t>
            </a:r>
            <a:r>
              <a:rPr lang="de-DE" dirty="0"/>
              <a:t> – je nach individueller Risikobereitschaft –ermöglicht eine valide Portfoliodiversifikation, mit dem Ziel, auftretenden Marktvolatilitäten entgegenzuwirken. Dies kann durch unter-schiedliche Finanzinstrumente erfolgen.</a:t>
            </a:r>
          </a:p>
        </p:txBody>
      </p:sp>
      <p:sp>
        <p:nvSpPr>
          <p:cNvPr id="5" name="Titel">
            <a:extLst>
              <a:ext uri="{FF2B5EF4-FFF2-40B4-BE49-F238E27FC236}">
                <a16:creationId xmlns:a16="http://schemas.microsoft.com/office/drawing/2014/main" id="{A2638D9C-D791-60AF-4096-C955640E52F4}"/>
              </a:ext>
            </a:extLst>
          </p:cNvPr>
          <p:cNvSpPr>
            <a:spLocks noGrp="1" noRot="1" noMove="1" noResize="1" noEditPoints="1" noAdjustHandles="1" noChangeArrowheads="1" noChangeShapeType="1"/>
          </p:cNvSpPr>
          <p:nvPr>
            <p:ph type="title"/>
          </p:nvPr>
        </p:nvSpPr>
        <p:spPr/>
        <p:txBody>
          <a:bodyPr/>
          <a:lstStyle/>
          <a:p>
            <a:r>
              <a:rPr lang="de-DE" dirty="0"/>
              <a:t>Anlageklassen und Ausgestaltung</a:t>
            </a:r>
          </a:p>
        </p:txBody>
      </p:sp>
    </p:spTree>
    <p:extLst>
      <p:ext uri="{BB962C8B-B14F-4D97-AF65-F5344CB8AC3E}">
        <p14:creationId xmlns:p14="http://schemas.microsoft.com/office/powerpoint/2010/main" val="33181527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71BDD082-AD9A-6DD8-3348-F165CD10DD25}"/>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23</a:t>
            </a:fld>
            <a:endParaRPr lang="de-DE"/>
          </a:p>
        </p:txBody>
      </p:sp>
      <p:sp>
        <p:nvSpPr>
          <p:cNvPr id="6" name="Text">
            <a:extLst>
              <a:ext uri="{FF2B5EF4-FFF2-40B4-BE49-F238E27FC236}">
                <a16:creationId xmlns:a16="http://schemas.microsoft.com/office/drawing/2014/main" id="{D1C6F36B-B5D5-FA42-8AB2-64B475944977}"/>
              </a:ext>
            </a:extLst>
          </p:cNvPr>
          <p:cNvSpPr txBox="1">
            <a:spLocks noGrp="1" noRot="1" noMove="1" noResize="1" noEditPoints="1" noAdjustHandles="1" noChangeArrowheads="1" noChangeShapeType="1"/>
          </p:cNvSpPr>
          <p:nvPr/>
        </p:nvSpPr>
        <p:spPr>
          <a:xfrm>
            <a:off x="358775" y="4697839"/>
            <a:ext cx="4789488" cy="719684"/>
          </a:xfrm>
          <a:prstGeom prst="rect">
            <a:avLst/>
          </a:prstGeom>
          <a:noFill/>
        </p:spPr>
        <p:txBody>
          <a:bodyPr wrap="square" lIns="0" tIns="0" rIns="0" bIns="0" rtlCol="0">
            <a:spAutoFit/>
          </a:bodyPr>
          <a:lstStyle/>
          <a:p>
            <a:pPr marL="198000" indent="-198000">
              <a:lnSpc>
                <a:spcPts val="1900"/>
              </a:lnSpc>
              <a:buBlip>
                <a:blip r:embed="rId2"/>
              </a:buBlip>
            </a:pPr>
            <a:r>
              <a:rPr lang="de-DE" sz="1500" b="1" dirty="0">
                <a:solidFill>
                  <a:schemeClr val="accent1"/>
                </a:solidFill>
                <a:latin typeface="+mj-lt"/>
              </a:rPr>
              <a:t>Gerne stellen wir Ihnen in regelmäßigen  Abständen oder auf Wunsch einen aktuellen Bericht zur Verfügung.</a:t>
            </a:r>
          </a:p>
        </p:txBody>
      </p:sp>
      <p:graphicFrame>
        <p:nvGraphicFramePr>
          <p:cNvPr id="5" name="Tabelle">
            <a:extLst>
              <a:ext uri="{FF2B5EF4-FFF2-40B4-BE49-F238E27FC236}">
                <a16:creationId xmlns:a16="http://schemas.microsoft.com/office/drawing/2014/main" id="{1CF60558-7248-3322-4596-B33D91F44A2E}"/>
              </a:ext>
            </a:extLst>
          </p:cNvPr>
          <p:cNvGraphicFramePr>
            <a:graphicFrameLocks noGrp="1" noDrilldown="1" noMove="1" noResize="1"/>
          </p:cNvGraphicFramePr>
          <p:nvPr>
            <p:ph idx="1"/>
            <p:extLst>
              <p:ext uri="{D42A27DB-BD31-4B8C-83A1-F6EECF244321}">
                <p14:modId xmlns:p14="http://schemas.microsoft.com/office/powerpoint/2010/main" val="2308914870"/>
              </p:ext>
            </p:extLst>
          </p:nvPr>
        </p:nvGraphicFramePr>
        <p:xfrm>
          <a:off x="358775" y="1041400"/>
          <a:ext cx="9756000" cy="2866168"/>
        </p:xfrm>
        <a:graphic>
          <a:graphicData uri="http://schemas.openxmlformats.org/drawingml/2006/table">
            <a:tbl>
              <a:tblPr firstRow="1" bandRow="1">
                <a:tableStyleId>{2D5ABB26-0587-4C30-8999-92F81FD0307C}</a:tableStyleId>
              </a:tblPr>
              <a:tblGrid>
                <a:gridCol w="2304000">
                  <a:extLst>
                    <a:ext uri="{9D8B030D-6E8A-4147-A177-3AD203B41FA5}">
                      <a16:colId xmlns:a16="http://schemas.microsoft.com/office/drawing/2014/main" val="2960144582"/>
                    </a:ext>
                  </a:extLst>
                </a:gridCol>
                <a:gridCol w="180000">
                  <a:extLst>
                    <a:ext uri="{9D8B030D-6E8A-4147-A177-3AD203B41FA5}">
                      <a16:colId xmlns:a16="http://schemas.microsoft.com/office/drawing/2014/main" val="3719935177"/>
                    </a:ext>
                  </a:extLst>
                </a:gridCol>
                <a:gridCol w="2304000">
                  <a:extLst>
                    <a:ext uri="{9D8B030D-6E8A-4147-A177-3AD203B41FA5}">
                      <a16:colId xmlns:a16="http://schemas.microsoft.com/office/drawing/2014/main" val="1099370210"/>
                    </a:ext>
                  </a:extLst>
                </a:gridCol>
                <a:gridCol w="180000">
                  <a:extLst>
                    <a:ext uri="{9D8B030D-6E8A-4147-A177-3AD203B41FA5}">
                      <a16:colId xmlns:a16="http://schemas.microsoft.com/office/drawing/2014/main" val="1043823165"/>
                    </a:ext>
                  </a:extLst>
                </a:gridCol>
                <a:gridCol w="2304000">
                  <a:extLst>
                    <a:ext uri="{9D8B030D-6E8A-4147-A177-3AD203B41FA5}">
                      <a16:colId xmlns:a16="http://schemas.microsoft.com/office/drawing/2014/main" val="2181555188"/>
                    </a:ext>
                  </a:extLst>
                </a:gridCol>
                <a:gridCol w="180000">
                  <a:extLst>
                    <a:ext uri="{9D8B030D-6E8A-4147-A177-3AD203B41FA5}">
                      <a16:colId xmlns:a16="http://schemas.microsoft.com/office/drawing/2014/main" val="1222754153"/>
                    </a:ext>
                  </a:extLst>
                </a:gridCol>
                <a:gridCol w="2304000">
                  <a:extLst>
                    <a:ext uri="{9D8B030D-6E8A-4147-A177-3AD203B41FA5}">
                      <a16:colId xmlns:a16="http://schemas.microsoft.com/office/drawing/2014/main" val="1006042721"/>
                    </a:ext>
                  </a:extLst>
                </a:gridCol>
              </a:tblGrid>
              <a:tr h="370840">
                <a:tc>
                  <a:txBody>
                    <a:bodyPr/>
                    <a:lstStyle/>
                    <a:p>
                      <a: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pPr>
                      <a:r>
                        <a:rPr lang="de-DE" sz="1100" b="1" kern="1200" dirty="0">
                          <a:solidFill>
                            <a:schemeClr val="accent1"/>
                          </a:solidFill>
                          <a:latin typeface="+mj-lt"/>
                          <a:ea typeface="+mn-ea"/>
                          <a:cs typeface="+mn-cs"/>
                        </a:rPr>
                        <a:t>Vermögensverwaltungsbericht</a:t>
                      </a:r>
                    </a:p>
                    <a:p>
                      <a:pPr>
                        <a:lnSpc>
                          <a:spcPts val="1600"/>
                        </a:lnSpc>
                      </a:pPr>
                      <a:r>
                        <a:rPr lang="de-DE" sz="1100" kern="1200" dirty="0">
                          <a:solidFill>
                            <a:schemeClr val="tx1"/>
                          </a:solidFill>
                          <a:latin typeface="+mn-lt"/>
                          <a:ea typeface="+mn-ea"/>
                          <a:cs typeface="+mn-cs"/>
                        </a:rPr>
                        <a:t>Wir stellen Ihnen gemäß den </a:t>
                      </a:r>
                    </a:p>
                    <a:p>
                      <a:pPr>
                        <a:lnSpc>
                          <a:spcPts val="1600"/>
                        </a:lnSpc>
                      </a:pPr>
                      <a:r>
                        <a:rPr lang="de-DE" sz="1100" kern="1200" dirty="0">
                          <a:solidFill>
                            <a:schemeClr val="tx1"/>
                          </a:solidFill>
                          <a:latin typeface="+mn-lt"/>
                          <a:ea typeface="+mn-ea"/>
                          <a:cs typeface="+mn-cs"/>
                        </a:rPr>
                        <a:t>gesetzlichen Anforderungen </a:t>
                      </a:r>
                    </a:p>
                    <a:p>
                      <a:pPr>
                        <a:lnSpc>
                          <a:spcPts val="1600"/>
                        </a:lnSpc>
                      </a:pPr>
                      <a:r>
                        <a:rPr lang="de-DE" sz="1100" kern="1200" dirty="0">
                          <a:solidFill>
                            <a:schemeClr val="tx1"/>
                          </a:solidFill>
                          <a:latin typeface="+mn-lt"/>
                          <a:ea typeface="+mn-ea"/>
                          <a:cs typeface="+mn-cs"/>
                        </a:rPr>
                        <a:t>quartalsweise einen detaillierten </a:t>
                      </a:r>
                    </a:p>
                    <a:p>
                      <a:pPr>
                        <a:lnSpc>
                          <a:spcPts val="1600"/>
                        </a:lnSpc>
                      </a:pPr>
                      <a:r>
                        <a:rPr lang="de-DE" sz="1100" kern="1200" dirty="0">
                          <a:solidFill>
                            <a:schemeClr val="tx1"/>
                          </a:solidFill>
                          <a:latin typeface="+mn-lt"/>
                          <a:ea typeface="+mn-ea"/>
                          <a:cs typeface="+mn-cs"/>
                        </a:rPr>
                        <a:t>Bericht zur Verfügung. Folgende Bestandteile sind in diesem Be-</a:t>
                      </a:r>
                      <a:r>
                        <a:rPr lang="de-DE" sz="1100" kern="1200" dirty="0" err="1">
                          <a:solidFill>
                            <a:schemeClr val="tx1"/>
                          </a:solidFill>
                          <a:latin typeface="+mn-lt"/>
                          <a:ea typeface="+mn-ea"/>
                          <a:cs typeface="+mn-cs"/>
                        </a:rPr>
                        <a:t>richt</a:t>
                      </a:r>
                      <a:r>
                        <a:rPr lang="de-DE" sz="1100" kern="1200" dirty="0">
                          <a:solidFill>
                            <a:schemeClr val="tx1"/>
                          </a:solidFill>
                          <a:latin typeface="+mn-lt"/>
                          <a:ea typeface="+mn-ea"/>
                          <a:cs typeface="+mn-cs"/>
                        </a:rPr>
                        <a:t> enthalten:</a:t>
                      </a:r>
                    </a:p>
                    <a:p>
                      <a:pPr marL="108000" lvl="2" indent="-108000" algn="l" defTabSz="783001" rtl="0" eaLnBrk="1" latinLnBrk="0" hangingPunct="1">
                        <a:lnSpc>
                          <a:spcPts val="1600"/>
                        </a:lnSpc>
                        <a:spcBef>
                          <a:spcPts val="300"/>
                        </a:spcBef>
                        <a:buClr>
                          <a:schemeClr val="tx2"/>
                        </a:buClr>
                        <a:buFontTx/>
                        <a:buBlip>
                          <a:blip r:embed="rId3"/>
                        </a:buBlip>
                      </a:pPr>
                      <a:r>
                        <a:rPr lang="de-DE" sz="1100" kern="1200" dirty="0">
                          <a:solidFill>
                            <a:schemeClr val="tx1"/>
                          </a:solidFill>
                          <a:latin typeface="+mn-lt"/>
                          <a:ea typeface="+mn-ea"/>
                          <a:cs typeface="+mn-cs"/>
                        </a:rPr>
                        <a:t>Wertentwicklung</a:t>
                      </a:r>
                    </a:p>
                    <a:p>
                      <a:pPr marL="108000" lvl="2" indent="-108000" algn="l" defTabSz="783001" rtl="0" eaLnBrk="1" latinLnBrk="0" hangingPunct="1">
                        <a:lnSpc>
                          <a:spcPts val="1600"/>
                        </a:lnSpc>
                        <a:spcBef>
                          <a:spcPts val="300"/>
                        </a:spcBef>
                        <a:buClr>
                          <a:schemeClr val="tx2"/>
                        </a:buClr>
                        <a:buFontTx/>
                        <a:buBlip>
                          <a:blip r:embed="rId3"/>
                        </a:buBlip>
                      </a:pPr>
                      <a:r>
                        <a:rPr lang="de-DE" sz="1100" kern="1200" dirty="0">
                          <a:solidFill>
                            <a:schemeClr val="tx1"/>
                          </a:solidFill>
                          <a:latin typeface="+mn-lt"/>
                          <a:ea typeface="+mn-ea"/>
                          <a:cs typeface="+mn-cs"/>
                        </a:rPr>
                        <a:t>Vermögensübersicht</a:t>
                      </a:r>
                    </a:p>
                    <a:p>
                      <a:pPr marL="108000" lvl="2" indent="-108000" algn="l" defTabSz="783001" rtl="0" eaLnBrk="1" latinLnBrk="0" hangingPunct="1">
                        <a:lnSpc>
                          <a:spcPts val="1600"/>
                        </a:lnSpc>
                        <a:spcBef>
                          <a:spcPts val="300"/>
                        </a:spcBef>
                        <a:buClr>
                          <a:schemeClr val="tx2"/>
                        </a:buClr>
                        <a:buFontTx/>
                        <a:buBlip>
                          <a:blip r:embed="rId3"/>
                        </a:buBlip>
                      </a:pPr>
                      <a:r>
                        <a:rPr lang="de-DE" sz="1100" kern="1200" dirty="0">
                          <a:solidFill>
                            <a:schemeClr val="tx1"/>
                          </a:solidFill>
                          <a:latin typeface="+mn-lt"/>
                          <a:ea typeface="+mn-ea"/>
                          <a:cs typeface="+mn-cs"/>
                        </a:rPr>
                        <a:t>Transaktionsliste</a:t>
                      </a:r>
                    </a:p>
                    <a:p>
                      <a:pPr marL="108000" lvl="2" indent="-108000" algn="l" defTabSz="783001" rtl="0" eaLnBrk="1" latinLnBrk="0" hangingPunct="1">
                        <a:lnSpc>
                          <a:spcPts val="1600"/>
                        </a:lnSpc>
                        <a:spcBef>
                          <a:spcPts val="300"/>
                        </a:spcBef>
                        <a:buClr>
                          <a:schemeClr val="tx2"/>
                        </a:buClr>
                        <a:buFontTx/>
                        <a:buBlip>
                          <a:blip r:embed="rId3"/>
                        </a:buBlip>
                      </a:pPr>
                      <a:r>
                        <a:rPr lang="de-DE" sz="1100" kern="1200" dirty="0">
                          <a:solidFill>
                            <a:schemeClr val="tx1"/>
                          </a:solidFill>
                          <a:latin typeface="+mn-lt"/>
                          <a:ea typeface="+mn-ea"/>
                          <a:cs typeface="+mn-cs"/>
                        </a:rPr>
                        <a:t>Risikokennzahlen, fortlaufende Geeignetheitserklärung </a:t>
                      </a:r>
                    </a:p>
                  </a:txBody>
                  <a:tcPr marL="0" marR="0" marT="0" marB="252000">
                    <a:lnR>
                      <a:noFill/>
                    </a:lnR>
                    <a:lnB w="38100" cap="flat" cmpd="sng" algn="ctr">
                      <a:solidFill>
                        <a:schemeClr val="accent1"/>
                      </a:solidFill>
                      <a:prstDash val="solid"/>
                      <a:round/>
                      <a:headEnd type="none" w="med" len="med"/>
                      <a:tailEnd type="none" w="med" len="med"/>
                    </a:lnB>
                  </a:tcPr>
                </a:tc>
                <a:tc>
                  <a:txBody>
                    <a:bodyPr/>
                    <a:lstStyle/>
                    <a:p>
                      <a:endParaRPr lang="de-DE" dirty="0"/>
                    </a:p>
                  </a:txBody>
                  <a:tcPr marL="0" marR="0" marT="0" marB="252000">
                    <a:lnL>
                      <a:noFill/>
                    </a:lnL>
                    <a:lnR>
                      <a:noFill/>
                    </a:lnR>
                    <a:lnT>
                      <a:noFill/>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ts val="1600"/>
                        </a:lnSpc>
                        <a:spcBef>
                          <a:spcPts val="1600"/>
                        </a:spcBef>
                        <a:spcAft>
                          <a:spcPts val="300"/>
                        </a:spcAft>
                      </a:pPr>
                      <a:r>
                        <a:rPr lang="de-DE" sz="1100" b="1" kern="1200" dirty="0" err="1">
                          <a:solidFill>
                            <a:schemeClr val="accent1"/>
                          </a:solidFill>
                          <a:latin typeface="+mj-lt"/>
                          <a:ea typeface="+mn-ea"/>
                          <a:cs typeface="+mn-cs"/>
                        </a:rPr>
                        <a:t>ExPostReporting</a:t>
                      </a:r>
                      <a:endParaRPr lang="de-DE" sz="1100" b="1" kern="1200" dirty="0">
                        <a:solidFill>
                          <a:schemeClr val="accent1"/>
                        </a:solidFill>
                        <a:latin typeface="+mj-lt"/>
                        <a:ea typeface="+mn-ea"/>
                        <a:cs typeface="+mn-cs"/>
                      </a:endParaRPr>
                    </a:p>
                    <a:p>
                      <a:pPr marL="0" algn="l" defTabSz="783001" rtl="0" eaLnBrk="1" latinLnBrk="0" hangingPunct="1">
                        <a:lnSpc>
                          <a:spcPts val="1600"/>
                        </a:lnSpc>
                      </a:pPr>
                      <a:r>
                        <a:rPr lang="de-DE" sz="1100" kern="1200" dirty="0">
                          <a:solidFill>
                            <a:schemeClr val="tx1"/>
                          </a:solidFill>
                          <a:latin typeface="+mn-lt"/>
                          <a:ea typeface="+mn-ea"/>
                          <a:cs typeface="+mn-cs"/>
                        </a:rPr>
                        <a:t>Einmal pro Jahr erhalten Sie eine </a:t>
                      </a:r>
                    </a:p>
                    <a:p>
                      <a:pPr marL="0" algn="l" defTabSz="783001" rtl="0" eaLnBrk="1" latinLnBrk="0" hangingPunct="1">
                        <a:lnSpc>
                          <a:spcPts val="1600"/>
                        </a:lnSpc>
                      </a:pPr>
                      <a:r>
                        <a:rPr lang="de-DE" sz="1100" kern="1200" dirty="0">
                          <a:solidFill>
                            <a:schemeClr val="tx1"/>
                          </a:solidFill>
                          <a:latin typeface="+mn-lt"/>
                          <a:ea typeface="+mn-ea"/>
                          <a:cs typeface="+mn-cs"/>
                        </a:rPr>
                        <a:t>Übersicht, wo neben unserem </a:t>
                      </a:r>
                    </a:p>
                    <a:p>
                      <a:pPr marL="0" algn="l" defTabSz="783001" rtl="0" eaLnBrk="1" latinLnBrk="0" hangingPunct="1">
                        <a:lnSpc>
                          <a:spcPts val="1600"/>
                        </a:lnSpc>
                      </a:pPr>
                      <a:r>
                        <a:rPr lang="de-DE" sz="1100" kern="1200" dirty="0">
                          <a:solidFill>
                            <a:schemeClr val="tx1"/>
                          </a:solidFill>
                          <a:latin typeface="+mn-lt"/>
                          <a:ea typeface="+mn-ea"/>
                          <a:cs typeface="+mn-cs"/>
                        </a:rPr>
                        <a:t>Vermögensverwaltungshonorar </a:t>
                      </a:r>
                    </a:p>
                    <a:p>
                      <a:pPr marL="0" algn="l" defTabSz="783001" rtl="0" eaLnBrk="1" latinLnBrk="0" hangingPunct="1">
                        <a:lnSpc>
                          <a:spcPts val="1600"/>
                        </a:lnSpc>
                      </a:pPr>
                      <a:r>
                        <a:rPr lang="de-DE" sz="1100" kern="1200" dirty="0">
                          <a:solidFill>
                            <a:schemeClr val="tx1"/>
                          </a:solidFill>
                          <a:latin typeface="+mn-lt"/>
                          <a:ea typeface="+mn-ea"/>
                          <a:cs typeface="+mn-cs"/>
                        </a:rPr>
                        <a:t>zusätzliche fremde Produktkosten </a:t>
                      </a:r>
                    </a:p>
                    <a:p>
                      <a:pPr marL="0" algn="l" defTabSz="783001" rtl="0" eaLnBrk="1" latinLnBrk="0" hangingPunct="1">
                        <a:lnSpc>
                          <a:spcPts val="1600"/>
                        </a:lnSpc>
                      </a:pPr>
                      <a:r>
                        <a:rPr lang="de-DE" sz="1100" kern="1200" dirty="0">
                          <a:solidFill>
                            <a:schemeClr val="tx1"/>
                          </a:solidFill>
                          <a:latin typeface="+mn-lt"/>
                          <a:ea typeface="+mn-ea"/>
                          <a:cs typeface="+mn-cs"/>
                        </a:rPr>
                        <a:t>aufgeführt sind.</a:t>
                      </a:r>
                    </a:p>
                  </a:txBody>
                  <a:tcPr marL="0" marR="0" marT="0" marB="252000">
                    <a:lnL>
                      <a:noFill/>
                    </a:lnL>
                    <a:lnR>
                      <a:noFill/>
                    </a:lnR>
                    <a:lnB w="38100" cap="flat" cmpd="sng" algn="ctr">
                      <a:solidFill>
                        <a:schemeClr val="accent1"/>
                      </a:solidFill>
                      <a:prstDash val="solid"/>
                      <a:round/>
                      <a:headEnd type="none" w="med" len="med"/>
                      <a:tailEnd type="none" w="med" len="med"/>
                    </a:lnB>
                  </a:tcPr>
                </a:tc>
                <a:tc>
                  <a:txBody>
                    <a:bodyPr/>
                    <a:lstStyle/>
                    <a:p>
                      <a:endParaRPr lang="de-DE" dirty="0"/>
                    </a:p>
                  </a:txBody>
                  <a:tcPr marL="0" marR="0" marT="0" marB="252000">
                    <a:lnL>
                      <a:noFill/>
                    </a:lnL>
                    <a:lnR>
                      <a:noFill/>
                    </a:lnR>
                    <a:lnT>
                      <a:noFill/>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ts val="1600"/>
                        </a:lnSpc>
                        <a:spcBef>
                          <a:spcPts val="1600"/>
                        </a:spcBef>
                        <a:spcAft>
                          <a:spcPts val="300"/>
                        </a:spcAft>
                      </a:pPr>
                      <a:r>
                        <a:rPr lang="de-DE" sz="1100" b="1" kern="1200" dirty="0">
                          <a:solidFill>
                            <a:schemeClr val="accent1"/>
                          </a:solidFill>
                          <a:latin typeface="+mj-lt"/>
                          <a:ea typeface="+mn-ea"/>
                          <a:cs typeface="+mn-cs"/>
                        </a:rPr>
                        <a:t>Steuerservice</a:t>
                      </a:r>
                    </a:p>
                    <a:p>
                      <a:pPr marL="0" algn="l" defTabSz="783001" rtl="0" eaLnBrk="1" latinLnBrk="0" hangingPunct="1">
                        <a:lnSpc>
                          <a:spcPts val="1600"/>
                        </a:lnSpc>
                      </a:pPr>
                      <a:r>
                        <a:rPr lang="de-DE" sz="1100" kern="1200" dirty="0">
                          <a:solidFill>
                            <a:schemeClr val="tx1"/>
                          </a:solidFill>
                          <a:latin typeface="+mn-lt"/>
                          <a:ea typeface="+mn-ea"/>
                          <a:cs typeface="+mn-cs"/>
                        </a:rPr>
                        <a:t>Die Erstellung aller steuerlich </a:t>
                      </a:r>
                      <a:r>
                        <a:rPr lang="de-DE" sz="1100" kern="1200" dirty="0" err="1">
                          <a:solidFill>
                            <a:schemeClr val="tx1"/>
                          </a:solidFill>
                          <a:latin typeface="+mn-lt"/>
                          <a:ea typeface="+mn-ea"/>
                          <a:cs typeface="+mn-cs"/>
                        </a:rPr>
                        <a:t>rele</a:t>
                      </a:r>
                      <a:r>
                        <a:rPr lang="de-DE" sz="1100" kern="1200" dirty="0">
                          <a:solidFill>
                            <a:schemeClr val="tx1"/>
                          </a:solidFill>
                          <a:latin typeface="+mn-lt"/>
                          <a:ea typeface="+mn-ea"/>
                          <a:cs typeface="+mn-cs"/>
                        </a:rPr>
                        <a:t>-</a:t>
                      </a:r>
                    </a:p>
                    <a:p>
                      <a:pPr marL="0" algn="l" defTabSz="783001" rtl="0" eaLnBrk="1" latinLnBrk="0" hangingPunct="1">
                        <a:lnSpc>
                          <a:spcPts val="1600"/>
                        </a:lnSpc>
                      </a:pPr>
                      <a:r>
                        <a:rPr lang="de-DE" sz="1100" kern="1200" dirty="0" err="1">
                          <a:solidFill>
                            <a:schemeClr val="tx1"/>
                          </a:solidFill>
                          <a:latin typeface="+mn-lt"/>
                          <a:ea typeface="+mn-ea"/>
                          <a:cs typeface="+mn-cs"/>
                        </a:rPr>
                        <a:t>vanten</a:t>
                      </a:r>
                      <a:r>
                        <a:rPr lang="de-DE" sz="1100" kern="1200" dirty="0">
                          <a:solidFill>
                            <a:schemeClr val="tx1"/>
                          </a:solidFill>
                          <a:latin typeface="+mn-lt"/>
                          <a:ea typeface="+mn-ea"/>
                          <a:cs typeface="+mn-cs"/>
                        </a:rPr>
                        <a:t> und benötigten Unterlagen</a:t>
                      </a:r>
                    </a:p>
                    <a:p>
                      <a:pPr marL="0" algn="l" defTabSz="783001" rtl="0" eaLnBrk="1" latinLnBrk="0" hangingPunct="1">
                        <a:lnSpc>
                          <a:spcPts val="1600"/>
                        </a:lnSpc>
                      </a:pPr>
                      <a:r>
                        <a:rPr lang="de-DE" sz="1100" kern="1200" dirty="0">
                          <a:solidFill>
                            <a:schemeClr val="tx1"/>
                          </a:solidFill>
                          <a:latin typeface="+mn-lt"/>
                          <a:ea typeface="+mn-ea"/>
                          <a:cs typeface="+mn-cs"/>
                        </a:rPr>
                        <a:t>erfolgt automatisch und zeitnah </a:t>
                      </a:r>
                    </a:p>
                    <a:p>
                      <a:pPr marL="0" algn="l" defTabSz="783001" rtl="0" eaLnBrk="1" latinLnBrk="0" hangingPunct="1">
                        <a:lnSpc>
                          <a:spcPts val="1600"/>
                        </a:lnSpc>
                      </a:pPr>
                      <a:r>
                        <a:rPr lang="de-DE" sz="1100" kern="1200" dirty="0">
                          <a:solidFill>
                            <a:schemeClr val="tx1"/>
                          </a:solidFill>
                          <a:latin typeface="+mn-lt"/>
                          <a:ea typeface="+mn-ea"/>
                          <a:cs typeface="+mn-cs"/>
                        </a:rPr>
                        <a:t>mit dem Ablauf des </a:t>
                      </a:r>
                      <a:r>
                        <a:rPr lang="de-DE" sz="1100" kern="1200" dirty="0" err="1">
                          <a:solidFill>
                            <a:schemeClr val="tx1"/>
                          </a:solidFill>
                          <a:latin typeface="+mn-lt"/>
                          <a:ea typeface="+mn-ea"/>
                          <a:cs typeface="+mn-cs"/>
                        </a:rPr>
                        <a:t>Kalenderjah</a:t>
                      </a:r>
                      <a:r>
                        <a:rPr lang="de-DE" sz="1100" kern="1200" dirty="0">
                          <a:solidFill>
                            <a:schemeClr val="tx1"/>
                          </a:solidFill>
                          <a:latin typeface="+mn-lt"/>
                          <a:ea typeface="+mn-ea"/>
                          <a:cs typeface="+mn-cs"/>
                        </a:rPr>
                        <a:t>-</a:t>
                      </a:r>
                    </a:p>
                    <a:p>
                      <a:pPr marL="0" algn="l" defTabSz="783001" rtl="0" eaLnBrk="1" latinLnBrk="0" hangingPunct="1">
                        <a:lnSpc>
                          <a:spcPts val="1600"/>
                        </a:lnSpc>
                      </a:pPr>
                      <a:r>
                        <a:rPr lang="de-DE" sz="1100" kern="1200" dirty="0" err="1">
                          <a:solidFill>
                            <a:schemeClr val="tx1"/>
                          </a:solidFill>
                          <a:latin typeface="+mn-lt"/>
                          <a:ea typeface="+mn-ea"/>
                          <a:cs typeface="+mn-cs"/>
                        </a:rPr>
                        <a:t>res</a:t>
                      </a:r>
                      <a:r>
                        <a:rPr lang="de-DE" sz="1100" kern="1200" dirty="0">
                          <a:solidFill>
                            <a:schemeClr val="tx1"/>
                          </a:solidFill>
                          <a:latin typeface="+mn-lt"/>
                          <a:ea typeface="+mn-ea"/>
                          <a:cs typeface="+mn-cs"/>
                        </a:rPr>
                        <a:t>. Automatische Verrechnung </a:t>
                      </a:r>
                    </a:p>
                    <a:p>
                      <a:pPr marL="0" algn="l" defTabSz="783001" rtl="0" eaLnBrk="1" latinLnBrk="0" hangingPunct="1">
                        <a:lnSpc>
                          <a:spcPts val="1600"/>
                        </a:lnSpc>
                      </a:pPr>
                      <a:r>
                        <a:rPr lang="de-DE" sz="1100" kern="1200" dirty="0">
                          <a:solidFill>
                            <a:schemeClr val="tx1"/>
                          </a:solidFill>
                          <a:latin typeface="+mn-lt"/>
                          <a:ea typeface="+mn-ea"/>
                          <a:cs typeface="+mn-cs"/>
                        </a:rPr>
                        <a:t>der All-in-fee.</a:t>
                      </a:r>
                    </a:p>
                  </a:txBody>
                  <a:tcPr marL="0" marR="0" marT="0" marB="252000">
                    <a:lnL>
                      <a:noFill/>
                    </a:lnL>
                    <a:lnR>
                      <a:noFill/>
                    </a:lnR>
                    <a:lnB w="38100" cap="flat" cmpd="sng" algn="ctr">
                      <a:solidFill>
                        <a:schemeClr val="accent1"/>
                      </a:solidFill>
                      <a:prstDash val="solid"/>
                      <a:round/>
                      <a:headEnd type="none" w="med" len="med"/>
                      <a:tailEnd type="none" w="med" len="med"/>
                    </a:lnB>
                  </a:tcPr>
                </a:tc>
                <a:tc>
                  <a:txBody>
                    <a:bodyPr/>
                    <a:lstStyle/>
                    <a:p>
                      <a:endParaRPr lang="de-DE" dirty="0"/>
                    </a:p>
                  </a:txBody>
                  <a:tcPr marL="0" marR="0" marT="0" marB="252000">
                    <a:lnL>
                      <a:noFill/>
                    </a:lnL>
                    <a:lnR>
                      <a:noFill/>
                    </a:lnR>
                    <a:lnT>
                      <a:noFill/>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ts val="1600"/>
                        </a:lnSpc>
                        <a:spcBef>
                          <a:spcPts val="1600"/>
                        </a:spcBef>
                        <a:spcAft>
                          <a:spcPts val="300"/>
                        </a:spcAft>
                      </a:pPr>
                      <a:r>
                        <a:rPr lang="de-DE" sz="1100" b="1" kern="1200" dirty="0">
                          <a:solidFill>
                            <a:schemeClr val="accent1"/>
                          </a:solidFill>
                          <a:latin typeface="+mj-lt"/>
                          <a:ea typeface="+mn-ea"/>
                          <a:cs typeface="+mn-cs"/>
                        </a:rPr>
                        <a:t>Laufende Unterlagen</a:t>
                      </a:r>
                    </a:p>
                    <a:p>
                      <a:pPr marL="0" algn="l" defTabSz="783001" rtl="0" eaLnBrk="1" latinLnBrk="0" hangingPunct="1">
                        <a:lnSpc>
                          <a:spcPts val="1600"/>
                        </a:lnSpc>
                      </a:pPr>
                      <a:r>
                        <a:rPr lang="de-DE" sz="1100" kern="1200" dirty="0">
                          <a:solidFill>
                            <a:schemeClr val="tx1"/>
                          </a:solidFill>
                          <a:latin typeface="+mn-lt"/>
                          <a:ea typeface="+mn-ea"/>
                          <a:cs typeface="+mn-cs"/>
                        </a:rPr>
                        <a:t>Nach jeder Wertpapiertransaktion </a:t>
                      </a:r>
                    </a:p>
                    <a:p>
                      <a:pPr marL="0" algn="l" defTabSz="783001" rtl="0" eaLnBrk="1" latinLnBrk="0" hangingPunct="1">
                        <a:lnSpc>
                          <a:spcPts val="1600"/>
                        </a:lnSpc>
                      </a:pPr>
                      <a:r>
                        <a:rPr lang="de-DE" sz="1100" kern="1200" dirty="0">
                          <a:solidFill>
                            <a:schemeClr val="tx1"/>
                          </a:solidFill>
                          <a:latin typeface="+mn-lt"/>
                          <a:ea typeface="+mn-ea"/>
                          <a:cs typeface="+mn-cs"/>
                        </a:rPr>
                        <a:t>und Ertragsausschüttung erhalten </a:t>
                      </a:r>
                    </a:p>
                    <a:p>
                      <a:pPr marL="0" algn="l" defTabSz="783001" rtl="0" eaLnBrk="1" latinLnBrk="0" hangingPunct="1">
                        <a:lnSpc>
                          <a:spcPts val="1600"/>
                        </a:lnSpc>
                      </a:pPr>
                      <a:r>
                        <a:rPr lang="de-DE" sz="1100" kern="1200" dirty="0">
                          <a:solidFill>
                            <a:schemeClr val="tx1"/>
                          </a:solidFill>
                          <a:latin typeface="+mn-lt"/>
                          <a:ea typeface="+mn-ea"/>
                          <a:cs typeface="+mn-cs"/>
                        </a:rPr>
                        <a:t>Sie eine entsprechende </a:t>
                      </a:r>
                      <a:r>
                        <a:rPr lang="de-DE" sz="1100" kern="1200" dirty="0" err="1">
                          <a:solidFill>
                            <a:schemeClr val="tx1"/>
                          </a:solidFill>
                          <a:latin typeface="+mn-lt"/>
                          <a:ea typeface="+mn-ea"/>
                          <a:cs typeface="+mn-cs"/>
                        </a:rPr>
                        <a:t>Dokumen</a:t>
                      </a:r>
                      <a:r>
                        <a:rPr lang="de-DE" sz="1100" kern="1200" dirty="0">
                          <a:solidFill>
                            <a:schemeClr val="tx1"/>
                          </a:solidFill>
                          <a:latin typeface="+mn-lt"/>
                          <a:ea typeface="+mn-ea"/>
                          <a:cs typeface="+mn-cs"/>
                        </a:rPr>
                        <a:t>-</a:t>
                      </a:r>
                    </a:p>
                    <a:p>
                      <a:pPr marL="0" algn="l" defTabSz="783001" rtl="0" eaLnBrk="1" latinLnBrk="0" hangingPunct="1">
                        <a:lnSpc>
                          <a:spcPts val="1600"/>
                        </a:lnSpc>
                      </a:pPr>
                      <a:r>
                        <a:rPr lang="de-DE" sz="1100" kern="1200" dirty="0" err="1">
                          <a:solidFill>
                            <a:schemeClr val="tx1"/>
                          </a:solidFill>
                          <a:latin typeface="+mn-lt"/>
                          <a:ea typeface="+mn-ea"/>
                          <a:cs typeface="+mn-cs"/>
                        </a:rPr>
                        <a:t>tation</a:t>
                      </a:r>
                      <a:r>
                        <a:rPr lang="de-DE" sz="1100" kern="1200" dirty="0">
                          <a:solidFill>
                            <a:schemeClr val="tx1"/>
                          </a:solidFill>
                          <a:latin typeface="+mn-lt"/>
                          <a:ea typeface="+mn-ea"/>
                          <a:cs typeface="+mn-cs"/>
                        </a:rPr>
                        <a:t> zugesandt. Kontoauszüge </a:t>
                      </a:r>
                    </a:p>
                    <a:p>
                      <a:pPr marL="0" algn="l" defTabSz="783001" rtl="0" eaLnBrk="1" latinLnBrk="0" hangingPunct="1">
                        <a:lnSpc>
                          <a:spcPts val="1600"/>
                        </a:lnSpc>
                      </a:pPr>
                      <a:r>
                        <a:rPr lang="de-DE" sz="1100" kern="1200" dirty="0">
                          <a:solidFill>
                            <a:schemeClr val="tx1"/>
                          </a:solidFill>
                          <a:latin typeface="+mn-lt"/>
                          <a:ea typeface="+mn-ea"/>
                          <a:cs typeface="+mn-cs"/>
                        </a:rPr>
                        <a:t>werden monatlich erstellt. Somit </a:t>
                      </a:r>
                    </a:p>
                    <a:p>
                      <a:pPr marL="0" algn="l" defTabSz="783001" rtl="0" eaLnBrk="1" latinLnBrk="0" hangingPunct="1">
                        <a:lnSpc>
                          <a:spcPts val="1600"/>
                        </a:lnSpc>
                      </a:pPr>
                      <a:r>
                        <a:rPr lang="de-DE" sz="1100" kern="1200" dirty="0">
                          <a:solidFill>
                            <a:schemeClr val="tx1"/>
                          </a:solidFill>
                          <a:latin typeface="+mn-lt"/>
                          <a:ea typeface="+mn-ea"/>
                          <a:cs typeface="+mn-cs"/>
                        </a:rPr>
                        <a:t>ist für Sie ein hohes Maß an Trans-</a:t>
                      </a:r>
                    </a:p>
                    <a:p>
                      <a:pPr marL="0" algn="l" defTabSz="783001" rtl="0" eaLnBrk="1" latinLnBrk="0" hangingPunct="1">
                        <a:lnSpc>
                          <a:spcPts val="1600"/>
                        </a:lnSpc>
                      </a:pPr>
                      <a:r>
                        <a:rPr lang="de-DE" sz="1100" kern="1200" dirty="0" err="1">
                          <a:solidFill>
                            <a:schemeClr val="tx1"/>
                          </a:solidFill>
                          <a:latin typeface="+mn-lt"/>
                          <a:ea typeface="+mn-ea"/>
                          <a:cs typeface="+mn-cs"/>
                        </a:rPr>
                        <a:t>parenz</a:t>
                      </a:r>
                      <a:r>
                        <a:rPr lang="de-DE" sz="1100" kern="1200" dirty="0">
                          <a:solidFill>
                            <a:schemeClr val="tx1"/>
                          </a:solidFill>
                          <a:latin typeface="+mn-lt"/>
                          <a:ea typeface="+mn-ea"/>
                          <a:cs typeface="+mn-cs"/>
                        </a:rPr>
                        <a:t> gewährleistet.</a:t>
                      </a:r>
                    </a:p>
                  </a:txBody>
                  <a:tcPr marL="0" marR="0" marT="0" marB="252000">
                    <a:lnL>
                      <a:noFill/>
                    </a:lnL>
                    <a:lnB w="381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368564331"/>
                  </a:ext>
                </a:extLst>
              </a:tr>
            </a:tbl>
          </a:graphicData>
        </a:graphic>
      </p:graphicFrame>
      <p:sp>
        <p:nvSpPr>
          <p:cNvPr id="4" name="Titel">
            <a:extLst>
              <a:ext uri="{FF2B5EF4-FFF2-40B4-BE49-F238E27FC236}">
                <a16:creationId xmlns:a16="http://schemas.microsoft.com/office/drawing/2014/main" id="{963F2082-086E-D3BA-BA43-2CBC2A491BF6}"/>
              </a:ext>
            </a:extLst>
          </p:cNvPr>
          <p:cNvSpPr>
            <a:spLocks noGrp="1" noRot="1" noMove="1" noResize="1" noEditPoints="1" noAdjustHandles="1" noChangeArrowheads="1" noChangeShapeType="1"/>
          </p:cNvSpPr>
          <p:nvPr>
            <p:ph type="title"/>
          </p:nvPr>
        </p:nvSpPr>
        <p:spPr/>
        <p:txBody>
          <a:bodyPr/>
          <a:lstStyle/>
          <a:p>
            <a:r>
              <a:rPr lang="de-DE" dirty="0"/>
              <a:t>Unser Service</a:t>
            </a:r>
          </a:p>
        </p:txBody>
      </p:sp>
    </p:spTree>
    <p:extLst>
      <p:ext uri="{BB962C8B-B14F-4D97-AF65-F5344CB8AC3E}">
        <p14:creationId xmlns:p14="http://schemas.microsoft.com/office/powerpoint/2010/main" val="35931892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61E7A324-9C97-4CF9-6D1E-8FF8558C8AC4}"/>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24</a:t>
            </a:fld>
            <a:endParaRPr lang="de-DE"/>
          </a:p>
        </p:txBody>
      </p:sp>
      <p:sp>
        <p:nvSpPr>
          <p:cNvPr id="5" name="Text">
            <a:extLst>
              <a:ext uri="{FF2B5EF4-FFF2-40B4-BE49-F238E27FC236}">
                <a16:creationId xmlns:a16="http://schemas.microsoft.com/office/drawing/2014/main" id="{409D5D81-50B2-B91D-3250-6938778F228B}"/>
              </a:ext>
            </a:extLst>
          </p:cNvPr>
          <p:cNvSpPr>
            <a:spLocks noGrp="1" noRot="1" noMove="1" noResize="1" noEditPoints="1" noAdjustHandles="1" noChangeArrowheads="1" noChangeShapeType="1"/>
          </p:cNvSpPr>
          <p:nvPr>
            <p:ph sz="quarter" idx="13"/>
          </p:nvPr>
        </p:nvSpPr>
        <p:spPr/>
        <p:txBody>
          <a:bodyPr/>
          <a:lstStyle/>
          <a:p>
            <a:r>
              <a:rPr lang="de-DE" dirty="0"/>
              <a:t>Wesentliche Finanzkennzahlen auf einen Blick (Dezember 2024)</a:t>
            </a:r>
          </a:p>
          <a:p>
            <a:pPr lvl="1"/>
            <a:r>
              <a:rPr lang="de-DE" dirty="0"/>
              <a:t>Bilanzsumme 	</a:t>
            </a:r>
            <a:r>
              <a:rPr lang="de-DE" b="1" dirty="0"/>
              <a:t>636,1 Mio. EUR</a:t>
            </a:r>
          </a:p>
          <a:p>
            <a:pPr lvl="1"/>
            <a:r>
              <a:rPr lang="de-DE" dirty="0"/>
              <a:t>Assets </a:t>
            </a:r>
            <a:r>
              <a:rPr lang="de-DE" dirty="0" err="1"/>
              <a:t>under</a:t>
            </a:r>
            <a:r>
              <a:rPr lang="de-DE" dirty="0"/>
              <a:t> Control 	</a:t>
            </a:r>
            <a:r>
              <a:rPr lang="de-DE" b="1" dirty="0"/>
              <a:t>6.780 Mio. EUR</a:t>
            </a:r>
          </a:p>
          <a:p>
            <a:pPr lvl="1"/>
            <a:r>
              <a:rPr lang="de-DE" dirty="0"/>
              <a:t>EK-Rendite (vor Steuern) 	</a:t>
            </a:r>
            <a:r>
              <a:rPr lang="de-DE" b="1" dirty="0"/>
              <a:t>40,1 %</a:t>
            </a:r>
          </a:p>
          <a:p>
            <a:pPr lvl="1"/>
            <a:r>
              <a:rPr lang="de-DE" dirty="0"/>
              <a:t>Mitarbeiter 	</a:t>
            </a:r>
            <a:r>
              <a:rPr lang="de-DE" b="1" dirty="0"/>
              <a:t>144</a:t>
            </a:r>
          </a:p>
        </p:txBody>
      </p:sp>
      <p:graphicFrame>
        <p:nvGraphicFramePr>
          <p:cNvPr id="8" name="Diagramm">
            <a:extLst>
              <a:ext uri="{FF2B5EF4-FFF2-40B4-BE49-F238E27FC236}">
                <a16:creationId xmlns:a16="http://schemas.microsoft.com/office/drawing/2014/main" id="{2269D18A-084D-CF8E-2840-F21732DB7395}"/>
              </a:ext>
            </a:extLst>
          </p:cNvPr>
          <p:cNvGraphicFramePr>
            <a:graphicFrameLocks noGrp="1" noDrilldown="1" noMove="1" noResize="1"/>
          </p:cNvGraphicFramePr>
          <p:nvPr>
            <p:ph idx="1"/>
            <p:extLst>
              <p:ext uri="{D42A27DB-BD31-4B8C-83A1-F6EECF244321}">
                <p14:modId xmlns:p14="http://schemas.microsoft.com/office/powerpoint/2010/main" val="1545709965"/>
              </p:ext>
            </p:extLst>
          </p:nvPr>
        </p:nvGraphicFramePr>
        <p:xfrm>
          <a:off x="5327650" y="1411288"/>
          <a:ext cx="4787900" cy="2898775"/>
        </p:xfrm>
        <a:graphic>
          <a:graphicData uri="http://schemas.openxmlformats.org/drawingml/2006/chart">
            <c:chart xmlns:c="http://schemas.openxmlformats.org/drawingml/2006/chart" xmlns:r="http://schemas.openxmlformats.org/officeDocument/2006/relationships" r:id="rId2"/>
          </a:graphicData>
        </a:graphic>
      </p:graphicFrame>
      <p:sp>
        <p:nvSpPr>
          <p:cNvPr id="4" name="Titel">
            <a:extLst>
              <a:ext uri="{FF2B5EF4-FFF2-40B4-BE49-F238E27FC236}">
                <a16:creationId xmlns:a16="http://schemas.microsoft.com/office/drawing/2014/main" id="{43EB0369-5EB3-7532-2044-CF944BBC884F}"/>
              </a:ext>
            </a:extLst>
          </p:cNvPr>
          <p:cNvSpPr>
            <a:spLocks noGrp="1" noRot="1" noMove="1" noResize="1" noEditPoints="1" noAdjustHandles="1" noChangeArrowheads="1" noChangeShapeType="1"/>
          </p:cNvSpPr>
          <p:nvPr>
            <p:ph type="title"/>
          </p:nvPr>
        </p:nvSpPr>
        <p:spPr/>
        <p:txBody>
          <a:bodyPr/>
          <a:lstStyle/>
          <a:p>
            <a:r>
              <a:rPr lang="de-DE" dirty="0"/>
              <a:t>Unsere Bank in Zahlen</a:t>
            </a:r>
          </a:p>
        </p:txBody>
      </p:sp>
    </p:spTree>
    <p:extLst>
      <p:ext uri="{BB962C8B-B14F-4D97-AF65-F5344CB8AC3E}">
        <p14:creationId xmlns:p14="http://schemas.microsoft.com/office/powerpoint/2010/main" val="9088513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2A240027-3618-5377-C1BF-84267D7D2DE0}"/>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25</a:t>
            </a:fld>
            <a:endParaRPr lang="de-DE"/>
          </a:p>
        </p:txBody>
      </p:sp>
      <p:sp>
        <p:nvSpPr>
          <p:cNvPr id="3" name="Text rechts">
            <a:extLst>
              <a:ext uri="{FF2B5EF4-FFF2-40B4-BE49-F238E27FC236}">
                <a16:creationId xmlns:a16="http://schemas.microsoft.com/office/drawing/2014/main" id="{2A7ADAC9-BDE1-2830-3617-7BFE317ACBE1}"/>
              </a:ext>
            </a:extLst>
          </p:cNvPr>
          <p:cNvSpPr>
            <a:spLocks noGrp="1" noRot="1" noMove="1" noResize="1" noEditPoints="1" noAdjustHandles="1" noChangeArrowheads="1" noChangeShapeType="1"/>
          </p:cNvSpPr>
          <p:nvPr>
            <p:ph type="body" sz="quarter" idx="18"/>
          </p:nvPr>
        </p:nvSpPr>
        <p:spPr/>
        <p:txBody>
          <a:bodyPr/>
          <a:lstStyle/>
          <a:p>
            <a:r>
              <a:rPr lang="de-DE" dirty="0"/>
              <a:t>Abteilungsdirektor</a:t>
            </a:r>
            <a:br>
              <a:rPr lang="de-DE" dirty="0"/>
            </a:br>
            <a:r>
              <a:rPr lang="de-DE" dirty="0"/>
              <a:t>Private Banking Augsburg</a:t>
            </a:r>
          </a:p>
          <a:p>
            <a:r>
              <a:rPr lang="de-DE" dirty="0"/>
              <a:t>Telefon: +49 821 3201 128</a:t>
            </a:r>
            <a:br>
              <a:rPr lang="de-DE" dirty="0"/>
            </a:br>
            <a:r>
              <a:rPr lang="de-DE" dirty="0"/>
              <a:t>Mobil: +49 162 2157890</a:t>
            </a:r>
            <a:br>
              <a:rPr lang="de-DE" dirty="0"/>
            </a:br>
            <a:r>
              <a:rPr lang="de-DE" dirty="0"/>
              <a:t>Mail: christoph.balleis@fuggerbank.de</a:t>
            </a:r>
          </a:p>
        </p:txBody>
      </p:sp>
      <p:sp>
        <p:nvSpPr>
          <p:cNvPr id="4" name="Text links">
            <a:extLst>
              <a:ext uri="{FF2B5EF4-FFF2-40B4-BE49-F238E27FC236}">
                <a16:creationId xmlns:a16="http://schemas.microsoft.com/office/drawing/2014/main" id="{8D7EA6C0-2865-B71D-0A55-63B623C686B4}"/>
              </a:ext>
            </a:extLst>
          </p:cNvPr>
          <p:cNvSpPr>
            <a:spLocks noGrp="1" noRot="1" noMove="1" noResize="1" noEditPoints="1" noAdjustHandles="1" noChangeArrowheads="1" noChangeShapeType="1"/>
          </p:cNvSpPr>
          <p:nvPr>
            <p:ph type="body" sz="quarter" idx="17"/>
          </p:nvPr>
        </p:nvSpPr>
        <p:spPr/>
        <p:txBody>
          <a:bodyPr/>
          <a:lstStyle/>
          <a:p>
            <a:r>
              <a:rPr lang="de-DE" dirty="0"/>
              <a:t>Niederlassungsleiter Augsburg</a:t>
            </a:r>
            <a:br>
              <a:rPr lang="de-DE" dirty="0"/>
            </a:br>
            <a:r>
              <a:rPr lang="de-DE" dirty="0"/>
              <a:t>Private Banking Augsburg</a:t>
            </a:r>
          </a:p>
          <a:p>
            <a:r>
              <a:rPr lang="de-DE" dirty="0"/>
              <a:t>Telefon: +49 821 3201 217</a:t>
            </a:r>
            <a:br>
              <a:rPr lang="de-DE" dirty="0"/>
            </a:br>
            <a:r>
              <a:rPr lang="de-DE" dirty="0"/>
              <a:t>Mobil: +49 172 8583562</a:t>
            </a:r>
            <a:br>
              <a:rPr lang="de-DE" dirty="0"/>
            </a:br>
            <a:r>
              <a:rPr lang="de-DE" dirty="0"/>
              <a:t>Mail: alexander.wagner@fuggerbank.de</a:t>
            </a:r>
          </a:p>
        </p:txBody>
      </p:sp>
      <p:sp>
        <p:nvSpPr>
          <p:cNvPr id="5" name="Name rechts">
            <a:extLst>
              <a:ext uri="{FF2B5EF4-FFF2-40B4-BE49-F238E27FC236}">
                <a16:creationId xmlns:a16="http://schemas.microsoft.com/office/drawing/2014/main" id="{760A462F-C26C-20B1-0420-735E5E81EFCA}"/>
              </a:ext>
            </a:extLst>
          </p:cNvPr>
          <p:cNvSpPr>
            <a:spLocks noGrp="1" noRot="1" noMove="1" noResize="1" noEditPoints="1" noAdjustHandles="1" noChangeArrowheads="1" noChangeShapeType="1"/>
          </p:cNvSpPr>
          <p:nvPr>
            <p:ph type="body" sz="quarter" idx="16"/>
          </p:nvPr>
        </p:nvSpPr>
        <p:spPr/>
        <p:txBody>
          <a:bodyPr/>
          <a:lstStyle/>
          <a:p>
            <a:r>
              <a:rPr lang="de-DE" dirty="0"/>
              <a:t>Christoph </a:t>
            </a:r>
            <a:r>
              <a:rPr lang="de-DE" dirty="0" err="1"/>
              <a:t>Balleis</a:t>
            </a:r>
            <a:endParaRPr lang="de-DE" dirty="0"/>
          </a:p>
        </p:txBody>
      </p:sp>
      <p:sp>
        <p:nvSpPr>
          <p:cNvPr id="6" name="Name links">
            <a:extLst>
              <a:ext uri="{FF2B5EF4-FFF2-40B4-BE49-F238E27FC236}">
                <a16:creationId xmlns:a16="http://schemas.microsoft.com/office/drawing/2014/main" id="{6923F674-7D62-E4F6-AAB9-EA49027A281A}"/>
              </a:ext>
            </a:extLst>
          </p:cNvPr>
          <p:cNvSpPr>
            <a:spLocks noGrp="1" noRot="1" noMove="1" noResize="1" noEditPoints="1" noAdjustHandles="1" noChangeArrowheads="1" noChangeShapeType="1"/>
          </p:cNvSpPr>
          <p:nvPr>
            <p:ph type="body" sz="quarter" idx="15"/>
          </p:nvPr>
        </p:nvSpPr>
        <p:spPr/>
        <p:txBody>
          <a:bodyPr/>
          <a:lstStyle/>
          <a:p>
            <a:r>
              <a:rPr lang="de-DE" dirty="0"/>
              <a:t>Alexander Wagner</a:t>
            </a:r>
          </a:p>
        </p:txBody>
      </p:sp>
      <p:pic>
        <p:nvPicPr>
          <p:cNvPr id="13" name="Bild rechts">
            <a:extLst>
              <a:ext uri="{FF2B5EF4-FFF2-40B4-BE49-F238E27FC236}">
                <a16:creationId xmlns:a16="http://schemas.microsoft.com/office/drawing/2014/main" id="{B233D1E0-8BD9-3413-54DB-1255B85E6766}"/>
              </a:ext>
            </a:extLst>
          </p:cNvPr>
          <p:cNvPicPr>
            <a:picLocks noGrp="1" noRot="1" noChangeAspect="1" noMove="1" noResize="1" noEditPoints="1" noAdjustHandles="1" noChangeArrowheads="1" noChangeShapeType="1" noCrop="1"/>
          </p:cNvPicPr>
          <p:nvPr>
            <p:ph type="pic" sz="quarter" idx="14"/>
          </p:nvPr>
        </p:nvPicPr>
        <p:blipFill>
          <a:blip r:embed="rId2">
            <a:extLst>
              <a:ext uri="{28A0092B-C50C-407E-A947-70E740481C1C}">
                <a14:useLocalDpi xmlns:a14="http://schemas.microsoft.com/office/drawing/2010/main" val="0"/>
              </a:ext>
            </a:extLst>
          </a:blip>
          <a:srcRect t="1222" b="1222"/>
          <a:stretch>
            <a:fillRect/>
          </a:stretch>
        </p:blipFill>
        <p:spPr/>
      </p:pic>
      <p:pic>
        <p:nvPicPr>
          <p:cNvPr id="11" name="Bild links">
            <a:extLst>
              <a:ext uri="{FF2B5EF4-FFF2-40B4-BE49-F238E27FC236}">
                <a16:creationId xmlns:a16="http://schemas.microsoft.com/office/drawing/2014/main" id="{D371DB5B-FBDA-847D-764A-0E89AFAF0CD4}"/>
              </a:ext>
            </a:extLst>
          </p:cNvPr>
          <p:cNvPicPr>
            <a:picLocks noGrp="1" noRot="1" noChangeAspect="1" noMove="1" noResize="1" noEditPoints="1" noAdjustHandles="1" noChangeArrowheads="1" noChangeShapeType="1" noCrop="1"/>
          </p:cNvPicPr>
          <p:nvPr>
            <p:ph type="pic" sz="quarter" idx="13"/>
          </p:nvPr>
        </p:nvPicPr>
        <p:blipFill>
          <a:blip r:embed="rId3">
            <a:extLst>
              <a:ext uri="{28A0092B-C50C-407E-A947-70E740481C1C}">
                <a14:useLocalDpi xmlns:a14="http://schemas.microsoft.com/office/drawing/2010/main" val="0"/>
              </a:ext>
            </a:extLst>
          </a:blip>
          <a:srcRect t="1222" b="1222"/>
          <a:stretch>
            <a:fillRect/>
          </a:stretch>
        </p:blipFill>
        <p:spPr/>
      </p:pic>
      <p:sp>
        <p:nvSpPr>
          <p:cNvPr id="9" name="Titel">
            <a:extLst>
              <a:ext uri="{FF2B5EF4-FFF2-40B4-BE49-F238E27FC236}">
                <a16:creationId xmlns:a16="http://schemas.microsoft.com/office/drawing/2014/main" id="{906F2124-5E0A-DB8A-390A-200076A38445}"/>
              </a:ext>
            </a:extLst>
          </p:cNvPr>
          <p:cNvSpPr>
            <a:spLocks noGrp="1" noRot="1" noMove="1" noResize="1" noEditPoints="1" noAdjustHandles="1" noChangeArrowheads="1" noChangeShapeType="1"/>
          </p:cNvSpPr>
          <p:nvPr>
            <p:ph type="title"/>
          </p:nvPr>
        </p:nvSpPr>
        <p:spPr/>
        <p:txBody>
          <a:bodyPr/>
          <a:lstStyle/>
          <a:p>
            <a:r>
              <a:rPr lang="de-DE" dirty="0"/>
              <a:t>Ihre Ansprechpartner</a:t>
            </a:r>
            <a:br>
              <a:rPr lang="de-DE" dirty="0"/>
            </a:br>
            <a:r>
              <a:rPr lang="de-DE" dirty="0"/>
              <a:t>für den Vertrieb</a:t>
            </a:r>
          </a:p>
        </p:txBody>
      </p:sp>
    </p:spTree>
    <p:extLst>
      <p:ext uri="{BB962C8B-B14F-4D97-AF65-F5344CB8AC3E}">
        <p14:creationId xmlns:p14="http://schemas.microsoft.com/office/powerpoint/2010/main" val="679504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F16CDBE5-4FA6-3515-64ED-F86521DA4866}"/>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26</a:t>
            </a:fld>
            <a:endParaRPr lang="de-DE"/>
          </a:p>
        </p:txBody>
      </p:sp>
      <p:sp>
        <p:nvSpPr>
          <p:cNvPr id="11" name="Text rechts">
            <a:extLst>
              <a:ext uri="{FF2B5EF4-FFF2-40B4-BE49-F238E27FC236}">
                <a16:creationId xmlns:a16="http://schemas.microsoft.com/office/drawing/2014/main" id="{7C5AAA80-0D5B-6BA4-5A77-643F348D60D6}"/>
              </a:ext>
            </a:extLst>
          </p:cNvPr>
          <p:cNvSpPr>
            <a:spLocks noGrp="1" noRot="1" noMove="1" noResize="1" noEditPoints="1" noAdjustHandles="1" noChangeArrowheads="1" noChangeShapeType="1"/>
          </p:cNvSpPr>
          <p:nvPr>
            <p:ph type="body" sz="quarter" idx="21"/>
          </p:nvPr>
        </p:nvSpPr>
        <p:spPr/>
        <p:txBody>
          <a:bodyPr/>
          <a:lstStyle/>
          <a:p>
            <a:r>
              <a:rPr lang="de-DE" dirty="0"/>
              <a:t>Fürst Fugger Privatbank </a:t>
            </a:r>
            <a:br>
              <a:rPr lang="de-DE" dirty="0"/>
            </a:br>
            <a:r>
              <a:rPr lang="de-DE" dirty="0"/>
              <a:t>Friedrichsplatz 17 </a:t>
            </a:r>
            <a:br>
              <a:rPr lang="de-DE" dirty="0"/>
            </a:br>
            <a:r>
              <a:rPr lang="de-DE" dirty="0"/>
              <a:t>68165 Mannheim</a:t>
            </a:r>
          </a:p>
          <a:p>
            <a:r>
              <a:rPr lang="de-DE" dirty="0"/>
              <a:t>Telefon: +49 621 430905 0 </a:t>
            </a:r>
            <a:br>
              <a:rPr lang="de-DE" dirty="0"/>
            </a:br>
            <a:r>
              <a:rPr lang="de-DE" dirty="0"/>
              <a:t>Mail: private.banking.mannheim@fuggerbank.de</a:t>
            </a:r>
          </a:p>
        </p:txBody>
      </p:sp>
      <p:sp>
        <p:nvSpPr>
          <p:cNvPr id="3" name="Text mitte">
            <a:extLst>
              <a:ext uri="{FF2B5EF4-FFF2-40B4-BE49-F238E27FC236}">
                <a16:creationId xmlns:a16="http://schemas.microsoft.com/office/drawing/2014/main" id="{7965C01C-C4C9-7CDF-E9BF-690EDE0416FA}"/>
              </a:ext>
            </a:extLst>
          </p:cNvPr>
          <p:cNvSpPr>
            <a:spLocks noGrp="1" noRot="1" noMove="1" noResize="1" noEditPoints="1" noAdjustHandles="1" noChangeArrowheads="1" noChangeShapeType="1"/>
          </p:cNvSpPr>
          <p:nvPr>
            <p:ph type="body" sz="quarter" idx="18"/>
          </p:nvPr>
        </p:nvSpPr>
        <p:spPr/>
        <p:txBody>
          <a:bodyPr/>
          <a:lstStyle/>
          <a:p>
            <a:r>
              <a:rPr lang="de-DE" dirty="0"/>
              <a:t>Fürst Fugger Privatbank </a:t>
            </a:r>
            <a:br>
              <a:rPr lang="de-DE" dirty="0"/>
            </a:br>
            <a:r>
              <a:rPr lang="de-DE" dirty="0"/>
              <a:t>Apostelnstraße 1–3 </a:t>
            </a:r>
            <a:br>
              <a:rPr lang="de-DE" dirty="0"/>
            </a:br>
            <a:r>
              <a:rPr lang="de-DE" dirty="0"/>
              <a:t>50667 Köln </a:t>
            </a:r>
          </a:p>
          <a:p>
            <a:r>
              <a:rPr lang="de-DE" dirty="0"/>
              <a:t>Telefon: +49 221 206544 20 </a:t>
            </a:r>
            <a:br>
              <a:rPr lang="de-DE" dirty="0"/>
            </a:br>
            <a:r>
              <a:rPr lang="de-DE" dirty="0"/>
              <a:t>Mail: private.banking.koeln@fuggerbank.de</a:t>
            </a:r>
          </a:p>
        </p:txBody>
      </p:sp>
      <p:sp>
        <p:nvSpPr>
          <p:cNvPr id="4" name="Text links">
            <a:extLst>
              <a:ext uri="{FF2B5EF4-FFF2-40B4-BE49-F238E27FC236}">
                <a16:creationId xmlns:a16="http://schemas.microsoft.com/office/drawing/2014/main" id="{45E2C8C1-9839-2531-AC40-4C0A6C0A06BB}"/>
              </a:ext>
            </a:extLst>
          </p:cNvPr>
          <p:cNvSpPr>
            <a:spLocks noGrp="1" noRot="1" noMove="1" noResize="1" noEditPoints="1" noAdjustHandles="1" noChangeArrowheads="1" noChangeShapeType="1"/>
          </p:cNvSpPr>
          <p:nvPr>
            <p:ph type="body" sz="quarter" idx="17"/>
          </p:nvPr>
        </p:nvSpPr>
        <p:spPr/>
        <p:txBody>
          <a:bodyPr/>
          <a:lstStyle/>
          <a:p>
            <a:r>
              <a:rPr lang="de-DE" dirty="0"/>
              <a:t>Fürst Fugger Privatbank </a:t>
            </a:r>
            <a:br>
              <a:rPr lang="de-DE" dirty="0"/>
            </a:br>
            <a:r>
              <a:rPr lang="de-DE" dirty="0"/>
              <a:t>Maximilianstraße 38</a:t>
            </a:r>
            <a:br>
              <a:rPr lang="de-DE" dirty="0"/>
            </a:br>
            <a:r>
              <a:rPr lang="de-DE" dirty="0"/>
              <a:t>86150 Augsburg</a:t>
            </a:r>
          </a:p>
          <a:p>
            <a:r>
              <a:rPr lang="de-DE" dirty="0"/>
              <a:t>Telefon: +49 821 3201 999</a:t>
            </a:r>
            <a:br>
              <a:rPr lang="de-DE" dirty="0"/>
            </a:br>
            <a:r>
              <a:rPr lang="de-DE" dirty="0"/>
              <a:t>Mail: private.banking.augsburg@fuggerbank.de</a:t>
            </a:r>
          </a:p>
        </p:txBody>
      </p:sp>
      <p:sp>
        <p:nvSpPr>
          <p:cNvPr id="12" name="Name rechts">
            <a:extLst>
              <a:ext uri="{FF2B5EF4-FFF2-40B4-BE49-F238E27FC236}">
                <a16:creationId xmlns:a16="http://schemas.microsoft.com/office/drawing/2014/main" id="{E67E6A22-9F9B-E8AA-25D5-32F5FCA94531}"/>
              </a:ext>
            </a:extLst>
          </p:cNvPr>
          <p:cNvSpPr>
            <a:spLocks noGrp="1" noRot="1" noMove="1" noResize="1" noEditPoints="1" noAdjustHandles="1" noChangeArrowheads="1" noChangeShapeType="1"/>
          </p:cNvSpPr>
          <p:nvPr>
            <p:ph type="body" sz="quarter" idx="22"/>
          </p:nvPr>
        </p:nvSpPr>
        <p:spPr/>
        <p:txBody>
          <a:bodyPr/>
          <a:lstStyle/>
          <a:p>
            <a:r>
              <a:rPr lang="de-DE" dirty="0"/>
              <a:t>Standort Mannheim</a:t>
            </a:r>
          </a:p>
        </p:txBody>
      </p:sp>
      <p:sp>
        <p:nvSpPr>
          <p:cNvPr id="5" name="Name mitte">
            <a:extLst>
              <a:ext uri="{FF2B5EF4-FFF2-40B4-BE49-F238E27FC236}">
                <a16:creationId xmlns:a16="http://schemas.microsoft.com/office/drawing/2014/main" id="{2DD0505B-E35A-0974-CBC6-D4668134FD81}"/>
              </a:ext>
            </a:extLst>
          </p:cNvPr>
          <p:cNvSpPr>
            <a:spLocks noGrp="1" noRot="1" noMove="1" noResize="1" noEditPoints="1" noAdjustHandles="1" noChangeArrowheads="1" noChangeShapeType="1"/>
          </p:cNvSpPr>
          <p:nvPr>
            <p:ph type="body" sz="quarter" idx="16"/>
          </p:nvPr>
        </p:nvSpPr>
        <p:spPr/>
        <p:txBody>
          <a:bodyPr/>
          <a:lstStyle/>
          <a:p>
            <a:r>
              <a:rPr lang="de-DE" dirty="0"/>
              <a:t>Standort Köln</a:t>
            </a:r>
          </a:p>
        </p:txBody>
      </p:sp>
      <p:sp>
        <p:nvSpPr>
          <p:cNvPr id="6" name="Name links">
            <a:extLst>
              <a:ext uri="{FF2B5EF4-FFF2-40B4-BE49-F238E27FC236}">
                <a16:creationId xmlns:a16="http://schemas.microsoft.com/office/drawing/2014/main" id="{92BAED04-BBE1-879D-AE8C-D1343B89F6B9}"/>
              </a:ext>
            </a:extLst>
          </p:cNvPr>
          <p:cNvSpPr>
            <a:spLocks noGrp="1" noRot="1" noMove="1" noResize="1" noEditPoints="1" noAdjustHandles="1" noChangeArrowheads="1" noChangeShapeType="1"/>
          </p:cNvSpPr>
          <p:nvPr>
            <p:ph type="body" sz="quarter" idx="15"/>
          </p:nvPr>
        </p:nvSpPr>
        <p:spPr/>
        <p:txBody>
          <a:bodyPr/>
          <a:lstStyle/>
          <a:p>
            <a:r>
              <a:rPr lang="de-DE" dirty="0"/>
              <a:t>Standort Augsburg</a:t>
            </a:r>
          </a:p>
        </p:txBody>
      </p:sp>
      <p:pic>
        <p:nvPicPr>
          <p:cNvPr id="18" name="Bild rechts">
            <a:extLst>
              <a:ext uri="{FF2B5EF4-FFF2-40B4-BE49-F238E27FC236}">
                <a16:creationId xmlns:a16="http://schemas.microsoft.com/office/drawing/2014/main" id="{721B5171-693C-1389-1941-32A8C742C50F}"/>
              </a:ext>
            </a:extLst>
          </p:cNvPr>
          <p:cNvPicPr>
            <a:picLocks noGrp="1" noRot="1" noChangeAspect="1" noMove="1" noResize="1" noEditPoints="1" noAdjustHandles="1" noChangeArrowheads="1" noChangeShapeType="1" noCrop="1"/>
          </p:cNvPicPr>
          <p:nvPr>
            <p:ph type="pic" sz="quarter" idx="20"/>
          </p:nvPr>
        </p:nvPicPr>
        <p:blipFill>
          <a:blip r:embed="rId2">
            <a:extLst>
              <a:ext uri="{28A0092B-C50C-407E-A947-70E740481C1C}">
                <a14:useLocalDpi xmlns:a14="http://schemas.microsoft.com/office/drawing/2010/main" val="0"/>
              </a:ext>
            </a:extLst>
          </a:blip>
          <a:srcRect l="14239" r="14239"/>
          <a:stretch>
            <a:fillRect/>
          </a:stretch>
        </p:blipFill>
        <p:spPr/>
      </p:pic>
      <p:pic>
        <p:nvPicPr>
          <p:cNvPr id="16" name="Bild mitte">
            <a:extLst>
              <a:ext uri="{FF2B5EF4-FFF2-40B4-BE49-F238E27FC236}">
                <a16:creationId xmlns:a16="http://schemas.microsoft.com/office/drawing/2014/main" id="{964CDC76-CFD5-014E-FA4D-A4FEC626AB6D}"/>
              </a:ext>
            </a:extLst>
          </p:cNvPr>
          <p:cNvPicPr>
            <a:picLocks noGrp="1" noRot="1" noChangeAspect="1" noMove="1" noResize="1" noEditPoints="1" noAdjustHandles="1" noChangeArrowheads="1" noChangeShapeType="1" noCrop="1"/>
          </p:cNvPicPr>
          <p:nvPr>
            <p:ph type="pic" sz="quarter" idx="19"/>
          </p:nvPr>
        </p:nvPicPr>
        <p:blipFill>
          <a:blip r:embed="rId3">
            <a:extLst>
              <a:ext uri="{28A0092B-C50C-407E-A947-70E740481C1C}">
                <a14:useLocalDpi xmlns:a14="http://schemas.microsoft.com/office/drawing/2010/main" val="0"/>
              </a:ext>
            </a:extLst>
          </a:blip>
          <a:srcRect l="16699" r="16699"/>
          <a:stretch>
            <a:fillRect/>
          </a:stretch>
        </p:blipFill>
        <p:spPr/>
      </p:pic>
      <p:pic>
        <p:nvPicPr>
          <p:cNvPr id="14" name="Bild links">
            <a:extLst>
              <a:ext uri="{FF2B5EF4-FFF2-40B4-BE49-F238E27FC236}">
                <a16:creationId xmlns:a16="http://schemas.microsoft.com/office/drawing/2014/main" id="{22B882D9-62F0-8BC8-EC01-CC7490F65857}"/>
              </a:ext>
            </a:extLst>
          </p:cNvPr>
          <p:cNvPicPr>
            <a:picLocks noGrp="1" noRot="1" noChangeAspect="1" noMove="1" noResize="1" noEditPoints="1" noAdjustHandles="1" noChangeArrowheads="1" noChangeShapeType="1" noCrop="1"/>
          </p:cNvPicPr>
          <p:nvPr>
            <p:ph type="pic" sz="quarter" idx="13"/>
          </p:nvPr>
        </p:nvPicPr>
        <p:blipFill>
          <a:blip r:embed="rId4">
            <a:extLst>
              <a:ext uri="{28A0092B-C50C-407E-A947-70E740481C1C}">
                <a14:useLocalDpi xmlns:a14="http://schemas.microsoft.com/office/drawing/2010/main" val="0"/>
              </a:ext>
            </a:extLst>
          </a:blip>
          <a:srcRect l="16635" r="16635"/>
          <a:stretch>
            <a:fillRect/>
          </a:stretch>
        </p:blipFill>
        <p:spPr/>
      </p:pic>
      <p:sp>
        <p:nvSpPr>
          <p:cNvPr id="8" name="Titel">
            <a:extLst>
              <a:ext uri="{FF2B5EF4-FFF2-40B4-BE49-F238E27FC236}">
                <a16:creationId xmlns:a16="http://schemas.microsoft.com/office/drawing/2014/main" id="{99AA23C9-5767-BA3A-A8E3-7815F50ACF63}"/>
              </a:ext>
            </a:extLst>
          </p:cNvPr>
          <p:cNvSpPr>
            <a:spLocks noGrp="1" noRot="1" noMove="1" noResize="1" noEditPoints="1" noAdjustHandles="1" noChangeArrowheads="1" noChangeShapeType="1"/>
          </p:cNvSpPr>
          <p:nvPr>
            <p:ph type="title"/>
          </p:nvPr>
        </p:nvSpPr>
        <p:spPr/>
        <p:txBody>
          <a:bodyPr/>
          <a:lstStyle/>
          <a:p>
            <a:r>
              <a:rPr lang="de-DE" dirty="0"/>
              <a:t>Unsere Standorte</a:t>
            </a:r>
          </a:p>
        </p:txBody>
      </p:sp>
    </p:spTree>
    <p:extLst>
      <p:ext uri="{BB962C8B-B14F-4D97-AF65-F5344CB8AC3E}">
        <p14:creationId xmlns:p14="http://schemas.microsoft.com/office/powerpoint/2010/main" val="28641177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A3B8814F-D1D8-2D28-64B5-ED0BAA73071B}"/>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27</a:t>
            </a:fld>
            <a:endParaRPr lang="de-DE"/>
          </a:p>
        </p:txBody>
      </p:sp>
      <p:sp>
        <p:nvSpPr>
          <p:cNvPr id="11" name="Text rechts">
            <a:extLst>
              <a:ext uri="{FF2B5EF4-FFF2-40B4-BE49-F238E27FC236}">
                <a16:creationId xmlns:a16="http://schemas.microsoft.com/office/drawing/2014/main" id="{17ED16B6-3864-0319-682D-5404B527792F}"/>
              </a:ext>
            </a:extLst>
          </p:cNvPr>
          <p:cNvSpPr>
            <a:spLocks noGrp="1" noRot="1" noMove="1" noResize="1" noEditPoints="1" noAdjustHandles="1" noChangeArrowheads="1" noChangeShapeType="1"/>
          </p:cNvSpPr>
          <p:nvPr>
            <p:ph type="body" sz="quarter" idx="21"/>
          </p:nvPr>
        </p:nvSpPr>
        <p:spPr/>
        <p:txBody>
          <a:bodyPr/>
          <a:lstStyle/>
          <a:p>
            <a:r>
              <a:rPr lang="de-DE" dirty="0"/>
              <a:t>Fürst Fugger Privatbank </a:t>
            </a:r>
            <a:br>
              <a:rPr lang="de-DE" dirty="0"/>
            </a:br>
            <a:r>
              <a:rPr lang="de-DE" dirty="0"/>
              <a:t>Theodor-Heuss-Str. 9 </a:t>
            </a:r>
            <a:br>
              <a:rPr lang="de-DE" dirty="0"/>
            </a:br>
            <a:r>
              <a:rPr lang="de-DE" dirty="0"/>
              <a:t>70174 Stuttgart</a:t>
            </a:r>
          </a:p>
          <a:p>
            <a:r>
              <a:rPr lang="de-DE" dirty="0"/>
              <a:t>Telefon: +49 711 870359 0 </a:t>
            </a:r>
            <a:br>
              <a:rPr lang="de-DE" dirty="0"/>
            </a:br>
            <a:r>
              <a:rPr lang="de-DE" dirty="0"/>
              <a:t>Mail: private.banking.stuttgart@fuggerbank.de</a:t>
            </a:r>
          </a:p>
        </p:txBody>
      </p:sp>
      <p:sp>
        <p:nvSpPr>
          <p:cNvPr id="3" name="Text mitte">
            <a:extLst>
              <a:ext uri="{FF2B5EF4-FFF2-40B4-BE49-F238E27FC236}">
                <a16:creationId xmlns:a16="http://schemas.microsoft.com/office/drawing/2014/main" id="{2FA3669C-AD30-620E-4ED8-D05BF1BA5D81}"/>
              </a:ext>
            </a:extLst>
          </p:cNvPr>
          <p:cNvSpPr>
            <a:spLocks noGrp="1" noRot="1" noMove="1" noResize="1" noEditPoints="1" noAdjustHandles="1" noChangeArrowheads="1" noChangeShapeType="1"/>
          </p:cNvSpPr>
          <p:nvPr>
            <p:ph type="body" sz="quarter" idx="18"/>
          </p:nvPr>
        </p:nvSpPr>
        <p:spPr/>
        <p:txBody>
          <a:bodyPr/>
          <a:lstStyle/>
          <a:p>
            <a:r>
              <a:rPr lang="de-DE" dirty="0"/>
              <a:t>Fürst Fugger Privatbank </a:t>
            </a:r>
            <a:br>
              <a:rPr lang="de-DE" dirty="0"/>
            </a:br>
            <a:r>
              <a:rPr lang="de-DE" dirty="0"/>
              <a:t>Rathenauplatz 2 </a:t>
            </a:r>
            <a:br>
              <a:rPr lang="de-DE" dirty="0"/>
            </a:br>
            <a:r>
              <a:rPr lang="de-DE" dirty="0"/>
              <a:t>90489 Nürnberg</a:t>
            </a:r>
          </a:p>
          <a:p>
            <a:r>
              <a:rPr lang="de-DE" dirty="0"/>
              <a:t>Telefon: +49 911 52125 00 </a:t>
            </a:r>
            <a:br>
              <a:rPr lang="de-DE" dirty="0"/>
            </a:br>
            <a:r>
              <a:rPr lang="de-DE" dirty="0"/>
              <a:t>Mail: private.banking.nuernberg@fuggerbank.de</a:t>
            </a:r>
          </a:p>
        </p:txBody>
      </p:sp>
      <p:sp>
        <p:nvSpPr>
          <p:cNvPr id="4" name="Text links">
            <a:extLst>
              <a:ext uri="{FF2B5EF4-FFF2-40B4-BE49-F238E27FC236}">
                <a16:creationId xmlns:a16="http://schemas.microsoft.com/office/drawing/2014/main" id="{8B59AA38-FCAC-FB11-D03D-F4160D5D70BA}"/>
              </a:ext>
            </a:extLst>
          </p:cNvPr>
          <p:cNvSpPr>
            <a:spLocks noGrp="1" noRot="1" noMove="1" noResize="1" noEditPoints="1" noAdjustHandles="1" noChangeArrowheads="1" noChangeShapeType="1"/>
          </p:cNvSpPr>
          <p:nvPr>
            <p:ph type="body" sz="quarter" idx="17"/>
          </p:nvPr>
        </p:nvSpPr>
        <p:spPr/>
        <p:txBody>
          <a:bodyPr/>
          <a:lstStyle/>
          <a:p>
            <a:r>
              <a:rPr lang="de-DE" dirty="0"/>
              <a:t>Fürst Fugger Privatbank </a:t>
            </a:r>
            <a:br>
              <a:rPr lang="de-DE" dirty="0"/>
            </a:br>
            <a:r>
              <a:rPr lang="de-DE" dirty="0" err="1"/>
              <a:t>Prannerstraße</a:t>
            </a:r>
            <a:r>
              <a:rPr lang="de-DE" dirty="0"/>
              <a:t> 8</a:t>
            </a:r>
            <a:br>
              <a:rPr lang="de-DE" dirty="0"/>
            </a:br>
            <a:r>
              <a:rPr lang="de-DE" dirty="0"/>
              <a:t>80333 München</a:t>
            </a:r>
          </a:p>
          <a:p>
            <a:r>
              <a:rPr lang="de-DE" dirty="0"/>
              <a:t>Telefon: +49 8929 0729 0</a:t>
            </a:r>
            <a:br>
              <a:rPr lang="de-DE" dirty="0"/>
            </a:br>
            <a:r>
              <a:rPr lang="de-DE" dirty="0"/>
              <a:t>Mail: private.banking.muenchen@fuggerbank.de</a:t>
            </a:r>
          </a:p>
        </p:txBody>
      </p:sp>
      <p:sp>
        <p:nvSpPr>
          <p:cNvPr id="12" name="Name rechts">
            <a:extLst>
              <a:ext uri="{FF2B5EF4-FFF2-40B4-BE49-F238E27FC236}">
                <a16:creationId xmlns:a16="http://schemas.microsoft.com/office/drawing/2014/main" id="{AAE8014B-0DD1-0E63-35AB-4A492D8B2664}"/>
              </a:ext>
            </a:extLst>
          </p:cNvPr>
          <p:cNvSpPr>
            <a:spLocks noGrp="1" noRot="1" noMove="1" noResize="1" noEditPoints="1" noAdjustHandles="1" noChangeArrowheads="1" noChangeShapeType="1"/>
          </p:cNvSpPr>
          <p:nvPr>
            <p:ph type="body" sz="quarter" idx="22"/>
          </p:nvPr>
        </p:nvSpPr>
        <p:spPr/>
        <p:txBody>
          <a:bodyPr/>
          <a:lstStyle/>
          <a:p>
            <a:r>
              <a:rPr lang="de-DE" dirty="0"/>
              <a:t>Standort Stuttgart</a:t>
            </a:r>
          </a:p>
        </p:txBody>
      </p:sp>
      <p:sp>
        <p:nvSpPr>
          <p:cNvPr id="5" name="Name mitte">
            <a:extLst>
              <a:ext uri="{FF2B5EF4-FFF2-40B4-BE49-F238E27FC236}">
                <a16:creationId xmlns:a16="http://schemas.microsoft.com/office/drawing/2014/main" id="{5874B704-96C1-0CB8-63DC-A92C26BE04D7}"/>
              </a:ext>
            </a:extLst>
          </p:cNvPr>
          <p:cNvSpPr>
            <a:spLocks noGrp="1" noRot="1" noMove="1" noResize="1" noEditPoints="1" noAdjustHandles="1" noChangeArrowheads="1" noChangeShapeType="1"/>
          </p:cNvSpPr>
          <p:nvPr>
            <p:ph type="body" sz="quarter" idx="16"/>
          </p:nvPr>
        </p:nvSpPr>
        <p:spPr/>
        <p:txBody>
          <a:bodyPr/>
          <a:lstStyle/>
          <a:p>
            <a:r>
              <a:rPr lang="de-DE" dirty="0"/>
              <a:t>Standort Nürnberg</a:t>
            </a:r>
          </a:p>
        </p:txBody>
      </p:sp>
      <p:sp>
        <p:nvSpPr>
          <p:cNvPr id="6" name="Name links">
            <a:extLst>
              <a:ext uri="{FF2B5EF4-FFF2-40B4-BE49-F238E27FC236}">
                <a16:creationId xmlns:a16="http://schemas.microsoft.com/office/drawing/2014/main" id="{25DD03EF-49D2-8FA8-066A-F22E53377802}"/>
              </a:ext>
            </a:extLst>
          </p:cNvPr>
          <p:cNvSpPr>
            <a:spLocks noGrp="1" noRot="1" noMove="1" noResize="1" noEditPoints="1" noAdjustHandles="1" noChangeArrowheads="1" noChangeShapeType="1"/>
          </p:cNvSpPr>
          <p:nvPr>
            <p:ph type="body" sz="quarter" idx="15"/>
          </p:nvPr>
        </p:nvSpPr>
        <p:spPr/>
        <p:txBody>
          <a:bodyPr/>
          <a:lstStyle/>
          <a:p>
            <a:r>
              <a:rPr lang="de-DE" dirty="0"/>
              <a:t>Standort München</a:t>
            </a:r>
          </a:p>
        </p:txBody>
      </p:sp>
      <p:pic>
        <p:nvPicPr>
          <p:cNvPr id="18" name="Bild rechts">
            <a:extLst>
              <a:ext uri="{FF2B5EF4-FFF2-40B4-BE49-F238E27FC236}">
                <a16:creationId xmlns:a16="http://schemas.microsoft.com/office/drawing/2014/main" id="{D4BA8B98-92EC-64EB-71B3-A6E3E2BA7D31}"/>
              </a:ext>
            </a:extLst>
          </p:cNvPr>
          <p:cNvPicPr>
            <a:picLocks noGrp="1" noRot="1" noChangeAspect="1" noMove="1" noResize="1" noEditPoints="1" noAdjustHandles="1" noChangeArrowheads="1" noChangeShapeType="1" noCrop="1"/>
          </p:cNvPicPr>
          <p:nvPr>
            <p:ph type="pic" sz="quarter" idx="20"/>
          </p:nvPr>
        </p:nvPicPr>
        <p:blipFill>
          <a:blip r:embed="rId2">
            <a:extLst>
              <a:ext uri="{28A0092B-C50C-407E-A947-70E740481C1C}">
                <a14:useLocalDpi xmlns:a14="http://schemas.microsoft.com/office/drawing/2010/main" val="0"/>
              </a:ext>
            </a:extLst>
          </a:blip>
          <a:srcRect l="16699" r="16699"/>
          <a:stretch>
            <a:fillRect/>
          </a:stretch>
        </p:blipFill>
        <p:spPr/>
      </p:pic>
      <p:pic>
        <p:nvPicPr>
          <p:cNvPr id="16" name="Bild mitte">
            <a:extLst>
              <a:ext uri="{FF2B5EF4-FFF2-40B4-BE49-F238E27FC236}">
                <a16:creationId xmlns:a16="http://schemas.microsoft.com/office/drawing/2014/main" id="{5AE6996B-E069-D522-32E7-DF5ACACE4CB1}"/>
              </a:ext>
            </a:extLst>
          </p:cNvPr>
          <p:cNvPicPr>
            <a:picLocks noGrp="1" noRot="1" noChangeAspect="1" noMove="1" noResize="1" noEditPoints="1" noAdjustHandles="1" noChangeArrowheads="1" noChangeShapeType="1" noCrop="1"/>
          </p:cNvPicPr>
          <p:nvPr>
            <p:ph type="pic" sz="quarter" idx="19"/>
          </p:nvPr>
        </p:nvPicPr>
        <p:blipFill>
          <a:blip r:embed="rId3">
            <a:extLst>
              <a:ext uri="{28A0092B-C50C-407E-A947-70E740481C1C}">
                <a14:useLocalDpi xmlns:a14="http://schemas.microsoft.com/office/drawing/2010/main" val="0"/>
              </a:ext>
            </a:extLst>
          </a:blip>
          <a:srcRect l="16661" r="16661"/>
          <a:stretch>
            <a:fillRect/>
          </a:stretch>
        </p:blipFill>
        <p:spPr/>
      </p:pic>
      <p:pic>
        <p:nvPicPr>
          <p:cNvPr id="14" name="Bild links">
            <a:extLst>
              <a:ext uri="{FF2B5EF4-FFF2-40B4-BE49-F238E27FC236}">
                <a16:creationId xmlns:a16="http://schemas.microsoft.com/office/drawing/2014/main" id="{AA024E71-6679-A1C6-C7D2-469962ED7539}"/>
              </a:ext>
            </a:extLst>
          </p:cNvPr>
          <p:cNvPicPr>
            <a:picLocks noGrp="1" noRot="1" noChangeAspect="1" noMove="1" noResize="1" noEditPoints="1" noAdjustHandles="1" noChangeArrowheads="1" noChangeShapeType="1" noCrop="1"/>
          </p:cNvPicPr>
          <p:nvPr>
            <p:ph type="pic" sz="quarter" idx="13"/>
          </p:nvPr>
        </p:nvPicPr>
        <p:blipFill>
          <a:blip r:embed="rId4">
            <a:extLst>
              <a:ext uri="{28A0092B-C50C-407E-A947-70E740481C1C}">
                <a14:useLocalDpi xmlns:a14="http://schemas.microsoft.com/office/drawing/2010/main" val="0"/>
              </a:ext>
            </a:extLst>
          </a:blip>
          <a:srcRect l="16629" r="16629"/>
          <a:stretch>
            <a:fillRect/>
          </a:stretch>
        </p:blipFill>
        <p:spPr/>
      </p:pic>
      <p:sp>
        <p:nvSpPr>
          <p:cNvPr id="8" name="Titel">
            <a:extLst>
              <a:ext uri="{FF2B5EF4-FFF2-40B4-BE49-F238E27FC236}">
                <a16:creationId xmlns:a16="http://schemas.microsoft.com/office/drawing/2014/main" id="{E6DF9330-1FA1-1147-8E70-96269D3FE91B}"/>
              </a:ext>
            </a:extLst>
          </p:cNvPr>
          <p:cNvSpPr>
            <a:spLocks noGrp="1" noRot="1" noMove="1" noResize="1" noEditPoints="1" noAdjustHandles="1" noChangeArrowheads="1" noChangeShapeType="1"/>
          </p:cNvSpPr>
          <p:nvPr>
            <p:ph type="title"/>
          </p:nvPr>
        </p:nvSpPr>
        <p:spPr/>
        <p:txBody>
          <a:bodyPr/>
          <a:lstStyle/>
          <a:p>
            <a:r>
              <a:rPr lang="de-DE" dirty="0"/>
              <a:t>Unsere Standorte</a:t>
            </a:r>
          </a:p>
        </p:txBody>
      </p:sp>
    </p:spTree>
    <p:extLst>
      <p:ext uri="{BB962C8B-B14F-4D97-AF65-F5344CB8AC3E}">
        <p14:creationId xmlns:p14="http://schemas.microsoft.com/office/powerpoint/2010/main" val="30393514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tertitel">
            <a:extLst>
              <a:ext uri="{FF2B5EF4-FFF2-40B4-BE49-F238E27FC236}">
                <a16:creationId xmlns:a16="http://schemas.microsoft.com/office/drawing/2014/main" id="{25DE5420-5BAD-2473-43B5-9D481D3DE200}"/>
              </a:ext>
            </a:extLst>
          </p:cNvPr>
          <p:cNvSpPr>
            <a:spLocks noGrp="1" noRot="1" noMove="1" noResize="1" noEditPoints="1" noAdjustHandles="1" noChangeArrowheads="1" noChangeShapeType="1"/>
          </p:cNvSpPr>
          <p:nvPr>
            <p:ph type="subTitle" idx="1"/>
          </p:nvPr>
        </p:nvSpPr>
        <p:spPr/>
        <p:txBody>
          <a:bodyPr/>
          <a:lstStyle/>
          <a:p>
            <a:r>
              <a:rPr lang="de-DE" dirty="0"/>
              <a:t>INDIVIDUELL. UNABHÄNGIG. VERTRAUENSVOLL.</a:t>
            </a:r>
          </a:p>
        </p:txBody>
      </p:sp>
      <p:sp>
        <p:nvSpPr>
          <p:cNvPr id="3" name="Titel">
            <a:extLst>
              <a:ext uri="{FF2B5EF4-FFF2-40B4-BE49-F238E27FC236}">
                <a16:creationId xmlns:a16="http://schemas.microsoft.com/office/drawing/2014/main" id="{D82547BE-5B8D-6490-3DCD-C4B040A4C085}"/>
              </a:ext>
            </a:extLst>
          </p:cNvPr>
          <p:cNvSpPr>
            <a:spLocks noGrp="1" noRot="1" noMove="1" noResize="1" noEditPoints="1" noAdjustHandles="1" noChangeArrowheads="1" noChangeShapeType="1"/>
          </p:cNvSpPr>
          <p:nvPr>
            <p:ph type="ctrTitle"/>
          </p:nvPr>
        </p:nvSpPr>
        <p:spPr/>
        <p:txBody>
          <a:bodyPr/>
          <a:lstStyle/>
          <a:p>
            <a:r>
              <a:rPr lang="de-DE" dirty="0"/>
              <a:t>Unsere Tradition</a:t>
            </a:r>
          </a:p>
        </p:txBody>
      </p:sp>
    </p:spTree>
    <p:extLst>
      <p:ext uri="{BB962C8B-B14F-4D97-AF65-F5344CB8AC3E}">
        <p14:creationId xmlns:p14="http://schemas.microsoft.com/office/powerpoint/2010/main" val="27043174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um">
            <a:extLst>
              <a:ext uri="{FF2B5EF4-FFF2-40B4-BE49-F238E27FC236}">
                <a16:creationId xmlns:a16="http://schemas.microsoft.com/office/drawing/2014/main" id="{09FDEF34-89BA-4277-9FC6-BBEC6A87A8F3}"/>
              </a:ext>
            </a:extLst>
          </p:cNvPr>
          <p:cNvSpPr>
            <a:spLocks noGrp="1" noRot="1" noMove="1" noResize="1" noEditPoints="1" noAdjustHandles="1" noChangeArrowheads="1" noChangeShapeType="1"/>
          </p:cNvSpPr>
          <p:nvPr>
            <p:ph type="dt" sz="half" idx="11"/>
          </p:nvPr>
        </p:nvSpPr>
        <p:spPr/>
        <p:txBody>
          <a:bodyPr/>
          <a:lstStyle/>
          <a:p>
            <a:r>
              <a:rPr lang="de-DE"/>
              <a:t>Stand. </a:t>
            </a:r>
            <a:fld id="{A2454BA1-205A-4597-97F2-1F8EB1702CA7}" type="datetime1">
              <a:rPr lang="de-DE" smtClean="0"/>
              <a:t>12.02.2026</a:t>
            </a:fld>
            <a:endParaRPr lang="de-DE" dirty="0"/>
          </a:p>
        </p:txBody>
      </p:sp>
      <p:sp>
        <p:nvSpPr>
          <p:cNvPr id="2" name="Foliennummer">
            <a:extLst>
              <a:ext uri="{FF2B5EF4-FFF2-40B4-BE49-F238E27FC236}">
                <a16:creationId xmlns:a16="http://schemas.microsoft.com/office/drawing/2014/main" id="{93A96E26-B2AF-16AE-0C7A-2E0ECBEC67ED}"/>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29</a:t>
            </a:fld>
            <a:endParaRPr lang="de-DE"/>
          </a:p>
        </p:txBody>
      </p:sp>
      <p:sp>
        <p:nvSpPr>
          <p:cNvPr id="21" name="Quelle">
            <a:extLst>
              <a:ext uri="{FF2B5EF4-FFF2-40B4-BE49-F238E27FC236}">
                <a16:creationId xmlns:a16="http://schemas.microsoft.com/office/drawing/2014/main" id="{96B5F4DD-9CF6-23B3-B40A-1EC0C72BE412}"/>
              </a:ext>
            </a:extLst>
          </p:cNvPr>
          <p:cNvSpPr txBox="1">
            <a:spLocks noGrp="1" noRot="1" noMove="1" noResize="1" noEditPoints="1" noAdjustHandles="1" noChangeArrowheads="1" noChangeShapeType="1"/>
          </p:cNvSpPr>
          <p:nvPr/>
        </p:nvSpPr>
        <p:spPr>
          <a:xfrm>
            <a:off x="6156325" y="5659978"/>
            <a:ext cx="3959225" cy="116057"/>
          </a:xfrm>
          <a:prstGeom prst="rect">
            <a:avLst/>
          </a:prstGeom>
          <a:noFill/>
        </p:spPr>
        <p:txBody>
          <a:bodyPr wrap="square" lIns="0" tIns="0" rIns="0" bIns="0" rtlCol="0">
            <a:spAutoFit/>
          </a:bodyPr>
          <a:lstStyle/>
          <a:p>
            <a:pPr>
              <a:lnSpc>
                <a:spcPts val="1000"/>
              </a:lnSpc>
            </a:pPr>
            <a:r>
              <a:rPr lang="de-DE" sz="600" dirty="0">
                <a:solidFill>
                  <a:schemeClr val="tx1">
                    <a:lumMod val="50000"/>
                    <a:lumOff val="50000"/>
                  </a:schemeClr>
                </a:solidFill>
              </a:rPr>
              <a:t>Herausgeber: Fürst Fugger Privatbank Aktiengesellschaft | www.fuggerbank.de</a:t>
            </a:r>
          </a:p>
        </p:txBody>
      </p:sp>
      <p:sp>
        <p:nvSpPr>
          <p:cNvPr id="3" name="Text">
            <a:extLst>
              <a:ext uri="{FF2B5EF4-FFF2-40B4-BE49-F238E27FC236}">
                <a16:creationId xmlns:a16="http://schemas.microsoft.com/office/drawing/2014/main" id="{F98F3493-6CA4-189D-7956-7074D809C116}"/>
              </a:ext>
            </a:extLst>
          </p:cNvPr>
          <p:cNvSpPr>
            <a:spLocks noGrp="1" noRot="1" noMove="1" noResize="1" noEditPoints="1" noAdjustHandles="1" noChangeArrowheads="1" noChangeShapeType="1"/>
          </p:cNvSpPr>
          <p:nvPr>
            <p:ph idx="1"/>
          </p:nvPr>
        </p:nvSpPr>
        <p:spPr>
          <a:xfrm>
            <a:off x="2016125" y="1041401"/>
            <a:ext cx="8099424" cy="4791074"/>
          </a:xfrm>
        </p:spPr>
        <p:txBody>
          <a:bodyPr spcCol="144000"/>
          <a:lstStyle/>
          <a:p>
            <a:r>
              <a:rPr lang="de-DE" dirty="0"/>
              <a:t>Im vorliegenden Dokument handelt es sich um eine Werbemitteilung der Fürst Fugger Privatbank. </a:t>
            </a:r>
          </a:p>
          <a:p>
            <a:r>
              <a:rPr lang="de-DE" dirty="0"/>
              <a:t>Die hier enthaltenen Informationen dienen nicht als Angebot, Anlageberatung oder Empfehlung und können eine auf Ihre individuellen Verhältnisse, insbesondere Ihre Kenntnisse/Erfahrungen, Ihre finanzielle Situation und Ihre Anlageziele abgestellte Beratung oder Dienstleistung nicht ersetzen.</a:t>
            </a:r>
          </a:p>
          <a:p>
            <a:r>
              <a:rPr lang="de-DE" dirty="0"/>
              <a:t>Die Kurse, Erträge und Werte einer Investmentanlage, auch der beschriebenen Investitionsmöglichkeiten können schwanken, steigen oder fallen. Verweise auf frühere Entwicklungen, Simulationen oder Prognosen sind kein verlässlicher Indikator für die zukünftige Wertentwicklung. Eine positive Entwicklung in der Vergangenheit ist insbesondere keine Garantie für die zukünftige Wert-entwicklung. Die Inflation kann negative Auswirkungen auf den Wert und die nominale Rendite Ihres Anlagevermögens haben. So kann insbesondere bei risikofreien Anlagen ein Wertverlust dadurch eintreten, dass die negative Auswirkung der Inflation die nominale Rendite übersteigt.</a:t>
            </a:r>
          </a:p>
          <a:p>
            <a:r>
              <a:rPr lang="de-DE" dirty="0"/>
              <a:t>Auch eine geringe Anlagedauer und die Gesamtkosten- und Gebühren können negativ das Risiko-Rendite-Verhältnis beeinflussen. Die dargestellten Meinungsäußerungen geben die aktuelle Einschätzung des Erstellers wieder und können sich ohne vorherige Ankündigung ändern.</a:t>
            </a:r>
          </a:p>
          <a:p>
            <a:r>
              <a:rPr lang="de-DE" dirty="0"/>
              <a:t>Vorstehende Angaben wurden mit großer Sorgfalt recherchiert. Bitte haben Sie dafür Verständnis, dass wir unsere Haftung auf Vorsatz und grobe Fahrlässigkeit beschränken müssen und keinerlei Garantien bezüglich der Korrektheit oder Vollständigkeit der gemachten Angaben übernehmen können. Die Informationen stammen aus bzw. basieren auf Quellen, welche die Fürst Fugger Privatbank für geeignet erachtet. Es wird keine Gewähr übernommen, dass diese richtig, vollständig und aktuell sind. </a:t>
            </a:r>
          </a:p>
          <a:p>
            <a:r>
              <a:rPr lang="de-DE" dirty="0"/>
              <a:t>Die in diesem Vortrag wiedergegebenen Informationen wurden zum angegebenen Stand erstellt und erfolgen ausschließlich zu Informationszwecken. Eine anderweitige Speicherung, Veröffentlichung oder Weitergabe an Dritte ist nicht gestattet und darf nur nach vorheriger Zustimmung der Fürst Fugger Privatbank erfolgen.</a:t>
            </a:r>
          </a:p>
        </p:txBody>
      </p:sp>
      <p:sp>
        <p:nvSpPr>
          <p:cNvPr id="4" name="Titel">
            <a:extLst>
              <a:ext uri="{FF2B5EF4-FFF2-40B4-BE49-F238E27FC236}">
                <a16:creationId xmlns:a16="http://schemas.microsoft.com/office/drawing/2014/main" id="{3D487A3D-23C8-0FCF-62A4-D4F8359CA252}"/>
              </a:ext>
            </a:extLst>
          </p:cNvPr>
          <p:cNvSpPr>
            <a:spLocks noGrp="1" noRot="1" noMove="1" noResize="1" noEditPoints="1" noAdjustHandles="1" noChangeArrowheads="1" noChangeShapeType="1"/>
          </p:cNvSpPr>
          <p:nvPr>
            <p:ph type="title"/>
          </p:nvPr>
        </p:nvSpPr>
        <p:spPr>
          <a:xfrm>
            <a:off x="358775" y="322580"/>
            <a:ext cx="9756774" cy="360000"/>
          </a:xfrm>
        </p:spPr>
        <p:txBody>
          <a:bodyPr/>
          <a:lstStyle/>
          <a:p>
            <a:r>
              <a:rPr lang="de-DE" dirty="0"/>
              <a:t>Rechtliche Hinweise und Impressum</a:t>
            </a:r>
          </a:p>
        </p:txBody>
      </p:sp>
    </p:spTree>
    <p:extLst>
      <p:ext uri="{BB962C8B-B14F-4D97-AF65-F5344CB8AC3E}">
        <p14:creationId xmlns:p14="http://schemas.microsoft.com/office/powerpoint/2010/main" val="32734672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um">
            <a:extLst>
              <a:ext uri="{FF2B5EF4-FFF2-40B4-BE49-F238E27FC236}">
                <a16:creationId xmlns:a16="http://schemas.microsoft.com/office/drawing/2014/main" id="{131D9782-D197-C72F-4BC2-70181ADDE9E7}"/>
              </a:ext>
            </a:extLst>
          </p:cNvPr>
          <p:cNvSpPr>
            <a:spLocks noGrp="1" noRot="1" noMove="1" noResize="1" noEditPoints="1" noAdjustHandles="1" noChangeArrowheads="1" noChangeShapeType="1"/>
          </p:cNvSpPr>
          <p:nvPr>
            <p:ph type="dt" sz="half" idx="10"/>
          </p:nvPr>
        </p:nvSpPr>
        <p:spPr/>
        <p:txBody>
          <a:bodyPr/>
          <a:lstStyle/>
          <a:p>
            <a:r>
              <a:rPr lang="de-DE"/>
              <a:t>Stand: </a:t>
            </a:r>
            <a:fld id="{831F5BE7-170E-4DE1-8FA0-231C67CFB96A}" type="datetime1">
              <a:rPr lang="de-DE" smtClean="0"/>
              <a:t>12.02.2026</a:t>
            </a:fld>
            <a:endParaRPr lang="de-DE" dirty="0"/>
          </a:p>
        </p:txBody>
      </p:sp>
      <p:sp>
        <p:nvSpPr>
          <p:cNvPr id="2" name="Untertitel">
            <a:extLst>
              <a:ext uri="{FF2B5EF4-FFF2-40B4-BE49-F238E27FC236}">
                <a16:creationId xmlns:a16="http://schemas.microsoft.com/office/drawing/2014/main" id="{BCA2869B-4C55-EBBA-720E-2A9070E7D7A3}"/>
              </a:ext>
            </a:extLst>
          </p:cNvPr>
          <p:cNvSpPr>
            <a:spLocks noGrp="1" noRot="1" noMove="1" noResize="1" noEditPoints="1" noAdjustHandles="1" noChangeArrowheads="1" noChangeShapeType="1"/>
          </p:cNvSpPr>
          <p:nvPr>
            <p:ph type="subTitle" idx="1"/>
          </p:nvPr>
        </p:nvSpPr>
        <p:spPr/>
        <p:txBody>
          <a:bodyPr/>
          <a:lstStyle/>
          <a:p>
            <a:r>
              <a:rPr lang="de-DE" dirty="0"/>
              <a:t>www.fuggerbank.de</a:t>
            </a:r>
          </a:p>
        </p:txBody>
      </p:sp>
      <p:sp>
        <p:nvSpPr>
          <p:cNvPr id="3" name="Titel">
            <a:extLst>
              <a:ext uri="{FF2B5EF4-FFF2-40B4-BE49-F238E27FC236}">
                <a16:creationId xmlns:a16="http://schemas.microsoft.com/office/drawing/2014/main" id="{EE0F3635-6E60-B93E-3B76-11C66486EF51}"/>
              </a:ext>
            </a:extLst>
          </p:cNvPr>
          <p:cNvSpPr>
            <a:spLocks noGrp="1" noRot="1" noMove="1" noResize="1" noEditPoints="1" noAdjustHandles="1" noChangeArrowheads="1" noChangeShapeType="1"/>
          </p:cNvSpPr>
          <p:nvPr>
            <p:ph type="ctrTitle"/>
          </p:nvPr>
        </p:nvSpPr>
        <p:spPr/>
        <p:txBody>
          <a:bodyPr/>
          <a:lstStyle/>
          <a:p>
            <a:r>
              <a:rPr lang="de-DE" dirty="0"/>
              <a:t>Vielen Dank </a:t>
            </a:r>
            <a:br>
              <a:rPr lang="de-DE" dirty="0"/>
            </a:br>
            <a:r>
              <a:rPr lang="de-DE" dirty="0"/>
              <a:t>für Ihr Interesse</a:t>
            </a:r>
          </a:p>
        </p:txBody>
      </p:sp>
    </p:spTree>
    <p:extLst>
      <p:ext uri="{BB962C8B-B14F-4D97-AF65-F5344CB8AC3E}">
        <p14:creationId xmlns:p14="http://schemas.microsoft.com/office/powerpoint/2010/main" val="2773834134"/>
      </p:ext>
    </p:extLst>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 name="Fußnote">
            <a:extLst>
              <a:ext uri="{FF2B5EF4-FFF2-40B4-BE49-F238E27FC236}">
                <a16:creationId xmlns:a16="http://schemas.microsoft.com/office/drawing/2014/main" id="{DD674138-94D3-0285-DE9D-E19C6859546C}"/>
              </a:ext>
            </a:extLst>
          </p:cNvPr>
          <p:cNvSpPr>
            <a:spLocks noGrp="1" noRot="1" noMove="1" noResize="1" noEditPoints="1" noAdjustHandles="1" noChangeArrowheads="1" noChangeShapeType="1"/>
          </p:cNvSpPr>
          <p:nvPr>
            <p:ph type="body" sz="quarter" idx="16"/>
          </p:nvPr>
        </p:nvSpPr>
        <p:spPr/>
        <p:txBody>
          <a:bodyPr/>
          <a:lstStyle/>
          <a:p>
            <a:r>
              <a:rPr lang="de-DE" dirty="0"/>
              <a:t>Die aufgeführten Zahlen beziehen sich auf die Wertentwicklung in der Vergangenheit. Wert und Erträge einer Vermögensanlage können steigen oder fallen. Eine positive Entwicklung in der Vergangenheit ist keine Garantie für eine zukünftige </a:t>
            </a:r>
          </a:p>
          <a:p>
            <a:r>
              <a:rPr lang="de-DE" dirty="0"/>
              <a:t>Wertentwicklung. </a:t>
            </a:r>
          </a:p>
          <a:p>
            <a:r>
              <a:rPr lang="de-DE" dirty="0"/>
              <a:t>Der unterjährige Performance Ausweis erfolgt vor Kosten (ab 30.06. abzüglich halbjährigen Honorarsatz). Die weiteren Performance Angaben wurden nach </a:t>
            </a:r>
          </a:p>
          <a:p>
            <a:r>
              <a:rPr lang="de-DE" dirty="0"/>
              <a:t>Kosten berechnet. Sowohl das VV Honorar als auch fremde Spesen und evtl. Produktkosten wurden berücksichtigt. Die Inflation kann negative </a:t>
            </a:r>
            <a:r>
              <a:rPr lang="de-DE" dirty="0" err="1"/>
              <a:t>Auswirkun</a:t>
            </a:r>
            <a:r>
              <a:rPr lang="de-DE" dirty="0"/>
              <a:t>-</a:t>
            </a:r>
          </a:p>
          <a:p>
            <a:r>
              <a:rPr lang="de-DE" dirty="0"/>
              <a:t>gen auf den Wert und die nominale Rendite Ihres Anlagevermögens haben. So kann insbesondere bei risikofreien Anlagen ein Wertverlust dadurch ein-</a:t>
            </a:r>
          </a:p>
          <a:p>
            <a:r>
              <a:rPr lang="de-DE" dirty="0"/>
              <a:t>treten, dass die negative Auswirkung der Inflation die nominale Rendite übersteigt. Auch eine geringe Anlagedauer und die Gesamtkosten- und Gebühren </a:t>
            </a:r>
          </a:p>
          <a:p>
            <a:r>
              <a:rPr lang="de-DE" dirty="0"/>
              <a:t>können negativ das Risiko-Rendite-Verhältnis beeinflussen.</a:t>
            </a:r>
          </a:p>
        </p:txBody>
      </p:sp>
      <p:sp>
        <p:nvSpPr>
          <p:cNvPr id="3" name="Foliennummer">
            <a:extLst>
              <a:ext uri="{FF2B5EF4-FFF2-40B4-BE49-F238E27FC236}">
                <a16:creationId xmlns:a16="http://schemas.microsoft.com/office/drawing/2014/main" id="{EABFBA2B-F360-C415-CC18-274C4F6E269F}"/>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8</a:t>
            </a:fld>
            <a:endParaRPr lang="de-DE"/>
          </a:p>
        </p:txBody>
      </p:sp>
      <p:sp>
        <p:nvSpPr>
          <p:cNvPr id="21" name="Quelle">
            <a:extLst>
              <a:ext uri="{FF2B5EF4-FFF2-40B4-BE49-F238E27FC236}">
                <a16:creationId xmlns:a16="http://schemas.microsoft.com/office/drawing/2014/main" id="{FF5A9426-CA05-8113-EAB5-2DD5C950EEF6}"/>
              </a:ext>
            </a:extLst>
          </p:cNvPr>
          <p:cNvSpPr txBox="1">
            <a:spLocks/>
          </p:cNvSpPr>
          <p:nvPr/>
        </p:nvSpPr>
        <p:spPr>
          <a:xfrm>
            <a:off x="8185981" y="6182738"/>
            <a:ext cx="1728000" cy="108000"/>
          </a:xfrm>
          <a:prstGeom prst="rect">
            <a:avLst/>
          </a:prstGeom>
          <a:noFill/>
        </p:spPr>
        <p:txBody>
          <a:bodyPr wrap="square" lIns="36000" tIns="0" rIns="36000" bIns="0" rtlCol="0">
            <a:noAutofit/>
          </a:bodyPr>
          <a:lstStyle/>
          <a:p>
            <a:pPr algn="r"/>
            <a:r>
              <a:rPr lang="de-DE" sz="600" dirty="0">
                <a:solidFill>
                  <a:schemeClr val="bg2"/>
                </a:solidFill>
              </a:rPr>
              <a:t>Quelle: Eigene Berechnung, Stand </a:t>
            </a:r>
            <a:fld id="{B58FC890-01F2-4FE7-8401-5E5C4BEEA7EB}" type="datetime1">
              <a:rPr lang="de-DE" sz="600" smtClean="0">
                <a:solidFill>
                  <a:schemeClr val="bg2"/>
                </a:solidFill>
              </a:rPr>
              <a:t>19.05.2026</a:t>
            </a:fld>
            <a:endParaRPr lang="de-DE" sz="600" dirty="0">
              <a:solidFill>
                <a:schemeClr val="bg2"/>
              </a:solidFill>
            </a:endParaRPr>
          </a:p>
        </p:txBody>
      </p:sp>
      <p:graphicFrame>
        <p:nvGraphicFramePr>
          <p:cNvPr id="10" name="Diagramm rechts">
            <a:extLst>
              <a:ext uri="{FF2B5EF4-FFF2-40B4-BE49-F238E27FC236}">
                <a16:creationId xmlns:a16="http://schemas.microsoft.com/office/drawing/2014/main" id="{6908C2D7-99AB-7F2A-FCEC-A943DBE4C293}"/>
              </a:ext>
            </a:extLst>
          </p:cNvPr>
          <p:cNvGraphicFramePr>
            <a:graphicFrameLocks noGrp="1"/>
          </p:cNvGraphicFramePr>
          <p:nvPr>
            <p:ph type="chart" sz="quarter" idx="15"/>
            <p:extLst>
              <p:ext uri="{D42A27DB-BD31-4B8C-83A1-F6EECF244321}">
                <p14:modId xmlns:p14="http://schemas.microsoft.com/office/powerpoint/2010/main" val="3744574108"/>
              </p:ext>
            </p:extLst>
          </p:nvPr>
        </p:nvGraphicFramePr>
        <p:xfrm>
          <a:off x="4505325" y="1041400"/>
          <a:ext cx="5584825" cy="2813050"/>
        </p:xfrm>
        <a:graphic>
          <a:graphicData uri="http://schemas.openxmlformats.org/drawingml/2006/chart">
            <c:chart xmlns:c="http://schemas.openxmlformats.org/drawingml/2006/chart" r:id="rId3"/>
          </a:graphicData>
        </a:graphic>
      </p:graphicFrame>
      <p:sp>
        <p:nvSpPr>
          <p:cNvPr id="11" name="Header Diagramm rechts">
            <a:extLst>
              <a:ext uri="{FF2B5EF4-FFF2-40B4-BE49-F238E27FC236}">
                <a16:creationId xmlns:a16="http://schemas.microsoft.com/office/drawing/2014/main" id="{6FB8664C-31BB-963F-4D0B-B3A35323EEDD}"/>
              </a:ext>
            </a:extLst>
          </p:cNvPr>
          <p:cNvSpPr txBox="1">
            <a:spLocks noGrp="1" noRot="1" noMove="1" noResize="1" noEditPoints="1" noAdjustHandles="1" noChangeArrowheads="1" noChangeShapeType="1"/>
          </p:cNvSpPr>
          <p:nvPr/>
        </p:nvSpPr>
        <p:spPr>
          <a:xfrm>
            <a:off x="4505325" y="1040563"/>
            <a:ext cx="5616575" cy="216000"/>
          </a:xfrm>
          <a:prstGeom prst="rect">
            <a:avLst/>
          </a:prstGeom>
          <a:solidFill>
            <a:schemeClr val="accent1"/>
          </a:solidFill>
          <a:ln>
            <a:noFill/>
          </a:ln>
        </p:spPr>
        <p:txBody>
          <a:bodyPr wrap="square" rtlCol="0">
            <a:spAutoFit/>
          </a:bodyPr>
          <a:lstStyle/>
          <a:p>
            <a:r>
              <a:rPr lang="de-DE" sz="900" b="1" cap="all" dirty="0" err="1">
                <a:solidFill>
                  <a:schemeClr val="bg1"/>
                </a:solidFill>
              </a:rPr>
              <a:t>wertentwicklung</a:t>
            </a:r>
            <a:endParaRPr lang="de-DE" sz="900" b="1" cap="all" dirty="0">
              <a:solidFill>
                <a:schemeClr val="bg1"/>
              </a:solidFill>
            </a:endParaRPr>
          </a:p>
        </p:txBody>
      </p:sp>
      <p:sp>
        <p:nvSpPr>
          <p:cNvPr id="20" name="Legende Diagramm links">
            <a:extLst>
              <a:ext uri="{FF2B5EF4-FFF2-40B4-BE49-F238E27FC236}">
                <a16:creationId xmlns:a16="http://schemas.microsoft.com/office/drawing/2014/main" id="{4A31429D-0E5D-BF45-DECB-1E3B864D3B22}"/>
              </a:ext>
            </a:extLst>
          </p:cNvPr>
          <p:cNvSpPr txBox="1">
            <a:spLocks/>
          </p:cNvSpPr>
          <p:nvPr/>
        </p:nvSpPr>
        <p:spPr>
          <a:xfrm>
            <a:off x="391550" y="5051334"/>
            <a:ext cx="2047875" cy="184666"/>
          </a:xfrm>
          <a:prstGeom prst="rect">
            <a:avLst/>
          </a:prstGeom>
          <a:noFill/>
        </p:spPr>
        <p:txBody>
          <a:bodyPr wrap="square" lIns="0" tIns="0" rIns="0" bIns="0" rtlCol="0" anchor="t">
            <a:spAutoFit/>
          </a:bodyPr>
          <a:lstStyle/>
          <a:p>
            <a:r>
              <a:rPr lang="de-DE" sz="1200" dirty="0">
                <a:solidFill>
                  <a:schemeClr val="accent3"/>
                </a:solidFill>
                <a:sym typeface="Wingdings 2" panose="05020102010507070707" pitchFamily="18" charset="2"/>
              </a:rPr>
              <a:t></a:t>
            </a:r>
            <a:r>
              <a:rPr lang="de-DE" sz="1200" dirty="0">
                <a:sym typeface="Wingdings 2" panose="05020102010507070707" pitchFamily="18" charset="2"/>
              </a:rPr>
              <a:t> </a:t>
            </a:r>
            <a:r>
              <a:rPr lang="de-DE" sz="1050" baseline="14000" dirty="0"/>
              <a:t>Referenzportfolio</a:t>
            </a:r>
            <a:r>
              <a:rPr lang="de-DE" sz="1200" baseline="14000" dirty="0"/>
              <a:t> </a:t>
            </a:r>
            <a:r>
              <a:rPr lang="de-DE" sz="1200" dirty="0"/>
              <a:t>     </a:t>
            </a:r>
            <a:r>
              <a:rPr lang="de-DE" sz="1200" dirty="0">
                <a:solidFill>
                  <a:schemeClr val="accent5"/>
                </a:solidFill>
                <a:sym typeface="Wingdings 2" panose="05020102010507070707" pitchFamily="18" charset="2"/>
              </a:rPr>
              <a:t></a:t>
            </a:r>
            <a:r>
              <a:rPr lang="de-DE" sz="1200" dirty="0">
                <a:sym typeface="Wingdings 2" panose="05020102010507070707" pitchFamily="18" charset="2"/>
              </a:rPr>
              <a:t> </a:t>
            </a:r>
            <a:r>
              <a:rPr lang="de-DE" sz="1050" baseline="14000" dirty="0">
                <a:sym typeface="Wingdings 2" panose="05020102010507070707" pitchFamily="18" charset="2"/>
              </a:rPr>
              <a:t>Benchmark</a:t>
            </a:r>
            <a:endParaRPr lang="de-DE" sz="1200" baseline="14000" dirty="0"/>
          </a:p>
        </p:txBody>
      </p:sp>
      <p:graphicFrame>
        <p:nvGraphicFramePr>
          <p:cNvPr id="15" name="Diagramm links">
            <a:extLst>
              <a:ext uri="{FF2B5EF4-FFF2-40B4-BE49-F238E27FC236}">
                <a16:creationId xmlns:a16="http://schemas.microsoft.com/office/drawing/2014/main" id="{8395BAFC-8009-5BD5-6691-5BE66AC6B204}"/>
              </a:ext>
            </a:extLst>
          </p:cNvPr>
          <p:cNvGraphicFramePr>
            <a:graphicFrameLocks noGrp="1"/>
          </p:cNvGraphicFramePr>
          <p:nvPr>
            <p:ph type="chart" sz="quarter" idx="14"/>
            <p:extLst>
              <p:ext uri="{D42A27DB-BD31-4B8C-83A1-F6EECF244321}">
                <p14:modId xmlns:p14="http://schemas.microsoft.com/office/powerpoint/2010/main" val="2206371556"/>
              </p:ext>
            </p:extLst>
          </p:nvPr>
        </p:nvGraphicFramePr>
        <p:xfrm>
          <a:off x="349250" y="2679700"/>
          <a:ext cx="3959225" cy="2286000"/>
        </p:xfrm>
        <a:graphic>
          <a:graphicData uri="http://schemas.openxmlformats.org/drawingml/2006/chart">
            <c:chart xmlns:c="http://schemas.openxmlformats.org/drawingml/2006/chart" r:id="rId2"/>
          </a:graphicData>
        </a:graphic>
      </p:graphicFrame>
      <p:sp>
        <p:nvSpPr>
          <p:cNvPr id="12" name="Header Diagramm links">
            <a:extLst>
              <a:ext uri="{FF2B5EF4-FFF2-40B4-BE49-F238E27FC236}">
                <a16:creationId xmlns:a16="http://schemas.microsoft.com/office/drawing/2014/main" id="{B543E8FE-081D-9B8F-E7AA-95FC75BF4F26}"/>
              </a:ext>
            </a:extLst>
          </p:cNvPr>
          <p:cNvSpPr txBox="1">
            <a:spLocks noGrp="1" noRot="1" noMove="1" noResize="1" noEditPoints="1" noAdjustHandles="1" noChangeArrowheads="1" noChangeShapeType="1"/>
          </p:cNvSpPr>
          <p:nvPr/>
        </p:nvSpPr>
        <p:spPr>
          <a:xfrm>
            <a:off x="358775" y="2679700"/>
            <a:ext cx="3970800" cy="230832"/>
          </a:xfrm>
          <a:prstGeom prst="rect">
            <a:avLst/>
          </a:prstGeom>
          <a:solidFill>
            <a:schemeClr val="accent1"/>
          </a:solidFill>
          <a:ln>
            <a:noFill/>
          </a:ln>
        </p:spPr>
        <p:txBody>
          <a:bodyPr wrap="square" rtlCol="0">
            <a:spAutoFit/>
          </a:bodyPr>
          <a:lstStyle/>
          <a:p>
            <a:r>
              <a:rPr lang="de-DE" sz="900" b="1" cap="all" dirty="0">
                <a:solidFill>
                  <a:schemeClr val="bg1"/>
                </a:solidFill>
              </a:rPr>
              <a:t>PERFORMANCE P.A. (NACH KOSTEN)</a:t>
            </a:r>
          </a:p>
        </p:txBody>
      </p:sp>
      <p:sp>
        <p:nvSpPr>
          <p:cNvPr id="2" name="Titel">
            <a:extLst>
              <a:ext uri="{FF2B5EF4-FFF2-40B4-BE49-F238E27FC236}">
                <a16:creationId xmlns:a16="http://schemas.microsoft.com/office/drawing/2014/main" id="{2C057F53-A11C-8C65-4031-106C717F3C87}"/>
              </a:ext>
            </a:extLst>
          </p:cNvPr>
          <p:cNvSpPr>
            <a:spLocks noGrp="1" noRot="1" noMove="1" noResize="1" noEditPoints="1" noAdjustHandles="1" noChangeArrowheads="1" noChangeShapeType="1"/>
          </p:cNvSpPr>
          <p:nvPr>
            <p:ph type="title"/>
          </p:nvPr>
        </p:nvSpPr>
        <p:spPr/>
        <p:txBody>
          <a:bodyPr/>
          <a:lstStyle/>
          <a:p>
            <a:r>
              <a:rPr lang="de-DE" dirty="0"/>
              <a:t>Referenzportfolio| </a:t>
            </a:r>
            <a:r>
              <a:rPr lang="de-DE" b="0" dirty="0"/>
              <a:t>Wertentwicklung (ohne Benchmark)</a:t>
            </a:r>
          </a:p>
        </p:txBody>
      </p:sp>
      <p:graphicFrame>
        <p:nvGraphicFramePr>
          <p:cNvPr id="8" name="Tabelle">
            <a:extLst>
              <a:ext uri="{FF2B5EF4-FFF2-40B4-BE49-F238E27FC236}">
                <a16:creationId xmlns:a16="http://schemas.microsoft.com/office/drawing/2014/main" id="{7F525895-3A35-C2FD-CF11-E04BE38AB3F9}"/>
              </a:ext>
            </a:extLst>
          </p:cNvPr>
          <p:cNvGraphicFramePr>
            <a:graphicFrameLocks noGrp="1"/>
          </p:cNvGraphicFramePr>
          <p:nvPr>
            <p:ph type="tbl" sz="quarter" idx="13"/>
            <p:extLst>
              <p:ext uri="{D42A27DB-BD31-4B8C-83A1-F6EECF244321}">
                <p14:modId xmlns:p14="http://schemas.microsoft.com/office/powerpoint/2010/main" val="4088301092"/>
              </p:ext>
            </p:extLst>
          </p:nvPr>
        </p:nvGraphicFramePr>
        <p:xfrm>
          <a:off x="349250" y="1041400"/>
          <a:ext cx="3970801" cy="1298131"/>
        </p:xfrm>
        <a:graphic>
          <a:graphicData uri="http://schemas.openxmlformats.org/drawingml/2006/table">
            <a:tbl>
              <a:tblPr firstRow="1" bandRow="1">
                <a:tableStyleId>{69012ECD-51FC-41F1-AA8D-1B2483CD663E}</a:tableStyleId>
              </a:tblPr>
              <a:tblGrid>
                <a:gridCol w="1350530">
                  <a:extLst>
                    <a:ext uri="{9D8B030D-6E8A-4147-A177-3AD203B41FA5}">
                      <a16:colId xmlns:a16="http://schemas.microsoft.com/office/drawing/2014/main" val="1715752775"/>
                    </a:ext>
                  </a:extLst>
                </a:gridCol>
                <a:gridCol w="187742">
                  <a:extLst>
                    <a:ext uri="{9D8B030D-6E8A-4147-A177-3AD203B41FA5}">
                      <a16:colId xmlns:a16="http://schemas.microsoft.com/office/drawing/2014/main" val="2276385665"/>
                    </a:ext>
                  </a:extLst>
                </a:gridCol>
                <a:gridCol w="1090569">
                  <a:extLst>
                    <a:ext uri="{9D8B030D-6E8A-4147-A177-3AD203B41FA5}">
                      <a16:colId xmlns:a16="http://schemas.microsoft.com/office/drawing/2014/main" val="296509542"/>
                    </a:ext>
                  </a:extLst>
                </a:gridCol>
                <a:gridCol w="201336">
                  <a:extLst>
                    <a:ext uri="{9D8B030D-6E8A-4147-A177-3AD203B41FA5}">
                      <a16:colId xmlns:a16="http://schemas.microsoft.com/office/drawing/2014/main" val="3096284928"/>
                    </a:ext>
                  </a:extLst>
                </a:gridCol>
                <a:gridCol w="1140624">
                  <a:extLst>
                    <a:ext uri="{9D8B030D-6E8A-4147-A177-3AD203B41FA5}">
                      <a16:colId xmlns:a16="http://schemas.microsoft.com/office/drawing/2014/main" val="1512982123"/>
                    </a:ext>
                  </a:extLst>
                </a:gridCol>
              </a:tblGrid>
              <a:tr h="190901">
                <a:tc>
                  <a:txBody>
                    <a:bodyPr/>
                    <a:lstStyle/>
                    <a:p>
                      <a:r>
                        <a:rPr lang="de-DE" sz="900" b="1" cap="all" baseline="0" dirty="0" err="1">
                          <a:solidFill>
                            <a:schemeClr val="bg1"/>
                          </a:solidFill>
                        </a:rPr>
                        <a:t>kennzahlen</a:t>
                      </a:r>
                      <a:endParaRPr lang="de-DE" sz="900" b="1" cap="all" baseline="0" dirty="0">
                        <a:solidFill>
                          <a:schemeClr val="bg1"/>
                        </a:solidFill>
                      </a:endParaRPr>
                    </a:p>
                  </a:txBody>
                  <a:tcPr marL="72000" marR="72000" marT="0" marB="0" anchor="ctr">
                    <a:lnL w="6350" cap="flat" cmpd="sng" algn="ctr">
                      <a:noFill/>
                      <a:prstDash val="solid"/>
                      <a:miter lim="800000"/>
                    </a:lnL>
                    <a:lnR>
                      <a:noFill/>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de-DE" sz="900" b="0" cap="all" baseline="0" dirty="0">
                        <a:solidFill>
                          <a:schemeClr val="bg1"/>
                        </a:solidFill>
                      </a:endParaRPr>
                    </a:p>
                  </a:txBody>
                  <a:tcPr marL="0" marR="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lang="de-DE" sz="900" b="1" cap="all" baseline="0" dirty="0">
                          <a:solidFill>
                            <a:schemeClr val="bg1"/>
                          </a:solidFill>
                        </a:rPr>
                        <a:t>Referenz</a:t>
                      </a:r>
                    </a:p>
                  </a:txBody>
                  <a:tcPr marL="72000" marR="7200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de-DE" sz="900" b="1" cap="all" baseline="0" dirty="0">
                        <a:solidFill>
                          <a:schemeClr val="bg1"/>
                        </a:solidFill>
                      </a:endParaRPr>
                    </a:p>
                  </a:txBody>
                  <a:tcPr marL="72000" marR="7200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lang="de-DE" sz="900" b="1" cap="all" baseline="0" dirty="0">
                          <a:solidFill>
                            <a:schemeClr val="bg1"/>
                          </a:solidFill>
                        </a:rPr>
                        <a:t>Benchmark</a:t>
                      </a:r>
                    </a:p>
                  </a:txBody>
                  <a:tcPr marL="72000" marR="7200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551644817"/>
                  </a:ext>
                </a:extLst>
              </a:tr>
              <a:tr h="44543">
                <a:tc>
                  <a:txBody>
                    <a:bodyPr/>
                    <a:lstStyle/>
                    <a:p>
                      <a:endParaRPr lang="de-DE" sz="100" b="0" dirty="0"/>
                    </a:p>
                  </a:txBody>
                  <a:tcPr marL="72000" marR="72000" marT="0" marB="0" anchor="ctr">
                    <a:lnL w="6350" cap="flat" cmpd="sng" algn="ctr">
                      <a:noFill/>
                      <a:prstDash val="solid"/>
                      <a:miter lim="800000"/>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1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de-DE" sz="100" b="1" dirty="0"/>
                    </a:p>
                  </a:txBody>
                  <a:tcPr marL="72000" marR="72000" marT="0" marB="0" anchor="ctr">
                    <a:lnL>
                      <a:noFill/>
                    </a:lnL>
                    <a:lnR w="6350" cap="flat" cmpd="sng" algn="ctr">
                      <a:noFill/>
                      <a:prstDash val="solid"/>
                      <a:miter lim="800000"/>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de-DE" sz="100" b="1" dirty="0"/>
                    </a:p>
                  </a:txBody>
                  <a:tcPr marL="72000" marR="72000" marT="0" marB="0" anchor="ctr">
                    <a:lnL>
                      <a:noFill/>
                    </a:lnL>
                    <a:lnR w="6350" cap="flat" cmpd="sng" algn="ctr">
                      <a:noFill/>
                      <a:prstDash val="solid"/>
                      <a:miter lim="800000"/>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de-DE" sz="100" b="1" dirty="0"/>
                    </a:p>
                  </a:txBody>
                  <a:tcPr marL="72000" marR="72000" marT="0" marB="0" anchor="ctr">
                    <a:lnL>
                      <a:noFill/>
                    </a:lnL>
                    <a:lnR w="6350" cap="flat" cmpd="sng" algn="ctr">
                      <a:noFill/>
                      <a:prstDash val="solid"/>
                      <a:miter lim="800000"/>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9003071"/>
                  </a:ext>
                </a:extLst>
              </a:tr>
              <a:tr h="254536">
                <a:tc>
                  <a:txBody>
                    <a:bodyPr/>
                    <a:lstStyle/>
                    <a:p>
                      <a:r>
                        <a:rPr lang="de-DE" sz="900" b="0" dirty="0"/>
                        <a:t>Performance p.a.</a:t>
                      </a:r>
                    </a:p>
                  </a:txBody>
                  <a:tcPr marL="72000" marR="72000" marT="0" marB="0" anchor="ctr">
                    <a:lnL w="6350" cap="flat" cmpd="sng" algn="ctr">
                      <a:noFill/>
                      <a:prstDash val="solid"/>
                      <a:miter lim="800000"/>
                    </a:lnL>
                    <a:lnR>
                      <a:noFill/>
                    </a:lnR>
                    <a:lnT w="3175" cap="flat" cmpd="sng" algn="ctr">
                      <a:no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dirty="0"/>
                        <a:t>0,0%</a:t>
                      </a:r>
                    </a:p>
                  </a:txBody>
                  <a:tcPr marL="72000" marR="72000" marT="0" marB="0" anchor="ctr">
                    <a:lnL>
                      <a:noFill/>
                    </a:lnL>
                    <a:lnR w="6350" cap="flat" cmpd="sng" algn="ctr">
                      <a:noFill/>
                      <a:prstDash val="solid"/>
                      <a:miter lim="800000"/>
                    </a:lnR>
                    <a:lnT w="3175" cap="flat" cmpd="sng" algn="ctr">
                      <a:no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de-DE" sz="900" b="1" dirty="0"/>
                    </a:p>
                  </a:txBody>
                  <a:tcPr marL="72000" marR="72000" marT="0" marB="0" anchor="ctr">
                    <a:lnL>
                      <a:noFill/>
                    </a:lnL>
                    <a:lnR w="6350" cap="flat" cmpd="sng" algn="ctr">
                      <a:noFill/>
                      <a:prstDash val="solid"/>
                      <a:miter lim="800000"/>
                    </a:lnR>
                    <a:lnT w="31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b="1" dirty="0"/>
                        <a:t>0,0%</a:t>
                      </a:r>
                    </a:p>
                  </a:txBody>
                  <a:tcPr marL="72000" marR="72000" marT="0" marB="0" anchor="ctr">
                    <a:lnL>
                      <a:noFill/>
                    </a:lnL>
                    <a:lnR w="6350" cap="flat" cmpd="sng" algn="ctr">
                      <a:noFill/>
                      <a:prstDash val="solid"/>
                      <a:miter lim="800000"/>
                    </a:lnR>
                    <a:lnT w="3175" cap="flat" cmpd="sng" algn="ctr">
                      <a:no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2470595349"/>
                  </a:ext>
                </a:extLst>
              </a:tr>
              <a:tr h="254536">
                <a:tc>
                  <a:txBody>
                    <a:bodyPr/>
                    <a:lstStyle/>
                    <a:p>
                      <a:r>
                        <a:rPr lang="de-DE" sz="900" b="0" dirty="0"/>
                        <a:t>Volatilität</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dirty="0"/>
                        <a:t>0,0%</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de-DE" sz="900" b="1" dirty="0"/>
                    </a:p>
                  </a:txBody>
                  <a:tcPr marL="72000" marR="72000" marT="0" marB="0" anchor="ctr">
                    <a:lnL>
                      <a:noFill/>
                    </a:lnL>
                    <a:lnR w="6350" cap="flat" cmpd="sng" algn="ctr">
                      <a:noFill/>
                      <a:prstDash val="solid"/>
                      <a:miter lim="800000"/>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b="1" dirty="0"/>
                        <a:t>0,0%</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995848646"/>
                  </a:ext>
                </a:extLst>
              </a:tr>
              <a:tr h="254536">
                <a:tc>
                  <a:txBody>
                    <a:bodyPr/>
                    <a:lstStyle/>
                    <a:p>
                      <a:r>
                        <a:rPr lang="de-DE" sz="900" b="0" dirty="0"/>
                        <a:t>Sharpe Ratio</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dirty="0"/>
                        <a:t>0,0%</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de-DE" sz="900" b="1" dirty="0"/>
                    </a:p>
                  </a:txBody>
                  <a:tcPr marL="72000" marR="72000" marT="0" marB="0" anchor="ctr">
                    <a:lnL>
                      <a:noFill/>
                    </a:lnL>
                    <a:lnR w="6350" cap="flat" cmpd="sng" algn="ctr">
                      <a:noFill/>
                      <a:prstDash val="solid"/>
                      <a:miter lim="800000"/>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b="1" dirty="0"/>
                        <a:t>0,0%</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872306334"/>
                  </a:ext>
                </a:extLst>
              </a:tr>
              <a:tr h="254536">
                <a:tc>
                  <a:txBody>
                    <a:bodyPr/>
                    <a:lstStyle/>
                    <a:p>
                      <a:r>
                        <a:rPr lang="de-DE" sz="900" b="0" dirty="0"/>
                        <a:t>Max </a:t>
                      </a:r>
                      <a:r>
                        <a:rPr lang="de-DE" sz="900" b="0" dirty="0" err="1"/>
                        <a:t>Drawdown</a:t>
                      </a:r>
                      <a:endParaRPr lang="de-DE" sz="900" b="0" dirty="0"/>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dirty="0"/>
                        <a:t>0,0%</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de-DE" sz="900" b="1" dirty="0"/>
                    </a:p>
                  </a:txBody>
                  <a:tcPr marL="72000" marR="72000" marT="0" marB="0" anchor="ctr">
                    <a:lnL>
                      <a:noFill/>
                    </a:lnL>
                    <a:lnR w="6350" cap="flat" cmpd="sng" algn="ctr">
                      <a:noFill/>
                      <a:prstDash val="solid"/>
                      <a:miter lim="800000"/>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b="1" dirty="0"/>
                        <a:t>0,0%</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97914861"/>
                  </a:ext>
                </a:extLst>
              </a:tr>
              <a:tr h="44543">
                <a:tc>
                  <a:txBody>
                    <a:bodyPr/>
                    <a:lstStyle/>
                    <a:p>
                      <a:endParaRPr lang="de-DE" sz="100" b="0" dirty="0"/>
                    </a:p>
                  </a:txBody>
                  <a:tcPr marL="72000" marR="72000" marT="0" marB="0" anchor="ctr">
                    <a:lnL w="6350" cap="flat" cmpd="sng" algn="ctr">
                      <a:noFill/>
                      <a:prstDash val="solid"/>
                      <a:miter lim="800000"/>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100" b="0" dirty="0"/>
                    </a:p>
                  </a:txBody>
                  <a:tcPr marL="0" marR="0" marT="0" marB="0" anchor="ctr">
                    <a:lnL>
                      <a:noFill/>
                    </a:lnL>
                    <a:lnR w="6350" cap="flat" cmpd="sng" algn="ctr">
                      <a:noFill/>
                      <a:prstDash val="solid"/>
                      <a:miter lim="800000"/>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de-DE" sz="100" b="1" dirty="0"/>
                    </a:p>
                  </a:txBody>
                  <a:tcPr marL="72000" marR="72000" marT="0" marB="0" anchor="ctr">
                    <a:lnL>
                      <a:noFill/>
                    </a:lnL>
                    <a:lnR w="6350" cap="flat" cmpd="sng" algn="ctr">
                      <a:noFill/>
                      <a:prstDash val="solid"/>
                      <a:miter lim="800000"/>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de-DE" sz="100" b="1" dirty="0"/>
                    </a:p>
                  </a:txBody>
                  <a:tcPr marL="72000" marR="72000" marT="0" marB="0" anchor="ctr">
                    <a:lnL>
                      <a:noFill/>
                    </a:lnL>
                    <a:lnR w="6350" cap="flat" cmpd="sng" algn="ctr">
                      <a:noFill/>
                      <a:prstDash val="solid"/>
                      <a:miter lim="800000"/>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de-DE" sz="100" b="1" dirty="0"/>
                    </a:p>
                  </a:txBody>
                  <a:tcPr marL="72000" marR="72000" marT="0" marB="0" anchor="ctr">
                    <a:lnL>
                      <a:noFill/>
                    </a:lnL>
                    <a:lnR w="6350" cap="flat" cmpd="sng" algn="ctr">
                      <a:noFill/>
                      <a:prstDash val="solid"/>
                      <a:miter lim="800000"/>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69946379"/>
                  </a:ext>
                </a:extLst>
              </a:tr>
            </a:tbl>
          </a:graphicData>
        </a:graphic>
      </p:graphicFrame>
    </p:spTree>
  </p:cSld>
  <p:clrMapOvr>
    <a:masterClrMapping/>
  </p:clrMapOvr>
</p:sld>
</file>

<file path=ppt/theme/theme1.xml><?xml version="1.0" encoding="utf-8"?>
<a:theme xmlns:a="http://schemas.openxmlformats.org/drawingml/2006/main" name="Office">
  <a:themeElements>
    <a:clrScheme name="Fürst Fugger Privatbank">
      <a:dk1>
        <a:sysClr val="windowText" lastClr="000000"/>
      </a:dk1>
      <a:lt1>
        <a:sysClr val="window" lastClr="FFFFFF"/>
      </a:lt1>
      <a:dk2>
        <a:srgbClr val="386FA7"/>
      </a:dk2>
      <a:lt2>
        <a:srgbClr val="9D9D9D"/>
      </a:lt2>
      <a:accent1>
        <a:srgbClr val="14355C"/>
      </a:accent1>
      <a:accent2>
        <a:srgbClr val="66A4CE"/>
      </a:accent2>
      <a:accent3>
        <a:srgbClr val="BB9256"/>
      </a:accent3>
      <a:accent4>
        <a:srgbClr val="98D0EF"/>
      </a:accent4>
      <a:accent5>
        <a:srgbClr val="D1E9F8"/>
      </a:accent5>
      <a:accent6>
        <a:srgbClr val="E6F4FC"/>
      </a:accent6>
      <a:hlink>
        <a:srgbClr val="BB9256"/>
      </a:hlink>
      <a:folHlink>
        <a:srgbClr val="9D9D9D"/>
      </a:folHlink>
    </a:clrScheme>
    <a:fontScheme name="Fürst Fugger Privatbank">
      <a:majorFont>
        <a:latin typeface="Noto Serif"/>
        <a:ea typeface=""/>
        <a:cs typeface=""/>
      </a:majorFont>
      <a:minorFont>
        <a:latin typeface="No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3467</Words>
  <Application>Microsoft Office PowerPoint</Application>
  <PresentationFormat>Benutzerdefiniert</PresentationFormat>
  <Paragraphs>872</Paragraphs>
  <Slides>30</Slides>
  <Notes>5</Notes>
  <HiddenSlides>0</HiddenSlides>
  <MMClips>0</MMClips>
  <ScaleCrop>false</ScaleCrop>
  <HeadingPairs>
    <vt:vector size="6" baseType="variant">
      <vt:variant>
        <vt:lpstr>Verwendete Schriftarten</vt:lpstr>
      </vt:variant>
      <vt:variant>
        <vt:i4>7</vt:i4>
      </vt:variant>
      <vt:variant>
        <vt:lpstr>Design</vt:lpstr>
      </vt:variant>
      <vt:variant>
        <vt:i4>1</vt:i4>
      </vt:variant>
      <vt:variant>
        <vt:lpstr>Folientitel</vt:lpstr>
      </vt:variant>
      <vt:variant>
        <vt:i4>30</vt:i4>
      </vt:variant>
    </vt:vector>
  </HeadingPairs>
  <TitlesOfParts>
    <vt:vector size="38" baseType="lpstr">
      <vt:lpstr>Arial</vt:lpstr>
      <vt:lpstr>Calibri</vt:lpstr>
      <vt:lpstr>Noto Sans</vt:lpstr>
      <vt:lpstr>Noto Serif</vt:lpstr>
      <vt:lpstr>Open Sans</vt:lpstr>
      <vt:lpstr>Symbol</vt:lpstr>
      <vt:lpstr>Wingdings</vt:lpstr>
      <vt:lpstr>Office</vt:lpstr>
      <vt:lpstr>Unsere ausschüttende   Vermögensverwaltung</vt:lpstr>
      <vt:lpstr>Inhalt</vt:lpstr>
      <vt:lpstr>Sehr geehrte Interessentin, sehr geehrter Interessent,</vt:lpstr>
      <vt:lpstr>Die Fugger</vt:lpstr>
      <vt:lpstr>Unsere Vermögensverwaltung</vt:lpstr>
      <vt:lpstr>Unsere Vermögensverwaltung </vt:lpstr>
      <vt:lpstr>Die ausschüttende Vermögensverwaltung – planbare Erträge und flexible Gestaltung   </vt:lpstr>
      <vt:lpstr>Die ausschüttende Vermögensverwaltung Ausgestaltung</vt:lpstr>
      <vt:lpstr>Die ausschüttende Vermögensverwaltung – wissenschaftlich fundiert, einfach erklärt</vt:lpstr>
      <vt:lpstr>Die ausschüttende Vermögensverwaltung – Szenarien zur Vermögensentwicklung</vt:lpstr>
      <vt:lpstr>Die ausschüttende Vermögensverwaltung – Szenarien zur Vermögensentwicklung</vt:lpstr>
      <vt:lpstr>Nächste Schritte – Ihr Weg zur individuellen Depotrente</vt:lpstr>
      <vt:lpstr>Anlagevorschlag</vt:lpstr>
      <vt:lpstr>Anlagevorschlag</vt:lpstr>
      <vt:lpstr>Aktuelle Portfoliozusammenstellung</vt:lpstr>
      <vt:lpstr>Aktuelle Portfoliozusammenstellung</vt:lpstr>
      <vt:lpstr>Unser Honorar</vt:lpstr>
      <vt:lpstr>Steuerlicher Hinweis zum Honorar</vt:lpstr>
      <vt:lpstr>Unsere Investmentphilosophie</vt:lpstr>
      <vt:lpstr>Unser Investmentprozess</vt:lpstr>
      <vt:lpstr>Unser Risikomanagement</vt:lpstr>
      <vt:lpstr>Anlageklassen und Ausgestaltung</vt:lpstr>
      <vt:lpstr>Unser Service</vt:lpstr>
      <vt:lpstr>Unsere Bank in Zahlen</vt:lpstr>
      <vt:lpstr>Ihre Ansprechpartner für den Vertrieb</vt:lpstr>
      <vt:lpstr>Unsere Standorte</vt:lpstr>
      <vt:lpstr>Unsere Standorte</vt:lpstr>
      <vt:lpstr>Unsere Tradition</vt:lpstr>
      <vt:lpstr>Rechtliche Hinweise und Impressum</vt:lpstr>
      <vt:lpstr>Vielen Dank  für Ihr Interesse</vt:lpstr>
    </vt:vector>
  </TitlesOfParts>
  <Manager>endroes@aedwin.com</Manager>
  <Company>Fürst Fugger Privatbank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Präsentation zur Vermögensverwaltung</dc:title>
  <dc:creator>Harald Endrös</dc:creator>
  <cp:keywords>Vorlagen;Vermögensverwaltung</cp:keywords>
  <cp:lastModifiedBy>Michael Wirl</cp:lastModifiedBy>
  <cp:revision>192</cp:revision>
  <dcterms:created xsi:type="dcterms:W3CDTF">2023-08-14T05:18:02Z</dcterms:created>
  <dcterms:modified xsi:type="dcterms:W3CDTF">2026-02-12T10:48:00Z</dcterms:modified>
  <cp:category>Vorlagen;Design</cp:category>
</cp:coreProperties>
</file>