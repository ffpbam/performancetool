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1606" r:id="rId30"/>
    <p:sldId id="1605" r:id="rId29"/>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 Id="rId29" Type="http://schemas.openxmlformats.org/officeDocument/2006/relationships/slide" Target="slides/slide17.xml"/><Relationship Id="rId30"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6.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sv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67520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höhere Kursgewinne. Wir wollen bewusst und offensiv Kurschancen am Aktienmarkt ausnutzen.</a:t>
            </a:r>
          </a:p>
          <a:p>
            <a:r>
              <a:rPr lang="de-DE" dirty="0"/>
              <a:t>Das Vorhalten von Liquidität wird in dieser Strategie ausgeschlossen bzw. vertraglich auf maximal 15 % für </a:t>
            </a:r>
            <a:br>
              <a:rPr lang="de-DE" dirty="0"/>
            </a:br>
            <a:r>
              <a:rPr lang="de-DE" dirty="0"/>
              <a:t>das Handling der Vermögensverwaltung begrenzt.</a:t>
            </a:r>
          </a:p>
          <a:p>
            <a:r>
              <a:rPr lang="de-DE" dirty="0"/>
              <a:t>Ziel ist eine dauerhafte Partizipation am Aktienmarkt </a:t>
            </a:r>
            <a:br>
              <a:rPr lang="de-DE" dirty="0"/>
            </a:br>
            <a:r>
              <a:rPr lang="de-DE" dirty="0"/>
              <a:t>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a:t>
            </a:r>
          </a:p>
        </p:txBody>
      </p:sp>
    </p:spTree>
    <p:extLst>
      <p:ext uri="{BB962C8B-B14F-4D97-AF65-F5344CB8AC3E}">
        <p14:creationId xmlns:p14="http://schemas.microsoft.com/office/powerpoint/2010/main" val="2606231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r>
              <a:rPr lang="de-DE" dirty="0"/>
              <a:t>In dieser Strategie sind folgende Punkte bei der Auswahl </a:t>
            </a:r>
            <a:br>
              <a:rPr lang="de-DE" dirty="0"/>
            </a:br>
            <a:r>
              <a:rPr lang="de-DE" dirty="0"/>
              <a:t>für uns relevant:</a:t>
            </a:r>
          </a:p>
          <a:p>
            <a:pPr lvl="1"/>
            <a:r>
              <a:rPr lang="de-DE" dirty="0"/>
              <a:t>Das Unternehmen sollte eine starke Marktposition (Burggraben) aufweisen und ferner über ein </a:t>
            </a:r>
            <a:br>
              <a:rPr lang="de-DE" dirty="0"/>
            </a:br>
            <a:r>
              <a:rPr lang="de-DE" dirty="0"/>
              <a:t>vorzügliches Management und Geschäftsmodell verfügen.</a:t>
            </a:r>
          </a:p>
          <a:p>
            <a:pPr lvl="1"/>
            <a:r>
              <a:rPr lang="de-DE" dirty="0"/>
              <a:t>Die Performance des Unternehmens sollte im 1-, 3- </a:t>
            </a:r>
            <a:br>
              <a:rPr lang="de-DE" dirty="0"/>
            </a:br>
            <a:r>
              <a:rPr lang="de-DE" dirty="0"/>
              <a:t>und 5-Jahresbereich positiv und in Relation zu </a:t>
            </a:r>
            <a:br>
              <a:rPr lang="de-DE" dirty="0"/>
            </a:br>
            <a:r>
              <a:rPr lang="de-DE" dirty="0"/>
              <a:t>internationalen Aktienindizes herausragend sein.</a:t>
            </a:r>
          </a:p>
          <a:p>
            <a:pPr lvl="1"/>
            <a:r>
              <a:rPr lang="de-DE" dirty="0"/>
              <a:t>Ergänzend dazu achten wir auf solide Bilanzen und </a:t>
            </a:r>
            <a:br>
              <a:rPr lang="de-DE" dirty="0"/>
            </a:br>
            <a:r>
              <a:rPr lang="de-DE" dirty="0"/>
              <a:t>hohe Wachstumsraten sowie unterjährige </a:t>
            </a:r>
            <a:br>
              <a:rPr lang="de-DE" dirty="0"/>
            </a:br>
            <a:r>
              <a:rPr lang="de-DE" dirty="0"/>
              <a:t>Prognoseerhöhungen seitens der Geschäftsführung, die </a:t>
            </a:r>
            <a:br>
              <a:rPr lang="de-DE" dirty="0"/>
            </a:br>
            <a:r>
              <a:rPr lang="de-DE" dirty="0"/>
              <a:t>statistisch nachweisbar Treiber einer guten zukünftigen Performance sind.</a:t>
            </a:r>
          </a:p>
          <a:p>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a:t>
            </a:r>
          </a:p>
        </p:txBody>
      </p:sp>
    </p:spTree>
    <p:extLst>
      <p:ext uri="{BB962C8B-B14F-4D97-AF65-F5344CB8AC3E}">
        <p14:creationId xmlns:p14="http://schemas.microsoft.com/office/powerpoint/2010/main" val="120224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4173664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