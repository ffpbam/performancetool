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media/image1.svg" ContentType="image/svg+xml"/>
  <Override PartName="/ppt/media/image20.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3"/>
  </p:notesMasterIdLst>
  <p:sldIdLst>
    <p:sldId id="1601" r:id="rId2"/>
    <p:sldId id="1602" r:id="rId3"/>
    <p:sldId id="1603" r:id="rId4"/>
    <p:sldId id="566" r:id="rId5"/>
    <p:sldId id="1604" r:id="rId6"/>
    <p:sldId id="282" r:id="rId7"/>
    <p:sldId id="301" r:id="rId8"/>
    <p:sldId id="302" r:id="rId9"/>
    <p:sldId id="303" r:id="rId10"/>
    <p:sldId id="257" r:id="rId11"/>
    <p:sldId id="304" r:id="rId12"/>
    <p:sldId id="305" r:id="rId13"/>
    <p:sldId id="564" r:id="rId14"/>
    <p:sldId id="565" r:id="rId15"/>
    <p:sldId id="285" r:id="rId16"/>
    <p:sldId id="291" r:id="rId17"/>
    <p:sldId id="293" r:id="rId18"/>
    <p:sldId id="294" r:id="rId19"/>
    <p:sldId id="312" r:id="rId20"/>
    <p:sldId id="311" r:id="rId21"/>
    <p:sldId id="299" r:id="rId22"/>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2E72B6-AE88-9C61-DED9-DF60B27C041D}" name="Autor" initials="A" userI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161" autoAdjust="0"/>
  </p:normalViewPr>
  <p:slideViewPr>
    <p:cSldViewPr snapToGrid="0" showGuides="1">
      <p:cViewPr varScale="1">
        <p:scale>
          <a:sx n="68" d="100"/>
          <a:sy n="68" d="100"/>
        </p:scale>
        <p:origin x="84" y="1056"/>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4.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5.xlsx"/><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656772487980533E-2"/>
          <c:y val="8.6153702611283134E-2"/>
          <c:w val="0.96534322751201951"/>
          <c:h val="0.74667110670667614"/>
        </c:manualLayout>
      </c:layout>
      <c:barChart>
        <c:barDir val="col"/>
        <c:grouping val="clustered"/>
        <c:varyColors val="0"/>
        <c:ser>
          <c:idx val="0"/>
          <c:order val="0"/>
          <c:tx>
            <c:strRef>
              <c:f>Tabelle1!$B$1</c:f>
              <c:strCache>
                <c:ptCount val="1"/>
                <c:pt idx="0">
                  <c:v>Anleger ist permanent investiert</c:v>
                </c:pt>
              </c:strCache>
            </c:strRef>
          </c:tx>
          <c:spPr>
            <a:solidFill>
              <a:schemeClr val="tx2"/>
            </a:solidFill>
            <a:ln>
              <a:noFill/>
            </a:ln>
            <a:effectLst/>
          </c:spPr>
          <c:invertIfNegative val="0"/>
          <c:cat>
            <c:strRef>
              <c:f>Tabelle1!$A$2:$A$5</c:f>
              <c:strCache>
                <c:ptCount val="4"/>
                <c:pt idx="0">
                  <c:v>Dax</c:v>
                </c:pt>
                <c:pt idx="1">
                  <c:v>MSCI Europa</c:v>
                </c:pt>
                <c:pt idx="2">
                  <c:v>S&amp;P 500</c:v>
                </c:pt>
                <c:pt idx="3">
                  <c:v>MSCI Welt</c:v>
                </c:pt>
              </c:strCache>
            </c:strRef>
          </c:cat>
          <c:val>
            <c:numRef>
              <c:f>Tabelle1!$B$2:$B$5</c:f>
              <c:numCache>
                <c:formatCode>0.00%</c:formatCode>
                <c:ptCount val="4"/>
                <c:pt idx="0">
                  <c:v>8.8400000000000006E-2</c:v>
                </c:pt>
                <c:pt idx="1">
                  <c:v>5.28E-2</c:v>
                </c:pt>
                <c:pt idx="2">
                  <c:v>0.10780000000000001</c:v>
                </c:pt>
                <c:pt idx="3">
                  <c:v>0.1004</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Anleger verpasst die 20 besten Tage</c:v>
                </c:pt>
              </c:strCache>
            </c:strRef>
          </c:tx>
          <c:spPr>
            <a:solidFill>
              <a:schemeClr val="accent4"/>
            </a:solidFill>
            <a:ln>
              <a:noFill/>
            </a:ln>
            <a:effectLst/>
          </c:spPr>
          <c:invertIfNegative val="0"/>
          <c:cat>
            <c:strRef>
              <c:f>Tabelle1!$A$2:$A$5</c:f>
              <c:strCache>
                <c:ptCount val="4"/>
                <c:pt idx="0">
                  <c:v>Dax</c:v>
                </c:pt>
                <c:pt idx="1">
                  <c:v>MSCI Europa</c:v>
                </c:pt>
                <c:pt idx="2">
                  <c:v>S&amp;P 500</c:v>
                </c:pt>
                <c:pt idx="3">
                  <c:v>MSCI Welt</c:v>
                </c:pt>
              </c:strCache>
            </c:strRef>
          </c:cat>
          <c:val>
            <c:numRef>
              <c:f>Tabelle1!$C$2:$C$5</c:f>
              <c:numCache>
                <c:formatCode>0.00%</c:formatCode>
                <c:ptCount val="4"/>
                <c:pt idx="0">
                  <c:v>5.3400000000000003E-2</c:v>
                </c:pt>
                <c:pt idx="1">
                  <c:v>3.3999999999999998E-3</c:v>
                </c:pt>
                <c:pt idx="2">
                  <c:v>6.7199999999999996E-2</c:v>
                </c:pt>
                <c:pt idx="3">
                  <c:v>6.1400000000000003E-2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46"/>
        <c:axId val="1907376352"/>
        <c:axId val="1019157360"/>
      </c:barChart>
      <c:catAx>
        <c:axId val="190737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11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5.4494293607666375E-3"/>
          <c:y val="0.92928384651809426"/>
          <c:w val="0.31999087813339966"/>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8.6153702611283134E-2"/>
          <c:w val="0.96275418875601826"/>
          <c:h val="0.74667110670667614"/>
        </c:manualLayout>
      </c:layout>
      <c:barChart>
        <c:barDir val="col"/>
        <c:grouping val="stacked"/>
        <c:varyColors val="0"/>
        <c:ser>
          <c:idx val="0"/>
          <c:order val="0"/>
          <c:tx>
            <c:strRef>
              <c:f>Tabelle1!$B$1</c:f>
              <c:strCache>
                <c:ptCount val="1"/>
                <c:pt idx="0">
                  <c:v>Beste</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Tabelle1!$B$2:$B$4</c:f>
              <c:numCache>
                <c:formatCode>0%</c:formatCode>
                <c:ptCount val="3"/>
                <c:pt idx="0">
                  <c:v>0.74021134628708407</c:v>
                </c:pt>
                <c:pt idx="1">
                  <c:v>0.40762243693508093</c:v>
                </c:pt>
                <c:pt idx="2">
                  <c:v>0.32279086113967437</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Schlechteste</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Tabelle1!$C$2:$C$4</c:f>
              <c:numCache>
                <c:formatCode>0%</c:formatCode>
                <c:ptCount val="3"/>
                <c:pt idx="0">
                  <c:v>-0.51942884840651127</c:v>
                </c:pt>
                <c:pt idx="1">
                  <c:v>-0.19661063351635966</c:v>
                </c:pt>
                <c:pt idx="2">
                  <c:v>-8.5308273395607093E-2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100"/>
        <c:axId val="1907376352"/>
        <c:axId val="1019157360"/>
      </c:barChart>
      <c:catAx>
        <c:axId val="190737635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1.7409691339994985E-2"/>
          <c:w val="0.96275418875601826"/>
          <c:h val="0.81541522421299895"/>
        </c:manualLayout>
      </c:layout>
      <c:barChart>
        <c:barDir val="bar"/>
        <c:grouping val="clustered"/>
        <c:varyColors val="0"/>
        <c:ser>
          <c:idx val="0"/>
          <c:order val="0"/>
          <c:tx>
            <c:strRef>
              <c:f>Tabelle1!$B$1</c:f>
              <c:strCache>
                <c:ptCount val="1"/>
                <c:pt idx="0">
                  <c:v>Max Drawdown</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Tabelle1!$B$2:$B$8</c:f>
              <c:numCache>
                <c:formatCode>0%</c:formatCode>
                <c:ptCount val="7"/>
                <c:pt idx="0">
                  <c:v>-0.34203577075504632</c:v>
                </c:pt>
                <c:pt idx="1">
                  <c:v>-0.59066781585282491</c:v>
                </c:pt>
                <c:pt idx="2">
                  <c:v>-0.51427427593252162</c:v>
                </c:pt>
                <c:pt idx="3">
                  <c:v>-0.20532831707423782</c:v>
                </c:pt>
                <c:pt idx="4">
                  <c:v>-0.25897516724457992</c:v>
                </c:pt>
                <c:pt idx="5">
                  <c:v>-0.23699760017746585</c:v>
                </c:pt>
                <c:pt idx="6">
                  <c:v>-0.28150036416605972</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1 Jahr</c:v>
                </c:pt>
              </c:strCache>
            </c:strRef>
          </c:tx>
          <c:spPr>
            <a:solidFill>
              <a:schemeClr val="accent2"/>
            </a:solidFill>
            <a:ln>
              <a:noFill/>
            </a:ln>
            <a:effectLst/>
          </c:spPr>
          <c:invertIfNegative val="0"/>
          <c:dLbls>
            <c:dLbl>
              <c:idx val="0"/>
              <c:layout>
                <c:manualLayout>
                  <c:x val="-0.79830364381501218"/>
                  <c:y val="2.118412229567668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435472854970115"/>
                      <c:h val="4.6767651594852695E-2"/>
                    </c:manualLayout>
                  </c15:layout>
                </c:ext>
                <c:ext xmlns:c16="http://schemas.microsoft.com/office/drawing/2014/chart" uri="{C3380CC4-5D6E-409C-BE32-E72D297353CC}">
                  <c16:uniqueId val="{00000007-43DB-446D-B42F-873862D35EE3}"/>
                </c:ext>
              </c:extLst>
            </c:dLbl>
            <c:dLbl>
              <c:idx val="1"/>
              <c:layout>
                <c:manualLayout>
                  <c:x val="-0.80989499853368119"/>
                  <c:y val="2.1184122295676785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335351749971809"/>
                      <c:h val="4.6767651594852695E-2"/>
                    </c:manualLayout>
                  </c15:layout>
                </c:ext>
                <c:ext xmlns:c16="http://schemas.microsoft.com/office/drawing/2014/chart" uri="{C3380CC4-5D6E-409C-BE32-E72D297353CC}">
                  <c16:uniqueId val="{00000006-43DB-446D-B42F-873862D35EE3}"/>
                </c:ext>
              </c:extLst>
            </c:dLbl>
            <c:dLbl>
              <c:idx val="2"/>
              <c:layout>
                <c:manualLayout>
                  <c:x val="-0.67509125148045235"/>
                  <c:y val="1.2934828194918046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702058784971246"/>
                      <c:h val="4.6767651594852695E-2"/>
                    </c:manualLayout>
                  </c15:layout>
                </c:ext>
                <c:ext xmlns:c16="http://schemas.microsoft.com/office/drawing/2014/chart" uri="{C3380CC4-5D6E-409C-BE32-E72D297353CC}">
                  <c16:uniqueId val="{00000005-43DB-446D-B42F-873862D35EE3}"/>
                </c:ext>
              </c:extLst>
            </c:dLbl>
            <c:dLbl>
              <c:idx val="3"/>
              <c:layout>
                <c:manualLayout>
                  <c:x val="-0.67631197845473934"/>
                  <c:y val="2.9433199879529942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6501816574974629"/>
                      <c:h val="4.6767651594852695E-2"/>
                    </c:manualLayout>
                  </c15:layout>
                </c:ext>
                <c:ext xmlns:c16="http://schemas.microsoft.com/office/drawing/2014/chart" uri="{C3380CC4-5D6E-409C-BE32-E72D297353CC}">
                  <c16:uniqueId val="{00000004-43DB-446D-B42F-873862D35EE3}"/>
                </c:ext>
              </c:extLst>
            </c:dLbl>
            <c:dLbl>
              <c:idx val="4"/>
              <c:layout>
                <c:manualLayout>
                  <c:x val="-0.60480655134341599"/>
                  <c:y val="2.3933670479024168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802179889969557"/>
                      <c:h val="4.6767651594852695E-2"/>
                    </c:manualLayout>
                  </c15:layout>
                </c:ext>
                <c:ext xmlns:c16="http://schemas.microsoft.com/office/drawing/2014/chart" uri="{C3380CC4-5D6E-409C-BE32-E72D297353CC}">
                  <c16:uniqueId val="{00000003-43DB-446D-B42F-873862D35EE3}"/>
                </c:ext>
              </c:extLst>
            </c:dLbl>
            <c:dLbl>
              <c:idx val="5"/>
              <c:layout>
                <c:manualLayout>
                  <c:x val="0.27716481678246968"/>
                  <c:y val="2.393388699592967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540169546997632"/>
                      <c:h val="4.6767651594852695E-2"/>
                    </c:manualLayout>
                  </c15:layout>
                </c:ext>
                <c:ext xmlns:c16="http://schemas.microsoft.com/office/drawing/2014/chart" uri="{C3380CC4-5D6E-409C-BE32-E72D297353CC}">
                  <c16:uniqueId val="{00000002-43DB-446D-B42F-873862D35EE3}"/>
                </c:ext>
              </c:extLst>
            </c:dLbl>
            <c:dLbl>
              <c:idx val="6"/>
              <c:layout>
                <c:manualLayout>
                  <c:x val="-0.73034906129620136"/>
                  <c:y val="2.3933886995929687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20168886924968993"/>
                      <c:h val="4.6767651594852695E-2"/>
                    </c:manualLayout>
                  </c15:layout>
                </c:ext>
                <c:ext xmlns:c16="http://schemas.microsoft.com/office/drawing/2014/chart" uri="{C3380CC4-5D6E-409C-BE32-E72D297353CC}">
                  <c16:uniqueId val="{00000001-43DB-446D-B42F-873862D35EE3}"/>
                </c:ext>
              </c:extLst>
            </c:dLbl>
            <c:spPr>
              <a:solidFill>
                <a:schemeClr val="bg1"/>
              </a:solidFill>
              <a:ln>
                <a:noFill/>
              </a:ln>
              <a:effectLst/>
            </c:spPr>
            <c:txPr>
              <a:bodyPr rot="0" spcFirstLastPara="1" vertOverflow="ellipsis" vert="horz" wrap="square" lIns="38100" tIns="0" rIns="38100" bIns="0" anchor="ctr" anchorCtr="0">
                <a:sp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showLeaderLines val="0"/>
            <c:extLst>
              <c:ext xmlns:c15="http://schemas.microsoft.com/office/drawing/2012/chart" uri="{CE6537A1-D6FC-4f65-9D91-7224C49458BB}">
                <c15:showLeaderLines val="0"/>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Tabelle1!$C$2:$C$8</c:f>
              <c:numCache>
                <c:formatCode>0%</c:formatCode>
                <c:ptCount val="7"/>
                <c:pt idx="0">
                  <c:v>0.74021134628708407</c:v>
                </c:pt>
                <c:pt idx="1">
                  <c:v>0.69966891263940534</c:v>
                </c:pt>
                <c:pt idx="2">
                  <c:v>0.35542134432286465</c:v>
                </c:pt>
                <c:pt idx="3">
                  <c:v>0.35796624351789674</c:v>
                </c:pt>
                <c:pt idx="4">
                  <c:v>0.20889067448125909</c:v>
                </c:pt>
                <c:pt idx="5">
                  <c:v>-0.1221489503297235</c:v>
                </c:pt>
                <c:pt idx="6">
                  <c:v>0.47254603818212537</c:v>
                </c:pt>
              </c:numCache>
            </c:numRef>
          </c:val>
          <c:extLst>
            <c:ext xmlns:c16="http://schemas.microsoft.com/office/drawing/2014/chart" uri="{C3380CC4-5D6E-409C-BE32-E72D297353CC}">
              <c16:uniqueId val="{00000001-504B-4C01-B29D-AE226A5B0417}"/>
            </c:ext>
          </c:extLst>
        </c:ser>
        <c:ser>
          <c:idx val="2"/>
          <c:order val="2"/>
          <c:tx>
            <c:strRef>
              <c:f>Tabelle1!$D$1</c:f>
              <c:strCache>
                <c:ptCount val="1"/>
                <c:pt idx="0">
                  <c:v>3 Jahre</c:v>
                </c:pt>
              </c:strCache>
            </c:strRef>
          </c:tx>
          <c:spPr>
            <a:solidFill>
              <a:schemeClr val="tx2"/>
            </a:solidFill>
            <a:ln>
              <a:noFill/>
            </a:ln>
            <a:effectLst/>
          </c:spPr>
          <c:invertIfNegative val="0"/>
          <c:dLbls>
            <c:delete val="1"/>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Tabelle1!$D$2:$D$8</c:f>
              <c:numCache>
                <c:formatCode>0%</c:formatCode>
                <c:ptCount val="7"/>
                <c:pt idx="0">
                  <c:v>0.68331138311351913</c:v>
                </c:pt>
                <c:pt idx="1">
                  <c:v>0.87595841078066905</c:v>
                </c:pt>
                <c:pt idx="2">
                  <c:v>0.69670314054284499</c:v>
                </c:pt>
                <c:pt idx="3">
                  <c:v>4.8707983308927894E-2</c:v>
                </c:pt>
                <c:pt idx="4">
                  <c:v>0.39939499929101485</c:v>
                </c:pt>
                <c:pt idx="5">
                  <c:v>-5.3804424546756269E-2</c:v>
                </c:pt>
                <c:pt idx="6">
                  <c:v>0.83569859773610422</c:v>
                </c:pt>
              </c:numCache>
            </c:numRef>
          </c:val>
          <c:extLst>
            <c:ext xmlns:c16="http://schemas.microsoft.com/office/drawing/2014/chart" uri="{C3380CC4-5D6E-409C-BE32-E72D297353CC}">
              <c16:uniqueId val="{00000000-43DB-446D-B42F-873862D35EE3}"/>
            </c:ext>
          </c:extLst>
        </c:ser>
        <c:dLbls>
          <c:dLblPos val="outEnd"/>
          <c:showLegendKey val="0"/>
          <c:showVal val="1"/>
          <c:showCatName val="0"/>
          <c:showSerName val="0"/>
          <c:showPercent val="0"/>
          <c:showBubbleSize val="0"/>
        </c:dLbls>
        <c:gapWidth val="68"/>
        <c:axId val="1907376352"/>
        <c:axId val="1019157360"/>
      </c:barChart>
      <c:catAx>
        <c:axId val="1907376352"/>
        <c:scaling>
          <c:orientation val="minMax"/>
        </c:scaling>
        <c:delete val="1"/>
        <c:axPos val="l"/>
        <c:numFmt formatCode="General" sourceLinked="1"/>
        <c:majorTickMark val="none"/>
        <c:minorTickMark val="none"/>
        <c:tickLblPos val="low"/>
        <c:crossAx val="1019157360"/>
        <c:crosses val="autoZero"/>
        <c:auto val="1"/>
        <c:lblAlgn val="ctr"/>
        <c:lblOffset val="100"/>
        <c:noMultiLvlLbl val="0"/>
      </c:catAx>
      <c:valAx>
        <c:axId val="1019157360"/>
        <c:scaling>
          <c:orientation val="minMax"/>
          <c:max val="1"/>
          <c:min val="-1"/>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2.7136320589958281E-4"/>
          <c:y val="0.92928384651809426"/>
          <c:w val="0.16129987642595259"/>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398809635607422"/>
          <c:h val="0.73741895141895142"/>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E965-4782-B64C-193A939AA9D0}"/>
              </c:ext>
            </c:extLst>
          </c:dPt>
          <c:dPt>
            <c:idx val="1"/>
            <c:bubble3D val="0"/>
            <c:spPr>
              <a:solidFill>
                <a:srgbClr val="D1E9F8"/>
              </a:solidFill>
              <a:ln w="19050">
                <a:solidFill>
                  <a:schemeClr val="lt1"/>
                </a:solidFill>
              </a:ln>
              <a:effectLst/>
            </c:spPr>
            <c:extLst>
              <c:ext xmlns:c16="http://schemas.microsoft.com/office/drawing/2014/chart" uri="{C3380CC4-5D6E-409C-BE32-E72D297353CC}">
                <c16:uniqueId val="{00000003-E965-4782-B64C-193A939AA9D0}"/>
              </c:ext>
            </c:extLst>
          </c:dPt>
          <c:dLbls>
            <c:dLbl>
              <c:idx val="0"/>
              <c:layout>
                <c:manualLayout>
                  <c:x val="0.241207953672919"/>
                  <c:y val="7.3481429852324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965-4782-B64C-193A939AA9D0}"/>
                </c:ext>
              </c:extLst>
            </c:dLbl>
            <c:dLbl>
              <c:idx val="1"/>
              <c:layout>
                <c:manualLayout>
                  <c:x val="0.24155164957643199"/>
                  <c:y val="-5.54285429542688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65-4782-B64C-193A939AA9D0}"/>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[0]!R_LegendePro</c:f>
              <c:strCache>
                <c:ptCount val="2"/>
                <c:pt idx="0">
                  <c:v>AKTIEN </c:v>
                </c:pt>
                <c:pt idx="1">
                  <c:v>LIQUIDITÄT</c:v>
                </c:pt>
              </c:strCache>
            </c:strRef>
          </c:cat>
          <c:val>
            <c:numRef>
              <c:f>[0]!R_DatenPro</c:f>
              <c:numCache>
                <c:formatCode>0.00%</c:formatCode>
                <c:ptCount val="2"/>
                <c:pt idx="0">
                  <c:v>0.98089999999999999</c:v>
                </c:pt>
                <c:pt idx="1">
                  <c:v>1.9099999999999999E-2</c:v>
                </c:pt>
              </c:numCache>
            </c:numRef>
          </c:val>
          <c:extLst>
            <c:ext xmlns:c16="http://schemas.microsoft.com/office/drawing/2014/chart" uri="{C3380CC4-5D6E-409C-BE32-E72D297353CC}">
              <c16:uniqueId val="{00000004-E965-4782-B64C-193A939AA9D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89147478931826241"/>
          <c:w val="0.18969068469375411"/>
          <c:h val="0.10852521068173762"/>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742046995029369"/>
          <c:y val="0.18658165306890723"/>
          <c:w val="0.41578671486669677"/>
          <c:h val="0.4895843032675454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501E-4CAE-870D-9E3296FED657}"/>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501E-4CAE-870D-9E3296FED657}"/>
              </c:ext>
            </c:extLst>
          </c:dPt>
          <c:dPt>
            <c:idx val="2"/>
            <c:bubble3D val="0"/>
            <c:spPr>
              <a:solidFill>
                <a:srgbClr val="5F8CA1"/>
              </a:solidFill>
              <a:ln w="19050">
                <a:solidFill>
                  <a:schemeClr val="lt1"/>
                </a:solidFill>
              </a:ln>
              <a:effectLst/>
            </c:spPr>
            <c:extLst>
              <c:ext xmlns:c16="http://schemas.microsoft.com/office/drawing/2014/chart" uri="{C3380CC4-5D6E-409C-BE32-E72D297353CC}">
                <c16:uniqueId val="{00000005-501E-4CAE-870D-9E3296FED65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501E-4CAE-870D-9E3296FED657}"/>
              </c:ext>
            </c:extLst>
          </c:dPt>
          <c:dPt>
            <c:idx val="4"/>
            <c:bubble3D val="0"/>
            <c:spPr>
              <a:solidFill>
                <a:srgbClr val="72BA86"/>
              </a:solidFill>
              <a:ln w="19050">
                <a:solidFill>
                  <a:schemeClr val="lt1"/>
                </a:solidFill>
              </a:ln>
              <a:effectLst/>
            </c:spPr>
            <c:extLst>
              <c:ext xmlns:c16="http://schemas.microsoft.com/office/drawing/2014/chart" uri="{C3380CC4-5D6E-409C-BE32-E72D297353CC}">
                <c16:uniqueId val="{00000009-501E-4CAE-870D-9E3296FED657}"/>
              </c:ext>
            </c:extLst>
          </c:dPt>
          <c:dPt>
            <c:idx val="5"/>
            <c:bubble3D val="0"/>
            <c:spPr>
              <a:solidFill>
                <a:srgbClr val="BB9256"/>
              </a:solidFill>
              <a:ln w="19050">
                <a:solidFill>
                  <a:schemeClr val="lt1"/>
                </a:solidFill>
              </a:ln>
              <a:effectLst/>
            </c:spPr>
            <c:extLst>
              <c:ext xmlns:c16="http://schemas.microsoft.com/office/drawing/2014/chart" uri="{C3380CC4-5D6E-409C-BE32-E72D297353CC}">
                <c16:uniqueId val="{0000000B-501E-4CAE-870D-9E3296FED657}"/>
              </c:ext>
            </c:extLst>
          </c:dPt>
          <c:dPt>
            <c:idx val="6"/>
            <c:bubble3D val="0"/>
            <c:spPr>
              <a:solidFill>
                <a:srgbClr val="D1E4C6"/>
              </a:solidFill>
              <a:ln w="19050">
                <a:solidFill>
                  <a:schemeClr val="lt1"/>
                </a:solidFill>
              </a:ln>
              <a:effectLst/>
            </c:spPr>
            <c:extLst>
              <c:ext xmlns:c16="http://schemas.microsoft.com/office/drawing/2014/chart" uri="{C3380CC4-5D6E-409C-BE32-E72D297353CC}">
                <c16:uniqueId val="{0000000D-501E-4CAE-870D-9E3296FED657}"/>
              </c:ext>
            </c:extLst>
          </c:dPt>
          <c:dPt>
            <c:idx val="7"/>
            <c:bubble3D val="0"/>
            <c:spPr>
              <a:solidFill>
                <a:srgbClr val="808080"/>
              </a:solidFill>
              <a:ln w="19050">
                <a:solidFill>
                  <a:schemeClr val="lt1"/>
                </a:solidFill>
              </a:ln>
              <a:effectLst/>
            </c:spPr>
            <c:extLst>
              <c:ext xmlns:c16="http://schemas.microsoft.com/office/drawing/2014/chart" uri="{C3380CC4-5D6E-409C-BE32-E72D297353CC}">
                <c16:uniqueId val="{0000000F-501E-4CAE-870D-9E3296FED657}"/>
              </c:ext>
            </c:extLst>
          </c:dPt>
          <c:dLbls>
            <c:dLbl>
              <c:idx val="0"/>
              <c:layout>
                <c:manualLayout>
                  <c:x val="0.16668848530068442"/>
                  <c:y val="5.94304111748629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01E-4CAE-870D-9E3296FED657}"/>
                </c:ext>
              </c:extLst>
            </c:dLbl>
            <c:dLbl>
              <c:idx val="1"/>
              <c:layout>
                <c:manualLayout>
                  <c:x val="0.17273394267238698"/>
                  <c:y val="0.13177550729854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01E-4CAE-870D-9E3296FED657}"/>
                </c:ext>
              </c:extLst>
            </c:dLbl>
            <c:dLbl>
              <c:idx val="2"/>
              <c:layout>
                <c:manualLayout>
                  <c:x val="-0.18842504507865449"/>
                  <c:y val="-1.2182573075182391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01E-4CAE-870D-9E3296FED657}"/>
                </c:ext>
              </c:extLst>
            </c:dLbl>
            <c:dLbl>
              <c:idx val="3"/>
              <c:layout>
                <c:manualLayout>
                  <c:x val="-0.14804180585937721"/>
                  <c:y val="2.63551593341659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01E-4CAE-870D-9E3296FED657}"/>
                </c:ext>
              </c:extLst>
            </c:dLbl>
            <c:dLbl>
              <c:idx val="4"/>
              <c:layout>
                <c:manualLayout>
                  <c:x val="-0.159975129018218"/>
                  <c:y val="1.59270504051790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01E-4CAE-870D-9E3296FED657}"/>
                </c:ext>
              </c:extLst>
            </c:dLbl>
            <c:dLbl>
              <c:idx val="5"/>
              <c:layout>
                <c:manualLayout>
                  <c:x val="-0.14423044095120205"/>
                  <c:y val="-0.1218309394529011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01E-4CAE-870D-9E3296FED657}"/>
                </c:ext>
              </c:extLst>
            </c:dLbl>
            <c:dLbl>
              <c:idx val="6"/>
              <c:layout>
                <c:manualLayout>
                  <c:x val="6.8915229519594376E-2"/>
                  <c:y val="-0.113925867451289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01E-4CAE-870D-9E3296FED657}"/>
                </c:ext>
              </c:extLst>
            </c:dLbl>
            <c:dLbl>
              <c:idx val="7"/>
              <c:layout>
                <c:manualLayout>
                  <c:x val="0.20387422066213337"/>
                  <c:y val="-6.2475475699094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01E-4CAE-870D-9E3296FED65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[0]!R_LegendeWaehrungen</c:f>
              <c:strCache>
                <c:ptCount val="8"/>
                <c:pt idx="0">
                  <c:v>Informationstechnologie</c:v>
                </c:pt>
                <c:pt idx="1">
                  <c:v>Banken,Versicherer,Finanzdienstl.</c:v>
                </c:pt>
                <c:pt idx="2">
                  <c:v>Prod. Gew. &amp; Industrie</c:v>
                </c:pt>
                <c:pt idx="3">
                  <c:v>Handel,Konsum</c:v>
                </c:pt>
                <c:pt idx="4">
                  <c:v>Versorger</c:v>
                </c:pt>
                <c:pt idx="5">
                  <c:v>Chemie,Pharma</c:v>
                </c:pt>
                <c:pt idx="6">
                  <c:v>Bau,Baustoffe</c:v>
                </c:pt>
                <c:pt idx="7">
                  <c:v>Eisen,Stahl,Rohstoffe</c:v>
                </c:pt>
              </c:strCache>
            </c:strRef>
          </c:cat>
          <c:val>
            <c:numRef>
              <c:f>[0]!R_DatenWaehrungen</c:f>
              <c:numCache>
                <c:formatCode>0.00%</c:formatCode>
                <c:ptCount val="8"/>
                <c:pt idx="0">
                  <c:v>0.3512617254994494</c:v>
                </c:pt>
                <c:pt idx="1">
                  <c:v>0.19786226728052009</c:v>
                </c:pt>
                <c:pt idx="2">
                  <c:v>0.15237950257127503</c:v>
                </c:pt>
                <c:pt idx="3">
                  <c:v>8.3471837614539385E-2</c:v>
                </c:pt>
                <c:pt idx="4">
                  <c:v>7.8808071529914051E-2</c:v>
                </c:pt>
                <c:pt idx="5">
                  <c:v>7.4200150300669301E-2</c:v>
                </c:pt>
                <c:pt idx="6">
                  <c:v>3.6337344674226155E-2</c:v>
                </c:pt>
                <c:pt idx="7">
                  <c:v>2.5679100529406574E-2</c:v>
                </c:pt>
              </c:numCache>
            </c:numRef>
          </c:val>
          <c:extLst>
            <c:ext xmlns:c16="http://schemas.microsoft.com/office/drawing/2014/chart" uri="{C3380CC4-5D6E-409C-BE32-E72D297353CC}">
              <c16:uniqueId val="{00000010-501E-4CAE-870D-9E3296FED65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ayout>
        <c:manualLayout>
          <c:xMode val="edge"/>
          <c:yMode val="edge"/>
          <c:x val="0"/>
          <c:y val="0.67954482166477159"/>
          <c:w val="0.53122156088020667"/>
          <c:h val="0.32045517833522846"/>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607038803194967"/>
          <c:y val="0.12133211202482602"/>
          <c:w val="0.64408604336043362"/>
          <c:h val="0.62135359477124186"/>
        </c:manualLayout>
      </c:layout>
      <c:doughnutChart>
        <c:varyColors val="1"/>
        <c:ser>
          <c:idx val="0"/>
          <c:order val="0"/>
          <c:dPt>
            <c:idx val="0"/>
            <c:bubble3D val="0"/>
            <c:spPr>
              <a:solidFill>
                <a:srgbClr val="66A4CE"/>
              </a:solidFill>
              <a:ln w="19050">
                <a:solidFill>
                  <a:schemeClr val="lt1"/>
                </a:solidFill>
              </a:ln>
              <a:effectLst/>
            </c:spPr>
            <c:extLst>
              <c:ext xmlns:c16="http://schemas.microsoft.com/office/drawing/2014/chart" uri="{C3380CC4-5D6E-409C-BE32-E72D297353CC}">
                <c16:uniqueId val="{00000001-6958-4D79-8631-4A13895A4A47}"/>
              </c:ext>
            </c:extLst>
          </c:dPt>
          <c:dPt>
            <c:idx val="1"/>
            <c:bubble3D val="0"/>
            <c:spPr>
              <a:solidFill>
                <a:srgbClr val="BB9256"/>
              </a:solidFill>
              <a:ln w="19050">
                <a:solidFill>
                  <a:schemeClr val="lt1"/>
                </a:solidFill>
              </a:ln>
              <a:effectLst/>
            </c:spPr>
            <c:extLst>
              <c:ext xmlns:c16="http://schemas.microsoft.com/office/drawing/2014/chart" uri="{C3380CC4-5D6E-409C-BE32-E72D297353CC}">
                <c16:uniqueId val="{00000003-6958-4D79-8631-4A13895A4A47}"/>
              </c:ext>
            </c:extLst>
          </c:dPt>
          <c:dPt>
            <c:idx val="2"/>
            <c:bubble3D val="0"/>
            <c:spPr>
              <a:solidFill>
                <a:srgbClr val="D1E4C6"/>
              </a:solidFill>
              <a:ln w="19050">
                <a:solidFill>
                  <a:schemeClr val="lt1"/>
                </a:solidFill>
              </a:ln>
              <a:effectLst/>
            </c:spPr>
            <c:extLst>
              <c:ext xmlns:c16="http://schemas.microsoft.com/office/drawing/2014/chart" uri="{C3380CC4-5D6E-409C-BE32-E72D297353CC}">
                <c16:uniqueId val="{00000005-6958-4D79-8631-4A13895A4A4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6958-4D79-8631-4A13895A4A47}"/>
              </c:ext>
            </c:extLst>
          </c:dPt>
          <c:dPt>
            <c:idx val="4"/>
            <c:bubble3D val="0"/>
            <c:spPr>
              <a:solidFill>
                <a:srgbClr val="14355C"/>
              </a:solidFill>
              <a:ln w="19050">
                <a:solidFill>
                  <a:schemeClr val="lt1"/>
                </a:solidFill>
              </a:ln>
              <a:effectLst/>
            </c:spPr>
            <c:extLst>
              <c:ext xmlns:c16="http://schemas.microsoft.com/office/drawing/2014/chart" uri="{C3380CC4-5D6E-409C-BE32-E72D297353CC}">
                <c16:uniqueId val="{00000009-6958-4D79-8631-4A13895A4A47}"/>
              </c:ext>
            </c:extLst>
          </c:dPt>
          <c:dLbls>
            <c:dLbl>
              <c:idx val="0"/>
              <c:layout>
                <c:manualLayout>
                  <c:x val="0.1661138078045799"/>
                  <c:y val="-0.1315153170009360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58-4D79-8631-4A13895A4A47}"/>
                </c:ext>
              </c:extLst>
            </c:dLbl>
            <c:dLbl>
              <c:idx val="1"/>
              <c:layout>
                <c:manualLayout>
                  <c:x val="0.19217909500827035"/>
                  <c:y val="0.1220571170467090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58-4D79-8631-4A13895A4A47}"/>
                </c:ext>
              </c:extLst>
            </c:dLbl>
            <c:dLbl>
              <c:idx val="2"/>
              <c:layout>
                <c:manualLayout>
                  <c:x val="5.13271418131842E-2"/>
                  <c:y val="0.153032565439743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958-4D79-8631-4A13895A4A47}"/>
                </c:ext>
              </c:extLst>
            </c:dLbl>
            <c:dLbl>
              <c:idx val="3"/>
              <c:layout>
                <c:manualLayout>
                  <c:x val="-3.5544615855922168E-2"/>
                  <c:y val="0.191934898339297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958-4D79-8631-4A13895A4A47}"/>
                </c:ext>
              </c:extLst>
            </c:dLbl>
            <c:dLbl>
              <c:idx val="4"/>
              <c:layout>
                <c:manualLayout>
                  <c:x val="-0.21344469701724175"/>
                  <c:y val="-6.65140857979333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58-4D79-8631-4A13895A4A4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S_DiagrammPro!$F$4:$F$8</c:f>
              <c:strCache>
                <c:ptCount val="5"/>
                <c:pt idx="0">
                  <c:v>Europa ohne Deutschland</c:v>
                </c:pt>
                <c:pt idx="1">
                  <c:v>Deutschland</c:v>
                </c:pt>
                <c:pt idx="2">
                  <c:v>Asien</c:v>
                </c:pt>
                <c:pt idx="3">
                  <c:v>Japan</c:v>
                </c:pt>
                <c:pt idx="4">
                  <c:v>Nordamerika</c:v>
                </c:pt>
              </c:strCache>
            </c:strRef>
          </c:cat>
          <c:val>
            <c:numRef>
              <c:f>S_DiagrammPro!$G$4:$G$8</c:f>
              <c:numCache>
                <c:formatCode>0.00%</c:formatCode>
                <c:ptCount val="5"/>
                <c:pt idx="0">
                  <c:v>0.21787973247217104</c:v>
                </c:pt>
                <c:pt idx="1">
                  <c:v>9.9177124085384719E-2</c:v>
                </c:pt>
                <c:pt idx="2">
                  <c:v>8.8647613545297488E-2</c:v>
                </c:pt>
                <c:pt idx="3">
                  <c:v>2.8365120885414964E-2</c:v>
                </c:pt>
                <c:pt idx="4">
                  <c:v>0.56593040901173175</c:v>
                </c:pt>
              </c:numCache>
            </c:numRef>
          </c:val>
          <c:extLst>
            <c:ext xmlns:c16="http://schemas.microsoft.com/office/drawing/2014/chart" uri="{C3380CC4-5D6E-409C-BE32-E72D297353CC}">
              <c16:uniqueId val="{0000000A-6958-4D79-8631-4A13895A4A4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Entry>
      <c:layout>
        <c:manualLayout>
          <c:xMode val="edge"/>
          <c:yMode val="edge"/>
          <c:x val="0"/>
          <c:y val="0.75254872914666926"/>
          <c:w val="0.36474726705478017"/>
          <c:h val="0.24745127085333074"/>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Tabelle1!$A$2:$A$230</c:f>
              <c:numCache>
                <c:formatCode>m/d/yyyy</c:formatCode>
                <c:ptCount val="229"/>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46202</c:v>
                </c:pt>
              </c:numCache>
            </c:numRef>
          </c:cat>
          <c:val>
            <c:numRef>
              <c:f>Tabelle1!$B$2:$B$230</c:f>
              <c:numCache>
                <c:formatCode>General</c:formatCode>
                <c:ptCount val="229"/>
                <c:pt idx="0">
                  <c:v>1</c:v>
                </c:pt>
                <c:pt idx="1">
                  <c:v>1.054</c:v>
                </c:pt>
                <c:pt idx="2">
                  <c:v>1.1271476</c:v>
                </c:pt>
                <c:pt idx="3">
                  <c:v>1.1654706184000001</c:v>
                </c:pt>
                <c:pt idx="4">
                  <c:v>1.12141582902448</c:v>
                </c:pt>
                <c:pt idx="5">
                  <c:v>1.1663846037683616</c:v>
                </c:pt>
                <c:pt idx="6">
                  <c:v>1.2003263957380208</c:v>
                </c:pt>
                <c:pt idx="7">
                  <c:v>1.1677989007807157</c:v>
                </c:pt>
                <c:pt idx="8">
                  <c:v>1.2062194846164012</c:v>
                </c:pt>
                <c:pt idx="9">
                  <c:v>1.2216590940194909</c:v>
                </c:pt>
                <c:pt idx="10">
                  <c:v>1.2160394621870012</c:v>
                </c:pt>
                <c:pt idx="11">
                  <c:v>1.2984869377232799</c:v>
                </c:pt>
                <c:pt idx="12">
                  <c:v>1.2860214631211364</c:v>
                </c:pt>
                <c:pt idx="13">
                  <c:v>1.3604020188492343</c:v>
                </c:pt>
                <c:pt idx="14">
                  <c:v>1.3583614158209605</c:v>
                </c:pt>
                <c:pt idx="15">
                  <c:v>1.2517300446790152</c:v>
                </c:pt>
                <c:pt idx="16">
                  <c:v>1.2419665503305188</c:v>
                </c:pt>
                <c:pt idx="17">
                  <c:v>1.3094053340134659</c:v>
                </c:pt>
                <c:pt idx="18">
                  <c:v>1.3095362745468673</c:v>
                </c:pt>
                <c:pt idx="19">
                  <c:v>1.3247254221033022</c:v>
                </c:pt>
                <c:pt idx="20">
                  <c:v>1.2823342085959966</c:v>
                </c:pt>
                <c:pt idx="21">
                  <c:v>1.3074679590844782</c:v>
                </c:pt>
                <c:pt idx="22">
                  <c:v>1.3767637609159555</c:v>
                </c:pt>
                <c:pt idx="23">
                  <c:v>1.3764884081637723</c:v>
                </c:pt>
                <c:pt idx="24">
                  <c:v>1.382957903682142</c:v>
                </c:pt>
                <c:pt idx="25">
                  <c:v>1.3798836105546615</c:v>
                </c:pt>
                <c:pt idx="26">
                  <c:v>1.4025745409654167</c:v>
                </c:pt>
                <c:pt idx="27">
                  <c:v>1.2903575760249539</c:v>
                </c:pt>
                <c:pt idx="28">
                  <c:v>1.429116053506482</c:v>
                </c:pt>
                <c:pt idx="29">
                  <c:v>1.52400539886055</c:v>
                </c:pt>
                <c:pt idx="30">
                  <c:v>1.5937284395772344</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7"/>
          <c:min val="45291"/>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months"/>
      </c:dateAx>
      <c:valAx>
        <c:axId val="111903199"/>
        <c:scaling>
          <c:orientation val="minMax"/>
          <c:max val="1.4"/>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443057742782152"/>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0.27610000000000001</c:v>
                </c:pt>
                <c:pt idx="1">
                  <c:v>7.5399999999999995E-2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0.17610000000000001</c:v>
                </c:pt>
                <c:pt idx="1">
                  <c:v>0.1305</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7086527929901421"/>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6725099395434276"/>
          <c:w val="1"/>
          <c:h val="0.73657493251459671"/>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Tabelle1!$A$2:$A$13</c:f>
              <c:numCache>
                <c:formatCode>General</c:formatCode>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numCache>
            </c:numRef>
          </c:cat>
          <c:val>
            <c:numRef>
              <c:f>Tabelle1!$B$2:$B$13</c:f>
              <c:numCache>
                <c:formatCode>General</c:formatCode>
                <c:ptCount val="12"/>
                <c:pt idx="0">
                  <c:v>3318</c:v>
                </c:pt>
                <c:pt idx="1">
                  <c:v>3677</c:v>
                </c:pt>
                <c:pt idx="2">
                  <c:v>3942</c:v>
                </c:pt>
                <c:pt idx="3">
                  <c:v>4266</c:v>
                </c:pt>
                <c:pt idx="4">
                  <c:v>4692</c:v>
                </c:pt>
                <c:pt idx="5">
                  <c:v>4444</c:v>
                </c:pt>
                <c:pt idx="6">
                  <c:v>4963</c:v>
                </c:pt>
                <c:pt idx="7">
                  <c:v>5246</c:v>
                </c:pt>
                <c:pt idx="8">
                  <c:v>6626</c:v>
                </c:pt>
                <c:pt idx="9">
                  <c:v>5789</c:v>
                </c:pt>
                <c:pt idx="10">
                  <c:v>6204</c:v>
                </c:pt>
                <c:pt idx="11">
                  <c:v>6780</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ASSETKLASSEN</a:t>
          </a:r>
        </a:p>
      </cdr:txBody>
    </cdr:sp>
  </cdr:relSizeAnchor>
</c:userShapes>
</file>

<file path=ppt/drawings/drawing2.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Branchen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0" y="0"/>
          <a:ext cx="4413300" cy="176336"/>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REGIONEN</a:t>
          </a:r>
        </a:p>
      </cdr:txBody>
    </cdr:sp>
  </cdr:relSizeAnchor>
  <cdr:relSizeAnchor xmlns:cdr="http://schemas.openxmlformats.org/drawingml/2006/chartDrawing">
    <cdr:from>
      <cdr:x>0.42302</cdr:x>
      <cdr:y>0.95459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2025420" y="3934800"/>
          <a:ext cx="2762580" cy="1872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a:t>
          </a:r>
          <a:r>
            <a:rPr lang="de-DE" sz="900" b="1" cap="all" dirty="0">
              <a:solidFill>
                <a:schemeClr val="bg1"/>
              </a:solidFill>
            </a:rPr>
            <a:t>31.12.</a:t>
          </a:r>
          <a:r>
            <a:rPr lang="de-DE" sz="900" b="1" cap="all" baseline="0" dirty="0">
              <a:solidFill>
                <a:schemeClr val="bg1"/>
              </a:solidFill>
            </a:rPr>
            <a:t>2024</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06.07.2026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a:stretch/>
        </p:blipFill>
        <p:spPr>
          <a:xfrm>
            <a:off x="8102713" y="5702885"/>
            <a:ext cx="1979991" cy="597411"/>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0636964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296001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Bild">
            <a:extLst>
              <a:ext uri="{FF2B5EF4-FFF2-40B4-BE49-F238E27FC236}">
                <a16:creationId xmlns:a16="http://schemas.microsoft.com/office/drawing/2014/main" id="{A6D42F99-B026-35AD-FBC7-BE938A52656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l="3706" r="3706"/>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67520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4" name="Inhalt">
            <a:extLst>
              <a:ext uri="{FF2B5EF4-FFF2-40B4-BE49-F238E27FC236}">
                <a16:creationId xmlns:a16="http://schemas.microsoft.com/office/drawing/2014/main" id="{252DD0C3-2ABE-77EB-C231-A14873CCAD3B}"/>
              </a:ext>
            </a:extLst>
          </p:cNvPr>
          <p:cNvSpPr>
            <a:spLocks noGrp="1" noRot="1" noMove="1" noResize="1" noEditPoints="1" noAdjustHandles="1" noChangeArrowheads="1" noChangeShapeType="1"/>
          </p:cNvSpPr>
          <p:nvPr>
            <p:ph idx="13"/>
          </p:nvPr>
        </p:nvSpPr>
        <p:spPr>
          <a:xfrm>
            <a:off x="1187668" y="1411638"/>
            <a:ext cx="4139982"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51142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909835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89060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80734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531617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557704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10384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66627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054838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62644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53484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363103107"/>
      </p:ext>
    </p:extLst>
  </p:cSld>
  <p:clrMapOvr>
    <a:masterClrMapping/>
  </p:clrMapOvr>
  <p:extLst>
    <p:ext uri="{DCECCB84-F9BA-43D5-87BE-67443E8EF086}">
      <p15:sldGuideLst xmlns:p15="http://schemas.microsoft.com/office/powerpoint/2012/main">
        <p15:guide id="1" orient="horz" pos="29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832475"/>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75754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240797"/>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360860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4213209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930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124482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1427006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3959430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8734480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82616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281365931"/>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201895080"/>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svg"/><Relationship Id="rId2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302129305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p15:clr>
            <a:srgbClr val="F26B43"/>
          </p15:clr>
        </p15:guide>
        <p15:guide id="3" pos="226">
          <p15:clr>
            <a:srgbClr val="F26B43"/>
          </p15:clr>
        </p15:guide>
        <p15:guide id="15" pos="634">
          <p15:clr>
            <a:srgbClr val="F26B43"/>
          </p15:clr>
        </p15:guide>
        <p15:guide id="16" pos="748">
          <p15:clr>
            <a:srgbClr val="F26B43"/>
          </p15:clr>
        </p15:guide>
        <p15:guide id="17" pos="1156">
          <p15:clr>
            <a:srgbClr val="F26B43"/>
          </p15:clr>
        </p15:guide>
        <p15:guide id="18" pos="1270">
          <p15:clr>
            <a:srgbClr val="F26B43"/>
          </p15:clr>
        </p15:guide>
        <p15:guide id="19" pos="1678">
          <p15:clr>
            <a:srgbClr val="F26B43"/>
          </p15:clr>
        </p15:guide>
        <p15:guide id="20" pos="1791">
          <p15:clr>
            <a:srgbClr val="F26B43"/>
          </p15:clr>
        </p15:guide>
        <p15:guide id="21" pos="2199">
          <p15:clr>
            <a:srgbClr val="F26B43"/>
          </p15:clr>
        </p15:guide>
        <p15:guide id="22" pos="2313">
          <p15:clr>
            <a:srgbClr val="F26B43"/>
          </p15:clr>
        </p15:guide>
        <p15:guide id="23" pos="2721">
          <p15:clr>
            <a:srgbClr val="F26B43"/>
          </p15:clr>
        </p15:guide>
        <p15:guide id="24" pos="2834">
          <p15:clr>
            <a:srgbClr val="F26B43"/>
          </p15:clr>
        </p15:guide>
        <p15:guide id="25" pos="3243">
          <p15:clr>
            <a:srgbClr val="F26B43"/>
          </p15:clr>
        </p15:guide>
        <p15:guide id="26" pos="3356">
          <p15:clr>
            <a:srgbClr val="F26B43"/>
          </p15:clr>
        </p15:guide>
        <p15:guide id="27" pos="3764">
          <p15:clr>
            <a:srgbClr val="F26B43"/>
          </p15:clr>
        </p15:guide>
        <p15:guide id="28" pos="3878">
          <p15:clr>
            <a:srgbClr val="F26B43"/>
          </p15:clr>
        </p15:guide>
        <p15:guide id="29" pos="4286">
          <p15:clr>
            <a:srgbClr val="F26B43"/>
          </p15:clr>
        </p15:guide>
        <p15:guide id="30" pos="4399">
          <p15:clr>
            <a:srgbClr val="F26B43"/>
          </p15:clr>
        </p15:guide>
        <p15:guide id="31" pos="4808">
          <p15:clr>
            <a:srgbClr val="F26B43"/>
          </p15:clr>
        </p15:guide>
        <p15:guide id="32" pos="4921">
          <p15:clr>
            <a:srgbClr val="F26B43"/>
          </p15:clr>
        </p15:guide>
        <p15:guide id="33" pos="5329">
          <p15:clr>
            <a:srgbClr val="F26B43"/>
          </p15:clr>
        </p15:guide>
        <p15:guide id="34" pos="5443">
          <p15:clr>
            <a:srgbClr val="F26B43"/>
          </p15:clr>
        </p15:guide>
        <p15:guide id="35" pos="5851">
          <p15:clr>
            <a:srgbClr val="F26B43"/>
          </p15:clr>
        </p15:guide>
        <p15:guide id="36" pos="5964">
          <p15:clr>
            <a:srgbClr val="F26B43"/>
          </p15:clr>
        </p15:guide>
        <p15:guide id="37" pos="6372">
          <p15:clr>
            <a:srgbClr val="F26B43"/>
          </p15:clr>
        </p15:guide>
        <p15:guide id="38" orient="horz" pos="4002">
          <p15:clr>
            <a:srgbClr val="F26B43"/>
          </p15:clr>
        </p15:guide>
        <p15:guide id="39" orient="horz">
          <p15:clr>
            <a:srgbClr val="F26B43"/>
          </p15:clr>
        </p15:guide>
        <p15:guide id="40" orient="horz" pos="656">
          <p15:clr>
            <a:srgbClr val="F26B43"/>
          </p15:clr>
        </p15:guide>
        <p15:guide id="41" orient="horz" pos="4195">
          <p15:clr>
            <a:srgbClr val="F26B43"/>
          </p15:clr>
        </p15:guide>
        <p15:guide id="42" orient="horz" pos="36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5.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7.xml"/><Relationship Id="rId3"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 Id="rId3" Type="http://schemas.openxmlformats.org/officeDocument/2006/relationships/hyperlink" Target="mailto:info@fuggerbank.de" TargetMode="External"/><Relationship Id="rId4" Type="http://schemas.openxmlformats.org/officeDocument/2006/relationships/hyperlink" Target="http://www.fuggerbank.de/" TargetMode="External"/><Relationship Id="rId5" Type="http://schemas.openxmlformats.org/officeDocument/2006/relationships/hyperlink" Target="http://www.bafin.de/" TargetMode="External"/><Relationship Id="rId6" Type="http://schemas.openxmlformats.org/officeDocument/2006/relationships/hyperlink" Target="https://www.ecb.europa.eu/"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a:extLst>
              <a:ext uri="{FF2B5EF4-FFF2-40B4-BE49-F238E27FC236}">
                <a16:creationId xmlns:a16="http://schemas.microsoft.com/office/drawing/2014/main" id="{E21E42E6-26DD-05A3-DFCF-CD476BFD417D}"/>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C392FFA6-DF5F-DE1D-D172-069B9790B85A}"/>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3047963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Die Strategie Pro stellt eine exklusive Erweiterung unserer Classic Vermögensverwaltung dar.</a:t>
            </a:r>
          </a:p>
          <a:p>
            <a:r>
              <a:rPr lang="de-DE" dirty="0"/>
              <a:t>Diese Strategievariante bietet die Möglichkeit, an der Entwicklung der internationalen Aktienmärkte zu </a:t>
            </a:r>
            <a:br>
              <a:rPr lang="de-DE" dirty="0"/>
            </a:br>
            <a:r>
              <a:rPr lang="de-DE" dirty="0"/>
              <a:t>partizipieren – und das mit einem dezidierten Fokus auf  höhere Kursgewinne. Wir wollen bewusst und offensiv Kurschancen am Aktienmarkt ausnutzen.</a:t>
            </a:r>
          </a:p>
          <a:p>
            <a:r>
              <a:rPr lang="de-DE" dirty="0"/>
              <a:t>Das Vorhalten von Liquidität wird in dieser Strategie ausgeschlossen bzw. vertraglich auf maximal 15 % für </a:t>
            </a:r>
            <a:br>
              <a:rPr lang="de-DE" dirty="0"/>
            </a:br>
            <a:r>
              <a:rPr lang="de-DE" dirty="0"/>
              <a:t>das Handling der Vermögensverwaltung begrenzt.</a:t>
            </a:r>
          </a:p>
          <a:p>
            <a:r>
              <a:rPr lang="de-DE" dirty="0"/>
              <a:t>Ziel ist eine dauerhafte Partizipation am Aktienmarkt </a:t>
            </a:r>
            <a:br>
              <a:rPr lang="de-DE" dirty="0"/>
            </a:br>
            <a:r>
              <a:rPr lang="de-DE" dirty="0"/>
              <a:t>unter Verzicht auf taktische Maßnahmen wie etwa das Vorhalten großer Liquiditätsbestände zum Abfedern von Kursrückgängen.</a:t>
            </a:r>
          </a:p>
          <a:p>
            <a:r>
              <a:rPr lang="de-DE" dirty="0"/>
              <a:t>Diese sehr spezielle Vermögensverwaltungslösung ist ab einem Anlagevolumen von 500.000 Euro darstellbar.</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Unsere Strategie PRO</a:t>
            </a:r>
          </a:p>
        </p:txBody>
      </p:sp>
    </p:spTree>
    <p:extLst>
      <p:ext uri="{BB962C8B-B14F-4D97-AF65-F5344CB8AC3E}">
        <p14:creationId xmlns:p14="http://schemas.microsoft.com/office/powerpoint/2010/main" val="2606231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3"/>
          </p:nvPr>
        </p:nvSpPr>
        <p:spPr>
          <a:xfrm>
            <a:off x="1187450" y="1411288"/>
            <a:ext cx="4140200" cy="4421187"/>
          </a:xfrm>
        </p:spPr>
        <p:txBody>
          <a:bodyPr/>
          <a:lstStyle/>
          <a:p>
            <a:r>
              <a:rPr lang="de-DE" dirty="0"/>
              <a:t>In dieser Strategie sind folgende Punkte bei der Auswahl </a:t>
            </a:r>
            <a:br>
              <a:rPr lang="de-DE" dirty="0"/>
            </a:br>
            <a:r>
              <a:rPr lang="de-DE" dirty="0"/>
              <a:t>für uns relevant:</a:t>
            </a:r>
          </a:p>
          <a:p>
            <a:pPr lvl="1"/>
            <a:r>
              <a:rPr lang="de-DE" dirty="0"/>
              <a:t>Das Unternehmen sollte eine starke Marktposition (Burggraben) aufweisen und ferner über ein </a:t>
            </a:r>
            <a:br>
              <a:rPr lang="de-DE" dirty="0"/>
            </a:br>
            <a:r>
              <a:rPr lang="de-DE" dirty="0"/>
              <a:t>vorzügliches Management und Geschäftsmodell verfügen.</a:t>
            </a:r>
          </a:p>
          <a:p>
            <a:pPr lvl="1"/>
            <a:r>
              <a:rPr lang="de-DE" dirty="0"/>
              <a:t>Die Performance des Unternehmens sollte im 1-, 3- </a:t>
            </a:r>
            <a:br>
              <a:rPr lang="de-DE" dirty="0"/>
            </a:br>
            <a:r>
              <a:rPr lang="de-DE" dirty="0"/>
              <a:t>und 5-Jahresbereich positiv und in Relation zu </a:t>
            </a:r>
            <a:br>
              <a:rPr lang="de-DE" dirty="0"/>
            </a:br>
            <a:r>
              <a:rPr lang="de-DE" dirty="0"/>
              <a:t>internationalen Aktienindizes herausragend sein.</a:t>
            </a:r>
          </a:p>
          <a:p>
            <a:pPr lvl="1"/>
            <a:r>
              <a:rPr lang="de-DE" dirty="0"/>
              <a:t>Ergänzend dazu achten wir auf solide Bilanzen und </a:t>
            </a:r>
            <a:br>
              <a:rPr lang="de-DE" dirty="0"/>
            </a:br>
            <a:r>
              <a:rPr lang="de-DE" dirty="0"/>
              <a:t>hohe Wachstumsraten sowie unterjährige </a:t>
            </a:r>
            <a:br>
              <a:rPr lang="de-DE" dirty="0"/>
            </a:br>
            <a:r>
              <a:rPr lang="de-DE" dirty="0"/>
              <a:t>Prognoseerhöhungen seitens der Geschäftsführung, die </a:t>
            </a:r>
            <a:br>
              <a:rPr lang="de-DE" dirty="0"/>
            </a:br>
            <a:r>
              <a:rPr lang="de-DE" dirty="0"/>
              <a:t>statistisch nachweisbar Treiber einer guten zukünftigen Performance sind.</a:t>
            </a:r>
          </a:p>
          <a:p>
            <a:r>
              <a:rPr lang="de-DE" dirty="0"/>
              <a:t>Währungen, Länder und Branchen können von den Managern frei gewählt werden.</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Strategie PRO</a:t>
            </a:r>
          </a:p>
        </p:txBody>
      </p:sp>
    </p:spTree>
    <p:extLst>
      <p:ext uri="{BB962C8B-B14F-4D97-AF65-F5344CB8AC3E}">
        <p14:creationId xmlns:p14="http://schemas.microsoft.com/office/powerpoint/2010/main" val="12022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081DADAC-023D-6904-0920-7F79CEBD967C}"/>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4</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7" name="Fußnote">
            <a:extLst>
              <a:ext uri="{FF2B5EF4-FFF2-40B4-BE49-F238E27FC236}">
                <a16:creationId xmlns:a16="http://schemas.microsoft.com/office/drawing/2014/main" id="{EEC814CC-7104-A212-02EE-45F13BCD9D91}"/>
              </a:ext>
            </a:extLst>
          </p:cNvPr>
          <p:cNvSpPr txBox="1">
            <a:spLocks noGrp="1" noRot="1" noMove="1" noResize="1" noEditPoints="1" noAdjustHandles="1" noChangeArrowheads="1" noChangeShapeType="1"/>
          </p:cNvSpPr>
          <p:nvPr/>
        </p:nvSpPr>
        <p:spPr>
          <a:xfrm>
            <a:off x="5327650" y="5064125"/>
            <a:ext cx="4762614" cy="327025"/>
          </a:xfrm>
          <a:prstGeom prst="rect">
            <a:avLst/>
          </a:prstGeom>
        </p:spPr>
        <p:txBody>
          <a:bodyPr lIns="0" tIns="0" rIns="0" bIns="0"/>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a:ln>
                  <a:noFill/>
                </a:ln>
                <a:solidFill>
                  <a:prstClr val="black"/>
                </a:solidFill>
                <a:effectLst/>
                <a:uLnTx/>
                <a:uFillTx/>
                <a:latin typeface="Noto Sans"/>
                <a:ea typeface="+mn-ea"/>
                <a:cs typeface="+mn-cs"/>
              </a:rPr>
              <a:t>*mit Investment Grade | Zugrundeliegende Indizes in Klammern | Währung: S&amp;P - USD, Stoxx600 - EUR, MSCI World - USD, </a:t>
            </a:r>
          </a:p>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Eur</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Sov</a:t>
            </a:r>
            <a:r>
              <a:rPr kumimoji="0" lang="de-DE" sz="600" b="0" i="0" u="none" strike="noStrike" kern="1200" cap="none" spc="0" normalizeH="0" baseline="0" noProof="0" dirty="0">
                <a:ln>
                  <a:noFill/>
                </a:ln>
                <a:solidFill>
                  <a:prstClr val="black"/>
                </a:solidFill>
                <a:effectLst/>
                <a:uLnTx/>
                <a:uFillTx/>
                <a:latin typeface="Noto Sans"/>
                <a:ea typeface="+mn-ea"/>
                <a:cs typeface="+mn-cs"/>
              </a:rPr>
              <a:t> OV – EUR,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EUR Corp. OV - EUR, Gold – USD | Stand: Dezember 2025 | Quelle: Bloomberg</a:t>
            </a:r>
          </a:p>
        </p:txBody>
      </p:sp>
      <p:grpSp>
        <p:nvGrpSpPr>
          <p:cNvPr id="51" name="Legende">
            <a:extLst>
              <a:ext uri="{FF2B5EF4-FFF2-40B4-BE49-F238E27FC236}">
                <a16:creationId xmlns:a16="http://schemas.microsoft.com/office/drawing/2014/main" id="{EA61E4A6-3A95-8F6F-3FF6-2D9FED6B3E79}"/>
              </a:ext>
            </a:extLst>
          </p:cNvPr>
          <p:cNvGrpSpPr>
            <a:grpSpLocks/>
          </p:cNvGrpSpPr>
          <p:nvPr/>
        </p:nvGrpSpPr>
        <p:grpSpPr>
          <a:xfrm>
            <a:off x="358774" y="5064125"/>
            <a:ext cx="4140201" cy="378933"/>
            <a:chOff x="358774" y="5064125"/>
            <a:chExt cx="4140201" cy="378933"/>
          </a:xfrm>
        </p:grpSpPr>
        <p:grpSp>
          <p:nvGrpSpPr>
            <p:cNvPr id="28" name="Legende 7">
              <a:extLst>
                <a:ext uri="{FF2B5EF4-FFF2-40B4-BE49-F238E27FC236}">
                  <a16:creationId xmlns:a16="http://schemas.microsoft.com/office/drawing/2014/main" id="{59D18316-5791-B8D5-A380-7AE8F7F64EB7}"/>
                </a:ext>
              </a:extLst>
            </p:cNvPr>
            <p:cNvGrpSpPr>
              <a:grpSpLocks/>
            </p:cNvGrpSpPr>
            <p:nvPr/>
          </p:nvGrpSpPr>
          <p:grpSpPr>
            <a:xfrm>
              <a:off x="3875563" y="5335058"/>
              <a:ext cx="618336" cy="108000"/>
              <a:chOff x="358774" y="5064125"/>
              <a:chExt cx="895459" cy="108000"/>
            </a:xfrm>
          </p:grpSpPr>
          <p:sp>
            <p:nvSpPr>
              <p:cNvPr id="29" name="Rechteck">
                <a:extLst>
                  <a:ext uri="{FF2B5EF4-FFF2-40B4-BE49-F238E27FC236}">
                    <a16:creationId xmlns:a16="http://schemas.microsoft.com/office/drawing/2014/main" id="{3A7100E4-55A4-356C-72F3-2A3028B0C867}"/>
                  </a:ext>
                </a:extLst>
              </p:cNvPr>
              <p:cNvSpPr>
                <a:spLocks/>
              </p:cNvSpPr>
              <p:nvPr/>
            </p:nvSpPr>
            <p:spPr>
              <a:xfrm>
                <a:off x="358774" y="5121275"/>
                <a:ext cx="144000" cy="1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30" name="Text">
                <a:extLst>
                  <a:ext uri="{FF2B5EF4-FFF2-40B4-BE49-F238E27FC236}">
                    <a16:creationId xmlns:a16="http://schemas.microsoft.com/office/drawing/2014/main" id="{3DBD3B1A-0068-44E0-13A3-7AB8014BD623}"/>
                  </a:ext>
                </a:extLst>
              </p:cNvPr>
              <p:cNvSpPr txBox="1">
                <a:spLocks/>
              </p:cNvSpPr>
              <p:nvPr/>
            </p:nvSpPr>
            <p:spPr>
              <a:xfrm>
                <a:off x="576487" y="5064125"/>
                <a:ext cx="677746"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Noto Sans"/>
                    <a:ea typeface="+mn-ea"/>
                    <a:cs typeface="+mn-cs"/>
                  </a:rPr>
                  <a:t>Nullinie</a:t>
                </a:r>
                <a:endParaRPr kumimoji="0" lang="de-DE" sz="700" b="0" i="0" u="none" strike="noStrike" kern="1200" cap="none" spc="0" normalizeH="0" baseline="0" noProof="0" dirty="0">
                  <a:ln>
                    <a:noFill/>
                  </a:ln>
                  <a:solidFill>
                    <a:prstClr val="black"/>
                  </a:solidFill>
                  <a:effectLst/>
                  <a:uLnTx/>
                  <a:uFillTx/>
                  <a:latin typeface="Noto Sans"/>
                  <a:ea typeface="+mn-ea"/>
                  <a:cs typeface="+mn-cs"/>
                </a:endParaRPr>
              </a:p>
            </p:txBody>
          </p:sp>
        </p:grpSp>
        <p:grpSp>
          <p:nvGrpSpPr>
            <p:cNvPr id="20" name="Legende 6">
              <a:extLst>
                <a:ext uri="{FF2B5EF4-FFF2-40B4-BE49-F238E27FC236}">
                  <a16:creationId xmlns:a16="http://schemas.microsoft.com/office/drawing/2014/main" id="{7E07D60C-0BA6-3B45-CFCF-9A175CDC12B3}"/>
                </a:ext>
              </a:extLst>
            </p:cNvPr>
            <p:cNvGrpSpPr>
              <a:grpSpLocks/>
            </p:cNvGrpSpPr>
            <p:nvPr/>
          </p:nvGrpSpPr>
          <p:grpSpPr>
            <a:xfrm>
              <a:off x="3235850" y="5335058"/>
              <a:ext cx="436038" cy="108000"/>
              <a:chOff x="358774" y="5064125"/>
              <a:chExt cx="436038" cy="108000"/>
            </a:xfrm>
          </p:grpSpPr>
          <p:sp>
            <p:nvSpPr>
              <p:cNvPr id="21" name="Rechteck">
                <a:extLst>
                  <a:ext uri="{FF2B5EF4-FFF2-40B4-BE49-F238E27FC236}">
                    <a16:creationId xmlns:a16="http://schemas.microsoft.com/office/drawing/2014/main" id="{06029933-88CB-2A46-B800-F32ED20EF2CA}"/>
                  </a:ext>
                </a:extLst>
              </p:cNvPr>
              <p:cNvSpPr>
                <a:spLocks/>
              </p:cNvSpPr>
              <p:nvPr/>
            </p:nvSpPr>
            <p:spPr>
              <a:xfrm>
                <a:off x="358774" y="5064125"/>
                <a:ext cx="108000" cy="108000"/>
              </a:xfrm>
              <a:prstGeom prst="rect">
                <a:avLst/>
              </a:prstGeom>
              <a:solidFill>
                <a:srgbClr val="E5D4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22" name="Text">
                <a:extLst>
                  <a:ext uri="{FF2B5EF4-FFF2-40B4-BE49-F238E27FC236}">
                    <a16:creationId xmlns:a16="http://schemas.microsoft.com/office/drawing/2014/main" id="{2EC3630A-28C7-91DF-9B3B-C9D79861B153}"/>
                  </a:ext>
                </a:extLst>
              </p:cNvPr>
              <p:cNvSpPr txBox="1">
                <a:spLocks/>
              </p:cNvSpPr>
              <p:nvPr/>
            </p:nvSpPr>
            <p:spPr>
              <a:xfrm>
                <a:off x="492125" y="5064125"/>
                <a:ext cx="302687"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Gold</a:t>
                </a:r>
              </a:p>
            </p:txBody>
          </p:sp>
        </p:grpSp>
        <p:grpSp>
          <p:nvGrpSpPr>
            <p:cNvPr id="17" name="Legende 5">
              <a:extLst>
                <a:ext uri="{FF2B5EF4-FFF2-40B4-BE49-F238E27FC236}">
                  <a16:creationId xmlns:a16="http://schemas.microsoft.com/office/drawing/2014/main" id="{59BA3AED-C951-D6C3-2A8E-0428BDCB6823}"/>
                </a:ext>
              </a:extLst>
            </p:cNvPr>
            <p:cNvGrpSpPr>
              <a:grpSpLocks/>
            </p:cNvGrpSpPr>
            <p:nvPr/>
          </p:nvGrpSpPr>
          <p:grpSpPr>
            <a:xfrm>
              <a:off x="1734607" y="5335058"/>
              <a:ext cx="1263125" cy="108000"/>
              <a:chOff x="358774" y="5064125"/>
              <a:chExt cx="1263125" cy="108000"/>
            </a:xfrm>
          </p:grpSpPr>
          <p:sp>
            <p:nvSpPr>
              <p:cNvPr id="18" name="Rechteck">
                <a:extLst>
                  <a:ext uri="{FF2B5EF4-FFF2-40B4-BE49-F238E27FC236}">
                    <a16:creationId xmlns:a16="http://schemas.microsoft.com/office/drawing/2014/main" id="{AC5EED34-8EEA-3FD7-ECE5-F7FA4111F38A}"/>
                  </a:ext>
                </a:extLst>
              </p:cNvPr>
              <p:cNvSpPr>
                <a:spLocks/>
              </p:cNvSpPr>
              <p:nvPr/>
            </p:nvSpPr>
            <p:spPr>
              <a:xfrm>
                <a:off x="358774" y="5064125"/>
                <a:ext cx="108000" cy="10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9" name="Text">
                <a:extLst>
                  <a:ext uri="{FF2B5EF4-FFF2-40B4-BE49-F238E27FC236}">
                    <a16:creationId xmlns:a16="http://schemas.microsoft.com/office/drawing/2014/main" id="{3D369CE1-3A40-6FAE-60A1-677EFFA64D9E}"/>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a:t>
                </a:r>
                <a:r>
                  <a:rPr kumimoji="0" lang="de-DE" sz="700" b="0" i="0" u="none" strike="noStrike" kern="1200" cap="none" spc="0" normalizeH="0" baseline="0" noProof="0" dirty="0" err="1">
                    <a:ln>
                      <a:noFill/>
                    </a:ln>
                    <a:solidFill>
                      <a:prstClr val="black"/>
                    </a:solidFill>
                    <a:effectLst/>
                    <a:uLnTx/>
                    <a:uFillTx/>
                    <a:latin typeface="Noto Sans"/>
                    <a:ea typeface="+mn-ea"/>
                    <a:cs typeface="+mn-cs"/>
                  </a:rPr>
                  <a:t>Corp</a:t>
                </a:r>
                <a:r>
                  <a:rPr kumimoji="0" lang="de-DE" sz="700" b="0" i="0" u="none" strike="noStrike" kern="1200" cap="none" spc="0" normalizeH="0" baseline="0" noProof="0" dirty="0">
                    <a:ln>
                      <a:noFill/>
                    </a:ln>
                    <a:solidFill>
                      <a:prstClr val="black"/>
                    </a:solidFill>
                    <a:effectLst/>
                    <a:uLnTx/>
                    <a:uFillTx/>
                    <a:latin typeface="Noto Sans"/>
                    <a:ea typeface="+mn-ea"/>
                    <a:cs typeface="+mn-cs"/>
                  </a:rPr>
                  <a:t> Over all *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(Unternehmensanleihen Eur.)</a:t>
                </a:r>
              </a:p>
            </p:txBody>
          </p:sp>
        </p:grpSp>
        <p:grpSp>
          <p:nvGrpSpPr>
            <p:cNvPr id="14" name="Legende 4">
              <a:extLst>
                <a:ext uri="{FF2B5EF4-FFF2-40B4-BE49-F238E27FC236}">
                  <a16:creationId xmlns:a16="http://schemas.microsoft.com/office/drawing/2014/main" id="{830FC5E9-1A85-650F-F0F5-520DDC014305}"/>
                </a:ext>
              </a:extLst>
            </p:cNvPr>
            <p:cNvGrpSpPr>
              <a:grpSpLocks/>
            </p:cNvGrpSpPr>
            <p:nvPr/>
          </p:nvGrpSpPr>
          <p:grpSpPr>
            <a:xfrm>
              <a:off x="358774" y="5335058"/>
              <a:ext cx="1263125" cy="108000"/>
              <a:chOff x="358774" y="5064125"/>
              <a:chExt cx="1263125" cy="108000"/>
            </a:xfrm>
          </p:grpSpPr>
          <p:sp>
            <p:nvSpPr>
              <p:cNvPr id="15" name="Rechteck">
                <a:extLst>
                  <a:ext uri="{FF2B5EF4-FFF2-40B4-BE49-F238E27FC236}">
                    <a16:creationId xmlns:a16="http://schemas.microsoft.com/office/drawing/2014/main" id="{A5213535-D219-CF79-F751-3D5F502DC744}"/>
                  </a:ext>
                </a:extLst>
              </p:cNvPr>
              <p:cNvSpPr>
                <a:spLocks/>
              </p:cNvSpPr>
              <p:nvPr/>
            </p:nvSpPr>
            <p:spPr>
              <a:xfrm>
                <a:off x="358774" y="5064125"/>
                <a:ext cx="108000" cy="108000"/>
              </a:xfrm>
              <a:prstGeom prst="rect">
                <a:avLst/>
              </a:prstGeom>
              <a:solidFill>
                <a:srgbClr val="BAD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6" name="Text">
                <a:extLst>
                  <a:ext uri="{FF2B5EF4-FFF2-40B4-BE49-F238E27FC236}">
                    <a16:creationId xmlns:a16="http://schemas.microsoft.com/office/drawing/2014/main" id="{92ECA39C-8867-4B59-F3E7-CE76BA01FADB}"/>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SOV Over all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(Staatsanleihen Europa)</a:t>
                </a:r>
              </a:p>
            </p:txBody>
          </p:sp>
        </p:grpSp>
        <p:grpSp>
          <p:nvGrpSpPr>
            <p:cNvPr id="11" name="Legende 3">
              <a:extLst>
                <a:ext uri="{FF2B5EF4-FFF2-40B4-BE49-F238E27FC236}">
                  <a16:creationId xmlns:a16="http://schemas.microsoft.com/office/drawing/2014/main" id="{23CA5D26-FD1E-BF52-E6DD-3D8B5D76BF9A}"/>
                </a:ext>
              </a:extLst>
            </p:cNvPr>
            <p:cNvGrpSpPr>
              <a:grpSpLocks/>
            </p:cNvGrpSpPr>
            <p:nvPr/>
          </p:nvGrpSpPr>
          <p:grpSpPr>
            <a:xfrm>
              <a:off x="3235850" y="5064125"/>
              <a:ext cx="1263125" cy="108000"/>
              <a:chOff x="358774" y="5064125"/>
              <a:chExt cx="1263125" cy="108000"/>
            </a:xfrm>
          </p:grpSpPr>
          <p:sp>
            <p:nvSpPr>
              <p:cNvPr id="12" name="Rechteck">
                <a:extLst>
                  <a:ext uri="{FF2B5EF4-FFF2-40B4-BE49-F238E27FC236}">
                    <a16:creationId xmlns:a16="http://schemas.microsoft.com/office/drawing/2014/main" id="{2BBD1CEE-75C7-96CC-862D-FB440B3EAD77}"/>
                  </a:ext>
                </a:extLst>
              </p:cNvPr>
              <p:cNvSpPr>
                <a:spLocks/>
              </p:cNvSpPr>
              <p:nvPr/>
            </p:nvSpPr>
            <p:spPr>
              <a:xfrm>
                <a:off x="358774" y="5064125"/>
                <a:ext cx="108000" cy="10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3" name="Text">
                <a:extLst>
                  <a:ext uri="{FF2B5EF4-FFF2-40B4-BE49-F238E27FC236}">
                    <a16:creationId xmlns:a16="http://schemas.microsoft.com/office/drawing/2014/main" id="{4DAC22EF-5E15-B262-D55D-C0C308918F47}"/>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Welt (MSCI World)</a:t>
                </a:r>
              </a:p>
            </p:txBody>
          </p:sp>
        </p:grpSp>
        <p:grpSp>
          <p:nvGrpSpPr>
            <p:cNvPr id="8" name="Legende 2">
              <a:extLst>
                <a:ext uri="{FF2B5EF4-FFF2-40B4-BE49-F238E27FC236}">
                  <a16:creationId xmlns:a16="http://schemas.microsoft.com/office/drawing/2014/main" id="{11AAC30C-9982-5996-D6CE-A1AAF6AF0BC0}"/>
                </a:ext>
              </a:extLst>
            </p:cNvPr>
            <p:cNvGrpSpPr>
              <a:grpSpLocks/>
            </p:cNvGrpSpPr>
            <p:nvPr/>
          </p:nvGrpSpPr>
          <p:grpSpPr>
            <a:xfrm>
              <a:off x="1734607" y="5064125"/>
              <a:ext cx="1263125" cy="108000"/>
              <a:chOff x="358774" y="5064125"/>
              <a:chExt cx="1263125" cy="108000"/>
            </a:xfrm>
          </p:grpSpPr>
          <p:sp>
            <p:nvSpPr>
              <p:cNvPr id="9" name="Rechteck">
                <a:extLst>
                  <a:ext uri="{FF2B5EF4-FFF2-40B4-BE49-F238E27FC236}">
                    <a16:creationId xmlns:a16="http://schemas.microsoft.com/office/drawing/2014/main" id="{1A78F901-524F-C84F-9CEE-6046A572B1E7}"/>
                  </a:ext>
                </a:extLst>
              </p:cNvPr>
              <p:cNvSpPr>
                <a:spLocks/>
              </p:cNvSpPr>
              <p:nvPr/>
            </p:nvSpPr>
            <p:spPr>
              <a:xfrm>
                <a:off x="358774" y="5064125"/>
                <a:ext cx="108000" cy="10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0" name="Text">
                <a:extLst>
                  <a:ext uri="{FF2B5EF4-FFF2-40B4-BE49-F238E27FC236}">
                    <a16:creationId xmlns:a16="http://schemas.microsoft.com/office/drawing/2014/main" id="{B17D34EF-44AD-B653-DBBB-02714FF935D4}"/>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Europa (EuroStoxx600)</a:t>
                </a:r>
              </a:p>
            </p:txBody>
          </p:sp>
        </p:grpSp>
        <p:grpSp>
          <p:nvGrpSpPr>
            <p:cNvPr id="7" name="Legende 1">
              <a:extLst>
                <a:ext uri="{FF2B5EF4-FFF2-40B4-BE49-F238E27FC236}">
                  <a16:creationId xmlns:a16="http://schemas.microsoft.com/office/drawing/2014/main" id="{0590956A-8820-212B-CDD1-21BD7B2E1D90}"/>
                </a:ext>
              </a:extLst>
            </p:cNvPr>
            <p:cNvGrpSpPr>
              <a:grpSpLocks/>
            </p:cNvGrpSpPr>
            <p:nvPr/>
          </p:nvGrpSpPr>
          <p:grpSpPr>
            <a:xfrm>
              <a:off x="358774" y="5064125"/>
              <a:ext cx="1263125" cy="108000"/>
              <a:chOff x="358774" y="5064125"/>
              <a:chExt cx="1263125" cy="108000"/>
            </a:xfrm>
          </p:grpSpPr>
          <p:sp>
            <p:nvSpPr>
              <p:cNvPr id="3" name="Rechteck">
                <a:extLst>
                  <a:ext uri="{FF2B5EF4-FFF2-40B4-BE49-F238E27FC236}">
                    <a16:creationId xmlns:a16="http://schemas.microsoft.com/office/drawing/2014/main" id="{71BB5AC6-0E77-EA3F-8280-AF80E64668F4}"/>
                  </a:ext>
                </a:extLst>
              </p:cNvPr>
              <p:cNvSpPr>
                <a:spLocks/>
              </p:cNvSpPr>
              <p:nvPr/>
            </p:nvSpPr>
            <p:spPr>
              <a:xfrm>
                <a:off x="358774" y="5064125"/>
                <a:ext cx="108000" cy="108000"/>
              </a:xfrm>
              <a:prstGeom prst="rect">
                <a:avLst/>
              </a:prstGeom>
              <a:solidFill>
                <a:srgbClr val="284C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6" name="Text">
                <a:extLst>
                  <a:ext uri="{FF2B5EF4-FFF2-40B4-BE49-F238E27FC236}">
                    <a16:creationId xmlns:a16="http://schemas.microsoft.com/office/drawing/2014/main" id="{50534062-7416-0F85-644A-55433330369B}"/>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USA (S&amp;P 500)</a:t>
                </a:r>
              </a:p>
            </p:txBody>
          </p:sp>
        </p:grpSp>
      </p:grpSp>
      <p:grpSp>
        <p:nvGrpSpPr>
          <p:cNvPr id="50" name="Nullinien">
            <a:extLst>
              <a:ext uri="{FF2B5EF4-FFF2-40B4-BE49-F238E27FC236}">
                <a16:creationId xmlns:a16="http://schemas.microsoft.com/office/drawing/2014/main" id="{9988882D-5773-C862-1A93-2C04AE0AB9CB}"/>
              </a:ext>
            </a:extLst>
          </p:cNvPr>
          <p:cNvGrpSpPr>
            <a:grpSpLocks noGrp="1" noUngrp="1" noRot="1" noMove="1" noResize="1"/>
          </p:cNvGrpSpPr>
          <p:nvPr/>
        </p:nvGrpSpPr>
        <p:grpSpPr>
          <a:xfrm>
            <a:off x="972000" y="1421130"/>
            <a:ext cx="9103174" cy="3032760"/>
            <a:chOff x="972000" y="1421130"/>
            <a:chExt cx="9103174" cy="3032760"/>
          </a:xfrm>
        </p:grpSpPr>
        <p:cxnSp>
          <p:nvCxnSpPr>
            <p:cNvPr id="49" name="Nullinie 16">
              <a:extLst>
                <a:ext uri="{FF2B5EF4-FFF2-40B4-BE49-F238E27FC236}">
                  <a16:creationId xmlns:a16="http://schemas.microsoft.com/office/drawing/2014/main" id="{8F67D14F-6C53-9437-B551-4EB262A4D25A}"/>
                </a:ext>
              </a:extLst>
            </p:cNvPr>
            <p:cNvCxnSpPr>
              <a:cxnSpLocks noGrp="1" noRot="1" noMove="1" noResize="1" noEditPoints="1" noAdjustHandles="1" noChangeArrowheads="1" noChangeShapeType="1"/>
            </p:cNvCxnSpPr>
            <p:nvPr/>
          </p:nvCxnSpPr>
          <p:spPr>
            <a:xfrm>
              <a:off x="9556774"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Nullinie 15">
              <a:extLst>
                <a:ext uri="{FF2B5EF4-FFF2-40B4-BE49-F238E27FC236}">
                  <a16:creationId xmlns:a16="http://schemas.microsoft.com/office/drawing/2014/main" id="{FF14AC61-0F63-3282-770D-F622B63FA1E3}"/>
                </a:ext>
              </a:extLst>
            </p:cNvPr>
            <p:cNvCxnSpPr>
              <a:cxnSpLocks noGrp="1" noRot="1" noMove="1" noResize="1" noEditPoints="1" noAdjustHandles="1" noChangeArrowheads="1" noChangeShapeType="1"/>
            </p:cNvCxnSpPr>
            <p:nvPr/>
          </p:nvCxnSpPr>
          <p:spPr>
            <a:xfrm>
              <a:off x="8982014" y="1421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7" name="Nullinie 14">
              <a:extLst>
                <a:ext uri="{FF2B5EF4-FFF2-40B4-BE49-F238E27FC236}">
                  <a16:creationId xmlns:a16="http://schemas.microsoft.com/office/drawing/2014/main" id="{F65EBEB5-C37E-4138-D4F9-24FD628AE730}"/>
                </a:ext>
              </a:extLst>
            </p:cNvPr>
            <p:cNvCxnSpPr>
              <a:cxnSpLocks noGrp="1" noRot="1" noMove="1" noResize="1" noEditPoints="1" noAdjustHandles="1" noChangeArrowheads="1" noChangeShapeType="1"/>
            </p:cNvCxnSpPr>
            <p:nvPr/>
          </p:nvCxnSpPr>
          <p:spPr>
            <a:xfrm>
              <a:off x="8410511" y="2940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Nullinie 13">
              <a:extLst>
                <a:ext uri="{FF2B5EF4-FFF2-40B4-BE49-F238E27FC236}">
                  <a16:creationId xmlns:a16="http://schemas.microsoft.com/office/drawing/2014/main" id="{626FC758-2D6B-8DA9-0852-1828E2969F87}"/>
                </a:ext>
              </a:extLst>
            </p:cNvPr>
            <p:cNvCxnSpPr>
              <a:cxnSpLocks noGrp="1" noRot="1" noMove="1" noResize="1" noEditPoints="1" noAdjustHandles="1" noChangeArrowheads="1" noChangeShapeType="1"/>
            </p:cNvCxnSpPr>
            <p:nvPr/>
          </p:nvCxnSpPr>
          <p:spPr>
            <a:xfrm>
              <a:off x="7840592"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Nullinie 12">
              <a:extLst>
                <a:ext uri="{FF2B5EF4-FFF2-40B4-BE49-F238E27FC236}">
                  <a16:creationId xmlns:a16="http://schemas.microsoft.com/office/drawing/2014/main" id="{C0945B44-CEDA-E8DA-26A0-4879B82C65F4}"/>
                </a:ext>
              </a:extLst>
            </p:cNvPr>
            <p:cNvCxnSpPr>
              <a:cxnSpLocks noGrp="1" noRot="1" noMove="1" noResize="1" noEditPoints="1" noAdjustHandles="1" noChangeArrowheads="1" noChangeShapeType="1"/>
            </p:cNvCxnSpPr>
            <p:nvPr/>
          </p:nvCxnSpPr>
          <p:spPr>
            <a:xfrm>
              <a:off x="7267222"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Nullinie 11">
              <a:extLst>
                <a:ext uri="{FF2B5EF4-FFF2-40B4-BE49-F238E27FC236}">
                  <a16:creationId xmlns:a16="http://schemas.microsoft.com/office/drawing/2014/main" id="{518D0AA8-C1B8-4E5E-2BA0-F944050BC293}"/>
                </a:ext>
              </a:extLst>
            </p:cNvPr>
            <p:cNvCxnSpPr>
              <a:cxnSpLocks noGrp="1" noRot="1" noMove="1" noResize="1" noEditPoints="1" noAdjustHandles="1" noChangeArrowheads="1" noChangeShapeType="1"/>
            </p:cNvCxnSpPr>
            <p:nvPr/>
          </p:nvCxnSpPr>
          <p:spPr>
            <a:xfrm>
              <a:off x="6692556" y="1929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Nullinie 10">
              <a:extLst>
                <a:ext uri="{FF2B5EF4-FFF2-40B4-BE49-F238E27FC236}">
                  <a16:creationId xmlns:a16="http://schemas.microsoft.com/office/drawing/2014/main" id="{C350C785-D3DE-2792-32D6-60BA272BC19A}"/>
                </a:ext>
              </a:extLst>
            </p:cNvPr>
            <p:cNvCxnSpPr>
              <a:cxnSpLocks noGrp="1" noRot="1" noMove="1" noResize="1" noEditPoints="1" noAdjustHandles="1" noChangeArrowheads="1" noChangeShapeType="1"/>
            </p:cNvCxnSpPr>
            <p:nvPr/>
          </p:nvCxnSpPr>
          <p:spPr>
            <a:xfrm>
              <a:off x="6121046"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Nullinie 9">
              <a:extLst>
                <a:ext uri="{FF2B5EF4-FFF2-40B4-BE49-F238E27FC236}">
                  <a16:creationId xmlns:a16="http://schemas.microsoft.com/office/drawing/2014/main" id="{6622518C-27A2-91DC-64BB-EC267318A362}"/>
                </a:ext>
              </a:extLst>
            </p:cNvPr>
            <p:cNvCxnSpPr>
              <a:cxnSpLocks noGrp="1" noRot="1" noMove="1" noResize="1" noEditPoints="1" noAdjustHandles="1" noChangeArrowheads="1" noChangeShapeType="1"/>
            </p:cNvCxnSpPr>
            <p:nvPr/>
          </p:nvCxnSpPr>
          <p:spPr>
            <a:xfrm>
              <a:off x="5547958"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Nullinie 8">
              <a:extLst>
                <a:ext uri="{FF2B5EF4-FFF2-40B4-BE49-F238E27FC236}">
                  <a16:creationId xmlns:a16="http://schemas.microsoft.com/office/drawing/2014/main" id="{5043C605-B90A-719E-056E-01C1A341C4F0}"/>
                </a:ext>
              </a:extLst>
            </p:cNvPr>
            <p:cNvCxnSpPr>
              <a:cxnSpLocks noGrp="1" noRot="1" noMove="1" noResize="1" noEditPoints="1" noAdjustHandles="1" noChangeArrowheads="1" noChangeShapeType="1"/>
            </p:cNvCxnSpPr>
            <p:nvPr/>
          </p:nvCxnSpPr>
          <p:spPr>
            <a:xfrm>
              <a:off x="4976456"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Nullinie 7">
              <a:extLst>
                <a:ext uri="{FF2B5EF4-FFF2-40B4-BE49-F238E27FC236}">
                  <a16:creationId xmlns:a16="http://schemas.microsoft.com/office/drawing/2014/main" id="{B414B8A5-3064-5BB2-1CA0-E5AB45307721}"/>
                </a:ext>
              </a:extLst>
            </p:cNvPr>
            <p:cNvCxnSpPr>
              <a:cxnSpLocks noGrp="1" noRot="1" noMove="1" noResize="1" noEditPoints="1" noAdjustHandles="1" noChangeArrowheads="1" noChangeShapeType="1"/>
            </p:cNvCxnSpPr>
            <p:nvPr/>
          </p:nvCxnSpPr>
          <p:spPr>
            <a:xfrm>
              <a:off x="4404959"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Nullinie 6">
              <a:extLst>
                <a:ext uri="{FF2B5EF4-FFF2-40B4-BE49-F238E27FC236}">
                  <a16:creationId xmlns:a16="http://schemas.microsoft.com/office/drawing/2014/main" id="{15A3128C-D8CB-F377-BC63-BED33588F615}"/>
                </a:ext>
              </a:extLst>
            </p:cNvPr>
            <p:cNvCxnSpPr>
              <a:cxnSpLocks noGrp="1" noRot="1" noMove="1" noResize="1" noEditPoints="1" noAdjustHandles="1" noChangeArrowheads="1" noChangeShapeType="1"/>
            </p:cNvCxnSpPr>
            <p:nvPr/>
          </p:nvCxnSpPr>
          <p:spPr>
            <a:xfrm>
              <a:off x="3831874"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Nullinie 5">
              <a:extLst>
                <a:ext uri="{FF2B5EF4-FFF2-40B4-BE49-F238E27FC236}">
                  <a16:creationId xmlns:a16="http://schemas.microsoft.com/office/drawing/2014/main" id="{434A6A62-772B-A392-B172-0C6750D282AE}"/>
                </a:ext>
              </a:extLst>
            </p:cNvPr>
            <p:cNvCxnSpPr>
              <a:cxnSpLocks noGrp="1" noRot="1" noMove="1" noResize="1" noEditPoints="1" noAdjustHandles="1" noChangeArrowheads="1" noChangeShapeType="1"/>
            </p:cNvCxnSpPr>
            <p:nvPr/>
          </p:nvCxnSpPr>
          <p:spPr>
            <a:xfrm>
              <a:off x="3257197"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Nullinie 4">
              <a:extLst>
                <a:ext uri="{FF2B5EF4-FFF2-40B4-BE49-F238E27FC236}">
                  <a16:creationId xmlns:a16="http://schemas.microsoft.com/office/drawing/2014/main" id="{DD5E69FD-E780-2980-717E-C112E6B62B39}"/>
                </a:ext>
              </a:extLst>
            </p:cNvPr>
            <p:cNvCxnSpPr>
              <a:cxnSpLocks noGrp="1" noRot="1" noMove="1" noResize="1" noEditPoints="1" noAdjustHandles="1" noChangeArrowheads="1" noChangeShapeType="1"/>
            </p:cNvCxnSpPr>
            <p:nvPr/>
          </p:nvCxnSpPr>
          <p:spPr>
            <a:xfrm>
              <a:off x="2688866" y="3437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Nullinie 3">
              <a:extLst>
                <a:ext uri="{FF2B5EF4-FFF2-40B4-BE49-F238E27FC236}">
                  <a16:creationId xmlns:a16="http://schemas.microsoft.com/office/drawing/2014/main" id="{8329E460-B4C0-93FD-C399-926AE777ADBF}"/>
                </a:ext>
              </a:extLst>
            </p:cNvPr>
            <p:cNvCxnSpPr>
              <a:cxnSpLocks noGrp="1" noRot="1" noMove="1" noResize="1" noEditPoints="1" noAdjustHandles="1" noChangeArrowheads="1" noChangeShapeType="1"/>
            </p:cNvCxnSpPr>
            <p:nvPr/>
          </p:nvCxnSpPr>
          <p:spPr>
            <a:xfrm>
              <a:off x="2114550"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Nullinie 2">
              <a:extLst>
                <a:ext uri="{FF2B5EF4-FFF2-40B4-BE49-F238E27FC236}">
                  <a16:creationId xmlns:a16="http://schemas.microsoft.com/office/drawing/2014/main" id="{085CDDEF-E934-8A49-77B4-89F0E93845DF}"/>
                </a:ext>
              </a:extLst>
            </p:cNvPr>
            <p:cNvCxnSpPr>
              <a:cxnSpLocks noGrp="1" noRot="1" noMove="1" noResize="1" noEditPoints="1" noAdjustHandles="1" noChangeArrowheads="1" noChangeShapeType="1"/>
            </p:cNvCxnSpPr>
            <p:nvPr/>
          </p:nvCxnSpPr>
          <p:spPr>
            <a:xfrm>
              <a:off x="1544637" y="4453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Nullinie 1">
              <a:extLst>
                <a:ext uri="{FF2B5EF4-FFF2-40B4-BE49-F238E27FC236}">
                  <a16:creationId xmlns:a16="http://schemas.microsoft.com/office/drawing/2014/main" id="{AE5ADA14-80F3-87ED-2D05-43F0B4D60158}"/>
                </a:ext>
              </a:extLst>
            </p:cNvPr>
            <p:cNvCxnSpPr>
              <a:cxnSpLocks noGrp="1" noRot="1" noMove="1" noResize="1" noEditPoints="1" noAdjustHandles="1" noChangeArrowheads="1" noChangeShapeType="1"/>
            </p:cNvCxnSpPr>
            <p:nvPr/>
          </p:nvCxnSpPr>
          <p:spPr>
            <a:xfrm>
              <a:off x="972000"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elle">
            <a:extLst>
              <a:ext uri="{FF2B5EF4-FFF2-40B4-BE49-F238E27FC236}">
                <a16:creationId xmlns:a16="http://schemas.microsoft.com/office/drawing/2014/main" id="{EC80708B-0902-3AEC-CC9D-5DD4BA0EF575}"/>
              </a:ext>
            </a:extLst>
          </p:cNvPr>
          <p:cNvGraphicFramePr>
            <a:graphicFrameLocks noGrp="1"/>
          </p:cNvGraphicFramePr>
          <p:nvPr>
            <p:ph idx="1"/>
          </p:nvPr>
        </p:nvGraphicFramePr>
        <p:xfrm>
          <a:off x="358774" y="1041400"/>
          <a:ext cx="9716400" cy="3834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389672770"/>
                    </a:ext>
                  </a:extLst>
                </a:gridCol>
                <a:gridCol w="518400">
                  <a:extLst>
                    <a:ext uri="{9D8B030D-6E8A-4147-A177-3AD203B41FA5}">
                      <a16:colId xmlns:a16="http://schemas.microsoft.com/office/drawing/2014/main" val="3761890794"/>
                    </a:ext>
                  </a:extLst>
                </a:gridCol>
                <a:gridCol w="54000">
                  <a:extLst>
                    <a:ext uri="{9D8B030D-6E8A-4147-A177-3AD203B41FA5}">
                      <a16:colId xmlns:a16="http://schemas.microsoft.com/office/drawing/2014/main" val="1578058522"/>
                    </a:ext>
                  </a:extLst>
                </a:gridCol>
                <a:gridCol w="518400">
                  <a:extLst>
                    <a:ext uri="{9D8B030D-6E8A-4147-A177-3AD203B41FA5}">
                      <a16:colId xmlns:a16="http://schemas.microsoft.com/office/drawing/2014/main" val="3720253127"/>
                    </a:ext>
                  </a:extLst>
                </a:gridCol>
                <a:gridCol w="54000">
                  <a:extLst>
                    <a:ext uri="{9D8B030D-6E8A-4147-A177-3AD203B41FA5}">
                      <a16:colId xmlns:a16="http://schemas.microsoft.com/office/drawing/2014/main" val="3535412410"/>
                    </a:ext>
                  </a:extLst>
                </a:gridCol>
                <a:gridCol w="518400">
                  <a:extLst>
                    <a:ext uri="{9D8B030D-6E8A-4147-A177-3AD203B41FA5}">
                      <a16:colId xmlns:a16="http://schemas.microsoft.com/office/drawing/2014/main" val="1618179102"/>
                    </a:ext>
                  </a:extLst>
                </a:gridCol>
                <a:gridCol w="54000">
                  <a:extLst>
                    <a:ext uri="{9D8B030D-6E8A-4147-A177-3AD203B41FA5}">
                      <a16:colId xmlns:a16="http://schemas.microsoft.com/office/drawing/2014/main" val="2072559993"/>
                    </a:ext>
                  </a:extLst>
                </a:gridCol>
                <a:gridCol w="518400">
                  <a:extLst>
                    <a:ext uri="{9D8B030D-6E8A-4147-A177-3AD203B41FA5}">
                      <a16:colId xmlns:a16="http://schemas.microsoft.com/office/drawing/2014/main" val="2131862848"/>
                    </a:ext>
                  </a:extLst>
                </a:gridCol>
                <a:gridCol w="54000">
                  <a:extLst>
                    <a:ext uri="{9D8B030D-6E8A-4147-A177-3AD203B41FA5}">
                      <a16:colId xmlns:a16="http://schemas.microsoft.com/office/drawing/2014/main" val="1048734056"/>
                    </a:ext>
                  </a:extLst>
                </a:gridCol>
                <a:gridCol w="518400">
                  <a:extLst>
                    <a:ext uri="{9D8B030D-6E8A-4147-A177-3AD203B41FA5}">
                      <a16:colId xmlns:a16="http://schemas.microsoft.com/office/drawing/2014/main" val="1963245952"/>
                    </a:ext>
                  </a:extLst>
                </a:gridCol>
                <a:gridCol w="54000">
                  <a:extLst>
                    <a:ext uri="{9D8B030D-6E8A-4147-A177-3AD203B41FA5}">
                      <a16:colId xmlns:a16="http://schemas.microsoft.com/office/drawing/2014/main" val="1182318350"/>
                    </a:ext>
                  </a:extLst>
                </a:gridCol>
                <a:gridCol w="518400">
                  <a:extLst>
                    <a:ext uri="{9D8B030D-6E8A-4147-A177-3AD203B41FA5}">
                      <a16:colId xmlns:a16="http://schemas.microsoft.com/office/drawing/2014/main" val="3131425242"/>
                    </a:ext>
                  </a:extLst>
                </a:gridCol>
                <a:gridCol w="54000">
                  <a:extLst>
                    <a:ext uri="{9D8B030D-6E8A-4147-A177-3AD203B41FA5}">
                      <a16:colId xmlns:a16="http://schemas.microsoft.com/office/drawing/2014/main" val="1070082434"/>
                    </a:ext>
                  </a:extLst>
                </a:gridCol>
                <a:gridCol w="518400">
                  <a:extLst>
                    <a:ext uri="{9D8B030D-6E8A-4147-A177-3AD203B41FA5}">
                      <a16:colId xmlns:a16="http://schemas.microsoft.com/office/drawing/2014/main" val="3332445667"/>
                    </a:ext>
                  </a:extLst>
                </a:gridCol>
                <a:gridCol w="54000">
                  <a:extLst>
                    <a:ext uri="{9D8B030D-6E8A-4147-A177-3AD203B41FA5}">
                      <a16:colId xmlns:a16="http://schemas.microsoft.com/office/drawing/2014/main" val="487974343"/>
                    </a:ext>
                  </a:extLst>
                </a:gridCol>
                <a:gridCol w="518400">
                  <a:extLst>
                    <a:ext uri="{9D8B030D-6E8A-4147-A177-3AD203B41FA5}">
                      <a16:colId xmlns:a16="http://schemas.microsoft.com/office/drawing/2014/main" val="3703664561"/>
                    </a:ext>
                  </a:extLst>
                </a:gridCol>
                <a:gridCol w="54000">
                  <a:extLst>
                    <a:ext uri="{9D8B030D-6E8A-4147-A177-3AD203B41FA5}">
                      <a16:colId xmlns:a16="http://schemas.microsoft.com/office/drawing/2014/main" val="1480291182"/>
                    </a:ext>
                  </a:extLst>
                </a:gridCol>
                <a:gridCol w="518400">
                  <a:extLst>
                    <a:ext uri="{9D8B030D-6E8A-4147-A177-3AD203B41FA5}">
                      <a16:colId xmlns:a16="http://schemas.microsoft.com/office/drawing/2014/main" val="1581267040"/>
                    </a:ext>
                  </a:extLst>
                </a:gridCol>
                <a:gridCol w="54000">
                  <a:extLst>
                    <a:ext uri="{9D8B030D-6E8A-4147-A177-3AD203B41FA5}">
                      <a16:colId xmlns:a16="http://schemas.microsoft.com/office/drawing/2014/main" val="1644085341"/>
                    </a:ext>
                  </a:extLst>
                </a:gridCol>
                <a:gridCol w="518400">
                  <a:extLst>
                    <a:ext uri="{9D8B030D-6E8A-4147-A177-3AD203B41FA5}">
                      <a16:colId xmlns:a16="http://schemas.microsoft.com/office/drawing/2014/main" val="2844026285"/>
                    </a:ext>
                  </a:extLst>
                </a:gridCol>
                <a:gridCol w="54000">
                  <a:extLst>
                    <a:ext uri="{9D8B030D-6E8A-4147-A177-3AD203B41FA5}">
                      <a16:colId xmlns:a16="http://schemas.microsoft.com/office/drawing/2014/main" val="299076281"/>
                    </a:ext>
                  </a:extLst>
                </a:gridCol>
                <a:gridCol w="518400">
                  <a:extLst>
                    <a:ext uri="{9D8B030D-6E8A-4147-A177-3AD203B41FA5}">
                      <a16:colId xmlns:a16="http://schemas.microsoft.com/office/drawing/2014/main" val="489851299"/>
                    </a:ext>
                  </a:extLst>
                </a:gridCol>
                <a:gridCol w="54000">
                  <a:extLst>
                    <a:ext uri="{9D8B030D-6E8A-4147-A177-3AD203B41FA5}">
                      <a16:colId xmlns:a16="http://schemas.microsoft.com/office/drawing/2014/main" val="557852540"/>
                    </a:ext>
                  </a:extLst>
                </a:gridCol>
                <a:gridCol w="518400">
                  <a:extLst>
                    <a:ext uri="{9D8B030D-6E8A-4147-A177-3AD203B41FA5}">
                      <a16:colId xmlns:a16="http://schemas.microsoft.com/office/drawing/2014/main" val="324488919"/>
                    </a:ext>
                  </a:extLst>
                </a:gridCol>
                <a:gridCol w="54000">
                  <a:extLst>
                    <a:ext uri="{9D8B030D-6E8A-4147-A177-3AD203B41FA5}">
                      <a16:colId xmlns:a16="http://schemas.microsoft.com/office/drawing/2014/main" val="3250087394"/>
                    </a:ext>
                  </a:extLst>
                </a:gridCol>
                <a:gridCol w="518400">
                  <a:extLst>
                    <a:ext uri="{9D8B030D-6E8A-4147-A177-3AD203B41FA5}">
                      <a16:colId xmlns:a16="http://schemas.microsoft.com/office/drawing/2014/main" val="3968153167"/>
                    </a:ext>
                  </a:extLst>
                </a:gridCol>
                <a:gridCol w="54000">
                  <a:extLst>
                    <a:ext uri="{9D8B030D-6E8A-4147-A177-3AD203B41FA5}">
                      <a16:colId xmlns:a16="http://schemas.microsoft.com/office/drawing/2014/main" val="3640183562"/>
                    </a:ext>
                  </a:extLst>
                </a:gridCol>
                <a:gridCol w="518400">
                  <a:extLst>
                    <a:ext uri="{9D8B030D-6E8A-4147-A177-3AD203B41FA5}">
                      <a16:colId xmlns:a16="http://schemas.microsoft.com/office/drawing/2014/main" val="1539127349"/>
                    </a:ext>
                  </a:extLst>
                </a:gridCol>
                <a:gridCol w="54000">
                  <a:extLst>
                    <a:ext uri="{9D8B030D-6E8A-4147-A177-3AD203B41FA5}">
                      <a16:colId xmlns:a16="http://schemas.microsoft.com/office/drawing/2014/main" val="5767588"/>
                    </a:ext>
                  </a:extLst>
                </a:gridCol>
                <a:gridCol w="518400">
                  <a:extLst>
                    <a:ext uri="{9D8B030D-6E8A-4147-A177-3AD203B41FA5}">
                      <a16:colId xmlns:a16="http://schemas.microsoft.com/office/drawing/2014/main" val="1662239719"/>
                    </a:ext>
                  </a:extLst>
                </a:gridCol>
                <a:gridCol w="54000">
                  <a:extLst>
                    <a:ext uri="{9D8B030D-6E8A-4147-A177-3AD203B41FA5}">
                      <a16:colId xmlns:a16="http://schemas.microsoft.com/office/drawing/2014/main" val="874840740"/>
                    </a:ext>
                  </a:extLst>
                </a:gridCol>
                <a:gridCol w="518400">
                  <a:extLst>
                    <a:ext uri="{9D8B030D-6E8A-4147-A177-3AD203B41FA5}">
                      <a16:colId xmlns:a16="http://schemas.microsoft.com/office/drawing/2014/main" val="3536172128"/>
                    </a:ext>
                  </a:extLst>
                </a:gridCol>
              </a:tblGrid>
              <a:tr h="360000">
                <a:tc>
                  <a:txBody>
                    <a:bodyPr/>
                    <a:lstStyle/>
                    <a:p>
                      <a:pPr algn="ctr">
                        <a:lnSpc>
                          <a:spcPts val="1300"/>
                        </a:lnSpc>
                      </a:pPr>
                      <a:r>
                        <a:rPr lang="de-DE" sz="900" b="1" dirty="0">
                          <a:solidFill>
                            <a:schemeClr val="bg1"/>
                          </a:solidFill>
                          <a:sym typeface="Symbol" panose="05050102010706020507" pitchFamily="18" charset="2"/>
                        </a:rPr>
                        <a:t></a:t>
                      </a: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r>
                        <a:rPr lang="de-DE" sz="900" b="1" dirty="0">
                          <a:solidFill>
                            <a:schemeClr val="bg1"/>
                          </a:solidFill>
                        </a:rPr>
                        <a:t>9,62 %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-1,73 %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12,29 %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8,42 %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6,00 %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-0,81 %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5,41 %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10,93 %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-5,55 %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18,05 %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10,27 %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9,90 %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-14,28 %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15,02 %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13,77 %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20,65 %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04883458"/>
                  </a:ext>
                </a:extLst>
              </a:tr>
              <a:tr h="54000">
                <a:tc>
                  <a:txBody>
                    <a:bodyPr/>
                    <a:lstStyle/>
                    <a:p>
                      <a:pPr algn="l">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91269406"/>
                  </a:ext>
                </a:extLst>
              </a:tr>
              <a:tr h="450000">
                <a:tc>
                  <a:txBody>
                    <a:bodyPr/>
                    <a:lstStyle/>
                    <a:p>
                      <a:pPr algn="l">
                        <a:lnSpc>
                          <a:spcPts val="1300"/>
                        </a:lnSpc>
                      </a:pPr>
                      <a:r>
                        <a:rPr lang="de-DE" sz="900" b="1" dirty="0"/>
                        <a:t>Rang 1</a:t>
                      </a:r>
                    </a:p>
                  </a:txBody>
                  <a:tcPr marL="72000" marR="72000" marT="108000" marB="10800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29,57 %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10,10 %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15,53 %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29,60 %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13,05 %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7,97 %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9,54 %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20,11 %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0,99 %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28,88 %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25,12 %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26,89 %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-0,28 %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24,23 %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27,22 %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64,58 %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extLst>
                  <a:ext uri="{0D108BD9-81ED-4DB2-BD59-A6C34878D82A}">
                    <a16:rowId xmlns:a16="http://schemas.microsoft.com/office/drawing/2014/main" val="748731864"/>
                  </a:ext>
                </a:extLst>
              </a:tr>
              <a:tr h="54000">
                <a:tc>
                  <a:txBody>
                    <a:bodyPr/>
                    <a:lstStyle/>
                    <a:p>
                      <a:pPr algn="l">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8072511"/>
                  </a:ext>
                </a:extLst>
              </a:tr>
              <a:tr h="450000">
                <a:tc>
                  <a:txBody>
                    <a:bodyPr/>
                    <a:lstStyle/>
                    <a:p>
                      <a:pPr>
                        <a:lnSpc>
                          <a:spcPts val="1300"/>
                        </a:lnSpc>
                      </a:pPr>
                      <a:r>
                        <a:rPr lang="de-DE" sz="900" b="1" dirty="0"/>
                        <a:t>Rang2</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12,78 %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3,37 %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13,59 %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24,10 %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11,39 %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8,14 %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-1,25 %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25,19 %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16,26 %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-13,65 %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21,77 %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23,31 %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19,80 %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985023547"/>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6782605"/>
                  </a:ext>
                </a:extLst>
              </a:tr>
              <a:tr h="450000">
                <a:tc>
                  <a:txBody>
                    <a:bodyPr/>
                    <a:lstStyle/>
                    <a:p>
                      <a:pPr>
                        <a:lnSpc>
                          <a:spcPts val="1300"/>
                        </a:lnSpc>
                      </a:pPr>
                      <a:r>
                        <a:rPr lang="de-DE" sz="900" b="1" dirty="0"/>
                        <a:t>Rang 3</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13,40 %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20,50 %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8,40 %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-0,56 %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5,32 %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13,53 %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22,97 %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-14,38 %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17,00 %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788615533"/>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192032"/>
                  </a:ext>
                </a:extLst>
              </a:tr>
              <a:tr h="450000">
                <a:tc>
                  <a:txBody>
                    <a:bodyPr/>
                    <a:lstStyle/>
                    <a:p>
                      <a:pPr>
                        <a:lnSpc>
                          <a:spcPts val="1300"/>
                        </a:lnSpc>
                      </a:pPr>
                      <a:r>
                        <a:rPr lang="de-DE" sz="900" b="1" dirty="0"/>
                        <a:t>Rang 4</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4,75 %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13,18 %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2,93 %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10,06 %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18,31 %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5,01 %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-18,44 %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8,78 %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extLst>
                  <a:ext uri="{0D108BD9-81ED-4DB2-BD59-A6C34878D82A}">
                    <a16:rowId xmlns:a16="http://schemas.microsoft.com/office/drawing/2014/main" val="3180682499"/>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4546438"/>
                  </a:ext>
                </a:extLst>
              </a:tr>
              <a:tr h="450000">
                <a:tc>
                  <a:txBody>
                    <a:bodyPr/>
                    <a:lstStyle/>
                    <a:p>
                      <a:pPr>
                        <a:lnSpc>
                          <a:spcPts val="1300"/>
                        </a:lnSpc>
                      </a:pPr>
                      <a:r>
                        <a:rPr lang="de-DE" sz="900" b="1" dirty="0"/>
                        <a:t>Rang 5</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1,16 %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-7,61 %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10,99 %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2,21 %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-2,74 %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3,27 %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6,72 %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-3,45 %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8,19 %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3,02 %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546940508"/>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4935509"/>
                  </a:ext>
                </a:extLst>
              </a:tr>
              <a:tr h="450000">
                <a:tc>
                  <a:txBody>
                    <a:bodyPr/>
                    <a:lstStyle/>
                    <a:p>
                      <a:pPr>
                        <a:lnSpc>
                          <a:spcPts val="1300"/>
                        </a:lnSpc>
                      </a:pPr>
                      <a:r>
                        <a:rPr lang="de-DE" sz="900" b="1" dirty="0"/>
                        <a:t>Rang 6</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-0,11 %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7,06 %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-28,28 %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0,07 %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-14,79 %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7,15 %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1,76 %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extLst>
                  <a:ext uri="{0D108BD9-81ED-4DB2-BD59-A6C34878D82A}">
                    <a16:rowId xmlns:a16="http://schemas.microsoft.com/office/drawing/2014/main" val="1453224324"/>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802187"/>
                  </a:ext>
                </a:extLst>
              </a:tr>
              <a:tr h="396000">
                <a:tc>
                  <a:txBody>
                    <a:bodyPr/>
                    <a:lstStyle/>
                    <a:p>
                      <a:pPr>
                        <a:lnSpc>
                          <a:spcPts val="1300"/>
                        </a:lnSpc>
                      </a:pPr>
                      <a:endParaRPr lang="de-DE" sz="900" b="1" dirty="0"/>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2010</a:t>
                      </a:r>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2016</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2017</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2018</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2019</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2020</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6866869"/>
                  </a:ext>
                </a:extLst>
              </a:tr>
            </a:tbl>
          </a:graphicData>
        </a:graphic>
      </p:graphicFrame>
      <p:sp>
        <p:nvSpPr>
          <p:cNvPr id="2" name="Titel">
            <a:extLst>
              <a:ext uri="{FF2B5EF4-FFF2-40B4-BE49-F238E27FC236}">
                <a16:creationId xmlns:a16="http://schemas.microsoft.com/office/drawing/2014/main" id="{F401EBA1-E5FC-9FBC-793D-EB26966EC660}"/>
              </a:ext>
            </a:extLst>
          </p:cNvPr>
          <p:cNvSpPr>
            <a:spLocks noGrp="1" noRot="1" noMove="1" noResize="1" noEditPoints="1" noAdjustHandles="1" noChangeArrowheads="1" noChangeShapeType="1"/>
          </p:cNvSpPr>
          <p:nvPr>
            <p:ph type="title"/>
          </p:nvPr>
        </p:nvSpPr>
        <p:spPr/>
        <p:txBody>
          <a:bodyPr/>
          <a:lstStyle/>
          <a:p>
            <a:r>
              <a:rPr lang="de-DE" dirty="0"/>
              <a:t>Aktien – die guten Jahre überwiegen</a:t>
            </a:r>
          </a:p>
        </p:txBody>
      </p:sp>
    </p:spTree>
    <p:extLst>
      <p:ext uri="{BB962C8B-B14F-4D97-AF65-F5344CB8AC3E}">
        <p14:creationId xmlns:p14="http://schemas.microsoft.com/office/powerpoint/2010/main" val="116665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057D79A9-CEF6-77B2-72D1-38E49A66DC9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5</a:t>
            </a:fld>
            <a:endParaRPr lang="de-DE"/>
          </a:p>
        </p:txBody>
      </p:sp>
      <p:grpSp>
        <p:nvGrpSpPr>
          <p:cNvPr id="35" name="Linien">
            <a:extLst>
              <a:ext uri="{FF2B5EF4-FFF2-40B4-BE49-F238E27FC236}">
                <a16:creationId xmlns:a16="http://schemas.microsoft.com/office/drawing/2014/main" id="{E5077B21-77FC-B36C-3C4D-1CD0D946A918}"/>
              </a:ext>
            </a:extLst>
          </p:cNvPr>
          <p:cNvGrpSpPr>
            <a:grpSpLocks noGrp="1" noUngrp="1" noRot="1" noMove="1" noResize="1"/>
          </p:cNvGrpSpPr>
          <p:nvPr/>
        </p:nvGrpSpPr>
        <p:grpSpPr>
          <a:xfrm>
            <a:off x="358775" y="1041400"/>
            <a:ext cx="9756774" cy="4791075"/>
            <a:chOff x="358775" y="1041400"/>
            <a:chExt cx="9756774" cy="4791075"/>
          </a:xfrm>
        </p:grpSpPr>
        <p:cxnSp>
          <p:nvCxnSpPr>
            <p:cNvPr id="9" name="Linie unten">
              <a:extLst>
                <a:ext uri="{FF2B5EF4-FFF2-40B4-BE49-F238E27FC236}">
                  <a16:creationId xmlns:a16="http://schemas.microsoft.com/office/drawing/2014/main" id="{A2EAD724-C5DE-253C-132A-EB5AEBFD3154}"/>
                </a:ext>
              </a:extLst>
            </p:cNvPr>
            <p:cNvCxnSpPr>
              <a:cxnSpLocks noGrp="1" noRot="1" noMove="1" noResize="1" noEditPoints="1" noAdjustHandles="1" noChangeArrowheads="1" noChangeShapeType="1"/>
            </p:cNvCxnSpPr>
            <p:nvPr/>
          </p:nvCxnSpPr>
          <p:spPr>
            <a:xfrm>
              <a:off x="358775" y="5832475"/>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Linie oben">
              <a:extLst>
                <a:ext uri="{FF2B5EF4-FFF2-40B4-BE49-F238E27FC236}">
                  <a16:creationId xmlns:a16="http://schemas.microsoft.com/office/drawing/2014/main" id="{58FF9523-E5B4-B95F-1F9D-D22F83EB5F4C}"/>
                </a:ext>
              </a:extLst>
            </p:cNvPr>
            <p:cNvCxnSpPr>
              <a:cxnSpLocks noGrp="1" noRot="1" noMove="1" noResize="1" noEditPoints="1" noAdjustHandles="1" noChangeArrowheads="1" noChangeShapeType="1"/>
            </p:cNvCxnSpPr>
            <p:nvPr/>
          </p:nvCxnSpPr>
          <p:spPr>
            <a:xfrm>
              <a:off x="358775" y="1041400"/>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6" name="Grafik" descr="Ein Bild, das Dunkelheit, Schwarz, Licht, Nacht enthält.&#10;&#10;Automatisch generierte Beschreibung">
            <a:extLst>
              <a:ext uri="{FF2B5EF4-FFF2-40B4-BE49-F238E27FC236}">
                <a16:creationId xmlns:a16="http://schemas.microsoft.com/office/drawing/2014/main" id="{0BF04AE7-D5B8-C006-FB05-02A77BDF1D6C}"/>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tretch>
            <a:fillRect/>
          </a:stretch>
        </p:blipFill>
        <p:spPr>
          <a:xfrm>
            <a:off x="358775" y="1638213"/>
            <a:ext cx="9756775" cy="3895934"/>
          </a:xfrm>
        </p:spPr>
      </p:pic>
      <p:grpSp>
        <p:nvGrpSpPr>
          <p:cNvPr id="34" name="Texte">
            <a:extLst>
              <a:ext uri="{FF2B5EF4-FFF2-40B4-BE49-F238E27FC236}">
                <a16:creationId xmlns:a16="http://schemas.microsoft.com/office/drawing/2014/main" id="{928AAD08-3290-EEF6-84CA-44661228C5AB}"/>
              </a:ext>
            </a:extLst>
          </p:cNvPr>
          <p:cNvGrpSpPr>
            <a:grpSpLocks noGrp="1" noUngrp="1" noRot="1" noMove="1" noResize="1"/>
          </p:cNvGrpSpPr>
          <p:nvPr/>
        </p:nvGrpSpPr>
        <p:grpSpPr>
          <a:xfrm>
            <a:off x="358775" y="1205849"/>
            <a:ext cx="9369521" cy="4549284"/>
            <a:chOff x="358775" y="1205849"/>
            <a:chExt cx="9369521" cy="4549284"/>
          </a:xfrm>
        </p:grpSpPr>
        <p:sp>
          <p:nvSpPr>
            <p:cNvPr id="33" name="Text 22">
              <a:extLst>
                <a:ext uri="{FF2B5EF4-FFF2-40B4-BE49-F238E27FC236}">
                  <a16:creationId xmlns:a16="http://schemas.microsoft.com/office/drawing/2014/main" id="{BF86102E-63A3-47F0-E67B-A4A9A7C5C519}"/>
                </a:ext>
              </a:extLst>
            </p:cNvPr>
            <p:cNvSpPr txBox="1">
              <a:spLocks noGrp="1" noRot="1" noMove="1" noResize="1" noEditPoints="1" noAdjustHandles="1" noChangeArrowheads="1" noChangeShapeType="1"/>
            </p:cNvSpPr>
            <p:nvPr/>
          </p:nvSpPr>
          <p:spPr>
            <a:xfrm>
              <a:off x="9198936" y="1733957"/>
              <a:ext cx="529360" cy="235720"/>
            </a:xfrm>
            <a:prstGeom prst="rect">
              <a:avLst/>
            </a:prstGeom>
            <a:noFill/>
          </p:spPr>
          <p:txBody>
            <a:bodyPr wrap="square" lIns="0" tIns="0" rIns="0" bIns="0" rtlCol="0">
              <a:noAutofit/>
            </a:bodyPr>
            <a:lstStyle/>
            <a:p>
              <a:r>
                <a:rPr lang="de-DE" sz="700" b="1" dirty="0"/>
                <a:t>Euphorie</a:t>
              </a:r>
            </a:p>
            <a:p>
              <a:r>
                <a:rPr lang="de-DE" sz="700" dirty="0"/>
                <a:t>Geht doch!</a:t>
              </a:r>
            </a:p>
          </p:txBody>
        </p:sp>
        <p:sp>
          <p:nvSpPr>
            <p:cNvPr id="27" name="Text 21">
              <a:extLst>
                <a:ext uri="{FF2B5EF4-FFF2-40B4-BE49-F238E27FC236}">
                  <a16:creationId xmlns:a16="http://schemas.microsoft.com/office/drawing/2014/main" id="{5751171E-AB27-7350-FC89-9ED697FB52D6}"/>
                </a:ext>
              </a:extLst>
            </p:cNvPr>
            <p:cNvSpPr txBox="1">
              <a:spLocks noGrp="1" noRot="1" noMove="1" noResize="1" noEditPoints="1" noAdjustHandles="1" noChangeArrowheads="1" noChangeShapeType="1"/>
            </p:cNvSpPr>
            <p:nvPr/>
          </p:nvSpPr>
          <p:spPr>
            <a:xfrm>
              <a:off x="7506760" y="4786113"/>
              <a:ext cx="1213908" cy="465338"/>
            </a:xfrm>
            <a:prstGeom prst="rect">
              <a:avLst/>
            </a:prstGeom>
            <a:noFill/>
          </p:spPr>
          <p:txBody>
            <a:bodyPr wrap="square" lIns="0" tIns="0" rIns="0" bIns="0" rtlCol="0">
              <a:noAutofit/>
            </a:bodyPr>
            <a:lstStyle/>
            <a:p>
              <a:r>
                <a:rPr lang="de-DE" sz="700" b="1" dirty="0"/>
                <a:t>Depression</a:t>
              </a:r>
            </a:p>
            <a:p>
              <a:r>
                <a:rPr lang="de-DE" sz="700" dirty="0"/>
                <a:t>Mein schönes Geld ist weg! </a:t>
              </a:r>
            </a:p>
            <a:p>
              <a:r>
                <a:rPr lang="de-DE" sz="700" dirty="0"/>
                <a:t>Ich bin ein Idiot! Aber ich </a:t>
              </a:r>
            </a:p>
            <a:p>
              <a:r>
                <a:rPr lang="de-DE" sz="700" dirty="0"/>
                <a:t>habe daraus gelernt!</a:t>
              </a:r>
            </a:p>
          </p:txBody>
        </p:sp>
        <p:sp>
          <p:nvSpPr>
            <p:cNvPr id="28" name="Text 20">
              <a:extLst>
                <a:ext uri="{FF2B5EF4-FFF2-40B4-BE49-F238E27FC236}">
                  <a16:creationId xmlns:a16="http://schemas.microsoft.com/office/drawing/2014/main" id="{9F779A26-AE12-5208-0939-0778ECC19607}"/>
                </a:ext>
              </a:extLst>
            </p:cNvPr>
            <p:cNvSpPr txBox="1">
              <a:spLocks noGrp="1" noRot="1" noMove="1" noResize="1" noEditPoints="1" noAdjustHandles="1" noChangeArrowheads="1" noChangeShapeType="1"/>
            </p:cNvSpPr>
            <p:nvPr/>
          </p:nvSpPr>
          <p:spPr>
            <a:xfrm>
              <a:off x="7764223" y="4289443"/>
              <a:ext cx="1345910" cy="465338"/>
            </a:xfrm>
            <a:prstGeom prst="rect">
              <a:avLst/>
            </a:prstGeom>
            <a:noFill/>
          </p:spPr>
          <p:txBody>
            <a:bodyPr wrap="square" lIns="0" tIns="0" rIns="0" bIns="0" rtlCol="0">
              <a:noAutofit/>
            </a:bodyPr>
            <a:lstStyle/>
            <a:p>
              <a:r>
                <a:rPr lang="de-DE" sz="700" b="1" dirty="0"/>
                <a:t>Zweifel</a:t>
              </a:r>
            </a:p>
            <a:p>
              <a:r>
                <a:rPr lang="de-DE" sz="700" dirty="0"/>
                <a:t>Mist, das kann doch nicht sein! </a:t>
              </a:r>
            </a:p>
            <a:p>
              <a:r>
                <a:rPr lang="de-DE" sz="700" dirty="0"/>
                <a:t>Das sind doch alles Lemminge, </a:t>
              </a:r>
            </a:p>
            <a:p>
              <a:r>
                <a:rPr lang="de-DE" sz="700" dirty="0"/>
                <a:t>die in ihr Verderben rennen!</a:t>
              </a:r>
            </a:p>
          </p:txBody>
        </p:sp>
        <p:sp>
          <p:nvSpPr>
            <p:cNvPr id="29" name="Text 19">
              <a:extLst>
                <a:ext uri="{FF2B5EF4-FFF2-40B4-BE49-F238E27FC236}">
                  <a16:creationId xmlns:a16="http://schemas.microsoft.com/office/drawing/2014/main" id="{5166CB6F-CE2B-A942-CB6B-8B740BBFFD89}"/>
                </a:ext>
              </a:extLst>
            </p:cNvPr>
            <p:cNvSpPr txBox="1">
              <a:spLocks noGrp="1" noRot="1" noMove="1" noResize="1" noEditPoints="1" noAdjustHandles="1" noChangeArrowheads="1" noChangeShapeType="1"/>
            </p:cNvSpPr>
            <p:nvPr/>
          </p:nvSpPr>
          <p:spPr>
            <a:xfrm>
              <a:off x="8193906" y="3597811"/>
              <a:ext cx="916227" cy="465338"/>
            </a:xfrm>
            <a:prstGeom prst="rect">
              <a:avLst/>
            </a:prstGeom>
            <a:noFill/>
          </p:spPr>
          <p:txBody>
            <a:bodyPr wrap="square" lIns="0" tIns="0" rIns="0" bIns="0" rtlCol="0">
              <a:noAutofit/>
            </a:bodyPr>
            <a:lstStyle/>
            <a:p>
              <a:r>
                <a:rPr lang="de-DE" sz="700" b="1" dirty="0"/>
                <a:t>Hoffnung</a:t>
              </a:r>
            </a:p>
            <a:p>
              <a:r>
                <a:rPr lang="de-DE" sz="700" dirty="0"/>
                <a:t>Der Markt hat sich </a:t>
              </a:r>
            </a:p>
            <a:p>
              <a:r>
                <a:rPr lang="de-DE" sz="700" dirty="0"/>
                <a:t>gedreht. Vielleicht </a:t>
              </a:r>
            </a:p>
            <a:p>
              <a:r>
                <a:rPr lang="de-DE" sz="700" dirty="0"/>
                <a:t>doch ein Kaufsignal!</a:t>
              </a:r>
            </a:p>
          </p:txBody>
        </p:sp>
        <p:sp>
          <p:nvSpPr>
            <p:cNvPr id="30" name="Text 18">
              <a:extLst>
                <a:ext uri="{FF2B5EF4-FFF2-40B4-BE49-F238E27FC236}">
                  <a16:creationId xmlns:a16="http://schemas.microsoft.com/office/drawing/2014/main" id="{1984A926-9369-F243-ED9C-E08C1E03B46E}"/>
                </a:ext>
              </a:extLst>
            </p:cNvPr>
            <p:cNvSpPr txBox="1">
              <a:spLocks noGrp="1" noRot="1" noMove="1" noResize="1" noEditPoints="1" noAdjustHandles="1" noChangeArrowheads="1" noChangeShapeType="1"/>
            </p:cNvSpPr>
            <p:nvPr/>
          </p:nvSpPr>
          <p:spPr>
            <a:xfrm>
              <a:off x="8459788" y="3215456"/>
              <a:ext cx="1213379" cy="347967"/>
            </a:xfrm>
            <a:prstGeom prst="rect">
              <a:avLst/>
            </a:prstGeom>
            <a:noFill/>
          </p:spPr>
          <p:txBody>
            <a:bodyPr wrap="square" lIns="0" tIns="0" rIns="0" bIns="0" rtlCol="0">
              <a:noAutofit/>
            </a:bodyPr>
            <a:lstStyle/>
            <a:p>
              <a:r>
                <a:rPr lang="de-DE" sz="700" b="1" dirty="0"/>
                <a:t>Jagdfieber</a:t>
              </a:r>
            </a:p>
            <a:p>
              <a:r>
                <a:rPr lang="de-DE" sz="700" dirty="0"/>
                <a:t>Dieses Mal bin ich dabei und </a:t>
              </a:r>
            </a:p>
            <a:p>
              <a:r>
                <a:rPr lang="de-DE" sz="700" dirty="0"/>
                <a:t>hole mir mein Geld zurück!</a:t>
              </a:r>
            </a:p>
          </p:txBody>
        </p:sp>
        <p:sp>
          <p:nvSpPr>
            <p:cNvPr id="32" name="Text 17">
              <a:extLst>
                <a:ext uri="{FF2B5EF4-FFF2-40B4-BE49-F238E27FC236}">
                  <a16:creationId xmlns:a16="http://schemas.microsoft.com/office/drawing/2014/main" id="{FDABE429-A181-FA18-C03D-54BAF3975FBC}"/>
                </a:ext>
              </a:extLst>
            </p:cNvPr>
            <p:cNvSpPr txBox="1">
              <a:spLocks noGrp="1" noRot="1" noMove="1" noResize="1" noEditPoints="1" noAdjustHandles="1" noChangeArrowheads="1" noChangeShapeType="1"/>
            </p:cNvSpPr>
            <p:nvPr/>
          </p:nvSpPr>
          <p:spPr>
            <a:xfrm>
              <a:off x="7624377" y="1652622"/>
              <a:ext cx="1243213" cy="565235"/>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Ach was soll‘s. Ich glaube </a:t>
              </a:r>
            </a:p>
            <a:p>
              <a:r>
                <a:rPr lang="de-DE" sz="700" dirty="0">
                  <a:solidFill>
                    <a:schemeClr val="tx2"/>
                  </a:solidFill>
                </a:rPr>
                <a:t>an die Aktie! Es ist auch </a:t>
              </a:r>
            </a:p>
            <a:p>
              <a:r>
                <a:rPr lang="de-DE" sz="700" dirty="0">
                  <a:solidFill>
                    <a:schemeClr val="tx2"/>
                  </a:solidFill>
                </a:rPr>
                <a:t>billiger als beim letzten Mal! </a:t>
              </a:r>
            </a:p>
            <a:p>
              <a:r>
                <a:rPr lang="de-DE" sz="700" b="1" dirty="0">
                  <a:solidFill>
                    <a:schemeClr val="tx2"/>
                  </a:solidFill>
                </a:rPr>
                <a:t>Jetzt kaufe ich nochmal!</a:t>
              </a:r>
            </a:p>
          </p:txBody>
        </p:sp>
        <p:sp>
          <p:nvSpPr>
            <p:cNvPr id="31" name="Text 16">
              <a:extLst>
                <a:ext uri="{FF2B5EF4-FFF2-40B4-BE49-F238E27FC236}">
                  <a16:creationId xmlns:a16="http://schemas.microsoft.com/office/drawing/2014/main" id="{697A3FD6-2A9A-26CF-D690-75167D89BB56}"/>
                </a:ext>
              </a:extLst>
            </p:cNvPr>
            <p:cNvSpPr txBox="1">
              <a:spLocks noGrp="1" noRot="1" noMove="1" noResize="1" noEditPoints="1" noAdjustHandles="1" noChangeArrowheads="1" noChangeShapeType="1"/>
            </p:cNvSpPr>
            <p:nvPr/>
          </p:nvSpPr>
          <p:spPr>
            <a:xfrm>
              <a:off x="6933214" y="2675605"/>
              <a:ext cx="922204" cy="465338"/>
            </a:xfrm>
            <a:prstGeom prst="rect">
              <a:avLst/>
            </a:prstGeom>
            <a:noFill/>
          </p:spPr>
          <p:txBody>
            <a:bodyPr wrap="square" lIns="0" tIns="0" rIns="0" bIns="0" rtlCol="0">
              <a:noAutofit/>
            </a:bodyPr>
            <a:lstStyle/>
            <a:p>
              <a:r>
                <a:rPr lang="de-DE" sz="700" b="1" dirty="0"/>
                <a:t>Optimismus</a:t>
              </a:r>
            </a:p>
            <a:p>
              <a:r>
                <a:rPr lang="de-DE" sz="700" dirty="0"/>
                <a:t>Ich wusste es schon</a:t>
              </a:r>
            </a:p>
            <a:p>
              <a:r>
                <a:rPr lang="de-DE" sz="700" dirty="0"/>
                <a:t>immer, dass der Kurs</a:t>
              </a:r>
            </a:p>
            <a:p>
              <a:r>
                <a:rPr lang="de-DE" sz="700" dirty="0"/>
                <a:t>steigen wird!</a:t>
              </a:r>
            </a:p>
          </p:txBody>
        </p:sp>
        <p:sp>
          <p:nvSpPr>
            <p:cNvPr id="26" name="Text 15">
              <a:extLst>
                <a:ext uri="{FF2B5EF4-FFF2-40B4-BE49-F238E27FC236}">
                  <a16:creationId xmlns:a16="http://schemas.microsoft.com/office/drawing/2014/main" id="{C087945E-8416-6220-F364-64F7AE77B2B8}"/>
                </a:ext>
              </a:extLst>
            </p:cNvPr>
            <p:cNvSpPr txBox="1">
              <a:spLocks noGrp="1" noRot="1" noMove="1" noResize="1" noEditPoints="1" noAdjustHandles="1" noChangeArrowheads="1" noChangeShapeType="1"/>
            </p:cNvSpPr>
            <p:nvPr/>
          </p:nvSpPr>
          <p:spPr>
            <a:xfrm>
              <a:off x="6092826" y="5409483"/>
              <a:ext cx="1539873" cy="345650"/>
            </a:xfrm>
            <a:prstGeom prst="rect">
              <a:avLst/>
            </a:prstGeom>
            <a:noFill/>
          </p:spPr>
          <p:txBody>
            <a:bodyPr wrap="square" lIns="0" tIns="0" rIns="0" bIns="0" rtlCol="0">
              <a:noAutofit/>
            </a:bodyPr>
            <a:lstStyle/>
            <a:p>
              <a:r>
                <a:rPr lang="de-DE" sz="700" b="1" dirty="0"/>
                <a:t>Selbstbestätigung</a:t>
              </a:r>
            </a:p>
            <a:p>
              <a:r>
                <a:rPr lang="de-DE" sz="700" dirty="0"/>
                <a:t>Kursrutsch, wie ich es gesagt habe! </a:t>
              </a:r>
            </a:p>
            <a:p>
              <a:r>
                <a:rPr lang="de-DE" sz="700" dirty="0"/>
                <a:t>Zum Glück habe ich verkauft!</a:t>
              </a:r>
            </a:p>
          </p:txBody>
        </p:sp>
        <p:sp>
          <p:nvSpPr>
            <p:cNvPr id="25" name="Text 14">
              <a:extLst>
                <a:ext uri="{FF2B5EF4-FFF2-40B4-BE49-F238E27FC236}">
                  <a16:creationId xmlns:a16="http://schemas.microsoft.com/office/drawing/2014/main" id="{113C2FE3-C40E-DFC7-FE8C-30454863B0A7}"/>
                </a:ext>
              </a:extLst>
            </p:cNvPr>
            <p:cNvSpPr txBox="1">
              <a:spLocks noGrp="1" noRot="1" noMove="1" noResize="1" noEditPoints="1" noAdjustHandles="1" noChangeArrowheads="1" noChangeShapeType="1"/>
            </p:cNvSpPr>
            <p:nvPr/>
          </p:nvSpPr>
          <p:spPr>
            <a:xfrm>
              <a:off x="6166910" y="4182082"/>
              <a:ext cx="862938" cy="345650"/>
            </a:xfrm>
            <a:prstGeom prst="rect">
              <a:avLst/>
            </a:prstGeom>
            <a:noFill/>
          </p:spPr>
          <p:txBody>
            <a:bodyPr wrap="square" lIns="0" tIns="0" rIns="0" bIns="0" rtlCol="0">
              <a:noAutofit/>
            </a:bodyPr>
            <a:lstStyle/>
            <a:p>
              <a:r>
                <a:rPr lang="de-DE" sz="700" b="1" dirty="0"/>
                <a:t>Wunsch-Prognose</a:t>
              </a:r>
            </a:p>
            <a:p>
              <a:r>
                <a:rPr lang="de-DE" sz="700" dirty="0"/>
                <a:t>Der Kurs wird wie-</a:t>
              </a:r>
            </a:p>
            <a:p>
              <a:r>
                <a:rPr lang="de-DE" sz="700" dirty="0"/>
                <a:t>der fallen!</a:t>
              </a:r>
            </a:p>
          </p:txBody>
        </p:sp>
        <p:sp>
          <p:nvSpPr>
            <p:cNvPr id="24" name="Text 13">
              <a:extLst>
                <a:ext uri="{FF2B5EF4-FFF2-40B4-BE49-F238E27FC236}">
                  <a16:creationId xmlns:a16="http://schemas.microsoft.com/office/drawing/2014/main" id="{B8BDBFA5-BB8E-3257-C500-0437AF00C4E5}"/>
                </a:ext>
              </a:extLst>
            </p:cNvPr>
            <p:cNvSpPr txBox="1">
              <a:spLocks noGrp="1" noRot="1" noMove="1" noResize="1" noEditPoints="1" noAdjustHandles="1" noChangeArrowheads="1" noChangeShapeType="1"/>
            </p:cNvSpPr>
            <p:nvPr/>
          </p:nvSpPr>
          <p:spPr>
            <a:xfrm>
              <a:off x="5406629" y="3418726"/>
              <a:ext cx="1190889" cy="585467"/>
            </a:xfrm>
            <a:prstGeom prst="rect">
              <a:avLst/>
            </a:prstGeom>
            <a:noFill/>
          </p:spPr>
          <p:txBody>
            <a:bodyPr wrap="square" lIns="0" tIns="0" rIns="0" bIns="0" rtlCol="0">
              <a:noAutofit/>
            </a:bodyPr>
            <a:lstStyle/>
            <a:p>
              <a:r>
                <a:rPr lang="de-DE" sz="700" b="1" dirty="0"/>
                <a:t>Wut &amp; Ärger</a:t>
              </a:r>
            </a:p>
            <a:p>
              <a:r>
                <a:rPr lang="de-DE" sz="700" dirty="0"/>
                <a:t>Das ist doch </a:t>
              </a:r>
              <a:r>
                <a:rPr lang="de-DE" sz="700" dirty="0" err="1"/>
                <a:t>Kursmani</a:t>
              </a:r>
              <a:r>
                <a:rPr lang="de-DE" sz="700" dirty="0"/>
                <a:t>-</a:t>
              </a:r>
            </a:p>
            <a:p>
              <a:r>
                <a:rPr lang="de-DE" sz="700" dirty="0" err="1"/>
                <a:t>pulation</a:t>
              </a:r>
              <a:r>
                <a:rPr lang="de-DE" sz="700" dirty="0"/>
                <a:t>! Warum sagt die </a:t>
              </a:r>
            </a:p>
            <a:p>
              <a:r>
                <a:rPr lang="de-DE" sz="700" dirty="0"/>
                <a:t>Wertpapierbehörde nichts </a:t>
              </a:r>
            </a:p>
            <a:p>
              <a:r>
                <a:rPr lang="de-DE" sz="700" dirty="0"/>
                <a:t>dazu?!</a:t>
              </a:r>
            </a:p>
          </p:txBody>
        </p:sp>
        <p:sp>
          <p:nvSpPr>
            <p:cNvPr id="19" name="Text 12">
              <a:extLst>
                <a:ext uri="{FF2B5EF4-FFF2-40B4-BE49-F238E27FC236}">
                  <a16:creationId xmlns:a16="http://schemas.microsoft.com/office/drawing/2014/main" id="{E7899DDF-734E-2DE3-17BF-B4140663C426}"/>
                </a:ext>
              </a:extLst>
            </p:cNvPr>
            <p:cNvSpPr txBox="1">
              <a:spLocks noGrp="1" noRot="1" noMove="1" noResize="1" noEditPoints="1" noAdjustHandles="1" noChangeArrowheads="1" noChangeShapeType="1"/>
            </p:cNvSpPr>
            <p:nvPr/>
          </p:nvSpPr>
          <p:spPr>
            <a:xfrm>
              <a:off x="4760649" y="2590321"/>
              <a:ext cx="1314714" cy="650516"/>
            </a:xfrm>
            <a:prstGeom prst="rect">
              <a:avLst/>
            </a:prstGeom>
            <a:noFill/>
          </p:spPr>
          <p:txBody>
            <a:bodyPr wrap="square" lIns="0" tIns="0" rIns="0" bIns="0" rtlCol="0">
              <a:noAutofit/>
            </a:bodyPr>
            <a:lstStyle/>
            <a:p>
              <a:r>
                <a:rPr lang="de-DE" sz="700" b="1" dirty="0"/>
                <a:t>Wunschdenken</a:t>
              </a:r>
            </a:p>
            <a:p>
              <a:r>
                <a:rPr lang="de-DE" sz="700" dirty="0"/>
                <a:t>Doch eine mittlere Korrektur! </a:t>
              </a:r>
            </a:p>
            <a:p>
              <a:r>
                <a:rPr lang="de-DE" sz="700" dirty="0"/>
                <a:t>Macht nichts – ich kaufe noch </a:t>
              </a:r>
            </a:p>
            <a:p>
              <a:r>
                <a:rPr lang="de-DE" sz="700" dirty="0"/>
                <a:t>einmal günstig nach und </a:t>
              </a:r>
              <a:r>
                <a:rPr lang="de-DE" sz="700" dirty="0" err="1"/>
                <a:t>ver</a:t>
              </a:r>
              <a:r>
                <a:rPr lang="de-DE" sz="700" dirty="0"/>
                <a:t>-</a:t>
              </a:r>
            </a:p>
            <a:p>
              <a:r>
                <a:rPr lang="de-DE" sz="700" dirty="0"/>
                <a:t>dopple meine Position!</a:t>
              </a:r>
            </a:p>
          </p:txBody>
        </p:sp>
        <p:sp>
          <p:nvSpPr>
            <p:cNvPr id="16" name="Text 11">
              <a:extLst>
                <a:ext uri="{FF2B5EF4-FFF2-40B4-BE49-F238E27FC236}">
                  <a16:creationId xmlns:a16="http://schemas.microsoft.com/office/drawing/2014/main" id="{2F869ADE-7412-5ACB-AF79-E8BFD7094F81}"/>
                </a:ext>
              </a:extLst>
            </p:cNvPr>
            <p:cNvSpPr txBox="1">
              <a:spLocks noGrp="1" noRot="1" noMove="1" noResize="1" noEditPoints="1" noAdjustHandles="1" noChangeArrowheads="1" noChangeShapeType="1"/>
            </p:cNvSpPr>
            <p:nvPr/>
          </p:nvSpPr>
          <p:spPr>
            <a:xfrm>
              <a:off x="4642377" y="1733957"/>
              <a:ext cx="1769534" cy="597390"/>
            </a:xfrm>
            <a:prstGeom prst="rect">
              <a:avLst/>
            </a:prstGeom>
            <a:noFill/>
          </p:spPr>
          <p:txBody>
            <a:bodyPr wrap="square" lIns="0" tIns="0" rIns="0" bIns="0" rtlCol="0">
              <a:noAutofit/>
            </a:bodyPr>
            <a:lstStyle/>
            <a:p>
              <a:r>
                <a:rPr lang="de-DE" sz="700" b="1" dirty="0"/>
                <a:t>Selbstgefälligkeit</a:t>
              </a:r>
            </a:p>
            <a:p>
              <a:r>
                <a:rPr lang="de-DE" sz="700" dirty="0"/>
                <a:t>Ärgerlich! Jetzt kommt eine kleine </a:t>
              </a:r>
            </a:p>
            <a:p>
              <a:r>
                <a:rPr lang="de-DE" sz="700" dirty="0"/>
                <a:t>Korrektur! Doch ich werde diese nutzen </a:t>
              </a:r>
            </a:p>
            <a:p>
              <a:r>
                <a:rPr lang="de-DE" sz="700" dirty="0"/>
                <a:t>und Aktien nachkaufen, um meine </a:t>
              </a:r>
            </a:p>
            <a:p>
              <a:r>
                <a:rPr lang="de-DE" sz="700" dirty="0"/>
                <a:t>Position auszubauen!</a:t>
              </a:r>
            </a:p>
          </p:txBody>
        </p:sp>
        <p:sp>
          <p:nvSpPr>
            <p:cNvPr id="23" name="Text 10">
              <a:extLst>
                <a:ext uri="{FF2B5EF4-FFF2-40B4-BE49-F238E27FC236}">
                  <a16:creationId xmlns:a16="http://schemas.microsoft.com/office/drawing/2014/main" id="{9C86FC84-A4F5-47CA-B937-BE57C05D0DB4}"/>
                </a:ext>
              </a:extLst>
            </p:cNvPr>
            <p:cNvSpPr txBox="1">
              <a:spLocks noGrp="1" noRot="1" noMove="1" noResize="1" noEditPoints="1" noAdjustHandles="1" noChangeArrowheads="1" noChangeShapeType="1"/>
            </p:cNvSpPr>
            <p:nvPr/>
          </p:nvSpPr>
          <p:spPr>
            <a:xfrm>
              <a:off x="4018508" y="4868557"/>
              <a:ext cx="1564740" cy="662283"/>
            </a:xfrm>
            <a:prstGeom prst="rect">
              <a:avLst/>
            </a:prstGeom>
            <a:noFill/>
          </p:spPr>
          <p:txBody>
            <a:bodyPr wrap="square" lIns="0" tIns="0" rIns="0" bIns="0" rtlCol="0">
              <a:noAutofit/>
            </a:bodyPr>
            <a:lstStyle/>
            <a:p>
              <a:r>
                <a:rPr lang="de-DE" sz="700" b="1" dirty="0">
                  <a:solidFill>
                    <a:srgbClr val="A91A4D"/>
                  </a:solidFill>
                </a:rPr>
                <a:t>Kapitulation</a:t>
              </a:r>
            </a:p>
            <a:p>
              <a:r>
                <a:rPr lang="de-DE" sz="700" dirty="0">
                  <a:solidFill>
                    <a:srgbClr val="A91A4D"/>
                  </a:solidFill>
                </a:rPr>
                <a:t>Es reicht! Ich rette wenigstens noch </a:t>
              </a:r>
            </a:p>
            <a:p>
              <a:r>
                <a:rPr lang="de-DE" sz="700" dirty="0">
                  <a:solidFill>
                    <a:srgbClr val="A91A4D"/>
                  </a:solidFill>
                </a:rPr>
                <a:t>ein paar Euro und vermeide den </a:t>
              </a:r>
            </a:p>
            <a:p>
              <a:r>
                <a:rPr lang="de-DE" sz="700" dirty="0">
                  <a:solidFill>
                    <a:srgbClr val="A91A4D"/>
                  </a:solidFill>
                </a:rPr>
                <a:t>Totalverlust. Ich rühre in Zukunft </a:t>
              </a:r>
            </a:p>
            <a:p>
              <a:r>
                <a:rPr lang="de-DE" sz="700" dirty="0">
                  <a:solidFill>
                    <a:srgbClr val="A91A4D"/>
                  </a:solidFill>
                </a:rPr>
                <a:t>keine Aktie mehr an! Die Börse ist </a:t>
              </a:r>
            </a:p>
            <a:p>
              <a:r>
                <a:rPr lang="de-DE" sz="700" dirty="0">
                  <a:solidFill>
                    <a:srgbClr val="A91A4D"/>
                  </a:solidFill>
                </a:rPr>
                <a:t>nicht für mich! </a:t>
              </a:r>
              <a:r>
                <a:rPr lang="de-DE" sz="700" b="1" dirty="0">
                  <a:solidFill>
                    <a:srgbClr val="A91A4D"/>
                  </a:solidFill>
                </a:rPr>
                <a:t>Ich verkaufe jetzt!</a:t>
              </a:r>
            </a:p>
          </p:txBody>
        </p:sp>
        <p:sp>
          <p:nvSpPr>
            <p:cNvPr id="22" name="Text 9">
              <a:extLst>
                <a:ext uri="{FF2B5EF4-FFF2-40B4-BE49-F238E27FC236}">
                  <a16:creationId xmlns:a16="http://schemas.microsoft.com/office/drawing/2014/main" id="{F6EE7378-96EE-F5A4-3937-13EC1F373584}"/>
                </a:ext>
              </a:extLst>
            </p:cNvPr>
            <p:cNvSpPr txBox="1">
              <a:spLocks noGrp="1" noRot="1" noMove="1" noResize="1" noEditPoints="1" noAdjustHandles="1" noChangeArrowheads="1" noChangeShapeType="1"/>
            </p:cNvSpPr>
            <p:nvPr/>
          </p:nvSpPr>
          <p:spPr>
            <a:xfrm>
              <a:off x="3924835" y="4282295"/>
              <a:ext cx="1390121" cy="479635"/>
            </a:xfrm>
            <a:prstGeom prst="rect">
              <a:avLst/>
            </a:prstGeom>
            <a:noFill/>
          </p:spPr>
          <p:txBody>
            <a:bodyPr wrap="square" lIns="0" tIns="0" rIns="0" bIns="0" rtlCol="0">
              <a:noAutofit/>
            </a:bodyPr>
            <a:lstStyle/>
            <a:p>
              <a:r>
                <a:rPr lang="de-DE" sz="700" b="1" dirty="0"/>
                <a:t>Panik</a:t>
              </a:r>
            </a:p>
            <a:p>
              <a:r>
                <a:rPr lang="de-DE" sz="700" dirty="0"/>
                <a:t>Verdammt! Alle verkaufen! Ich </a:t>
              </a:r>
            </a:p>
            <a:p>
              <a:r>
                <a:rPr lang="de-DE" sz="700" dirty="0"/>
                <a:t>muss auch raus! Ich warte auf </a:t>
              </a:r>
            </a:p>
            <a:p>
              <a:r>
                <a:rPr lang="de-DE" sz="700" dirty="0"/>
                <a:t>eine kleine Korrektur nach oben!</a:t>
              </a:r>
            </a:p>
          </p:txBody>
        </p:sp>
        <p:sp>
          <p:nvSpPr>
            <p:cNvPr id="21" name="Text 8">
              <a:extLst>
                <a:ext uri="{FF2B5EF4-FFF2-40B4-BE49-F238E27FC236}">
                  <a16:creationId xmlns:a16="http://schemas.microsoft.com/office/drawing/2014/main" id="{C5F03C13-2961-A03F-32CB-D1150CAED35F}"/>
                </a:ext>
              </a:extLst>
            </p:cNvPr>
            <p:cNvSpPr txBox="1">
              <a:spLocks noGrp="1" noRot="1" noMove="1" noResize="1" noEditPoints="1" noAdjustHandles="1" noChangeArrowheads="1" noChangeShapeType="1"/>
            </p:cNvSpPr>
            <p:nvPr/>
          </p:nvSpPr>
          <p:spPr>
            <a:xfrm>
              <a:off x="3423179" y="3563423"/>
              <a:ext cx="1304396" cy="563243"/>
            </a:xfrm>
            <a:prstGeom prst="rect">
              <a:avLst/>
            </a:prstGeom>
            <a:noFill/>
          </p:spPr>
          <p:txBody>
            <a:bodyPr wrap="square" lIns="0" tIns="0" rIns="0" bIns="0" rtlCol="0">
              <a:noAutofit/>
            </a:bodyPr>
            <a:lstStyle/>
            <a:p>
              <a:r>
                <a:rPr lang="de-DE" sz="700" b="1" dirty="0"/>
                <a:t>Angst</a:t>
              </a:r>
            </a:p>
            <a:p>
              <a:r>
                <a:rPr lang="de-DE" sz="700" dirty="0"/>
                <a:t>Ist das noch normal? Der Kurs </a:t>
              </a:r>
            </a:p>
            <a:p>
              <a:r>
                <a:rPr lang="de-DE" sz="700" dirty="0"/>
                <a:t>hat sich schon halbiert! Tiefer </a:t>
              </a:r>
            </a:p>
            <a:p>
              <a:r>
                <a:rPr lang="de-DE" sz="700" dirty="0"/>
                <a:t>kann es doch nicht gehen! Wo </a:t>
              </a:r>
            </a:p>
            <a:p>
              <a:r>
                <a:rPr lang="de-DE" sz="700" dirty="0"/>
                <a:t>bleibt die Gegenbewegung?!</a:t>
              </a:r>
            </a:p>
          </p:txBody>
        </p:sp>
        <p:sp>
          <p:nvSpPr>
            <p:cNvPr id="20" name="Text 7">
              <a:extLst>
                <a:ext uri="{FF2B5EF4-FFF2-40B4-BE49-F238E27FC236}">
                  <a16:creationId xmlns:a16="http://schemas.microsoft.com/office/drawing/2014/main" id="{B702F0D8-6889-A0BB-9882-A7E1508711A2}"/>
                </a:ext>
              </a:extLst>
            </p:cNvPr>
            <p:cNvSpPr txBox="1">
              <a:spLocks noGrp="1" noRot="1" noMove="1" noResize="1" noEditPoints="1" noAdjustHandles="1" noChangeArrowheads="1" noChangeShapeType="1"/>
            </p:cNvSpPr>
            <p:nvPr/>
          </p:nvSpPr>
          <p:spPr>
            <a:xfrm>
              <a:off x="3389578" y="3049907"/>
              <a:ext cx="1071033" cy="479947"/>
            </a:xfrm>
            <a:prstGeom prst="rect">
              <a:avLst/>
            </a:prstGeom>
            <a:noFill/>
          </p:spPr>
          <p:txBody>
            <a:bodyPr wrap="square" lIns="0" tIns="0" rIns="0" bIns="0" rtlCol="0">
              <a:noAutofit/>
            </a:bodyPr>
            <a:lstStyle/>
            <a:p>
              <a:r>
                <a:rPr lang="de-DE" sz="700" b="1" dirty="0"/>
                <a:t>Hoffnung</a:t>
              </a:r>
            </a:p>
            <a:p>
              <a:r>
                <a:rPr lang="de-DE" sz="700" dirty="0"/>
                <a:t>Mann o Mann! Wenn </a:t>
              </a:r>
            </a:p>
            <a:p>
              <a:r>
                <a:rPr lang="de-DE" sz="700" dirty="0"/>
                <a:t>der Kurs wieder steigt, </a:t>
              </a:r>
            </a:p>
            <a:p>
              <a:r>
                <a:rPr lang="de-DE" sz="700" dirty="0"/>
                <a:t>verkaufe ich!</a:t>
              </a:r>
            </a:p>
          </p:txBody>
        </p:sp>
        <p:sp>
          <p:nvSpPr>
            <p:cNvPr id="15" name="Text 6">
              <a:extLst>
                <a:ext uri="{FF2B5EF4-FFF2-40B4-BE49-F238E27FC236}">
                  <a16:creationId xmlns:a16="http://schemas.microsoft.com/office/drawing/2014/main" id="{E0672AEB-03BB-B980-2914-BD1F2D8BB8AA}"/>
                </a:ext>
              </a:extLst>
            </p:cNvPr>
            <p:cNvSpPr txBox="1">
              <a:spLocks noGrp="1" noRot="1" noMove="1" noResize="1" noEditPoints="1" noAdjustHandles="1" noChangeArrowheads="1" noChangeShapeType="1"/>
            </p:cNvSpPr>
            <p:nvPr/>
          </p:nvSpPr>
          <p:spPr>
            <a:xfrm>
              <a:off x="3248555" y="2435632"/>
              <a:ext cx="1071033" cy="479947"/>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Ich warte nicht länger –  </a:t>
              </a:r>
            </a:p>
            <a:p>
              <a:r>
                <a:rPr lang="de-DE" sz="700" dirty="0">
                  <a:solidFill>
                    <a:schemeClr val="tx2"/>
                  </a:solidFill>
                </a:rPr>
                <a:t>die Rally ist im vollem </a:t>
              </a:r>
            </a:p>
            <a:p>
              <a:r>
                <a:rPr lang="de-DE" sz="700" dirty="0">
                  <a:solidFill>
                    <a:schemeClr val="tx2"/>
                  </a:solidFill>
                </a:rPr>
                <a:t>Gange! </a:t>
              </a:r>
              <a:r>
                <a:rPr lang="de-DE" sz="700" b="1" dirty="0">
                  <a:solidFill>
                    <a:schemeClr val="tx2"/>
                  </a:solidFill>
                </a:rPr>
                <a:t>Ich kaufe jetzt!</a:t>
              </a:r>
            </a:p>
          </p:txBody>
        </p:sp>
        <p:sp>
          <p:nvSpPr>
            <p:cNvPr id="14" name="Text 5">
              <a:extLst>
                <a:ext uri="{FF2B5EF4-FFF2-40B4-BE49-F238E27FC236}">
                  <a16:creationId xmlns:a16="http://schemas.microsoft.com/office/drawing/2014/main" id="{1AD76DCC-17D3-0526-76BB-B614CD0A15C2}"/>
                </a:ext>
              </a:extLst>
            </p:cNvPr>
            <p:cNvSpPr txBox="1">
              <a:spLocks noGrp="1" noRot="1" noMove="1" noResize="1" noEditPoints="1" noAdjustHandles="1" noChangeArrowheads="1" noChangeShapeType="1"/>
            </p:cNvSpPr>
            <p:nvPr/>
          </p:nvSpPr>
          <p:spPr>
            <a:xfrm>
              <a:off x="3671888" y="1205849"/>
              <a:ext cx="1769534" cy="479947"/>
            </a:xfrm>
            <a:prstGeom prst="rect">
              <a:avLst/>
            </a:prstGeom>
            <a:noFill/>
          </p:spPr>
          <p:txBody>
            <a:bodyPr wrap="square" lIns="0" tIns="0" rIns="0" bIns="0" rtlCol="0">
              <a:noAutofit/>
            </a:bodyPr>
            <a:lstStyle/>
            <a:p>
              <a:r>
                <a:rPr lang="de-DE" sz="700" b="1" dirty="0"/>
                <a:t>Euphorie</a:t>
              </a:r>
            </a:p>
            <a:p>
              <a:r>
                <a:rPr lang="de-DE" sz="700" dirty="0"/>
                <a:t>Der Kurs steigt weiter! Gott sei Dank </a:t>
              </a:r>
            </a:p>
            <a:p>
              <a:r>
                <a:rPr lang="de-DE" sz="700" dirty="0"/>
                <a:t>habe ich nicht länger gewartet! Ich bin</a:t>
              </a:r>
            </a:p>
            <a:p>
              <a:r>
                <a:rPr lang="de-DE" sz="700" dirty="0"/>
                <a:t>dabei und werde schnell reich!</a:t>
              </a:r>
            </a:p>
          </p:txBody>
        </p:sp>
        <p:sp>
          <p:nvSpPr>
            <p:cNvPr id="12" name="Text 4">
              <a:extLst>
                <a:ext uri="{FF2B5EF4-FFF2-40B4-BE49-F238E27FC236}">
                  <a16:creationId xmlns:a16="http://schemas.microsoft.com/office/drawing/2014/main" id="{4FACC1AE-4E22-373B-8E7E-8C780E8A0B18}"/>
                </a:ext>
              </a:extLst>
            </p:cNvPr>
            <p:cNvSpPr txBox="1">
              <a:spLocks noGrp="1" noRot="1" noMove="1" noResize="1" noEditPoints="1" noAdjustHandles="1" noChangeArrowheads="1" noChangeShapeType="1"/>
            </p:cNvSpPr>
            <p:nvPr/>
          </p:nvSpPr>
          <p:spPr>
            <a:xfrm>
              <a:off x="1968764" y="3103884"/>
              <a:ext cx="1007270" cy="585467"/>
            </a:xfrm>
            <a:prstGeom prst="rect">
              <a:avLst/>
            </a:prstGeom>
            <a:noFill/>
          </p:spPr>
          <p:txBody>
            <a:bodyPr wrap="square" lIns="0" tIns="0" rIns="0" bIns="0" rtlCol="0">
              <a:noAutofit/>
            </a:bodyPr>
            <a:lstStyle/>
            <a:p>
              <a:r>
                <a:rPr lang="de-DE" sz="700" b="1" dirty="0"/>
                <a:t>Optimismus</a:t>
              </a:r>
            </a:p>
            <a:p>
              <a:r>
                <a:rPr lang="de-DE" sz="700" dirty="0"/>
                <a:t>Sehr gut! Der positive </a:t>
              </a:r>
            </a:p>
            <a:p>
              <a:r>
                <a:rPr lang="de-DE" sz="700" dirty="0"/>
                <a:t>Trend hält an, bei der </a:t>
              </a:r>
            </a:p>
            <a:p>
              <a:r>
                <a:rPr lang="de-DE" sz="700" dirty="0"/>
                <a:t>nächsten Kurs-</a:t>
              </a:r>
              <a:r>
                <a:rPr lang="de-DE" sz="700" dirty="0" err="1"/>
                <a:t>Konsoli</a:t>
              </a:r>
              <a:r>
                <a:rPr lang="de-DE" sz="700" dirty="0"/>
                <a:t>-</a:t>
              </a:r>
            </a:p>
            <a:p>
              <a:r>
                <a:rPr lang="de-DE" sz="700" dirty="0" err="1"/>
                <a:t>dierung</a:t>
              </a:r>
              <a:r>
                <a:rPr lang="de-DE" sz="700" dirty="0"/>
                <a:t> kaufe ich!</a:t>
              </a:r>
            </a:p>
          </p:txBody>
        </p:sp>
        <p:sp>
          <p:nvSpPr>
            <p:cNvPr id="13" name="Text 3">
              <a:extLst>
                <a:ext uri="{FF2B5EF4-FFF2-40B4-BE49-F238E27FC236}">
                  <a16:creationId xmlns:a16="http://schemas.microsoft.com/office/drawing/2014/main" id="{3277DEEB-AC62-399D-EF55-D21FBA8EB7B3}"/>
                </a:ext>
              </a:extLst>
            </p:cNvPr>
            <p:cNvSpPr txBox="1">
              <a:spLocks noGrp="1" noRot="1" noMove="1" noResize="1" noEditPoints="1" noAdjustHandles="1" noChangeArrowheads="1" noChangeShapeType="1"/>
            </p:cNvSpPr>
            <p:nvPr/>
          </p:nvSpPr>
          <p:spPr>
            <a:xfrm>
              <a:off x="1621630" y="1400221"/>
              <a:ext cx="1153319" cy="780876"/>
            </a:xfrm>
            <a:prstGeom prst="rect">
              <a:avLst/>
            </a:prstGeom>
            <a:noFill/>
          </p:spPr>
          <p:txBody>
            <a:bodyPr wrap="square" lIns="0" tIns="0" rIns="0" bIns="0" rtlCol="0">
              <a:noAutofit/>
            </a:bodyPr>
            <a:lstStyle/>
            <a:p>
              <a:r>
                <a:rPr lang="de-DE" sz="700" b="1" dirty="0"/>
                <a:t>Jagdfieber</a:t>
              </a:r>
            </a:p>
            <a:p>
              <a:r>
                <a:rPr lang="de-DE" sz="700" dirty="0"/>
                <a:t>Verdammt! Ich habe die</a:t>
              </a:r>
            </a:p>
            <a:p>
              <a:r>
                <a:rPr lang="de-DE" sz="700" dirty="0"/>
                <a:t>letzte Konsolidierung </a:t>
              </a:r>
            </a:p>
            <a:p>
              <a:r>
                <a:rPr lang="de-DE" sz="700" dirty="0"/>
                <a:t>verpasst! Ich muss beim</a:t>
              </a:r>
            </a:p>
            <a:p>
              <a:r>
                <a:rPr lang="de-DE" sz="700" dirty="0"/>
                <a:t>nächsten Rücksetzer </a:t>
              </a:r>
            </a:p>
            <a:p>
              <a:r>
                <a:rPr lang="de-DE" sz="700" dirty="0"/>
                <a:t>kaufen, um vom positiven</a:t>
              </a:r>
            </a:p>
            <a:p>
              <a:r>
                <a:rPr lang="de-DE" sz="700" dirty="0"/>
                <a:t>Trend zu profitieren!</a:t>
              </a:r>
            </a:p>
          </p:txBody>
        </p:sp>
        <p:sp>
          <p:nvSpPr>
            <p:cNvPr id="11" name="Text 2">
              <a:extLst>
                <a:ext uri="{FF2B5EF4-FFF2-40B4-BE49-F238E27FC236}">
                  <a16:creationId xmlns:a16="http://schemas.microsoft.com/office/drawing/2014/main" id="{D705AD59-9CE7-CA47-59D0-91AB16F36D40}"/>
                </a:ext>
              </a:extLst>
            </p:cNvPr>
            <p:cNvSpPr txBox="1">
              <a:spLocks noGrp="1" noRot="1" noMove="1" noResize="1" noEditPoints="1" noAdjustHandles="1" noChangeArrowheads="1" noChangeShapeType="1"/>
            </p:cNvSpPr>
            <p:nvPr/>
          </p:nvSpPr>
          <p:spPr>
            <a:xfrm>
              <a:off x="794013" y="3618234"/>
              <a:ext cx="1087703" cy="585467"/>
            </a:xfrm>
            <a:prstGeom prst="rect">
              <a:avLst/>
            </a:prstGeom>
            <a:noFill/>
          </p:spPr>
          <p:txBody>
            <a:bodyPr wrap="square" lIns="0" tIns="0" rIns="0" bIns="0" rtlCol="0">
              <a:noAutofit/>
            </a:bodyPr>
            <a:lstStyle/>
            <a:p>
              <a:r>
                <a:rPr lang="de-DE" sz="700" b="1" dirty="0"/>
                <a:t>Zweifel</a:t>
              </a:r>
            </a:p>
            <a:p>
              <a:r>
                <a:rPr lang="de-DE" sz="700" dirty="0"/>
                <a:t>Ach was. Die Rally wird </a:t>
              </a:r>
            </a:p>
            <a:p>
              <a:r>
                <a:rPr lang="de-DE" sz="700" dirty="0"/>
                <a:t>nur kurz sein, wie jede </a:t>
              </a:r>
            </a:p>
            <a:p>
              <a:r>
                <a:rPr lang="de-DE" sz="700" dirty="0"/>
                <a:t>andere!</a:t>
              </a:r>
            </a:p>
          </p:txBody>
        </p:sp>
        <p:sp>
          <p:nvSpPr>
            <p:cNvPr id="10" name="Text 1">
              <a:extLst>
                <a:ext uri="{FF2B5EF4-FFF2-40B4-BE49-F238E27FC236}">
                  <a16:creationId xmlns:a16="http://schemas.microsoft.com/office/drawing/2014/main" id="{37AFCE65-6FA3-C2E9-CC88-B4260AAF8061}"/>
                </a:ext>
              </a:extLst>
            </p:cNvPr>
            <p:cNvSpPr txBox="1">
              <a:spLocks noGrp="1" noRot="1" noMove="1" noResize="1" noEditPoints="1" noAdjustHandles="1" noChangeArrowheads="1" noChangeShapeType="1"/>
            </p:cNvSpPr>
            <p:nvPr/>
          </p:nvSpPr>
          <p:spPr>
            <a:xfrm>
              <a:off x="358775" y="1998654"/>
              <a:ext cx="954088" cy="646331"/>
            </a:xfrm>
            <a:prstGeom prst="rect">
              <a:avLst/>
            </a:prstGeom>
            <a:noFill/>
          </p:spPr>
          <p:txBody>
            <a:bodyPr wrap="square" lIns="0" tIns="0" rIns="0" bIns="0" rtlCol="0">
              <a:noAutofit/>
            </a:bodyPr>
            <a:lstStyle/>
            <a:p>
              <a:r>
                <a:rPr lang="de-DE" sz="700" b="1" dirty="0"/>
                <a:t>Hoffnung</a:t>
              </a:r>
            </a:p>
            <a:p>
              <a:r>
                <a:rPr lang="de-DE" sz="700" dirty="0"/>
                <a:t>Doch interessant! Der </a:t>
              </a:r>
            </a:p>
            <a:p>
              <a:r>
                <a:rPr lang="de-DE" sz="700" dirty="0"/>
                <a:t>Aktienkurs steigt  </a:t>
              </a:r>
            </a:p>
            <a:p>
              <a:r>
                <a:rPr lang="de-DE" sz="700" dirty="0"/>
                <a:t>weiter – ich </a:t>
              </a:r>
              <a:r>
                <a:rPr lang="de-DE" sz="700" dirty="0" err="1"/>
                <a:t>beobach</a:t>
              </a:r>
              <a:r>
                <a:rPr lang="de-DE" sz="700" dirty="0"/>
                <a:t>-</a:t>
              </a:r>
            </a:p>
            <a:p>
              <a:r>
                <a:rPr lang="de-DE" sz="700" dirty="0" err="1"/>
                <a:t>te</a:t>
              </a:r>
              <a:r>
                <a:rPr lang="de-DE" sz="700" dirty="0"/>
                <a:t> jetzt den Markt und </a:t>
              </a:r>
            </a:p>
            <a:p>
              <a:r>
                <a:rPr lang="de-DE" sz="700" dirty="0"/>
                <a:t>die Aktie!</a:t>
              </a:r>
            </a:p>
          </p:txBody>
        </p:sp>
      </p:grpSp>
      <p:sp>
        <p:nvSpPr>
          <p:cNvPr id="4" name="Titel">
            <a:extLst>
              <a:ext uri="{FF2B5EF4-FFF2-40B4-BE49-F238E27FC236}">
                <a16:creationId xmlns:a16="http://schemas.microsoft.com/office/drawing/2014/main" id="{FE3CCEAB-2675-9D1F-F2D8-3D54565B46ED}"/>
              </a:ext>
            </a:extLst>
          </p:cNvPr>
          <p:cNvSpPr>
            <a:spLocks noGrp="1" noRot="1" noMove="1" noResize="1" noEditPoints="1" noAdjustHandles="1" noChangeArrowheads="1" noChangeShapeType="1"/>
          </p:cNvSpPr>
          <p:nvPr>
            <p:ph type="title"/>
          </p:nvPr>
        </p:nvSpPr>
        <p:spPr/>
        <p:txBody>
          <a:bodyPr/>
          <a:lstStyle/>
          <a:p>
            <a:r>
              <a:rPr lang="de-DE" dirty="0"/>
              <a:t>Die Fallstricke des typischen Investors</a:t>
            </a:r>
          </a:p>
        </p:txBody>
      </p:sp>
    </p:spTree>
    <p:extLst>
      <p:ext uri="{BB962C8B-B14F-4D97-AF65-F5344CB8AC3E}">
        <p14:creationId xmlns:p14="http://schemas.microsoft.com/office/powerpoint/2010/main" val="19163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p:cNvGraphicFramePr>
          <p:nvPr>
            <p:ph idx="1"/>
          </p:nvPr>
        </p:nvGraphicFramePr>
        <p:xfrm>
          <a:off x="304800" y="1041400"/>
          <a:ext cx="9810752"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6</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PERFORMANCE P. A. – INVESTIERT BLEIBEN LOHNT SICH</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a:t>Durchhalten zahlt sich aus</a:t>
            </a:r>
            <a:endParaRPr lang="de-DE" dirty="0"/>
          </a:p>
        </p:txBody>
      </p:sp>
    </p:spTree>
    <p:extLst>
      <p:ext uri="{BB962C8B-B14F-4D97-AF65-F5344CB8AC3E}">
        <p14:creationId xmlns:p14="http://schemas.microsoft.com/office/powerpoint/2010/main" val="2025033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358775" y="1041400"/>
          <a:ext cx="9756775"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7</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Zugrundeliegender Zeitraum: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BESTE/SCHLECHTESTE JAHRESPERFORMANCE IN ROLLIERENDEN ZEITRÄUMEN DES MSCI WORLD INDEXES</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Gute Jahre überwiegen</a:t>
            </a:r>
          </a:p>
        </p:txBody>
      </p:sp>
    </p:spTree>
    <p:extLst>
      <p:ext uri="{BB962C8B-B14F-4D97-AF65-F5344CB8AC3E}">
        <p14:creationId xmlns:p14="http://schemas.microsoft.com/office/powerpoint/2010/main" val="351411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298450" y="1041400"/>
          <a:ext cx="9817101"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8</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 name="Linie oben">
            <a:extLst>
              <a:ext uri="{FF2B5EF4-FFF2-40B4-BE49-F238E27FC236}">
                <a16:creationId xmlns:a16="http://schemas.microsoft.com/office/drawing/2014/main" id="{E3ECABB8-F711-1800-A77C-F1C075675CEE}"/>
              </a:ext>
            </a:extLst>
          </p:cNvPr>
          <p:cNvCxnSpPr>
            <a:cxnSpLocks noGrp="1" noRot="1" noMove="1" noResize="1" noEditPoints="1" noAdjustHandles="1" noChangeArrowheads="1" noChangeShapeType="1"/>
          </p:cNvCxnSpPr>
          <p:nvPr/>
        </p:nvCxnSpPr>
        <p:spPr>
          <a:xfrm>
            <a:off x="358775" y="1041400"/>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 Zugrundeliegender Zeitraum: 1980 bis 2023 | Index: MSCI World | Stand: Dezember 2023 | Quelle: Bloomberg</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Krise als Chance</a:t>
            </a:r>
          </a:p>
        </p:txBody>
      </p:sp>
    </p:spTree>
    <p:extLst>
      <p:ext uri="{BB962C8B-B14F-4D97-AF65-F5344CB8AC3E}">
        <p14:creationId xmlns:p14="http://schemas.microsoft.com/office/powerpoint/2010/main" val="3527589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D39924-74B5-00FD-A70C-790E06EB5CE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9</a:t>
            </a:fld>
            <a:endParaRPr lang="de-DE"/>
          </a:p>
        </p:txBody>
      </p:sp>
      <p:cxnSp>
        <p:nvCxnSpPr>
          <p:cNvPr id="19" name="Linie unten">
            <a:extLst>
              <a:ext uri="{FF2B5EF4-FFF2-40B4-BE49-F238E27FC236}">
                <a16:creationId xmlns:a16="http://schemas.microsoft.com/office/drawing/2014/main" id="{095B3FDF-72A7-3FE2-8A64-19D9330F1672}"/>
              </a:ext>
            </a:extLst>
          </p:cNvPr>
          <p:cNvCxnSpPr>
            <a:cxnSpLocks noGrp="1" noRot="1" noMove="1" noResize="1" noEditPoints="1" noAdjustHandles="1" noChangeArrowheads="1" noChangeShapeType="1"/>
          </p:cNvCxnSpPr>
          <p:nvPr/>
        </p:nvCxnSpPr>
        <p:spPr>
          <a:xfrm>
            <a:off x="358775" y="4697841"/>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5" name="Orgamigramm">
            <a:extLst>
              <a:ext uri="{FF2B5EF4-FFF2-40B4-BE49-F238E27FC236}">
                <a16:creationId xmlns:a16="http://schemas.microsoft.com/office/drawing/2014/main" id="{5468EEB0-A25B-0A79-1F38-55959B6F0D29}"/>
              </a:ext>
            </a:extLst>
          </p:cNvPr>
          <p:cNvGrpSpPr>
            <a:grpSpLocks noGrp="1" noUngrp="1" noRot="1" noMove="1" noResize="1"/>
          </p:cNvGrpSpPr>
          <p:nvPr/>
        </p:nvGrpSpPr>
        <p:grpSpPr>
          <a:xfrm>
            <a:off x="358775" y="1041400"/>
            <a:ext cx="9756774" cy="3433235"/>
            <a:chOff x="358775" y="1041400"/>
            <a:chExt cx="9756774" cy="3433235"/>
          </a:xfrm>
        </p:grpSpPr>
        <p:grpSp>
          <p:nvGrpSpPr>
            <p:cNvPr id="23" name="Unten">
              <a:extLst>
                <a:ext uri="{FF2B5EF4-FFF2-40B4-BE49-F238E27FC236}">
                  <a16:creationId xmlns:a16="http://schemas.microsoft.com/office/drawing/2014/main" id="{E8D3F5E9-FDBF-D0BA-62BF-4A164B4CE44C}"/>
                </a:ext>
              </a:extLst>
            </p:cNvPr>
            <p:cNvGrpSpPr>
              <a:grpSpLocks noGrp="1" noUngrp="1" noRot="1" noMove="1" noResize="1"/>
            </p:cNvGrpSpPr>
            <p:nvPr/>
          </p:nvGrpSpPr>
          <p:grpSpPr>
            <a:xfrm>
              <a:off x="358775" y="3581401"/>
              <a:ext cx="9756774" cy="893234"/>
              <a:chOff x="358775" y="3581401"/>
              <a:chExt cx="9756774" cy="893234"/>
            </a:xfrm>
          </p:grpSpPr>
          <p:sp>
            <p:nvSpPr>
              <p:cNvPr id="12" name="Rechts">
                <a:extLst>
                  <a:ext uri="{FF2B5EF4-FFF2-40B4-BE49-F238E27FC236}">
                    <a16:creationId xmlns:a16="http://schemas.microsoft.com/office/drawing/2014/main" id="{964F466B-C867-EAF9-835D-651B52981610}"/>
                  </a:ext>
                </a:extLst>
              </p:cNvPr>
              <p:cNvSpPr>
                <a:spLocks noGrp="1" noRot="1" noMove="1" noResize="1" noEditPoints="1" noAdjustHandles="1" noChangeArrowheads="1" noChangeShapeType="1"/>
              </p:cNvSpPr>
              <p:nvPr/>
            </p:nvSpPr>
            <p:spPr>
              <a:xfrm>
                <a:off x="7810499"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Hoher freier Cashflow  </a:t>
                </a:r>
              </a:p>
              <a:p>
                <a:pPr algn="ctr"/>
                <a:r>
                  <a:rPr lang="de-DE" sz="900" b="1" dirty="0">
                    <a:solidFill>
                      <a:schemeClr val="accent1"/>
                    </a:solidFill>
                  </a:rPr>
                  <a:t>(Ziel: Tilgung des Fremdkapitals  </a:t>
                </a:r>
              </a:p>
              <a:p>
                <a:pPr algn="ctr"/>
                <a:r>
                  <a:rPr lang="de-DE" sz="900" b="1" dirty="0">
                    <a:solidFill>
                      <a:schemeClr val="accent1"/>
                    </a:solidFill>
                  </a:rPr>
                  <a:t>mit liquiden Mitteln und Cashflow  </a:t>
                </a:r>
              </a:p>
              <a:p>
                <a:pPr algn="ctr"/>
                <a:r>
                  <a:rPr lang="de-DE" sz="900" b="1" dirty="0">
                    <a:solidFill>
                      <a:schemeClr val="accent1"/>
                    </a:solidFill>
                  </a:rPr>
                  <a:t>in &lt;10 Jahren)</a:t>
                </a:r>
              </a:p>
            </p:txBody>
          </p:sp>
          <p:sp>
            <p:nvSpPr>
              <p:cNvPr id="13" name="Mitte rechts">
                <a:extLst>
                  <a:ext uri="{FF2B5EF4-FFF2-40B4-BE49-F238E27FC236}">
                    <a16:creationId xmlns:a16="http://schemas.microsoft.com/office/drawing/2014/main" id="{EE59FA6D-165E-9994-CAAB-0727E0C5F5A4}"/>
                  </a:ext>
                </a:extLst>
              </p:cNvPr>
              <p:cNvSpPr>
                <a:spLocks noGrp="1" noRot="1" noMove="1" noResize="1" noEditPoints="1" noAdjustHandles="1" noChangeArrowheads="1" noChangeShapeType="1"/>
              </p:cNvSpPr>
              <p:nvPr/>
            </p:nvSpPr>
            <p:spPr>
              <a:xfrm>
                <a:off x="615632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Large Cap</a:t>
                </a:r>
              </a:p>
            </p:txBody>
          </p:sp>
          <p:sp>
            <p:nvSpPr>
              <p:cNvPr id="14" name="Mitte">
                <a:extLst>
                  <a:ext uri="{FF2B5EF4-FFF2-40B4-BE49-F238E27FC236}">
                    <a16:creationId xmlns:a16="http://schemas.microsoft.com/office/drawing/2014/main" id="{A2610C7D-FD7F-CD43-AA47-FADEC1A379DB}"/>
                  </a:ext>
                </a:extLst>
              </p:cNvPr>
              <p:cNvSpPr>
                <a:spLocks noGrp="1" noRot="1" noMove="1" noResize="1" noEditPoints="1" noAdjustHandles="1" noChangeArrowheads="1" noChangeShapeType="1"/>
              </p:cNvSpPr>
              <p:nvPr/>
            </p:nvSpPr>
            <p:spPr>
              <a:xfrm>
                <a:off x="4502149"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Starkes Management</a:t>
                </a:r>
              </a:p>
            </p:txBody>
          </p:sp>
          <p:sp>
            <p:nvSpPr>
              <p:cNvPr id="15" name="Mitte links">
                <a:extLst>
                  <a:ext uri="{FF2B5EF4-FFF2-40B4-BE49-F238E27FC236}">
                    <a16:creationId xmlns:a16="http://schemas.microsoft.com/office/drawing/2014/main" id="{B54D74D3-AA28-48EA-2F1D-C9EAD862DBB2}"/>
                  </a:ext>
                </a:extLst>
              </p:cNvPr>
              <p:cNvSpPr>
                <a:spLocks noGrp="1" noRot="1" noMove="1" noResize="1" noEditPoints="1" noAdjustHandles="1" noChangeArrowheads="1" noChangeShapeType="1"/>
              </p:cNvSpPr>
              <p:nvPr/>
            </p:nvSpPr>
            <p:spPr>
              <a:xfrm>
                <a:off x="284797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 Marktposition</a:t>
                </a:r>
              </a:p>
            </p:txBody>
          </p:sp>
          <p:sp>
            <p:nvSpPr>
              <p:cNvPr id="17" name="Links">
                <a:extLst>
                  <a:ext uri="{FF2B5EF4-FFF2-40B4-BE49-F238E27FC236}">
                    <a16:creationId xmlns:a16="http://schemas.microsoft.com/office/drawing/2014/main" id="{BD1FEA6D-4D92-B475-8C9F-A299C3EE0420}"/>
                  </a:ext>
                </a:extLst>
              </p:cNvPr>
              <p:cNvSpPr>
                <a:spLocks noGrp="1" noRot="1" noMove="1" noResize="1" noEditPoints="1" noAdjustHandles="1" noChangeArrowheads="1" noChangeShapeType="1"/>
              </p:cNvSpPr>
              <p:nvPr/>
            </p:nvSpPr>
            <p:spPr>
              <a:xfrm>
                <a:off x="358775"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Existenz additiver Kurstreiber:</a:t>
                </a:r>
              </a:p>
              <a:p>
                <a:pPr algn="ctr"/>
                <a:r>
                  <a:rPr lang="de-DE" sz="900" b="1" dirty="0">
                    <a:solidFill>
                      <a:schemeClr val="accent1"/>
                    </a:solidFill>
                  </a:rPr>
                  <a:t>Prognoseerhöhungen</a:t>
                </a:r>
              </a:p>
            </p:txBody>
          </p:sp>
        </p:grpSp>
        <p:grpSp>
          <p:nvGrpSpPr>
            <p:cNvPr id="22" name="Mitte">
              <a:extLst>
                <a:ext uri="{FF2B5EF4-FFF2-40B4-BE49-F238E27FC236}">
                  <a16:creationId xmlns:a16="http://schemas.microsoft.com/office/drawing/2014/main" id="{A6FF29FB-38CD-7077-E1F8-62AB2A6ABD24}"/>
                </a:ext>
              </a:extLst>
            </p:cNvPr>
            <p:cNvGrpSpPr>
              <a:grpSpLocks noGrp="1" noUngrp="1" noRot="1" noMove="1" noResize="1"/>
            </p:cNvGrpSpPr>
            <p:nvPr/>
          </p:nvGrpSpPr>
          <p:grpSpPr>
            <a:xfrm>
              <a:off x="358775" y="2510367"/>
              <a:ext cx="9756774" cy="893234"/>
              <a:chOff x="358775" y="2510367"/>
              <a:chExt cx="9756774" cy="893234"/>
            </a:xfrm>
          </p:grpSpPr>
          <p:sp>
            <p:nvSpPr>
              <p:cNvPr id="11" name="Rechts">
                <a:extLst>
                  <a:ext uri="{FF2B5EF4-FFF2-40B4-BE49-F238E27FC236}">
                    <a16:creationId xmlns:a16="http://schemas.microsoft.com/office/drawing/2014/main" id="{ED008AE3-78B5-75EB-BA0C-E7D355E25641}"/>
                  </a:ext>
                </a:extLst>
              </p:cNvPr>
              <p:cNvSpPr>
                <a:spLocks noGrp="1" noRot="1" noMove="1" noResize="1" noEditPoints="1" noAdjustHandles="1" noChangeArrowheads="1" noChangeShapeType="1"/>
              </p:cNvSpPr>
              <p:nvPr/>
            </p:nvSpPr>
            <p:spPr>
              <a:xfrm>
                <a:off x="7810499"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 3-, 5-Jahres-Performance positiv</a:t>
                </a:r>
              </a:p>
            </p:txBody>
          </p:sp>
          <p:sp>
            <p:nvSpPr>
              <p:cNvPr id="18" name="Mitte">
                <a:extLst>
                  <a:ext uri="{FF2B5EF4-FFF2-40B4-BE49-F238E27FC236}">
                    <a16:creationId xmlns:a16="http://schemas.microsoft.com/office/drawing/2014/main" id="{1B4C7A11-F064-3ADF-8EB5-8A5859D3E927}"/>
                  </a:ext>
                </a:extLst>
              </p:cNvPr>
              <p:cNvSpPr>
                <a:spLocks noGrp="1" noRot="1" noMove="1" noResize="1" noEditPoints="1" noAdjustHandles="1" noChangeArrowheads="1" noChangeShapeType="1"/>
              </p:cNvSpPr>
              <p:nvPr/>
            </p:nvSpPr>
            <p:spPr>
              <a:xfrm>
                <a:off x="2843213" y="2510367"/>
                <a:ext cx="4789486" cy="893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cap="all" dirty="0">
                    <a:solidFill>
                      <a:schemeClr val="bg1"/>
                    </a:solidFill>
                  </a:rPr>
                  <a:t>UNSERE LEITLINIEN</a:t>
                </a:r>
              </a:p>
            </p:txBody>
          </p:sp>
          <p:sp>
            <p:nvSpPr>
              <p:cNvPr id="16" name="Links">
                <a:extLst>
                  <a:ext uri="{FF2B5EF4-FFF2-40B4-BE49-F238E27FC236}">
                    <a16:creationId xmlns:a16="http://schemas.microsoft.com/office/drawing/2014/main" id="{55B1198D-EFA5-E45D-EF34-9C7CF660881D}"/>
                  </a:ext>
                </a:extLst>
              </p:cNvPr>
              <p:cNvSpPr>
                <a:spLocks noGrp="1" noRot="1" noMove="1" noResize="1" noEditPoints="1" noAdjustHandles="1" noChangeArrowheads="1" noChangeShapeType="1"/>
              </p:cNvSpPr>
              <p:nvPr/>
            </p:nvSpPr>
            <p:spPr>
              <a:xfrm>
                <a:off x="358775"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Berücksichtigung  </a:t>
                </a:r>
              </a:p>
              <a:p>
                <a:pPr algn="ctr"/>
                <a:r>
                  <a:rPr lang="de-DE" sz="900" b="1" dirty="0">
                    <a:solidFill>
                      <a:schemeClr val="accent1"/>
                    </a:solidFill>
                  </a:rPr>
                  <a:t>saisonaler Parameter</a:t>
                </a:r>
              </a:p>
            </p:txBody>
          </p:sp>
        </p:grpSp>
        <p:grpSp>
          <p:nvGrpSpPr>
            <p:cNvPr id="21" name="Oben">
              <a:extLst>
                <a:ext uri="{FF2B5EF4-FFF2-40B4-BE49-F238E27FC236}">
                  <a16:creationId xmlns:a16="http://schemas.microsoft.com/office/drawing/2014/main" id="{62580A02-F8CB-8E77-B404-95F435770AA9}"/>
                </a:ext>
              </a:extLst>
            </p:cNvPr>
            <p:cNvGrpSpPr>
              <a:grpSpLocks noGrp="1" noUngrp="1" noRot="1" noMove="1" noResize="1"/>
            </p:cNvGrpSpPr>
            <p:nvPr/>
          </p:nvGrpSpPr>
          <p:grpSpPr>
            <a:xfrm>
              <a:off x="358775" y="1439333"/>
              <a:ext cx="9756774" cy="893234"/>
              <a:chOff x="358775" y="1439333"/>
              <a:chExt cx="9756774" cy="893234"/>
            </a:xfrm>
          </p:grpSpPr>
          <p:sp>
            <p:nvSpPr>
              <p:cNvPr id="9" name="Rechts">
                <a:extLst>
                  <a:ext uri="{FF2B5EF4-FFF2-40B4-BE49-F238E27FC236}">
                    <a16:creationId xmlns:a16="http://schemas.microsoft.com/office/drawing/2014/main" id="{843123F4-A553-414E-101C-64E0F7623D21}"/>
                  </a:ext>
                </a:extLst>
              </p:cNvPr>
              <p:cNvSpPr>
                <a:spLocks noGrp="1" noRot="1" noMove="1" noResize="1" noEditPoints="1" noAdjustHandles="1" noChangeArrowheads="1" noChangeShapeType="1"/>
              </p:cNvSpPr>
              <p:nvPr/>
            </p:nvSpPr>
            <p:spPr>
              <a:xfrm>
                <a:off x="7810499"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Umsatzwachstum über  </a:t>
                </a:r>
              </a:p>
              <a:p>
                <a:pPr algn="ctr"/>
                <a:r>
                  <a:rPr lang="de-DE" sz="900" b="1" dirty="0">
                    <a:solidFill>
                      <a:schemeClr val="accent1"/>
                    </a:solidFill>
                  </a:rPr>
                  <a:t>dem Marktschnitt</a:t>
                </a:r>
              </a:p>
            </p:txBody>
          </p:sp>
          <p:sp>
            <p:nvSpPr>
              <p:cNvPr id="8" name="Mitte rechts">
                <a:extLst>
                  <a:ext uri="{FF2B5EF4-FFF2-40B4-BE49-F238E27FC236}">
                    <a16:creationId xmlns:a16="http://schemas.microsoft.com/office/drawing/2014/main" id="{555EFF35-45E1-7CB7-EC78-3FD4B81F4FC5}"/>
                  </a:ext>
                </a:extLst>
              </p:cNvPr>
              <p:cNvSpPr>
                <a:spLocks noGrp="1" noRot="1" noMove="1" noResize="1" noEditPoints="1" noAdjustHandles="1" noChangeArrowheads="1" noChangeShapeType="1"/>
              </p:cNvSpPr>
              <p:nvPr/>
            </p:nvSpPr>
            <p:spPr>
              <a:xfrm>
                <a:off x="5327650"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Starkes Geschäftsmodell</a:t>
                </a:r>
              </a:p>
            </p:txBody>
          </p:sp>
          <p:sp>
            <p:nvSpPr>
              <p:cNvPr id="7" name="Mitte links">
                <a:extLst>
                  <a:ext uri="{FF2B5EF4-FFF2-40B4-BE49-F238E27FC236}">
                    <a16:creationId xmlns:a16="http://schemas.microsoft.com/office/drawing/2014/main" id="{C6C61715-884C-89B2-8B16-59AFD6E787F3}"/>
                  </a:ext>
                </a:extLst>
              </p:cNvPr>
              <p:cNvSpPr>
                <a:spLocks noGrp="1" noRot="1" noMove="1" noResize="1" noEditPoints="1" noAdjustHandles="1" noChangeArrowheads="1" noChangeShapeType="1"/>
              </p:cNvSpPr>
              <p:nvPr/>
            </p:nvSpPr>
            <p:spPr>
              <a:xfrm>
                <a:off x="2843213"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Kursziel mehr als 10 % </a:t>
                </a:r>
              </a:p>
            </p:txBody>
          </p:sp>
          <p:sp>
            <p:nvSpPr>
              <p:cNvPr id="6" name="Links">
                <a:extLst>
                  <a:ext uri="{FF2B5EF4-FFF2-40B4-BE49-F238E27FC236}">
                    <a16:creationId xmlns:a16="http://schemas.microsoft.com/office/drawing/2014/main" id="{925EFDA7-D26C-FC0D-1B30-E374DC2AE8DC}"/>
                  </a:ext>
                </a:extLst>
              </p:cNvPr>
              <p:cNvSpPr>
                <a:spLocks noGrp="1" noRot="1" noMove="1" noResize="1" noEditPoints="1" noAdjustHandles="1" noChangeArrowheads="1" noChangeShapeType="1"/>
              </p:cNvSpPr>
              <p:nvPr/>
            </p:nvSpPr>
            <p:spPr>
              <a:xfrm>
                <a:off x="358775"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 liquide Mittel in Relation  </a:t>
                </a:r>
              </a:p>
              <a:p>
                <a:pPr algn="ctr"/>
                <a:r>
                  <a:rPr lang="de-DE" sz="900" b="1" dirty="0">
                    <a:solidFill>
                      <a:schemeClr val="accent1"/>
                    </a:solidFill>
                  </a:rPr>
                  <a:t>zum Fremdkapital </a:t>
                </a:r>
              </a:p>
            </p:txBody>
          </p:sp>
        </p:grpSp>
        <p:sp>
          <p:nvSpPr>
            <p:cNvPr id="4" name="Header">
              <a:extLst>
                <a:ext uri="{FF2B5EF4-FFF2-40B4-BE49-F238E27FC236}">
                  <a16:creationId xmlns:a16="http://schemas.microsoft.com/office/drawing/2014/main" id="{D33570BE-E9F7-7AA1-DE1F-73C925A57A63}"/>
                </a:ext>
              </a:extLst>
            </p:cNvPr>
            <p:cNvSpPr>
              <a:spLocks noGrp="1" noRot="1" noMove="1" noResize="1" noEditPoints="1" noAdjustHandles="1" noChangeArrowheads="1" noChangeShapeType="1"/>
            </p:cNvSpPr>
            <p:nvPr/>
          </p:nvSpPr>
          <p:spPr>
            <a:xfrm>
              <a:off x="358775" y="1041400"/>
              <a:ext cx="9756774" cy="22013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DIE WICHTIGSTEN ECKPFEILER UNSERER VERMÖGENSVERWALTUNG</a:t>
              </a:r>
            </a:p>
          </p:txBody>
        </p:sp>
      </p:grpSp>
      <p:sp>
        <p:nvSpPr>
          <p:cNvPr id="3" name="Titel">
            <a:extLst>
              <a:ext uri="{FF2B5EF4-FFF2-40B4-BE49-F238E27FC236}">
                <a16:creationId xmlns:a16="http://schemas.microsoft.com/office/drawing/2014/main" id="{2F1E125A-E4F1-2876-DCCC-8FE38F06E310}"/>
              </a:ext>
            </a:extLst>
          </p:cNvPr>
          <p:cNvSpPr>
            <a:spLocks noGrp="1" noRot="1" noMove="1" noResize="1" noEditPoints="1" noAdjustHandles="1" noChangeArrowheads="1" noChangeShapeType="1"/>
          </p:cNvSpPr>
          <p:nvPr>
            <p:ph type="title"/>
          </p:nvPr>
        </p:nvSpPr>
        <p:spPr/>
        <p:txBody>
          <a:bodyPr/>
          <a:lstStyle/>
          <a:p>
            <a:r>
              <a:rPr lang="de-DE" dirty="0"/>
              <a:t>Basis unserer Investmententscheidungen</a:t>
            </a:r>
          </a:p>
        </p:txBody>
      </p:sp>
    </p:spTree>
    <p:extLst>
      <p:ext uri="{BB962C8B-B14F-4D97-AF65-F5344CB8AC3E}">
        <p14:creationId xmlns:p14="http://schemas.microsoft.com/office/powerpoint/2010/main" val="356386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10</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6BE1D0F9-34B3-9150-2874-E7B68469B0CB}"/>
              </a:ext>
            </a:extLst>
          </p:cNvPr>
          <p:cNvGraphicFramePr>
            <a:graphicFrameLocks noGrp="1" noDrilldown="1" noMove="1" noResize="1"/>
          </p:cNvGraphicFramePr>
          <p:nvPr/>
        </p:nvGraphicFramePr>
        <p:xfrm>
          <a:off x="5334000" y="1040400"/>
          <a:ext cx="4787900" cy="4773840"/>
        </p:xfrm>
        <a:graphic>
          <a:graphicData uri="http://schemas.openxmlformats.org/drawingml/2006/table">
            <a:tbl>
              <a:tblPr/>
              <a:tblGrid>
                <a:gridCol w="2603500">
                  <a:extLst>
                    <a:ext uri="{9D8B030D-6E8A-4147-A177-3AD203B41FA5}">
                      <a16:colId xmlns:a16="http://schemas.microsoft.com/office/drawing/2014/main" val="1728175894"/>
                    </a:ext>
                  </a:extLst>
                </a:gridCol>
                <a:gridCol w="50800">
                  <a:extLst>
                    <a:ext uri="{9D8B030D-6E8A-4147-A177-3AD203B41FA5}">
                      <a16:colId xmlns:a16="http://schemas.microsoft.com/office/drawing/2014/main" val="2130602005"/>
                    </a:ext>
                  </a:extLst>
                </a:gridCol>
                <a:gridCol w="571500">
                  <a:extLst>
                    <a:ext uri="{9D8B030D-6E8A-4147-A177-3AD203B41FA5}">
                      <a16:colId xmlns:a16="http://schemas.microsoft.com/office/drawing/2014/main" val="4202399765"/>
                    </a:ext>
                  </a:extLst>
                </a:gridCol>
                <a:gridCol w="50800">
                  <a:extLst>
                    <a:ext uri="{9D8B030D-6E8A-4147-A177-3AD203B41FA5}">
                      <a16:colId xmlns:a16="http://schemas.microsoft.com/office/drawing/2014/main" val="4184945761"/>
                    </a:ext>
                  </a:extLst>
                </a:gridCol>
                <a:gridCol w="571500">
                  <a:extLst>
                    <a:ext uri="{9D8B030D-6E8A-4147-A177-3AD203B41FA5}">
                      <a16:colId xmlns:a16="http://schemas.microsoft.com/office/drawing/2014/main" val="2984768736"/>
                    </a:ext>
                  </a:extLst>
                </a:gridCol>
                <a:gridCol w="50800">
                  <a:extLst>
                    <a:ext uri="{9D8B030D-6E8A-4147-A177-3AD203B41FA5}">
                      <a16:colId xmlns:a16="http://schemas.microsoft.com/office/drawing/2014/main" val="35170253"/>
                    </a:ext>
                  </a:extLst>
                </a:gridCol>
                <a:gridCol w="889000">
                  <a:extLst>
                    <a:ext uri="{9D8B030D-6E8A-4147-A177-3AD203B41FA5}">
                      <a16:colId xmlns:a16="http://schemas.microsoft.com/office/drawing/2014/main" val="3775611984"/>
                    </a:ext>
                  </a:extLst>
                </a:gridCol>
              </a:tblGrid>
              <a:tr h="216000">
                <a:tc>
                  <a:txBody>
                    <a:bodyPr/>
                    <a:lstStyle/>
                    <a:p>
                      <a:pPr algn="l" fontAlgn="ctr">
                        <a:buNone/>
                      </a:pPr>
                      <a:r>
                        <a:rPr lang="de-DE" sz="600" b="1"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Währung</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053809238"/>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369475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Advanced Micro Devices Inc.</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863186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325446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Allianz SE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840400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1760548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Alphabet Inc. 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5204271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Amazon.com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04876439"/>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American Electric Power Co.Inc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850222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5621864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Applied Materials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865177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4957764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AstraZeneca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886455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3794868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Barclays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850403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6578831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Broadcom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A2JG9Z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515230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Corning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850808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14627697"/>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Eli Lilly and Company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858560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4,23%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41566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Engie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A0ER6Q</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95882486"/>
                  </a:ext>
                </a:extLst>
              </a:tr>
              <a:tr h="130224">
                <a:tc>
                  <a:txBody>
                    <a:bodyPr/>
                    <a:lstStyle/>
                    <a:p>
                      <a:pPr algn="l" fontAlgn="ctr">
                        <a:buNone/>
                      </a:pPr>
                      <a:r>
                        <a:rPr lang="fr-FR" sz="600" b="0" i="0" u="none" strike="noStrike">
                          <a:solidFill>
                            <a:srgbClr val="000000"/>
                          </a:solidFill>
                          <a:effectLst/>
                          <a:latin typeface="Noto Sans" panose="020B0502040504020204" pitchFamily="34" charset="0"/>
                        </a:rPr>
                        <a:t>Hermes International S.C.A.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886670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2,34%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097511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Hitachi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853219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7724083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Holcim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CHF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869898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13369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Howmet Aerospace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A2PZ2D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4,15%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889632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HSBC Holdings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923893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6211529"/>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Lam Research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A40L1V</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8244622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Micron Technology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869020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4,81%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830075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Microsoft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998458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Mitsubishi UFJ Financial Group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657892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6115358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Münchener Rückvers.-Ges.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2,91%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4032900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NVIDIA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264855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Quanta Services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912294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590238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Rio Tinto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852147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157892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Ross Stores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870053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53767022"/>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Samsung Electronics Co. Ltd.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896360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4481636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SanDisk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A411ZM</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4580707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Siemens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723610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233496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SK Hynix Inc.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A1JWRE</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548454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Vertiv Holdings 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A2PZ5A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748427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Welltower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A1409D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61592377"/>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LIQUIDITÄT</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1,91%</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4679856"/>
                  </a:ext>
                </a:extLst>
              </a:tr>
              <a:tr h="130224">
                <a:tc>
                  <a:txBody>
                    <a:bodyPr/>
                    <a:lstStyle/>
                    <a:p>
                      <a:pPr algn="l" fontAlgn="ctr">
                        <a:buNone/>
                      </a:pPr>
                      <a:endParaRPr lang="de-DE" sz="600" b="1" i="0" u="none" strike="noStrike">
                        <a:solidFill>
                          <a:srgbClr val="000000"/>
                        </a:solidFill>
                        <a:effectLst/>
                        <a:latin typeface="Noto Sans" panose="020B0502040504020204" pitchFamily="34" charset="0"/>
                      </a:endParaRP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53701833"/>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Einzeltitel</a:t>
            </a:r>
          </a:p>
        </p:txBody>
      </p:sp>
    </p:spTree>
    <p:extLst>
      <p:ext uri="{BB962C8B-B14F-4D97-AF65-F5344CB8AC3E}">
        <p14:creationId xmlns:p14="http://schemas.microsoft.com/office/powerpoint/2010/main" val="3986531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11</a:t>
            </a:fld>
            <a:endParaRPr lang="de-DE"/>
          </a:p>
        </p:txBody>
      </p:sp>
      <p:graphicFrame>
        <p:nvGraphicFramePr>
          <p:cNvPr id="5" name="C_Kennzahlen2">
            <a:extLst>
              <a:ext uri="{FF2B5EF4-FFF2-40B4-BE49-F238E27FC236}">
                <a16:creationId xmlns:a16="http://schemas.microsoft.com/office/drawing/2014/main" id="{00000000-0008-0000-2E00-000004000000}"/>
              </a:ext>
            </a:extLst>
          </p:cNvPr>
          <p:cNvGraphicFramePr>
            <a:graphicFrameLocks noGrp="1" noDrilldown="1" noMove="1" noResize="1"/>
          </p:cNvGraphicFramePr>
          <p:nvPr/>
        </p:nvGraphicFramePr>
        <p:xfrm>
          <a:off x="5333999"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_Kennzahlen1">
            <a:extLst>
              <a:ext uri="{FF2B5EF4-FFF2-40B4-BE49-F238E27FC236}">
                <a16:creationId xmlns:a16="http://schemas.microsoft.com/office/drawing/2014/main" id="{00000000-0008-0000-2E00-000005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2939374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31.03  abzüglich halbjährigen Honorarsatz</a:t>
            </a:r>
          </a:p>
          <a:p>
            <a:r>
              <a:rPr lang="de-DE" dirty="0"/>
              <a:t>*** 50% EuroStoxx 50; 50% MSCI World Euro</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31.03.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12</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1" name="Quelle">
            <a:extLst>
              <a:ext uri="{FF2B5EF4-FFF2-40B4-BE49-F238E27FC236}">
                <a16:creationId xmlns:a16="http://schemas.microsoft.com/office/drawing/2014/main" id="{D9852219-B88C-ED04-CF61-B724CDD05E80}"/>
              </a:ext>
            </a:extLst>
          </p:cNvPr>
          <p:cNvSpPr txBox="1">
            <a:spLocks/>
          </p:cNvSpPr>
          <p:nvPr/>
        </p:nvSpPr>
        <p:spPr>
          <a:xfrm>
            <a:off x="8387549" y="4999667"/>
            <a:ext cx="1728000" cy="108000"/>
          </a:xfrm>
          <a:prstGeom prst="rect">
            <a:avLst/>
          </a:prstGeom>
          <a:noFill/>
        </p:spPr>
        <p:txBody>
          <a:bodyPr wrap="square" lIns="36000" tIns="0" rIns="36000" bIns="0" rtlCol="0">
            <a:noAutofit/>
          </a:bodyPr>
          <a:lstStyle/>
          <a:p>
            <a:pPr marL="0" marR="0" lvl="0" indent="0" algn="r" defTabSz="82067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9D9D9D"/>
                </a:solidFill>
                <a:effectLst/>
                <a:uLnTx/>
                <a:uFillTx/>
                <a:latin typeface="Noto Sans"/>
                <a:ea typeface="+mn-ea"/>
                <a:cs typeface="+mn-cs"/>
              </a:rPr>
              <a:t>Quelle: Eigene Berechnung, Stand </a:t>
            </a:r>
            <a:fld id="{2B9A7199-A8F1-40DF-B76B-6E716CAE5071}" type="datetime1">
              <a:rPr kumimoji="0" lang="de-DE" sz="600" b="0" i="0" u="none" strike="noStrike" kern="1200" cap="none" spc="0" normalizeH="0" baseline="0" noProof="0" smtClean="0">
                <a:ln>
                  <a:noFill/>
                </a:ln>
                <a:solidFill>
                  <a:srgbClr val="9D9D9D"/>
                </a:solidFill>
                <a:effectLst/>
                <a:uLnTx/>
                <a:uFillTx/>
                <a:latin typeface="Noto Sans"/>
                <a:ea typeface="+mn-ea"/>
                <a:cs typeface="+mn-cs"/>
              </a:rPr>
              <a:t>06.07.2026</a:t>
            </a:fld>
            <a:endParaRPr kumimoji="0" lang="de-DE" sz="600" b="0" i="0" u="none" strike="noStrike" kern="1200" cap="none" spc="0" normalizeH="0" baseline="0" noProof="0" dirty="0">
              <a:ln>
                <a:noFill/>
              </a:ln>
              <a:solidFill>
                <a:srgbClr val="9D9D9D"/>
              </a:solidFill>
              <a:effectLst/>
              <a:uLnTx/>
              <a:uFillTx/>
              <a:latin typeface="Noto Sans"/>
              <a:ea typeface="+mn-ea"/>
              <a:cs typeface="+mn-cs"/>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err="1">
                <a:ln>
                  <a:noFill/>
                </a:ln>
                <a:solidFill>
                  <a:prstClr val="white"/>
                </a:solidFill>
                <a:effectLst/>
                <a:uLnTx/>
                <a:uFillTx/>
                <a:latin typeface="Noto Sans"/>
                <a:ea typeface="+mn-ea"/>
                <a:cs typeface="+mn-cs"/>
              </a:rPr>
              <a:t>wertentwicklung</a:t>
            </a:r>
            <a:endParaRPr kumimoji="0" lang="de-DE" sz="900" b="1" i="0" u="none" strike="noStrike" kern="1200" cap="all" spc="0" normalizeH="0" baseline="0" noProof="0" dirty="0">
              <a:ln>
                <a:noFill/>
              </a:ln>
              <a:solidFill>
                <a:prstClr val="white"/>
              </a:solidFill>
              <a:effectLst/>
              <a:uLnTx/>
              <a:uFillTx/>
              <a:latin typeface="Noto Sans"/>
              <a:ea typeface="+mn-ea"/>
              <a:cs typeface="+mn-cs"/>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BB9256"/>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rPr>
              <a:t>Musterdepot </a:t>
            </a:r>
            <a:r>
              <a:rPr kumimoji="0" lang="de-DE" sz="700" b="0" i="0" u="none" strike="noStrike" kern="1200" cap="none" spc="0" normalizeH="0" baseline="0" noProof="0" dirty="0">
                <a:ln>
                  <a:noFill/>
                </a:ln>
                <a:solidFill>
                  <a:prstClr val="black"/>
                </a:solidFill>
                <a:effectLst/>
                <a:uLnTx/>
                <a:uFillTx/>
                <a:latin typeface="Noto Sans"/>
                <a:ea typeface="+mn-ea"/>
                <a:cs typeface="+mn-cs"/>
              </a:rPr>
              <a:t>     </a:t>
            </a:r>
            <a:r>
              <a:rPr kumimoji="0" lang="de-DE" sz="1200" b="0" i="0" u="none" strike="noStrike" kern="1200" cap="none" spc="0" normalizeH="0" baseline="0" noProof="0" dirty="0">
                <a:ln>
                  <a:noFill/>
                </a:ln>
                <a:solidFill>
                  <a:srgbClr val="D1E9F8"/>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sym typeface="Wingdings 2" panose="05020102010507070707" pitchFamily="18" charset="2"/>
              </a:rPr>
              <a:t>Benchmark***</a:t>
            </a:r>
            <a:endParaRPr kumimoji="0" lang="de-DE" sz="1000" b="0" i="0" u="none" strike="noStrike" kern="1200" cap="none" spc="0" normalizeH="0" baseline="14000" noProof="0" dirty="0">
              <a:ln>
                <a:noFill/>
              </a:ln>
              <a:solidFill>
                <a:prstClr val="black"/>
              </a:solidFill>
              <a:effectLst/>
              <a:uLnTx/>
              <a:uFillTx/>
              <a:latin typeface="Noto Sans"/>
              <a:ea typeface="+mn-ea"/>
              <a:cs typeface="+mn-cs"/>
            </a:endParaRPr>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a:ln>
                  <a:noFill/>
                </a:ln>
                <a:solidFill>
                  <a:prstClr val="white"/>
                </a:solidFill>
                <a:effectLst/>
                <a:uLnTx/>
                <a:uFillTx/>
                <a:latin typeface="Noto Sans"/>
                <a:ea typeface="+mn-ea"/>
                <a:cs typeface="+mn-cs"/>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2023 *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59,37%</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2023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20,52%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15,89%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Pro | </a:t>
            </a:r>
            <a:r>
              <a:rPr lang="de-DE" b="0" dirty="0"/>
              <a:t>Wertentwicklung</a:t>
            </a:r>
          </a:p>
        </p:txBody>
      </p:sp>
    </p:spTree>
    <p:extLst>
      <p:ext uri="{BB962C8B-B14F-4D97-AF65-F5344CB8AC3E}">
        <p14:creationId xmlns:p14="http://schemas.microsoft.com/office/powerpoint/2010/main" val="234021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97AF718-A759-DBA2-B95F-464EBB96BD5B}"/>
              </a:ext>
            </a:extLst>
          </p:cNvPr>
          <p:cNvSpPr>
            <a:spLocks noGrp="1"/>
          </p:cNvSpPr>
          <p:nvPr>
            <p:ph type="sldNum" sz="quarter" idx="12"/>
          </p:nvPr>
        </p:nvSpPr>
        <p:spPr/>
        <p:txBody>
          <a:bodyPr/>
          <a:lstStyle/>
          <a:p>
            <a:fld id="{3AE71D6B-ACB6-4F4C-A895-DCAEF1760EAA}" type="slidenum">
              <a:rPr lang="de-DE" smtClean="0"/>
              <a:pPr/>
              <a:t>13</a:t>
            </a:fld>
            <a:endParaRPr lang="de-DE" dirty="0"/>
          </a:p>
        </p:txBody>
      </p:sp>
      <p:sp>
        <p:nvSpPr>
          <p:cNvPr id="7" name="Titel 2">
            <a:extLst>
              <a:ext uri="{FF2B5EF4-FFF2-40B4-BE49-F238E27FC236}">
                <a16:creationId xmlns:a16="http://schemas.microsoft.com/office/drawing/2014/main" id="{910BE798-70D4-545D-A4F1-EBD6D771E96A}"/>
              </a:ext>
            </a:extLst>
          </p:cNvPr>
          <p:cNvSpPr>
            <a:spLocks noGrp="1"/>
          </p:cNvSpPr>
          <p:nvPr>
            <p:ph type="title"/>
          </p:nvPr>
        </p:nvSpPr>
        <p:spPr>
          <a:xfrm>
            <a:off x="358775" y="322579"/>
            <a:ext cx="4424240" cy="769903"/>
          </a:xfrm>
        </p:spPr>
        <p:txBody>
          <a:bodyPr/>
          <a:lstStyle/>
          <a:p>
            <a:r>
              <a:rPr lang="de-DE" dirty="0"/>
              <a:t>Wertentwicklung der Strategie PRO</a:t>
            </a:r>
            <a:br>
              <a:rPr lang="de-DE" dirty="0"/>
            </a:br>
            <a:endParaRPr lang="de-DE" dirty="0">
              <a:highlight>
                <a:srgbClr val="FFFF00"/>
              </a:highlight>
            </a:endParaRPr>
          </a:p>
        </p:txBody>
      </p:sp>
      <p:graphicFrame>
        <p:nvGraphicFramePr>
          <p:cNvPr id="8" name="Tabelle">
            <a:extLst>
              <a:ext uri="{FF2B5EF4-FFF2-40B4-BE49-F238E27FC236}">
                <a16:creationId xmlns:a16="http://schemas.microsoft.com/office/drawing/2014/main" id="{72D5AAAB-CE21-8F0C-96E7-3DA28AFCF258}"/>
              </a:ext>
            </a:extLst>
          </p:cNvPr>
          <p:cNvGraphicFramePr>
            <a:graphicFrameLocks/>
          </p:cNvGraphicFramePr>
          <p:nvPr/>
        </p:nvGraphicFramePr>
        <p:xfrm>
          <a:off x="646417" y="1080320"/>
          <a:ext cx="3674107"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50160">
                  <a:extLst>
                    <a:ext uri="{9D8B030D-6E8A-4147-A177-3AD203B41FA5}">
                      <a16:colId xmlns:a16="http://schemas.microsoft.com/office/drawing/2014/main" val="1267060264"/>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Strategie PRO</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15,89%</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21,71%</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7991516"/>
                  </a:ext>
                </a:extLst>
              </a:tr>
            </a:tbl>
          </a:graphicData>
        </a:graphic>
      </p:graphicFrame>
      <p:sp>
        <p:nvSpPr>
          <p:cNvPr id="9" name="Fußnote">
            <a:extLst>
              <a:ext uri="{FF2B5EF4-FFF2-40B4-BE49-F238E27FC236}">
                <a16:creationId xmlns:a16="http://schemas.microsoft.com/office/drawing/2014/main" id="{A7E2BA66-16D3-8994-8D91-5810C213FE02}"/>
              </a:ext>
            </a:extLst>
          </p:cNvPr>
          <p:cNvSpPr txBox="1">
            <a:spLocks/>
          </p:cNvSpPr>
          <p:nvPr/>
        </p:nvSpPr>
        <p:spPr>
          <a:xfrm>
            <a:off x="646417" y="4264266"/>
            <a:ext cx="3761531"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455796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14</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Wichtiger Hinweis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40800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15</a:t>
            </a:fld>
            <a:endParaRPr lang="de-DE"/>
          </a:p>
        </p:txBody>
      </p:sp>
      <p:sp>
        <p:nvSpPr>
          <p:cNvPr id="3" name="Quelle">
            <a:extLst>
              <a:ext uri="{FF2B5EF4-FFF2-40B4-BE49-F238E27FC236}">
                <a16:creationId xmlns:a16="http://schemas.microsoft.com/office/drawing/2014/main" id="{E5DB1B1C-A637-7A9E-CD33-9D2B1CE44C8D}"/>
              </a:ext>
            </a:extLst>
          </p:cNvPr>
          <p:cNvSpPr txBox="1">
            <a:spLocks noGrp="1" noRot="1" noMove="1" noResize="1" noEditPoints="1" noAdjustHandles="1" noChangeArrowheads="1" noChangeShapeType="1"/>
          </p:cNvSpPr>
          <p:nvPr/>
        </p:nvSpPr>
        <p:spPr>
          <a:xfrm>
            <a:off x="360362" y="4314428"/>
            <a:ext cx="9756000" cy="116057"/>
          </a:xfrm>
          <a:prstGeom prst="rect">
            <a:avLst/>
          </a:prstGeom>
          <a:noFill/>
        </p:spPr>
        <p:txBody>
          <a:bodyPr wrap="square" lIns="0" tIns="0" rIns="0" bIns="0" rtlCol="0">
            <a:spAutoFit/>
          </a:bodyPr>
          <a:lstStyle/>
          <a:p>
            <a:pPr>
              <a:lnSpc>
                <a:spcPts val="1000"/>
              </a:lnSpc>
              <a:tabLst>
                <a:tab pos="9720000" algn="r"/>
              </a:tabLst>
            </a:pPr>
            <a:r>
              <a:rPr lang="de-DE" sz="600" dirty="0">
                <a:solidFill>
                  <a:schemeClr val="tx1">
                    <a:lumMod val="50000"/>
                    <a:lumOff val="50000"/>
                  </a:schemeClr>
                </a:solidFill>
              </a:rPr>
              <a:t>Als Berechnungsgrundlage dient das durchschnittlich verfügbare Kapital (DVK) im Honorarzeitraum (01.01.-30.06. bzw. 01.07.- 31.12.). 	 (*inklusive 19 % gesetzliche Umsatzsteuer)</a:t>
            </a:r>
          </a:p>
        </p:txBody>
      </p:sp>
      <p:graphicFrame>
        <p:nvGraphicFramePr>
          <p:cNvPr id="5" name="Tabelle">
            <a:extLst>
              <a:ext uri="{FF2B5EF4-FFF2-40B4-BE49-F238E27FC236}">
                <a16:creationId xmlns:a16="http://schemas.microsoft.com/office/drawing/2014/main" id="{563A2DF8-2376-8E96-D6DC-CAAC807B0130}"/>
              </a:ext>
            </a:extLst>
          </p:cNvPr>
          <p:cNvGraphicFramePr>
            <a:graphicFrameLocks noGrp="1" noDrilldown="1" noMove="1" noResize="1"/>
          </p:cNvGraphicFramePr>
          <p:nvPr>
            <p:ph idx="1"/>
          </p:nvPr>
        </p:nvGraphicFramePr>
        <p:xfrm>
          <a:off x="358775" y="1574277"/>
          <a:ext cx="9754969" cy="2652636"/>
        </p:xfrm>
        <a:graphic>
          <a:graphicData uri="http://schemas.openxmlformats.org/drawingml/2006/table">
            <a:tbl>
              <a:tblPr firstRow="1" bandRow="1">
                <a:tableStyleId>{2D5ABB26-0587-4C30-8999-92F81FD0307C}</a:tableStyleId>
              </a:tblPr>
              <a:tblGrid>
                <a:gridCol w="1584000">
                  <a:extLst>
                    <a:ext uri="{9D8B030D-6E8A-4147-A177-3AD203B41FA5}">
                      <a16:colId xmlns:a16="http://schemas.microsoft.com/office/drawing/2014/main" val="1253444119"/>
                    </a:ext>
                  </a:extLst>
                </a:gridCol>
                <a:gridCol w="50230">
                  <a:extLst>
                    <a:ext uri="{9D8B030D-6E8A-4147-A177-3AD203B41FA5}">
                      <a16:colId xmlns:a16="http://schemas.microsoft.com/office/drawing/2014/main" val="4281156835"/>
                    </a:ext>
                  </a:extLst>
                </a:gridCol>
                <a:gridCol w="1584000">
                  <a:extLst>
                    <a:ext uri="{9D8B030D-6E8A-4147-A177-3AD203B41FA5}">
                      <a16:colId xmlns:a16="http://schemas.microsoft.com/office/drawing/2014/main" val="1976685652"/>
                    </a:ext>
                  </a:extLst>
                </a:gridCol>
                <a:gridCol w="50400">
                  <a:extLst>
                    <a:ext uri="{9D8B030D-6E8A-4147-A177-3AD203B41FA5}">
                      <a16:colId xmlns:a16="http://schemas.microsoft.com/office/drawing/2014/main" val="462972238"/>
                    </a:ext>
                  </a:extLst>
                </a:gridCol>
                <a:gridCol w="1584000">
                  <a:extLst>
                    <a:ext uri="{9D8B030D-6E8A-4147-A177-3AD203B41FA5}">
                      <a16:colId xmlns:a16="http://schemas.microsoft.com/office/drawing/2014/main" val="4117174221"/>
                    </a:ext>
                  </a:extLst>
                </a:gridCol>
                <a:gridCol w="50113">
                  <a:extLst>
                    <a:ext uri="{9D8B030D-6E8A-4147-A177-3AD203B41FA5}">
                      <a16:colId xmlns:a16="http://schemas.microsoft.com/office/drawing/2014/main" val="1267060264"/>
                    </a:ext>
                  </a:extLst>
                </a:gridCol>
                <a:gridCol w="4852226">
                  <a:extLst>
                    <a:ext uri="{9D8B030D-6E8A-4147-A177-3AD203B41FA5}">
                      <a16:colId xmlns:a16="http://schemas.microsoft.com/office/drawing/2014/main" val="4038602688"/>
                    </a:ext>
                  </a:extLst>
                </a:gridCol>
              </a:tblGrid>
              <a:tr h="342000">
                <a:tc gridSpan="3">
                  <a:txBody>
                    <a:bodyPr/>
                    <a:lstStyle/>
                    <a:p>
                      <a:pPr algn="ctr">
                        <a:lnSpc>
                          <a:spcPct val="100000"/>
                        </a:lnSpc>
                      </a:pPr>
                      <a:endParaRPr lang="de-DE" sz="900" b="1" dirty="0">
                        <a:solidFill>
                          <a:schemeClr val="bg1"/>
                        </a:solidFill>
                      </a:endParaRPr>
                    </a:p>
                  </a:txBody>
                  <a:tcPr marL="0" marR="0" marT="0" marB="0" anchor="ctr">
                    <a:lnR>
                      <a:noFill/>
                    </a:lnR>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gridSpan="3">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Strategie Pro</a:t>
                      </a:r>
                    </a:p>
                  </a:txBody>
                  <a:tcPr marL="0" marR="0" marT="0" marB="0" anchor="ctr">
                    <a:lnL>
                      <a:noFill/>
                    </a:lnL>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extLst>
                  <a:ext uri="{0D108BD9-81ED-4DB2-BD59-A6C34878D82A}">
                    <a16:rowId xmlns:a16="http://schemas.microsoft.com/office/drawing/2014/main" val="2297518336"/>
                  </a:ext>
                </a:extLst>
              </a:tr>
              <a:tr h="38636">
                <a:tc>
                  <a:txBody>
                    <a:bodyPr/>
                    <a:lstStyle/>
                    <a:p>
                      <a:pPr>
                        <a:lnSpc>
                          <a:spcPct val="100000"/>
                        </a:lnSpc>
                      </a:pPr>
                      <a:endParaRPr lang="de-DE" sz="100" b="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073518"/>
                  </a:ext>
                </a:extLst>
              </a:tr>
              <a:tr h="1368000">
                <a:tc gridSpan="3">
                  <a:txBody>
                    <a:bodyPr/>
                    <a:lstStyle/>
                    <a:p>
                      <a:pPr>
                        <a:lnSpc>
                          <a:spcPts val="1300"/>
                        </a:lnSpc>
                        <a:spcAft>
                          <a:spcPts val="600"/>
                        </a:spcAft>
                      </a:pPr>
                      <a:r>
                        <a:rPr lang="de-DE" sz="900" b="1" dirty="0"/>
                        <a:t>Unser Honorar</a:t>
                      </a:r>
                    </a:p>
                    <a:p>
                      <a:pPr>
                        <a:lnSpc>
                          <a:spcPts val="1300"/>
                        </a:lnSpc>
                        <a:spcAft>
                          <a:spcPts val="600"/>
                        </a:spcAft>
                      </a:pPr>
                      <a:r>
                        <a:rPr lang="de-DE" sz="900" dirty="0"/>
                        <a:t>Klassische „All-in-fee“</a:t>
                      </a:r>
                    </a:p>
                    <a:p>
                      <a:pPr>
                        <a:lnSpc>
                          <a:spcPts val="1300"/>
                        </a:lnSpc>
                        <a:spcAft>
                          <a:spcPts val="700"/>
                        </a:spcAft>
                      </a:pPr>
                      <a:r>
                        <a:rPr lang="de-DE" sz="900" dirty="0"/>
                        <a:t>Die Belastung erfolgt halbjährlich.</a:t>
                      </a:r>
                    </a:p>
                  </a:txBody>
                  <a:tcPr marL="72000" marR="0" marT="144000" marB="0">
                    <a:lnR>
                      <a:noFill/>
                    </a:lnR>
                    <a:lnT>
                      <a:noFill/>
                    </a:lnT>
                    <a:lnB w="3175" cap="flat" cmpd="sng" algn="ctr">
                      <a:solidFill>
                        <a:schemeClr val="accent1"/>
                      </a:solidFill>
                      <a:prstDash val="solid"/>
                      <a:round/>
                      <a:headEnd type="none" w="med" len="med"/>
                      <a:tailEnd type="none" w="med" len="med"/>
                    </a:lnB>
                  </a:tcPr>
                </a:tc>
                <a:tc hMerge="1">
                  <a:txBody>
                    <a:bodyPr/>
                    <a:lstStyle/>
                    <a:p>
                      <a:pPr>
                        <a:lnSpc>
                          <a:spcPts val="1300"/>
                        </a:lnSpc>
                      </a:pPr>
                      <a:endParaRPr lang="de-DE" sz="900" dirty="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spcAft>
                          <a:spcPts val="700"/>
                        </a:spcAft>
                      </a:pPr>
                      <a:r>
                        <a:rPr lang="de-DE" sz="900" b="1" dirty="0"/>
                        <a:t>Jährlich</a:t>
                      </a:r>
                    </a:p>
                    <a:p>
                      <a:pPr algn="ctr">
                        <a:lnSpc>
                          <a:spcPts val="1300"/>
                        </a:lnSpc>
                      </a:pPr>
                      <a:r>
                        <a:rPr lang="de-DE" sz="900" dirty="0"/>
                        <a:t>0,85 % netto des  </a:t>
                      </a:r>
                    </a:p>
                    <a:p>
                      <a:pPr algn="ctr">
                        <a:lnSpc>
                          <a:spcPts val="1300"/>
                        </a:lnSpc>
                      </a:pPr>
                      <a:r>
                        <a:rPr lang="de-DE" sz="900" dirty="0"/>
                        <a:t>verwalteten Vermögens  </a:t>
                      </a:r>
                    </a:p>
                    <a:p>
                      <a:pPr algn="ctr">
                        <a:lnSpc>
                          <a:spcPts val="1300"/>
                        </a:lnSpc>
                      </a:pPr>
                      <a:r>
                        <a:rPr lang="de-DE" sz="900" dirty="0"/>
                        <a:t>= 1,0115 %* brutto</a:t>
                      </a:r>
                    </a:p>
                  </a:txBody>
                  <a:tcPr marL="0" marR="0" marT="54000" marB="0">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spcAft>
                          <a:spcPts val="600"/>
                        </a:spcAft>
                      </a:pPr>
                      <a:r>
                        <a:rPr lang="de-DE" sz="900" b="1" dirty="0"/>
                        <a:t>Jährlich</a:t>
                      </a:r>
                      <a:r>
                        <a:rPr lang="de-DE" sz="900" dirty="0"/>
                        <a:t> </a:t>
                      </a:r>
                    </a:p>
                    <a:p>
                      <a:pPr algn="ctr">
                        <a:lnSpc>
                          <a:spcPts val="1300"/>
                        </a:lnSpc>
                        <a:spcAft>
                          <a:spcPts val="1100"/>
                        </a:spcAft>
                      </a:pPr>
                      <a:r>
                        <a:rPr lang="de-DE" sz="900" dirty="0"/>
                        <a:t>1,55 % netto des verwalteten Vermögens = 1,8445 %* brutto</a:t>
                      </a:r>
                    </a:p>
                    <a:p>
                      <a:pPr algn="ctr">
                        <a:lnSpc>
                          <a:spcPts val="1300"/>
                        </a:lnSpc>
                        <a:spcAft>
                          <a:spcPts val="600"/>
                        </a:spcAft>
                      </a:pPr>
                      <a:r>
                        <a:rPr lang="de-DE" sz="900" b="1" dirty="0"/>
                        <a:t>Alternativ ertragsabhängige Vergütung: </a:t>
                      </a:r>
                    </a:p>
                    <a:p>
                      <a:pPr algn="ctr">
                        <a:lnSpc>
                          <a:spcPts val="1300"/>
                        </a:lnSpc>
                        <a:spcAft>
                          <a:spcPts val="0"/>
                        </a:spcAft>
                      </a:pPr>
                      <a:r>
                        <a:rPr lang="de-DE" sz="900" dirty="0"/>
                        <a:t>Jährlich 1,05 % netto, plus 10 % des Zugewinns des verwaltenden Vermögens  </a:t>
                      </a:r>
                    </a:p>
                    <a:p>
                      <a:pPr algn="ctr">
                        <a:lnSpc>
                          <a:spcPts val="1300"/>
                        </a:lnSpc>
                        <a:spcAft>
                          <a:spcPts val="700"/>
                        </a:spcAft>
                      </a:pPr>
                      <a:r>
                        <a:rPr lang="de-DE" sz="900" dirty="0"/>
                        <a:t>= 1,2495 %* brutto + 11,90 %* brutto des Zugewinns</a:t>
                      </a:r>
                    </a:p>
                  </a:txBody>
                  <a:tcPr marL="0" marR="0" marT="144000" marB="0">
                    <a:lnL>
                      <a:noFill/>
                    </a:lnL>
                    <a:lnT>
                      <a:noFill/>
                    </a:lnT>
                    <a:lnB w="3175" cap="flat" cmpd="sng" algn="ctr">
                      <a:solidFill>
                        <a:schemeClr val="accent1"/>
                      </a:solidFill>
                      <a:prstDash val="solid"/>
                      <a:round/>
                      <a:headEnd type="none" w="med" len="med"/>
                      <a:tailEnd type="none" w="med" len="med"/>
                    </a:lnB>
                    <a:solidFill>
                      <a:schemeClr val="accent6"/>
                    </a:solidFill>
                  </a:tcPr>
                </a:tc>
                <a:tc hMerge="1">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ts val="1300"/>
                        </a:lnSpc>
                        <a:spcBef>
                          <a:spcPts val="0"/>
                        </a:spcBef>
                        <a:spcAft>
                          <a:spcPts val="700"/>
                        </a:spcAft>
                        <a:buClrTx/>
                        <a:buSzTx/>
                        <a:buFontTx/>
                        <a:buNone/>
                        <a:tabLst/>
                        <a:defRPr/>
                      </a:pPr>
                      <a:r>
                        <a:rPr lang="de-DE" sz="900" b="1" dirty="0"/>
                        <a:t>Jährlich</a:t>
                      </a:r>
                      <a:r>
                        <a:rPr lang="de-DE" sz="900" b="0" dirty="0"/>
                        <a:t>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1,55 % netto des verwalteten Vermögens = 1,8445 %* brutto</a:t>
                      </a:r>
                    </a:p>
                    <a:p>
                      <a:pPr marL="0" marR="0" lvl="0" indent="0" algn="ctr" defTabSz="783001" rtl="0" eaLnBrk="1" fontAlgn="auto" latinLnBrk="0" hangingPunct="1">
                        <a:lnSpc>
                          <a:spcPts val="1300"/>
                        </a:lnSpc>
                        <a:spcBef>
                          <a:spcPts val="700"/>
                        </a:spcBef>
                        <a:spcAft>
                          <a:spcPts val="700"/>
                        </a:spcAft>
                        <a:buClrTx/>
                        <a:buSzTx/>
                        <a:buFontTx/>
                        <a:buNone/>
                        <a:tabLst/>
                        <a:defRPr/>
                      </a:pPr>
                      <a:r>
                        <a:rPr lang="de-DE" sz="900" b="1" dirty="0"/>
                        <a:t>Alternativ ertragsabhängige Vergütung: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Jährlich 1,05 % netto, plus 10 % des Zugewinns des verwaltenden Vermögens</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 1,2495 %* brutto + 11,90 %* brutto des Zugewinns</a:t>
                      </a:r>
                    </a:p>
                  </a:txBody>
                  <a:tcPr marL="0" marR="0" marT="54000" marB="0">
                    <a:lnL>
                      <a:noFill/>
                    </a:lnL>
                    <a:lnT>
                      <a:noFill/>
                    </a:lnT>
                    <a:lnB w="3175" cap="flat" cmpd="sng" algn="ctr">
                      <a:solidFill>
                        <a:schemeClr val="accent1"/>
                      </a:solidFill>
                      <a:prstDash val="solid"/>
                      <a:round/>
                      <a:headEnd type="none" w="med" len="med"/>
                      <a:tailEnd type="none" w="med" len="med"/>
                    </a:lnB>
                    <a:solidFill>
                      <a:schemeClr val="accent6"/>
                    </a:solidFill>
                  </a:tcPr>
                </a:tc>
                <a:extLst>
                  <a:ext uri="{0D108BD9-81ED-4DB2-BD59-A6C34878D82A}">
                    <a16:rowId xmlns:a16="http://schemas.microsoft.com/office/drawing/2014/main" val="1730174765"/>
                  </a:ext>
                </a:extLst>
              </a:tr>
              <a:tr h="864000">
                <a:tc gridSpan="3">
                  <a:txBody>
                    <a:bodyPr/>
                    <a:lstStyle/>
                    <a:p>
                      <a:pPr>
                        <a:lnSpc>
                          <a:spcPts val="1300"/>
                        </a:lnSpc>
                        <a:spcAft>
                          <a:spcPts val="600"/>
                        </a:spcAft>
                      </a:pPr>
                      <a:r>
                        <a:rPr lang="de-DE" sz="900" dirty="0"/>
                        <a:t>Modell „Ertragsabhängig“</a:t>
                      </a:r>
                    </a:p>
                    <a:p>
                      <a:pPr>
                        <a:lnSpc>
                          <a:spcPts val="1300"/>
                        </a:lnSpc>
                      </a:pPr>
                      <a:r>
                        <a:rPr lang="de-DE" sz="900" dirty="0"/>
                        <a:t>Die Belastung erfolgt jährlich.</a:t>
                      </a:r>
                    </a:p>
                  </a:txBody>
                  <a:tcPr marL="72000" marR="0" marT="180000" marB="0">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pP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a:t>
                      </a:r>
                    </a:p>
                    <a:p>
                      <a:pPr algn="ctr">
                        <a:lnSpc>
                          <a:spcPts val="1300"/>
                        </a:lnSpc>
                      </a:pPr>
                      <a:r>
                        <a:rPr lang="de-DE" sz="900" dirty="0"/>
                        <a:t>2.000,00 € netto  </a:t>
                      </a:r>
                    </a:p>
                    <a:p>
                      <a:pPr algn="ctr">
                        <a:lnSpc>
                          <a:spcPts val="1300"/>
                        </a:lnSpc>
                      </a:pPr>
                      <a:r>
                        <a:rPr lang="de-DE" sz="900" dirty="0"/>
                        <a:t>bzw. mindestens  </a:t>
                      </a:r>
                    </a:p>
                    <a:p>
                      <a:pPr algn="ctr">
                        <a:lnSpc>
                          <a:spcPts val="1300"/>
                        </a:lnSpc>
                      </a:pPr>
                      <a:r>
                        <a:rPr lang="de-DE" sz="900" dirty="0"/>
                        <a:t>2.380,00 €* brutto</a:t>
                      </a:r>
                    </a:p>
                  </a:txBody>
                  <a:tcPr marL="0" marR="0" marT="108000" marB="0">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80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hMerge="1">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08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extLst>
                  <a:ext uri="{0D108BD9-81ED-4DB2-BD59-A6C34878D82A}">
                    <a16:rowId xmlns:a16="http://schemas.microsoft.com/office/drawing/2014/main" val="569009892"/>
                  </a:ext>
                </a:extLst>
              </a:tr>
              <a:tr h="40000">
                <a:tc>
                  <a:txBody>
                    <a:bodyPr/>
                    <a:lstStyle/>
                    <a:p>
                      <a:pPr>
                        <a:lnSpc>
                          <a:spcPct val="100000"/>
                        </a:lnSpc>
                      </a:pPr>
                      <a:endParaRPr lang="de-DE" sz="100" b="0" dirty="0"/>
                    </a:p>
                  </a:txBody>
                  <a:tcPr marL="72000" marR="0" marT="0" marB="0">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05939323"/>
                  </a:ext>
                </a:extLst>
              </a:tr>
            </a:tbl>
          </a:graphicData>
        </a:graphic>
      </p:graphicFrame>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35286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16</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nchor="t" anchorCtr="0"/>
          <a:lstStyle/>
          <a:p>
            <a:r>
              <a:rPr lang="de-DE" dirty="0"/>
              <a:t>Wesentliche Finanzkennzahlen auf einen Blick 31.12.2024</a:t>
            </a:r>
          </a:p>
          <a:p>
            <a:pPr lvl="1"/>
            <a:r>
              <a:rPr lang="de-DE" dirty="0"/>
              <a:t>Assets </a:t>
            </a:r>
            <a:r>
              <a:rPr lang="de-DE" dirty="0" err="1"/>
              <a:t>under</a:t>
            </a:r>
            <a:r>
              <a:rPr lang="de-DE" dirty="0"/>
              <a:t> Control 	</a:t>
            </a:r>
            <a:r>
              <a:rPr lang="de-DE" b="1" dirty="0"/>
              <a:t>6.780 Mio. EUR</a:t>
            </a:r>
          </a:p>
          <a:p>
            <a:pPr lvl="1"/>
            <a:r>
              <a:rPr lang="de-DE" dirty="0"/>
              <a:t>EK-Rendite (vor Steuern) 	</a:t>
            </a:r>
            <a:r>
              <a:rPr lang="de-DE" b="1" dirty="0"/>
              <a:t>40,1 %</a:t>
            </a:r>
          </a:p>
          <a:p>
            <a:pPr lvl="1"/>
            <a:r>
              <a:rPr lang="de-DE" dirty="0"/>
              <a:t>Mitarbeiter 	</a:t>
            </a:r>
            <a:r>
              <a:rPr lang="de-DE" b="1" dirty="0"/>
              <a:t>144</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noDrilldown="1" noMove="1" noResize="1"/>
          </p:cNvGraphicFramePr>
          <p:nvPr>
            <p:ph idx="1"/>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grpSp>
        <p:nvGrpSpPr>
          <p:cNvPr id="13" name="Textlinie">
            <a:extLst>
              <a:ext uri="{FF2B5EF4-FFF2-40B4-BE49-F238E27FC236}">
                <a16:creationId xmlns:a16="http://schemas.microsoft.com/office/drawing/2014/main" id="{56C474AC-C2CB-F8B9-CBD2-688DC08BDA13}"/>
              </a:ext>
            </a:extLst>
          </p:cNvPr>
          <p:cNvGrpSpPr>
            <a:grpSpLocks noGrp="1" noUngrp="1" noRot="1" noMove="1" noResize="1"/>
          </p:cNvGrpSpPr>
          <p:nvPr/>
        </p:nvGrpSpPr>
        <p:grpSpPr>
          <a:xfrm>
            <a:off x="5327650" y="1725370"/>
            <a:ext cx="4787900" cy="184666"/>
            <a:chOff x="5327650" y="1725370"/>
            <a:chExt cx="4787900" cy="184666"/>
          </a:xfrm>
        </p:grpSpPr>
        <p:cxnSp>
          <p:nvCxnSpPr>
            <p:cNvPr id="10" name="Linie rechts">
              <a:extLst>
                <a:ext uri="{FF2B5EF4-FFF2-40B4-BE49-F238E27FC236}">
                  <a16:creationId xmlns:a16="http://schemas.microsoft.com/office/drawing/2014/main" id="{3E379351-53AE-4A53-7CFD-EFEC6FD9EFAB}"/>
                </a:ext>
              </a:extLst>
            </p:cNvPr>
            <p:cNvCxnSpPr>
              <a:cxnSpLocks noGrp="1" noRot="1" noMove="1" noResize="1" noEditPoints="1" noAdjustHandles="1" noChangeArrowheads="1" noChangeShapeType="1"/>
            </p:cNvCxnSpPr>
            <p:nvPr/>
          </p:nvCxnSpPr>
          <p:spPr>
            <a:xfrm>
              <a:off x="7934325" y="1799167"/>
              <a:ext cx="2181225" cy="0"/>
            </a:xfrm>
            <a:prstGeom prst="line">
              <a:avLst/>
            </a:prstGeom>
            <a:ln w="12700">
              <a:solidFill>
                <a:schemeClr val="accent2"/>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2" name="Text">
              <a:extLst>
                <a:ext uri="{FF2B5EF4-FFF2-40B4-BE49-F238E27FC236}">
                  <a16:creationId xmlns:a16="http://schemas.microsoft.com/office/drawing/2014/main" id="{A7990DBA-1571-09C9-78C3-00F3E9C5A659}"/>
                </a:ext>
              </a:extLst>
            </p:cNvPr>
            <p:cNvSpPr txBox="1">
              <a:spLocks noGrp="1" noRot="1" noMove="1" noResize="1" noEditPoints="1" noAdjustHandles="1" noChangeArrowheads="1" noChangeShapeType="1"/>
            </p:cNvSpPr>
            <p:nvPr/>
          </p:nvSpPr>
          <p:spPr>
            <a:xfrm>
              <a:off x="7406635" y="1725370"/>
              <a:ext cx="591830" cy="184666"/>
            </a:xfrm>
            <a:prstGeom prst="rect">
              <a:avLst/>
            </a:prstGeom>
            <a:noFill/>
          </p:spPr>
          <p:txBody>
            <a:bodyPr wrap="none" rtlCol="0" anchor="ctr" anchorCtr="0">
              <a:spAutoFit/>
            </a:bodyPr>
            <a:lstStyle/>
            <a:p>
              <a:pPr algn="ctr"/>
              <a:r>
                <a:rPr lang="de-DE" sz="600" b="1" dirty="0">
                  <a:solidFill>
                    <a:schemeClr val="accent2"/>
                  </a:solidFill>
                </a:rPr>
                <a:t>CAGR 6,5%</a:t>
              </a:r>
            </a:p>
          </p:txBody>
        </p:sp>
        <p:cxnSp>
          <p:nvCxnSpPr>
            <p:cNvPr id="9" name="Linie links">
              <a:extLst>
                <a:ext uri="{FF2B5EF4-FFF2-40B4-BE49-F238E27FC236}">
                  <a16:creationId xmlns:a16="http://schemas.microsoft.com/office/drawing/2014/main" id="{ECD25257-8C23-BF4E-E4DA-BE4C64E4FC89}"/>
                </a:ext>
              </a:extLst>
            </p:cNvPr>
            <p:cNvCxnSpPr>
              <a:cxnSpLocks noGrp="1" noRot="1" noMove="1" noResize="1" noEditPoints="1" noAdjustHandles="1" noChangeArrowheads="1" noChangeShapeType="1"/>
            </p:cNvCxnSpPr>
            <p:nvPr/>
          </p:nvCxnSpPr>
          <p:spPr>
            <a:xfrm>
              <a:off x="5327650" y="1799167"/>
              <a:ext cx="2118783" cy="0"/>
            </a:xfrm>
            <a:prstGeom prst="line">
              <a:avLst/>
            </a:prstGeom>
            <a:ln w="12700">
              <a:solidFill>
                <a:schemeClr val="accent2"/>
              </a:solidFill>
              <a:headEnd type="oval" w="sm" len="sm"/>
            </a:ln>
          </p:spPr>
          <p:style>
            <a:lnRef idx="1">
              <a:schemeClr val="accent1"/>
            </a:lnRef>
            <a:fillRef idx="0">
              <a:schemeClr val="accent1"/>
            </a:fillRef>
            <a:effectRef idx="0">
              <a:schemeClr val="accent1"/>
            </a:effectRef>
            <a:fontRef idx="minor">
              <a:schemeClr val="tx1"/>
            </a:fontRef>
          </p:style>
        </p:cxnSp>
      </p:grpSp>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908851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17</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a:t>Im Zollhafen 24 </a:t>
            </a:r>
            <a:br>
              <a:rPr lang="de-DE"/>
            </a:br>
            <a:r>
              <a:rPr lang="de-DE"/>
              <a:t>50678 Köln </a:t>
            </a:r>
            <a:endParaRPr lang="de-DE" dirty="0"/>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18</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19</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20</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0821 3201-271</a:t>
            </a: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06.07.2026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1_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F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unkelblau2">
      <a:srgbClr val="284C83"/>
    </a:custClr>
    <a:custClr name="Gold2">
      <a:srgbClr val="E5D4BC"/>
    </a:custClr>
    <a:custClr name="Hellblau4">
      <a:srgbClr val="BAD9F2"/>
    </a:custClr>
    <a:custClr name="Rot">
      <a:srgbClr val="A91A4D"/>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2763</Words>
  <Application>Microsoft Office PowerPoint</Application>
  <PresentationFormat>Benutzerdefiniert</PresentationFormat>
  <Paragraphs>703</Paragraphs>
  <Slides>21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Arial</vt:lpstr>
      <vt:lpstr>Calibri</vt:lpstr>
      <vt:lpstr>Noto Sans</vt:lpstr>
      <vt:lpstr>Noto Serif</vt:lpstr>
      <vt:lpstr>Open Sans</vt:lpstr>
      <vt:lpstr>Symbol</vt:lpstr>
      <vt:lpstr>1_Office</vt:lpstr>
      <vt:lpstr>Unsere   Vermögensverwaltung</vt:lpstr>
      <vt:lpstr>Unsere Strategie PRO</vt:lpstr>
      <vt:lpstr>Unsere Strategie PRO</vt:lpstr>
      <vt:lpstr>Aktien – die guten Jahre überwiegen</vt:lpstr>
      <vt:lpstr>Die Fallstricke des typischen Investors</vt:lpstr>
      <vt:lpstr>Durchhalten zahlt sich aus</vt:lpstr>
      <vt:lpstr>Gute Jahre überwiegen</vt:lpstr>
      <vt:lpstr>Krise als Chance</vt:lpstr>
      <vt:lpstr>Basis unserer Investmententscheidungen</vt:lpstr>
      <vt:lpstr>Einzeltitel</vt:lpstr>
      <vt:lpstr>Aktuelle Portfoliozusammenstellung</vt:lpstr>
      <vt:lpstr>Anlagestrategie Pro | Wertentwicklung</vt:lpstr>
      <vt:lpstr>Wertentwicklung der Strategie PRO </vt:lpstr>
      <vt:lpstr>Unser Honorar</vt:lpstr>
      <vt:lpstr>Unser Honorar</vt:lpstr>
      <vt:lpstr>Unsere Bank in Zahlen</vt:lpstr>
      <vt:lpstr>Unsere Standorte</vt:lpstr>
      <vt:lpstr>Unsere Standorte</vt:lpstr>
      <vt:lpstr>Risikohinweise</vt:lpstr>
      <vt:lpstr>Rechtliche Hinweise und Impressum</vt:lpstr>
      <vt:lpstr>Vielen Dank  für Ihr Interesse</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193</cp:revision>
  <dcterms:created xsi:type="dcterms:W3CDTF">2023-08-14T05:18:02Z</dcterms:created>
  <dcterms:modified xsi:type="dcterms:W3CDTF">2026-07-06T08:15:00Z</dcterms:modified>
  <cp:category>Vorlagen;Design</cp:category>
</cp:coreProperties>
</file>