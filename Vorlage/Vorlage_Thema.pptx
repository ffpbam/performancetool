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2.xml" ContentType="application/vnd.openxmlformats-officedocument.them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drawings/drawing1.xml" ContentType="application/vnd.openxmlformats-officedocument.drawingml.chartshapes+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drawings/drawing2.xml" ContentType="application/vnd.openxmlformats-officedocument.drawingml.chartshapes+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drawings/drawing3.xml" ContentType="application/vnd.openxmlformats-officedocument.drawingml.chartshapes+xml"/>
  <Override PartName="/ppt/charts/chart7.xml" ContentType="application/vnd.openxmlformats-officedocument.drawingml.chart+xml"/>
  <Override PartName="/ppt/charts/style7.xml" ContentType="application/vnd.ms-office.chartstyle+xml"/>
  <Override PartName="/ppt/charts/colors7.xml" ContentType="application/vnd.ms-office.chartcolorstyle+xml"/>
  <Override PartName="/ppt/charts/chart8.xml" ContentType="application/vnd.openxmlformats-officedocument.drawingml.chart+xml"/>
  <Override PartName="/ppt/charts/style8.xml" ContentType="application/vnd.ms-office.chartstyle+xml"/>
  <Override PartName="/ppt/charts/colors8.xml" ContentType="application/vnd.ms-office.chartcolorstyle+xml"/>
  <Override PartName="/ppt/charts/chart9.xml" ContentType="application/vnd.openxmlformats-officedocument.drawingml.chart+xml"/>
  <Override PartName="/ppt/charts/style9.xml" ContentType="application/vnd.ms-office.chartstyle+xml"/>
  <Override PartName="/ppt/charts/colors9.xml" ContentType="application/vnd.ms-office.chartcolorstyle+xml"/>
  <Override PartName="/ppt/drawings/drawing4.xml" ContentType="application/vnd.openxmlformats-officedocument.drawingml.chartshape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86" r:id="rId1"/>
  </p:sldMasterIdLst>
  <p:notesMasterIdLst>
    <p:notesMasterId r:id="rId23"/>
  </p:notesMasterIdLst>
  <p:sldIdLst>
    <p:sldId id="1601" r:id="rId2"/>
    <p:sldId id="1602" r:id="rId3"/>
    <p:sldId id="1603" r:id="rId4"/>
    <p:sldId id="566" r:id="rId5"/>
    <p:sldId id="1604" r:id="rId6"/>
    <p:sldId id="282" r:id="rId7"/>
    <p:sldId id="301" r:id="rId8"/>
    <p:sldId id="302" r:id="rId9"/>
    <p:sldId id="303" r:id="rId10"/>
    <p:sldId id="257" r:id="rId11"/>
    <p:sldId id="304" r:id="rId12"/>
    <p:sldId id="305" r:id="rId13"/>
    <p:sldId id="564" r:id="rId14"/>
    <p:sldId id="565" r:id="rId15"/>
    <p:sldId id="285" r:id="rId16"/>
    <p:sldId id="291" r:id="rId17"/>
    <p:sldId id="293" r:id="rId18"/>
    <p:sldId id="294" r:id="rId19"/>
    <p:sldId id="312" r:id="rId20"/>
    <p:sldId id="311" r:id="rId21"/>
    <p:sldId id="299" r:id="rId22"/>
  </p:sldIdLst>
  <p:sldSz cx="10439400" cy="6659563"/>
  <p:notesSz cx="6858000" cy="9144000"/>
  <p:defaultTextStyle>
    <a:defPPr>
      <a:defRPr lang="de-DE"/>
    </a:defPPr>
    <a:lvl1pPr marL="0" algn="l" defTabSz="820674" rtl="0" eaLnBrk="1" latinLnBrk="0" hangingPunct="1">
      <a:defRPr sz="1616" kern="1200">
        <a:solidFill>
          <a:schemeClr val="tx1"/>
        </a:solidFill>
        <a:latin typeface="+mn-lt"/>
        <a:ea typeface="+mn-ea"/>
        <a:cs typeface="+mn-cs"/>
      </a:defRPr>
    </a:lvl1pPr>
    <a:lvl2pPr marL="410337" algn="l" defTabSz="820674" rtl="0" eaLnBrk="1" latinLnBrk="0" hangingPunct="1">
      <a:defRPr sz="1616" kern="1200">
        <a:solidFill>
          <a:schemeClr val="tx1"/>
        </a:solidFill>
        <a:latin typeface="+mn-lt"/>
        <a:ea typeface="+mn-ea"/>
        <a:cs typeface="+mn-cs"/>
      </a:defRPr>
    </a:lvl2pPr>
    <a:lvl3pPr marL="820674" algn="l" defTabSz="820674" rtl="0" eaLnBrk="1" latinLnBrk="0" hangingPunct="1">
      <a:defRPr sz="1616" kern="1200">
        <a:solidFill>
          <a:schemeClr val="tx1"/>
        </a:solidFill>
        <a:latin typeface="+mn-lt"/>
        <a:ea typeface="+mn-ea"/>
        <a:cs typeface="+mn-cs"/>
      </a:defRPr>
    </a:lvl3pPr>
    <a:lvl4pPr marL="1231011" algn="l" defTabSz="820674" rtl="0" eaLnBrk="1" latinLnBrk="0" hangingPunct="1">
      <a:defRPr sz="1616" kern="1200">
        <a:solidFill>
          <a:schemeClr val="tx1"/>
        </a:solidFill>
        <a:latin typeface="+mn-lt"/>
        <a:ea typeface="+mn-ea"/>
        <a:cs typeface="+mn-cs"/>
      </a:defRPr>
    </a:lvl4pPr>
    <a:lvl5pPr marL="1641348" algn="l" defTabSz="820674" rtl="0" eaLnBrk="1" latinLnBrk="0" hangingPunct="1">
      <a:defRPr sz="1616" kern="1200">
        <a:solidFill>
          <a:schemeClr val="tx1"/>
        </a:solidFill>
        <a:latin typeface="+mn-lt"/>
        <a:ea typeface="+mn-ea"/>
        <a:cs typeface="+mn-cs"/>
      </a:defRPr>
    </a:lvl5pPr>
    <a:lvl6pPr marL="2051685" algn="l" defTabSz="820674" rtl="0" eaLnBrk="1" latinLnBrk="0" hangingPunct="1">
      <a:defRPr sz="1616" kern="1200">
        <a:solidFill>
          <a:schemeClr val="tx1"/>
        </a:solidFill>
        <a:latin typeface="+mn-lt"/>
        <a:ea typeface="+mn-ea"/>
        <a:cs typeface="+mn-cs"/>
      </a:defRPr>
    </a:lvl6pPr>
    <a:lvl7pPr marL="2462022" algn="l" defTabSz="820674" rtl="0" eaLnBrk="1" latinLnBrk="0" hangingPunct="1">
      <a:defRPr sz="1616" kern="1200">
        <a:solidFill>
          <a:schemeClr val="tx1"/>
        </a:solidFill>
        <a:latin typeface="+mn-lt"/>
        <a:ea typeface="+mn-ea"/>
        <a:cs typeface="+mn-cs"/>
      </a:defRPr>
    </a:lvl7pPr>
    <a:lvl8pPr marL="2872359" algn="l" defTabSz="820674" rtl="0" eaLnBrk="1" latinLnBrk="0" hangingPunct="1">
      <a:defRPr sz="1616" kern="1200">
        <a:solidFill>
          <a:schemeClr val="tx1"/>
        </a:solidFill>
        <a:latin typeface="+mn-lt"/>
        <a:ea typeface="+mn-ea"/>
        <a:cs typeface="+mn-cs"/>
      </a:defRPr>
    </a:lvl8pPr>
    <a:lvl9pPr marL="3282696" algn="l" defTabSz="820674" rtl="0" eaLnBrk="1" latinLnBrk="0" hangingPunct="1">
      <a:defRPr sz="1616"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32E72B6-AE88-9C61-DED9-DF60B27C041D}" name="Andreas Pischetsrieder" initials="AP" userId="S::YH428EO@fuggerbank.de::2de2f04b-e8ac-43ac-92b7-e216de85df3b"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Helle Formatvorlage 2 - Akz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Designformatvorlage 1 - Akz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346" autoAdjust="0"/>
    <p:restoredTop sz="94161" autoAdjust="0"/>
  </p:normalViewPr>
  <p:slideViewPr>
    <p:cSldViewPr snapToGrid="0" showGuides="1">
      <p:cViewPr varScale="1">
        <p:scale>
          <a:sx n="68" d="100"/>
          <a:sy n="68" d="100"/>
        </p:scale>
        <p:origin x="84" y="1056"/>
      </p:cViewPr>
      <p:guideLst/>
    </p:cSldViewPr>
  </p:slideViewPr>
  <p:notesTextViewPr>
    <p:cViewPr>
      <p:scale>
        <a:sx n="1" d="1"/>
        <a:sy n="1" d="1"/>
      </p:scale>
      <p:origin x="0" y="0"/>
    </p:cViewPr>
  </p:notesTextViewPr>
  <p:gridSpacing cx="36004" cy="36004"/>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microsoft.com/office/2018/10/relationships/authors" Target="author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oleObject" Target="file:///\\fis.i4168.pb.rz.bankenit.de\inst_4168\daten\Gesamtbank\PK\Verm&#246;gensverwaltung\Brosch&#252;ren_neu_MAD\Master_Excel\FFPB_PPT_Verm&#246;gensverwaltung.xlsm" TargetMode="External"/><Relationship Id="rId2" Type="http://schemas.microsoft.com/office/2011/relationships/chartColorStyle" Target="colors4.xml"/><Relationship Id="rId1" Type="http://schemas.microsoft.com/office/2011/relationships/chartStyle" Target="style4.xml"/><Relationship Id="rId4" Type="http://schemas.openxmlformats.org/officeDocument/2006/relationships/chartUserShapes" Target="../drawings/drawing1.xml"/></Relationships>
</file>

<file path=ppt/charts/_rels/chart5.xml.rels><?xml version="1.0" encoding="UTF-8" standalone="yes"?>
<Relationships xmlns="http://schemas.openxmlformats.org/package/2006/relationships"><Relationship Id="rId3" Type="http://schemas.openxmlformats.org/officeDocument/2006/relationships/oleObject" Target="file:///\\fis.i4168.pb.rz.bankenit.de\inst_4168\daten\Gesamtbank\PK\Verm&#246;gensverwaltung\Brosch&#252;ren_neu_MAD\Master_Excel\FFPB_PPT_Verm&#246;gensverwaltung.xlsm" TargetMode="External"/><Relationship Id="rId2" Type="http://schemas.microsoft.com/office/2011/relationships/chartColorStyle" Target="colors5.xml"/><Relationship Id="rId1" Type="http://schemas.microsoft.com/office/2011/relationships/chartStyle" Target="style5.xml"/><Relationship Id="rId4" Type="http://schemas.openxmlformats.org/officeDocument/2006/relationships/chartUserShapes" Target="../drawings/drawing2.xml"/></Relationships>
</file>

<file path=ppt/charts/_rels/chart6.xml.rels><?xml version="1.0" encoding="UTF-8" standalone="yes"?>
<Relationships xmlns="http://schemas.openxmlformats.org/package/2006/relationships"><Relationship Id="rId3" Type="http://schemas.openxmlformats.org/officeDocument/2006/relationships/oleObject" Target="file:///\\fis.i4168.pb.rz.bankenit.de\inst_4168\daten\Gesamtbank\PK\Verm&#246;gensverwaltung\Brosch&#252;ren_neu_MAD\Master_Excel\FFPB_PPT_Verm&#246;gensverwaltung.xlsm" TargetMode="External"/><Relationship Id="rId2" Type="http://schemas.microsoft.com/office/2011/relationships/chartColorStyle" Target="colors6.xml"/><Relationship Id="rId1" Type="http://schemas.microsoft.com/office/2011/relationships/chartStyle" Target="style6.xml"/><Relationship Id="rId4" Type="http://schemas.openxmlformats.org/officeDocument/2006/relationships/chartUserShapes" Target="../drawings/drawing3.xml"/></Relationships>
</file>

<file path=ppt/charts/_rels/chart7.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7.xml"/><Relationship Id="rId1" Type="http://schemas.microsoft.com/office/2011/relationships/chartStyle" Target="style7.xml"/></Relationships>
</file>

<file path=ppt/charts/_rels/chart8.xml.rels><?xml version="1.0" encoding="UTF-8" standalone="yes"?>
<Relationships xmlns="http://schemas.openxmlformats.org/package/2006/relationships"><Relationship Id="rId3" Type="http://schemas.openxmlformats.org/officeDocument/2006/relationships/package" Target="../embeddings/Microsoft_Excel_Worksheet4.xlsx"/><Relationship Id="rId2" Type="http://schemas.microsoft.com/office/2011/relationships/chartColorStyle" Target="colors8.xml"/><Relationship Id="rId1" Type="http://schemas.microsoft.com/office/2011/relationships/chartStyle" Target="style8.xml"/></Relationships>
</file>

<file path=ppt/charts/_rels/chart9.xml.rels><?xml version="1.0" encoding="UTF-8" standalone="yes"?>
<Relationships xmlns="http://schemas.openxmlformats.org/package/2006/relationships"><Relationship Id="rId3" Type="http://schemas.openxmlformats.org/officeDocument/2006/relationships/package" Target="../embeddings/Microsoft_Excel_Worksheet5.xlsx"/><Relationship Id="rId2" Type="http://schemas.microsoft.com/office/2011/relationships/chartColorStyle" Target="colors9.xml"/><Relationship Id="rId1" Type="http://schemas.microsoft.com/office/2011/relationships/chartStyle" Target="style9.xml"/><Relationship Id="rId4" Type="http://schemas.openxmlformats.org/officeDocument/2006/relationships/chartUserShapes" Target="../drawings/drawing4.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4656772487980533E-2"/>
          <c:y val="8.6153702611283134E-2"/>
          <c:w val="0.96534322751201951"/>
          <c:h val="0.74667110670667614"/>
        </c:manualLayout>
      </c:layout>
      <c:barChart>
        <c:barDir val="col"/>
        <c:grouping val="clustered"/>
        <c:varyColors val="0"/>
        <c:ser>
          <c:idx val="0"/>
          <c:order val="0"/>
          <c:tx>
            <c:strRef>
              <c:f>Tabelle1!$B$1</c:f>
              <c:strCache>
                <c:ptCount val="1"/>
                <c:pt idx="0">
                  <c:v>Anleger ist permanent investiert</c:v>
                </c:pt>
              </c:strCache>
            </c:strRef>
          </c:tx>
          <c:spPr>
            <a:solidFill>
              <a:schemeClr val="tx2"/>
            </a:solidFill>
            <a:ln>
              <a:noFill/>
            </a:ln>
            <a:effectLst/>
          </c:spPr>
          <c:invertIfNegative val="0"/>
          <c:cat>
            <c:strRef>
              <c:f>Tabelle1!$A$2:$A$5</c:f>
              <c:strCache>
                <c:ptCount val="4"/>
                <c:pt idx="0">
                  <c:v>Dax</c:v>
                </c:pt>
                <c:pt idx="1">
                  <c:v>MSCI Europa</c:v>
                </c:pt>
                <c:pt idx="2">
                  <c:v>S&amp;P 500</c:v>
                </c:pt>
                <c:pt idx="3">
                  <c:v>MSCI Welt</c:v>
                </c:pt>
              </c:strCache>
            </c:strRef>
          </c:cat>
          <c:val>
            <c:numRef>
              <c:f>Tabelle1!$B$2:$B$5</c:f>
              <c:numCache>
                <c:formatCode>0.00%</c:formatCode>
                <c:ptCount val="4"/>
                <c:pt idx="0">
                  <c:v>8.8400000000000006E-2</c:v>
                </c:pt>
                <c:pt idx="1">
                  <c:v>5.28E-2</c:v>
                </c:pt>
                <c:pt idx="2">
                  <c:v>0.10780000000000001</c:v>
                </c:pt>
                <c:pt idx="3">
                  <c:v>0.1004</c:v>
                </c:pt>
              </c:numCache>
            </c:numRef>
          </c:val>
          <c:extLst>
            <c:ext xmlns:c16="http://schemas.microsoft.com/office/drawing/2014/chart" uri="{C3380CC4-5D6E-409C-BE32-E72D297353CC}">
              <c16:uniqueId val="{00000000-504B-4C01-B29D-AE226A5B0417}"/>
            </c:ext>
          </c:extLst>
        </c:ser>
        <c:ser>
          <c:idx val="1"/>
          <c:order val="1"/>
          <c:tx>
            <c:strRef>
              <c:f>Tabelle1!$C$1</c:f>
              <c:strCache>
                <c:ptCount val="1"/>
                <c:pt idx="0">
                  <c:v>Anleger verpasst die 20 besten Tage</c:v>
                </c:pt>
              </c:strCache>
            </c:strRef>
          </c:tx>
          <c:spPr>
            <a:solidFill>
              <a:schemeClr val="accent4"/>
            </a:solidFill>
            <a:ln>
              <a:noFill/>
            </a:ln>
            <a:effectLst/>
          </c:spPr>
          <c:invertIfNegative val="0"/>
          <c:cat>
            <c:strRef>
              <c:f>Tabelle1!$A$2:$A$5</c:f>
              <c:strCache>
                <c:ptCount val="4"/>
                <c:pt idx="0">
                  <c:v>Dax</c:v>
                </c:pt>
                <c:pt idx="1">
                  <c:v>MSCI Europa</c:v>
                </c:pt>
                <c:pt idx="2">
                  <c:v>S&amp;P 500</c:v>
                </c:pt>
                <c:pt idx="3">
                  <c:v>MSCI Welt</c:v>
                </c:pt>
              </c:strCache>
            </c:strRef>
          </c:cat>
          <c:val>
            <c:numRef>
              <c:f>Tabelle1!$C$2:$C$5</c:f>
              <c:numCache>
                <c:formatCode>0.00%</c:formatCode>
                <c:ptCount val="4"/>
                <c:pt idx="0">
                  <c:v>5.3400000000000003E-2</c:v>
                </c:pt>
                <c:pt idx="1">
                  <c:v>3.3999999999999998E-3</c:v>
                </c:pt>
                <c:pt idx="2">
                  <c:v>6.7199999999999996E-2</c:v>
                </c:pt>
                <c:pt idx="3">
                  <c:v>6.1400000000000003E-2</c:v>
                </c:pt>
              </c:numCache>
            </c:numRef>
          </c:val>
          <c:extLst>
            <c:ext xmlns:c16="http://schemas.microsoft.com/office/drawing/2014/chart" uri="{C3380CC4-5D6E-409C-BE32-E72D297353CC}">
              <c16:uniqueId val="{00000001-504B-4C01-B29D-AE226A5B0417}"/>
            </c:ext>
          </c:extLst>
        </c:ser>
        <c:dLbls>
          <c:showLegendKey val="0"/>
          <c:showVal val="0"/>
          <c:showCatName val="0"/>
          <c:showSerName val="0"/>
          <c:showPercent val="0"/>
          <c:showBubbleSize val="0"/>
        </c:dLbls>
        <c:gapWidth val="186"/>
        <c:overlap val="46"/>
        <c:axId val="1907376352"/>
        <c:axId val="1019157360"/>
      </c:barChart>
      <c:catAx>
        <c:axId val="190737635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019157360"/>
        <c:crosses val="autoZero"/>
        <c:auto val="1"/>
        <c:lblAlgn val="ctr"/>
        <c:lblOffset val="100"/>
        <c:noMultiLvlLbl val="0"/>
      </c:catAx>
      <c:valAx>
        <c:axId val="1019157360"/>
        <c:scaling>
          <c:orientation val="minMax"/>
          <c:max val="0.11000000000000001"/>
        </c:scaling>
        <c:delete val="0"/>
        <c:axPos val="l"/>
        <c:majorGridlines>
          <c:spPr>
            <a:ln w="9525" cap="flat" cmpd="sng" algn="ctr">
              <a:solidFill>
                <a:schemeClr val="tx1">
                  <a:lumMod val="15000"/>
                  <a:lumOff val="8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907376352"/>
        <c:crosses val="autoZero"/>
        <c:crossBetween val="between"/>
      </c:valAx>
      <c:spPr>
        <a:noFill/>
        <a:ln>
          <a:noFill/>
        </a:ln>
        <a:effectLst/>
      </c:spPr>
    </c:plotArea>
    <c:legend>
      <c:legendPos val="b"/>
      <c:layout>
        <c:manualLayout>
          <c:xMode val="edge"/>
          <c:yMode val="edge"/>
          <c:x val="5.4494293607666375E-3"/>
          <c:y val="0.92928384651809426"/>
          <c:w val="0.31999087813339966"/>
          <c:h val="4.4129393100948627E-2"/>
        </c:manualLayout>
      </c:layout>
      <c:overlay val="0"/>
      <c:spPr>
        <a:noFill/>
        <a:ln>
          <a:noFill/>
        </a:ln>
        <a:effectLst/>
      </c:spPr>
      <c:txPr>
        <a:bodyPr rot="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7245811243981748E-2"/>
          <c:y val="8.6153702611283134E-2"/>
          <c:w val="0.96275418875601826"/>
          <c:h val="0.74667110670667614"/>
        </c:manualLayout>
      </c:layout>
      <c:barChart>
        <c:barDir val="col"/>
        <c:grouping val="stacked"/>
        <c:varyColors val="0"/>
        <c:ser>
          <c:idx val="0"/>
          <c:order val="0"/>
          <c:tx>
            <c:strRef>
              <c:f>Tabelle1!$B$1</c:f>
              <c:strCache>
                <c:ptCount val="1"/>
                <c:pt idx="0">
                  <c:v>Beste</c:v>
                </c:pt>
              </c:strCache>
            </c:strRef>
          </c:tx>
          <c:spPr>
            <a:solidFill>
              <a:schemeClr val="tx2"/>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de-DE"/>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Tabelle1!$A$2:$A$4</c:f>
              <c:strCache>
                <c:ptCount val="3"/>
                <c:pt idx="0">
                  <c:v>1 Jahr</c:v>
                </c:pt>
                <c:pt idx="1">
                  <c:v>3 Jahre</c:v>
                </c:pt>
                <c:pt idx="2">
                  <c:v>5 Jahre</c:v>
                </c:pt>
              </c:strCache>
            </c:strRef>
          </c:cat>
          <c:val>
            <c:numRef>
              <c:f>Tabelle1!$B$2:$B$4</c:f>
              <c:numCache>
                <c:formatCode>0%</c:formatCode>
                <c:ptCount val="3"/>
                <c:pt idx="0">
                  <c:v>0.74021134628708407</c:v>
                </c:pt>
                <c:pt idx="1">
                  <c:v>0.40762243693508093</c:v>
                </c:pt>
                <c:pt idx="2">
                  <c:v>0.32279086113967437</c:v>
                </c:pt>
              </c:numCache>
            </c:numRef>
          </c:val>
          <c:extLst>
            <c:ext xmlns:c16="http://schemas.microsoft.com/office/drawing/2014/chart" uri="{C3380CC4-5D6E-409C-BE32-E72D297353CC}">
              <c16:uniqueId val="{00000000-504B-4C01-B29D-AE226A5B0417}"/>
            </c:ext>
          </c:extLst>
        </c:ser>
        <c:ser>
          <c:idx val="1"/>
          <c:order val="1"/>
          <c:tx>
            <c:strRef>
              <c:f>Tabelle1!$C$1</c:f>
              <c:strCache>
                <c:ptCount val="1"/>
                <c:pt idx="0">
                  <c:v>Schlechteste</c:v>
                </c:pt>
              </c:strCache>
            </c:strRef>
          </c:tx>
          <c:spPr>
            <a:solidFill>
              <a:srgbClr val="A91A4D"/>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de-DE"/>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Tabelle1!$A$2:$A$4</c:f>
              <c:strCache>
                <c:ptCount val="3"/>
                <c:pt idx="0">
                  <c:v>1 Jahr</c:v>
                </c:pt>
                <c:pt idx="1">
                  <c:v>3 Jahre</c:v>
                </c:pt>
                <c:pt idx="2">
                  <c:v>5 Jahre</c:v>
                </c:pt>
              </c:strCache>
            </c:strRef>
          </c:cat>
          <c:val>
            <c:numRef>
              <c:f>Tabelle1!$C$2:$C$4</c:f>
              <c:numCache>
                <c:formatCode>0%</c:formatCode>
                <c:ptCount val="3"/>
                <c:pt idx="0">
                  <c:v>-0.51942884840651127</c:v>
                </c:pt>
                <c:pt idx="1">
                  <c:v>-0.19661063351635966</c:v>
                </c:pt>
                <c:pt idx="2">
                  <c:v>-8.5308273395607093E-2</c:v>
                </c:pt>
              </c:numCache>
            </c:numRef>
          </c:val>
          <c:extLst>
            <c:ext xmlns:c16="http://schemas.microsoft.com/office/drawing/2014/chart" uri="{C3380CC4-5D6E-409C-BE32-E72D297353CC}">
              <c16:uniqueId val="{00000001-504B-4C01-B29D-AE226A5B0417}"/>
            </c:ext>
          </c:extLst>
        </c:ser>
        <c:dLbls>
          <c:showLegendKey val="0"/>
          <c:showVal val="0"/>
          <c:showCatName val="0"/>
          <c:showSerName val="0"/>
          <c:showPercent val="0"/>
          <c:showBubbleSize val="0"/>
        </c:dLbls>
        <c:gapWidth val="186"/>
        <c:overlap val="100"/>
        <c:axId val="1907376352"/>
        <c:axId val="1019157360"/>
      </c:barChart>
      <c:catAx>
        <c:axId val="1907376352"/>
        <c:scaling>
          <c:orientation val="minMax"/>
        </c:scaling>
        <c:delete val="0"/>
        <c:axPos val="b"/>
        <c:numFmt formatCode="General" sourceLinked="1"/>
        <c:majorTickMark val="none"/>
        <c:minorTickMark val="none"/>
        <c:tickLblPos val="low"/>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019157360"/>
        <c:crosses val="autoZero"/>
        <c:auto val="1"/>
        <c:lblAlgn val="ctr"/>
        <c:lblOffset val="100"/>
        <c:noMultiLvlLbl val="0"/>
      </c:catAx>
      <c:valAx>
        <c:axId val="1019157360"/>
        <c:scaling>
          <c:orientation val="minMax"/>
          <c:max val="0.8"/>
        </c:scaling>
        <c:delete val="0"/>
        <c:axPos val="l"/>
        <c:majorGridlines>
          <c:spPr>
            <a:ln w="9525" cap="flat" cmpd="sng" algn="ctr">
              <a:solidFill>
                <a:schemeClr val="tx1">
                  <a:lumMod val="15000"/>
                  <a:lumOff val="8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907376352"/>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7245811243981748E-2"/>
          <c:y val="1.7409691339994985E-2"/>
          <c:w val="0.96275418875601826"/>
          <c:h val="0.81541522421299895"/>
        </c:manualLayout>
      </c:layout>
      <c:barChart>
        <c:barDir val="bar"/>
        <c:grouping val="clustered"/>
        <c:varyColors val="0"/>
        <c:ser>
          <c:idx val="0"/>
          <c:order val="0"/>
          <c:tx>
            <c:strRef>
              <c:f>Tabelle1!$B$1</c:f>
              <c:strCache>
                <c:ptCount val="1"/>
                <c:pt idx="0">
                  <c:v>Max Drawdown</c:v>
                </c:pt>
              </c:strCache>
            </c:strRef>
          </c:tx>
          <c:spPr>
            <a:solidFill>
              <a:srgbClr val="A91A4D"/>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700" b="1" i="0" u="none" strike="noStrike" kern="1200" baseline="0">
                    <a:solidFill>
                      <a:schemeClr val="bg1"/>
                    </a:solidFill>
                    <a:latin typeface="+mn-lt"/>
                    <a:ea typeface="+mn-ea"/>
                    <a:cs typeface="+mn-cs"/>
                  </a:defRPr>
                </a:pPr>
                <a:endParaRPr lang="de-DE"/>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Tabelle1!$A$2:$A$8</c:f>
              <c:strCache>
                <c:ptCount val="7"/>
                <c:pt idx="0">
                  <c:v>Corona Crash: 12.02.2020 bis 23.03.2020</c:v>
                </c:pt>
                <c:pt idx="1">
                  <c:v>Bärenmarkt: 31.10.2007 bis 09.03.2009</c:v>
                </c:pt>
                <c:pt idx="2">
                  <c:v>Bärenmarkt: 27.03.2000 bis 09.10.2002</c:v>
                </c:pt>
                <c:pt idx="3">
                  <c:v>Crash: 20.07.1998 bis 05.10.1998</c:v>
                </c:pt>
                <c:pt idx="4">
                  <c:v>Bärenmarkt: 04.01.1990 bis 28.09.1990</c:v>
                </c:pt>
                <c:pt idx="5">
                  <c:v>Crash: 27.08.1987 bis 26.10.1987</c:v>
                </c:pt>
                <c:pt idx="6">
                  <c:v>Bärenmarkt: 20.11.1980 bis 12.08.1982</c:v>
                </c:pt>
              </c:strCache>
            </c:strRef>
          </c:cat>
          <c:val>
            <c:numRef>
              <c:f>Tabelle1!$B$2:$B$8</c:f>
              <c:numCache>
                <c:formatCode>0%</c:formatCode>
                <c:ptCount val="7"/>
                <c:pt idx="0">
                  <c:v>-0.34203577075504632</c:v>
                </c:pt>
                <c:pt idx="1">
                  <c:v>-0.59066781585282491</c:v>
                </c:pt>
                <c:pt idx="2">
                  <c:v>-0.51427427593252162</c:v>
                </c:pt>
                <c:pt idx="3">
                  <c:v>-0.20532831707423782</c:v>
                </c:pt>
                <c:pt idx="4">
                  <c:v>-0.25897516724457992</c:v>
                </c:pt>
                <c:pt idx="5">
                  <c:v>-0.23699760017746585</c:v>
                </c:pt>
                <c:pt idx="6">
                  <c:v>-0.28150036416605972</c:v>
                </c:pt>
              </c:numCache>
            </c:numRef>
          </c:val>
          <c:extLst>
            <c:ext xmlns:c16="http://schemas.microsoft.com/office/drawing/2014/chart" uri="{C3380CC4-5D6E-409C-BE32-E72D297353CC}">
              <c16:uniqueId val="{00000000-504B-4C01-B29D-AE226A5B0417}"/>
            </c:ext>
          </c:extLst>
        </c:ser>
        <c:ser>
          <c:idx val="1"/>
          <c:order val="1"/>
          <c:tx>
            <c:strRef>
              <c:f>Tabelle1!$C$1</c:f>
              <c:strCache>
                <c:ptCount val="1"/>
                <c:pt idx="0">
                  <c:v>1 Jahr</c:v>
                </c:pt>
              </c:strCache>
            </c:strRef>
          </c:tx>
          <c:spPr>
            <a:solidFill>
              <a:schemeClr val="accent2"/>
            </a:solidFill>
            <a:ln>
              <a:noFill/>
            </a:ln>
            <a:effectLst/>
          </c:spPr>
          <c:invertIfNegative val="0"/>
          <c:dLbls>
            <c:dLbl>
              <c:idx val="0"/>
              <c:layout>
                <c:manualLayout>
                  <c:x val="-0.79830364381501218"/>
                  <c:y val="2.1184122295676684E-2"/>
                </c:manualLayout>
              </c:layout>
              <c:spPr>
                <a:solidFill>
                  <a:schemeClr val="bg1"/>
                </a:solidFill>
                <a:ln>
                  <a:noFill/>
                </a:ln>
                <a:effectLst/>
              </c:spPr>
              <c:txPr>
                <a:bodyPr rot="0" spcFirstLastPara="1" vertOverflow="ellipsis" vert="horz" wrap="square" lIns="38100" tIns="0" rIns="38100" bIns="0" anchor="ctr" anchorCtr="0">
                  <a:noAutofit/>
                </a:bodyPr>
                <a:lstStyle/>
                <a:p>
                  <a:pPr algn="l">
                    <a:defRPr sz="700" b="1" i="0" u="none" strike="noStrike" kern="1200" baseline="0">
                      <a:solidFill>
                        <a:schemeClr val="tx1">
                          <a:lumMod val="75000"/>
                          <a:lumOff val="25000"/>
                        </a:schemeClr>
                      </a:solidFill>
                      <a:latin typeface="+mn-lt"/>
                      <a:ea typeface="+mn-ea"/>
                      <a:cs typeface="+mn-cs"/>
                    </a:defRPr>
                  </a:pPr>
                  <a:endParaRPr lang="de-DE"/>
                </a:p>
              </c:txPr>
              <c:dLblPos val="outEnd"/>
              <c:showLegendKey val="0"/>
              <c:showVal val="0"/>
              <c:showCatName val="1"/>
              <c:showSerName val="0"/>
              <c:showPercent val="0"/>
              <c:showBubbleSize val="0"/>
              <c:extLst>
                <c:ext xmlns:c15="http://schemas.microsoft.com/office/drawing/2012/chart" uri="{CE6537A1-D6FC-4f65-9D91-7224C49458BB}">
                  <c15:layout>
                    <c:manualLayout>
                      <c:w val="0.19435472854970115"/>
                      <c:h val="4.6767651594852695E-2"/>
                    </c:manualLayout>
                  </c15:layout>
                </c:ext>
                <c:ext xmlns:c16="http://schemas.microsoft.com/office/drawing/2014/chart" uri="{C3380CC4-5D6E-409C-BE32-E72D297353CC}">
                  <c16:uniqueId val="{00000007-43DB-446D-B42F-873862D35EE3}"/>
                </c:ext>
              </c:extLst>
            </c:dLbl>
            <c:dLbl>
              <c:idx val="1"/>
              <c:layout>
                <c:manualLayout>
                  <c:x val="-0.80989499853368119"/>
                  <c:y val="2.1184122295676785E-2"/>
                </c:manualLayout>
              </c:layout>
              <c:spPr>
                <a:solidFill>
                  <a:schemeClr val="bg1"/>
                </a:solidFill>
                <a:ln>
                  <a:noFill/>
                </a:ln>
                <a:effectLst/>
              </c:spPr>
              <c:txPr>
                <a:bodyPr rot="0" spcFirstLastPara="1" vertOverflow="ellipsis" vert="horz" wrap="square" lIns="38100" tIns="0" rIns="38100" bIns="0" anchor="ctr" anchorCtr="0">
                  <a:noAutofit/>
                </a:bodyPr>
                <a:lstStyle/>
                <a:p>
                  <a:pPr algn="l">
                    <a:defRPr sz="700" b="1" i="0" u="none" strike="noStrike" kern="1200" baseline="0">
                      <a:solidFill>
                        <a:schemeClr val="tx1">
                          <a:lumMod val="75000"/>
                          <a:lumOff val="25000"/>
                        </a:schemeClr>
                      </a:solidFill>
                      <a:latin typeface="+mn-lt"/>
                      <a:ea typeface="+mn-ea"/>
                      <a:cs typeface="+mn-cs"/>
                    </a:defRPr>
                  </a:pPr>
                  <a:endParaRPr lang="de-DE"/>
                </a:p>
              </c:txPr>
              <c:dLblPos val="outEnd"/>
              <c:showLegendKey val="0"/>
              <c:showVal val="0"/>
              <c:showCatName val="1"/>
              <c:showSerName val="0"/>
              <c:showPercent val="0"/>
              <c:showBubbleSize val="0"/>
              <c:extLst>
                <c:ext xmlns:c15="http://schemas.microsoft.com/office/drawing/2012/chart" uri="{CE6537A1-D6FC-4f65-9D91-7224C49458BB}">
                  <c15:layout>
                    <c:manualLayout>
                      <c:w val="0.18335351749971809"/>
                      <c:h val="4.6767651594852695E-2"/>
                    </c:manualLayout>
                  </c15:layout>
                </c:ext>
                <c:ext xmlns:c16="http://schemas.microsoft.com/office/drawing/2014/chart" uri="{C3380CC4-5D6E-409C-BE32-E72D297353CC}">
                  <c16:uniqueId val="{00000006-43DB-446D-B42F-873862D35EE3}"/>
                </c:ext>
              </c:extLst>
            </c:dLbl>
            <c:dLbl>
              <c:idx val="2"/>
              <c:layout>
                <c:manualLayout>
                  <c:x val="-0.67509125148045235"/>
                  <c:y val="1.2934828194918046E-2"/>
                </c:manualLayout>
              </c:layout>
              <c:spPr>
                <a:solidFill>
                  <a:schemeClr val="bg1"/>
                </a:solidFill>
                <a:ln>
                  <a:noFill/>
                </a:ln>
                <a:effectLst/>
              </c:spPr>
              <c:txPr>
                <a:bodyPr rot="0" spcFirstLastPara="1" vertOverflow="ellipsis" vert="horz" wrap="square" lIns="38100" tIns="0" rIns="38100" bIns="0" anchor="ctr" anchorCtr="0">
                  <a:noAutofit/>
                </a:bodyPr>
                <a:lstStyle/>
                <a:p>
                  <a:pPr algn="l">
                    <a:defRPr sz="700" b="1" i="0" u="none" strike="noStrike" kern="1200" baseline="0">
                      <a:solidFill>
                        <a:schemeClr val="tx1">
                          <a:lumMod val="75000"/>
                          <a:lumOff val="25000"/>
                        </a:schemeClr>
                      </a:solidFill>
                      <a:latin typeface="+mn-lt"/>
                      <a:ea typeface="+mn-ea"/>
                      <a:cs typeface="+mn-cs"/>
                    </a:defRPr>
                  </a:pPr>
                  <a:endParaRPr lang="de-DE"/>
                </a:p>
              </c:txPr>
              <c:dLblPos val="outEnd"/>
              <c:showLegendKey val="0"/>
              <c:showVal val="0"/>
              <c:showCatName val="1"/>
              <c:showSerName val="0"/>
              <c:showPercent val="0"/>
              <c:showBubbleSize val="0"/>
              <c:extLst>
                <c:ext xmlns:c15="http://schemas.microsoft.com/office/drawing/2012/chart" uri="{CE6537A1-D6FC-4f65-9D91-7224C49458BB}">
                  <c15:layout>
                    <c:manualLayout>
                      <c:w val="0.18702058784971246"/>
                      <c:h val="4.6767651594852695E-2"/>
                    </c:manualLayout>
                  </c15:layout>
                </c:ext>
                <c:ext xmlns:c16="http://schemas.microsoft.com/office/drawing/2014/chart" uri="{C3380CC4-5D6E-409C-BE32-E72D297353CC}">
                  <c16:uniqueId val="{00000005-43DB-446D-B42F-873862D35EE3}"/>
                </c:ext>
              </c:extLst>
            </c:dLbl>
            <c:dLbl>
              <c:idx val="3"/>
              <c:layout>
                <c:manualLayout>
                  <c:x val="-0.67631197845473934"/>
                  <c:y val="2.9433199879529942E-2"/>
                </c:manualLayout>
              </c:layout>
              <c:spPr>
                <a:solidFill>
                  <a:schemeClr val="bg1"/>
                </a:solidFill>
                <a:ln>
                  <a:noFill/>
                </a:ln>
                <a:effectLst/>
              </c:spPr>
              <c:txPr>
                <a:bodyPr rot="0" spcFirstLastPara="1" vertOverflow="ellipsis" vert="horz" wrap="square" lIns="38100" tIns="0" rIns="38100" bIns="0" anchor="ctr" anchorCtr="0">
                  <a:noAutofit/>
                </a:bodyPr>
                <a:lstStyle/>
                <a:p>
                  <a:pPr algn="l">
                    <a:defRPr sz="700" b="1" i="0" u="none" strike="noStrike" kern="1200" baseline="0">
                      <a:solidFill>
                        <a:schemeClr val="tx1">
                          <a:lumMod val="75000"/>
                          <a:lumOff val="25000"/>
                        </a:schemeClr>
                      </a:solidFill>
                      <a:latin typeface="+mn-lt"/>
                      <a:ea typeface="+mn-ea"/>
                      <a:cs typeface="+mn-cs"/>
                    </a:defRPr>
                  </a:pPr>
                  <a:endParaRPr lang="de-DE"/>
                </a:p>
              </c:txPr>
              <c:dLblPos val="outEnd"/>
              <c:showLegendKey val="0"/>
              <c:showVal val="0"/>
              <c:showCatName val="1"/>
              <c:showSerName val="0"/>
              <c:showPercent val="0"/>
              <c:showBubbleSize val="0"/>
              <c:extLst>
                <c:ext xmlns:c15="http://schemas.microsoft.com/office/drawing/2012/chart" uri="{CE6537A1-D6FC-4f65-9D91-7224C49458BB}">
                  <c15:layout>
                    <c:manualLayout>
                      <c:w val="0.16501816574974629"/>
                      <c:h val="4.6767651594852695E-2"/>
                    </c:manualLayout>
                  </c15:layout>
                </c:ext>
                <c:ext xmlns:c16="http://schemas.microsoft.com/office/drawing/2014/chart" uri="{C3380CC4-5D6E-409C-BE32-E72D297353CC}">
                  <c16:uniqueId val="{00000004-43DB-446D-B42F-873862D35EE3}"/>
                </c:ext>
              </c:extLst>
            </c:dLbl>
            <c:dLbl>
              <c:idx val="4"/>
              <c:layout>
                <c:manualLayout>
                  <c:x val="-0.60480655134341599"/>
                  <c:y val="2.3933670479024168E-2"/>
                </c:manualLayout>
              </c:layout>
              <c:spPr>
                <a:solidFill>
                  <a:schemeClr val="bg1"/>
                </a:solidFill>
                <a:ln>
                  <a:noFill/>
                </a:ln>
                <a:effectLst/>
              </c:spPr>
              <c:txPr>
                <a:bodyPr rot="0" spcFirstLastPara="1" vertOverflow="ellipsis" vert="horz" wrap="square" lIns="38100" tIns="0" rIns="38100" bIns="0" anchor="ctr" anchorCtr="0">
                  <a:noAutofit/>
                </a:bodyPr>
                <a:lstStyle/>
                <a:p>
                  <a:pPr algn="l">
                    <a:defRPr sz="700" b="1" i="0" u="none" strike="noStrike" kern="1200" baseline="0">
                      <a:solidFill>
                        <a:schemeClr val="tx1">
                          <a:lumMod val="75000"/>
                          <a:lumOff val="25000"/>
                        </a:schemeClr>
                      </a:solidFill>
                      <a:latin typeface="+mn-lt"/>
                      <a:ea typeface="+mn-ea"/>
                      <a:cs typeface="+mn-cs"/>
                    </a:defRPr>
                  </a:pPr>
                  <a:endParaRPr lang="de-DE"/>
                </a:p>
              </c:txPr>
              <c:dLblPos val="outEnd"/>
              <c:showLegendKey val="0"/>
              <c:showVal val="0"/>
              <c:showCatName val="1"/>
              <c:showSerName val="0"/>
              <c:showPercent val="0"/>
              <c:showBubbleSize val="0"/>
              <c:extLst>
                <c:ext xmlns:c15="http://schemas.microsoft.com/office/drawing/2012/chart" uri="{CE6537A1-D6FC-4f65-9D91-7224C49458BB}">
                  <c15:layout>
                    <c:manualLayout>
                      <c:w val="0.19802179889969557"/>
                      <c:h val="4.6767651594852695E-2"/>
                    </c:manualLayout>
                  </c15:layout>
                </c:ext>
                <c:ext xmlns:c16="http://schemas.microsoft.com/office/drawing/2014/chart" uri="{C3380CC4-5D6E-409C-BE32-E72D297353CC}">
                  <c16:uniqueId val="{00000003-43DB-446D-B42F-873862D35EE3}"/>
                </c:ext>
              </c:extLst>
            </c:dLbl>
            <c:dLbl>
              <c:idx val="5"/>
              <c:layout>
                <c:manualLayout>
                  <c:x val="0.27716481678246968"/>
                  <c:y val="2.3933886995929674E-2"/>
                </c:manualLayout>
              </c:layout>
              <c:spPr>
                <a:solidFill>
                  <a:schemeClr val="bg1"/>
                </a:solidFill>
                <a:ln>
                  <a:noFill/>
                </a:ln>
                <a:effectLst/>
              </c:spPr>
              <c:txPr>
                <a:bodyPr rot="0" spcFirstLastPara="1" vertOverflow="ellipsis" vert="horz" wrap="square" lIns="38100" tIns="0" rIns="38100" bIns="0" anchor="ctr" anchorCtr="0">
                  <a:noAutofit/>
                </a:bodyPr>
                <a:lstStyle/>
                <a:p>
                  <a:pPr algn="l">
                    <a:defRPr sz="700" b="1" i="0" u="none" strike="noStrike" kern="1200" baseline="0">
                      <a:solidFill>
                        <a:schemeClr val="tx1">
                          <a:lumMod val="75000"/>
                          <a:lumOff val="25000"/>
                        </a:schemeClr>
                      </a:solidFill>
                      <a:latin typeface="+mn-lt"/>
                      <a:ea typeface="+mn-ea"/>
                      <a:cs typeface="+mn-cs"/>
                    </a:defRPr>
                  </a:pPr>
                  <a:endParaRPr lang="de-DE"/>
                </a:p>
              </c:txPr>
              <c:dLblPos val="outEnd"/>
              <c:showLegendKey val="0"/>
              <c:showVal val="0"/>
              <c:showCatName val="1"/>
              <c:showSerName val="0"/>
              <c:showPercent val="0"/>
              <c:showBubbleSize val="0"/>
              <c:extLst>
                <c:ext xmlns:c15="http://schemas.microsoft.com/office/drawing/2012/chart" uri="{CE6537A1-D6FC-4f65-9D91-7224C49458BB}">
                  <c15:layout>
                    <c:manualLayout>
                      <c:w val="0.1540169546997632"/>
                      <c:h val="4.6767651594852695E-2"/>
                    </c:manualLayout>
                  </c15:layout>
                </c:ext>
                <c:ext xmlns:c16="http://schemas.microsoft.com/office/drawing/2014/chart" uri="{C3380CC4-5D6E-409C-BE32-E72D297353CC}">
                  <c16:uniqueId val="{00000002-43DB-446D-B42F-873862D35EE3}"/>
                </c:ext>
              </c:extLst>
            </c:dLbl>
            <c:dLbl>
              <c:idx val="6"/>
              <c:layout>
                <c:manualLayout>
                  <c:x val="-0.73034906129620136"/>
                  <c:y val="2.3933886995929687E-2"/>
                </c:manualLayout>
              </c:layout>
              <c:spPr>
                <a:solidFill>
                  <a:schemeClr val="bg1"/>
                </a:solidFill>
                <a:ln>
                  <a:noFill/>
                </a:ln>
                <a:effectLst/>
              </c:spPr>
              <c:txPr>
                <a:bodyPr rot="0" spcFirstLastPara="1" vertOverflow="ellipsis" vert="horz" wrap="square" lIns="38100" tIns="0" rIns="38100" bIns="0" anchor="ctr" anchorCtr="0">
                  <a:noAutofit/>
                </a:bodyPr>
                <a:lstStyle/>
                <a:p>
                  <a:pPr algn="l">
                    <a:defRPr sz="700" b="1" i="0" u="none" strike="noStrike" kern="1200" baseline="0">
                      <a:solidFill>
                        <a:schemeClr val="tx1">
                          <a:lumMod val="75000"/>
                          <a:lumOff val="25000"/>
                        </a:schemeClr>
                      </a:solidFill>
                      <a:latin typeface="+mn-lt"/>
                      <a:ea typeface="+mn-ea"/>
                      <a:cs typeface="+mn-cs"/>
                    </a:defRPr>
                  </a:pPr>
                  <a:endParaRPr lang="de-DE"/>
                </a:p>
              </c:txPr>
              <c:dLblPos val="outEnd"/>
              <c:showLegendKey val="0"/>
              <c:showVal val="0"/>
              <c:showCatName val="1"/>
              <c:showSerName val="0"/>
              <c:showPercent val="0"/>
              <c:showBubbleSize val="0"/>
              <c:extLst>
                <c:ext xmlns:c15="http://schemas.microsoft.com/office/drawing/2012/chart" uri="{CE6537A1-D6FC-4f65-9D91-7224C49458BB}">
                  <c15:layout>
                    <c:manualLayout>
                      <c:w val="0.20168886924968993"/>
                      <c:h val="4.6767651594852695E-2"/>
                    </c:manualLayout>
                  </c15:layout>
                </c:ext>
                <c:ext xmlns:c16="http://schemas.microsoft.com/office/drawing/2014/chart" uri="{C3380CC4-5D6E-409C-BE32-E72D297353CC}">
                  <c16:uniqueId val="{00000001-43DB-446D-B42F-873862D35EE3}"/>
                </c:ext>
              </c:extLst>
            </c:dLbl>
            <c:spPr>
              <a:solidFill>
                <a:schemeClr val="bg1"/>
              </a:solidFill>
              <a:ln>
                <a:noFill/>
              </a:ln>
              <a:effectLst/>
            </c:spPr>
            <c:txPr>
              <a:bodyPr rot="0" spcFirstLastPara="1" vertOverflow="ellipsis" vert="horz" wrap="square" lIns="38100" tIns="0" rIns="38100" bIns="0" anchor="ctr" anchorCtr="0">
                <a:spAutoFit/>
              </a:bodyPr>
              <a:lstStyle/>
              <a:p>
                <a:pPr algn="l">
                  <a:defRPr sz="700" b="1" i="0" u="none" strike="noStrike" kern="1200" baseline="0">
                    <a:solidFill>
                      <a:schemeClr val="tx1">
                        <a:lumMod val="75000"/>
                        <a:lumOff val="25000"/>
                      </a:schemeClr>
                    </a:solidFill>
                    <a:latin typeface="+mn-lt"/>
                    <a:ea typeface="+mn-ea"/>
                    <a:cs typeface="+mn-cs"/>
                  </a:defRPr>
                </a:pPr>
                <a:endParaRPr lang="de-DE"/>
              </a:p>
            </c:txPr>
            <c:dLblPos val="outEnd"/>
            <c:showLegendKey val="0"/>
            <c:showVal val="0"/>
            <c:showCatName val="1"/>
            <c:showSerName val="0"/>
            <c:showPercent val="0"/>
            <c:showBubbleSize val="0"/>
            <c:showLeaderLines val="0"/>
            <c:extLst>
              <c:ext xmlns:c15="http://schemas.microsoft.com/office/drawing/2012/chart" uri="{CE6537A1-D6FC-4f65-9D91-7224C49458BB}">
                <c15:showLeaderLines val="0"/>
              </c:ext>
            </c:extLst>
          </c:dLbls>
          <c:cat>
            <c:strRef>
              <c:f>Tabelle1!$A$2:$A$8</c:f>
              <c:strCache>
                <c:ptCount val="7"/>
                <c:pt idx="0">
                  <c:v>Corona Crash: 12.02.2020 bis 23.03.2020</c:v>
                </c:pt>
                <c:pt idx="1">
                  <c:v>Bärenmarkt: 31.10.2007 bis 09.03.2009</c:v>
                </c:pt>
                <c:pt idx="2">
                  <c:v>Bärenmarkt: 27.03.2000 bis 09.10.2002</c:v>
                </c:pt>
                <c:pt idx="3">
                  <c:v>Crash: 20.07.1998 bis 05.10.1998</c:v>
                </c:pt>
                <c:pt idx="4">
                  <c:v>Bärenmarkt: 04.01.1990 bis 28.09.1990</c:v>
                </c:pt>
                <c:pt idx="5">
                  <c:v>Crash: 27.08.1987 bis 26.10.1987</c:v>
                </c:pt>
                <c:pt idx="6">
                  <c:v>Bärenmarkt: 20.11.1980 bis 12.08.1982</c:v>
                </c:pt>
              </c:strCache>
            </c:strRef>
          </c:cat>
          <c:val>
            <c:numRef>
              <c:f>Tabelle1!$C$2:$C$8</c:f>
              <c:numCache>
                <c:formatCode>0%</c:formatCode>
                <c:ptCount val="7"/>
                <c:pt idx="0">
                  <c:v>0.74021134628708407</c:v>
                </c:pt>
                <c:pt idx="1">
                  <c:v>0.69966891263940534</c:v>
                </c:pt>
                <c:pt idx="2">
                  <c:v>0.35542134432286465</c:v>
                </c:pt>
                <c:pt idx="3">
                  <c:v>0.35796624351789674</c:v>
                </c:pt>
                <c:pt idx="4">
                  <c:v>0.20889067448125909</c:v>
                </c:pt>
                <c:pt idx="5">
                  <c:v>-0.1221489503297235</c:v>
                </c:pt>
                <c:pt idx="6">
                  <c:v>0.47254603818212537</c:v>
                </c:pt>
              </c:numCache>
            </c:numRef>
          </c:val>
          <c:extLst>
            <c:ext xmlns:c16="http://schemas.microsoft.com/office/drawing/2014/chart" uri="{C3380CC4-5D6E-409C-BE32-E72D297353CC}">
              <c16:uniqueId val="{00000001-504B-4C01-B29D-AE226A5B0417}"/>
            </c:ext>
          </c:extLst>
        </c:ser>
        <c:ser>
          <c:idx val="2"/>
          <c:order val="2"/>
          <c:tx>
            <c:strRef>
              <c:f>Tabelle1!$D$1</c:f>
              <c:strCache>
                <c:ptCount val="1"/>
                <c:pt idx="0">
                  <c:v>3 Jahre</c:v>
                </c:pt>
              </c:strCache>
            </c:strRef>
          </c:tx>
          <c:spPr>
            <a:solidFill>
              <a:schemeClr val="tx2"/>
            </a:solidFill>
            <a:ln>
              <a:noFill/>
            </a:ln>
            <a:effectLst/>
          </c:spPr>
          <c:invertIfNegative val="0"/>
          <c:dLbls>
            <c:delete val="1"/>
          </c:dLbls>
          <c:cat>
            <c:strRef>
              <c:f>Tabelle1!$A$2:$A$8</c:f>
              <c:strCache>
                <c:ptCount val="7"/>
                <c:pt idx="0">
                  <c:v>Corona Crash: 12.02.2020 bis 23.03.2020</c:v>
                </c:pt>
                <c:pt idx="1">
                  <c:v>Bärenmarkt: 31.10.2007 bis 09.03.2009</c:v>
                </c:pt>
                <c:pt idx="2">
                  <c:v>Bärenmarkt: 27.03.2000 bis 09.10.2002</c:v>
                </c:pt>
                <c:pt idx="3">
                  <c:v>Crash: 20.07.1998 bis 05.10.1998</c:v>
                </c:pt>
                <c:pt idx="4">
                  <c:v>Bärenmarkt: 04.01.1990 bis 28.09.1990</c:v>
                </c:pt>
                <c:pt idx="5">
                  <c:v>Crash: 27.08.1987 bis 26.10.1987</c:v>
                </c:pt>
                <c:pt idx="6">
                  <c:v>Bärenmarkt: 20.11.1980 bis 12.08.1982</c:v>
                </c:pt>
              </c:strCache>
            </c:strRef>
          </c:cat>
          <c:val>
            <c:numRef>
              <c:f>Tabelle1!$D$2:$D$8</c:f>
              <c:numCache>
                <c:formatCode>0%</c:formatCode>
                <c:ptCount val="7"/>
                <c:pt idx="0">
                  <c:v>0.68331138311351913</c:v>
                </c:pt>
                <c:pt idx="1">
                  <c:v>0.87595841078066905</c:v>
                </c:pt>
                <c:pt idx="2">
                  <c:v>0.69670314054284499</c:v>
                </c:pt>
                <c:pt idx="3">
                  <c:v>4.8707983308927894E-2</c:v>
                </c:pt>
                <c:pt idx="4">
                  <c:v>0.39939499929101485</c:v>
                </c:pt>
                <c:pt idx="5">
                  <c:v>-5.3804424546756269E-2</c:v>
                </c:pt>
                <c:pt idx="6">
                  <c:v>0.83569859773610422</c:v>
                </c:pt>
              </c:numCache>
            </c:numRef>
          </c:val>
          <c:extLst>
            <c:ext xmlns:c16="http://schemas.microsoft.com/office/drawing/2014/chart" uri="{C3380CC4-5D6E-409C-BE32-E72D297353CC}">
              <c16:uniqueId val="{00000000-43DB-446D-B42F-873862D35EE3}"/>
            </c:ext>
          </c:extLst>
        </c:ser>
        <c:dLbls>
          <c:dLblPos val="outEnd"/>
          <c:showLegendKey val="0"/>
          <c:showVal val="1"/>
          <c:showCatName val="0"/>
          <c:showSerName val="0"/>
          <c:showPercent val="0"/>
          <c:showBubbleSize val="0"/>
        </c:dLbls>
        <c:gapWidth val="68"/>
        <c:axId val="1907376352"/>
        <c:axId val="1019157360"/>
      </c:barChart>
      <c:catAx>
        <c:axId val="1907376352"/>
        <c:scaling>
          <c:orientation val="minMax"/>
        </c:scaling>
        <c:delete val="1"/>
        <c:axPos val="l"/>
        <c:numFmt formatCode="General" sourceLinked="1"/>
        <c:majorTickMark val="none"/>
        <c:minorTickMark val="none"/>
        <c:tickLblPos val="low"/>
        <c:crossAx val="1019157360"/>
        <c:crosses val="autoZero"/>
        <c:auto val="1"/>
        <c:lblAlgn val="ctr"/>
        <c:lblOffset val="100"/>
        <c:noMultiLvlLbl val="0"/>
      </c:catAx>
      <c:valAx>
        <c:axId val="1019157360"/>
        <c:scaling>
          <c:orientation val="minMax"/>
          <c:max val="1"/>
          <c:min val="-1"/>
        </c:scaling>
        <c:delete val="0"/>
        <c:axPos val="b"/>
        <c:majorGridlines>
          <c:spPr>
            <a:ln w="9525" cap="flat" cmpd="sng" algn="ctr">
              <a:solidFill>
                <a:schemeClr val="tx1">
                  <a:lumMod val="15000"/>
                  <a:lumOff val="8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907376352"/>
        <c:crosses val="autoZero"/>
        <c:crossBetween val="between"/>
      </c:valAx>
      <c:spPr>
        <a:noFill/>
        <a:ln>
          <a:noFill/>
        </a:ln>
        <a:effectLst/>
      </c:spPr>
    </c:plotArea>
    <c:legend>
      <c:legendPos val="b"/>
      <c:layout>
        <c:manualLayout>
          <c:xMode val="edge"/>
          <c:yMode val="edge"/>
          <c:x val="2.7136320589958281E-4"/>
          <c:y val="0.92928384651809426"/>
          <c:w val="0.16129987642595259"/>
          <c:h val="4.4129393100948627E-2"/>
        </c:manualLayout>
      </c:layout>
      <c:overlay val="0"/>
      <c:spPr>
        <a:noFill/>
        <a:ln>
          <a:noFill/>
        </a:ln>
        <a:effectLst/>
      </c:spPr>
      <c:txPr>
        <a:bodyPr rot="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9332960704607047"/>
          <c:y val="0.15984019607843136"/>
          <c:w val="0.6398809635607422"/>
          <c:h val="0.73741895141895142"/>
        </c:manualLayout>
      </c:layout>
      <c:doughnutChart>
        <c:varyColors val="1"/>
        <c:ser>
          <c:idx val="0"/>
          <c:order val="0"/>
          <c:dPt>
            <c:idx val="0"/>
            <c:bubble3D val="0"/>
            <c:spPr>
              <a:solidFill>
                <a:srgbClr val="14355C"/>
              </a:solidFill>
              <a:ln w="19050">
                <a:solidFill>
                  <a:schemeClr val="lt1"/>
                </a:solidFill>
              </a:ln>
              <a:effectLst/>
            </c:spPr>
            <c:extLst>
              <c:ext xmlns:c16="http://schemas.microsoft.com/office/drawing/2014/chart" uri="{C3380CC4-5D6E-409C-BE32-E72D297353CC}">
                <c16:uniqueId val="{00000001-E965-4782-B64C-193A939AA9D0}"/>
              </c:ext>
            </c:extLst>
          </c:dPt>
          <c:dPt>
            <c:idx val="1"/>
            <c:bubble3D val="0"/>
            <c:spPr>
              <a:solidFill>
                <a:srgbClr val="D1E9F8"/>
              </a:solidFill>
              <a:ln w="19050">
                <a:solidFill>
                  <a:schemeClr val="lt1"/>
                </a:solidFill>
              </a:ln>
              <a:effectLst/>
            </c:spPr>
            <c:extLst>
              <c:ext xmlns:c16="http://schemas.microsoft.com/office/drawing/2014/chart" uri="{C3380CC4-5D6E-409C-BE32-E72D297353CC}">
                <c16:uniqueId val="{00000003-E965-4782-B64C-193A939AA9D0}"/>
              </c:ext>
            </c:extLst>
          </c:dPt>
          <c:dLbls>
            <c:dLbl>
              <c:idx val="0"/>
              <c:layout>
                <c:manualLayout>
                  <c:x val="0.241207953672919"/>
                  <c:y val="7.3481429852324476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E965-4782-B64C-193A939AA9D0}"/>
                </c:ext>
              </c:extLst>
            </c:dLbl>
            <c:dLbl>
              <c:idx val="1"/>
              <c:layout>
                <c:manualLayout>
                  <c:x val="0.24155164957643199"/>
                  <c:y val="-5.5428542954268897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E965-4782-B64C-193A939AA9D0}"/>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solidFill>
                  <a:round/>
                  <a:tailEnd type="oval" w="sm" len="sm"/>
                </a:ln>
                <a:effectLst/>
              </c:spPr>
            </c:leaderLines>
            <c:extLst>
              <c:ext xmlns:c15="http://schemas.microsoft.com/office/drawing/2012/chart" uri="{CE6537A1-D6FC-4f65-9D91-7224C49458BB}"/>
            </c:extLst>
          </c:dLbls>
          <c:cat>
            <c:strRef>
              <c:f>[0]!R_LegendePro</c:f>
              <c:strCache>
                <c:ptCount val="2"/>
                <c:pt idx="0">
                  <c:v>AKTIEN </c:v>
                </c:pt>
                <c:pt idx="1">
                  <c:v>LIQUIDITÄT</c:v>
                </c:pt>
              </c:strCache>
            </c:strRef>
          </c:cat>
          <c:val>
            <c:numRef>
              <c:f>[0]!R_DatenPro</c:f>
              <c:numCache>
                <c:formatCode>0.00%</c:formatCode>
                <c:ptCount val="2"/>
                <c:pt idx="0">
                  <c:v>0.98089999999999999</c:v>
                </c:pt>
                <c:pt idx="1">
                  <c:v>1.9099999999999999E-2</c:v>
                </c:pt>
              </c:numCache>
            </c:numRef>
          </c:val>
          <c:extLst>
            <c:ext xmlns:c16="http://schemas.microsoft.com/office/drawing/2014/chart" uri="{C3380CC4-5D6E-409C-BE32-E72D297353CC}">
              <c16:uniqueId val="{00000004-E965-4782-B64C-193A939AA9D0}"/>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89147478931826241"/>
          <c:w val="0.18969068469375411"/>
          <c:h val="0.10852521068173762"/>
        </c:manualLayout>
      </c:layout>
      <c:overlay val="0"/>
      <c:spPr>
        <a:noFill/>
        <a:ln>
          <a:noFill/>
        </a:ln>
        <a:effectLst/>
      </c:spPr>
      <c:txPr>
        <a:bodyPr rot="0" spcFirstLastPara="1" vertOverflow="ellipsis" vert="horz" wrap="square" anchor="t" anchorCtr="0"/>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userShapes r:id="rId4"/>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41742046995029369"/>
          <c:y val="0.18658165306890723"/>
          <c:w val="0.41578671486669677"/>
          <c:h val="0.48958430326754543"/>
        </c:manualLayout>
      </c:layout>
      <c:doughnutChart>
        <c:varyColors val="1"/>
        <c:ser>
          <c:idx val="0"/>
          <c:order val="0"/>
          <c:dPt>
            <c:idx val="0"/>
            <c:bubble3D val="0"/>
            <c:spPr>
              <a:solidFill>
                <a:srgbClr val="14355C"/>
              </a:solidFill>
              <a:ln w="19050">
                <a:solidFill>
                  <a:schemeClr val="lt1"/>
                </a:solidFill>
              </a:ln>
              <a:effectLst/>
            </c:spPr>
            <c:extLst>
              <c:ext xmlns:c16="http://schemas.microsoft.com/office/drawing/2014/chart" uri="{C3380CC4-5D6E-409C-BE32-E72D297353CC}">
                <c16:uniqueId val="{00000001-501E-4CAE-870D-9E3296FED657}"/>
              </c:ext>
            </c:extLst>
          </c:dPt>
          <c:dPt>
            <c:idx val="1"/>
            <c:bubble3D val="0"/>
            <c:spPr>
              <a:solidFill>
                <a:srgbClr val="66A4CE"/>
              </a:solidFill>
              <a:ln w="19050">
                <a:solidFill>
                  <a:schemeClr val="lt1"/>
                </a:solidFill>
              </a:ln>
              <a:effectLst/>
            </c:spPr>
            <c:extLst>
              <c:ext xmlns:c16="http://schemas.microsoft.com/office/drawing/2014/chart" uri="{C3380CC4-5D6E-409C-BE32-E72D297353CC}">
                <c16:uniqueId val="{00000003-501E-4CAE-870D-9E3296FED657}"/>
              </c:ext>
            </c:extLst>
          </c:dPt>
          <c:dPt>
            <c:idx val="2"/>
            <c:bubble3D val="0"/>
            <c:spPr>
              <a:solidFill>
                <a:srgbClr val="5F8CA1"/>
              </a:solidFill>
              <a:ln w="19050">
                <a:solidFill>
                  <a:schemeClr val="lt1"/>
                </a:solidFill>
              </a:ln>
              <a:effectLst/>
            </c:spPr>
            <c:extLst>
              <c:ext xmlns:c16="http://schemas.microsoft.com/office/drawing/2014/chart" uri="{C3380CC4-5D6E-409C-BE32-E72D297353CC}">
                <c16:uniqueId val="{00000005-501E-4CAE-870D-9E3296FED657}"/>
              </c:ext>
            </c:extLst>
          </c:dPt>
          <c:dPt>
            <c:idx val="3"/>
            <c:bubble3D val="0"/>
            <c:spPr>
              <a:solidFill>
                <a:srgbClr val="D1E9F8"/>
              </a:solidFill>
              <a:ln w="19050">
                <a:solidFill>
                  <a:schemeClr val="lt1"/>
                </a:solidFill>
              </a:ln>
              <a:effectLst/>
            </c:spPr>
            <c:extLst>
              <c:ext xmlns:c16="http://schemas.microsoft.com/office/drawing/2014/chart" uri="{C3380CC4-5D6E-409C-BE32-E72D297353CC}">
                <c16:uniqueId val="{00000007-501E-4CAE-870D-9E3296FED657}"/>
              </c:ext>
            </c:extLst>
          </c:dPt>
          <c:dPt>
            <c:idx val="4"/>
            <c:bubble3D val="0"/>
            <c:spPr>
              <a:solidFill>
                <a:srgbClr val="72BA86"/>
              </a:solidFill>
              <a:ln w="19050">
                <a:solidFill>
                  <a:schemeClr val="lt1"/>
                </a:solidFill>
              </a:ln>
              <a:effectLst/>
            </c:spPr>
            <c:extLst>
              <c:ext xmlns:c16="http://schemas.microsoft.com/office/drawing/2014/chart" uri="{C3380CC4-5D6E-409C-BE32-E72D297353CC}">
                <c16:uniqueId val="{00000009-501E-4CAE-870D-9E3296FED657}"/>
              </c:ext>
            </c:extLst>
          </c:dPt>
          <c:dPt>
            <c:idx val="5"/>
            <c:bubble3D val="0"/>
            <c:spPr>
              <a:solidFill>
                <a:srgbClr val="BB9256"/>
              </a:solidFill>
              <a:ln w="19050">
                <a:solidFill>
                  <a:schemeClr val="lt1"/>
                </a:solidFill>
              </a:ln>
              <a:effectLst/>
            </c:spPr>
            <c:extLst>
              <c:ext xmlns:c16="http://schemas.microsoft.com/office/drawing/2014/chart" uri="{C3380CC4-5D6E-409C-BE32-E72D297353CC}">
                <c16:uniqueId val="{0000000B-501E-4CAE-870D-9E3296FED657}"/>
              </c:ext>
            </c:extLst>
          </c:dPt>
          <c:dPt>
            <c:idx val="6"/>
            <c:bubble3D val="0"/>
            <c:spPr>
              <a:solidFill>
                <a:srgbClr val="D1E4C6"/>
              </a:solidFill>
              <a:ln w="19050">
                <a:solidFill>
                  <a:schemeClr val="lt1"/>
                </a:solidFill>
              </a:ln>
              <a:effectLst/>
            </c:spPr>
            <c:extLst>
              <c:ext xmlns:c16="http://schemas.microsoft.com/office/drawing/2014/chart" uri="{C3380CC4-5D6E-409C-BE32-E72D297353CC}">
                <c16:uniqueId val="{0000000D-501E-4CAE-870D-9E3296FED657}"/>
              </c:ext>
            </c:extLst>
          </c:dPt>
          <c:dPt>
            <c:idx val="7"/>
            <c:bubble3D val="0"/>
            <c:spPr>
              <a:solidFill>
                <a:srgbClr val="808080"/>
              </a:solidFill>
              <a:ln w="19050">
                <a:solidFill>
                  <a:schemeClr val="lt1"/>
                </a:solidFill>
              </a:ln>
              <a:effectLst/>
            </c:spPr>
            <c:extLst>
              <c:ext xmlns:c16="http://schemas.microsoft.com/office/drawing/2014/chart" uri="{C3380CC4-5D6E-409C-BE32-E72D297353CC}">
                <c16:uniqueId val="{0000000F-501E-4CAE-870D-9E3296FED657}"/>
              </c:ext>
            </c:extLst>
          </c:dPt>
          <c:dLbls>
            <c:dLbl>
              <c:idx val="0"/>
              <c:layout>
                <c:manualLayout>
                  <c:x val="0.16668848530068442"/>
                  <c:y val="5.943041117486297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501E-4CAE-870D-9E3296FED657}"/>
                </c:ext>
              </c:extLst>
            </c:dLbl>
            <c:dLbl>
              <c:idx val="1"/>
              <c:layout>
                <c:manualLayout>
                  <c:x val="0.17273394267238698"/>
                  <c:y val="0.1317755072985477"/>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501E-4CAE-870D-9E3296FED657}"/>
                </c:ext>
              </c:extLst>
            </c:dLbl>
            <c:dLbl>
              <c:idx val="2"/>
              <c:layout>
                <c:manualLayout>
                  <c:x val="-0.18842504507865449"/>
                  <c:y val="-1.2182573075182391E-4"/>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501E-4CAE-870D-9E3296FED657}"/>
                </c:ext>
              </c:extLst>
            </c:dLbl>
            <c:dLbl>
              <c:idx val="3"/>
              <c:layout>
                <c:manualLayout>
                  <c:x val="-0.14804180585937721"/>
                  <c:y val="2.6355159334165955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501E-4CAE-870D-9E3296FED657}"/>
                </c:ext>
              </c:extLst>
            </c:dLbl>
            <c:dLbl>
              <c:idx val="4"/>
              <c:layout>
                <c:manualLayout>
                  <c:x val="-0.159975129018218"/>
                  <c:y val="1.592705040517903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501E-4CAE-870D-9E3296FED657}"/>
                </c:ext>
              </c:extLst>
            </c:dLbl>
            <c:dLbl>
              <c:idx val="5"/>
              <c:layout>
                <c:manualLayout>
                  <c:x val="-0.14423044095120205"/>
                  <c:y val="-0.12183093945290119"/>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501E-4CAE-870D-9E3296FED657}"/>
                </c:ext>
              </c:extLst>
            </c:dLbl>
            <c:dLbl>
              <c:idx val="6"/>
              <c:layout>
                <c:manualLayout>
                  <c:x val="6.8915229519594376E-2"/>
                  <c:y val="-0.11392586745128996"/>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D-501E-4CAE-870D-9E3296FED657}"/>
                </c:ext>
              </c:extLst>
            </c:dLbl>
            <c:dLbl>
              <c:idx val="7"/>
              <c:layout>
                <c:manualLayout>
                  <c:x val="0.20387422066213337"/>
                  <c:y val="-6.247547569909451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F-501E-4CAE-870D-9E3296FED657}"/>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solidFill>
                  <a:round/>
                  <a:tailEnd type="oval" w="sm" len="sm"/>
                </a:ln>
                <a:effectLst/>
              </c:spPr>
            </c:leaderLines>
            <c:extLst>
              <c:ext xmlns:c15="http://schemas.microsoft.com/office/drawing/2012/chart" uri="{CE6537A1-D6FC-4f65-9D91-7224C49458BB}"/>
            </c:extLst>
          </c:dLbls>
          <c:cat>
            <c:strRef>
              <c:f>[0]!R_LegendeWaehrungen</c:f>
              <c:strCache>
                <c:ptCount val="8"/>
                <c:pt idx="0">
                  <c:v>Informationstechnologie</c:v>
                </c:pt>
                <c:pt idx="1">
                  <c:v>Banken,Versicherer,Finanzdienstl.</c:v>
                </c:pt>
                <c:pt idx="2">
                  <c:v>Prod. Gew. &amp; Industrie</c:v>
                </c:pt>
                <c:pt idx="3">
                  <c:v>Handel,Konsum</c:v>
                </c:pt>
                <c:pt idx="4">
                  <c:v>Versorger</c:v>
                </c:pt>
                <c:pt idx="5">
                  <c:v>Chemie,Pharma</c:v>
                </c:pt>
                <c:pt idx="6">
                  <c:v>Bau,Baustoffe</c:v>
                </c:pt>
                <c:pt idx="7">
                  <c:v>Eisen,Stahl,Rohstoffe</c:v>
                </c:pt>
              </c:strCache>
            </c:strRef>
          </c:cat>
          <c:val>
            <c:numRef>
              <c:f>[0]!R_DatenWaehrungen</c:f>
              <c:numCache>
                <c:formatCode>0.00%</c:formatCode>
                <c:ptCount val="8"/>
                <c:pt idx="0">
                  <c:v>0.3512617254994494</c:v>
                </c:pt>
                <c:pt idx="1">
                  <c:v>0.19786226728052009</c:v>
                </c:pt>
                <c:pt idx="2">
                  <c:v>0.15237950257127503</c:v>
                </c:pt>
                <c:pt idx="3">
                  <c:v>8.3471837614539385E-2</c:v>
                </c:pt>
                <c:pt idx="4">
                  <c:v>7.8808071529914051E-2</c:v>
                </c:pt>
                <c:pt idx="5">
                  <c:v>7.4200150300669301E-2</c:v>
                </c:pt>
                <c:pt idx="6">
                  <c:v>3.6337344674226155E-2</c:v>
                </c:pt>
                <c:pt idx="7">
                  <c:v>2.5679100529406574E-2</c:v>
                </c:pt>
              </c:numCache>
            </c:numRef>
          </c:val>
          <c:extLst>
            <c:ext xmlns:c16="http://schemas.microsoft.com/office/drawing/2014/chart" uri="{C3380CC4-5D6E-409C-BE32-E72D297353CC}">
              <c16:uniqueId val="{00000010-501E-4CAE-870D-9E3296FED657}"/>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67954482166477159"/>
          <c:w val="0.53122156088020667"/>
          <c:h val="0.32045517833522846"/>
        </c:manualLayout>
      </c:layout>
      <c:overlay val="0"/>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userShapes r:id="rId4"/>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27607038803194967"/>
          <c:y val="0.12133211202482602"/>
          <c:w val="0.64408604336043362"/>
          <c:h val="0.62135359477124186"/>
        </c:manualLayout>
      </c:layout>
      <c:doughnutChart>
        <c:varyColors val="1"/>
        <c:ser>
          <c:idx val="0"/>
          <c:order val="0"/>
          <c:dPt>
            <c:idx val="0"/>
            <c:bubble3D val="0"/>
            <c:spPr>
              <a:solidFill>
                <a:srgbClr val="66A4CE"/>
              </a:solidFill>
              <a:ln w="19050">
                <a:solidFill>
                  <a:schemeClr val="lt1"/>
                </a:solidFill>
              </a:ln>
              <a:effectLst/>
            </c:spPr>
            <c:extLst>
              <c:ext xmlns:c16="http://schemas.microsoft.com/office/drawing/2014/chart" uri="{C3380CC4-5D6E-409C-BE32-E72D297353CC}">
                <c16:uniqueId val="{00000001-6958-4D79-8631-4A13895A4A47}"/>
              </c:ext>
            </c:extLst>
          </c:dPt>
          <c:dPt>
            <c:idx val="1"/>
            <c:bubble3D val="0"/>
            <c:spPr>
              <a:solidFill>
                <a:srgbClr val="BB9256"/>
              </a:solidFill>
              <a:ln w="19050">
                <a:solidFill>
                  <a:schemeClr val="lt1"/>
                </a:solidFill>
              </a:ln>
              <a:effectLst/>
            </c:spPr>
            <c:extLst>
              <c:ext xmlns:c16="http://schemas.microsoft.com/office/drawing/2014/chart" uri="{C3380CC4-5D6E-409C-BE32-E72D297353CC}">
                <c16:uniqueId val="{00000003-6958-4D79-8631-4A13895A4A47}"/>
              </c:ext>
            </c:extLst>
          </c:dPt>
          <c:dPt>
            <c:idx val="2"/>
            <c:bubble3D val="0"/>
            <c:spPr>
              <a:solidFill>
                <a:srgbClr val="D1E4C6"/>
              </a:solidFill>
              <a:ln w="19050">
                <a:solidFill>
                  <a:schemeClr val="lt1"/>
                </a:solidFill>
              </a:ln>
              <a:effectLst/>
            </c:spPr>
            <c:extLst>
              <c:ext xmlns:c16="http://schemas.microsoft.com/office/drawing/2014/chart" uri="{C3380CC4-5D6E-409C-BE32-E72D297353CC}">
                <c16:uniqueId val="{00000005-6958-4D79-8631-4A13895A4A47}"/>
              </c:ext>
            </c:extLst>
          </c:dPt>
          <c:dPt>
            <c:idx val="3"/>
            <c:bubble3D val="0"/>
            <c:spPr>
              <a:solidFill>
                <a:srgbClr val="D1E9F8"/>
              </a:solidFill>
              <a:ln w="19050">
                <a:solidFill>
                  <a:schemeClr val="lt1"/>
                </a:solidFill>
              </a:ln>
              <a:effectLst/>
            </c:spPr>
            <c:extLst>
              <c:ext xmlns:c16="http://schemas.microsoft.com/office/drawing/2014/chart" uri="{C3380CC4-5D6E-409C-BE32-E72D297353CC}">
                <c16:uniqueId val="{00000007-6958-4D79-8631-4A13895A4A47}"/>
              </c:ext>
            </c:extLst>
          </c:dPt>
          <c:dPt>
            <c:idx val="4"/>
            <c:bubble3D val="0"/>
            <c:spPr>
              <a:solidFill>
                <a:srgbClr val="14355C"/>
              </a:solidFill>
              <a:ln w="19050">
                <a:solidFill>
                  <a:schemeClr val="lt1"/>
                </a:solidFill>
              </a:ln>
              <a:effectLst/>
            </c:spPr>
            <c:extLst>
              <c:ext xmlns:c16="http://schemas.microsoft.com/office/drawing/2014/chart" uri="{C3380CC4-5D6E-409C-BE32-E72D297353CC}">
                <c16:uniqueId val="{00000009-6958-4D79-8631-4A13895A4A47}"/>
              </c:ext>
            </c:extLst>
          </c:dPt>
          <c:dLbls>
            <c:dLbl>
              <c:idx val="0"/>
              <c:layout>
                <c:manualLayout>
                  <c:x val="0.1661138078045799"/>
                  <c:y val="-0.13151531700093605"/>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6958-4D79-8631-4A13895A4A47}"/>
                </c:ext>
              </c:extLst>
            </c:dLbl>
            <c:dLbl>
              <c:idx val="1"/>
              <c:layout>
                <c:manualLayout>
                  <c:x val="0.19217909500827035"/>
                  <c:y val="0.1220571170467090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6958-4D79-8631-4A13895A4A47}"/>
                </c:ext>
              </c:extLst>
            </c:dLbl>
            <c:dLbl>
              <c:idx val="2"/>
              <c:layout>
                <c:manualLayout>
                  <c:x val="5.13271418131842E-2"/>
                  <c:y val="0.15303256543974397"/>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6958-4D79-8631-4A13895A4A47}"/>
                </c:ext>
              </c:extLst>
            </c:dLbl>
            <c:dLbl>
              <c:idx val="3"/>
              <c:layout>
                <c:manualLayout>
                  <c:x val="-3.5544615855922168E-2"/>
                  <c:y val="0.1919348983392979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6958-4D79-8631-4A13895A4A47}"/>
                </c:ext>
              </c:extLst>
            </c:dLbl>
            <c:dLbl>
              <c:idx val="4"/>
              <c:layout>
                <c:manualLayout>
                  <c:x val="-0.21344469701724175"/>
                  <c:y val="-6.6514085797933345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6958-4D79-8631-4A13895A4A47}"/>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S_DiagrammPro!$F$4:$F$8</c:f>
              <c:strCache>
                <c:ptCount val="5"/>
                <c:pt idx="0">
                  <c:v>Europa ohne Deutschland</c:v>
                </c:pt>
                <c:pt idx="1">
                  <c:v>Deutschland</c:v>
                </c:pt>
                <c:pt idx="2">
                  <c:v>Asien</c:v>
                </c:pt>
                <c:pt idx="3">
                  <c:v>Japan</c:v>
                </c:pt>
                <c:pt idx="4">
                  <c:v>Nordamerika</c:v>
                </c:pt>
              </c:strCache>
            </c:strRef>
          </c:cat>
          <c:val>
            <c:numRef>
              <c:f>S_DiagrammPro!$G$4:$G$8</c:f>
              <c:numCache>
                <c:formatCode>0.00%</c:formatCode>
                <c:ptCount val="5"/>
                <c:pt idx="0">
                  <c:v>0.21787973247217104</c:v>
                </c:pt>
                <c:pt idx="1">
                  <c:v>9.9177124085384719E-2</c:v>
                </c:pt>
                <c:pt idx="2">
                  <c:v>8.8647613545297488E-2</c:v>
                </c:pt>
                <c:pt idx="3">
                  <c:v>2.8365120885414964E-2</c:v>
                </c:pt>
                <c:pt idx="4">
                  <c:v>0.56593040901173175</c:v>
                </c:pt>
              </c:numCache>
            </c:numRef>
          </c:val>
          <c:extLst>
            <c:ext xmlns:c16="http://schemas.microsoft.com/office/drawing/2014/chart" uri="{C3380CC4-5D6E-409C-BE32-E72D297353CC}">
              <c16:uniqueId val="{0000000A-6958-4D79-8631-4A13895A4A47}"/>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egendEntry>
        <c:idx val="0"/>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Entry>
      <c:layout>
        <c:manualLayout>
          <c:xMode val="edge"/>
          <c:yMode val="edge"/>
          <c:x val="0"/>
          <c:y val="0.75254872914666926"/>
          <c:w val="0.36474726705478017"/>
          <c:h val="0.24745127085333074"/>
        </c:manualLayout>
      </c:layout>
      <c:overlay val="0"/>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userShapes r:id="rId4"/>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2746102160765996E-2"/>
          <c:y val="0.13544018058690746"/>
          <c:w val="0.92588380119341251"/>
          <c:h val="0.71255079006772015"/>
        </c:manualLayout>
      </c:layout>
      <c:lineChart>
        <c:grouping val="standard"/>
        <c:varyColors val="0"/>
        <c:ser>
          <c:idx val="0"/>
          <c:order val="0"/>
          <c:tx>
            <c:strRef>
              <c:f>Tabelle1!$B$1</c:f>
              <c:strCache>
                <c:ptCount val="1"/>
                <c:pt idx="0">
                  <c:v>Wertentwicklung</c:v>
                </c:pt>
              </c:strCache>
            </c:strRef>
          </c:tx>
          <c:spPr>
            <a:ln w="9525" cap="rnd">
              <a:solidFill>
                <a:schemeClr val="accent3"/>
              </a:solidFill>
              <a:round/>
            </a:ln>
            <a:effectLst/>
          </c:spPr>
          <c:marker>
            <c:symbol val="none"/>
          </c:marker>
          <c:cat>
            <c:numRef>
              <c:f>Tabelle1!$A$2:$A$230</c:f>
              <c:numCache>
                <c:formatCode>m/d/yyyy</c:formatCode>
                <c:ptCount val="229"/>
                <c:pt idx="0">
                  <c:v>45291</c:v>
                </c:pt>
                <c:pt idx="1">
                  <c:v>45322</c:v>
                </c:pt>
                <c:pt idx="2">
                  <c:v>45351</c:v>
                </c:pt>
                <c:pt idx="3">
                  <c:v>45382</c:v>
                </c:pt>
                <c:pt idx="4">
                  <c:v>45412</c:v>
                </c:pt>
                <c:pt idx="5">
                  <c:v>45443</c:v>
                </c:pt>
                <c:pt idx="6">
                  <c:v>45473</c:v>
                </c:pt>
                <c:pt idx="7">
                  <c:v>45504</c:v>
                </c:pt>
                <c:pt idx="8">
                  <c:v>45535</c:v>
                </c:pt>
                <c:pt idx="9">
                  <c:v>45565</c:v>
                </c:pt>
                <c:pt idx="10">
                  <c:v>45596</c:v>
                </c:pt>
                <c:pt idx="11">
                  <c:v>45626</c:v>
                </c:pt>
                <c:pt idx="12">
                  <c:v>45657</c:v>
                </c:pt>
                <c:pt idx="13">
                  <c:v>45688</c:v>
                </c:pt>
                <c:pt idx="14">
                  <c:v>45716</c:v>
                </c:pt>
                <c:pt idx="15">
                  <c:v>45747</c:v>
                </c:pt>
                <c:pt idx="16">
                  <c:v>45777</c:v>
                </c:pt>
                <c:pt idx="17">
                  <c:v>45808</c:v>
                </c:pt>
                <c:pt idx="18">
                  <c:v>45838</c:v>
                </c:pt>
                <c:pt idx="19">
                  <c:v>45869</c:v>
                </c:pt>
                <c:pt idx="20">
                  <c:v>45900</c:v>
                </c:pt>
                <c:pt idx="21">
                  <c:v>45930</c:v>
                </c:pt>
                <c:pt idx="22">
                  <c:v>45961</c:v>
                </c:pt>
                <c:pt idx="23">
                  <c:v>45991</c:v>
                </c:pt>
                <c:pt idx="24">
                  <c:v>46022</c:v>
                </c:pt>
                <c:pt idx="25">
                  <c:v>46053</c:v>
                </c:pt>
                <c:pt idx="26">
                  <c:v>46081</c:v>
                </c:pt>
                <c:pt idx="27">
                  <c:v>46112</c:v>
                </c:pt>
                <c:pt idx="28">
                  <c:v>46142</c:v>
                </c:pt>
                <c:pt idx="29">
                  <c:v>46173</c:v>
                </c:pt>
                <c:pt idx="30">
                  <c:v>46202</c:v>
                </c:pt>
              </c:numCache>
            </c:numRef>
          </c:cat>
          <c:val>
            <c:numRef>
              <c:f>Tabelle1!$B$2:$B$230</c:f>
              <c:numCache>
                <c:formatCode>General</c:formatCode>
                <c:ptCount val="229"/>
                <c:pt idx="0">
                  <c:v>1</c:v>
                </c:pt>
                <c:pt idx="1">
                  <c:v>1.054</c:v>
                </c:pt>
                <c:pt idx="2">
                  <c:v>1.1271476</c:v>
                </c:pt>
                <c:pt idx="3">
                  <c:v>1.1654706184000001</c:v>
                </c:pt>
                <c:pt idx="4">
                  <c:v>1.12141582902448</c:v>
                </c:pt>
                <c:pt idx="5">
                  <c:v>1.1663846037683616</c:v>
                </c:pt>
                <c:pt idx="6">
                  <c:v>1.2003263957380208</c:v>
                </c:pt>
                <c:pt idx="7">
                  <c:v>1.1677989007807157</c:v>
                </c:pt>
                <c:pt idx="8">
                  <c:v>1.2062194846164012</c:v>
                </c:pt>
                <c:pt idx="9">
                  <c:v>1.2216590940194909</c:v>
                </c:pt>
                <c:pt idx="10">
                  <c:v>1.2160394621870012</c:v>
                </c:pt>
                <c:pt idx="11">
                  <c:v>1.2984869377232799</c:v>
                </c:pt>
                <c:pt idx="12">
                  <c:v>1.2860214631211364</c:v>
                </c:pt>
                <c:pt idx="13">
                  <c:v>1.3604020188492343</c:v>
                </c:pt>
                <c:pt idx="14">
                  <c:v>1.3583614158209605</c:v>
                </c:pt>
                <c:pt idx="15">
                  <c:v>1.2517300446790152</c:v>
                </c:pt>
                <c:pt idx="16">
                  <c:v>1.2419665503305188</c:v>
                </c:pt>
                <c:pt idx="17">
                  <c:v>1.3094053340134659</c:v>
                </c:pt>
                <c:pt idx="18">
                  <c:v>1.3095362745468673</c:v>
                </c:pt>
                <c:pt idx="19">
                  <c:v>1.3247254221033022</c:v>
                </c:pt>
                <c:pt idx="20">
                  <c:v>1.2823342085959966</c:v>
                </c:pt>
                <c:pt idx="21">
                  <c:v>1.3074679590844782</c:v>
                </c:pt>
                <c:pt idx="22">
                  <c:v>1.3767637609159555</c:v>
                </c:pt>
                <c:pt idx="23">
                  <c:v>1.3764884081637723</c:v>
                </c:pt>
                <c:pt idx="24">
                  <c:v>1.382957903682142</c:v>
                </c:pt>
                <c:pt idx="25">
                  <c:v>1.3798836105546615</c:v>
                </c:pt>
                <c:pt idx="26">
                  <c:v>1.4025745409654167</c:v>
                </c:pt>
                <c:pt idx="27">
                  <c:v>1.2903575760249539</c:v>
                </c:pt>
                <c:pt idx="28">
                  <c:v>1.429116053506482</c:v>
                </c:pt>
                <c:pt idx="29">
                  <c:v>1.52400539886055</c:v>
                </c:pt>
                <c:pt idx="30">
                  <c:v>1.5937284395772344</c:v>
                </c:pt>
              </c:numCache>
            </c:numRef>
          </c:val>
          <c:smooth val="0"/>
          <c:extLst>
            <c:ext xmlns:c16="http://schemas.microsoft.com/office/drawing/2014/chart" uri="{C3380CC4-5D6E-409C-BE32-E72D297353CC}">
              <c16:uniqueId val="{00000000-667D-4B47-A104-311D517F7B75}"/>
            </c:ext>
          </c:extLst>
        </c:ser>
        <c:dLbls>
          <c:showLegendKey val="0"/>
          <c:showVal val="0"/>
          <c:showCatName val="0"/>
          <c:showSerName val="0"/>
          <c:showPercent val="0"/>
          <c:showBubbleSize val="0"/>
        </c:dLbls>
        <c:smooth val="0"/>
        <c:axId val="1717237183"/>
        <c:axId val="111903199"/>
      </c:lineChart>
      <c:dateAx>
        <c:axId val="1717237183"/>
        <c:scaling>
          <c:orientation val="minMax"/>
          <c:max val="46387"/>
          <c:min val="45291"/>
        </c:scaling>
        <c:delete val="0"/>
        <c:axPos val="b"/>
        <c:numFmt formatCode="mmm/yy" sourceLinked="0"/>
        <c:majorTickMark val="none"/>
        <c:minorTickMark val="none"/>
        <c:tickLblPos val="nextTo"/>
        <c:spPr>
          <a:noFill/>
          <a:ln w="3175" cap="flat" cmpd="sng" algn="ctr">
            <a:noFill/>
            <a:round/>
          </a:ln>
          <a:effectLst/>
        </c:spPr>
        <c:txPr>
          <a:bodyPr rot="-5400000" spcFirstLastPara="1" vertOverflow="ellipsis" wrap="square" anchor="ctr" anchorCtr="1"/>
          <a:lstStyle/>
          <a:p>
            <a:pPr>
              <a:defRPr sz="700" b="0" i="0" u="none" strike="noStrike" kern="1200" baseline="0">
                <a:solidFill>
                  <a:schemeClr val="tx1"/>
                </a:solidFill>
                <a:latin typeface="+mn-lt"/>
                <a:ea typeface="+mn-ea"/>
                <a:cs typeface="+mn-cs"/>
              </a:defRPr>
            </a:pPr>
            <a:endParaRPr lang="de-DE"/>
          </a:p>
        </c:txPr>
        <c:crossAx val="111903199"/>
        <c:crosses val="autoZero"/>
        <c:auto val="1"/>
        <c:lblOffset val="100"/>
        <c:baseTimeUnit val="months"/>
        <c:majorUnit val="1"/>
        <c:majorTimeUnit val="months"/>
      </c:dateAx>
      <c:valAx>
        <c:axId val="111903199"/>
        <c:scaling>
          <c:orientation val="minMax"/>
          <c:max val="1.4"/>
          <c:min val="0.9"/>
        </c:scaling>
        <c:delete val="0"/>
        <c:axPos val="l"/>
        <c:majorGridlines>
          <c:spPr>
            <a:ln w="3175" cap="flat" cmpd="sng" algn="ctr">
              <a:solidFill>
                <a:schemeClr val="bg1">
                  <a:lumMod val="6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solidFill>
                <a:latin typeface="+mn-lt"/>
                <a:ea typeface="+mn-ea"/>
                <a:cs typeface="+mn-cs"/>
              </a:defRPr>
            </a:pPr>
            <a:endParaRPr lang="de-DE"/>
          </a:p>
        </c:txPr>
        <c:crossAx val="1717237183"/>
        <c:crosses val="autoZero"/>
        <c:crossBetween val="between"/>
        <c:majorUnit val="0.1"/>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w="3175">
      <a:noFill/>
    </a:ln>
    <a:effectLst/>
  </c:spPr>
  <c:txPr>
    <a:bodyPr/>
    <a:lstStyle/>
    <a:p>
      <a:pPr>
        <a:defRPr/>
      </a:pPr>
      <a:endParaRPr lang="de-DE"/>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1781144037027447"/>
          <c:y val="0.16666666666666666"/>
          <c:w val="0.8757731626770392"/>
          <c:h val="0.7443057742782152"/>
        </c:manualLayout>
      </c:layout>
      <c:barChart>
        <c:barDir val="col"/>
        <c:grouping val="clustered"/>
        <c:varyColors val="0"/>
        <c:ser>
          <c:idx val="0"/>
          <c:order val="0"/>
          <c:tx>
            <c:strRef>
              <c:f>Tabelle1!$B$1</c:f>
              <c:strCache>
                <c:ptCount val="1"/>
                <c:pt idx="0">
                  <c:v>Musterdepot</c:v>
                </c:pt>
              </c:strCache>
            </c:strRef>
          </c:tx>
          <c:spPr>
            <a:solidFill>
              <a:schemeClr val="accent3"/>
            </a:solidFill>
            <a:ln>
              <a:solidFill>
                <a:schemeClr val="accent3"/>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Tabelle1!$A$2:$A$3</c:f>
              <c:numCache>
                <c:formatCode>General</c:formatCode>
                <c:ptCount val="2"/>
                <c:pt idx="0">
                  <c:v>2024</c:v>
                </c:pt>
                <c:pt idx="1">
                  <c:v>2025</c:v>
                </c:pt>
              </c:numCache>
            </c:numRef>
          </c:cat>
          <c:val>
            <c:numRef>
              <c:f>Tabelle1!$B$2:$B$3</c:f>
              <c:numCache>
                <c:formatCode>0.00%</c:formatCode>
                <c:ptCount val="2"/>
                <c:pt idx="0">
                  <c:v>0.27610000000000001</c:v>
                </c:pt>
                <c:pt idx="1">
                  <c:v>7.5399999999999995E-2</c:v>
                </c:pt>
              </c:numCache>
            </c:numRef>
          </c:val>
          <c:extLst>
            <c:ext xmlns:c16="http://schemas.microsoft.com/office/drawing/2014/chart" uri="{C3380CC4-5D6E-409C-BE32-E72D297353CC}">
              <c16:uniqueId val="{00000000-D28F-4E9D-8866-2DFCFDB79BD8}"/>
            </c:ext>
          </c:extLst>
        </c:ser>
        <c:ser>
          <c:idx val="1"/>
          <c:order val="1"/>
          <c:tx>
            <c:strRef>
              <c:f>Tabelle1!$C$1</c:f>
              <c:strCache>
                <c:ptCount val="1"/>
                <c:pt idx="0">
                  <c:v>Benchmark</c:v>
                </c:pt>
              </c:strCache>
            </c:strRef>
          </c:tx>
          <c:spPr>
            <a:solidFill>
              <a:schemeClr val="accent5"/>
            </a:solidFill>
            <a:ln>
              <a:solidFill>
                <a:schemeClr val="accent5"/>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Tabelle1!$A$2:$A$3</c:f>
              <c:numCache>
                <c:formatCode>General</c:formatCode>
                <c:ptCount val="2"/>
                <c:pt idx="0">
                  <c:v>2024</c:v>
                </c:pt>
                <c:pt idx="1">
                  <c:v>2025</c:v>
                </c:pt>
              </c:numCache>
            </c:numRef>
          </c:cat>
          <c:val>
            <c:numRef>
              <c:f>Tabelle1!$C$2:$C$3</c:f>
              <c:numCache>
                <c:formatCode>0.00%</c:formatCode>
                <c:ptCount val="2"/>
                <c:pt idx="0">
                  <c:v>0.17610000000000001</c:v>
                </c:pt>
                <c:pt idx="1">
                  <c:v>0.1305</c:v>
                </c:pt>
              </c:numCache>
            </c:numRef>
          </c:val>
          <c:extLst>
            <c:ext xmlns:c16="http://schemas.microsoft.com/office/drawing/2014/chart" uri="{C3380CC4-5D6E-409C-BE32-E72D297353CC}">
              <c16:uniqueId val="{00000001-D28F-4E9D-8866-2DFCFDB79BD8}"/>
            </c:ext>
          </c:extLst>
        </c:ser>
        <c:dLbls>
          <c:dLblPos val="outEnd"/>
          <c:showLegendKey val="0"/>
          <c:showVal val="1"/>
          <c:showCatName val="0"/>
          <c:showSerName val="0"/>
          <c:showPercent val="0"/>
          <c:showBubbleSize val="0"/>
        </c:dLbls>
        <c:gapWidth val="60"/>
        <c:overlap val="-40"/>
        <c:axId val="196509247"/>
        <c:axId val="1801327183"/>
      </c:barChart>
      <c:catAx>
        <c:axId val="196509247"/>
        <c:scaling>
          <c:orientation val="minMax"/>
        </c:scaling>
        <c:delete val="0"/>
        <c:axPos val="b"/>
        <c:numFmt formatCode="General" sourceLinked="1"/>
        <c:majorTickMark val="none"/>
        <c:minorTickMark val="none"/>
        <c:tickLblPos val="low"/>
        <c:spPr>
          <a:noFill/>
          <a:ln w="3175" cap="flat" cmpd="sng" algn="ctr">
            <a:solidFill>
              <a:schemeClr val="bg1">
                <a:lumMod val="65000"/>
              </a:schemeClr>
            </a:solidFill>
            <a:round/>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801327183"/>
        <c:crosses val="autoZero"/>
        <c:auto val="1"/>
        <c:lblAlgn val="ctr"/>
        <c:lblOffset val="100"/>
        <c:noMultiLvlLbl val="0"/>
      </c:catAx>
      <c:valAx>
        <c:axId val="1801327183"/>
        <c:scaling>
          <c:orientation val="minMax"/>
        </c:scaling>
        <c:delete val="0"/>
        <c:axPos val="l"/>
        <c:majorGridlines>
          <c:spPr>
            <a:ln w="3175" cap="flat" cmpd="sng" algn="ctr">
              <a:solidFill>
                <a:schemeClr val="bg1">
                  <a:lumMod val="65000"/>
                </a:schemeClr>
              </a:solidFill>
              <a:round/>
            </a:ln>
            <a:effectLst/>
          </c:spPr>
        </c:majorGridlines>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96509247"/>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title>
      <c:layout>
        <c:manualLayout>
          <c:xMode val="edge"/>
          <c:yMode val="edge"/>
          <c:x val="9.4822364711042416E-4"/>
          <c:y val="0.17086527929901421"/>
        </c:manualLayout>
      </c:layout>
      <c:overlay val="0"/>
      <c:spPr>
        <a:noFill/>
        <a:ln>
          <a:noFill/>
        </a:ln>
        <a:effectLst/>
      </c:spPr>
      <c:txPr>
        <a:bodyPr rot="0" spcFirstLastPara="1" vertOverflow="ellipsis" vert="horz" wrap="square" anchor="ctr" anchorCtr="1"/>
        <a:lstStyle/>
        <a:p>
          <a:pPr algn="l">
            <a:defRPr sz="600" b="0" i="0" u="none" strike="noStrike" kern="1200" spc="0" baseline="0">
              <a:solidFill>
                <a:schemeClr val="bg2"/>
              </a:solidFill>
              <a:latin typeface="+mn-lt"/>
              <a:ea typeface="+mn-ea"/>
              <a:cs typeface="+mn-cs"/>
            </a:defRPr>
          </a:pPr>
          <a:endParaRPr lang="de-DE"/>
        </a:p>
      </c:txPr>
    </c:title>
    <c:autoTitleDeleted val="0"/>
    <c:plotArea>
      <c:layout>
        <c:manualLayout>
          <c:layoutTarget val="inner"/>
          <c:xMode val="edge"/>
          <c:yMode val="edge"/>
          <c:x val="0"/>
          <c:y val="0.16725099395434276"/>
          <c:w val="1"/>
          <c:h val="0.73657493251459671"/>
        </c:manualLayout>
      </c:layout>
      <c:barChart>
        <c:barDir val="col"/>
        <c:grouping val="clustered"/>
        <c:varyColors val="0"/>
        <c:ser>
          <c:idx val="0"/>
          <c:order val="0"/>
          <c:tx>
            <c:strRef>
              <c:f>Tabelle1!$B$1</c:f>
              <c:strCache>
                <c:ptCount val="1"/>
                <c:pt idx="0">
                  <c:v>Jährliches Wachstum in Mio. EUR</c:v>
                </c:pt>
              </c:strCache>
            </c:strRef>
          </c:tx>
          <c:spPr>
            <a:solidFill>
              <a:schemeClr val="accent3"/>
            </a:solidFill>
            <a:ln>
              <a:noFill/>
            </a:ln>
            <a:effectLst/>
          </c:spPr>
          <c:invertIfNegative val="0"/>
          <c:dLbls>
            <c:numFmt formatCode="#,##0" sourceLinked="0"/>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Tabelle1!$A$2:$A$13</c:f>
              <c:numCache>
                <c:formatCode>General</c:formatCode>
                <c:ptCount val="12"/>
                <c:pt idx="0">
                  <c:v>2013</c:v>
                </c:pt>
                <c:pt idx="1">
                  <c:v>2014</c:v>
                </c:pt>
                <c:pt idx="2">
                  <c:v>2015</c:v>
                </c:pt>
                <c:pt idx="3">
                  <c:v>2016</c:v>
                </c:pt>
                <c:pt idx="4">
                  <c:v>2017</c:v>
                </c:pt>
                <c:pt idx="5">
                  <c:v>2018</c:v>
                </c:pt>
                <c:pt idx="6">
                  <c:v>2019</c:v>
                </c:pt>
                <c:pt idx="7">
                  <c:v>2020</c:v>
                </c:pt>
                <c:pt idx="8">
                  <c:v>2021</c:v>
                </c:pt>
                <c:pt idx="9">
                  <c:v>2022</c:v>
                </c:pt>
                <c:pt idx="10">
                  <c:v>2023</c:v>
                </c:pt>
                <c:pt idx="11">
                  <c:v>2024</c:v>
                </c:pt>
              </c:numCache>
            </c:numRef>
          </c:cat>
          <c:val>
            <c:numRef>
              <c:f>Tabelle1!$B$2:$B$13</c:f>
              <c:numCache>
                <c:formatCode>General</c:formatCode>
                <c:ptCount val="12"/>
                <c:pt idx="0">
                  <c:v>3318</c:v>
                </c:pt>
                <c:pt idx="1">
                  <c:v>3677</c:v>
                </c:pt>
                <c:pt idx="2">
                  <c:v>3942</c:v>
                </c:pt>
                <c:pt idx="3">
                  <c:v>4266</c:v>
                </c:pt>
                <c:pt idx="4">
                  <c:v>4692</c:v>
                </c:pt>
                <c:pt idx="5">
                  <c:v>4444</c:v>
                </c:pt>
                <c:pt idx="6">
                  <c:v>4963</c:v>
                </c:pt>
                <c:pt idx="7">
                  <c:v>5246</c:v>
                </c:pt>
                <c:pt idx="8">
                  <c:v>6626</c:v>
                </c:pt>
                <c:pt idx="9">
                  <c:v>5789</c:v>
                </c:pt>
                <c:pt idx="10">
                  <c:v>6204</c:v>
                </c:pt>
                <c:pt idx="11">
                  <c:v>6780</c:v>
                </c:pt>
              </c:numCache>
            </c:numRef>
          </c:val>
          <c:extLst>
            <c:ext xmlns:c16="http://schemas.microsoft.com/office/drawing/2014/chart" uri="{C3380CC4-5D6E-409C-BE32-E72D297353CC}">
              <c16:uniqueId val="{00000000-FCED-41A9-920E-B9B1600F4171}"/>
            </c:ext>
          </c:extLst>
        </c:ser>
        <c:dLbls>
          <c:dLblPos val="outEnd"/>
          <c:showLegendKey val="0"/>
          <c:showVal val="1"/>
          <c:showCatName val="0"/>
          <c:showSerName val="0"/>
          <c:showPercent val="0"/>
          <c:showBubbleSize val="0"/>
        </c:dLbls>
        <c:gapWidth val="219"/>
        <c:overlap val="-27"/>
        <c:axId val="1339092176"/>
        <c:axId val="1561065551"/>
      </c:barChart>
      <c:catAx>
        <c:axId val="1339092176"/>
        <c:scaling>
          <c:orientation val="minMax"/>
        </c:scaling>
        <c:delete val="0"/>
        <c:axPos val="b"/>
        <c:numFmt formatCode="General" sourceLinked="1"/>
        <c:majorTickMark val="none"/>
        <c:minorTickMark val="none"/>
        <c:tickLblPos val="nextTo"/>
        <c:spPr>
          <a:noFill/>
          <a:ln w="3175" cap="flat" cmpd="sng" algn="ctr">
            <a:solidFill>
              <a:schemeClr val="bg1">
                <a:lumMod val="65000"/>
              </a:schemeClr>
            </a:solidFill>
            <a:round/>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561065551"/>
        <c:crosses val="autoZero"/>
        <c:auto val="1"/>
        <c:lblAlgn val="ctr"/>
        <c:lblOffset val="100"/>
        <c:noMultiLvlLbl val="0"/>
      </c:catAx>
      <c:valAx>
        <c:axId val="1561065551"/>
        <c:scaling>
          <c:orientation val="minMax"/>
        </c:scaling>
        <c:delete val="1"/>
        <c:axPos val="l"/>
        <c:majorGridlines>
          <c:spPr>
            <a:ln w="3175" cap="flat" cmpd="sng" algn="ctr">
              <a:solidFill>
                <a:schemeClr val="bg1">
                  <a:lumMod val="65000"/>
                </a:schemeClr>
              </a:solidFill>
              <a:round/>
            </a:ln>
            <a:effectLst/>
          </c:spPr>
        </c:majorGridlines>
        <c:numFmt formatCode="General" sourceLinked="1"/>
        <c:majorTickMark val="out"/>
        <c:minorTickMark val="none"/>
        <c:tickLblPos val="nextTo"/>
        <c:crossAx val="1339092176"/>
        <c:crosses val="autoZero"/>
        <c:crossBetween val="between"/>
        <c:majorUnit val="500"/>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userShapes r:id="rId4"/>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drawings/drawing1.xml><?xml version="1.0" encoding="utf-8"?>
<c:userShapes xmlns:c="http://schemas.openxmlformats.org/drawingml/2006/chart">
  <cdr:relSizeAnchor xmlns:cdr="http://schemas.openxmlformats.org/drawingml/2006/chartDrawing">
    <cdr:from>
      <cdr:x>0.41876</cdr:x>
      <cdr:y>0.9543</cdr:y>
    </cdr:from>
    <cdr:to>
      <cdr:x>1</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982538" y="4134898"/>
          <a:ext cx="2718000" cy="1980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b"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29.06.2026</a:t>
          </a:fld>
          <a:endParaRPr lang="de-DE" sz="600" b="0">
            <a:solidFill>
              <a:schemeClr val="bg1">
                <a:lumMod val="50000"/>
              </a:schemeClr>
            </a:solidFill>
          </a:endParaRPr>
        </a:p>
      </cdr:txBody>
    </cdr:sp>
  </cdr:relSizeAnchor>
  <cdr:relSizeAnchor xmlns:cdr="http://schemas.openxmlformats.org/drawingml/2006/chartDrawing">
    <cdr:from>
      <cdr:x>0</cdr:x>
      <cdr:y>0</cdr:y>
    </cdr:from>
    <cdr:to>
      <cdr:x>1</cdr:x>
      <cdr:y>0.05195</cdr:y>
    </cdr:to>
    <cdr:sp macro="" textlink="">
      <cdr:nvSpPr>
        <cdr:cNvPr id="4" name="Rechteck 3">
          <a:extLst xmlns:a="http://schemas.openxmlformats.org/drawingml/2006/main">
            <a:ext uri="{FF2B5EF4-FFF2-40B4-BE49-F238E27FC236}">
              <a16:creationId xmlns:a16="http://schemas.microsoft.com/office/drawing/2014/main" id="{CA353F3C-C16C-48DD-C632-28129586271A}"/>
            </a:ext>
          </a:extLst>
        </cdr:cNvPr>
        <cdr:cNvSpPr/>
      </cdr:nvSpPr>
      <cdr:spPr>
        <a:xfrm xmlns:a="http://schemas.openxmlformats.org/drawingml/2006/main">
          <a:off x="0" y="0"/>
          <a:ext cx="4680000" cy="225094"/>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anchor="ctr" anchorCtr="0"/>
        <a:lstStyle xmlns:a="http://schemas.openxmlformats.org/drawingml/2006/main">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xmlns:a="http://schemas.openxmlformats.org/drawingml/2006/main">
          <a:r>
            <a:rPr lang="de-DE" sz="1000" b="1"/>
            <a:t>ASSETKLASSEN</a:t>
          </a:r>
        </a:p>
      </cdr:txBody>
    </cdr:sp>
  </cdr:relSizeAnchor>
</c:userShapes>
</file>

<file path=ppt/drawings/drawing2.xml><?xml version="1.0" encoding="utf-8"?>
<c:userShapes xmlns:c="http://schemas.openxmlformats.org/drawingml/2006/chart">
  <cdr:relSizeAnchor xmlns:cdr="http://schemas.openxmlformats.org/drawingml/2006/chartDrawing">
    <cdr:from>
      <cdr:x>8.17488E-17</cdr:x>
      <cdr:y>0</cdr:y>
    </cdr:from>
    <cdr:to>
      <cdr:x>1</cdr:x>
      <cdr:y>0.0524</cdr:y>
    </cdr:to>
    <cdr:sp macro="" textlink="">
      <cdr:nvSpPr>
        <cdr:cNvPr id="2" name="Rechteck 1">
          <a:extLst xmlns:a="http://schemas.openxmlformats.org/drawingml/2006/main">
            <a:ext uri="{FF2B5EF4-FFF2-40B4-BE49-F238E27FC236}">
              <a16:creationId xmlns:a16="http://schemas.microsoft.com/office/drawing/2014/main" id="{FF85F3A9-F9C0-D614-E01A-7C226F277AFD}"/>
            </a:ext>
          </a:extLst>
        </cdr:cNvPr>
        <cdr:cNvSpPr/>
      </cdr:nvSpPr>
      <cdr:spPr>
        <a:xfrm xmlns:a="http://schemas.openxmlformats.org/drawingml/2006/main">
          <a:off x="8190" y="0"/>
          <a:ext cx="4680000" cy="227123"/>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nchor="ctr" anchorCtr="0"/>
        <a:lstStyle xmlns:a="http://schemas.openxmlformats.org/drawingml/2006/main"/>
        <a:p xmlns:a="http://schemas.openxmlformats.org/drawingml/2006/main">
          <a:r>
            <a:rPr lang="de-DE" sz="1000" b="1"/>
            <a:t>Branchen</a:t>
          </a:r>
        </a:p>
      </cdr:txBody>
    </cdr:sp>
  </cdr:relSizeAnchor>
  <cdr:relSizeAnchor xmlns:cdr="http://schemas.openxmlformats.org/drawingml/2006/chartDrawing">
    <cdr:from>
      <cdr:x>0.42327</cdr:x>
      <cdr:y>0.95459</cdr:y>
    </cdr:from>
    <cdr:to>
      <cdr:x>0.99857</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999739" y="4132257"/>
          <a:ext cx="2718000" cy="196572"/>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b"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29.06.2026</a:t>
          </a:fld>
          <a:endParaRPr lang="de-DE" sz="600" b="0">
            <a:solidFill>
              <a:schemeClr val="bg1">
                <a:lumMod val="50000"/>
              </a:schemeClr>
            </a:solidFill>
          </a:endParaRPr>
        </a:p>
      </cdr:txBody>
    </cdr:sp>
  </cdr:relSizeAnchor>
</c:userShapes>
</file>

<file path=ppt/drawings/drawing3.xml><?xml version="1.0" encoding="utf-8"?>
<c:userShapes xmlns:c="http://schemas.openxmlformats.org/drawingml/2006/chart">
  <cdr:relSizeAnchor xmlns:cdr="http://schemas.openxmlformats.org/drawingml/2006/chartDrawing">
    <cdr:from>
      <cdr:x>0</cdr:x>
      <cdr:y>0</cdr:y>
    </cdr:from>
    <cdr:to>
      <cdr:x>1</cdr:x>
      <cdr:y>0.0524</cdr:y>
    </cdr:to>
    <cdr:sp macro="" textlink="">
      <cdr:nvSpPr>
        <cdr:cNvPr id="2" name="Rechteck 1">
          <a:extLst xmlns:a="http://schemas.openxmlformats.org/drawingml/2006/main">
            <a:ext uri="{FF2B5EF4-FFF2-40B4-BE49-F238E27FC236}">
              <a16:creationId xmlns:a16="http://schemas.microsoft.com/office/drawing/2014/main" id="{FF85F3A9-F9C0-D614-E01A-7C226F277AFD}"/>
            </a:ext>
          </a:extLst>
        </cdr:cNvPr>
        <cdr:cNvSpPr/>
      </cdr:nvSpPr>
      <cdr:spPr>
        <a:xfrm xmlns:a="http://schemas.openxmlformats.org/drawingml/2006/main">
          <a:off x="0" y="0"/>
          <a:ext cx="4413300" cy="176336"/>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nchor="ctr" anchorCtr="0"/>
        <a:lstStyle xmlns:a="http://schemas.openxmlformats.org/drawingml/2006/main"/>
        <a:p xmlns:a="http://schemas.openxmlformats.org/drawingml/2006/main">
          <a:r>
            <a:rPr lang="de-DE" sz="1000" b="1"/>
            <a:t>REGIONEN</a:t>
          </a:r>
        </a:p>
      </cdr:txBody>
    </cdr:sp>
  </cdr:relSizeAnchor>
  <cdr:relSizeAnchor xmlns:cdr="http://schemas.openxmlformats.org/drawingml/2006/chartDrawing">
    <cdr:from>
      <cdr:x>0.42302</cdr:x>
      <cdr:y>0.95459</cdr:y>
    </cdr:from>
    <cdr:to>
      <cdr:x>1</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2025420" y="3934800"/>
          <a:ext cx="2762580" cy="1872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b"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29.06.2026</a:t>
          </a:fld>
          <a:endParaRPr lang="de-DE" sz="600" b="0">
            <a:solidFill>
              <a:schemeClr val="bg1">
                <a:lumMod val="50000"/>
              </a:schemeClr>
            </a:solidFill>
          </a:endParaRPr>
        </a:p>
      </cdr:txBody>
    </cdr:sp>
  </cdr:relSizeAnchor>
</c:userShapes>
</file>

<file path=ppt/drawings/drawing4.xml><?xml version="1.0" encoding="utf-8"?>
<c:userShapes xmlns:c="http://schemas.openxmlformats.org/drawingml/2006/chart">
  <cdr:relSizeAnchor xmlns:cdr="http://schemas.openxmlformats.org/drawingml/2006/chartDrawing">
    <cdr:from>
      <cdr:x>0</cdr:x>
      <cdr:y>0</cdr:y>
    </cdr:from>
    <cdr:to>
      <cdr:x>1</cdr:x>
      <cdr:y>0.07884</cdr:y>
    </cdr:to>
    <cdr:sp macro="" textlink="">
      <cdr:nvSpPr>
        <cdr:cNvPr id="2" name="Textfeld 1">
          <a:extLst xmlns:a="http://schemas.openxmlformats.org/drawingml/2006/main">
            <a:ext uri="{FF2B5EF4-FFF2-40B4-BE49-F238E27FC236}">
              <a16:creationId xmlns:a16="http://schemas.microsoft.com/office/drawing/2014/main" id="{5124338B-8963-446A-4106-0A96A0A882CC}"/>
            </a:ext>
          </a:extLst>
        </cdr:cNvPr>
        <cdr:cNvSpPr txBox="1"/>
      </cdr:nvSpPr>
      <cdr:spPr>
        <a:xfrm xmlns:a="http://schemas.openxmlformats.org/drawingml/2006/main">
          <a:off x="0" y="0"/>
          <a:ext cx="4787900" cy="228536"/>
        </a:xfrm>
        <a:prstGeom xmlns:a="http://schemas.openxmlformats.org/drawingml/2006/main" prst="rect">
          <a:avLst/>
        </a:prstGeom>
        <a:solidFill xmlns:a="http://schemas.openxmlformats.org/drawingml/2006/main">
          <a:schemeClr val="accent1"/>
        </a:solidFill>
        <a:ln xmlns:a="http://schemas.openxmlformats.org/drawingml/2006/main">
          <a:noFill/>
        </a:ln>
      </cdr:spPr>
      <cdr:txBody>
        <a:bodyPr xmlns:a="http://schemas.openxmlformats.org/drawingml/2006/main" vertOverflow="clip" wrap="square" lIns="0" tIns="0" rIns="0" bIns="0" rtlCol="0" anchor="ctr" anchorCtr="1"/>
        <a:lstStyle xmlns:a="http://schemas.openxmlformats.org/drawingml/2006/main"/>
        <a:p xmlns:a="http://schemas.openxmlformats.org/drawingml/2006/main">
          <a:r>
            <a:rPr lang="de-DE" sz="900" b="1" cap="all" baseline="0" dirty="0">
              <a:solidFill>
                <a:schemeClr val="bg1"/>
              </a:solidFill>
            </a:rPr>
            <a:t>ASSETS UNDER CONTROL </a:t>
          </a:r>
          <a:r>
            <a:rPr lang="de-DE" sz="900" b="1" cap="all" dirty="0">
              <a:solidFill>
                <a:schemeClr val="bg1"/>
              </a:solidFill>
            </a:rPr>
            <a:t>31.12.</a:t>
          </a:r>
          <a:r>
            <a:rPr lang="de-DE" sz="900" b="1" cap="all" baseline="0" dirty="0">
              <a:solidFill>
                <a:schemeClr val="bg1"/>
              </a:solidFill>
            </a:rPr>
            <a:t>2024</a:t>
          </a:r>
        </a:p>
      </cdr:txBody>
    </cdr:sp>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A87CD71-7110-4B19-8EA5-90FE5CA1B0D6}" type="datetimeFigureOut">
              <a:rPr lang="de-DE" smtClean="0"/>
              <a:t>06.07.2026</a:t>
            </a:fld>
            <a:endParaRPr lang="de-DE"/>
          </a:p>
        </p:txBody>
      </p:sp>
      <p:sp>
        <p:nvSpPr>
          <p:cNvPr id="4" name="Folienbildplatzhalter 3"/>
          <p:cNvSpPr>
            <a:spLocks noGrp="1" noRot="1" noChangeAspect="1"/>
          </p:cNvSpPr>
          <p:nvPr>
            <p:ph type="sldImg" idx="2"/>
          </p:nvPr>
        </p:nvSpPr>
        <p:spPr>
          <a:xfrm>
            <a:off x="1009650" y="1143000"/>
            <a:ext cx="48387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6190148-D400-40F3-B43F-3D48F1E65470}" type="slidenum">
              <a:rPr lang="de-DE" smtClean="0"/>
              <a:t>‹Nr.›</a:t>
            </a:fld>
            <a:endParaRPr lang="de-DE"/>
          </a:p>
        </p:txBody>
      </p:sp>
    </p:spTree>
    <p:extLst>
      <p:ext uri="{BB962C8B-B14F-4D97-AF65-F5344CB8AC3E}">
        <p14:creationId xmlns:p14="http://schemas.microsoft.com/office/powerpoint/2010/main" val="25293109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jpeg"/><Relationship Id="rId1" Type="http://schemas.openxmlformats.org/officeDocument/2006/relationships/slideMaster" Target="../slideMasters/slideMaster1.xml"/><Relationship Id="rId4" Type="http://schemas.openxmlformats.org/officeDocument/2006/relationships/image" Target="../media/image8.pn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9.jpeg"/><Relationship Id="rId1" Type="http://schemas.openxmlformats.org/officeDocument/2006/relationships/slideMaster" Target="../slideMasters/slideMaster1.xml"/><Relationship Id="rId4" Type="http://schemas.openxmlformats.org/officeDocument/2006/relationships/image" Target="../media/image8.pn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10.jpe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11.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12.jpe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13.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14.jpe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15.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16.jpe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18.jpe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image" Target="../media/image19.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el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10" name="Logo">
            <a:extLst>
              <a:ext uri="{FF2B5EF4-FFF2-40B4-BE49-F238E27FC236}">
                <a16:creationId xmlns:a16="http://schemas.microsoft.com/office/drawing/2014/main" id="{AD26BE29-3DD0-DD2F-4205-A4E8DAEB2E21}"/>
              </a:ext>
            </a:extLst>
          </p:cNvPr>
          <p:cNvPicPr>
            <a:picLocks noGrp="1" noRot="1" noChangeAspect="1" noMove="1" noResize="1" noEditPoints="1" noAdjustHandles="1" noChangeArrowheads="1" noChangeShapeType="1" noCrop="1"/>
          </p:cNvPicPr>
          <p:nvPr userDrawn="1"/>
        </p:nvPicPr>
        <p:blipFill>
          <a:blip r:embed="rId3">
            <a:extLst>
              <a:ext uri="{28A0092B-C50C-407E-A947-70E740481C1C}">
                <a14:useLocalDpi xmlns:a14="http://schemas.microsoft.com/office/drawing/2010/main" val="0"/>
              </a:ext>
            </a:extLst>
          </a:blip>
          <a:srcRect/>
          <a:stretch/>
        </p:blipFill>
        <p:spPr>
          <a:xfrm>
            <a:off x="8102713" y="5702885"/>
            <a:ext cx="1979991" cy="597411"/>
          </a:xfrm>
          <a:prstGeom prst="rect">
            <a:avLst/>
          </a:prstGeom>
        </p:spPr>
      </p:pic>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2061882"/>
            <a:ext cx="828675"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2305508"/>
            <a:ext cx="6626225" cy="303222"/>
          </a:xfrm>
        </p:spPr>
        <p:txBody>
          <a:bodyPr/>
          <a:lstStyle>
            <a:lvl1pPr marL="0" indent="0" algn="l">
              <a:buNone/>
              <a:defRPr sz="1400" b="0" cap="all" baseline="0">
                <a:solidFill>
                  <a:schemeClr val="bg1"/>
                </a:solidFill>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1041400"/>
            <a:ext cx="6626225" cy="931775"/>
          </a:xfrm>
        </p:spPr>
        <p:txBody>
          <a:bodyPr tIns="0" anchor="t" anchorCtr="0"/>
          <a:lstStyle>
            <a:lvl1pPr algn="l">
              <a:lnSpc>
                <a:spcPts val="3450"/>
              </a:lnSpc>
              <a:defRPr sz="2770">
                <a:solidFill>
                  <a:schemeClr val="bg1"/>
                </a:solidFill>
              </a:defRPr>
            </a:lvl1pPr>
          </a:lstStyle>
          <a:p>
            <a:r>
              <a:rPr lang="de-DE" dirty="0"/>
              <a:t>Mastertitelformat bearbeiten</a:t>
            </a:r>
          </a:p>
        </p:txBody>
      </p:sp>
    </p:spTree>
    <p:extLst>
      <p:ext uri="{BB962C8B-B14F-4D97-AF65-F5344CB8AC3E}">
        <p14:creationId xmlns:p14="http://schemas.microsoft.com/office/powerpoint/2010/main" val="4063696443"/>
      </p:ext>
    </p:extLst>
  </p:cSld>
  <p:clrMapOvr>
    <a:masterClrMapping/>
  </p:clrMapOvr>
  <p:extLst>
    <p:ext uri="{DCECCB84-F9BA-43D5-87BE-67443E8EF086}">
      <p15:sldGuideLst xmlns:p15="http://schemas.microsoft.com/office/powerpoint/2012/main">
        <p15:guide id="1" orient="horz" pos="2097">
          <p15:clr>
            <a:srgbClr val="FBAE40"/>
          </p15:clr>
        </p15:guide>
        <p15:guide id="2" pos="3288">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Inhaltsverzeichnis">
    <p:bg>
      <p:bgPr>
        <a:solidFill>
          <a:schemeClr val="bg1"/>
        </a:solidFill>
        <a:effectLst/>
      </p:bgPr>
    </p:bg>
    <p:spTree>
      <p:nvGrpSpPr>
        <p:cNvPr id="1" name=""/>
        <p:cNvGrpSpPr/>
        <p:nvPr/>
      </p:nvGrpSpPr>
      <p:grpSpPr>
        <a:xfrm>
          <a:off x="0" y="0"/>
          <a:ext cx="0" cy="0"/>
          <a:chOff x="0" y="0"/>
          <a:chExt cx="0" cy="0"/>
        </a:xfrm>
      </p:grpSpPr>
      <p:pic>
        <p:nvPicPr>
          <p:cNvPr id="8" name="Bild" descr="Ein Bild, das Kunst, Bild, Braun, draußen enthält.&#10;&#10;Automatisch generierte Beschreibung">
            <a:extLst>
              <a:ext uri="{FF2B5EF4-FFF2-40B4-BE49-F238E27FC236}">
                <a16:creationId xmlns:a16="http://schemas.microsoft.com/office/drawing/2014/main" id="{9264BB79-86C2-7714-48D1-D0D8AA044F36}"/>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0" y="0"/>
            <a:ext cx="10439400" cy="2882900"/>
          </a:xfrm>
          <a:custGeom>
            <a:avLst/>
            <a:gdLst>
              <a:gd name="connsiteX0" fmla="*/ 0 w 10439400"/>
              <a:gd name="connsiteY0" fmla="*/ 0 h 2882900"/>
              <a:gd name="connsiteX1" fmla="*/ 10439400 w 10439400"/>
              <a:gd name="connsiteY1" fmla="*/ 0 h 2882900"/>
              <a:gd name="connsiteX2" fmla="*/ 10439400 w 10439400"/>
              <a:gd name="connsiteY2" fmla="*/ 2882900 h 2882900"/>
              <a:gd name="connsiteX3" fmla="*/ 10439399 w 10439400"/>
              <a:gd name="connsiteY3" fmla="*/ 2882900 h 2882900"/>
              <a:gd name="connsiteX4" fmla="*/ 10439399 w 10439400"/>
              <a:gd name="connsiteY4" fmla="*/ 1354710 h 2882900"/>
              <a:gd name="connsiteX5" fmla="*/ 1511298 w 10439400"/>
              <a:gd name="connsiteY5" fmla="*/ 1354710 h 2882900"/>
              <a:gd name="connsiteX6" fmla="*/ 1511298 w 10439400"/>
              <a:gd name="connsiteY6" fmla="*/ 2882900 h 2882900"/>
              <a:gd name="connsiteX7" fmla="*/ 0 w 10439400"/>
              <a:gd name="connsiteY7" fmla="*/ 2882900 h 2882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439400" h="2882900">
                <a:moveTo>
                  <a:pt x="0" y="0"/>
                </a:moveTo>
                <a:lnTo>
                  <a:pt x="10439400" y="0"/>
                </a:lnTo>
                <a:lnTo>
                  <a:pt x="10439400" y="2882900"/>
                </a:lnTo>
                <a:lnTo>
                  <a:pt x="10439399" y="2882900"/>
                </a:lnTo>
                <a:lnTo>
                  <a:pt x="10439399" y="1354710"/>
                </a:lnTo>
                <a:lnTo>
                  <a:pt x="1511298" y="1354710"/>
                </a:lnTo>
                <a:lnTo>
                  <a:pt x="1511298" y="2882900"/>
                </a:lnTo>
                <a:lnTo>
                  <a:pt x="0" y="2882900"/>
                </a:lnTo>
                <a:close/>
              </a:path>
            </a:pathLst>
          </a:cu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2016125" y="2147233"/>
            <a:ext cx="7272338" cy="3685241"/>
          </a:xfrm>
        </p:spPr>
        <p:txBody>
          <a:bodyPr/>
          <a:lstStyle>
            <a:lvl1pPr>
              <a:spcBef>
                <a:spcPts val="0"/>
              </a:spcBef>
              <a:spcAft>
                <a:spcPts val="900"/>
              </a:spcAft>
              <a:tabLst>
                <a:tab pos="7264400" algn="r"/>
              </a:tabLst>
              <a:defRPr sz="1300"/>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2016000" y="1620000"/>
            <a:ext cx="7272337" cy="360000"/>
          </a:xfrm>
        </p:spPr>
        <p:txBody>
          <a:bodyPr/>
          <a:lstStyle/>
          <a:p>
            <a:r>
              <a:rPr lang="de-DE" dirty="0"/>
              <a:t>Mastertitelformat bearbeiten</a:t>
            </a:r>
          </a:p>
        </p:txBody>
      </p:sp>
    </p:spTree>
    <p:extLst>
      <p:ext uri="{BB962C8B-B14F-4D97-AF65-F5344CB8AC3E}">
        <p14:creationId xmlns:p14="http://schemas.microsoft.com/office/powerpoint/2010/main" val="296001517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Bild links Inhalt 1">
    <p:bg>
      <p:bgPr>
        <a:solidFill>
          <a:schemeClr val="bg1"/>
        </a:solidFill>
        <a:effectLst/>
      </p:bgPr>
    </p:bg>
    <p:spTree>
      <p:nvGrpSpPr>
        <p:cNvPr id="1" name=""/>
        <p:cNvGrpSpPr/>
        <p:nvPr/>
      </p:nvGrpSpPr>
      <p:grpSpPr>
        <a:xfrm>
          <a:off x="0" y="0"/>
          <a:ext cx="0" cy="0"/>
          <a:chOff x="0" y="0"/>
          <a:chExt cx="0" cy="0"/>
        </a:xfrm>
      </p:grpSpPr>
      <p:pic>
        <p:nvPicPr>
          <p:cNvPr id="5" name="Bild">
            <a:extLst>
              <a:ext uri="{FF2B5EF4-FFF2-40B4-BE49-F238E27FC236}">
                <a16:creationId xmlns:a16="http://schemas.microsoft.com/office/drawing/2014/main" id="{A6D42F99-B026-35AD-FBC7-BE938A526564}"/>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l="3706" r="3706"/>
          <a:stretch/>
        </p:blipFill>
        <p:spPr>
          <a:xfrm>
            <a:off x="0" y="0"/>
            <a:ext cx="5631108" cy="6659563"/>
          </a:xfrm>
          <a:custGeom>
            <a:avLst/>
            <a:gdLst>
              <a:gd name="connsiteX0" fmla="*/ 0 w 5631108"/>
              <a:gd name="connsiteY0" fmla="*/ 0 h 6659563"/>
              <a:gd name="connsiteX1" fmla="*/ 5631108 w 5631108"/>
              <a:gd name="connsiteY1" fmla="*/ 0 h 6659563"/>
              <a:gd name="connsiteX2" fmla="*/ 5631108 w 5631108"/>
              <a:gd name="connsiteY2" fmla="*/ 584462 h 6659563"/>
              <a:gd name="connsiteX3" fmla="*/ 4498975 w 5631108"/>
              <a:gd name="connsiteY3" fmla="*/ 584462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4462"/>
                </a:lnTo>
                <a:lnTo>
                  <a:pt x="4498975" y="584462"/>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2" y="6149482"/>
            <a:ext cx="1577376" cy="205348"/>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marL="108000" indent="-108000">
              <a:spcBef>
                <a:spcPts val="1600"/>
              </a:spcBef>
              <a:buFontTx/>
              <a:buBlip>
                <a:blip r:embed="rId4"/>
              </a:buBlip>
              <a:defRPr b="0">
                <a:solidFill>
                  <a:schemeClr val="tx1"/>
                </a:solidFill>
                <a:latin typeface="+mn-lt"/>
              </a:defRPr>
            </a:lvl1pPr>
            <a:lvl2pPr marL="216000" indent="-108000">
              <a:spcBef>
                <a:spcPts val="1600"/>
              </a:spcBef>
              <a:spcAft>
                <a:spcPts val="300"/>
              </a:spcAft>
              <a:buFontTx/>
              <a:buBlip>
                <a:blip r:embed="rId4"/>
              </a:buBlip>
              <a:defRPr/>
            </a:lvl2pPr>
            <a:lvl3pPr marL="216000">
              <a:defRPr/>
            </a:lvl3pPr>
            <a:lvl4pPr marL="324000">
              <a:defRPr/>
            </a:lvl4pPr>
            <a:lvl5pPr marL="432000">
              <a:defRPr/>
            </a:lvl5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336752022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1">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0"/>
            <a:ext cx="5631107" cy="6659563"/>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a:p>
        </p:txBody>
      </p:sp>
      <p:sp>
        <p:nvSpPr>
          <p:cNvPr id="4" name="Inhalt">
            <a:extLst>
              <a:ext uri="{FF2B5EF4-FFF2-40B4-BE49-F238E27FC236}">
                <a16:creationId xmlns:a16="http://schemas.microsoft.com/office/drawing/2014/main" id="{252DD0C3-2ABE-77EB-C231-A14873CCAD3B}"/>
              </a:ext>
            </a:extLst>
          </p:cNvPr>
          <p:cNvSpPr>
            <a:spLocks noGrp="1" noRot="1" noMove="1" noResize="1" noEditPoints="1" noAdjustHandles="1" noChangeArrowheads="1" noChangeShapeType="1"/>
          </p:cNvSpPr>
          <p:nvPr>
            <p:ph idx="13"/>
          </p:nvPr>
        </p:nvSpPr>
        <p:spPr>
          <a:xfrm>
            <a:off x="1187668" y="1411638"/>
            <a:ext cx="4139982" cy="4420838"/>
          </a:xfrm>
        </p:spPr>
        <p:txBody>
          <a:bodyPr/>
          <a:lstStyle>
            <a:lvl1pPr marL="108000" indent="-108000">
              <a:spcBef>
                <a:spcPts val="1600"/>
              </a:spcBef>
              <a:buFontTx/>
              <a:buBlip>
                <a:blip r:embed="rId4"/>
              </a:buBlip>
              <a:defRPr b="0">
                <a:solidFill>
                  <a:schemeClr val="tx1"/>
                </a:solidFill>
                <a:latin typeface="+mn-lt"/>
              </a:defRPr>
            </a:lvl1pPr>
            <a:lvl2pPr marL="216000" indent="-108000">
              <a:spcBef>
                <a:spcPts val="1600"/>
              </a:spcBef>
              <a:spcAft>
                <a:spcPts val="300"/>
              </a:spcAft>
              <a:buFontTx/>
              <a:buBlip>
                <a:blip r:embed="rId4"/>
              </a:buBlip>
              <a:defRPr/>
            </a:lvl2pPr>
            <a:lvl3pPr marL="216000">
              <a:defRPr/>
            </a:lvl3pPr>
            <a:lvl4pPr marL="324000">
              <a:defRPr/>
            </a:lvl4pPr>
            <a:lvl5pPr marL="432000">
              <a:defRPr/>
            </a:lvl5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351142261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Bild links Inhalt 2">
    <p:bg>
      <p:bgPr>
        <a:solidFill>
          <a:schemeClr val="bg1"/>
        </a:solidFill>
        <a:effectLst/>
      </p:bgPr>
    </p:bg>
    <p:spTree>
      <p:nvGrpSpPr>
        <p:cNvPr id="1" name=""/>
        <p:cNvGrpSpPr/>
        <p:nvPr/>
      </p:nvGrpSpPr>
      <p:grpSpPr>
        <a:xfrm>
          <a:off x="0" y="0"/>
          <a:ext cx="0" cy="0"/>
          <a:chOff x="0" y="0"/>
          <a:chExt cx="0" cy="0"/>
        </a:xfrm>
      </p:grpSpPr>
      <p:pic>
        <p:nvPicPr>
          <p:cNvPr id="8" name="Bild" descr="Ein Bild, das Person, Kleidung, Menschliches Gesicht, Im Haus enthält.&#10;&#10;Automatisch generierte Beschreibung">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0" y="0"/>
            <a:ext cx="5631108" cy="6659563"/>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2" y="6149482"/>
            <a:ext cx="1577376" cy="205348"/>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9098351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2">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0"/>
            <a:ext cx="5631107" cy="6659563"/>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accent1"/>
                </a:solidFill>
              </a:defRPr>
            </a:lvl1pPr>
          </a:lstStyle>
          <a:p>
            <a:fld id="{3AE71D6B-ACB6-4F4C-A895-DCAEF1760EAA}" type="slidenum">
              <a:rPr lang="de-DE" smtClean="0"/>
              <a:pPr/>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289060088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Bild links Inhalt 3">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0"/>
            <a:ext cx="5631107" cy="6659563"/>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1807346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3">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1"/>
            <a:ext cx="5631107" cy="6659561"/>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153161795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Bild links Inhalt 4">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1"/>
            <a:ext cx="5631107" cy="6659561"/>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7" name="Linie unten">
            <a:extLst>
              <a:ext uri="{FF2B5EF4-FFF2-40B4-BE49-F238E27FC236}">
                <a16:creationId xmlns:a16="http://schemas.microsoft.com/office/drawing/2014/main" id="{551D5771-5F33-1B94-F572-1D3F5C78F789}"/>
              </a:ext>
            </a:extLst>
          </p:cNvPr>
          <p:cNvCxnSpPr>
            <a:cxnSpLocks noGrp="1" noRot="1" noMove="1" noResize="1" noEditPoints="1" noAdjustHandles="1" noChangeArrowheads="1" noChangeShapeType="1"/>
          </p:cNvCxnSpPr>
          <p:nvPr userDrawn="1"/>
        </p:nvCxnSpPr>
        <p:spPr>
          <a:xfrm>
            <a:off x="5327650" y="4289818"/>
            <a:ext cx="4787899"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5" name="Inhalt2">
            <a:extLst>
              <a:ext uri="{FF2B5EF4-FFF2-40B4-BE49-F238E27FC236}">
                <a16:creationId xmlns:a16="http://schemas.microsoft.com/office/drawing/2014/main" id="{2334F1FD-34A0-6C6F-61E6-A156D657FC55}"/>
              </a:ext>
            </a:extLst>
          </p:cNvPr>
          <p:cNvSpPr>
            <a:spLocks noGrp="1" noRot="1" noMove="1" noResize="1" noEditPoints="1" noAdjustHandles="1" noChangeArrowheads="1" noChangeShapeType="1"/>
          </p:cNvSpPr>
          <p:nvPr>
            <p:ph sz="quarter" idx="13"/>
          </p:nvPr>
        </p:nvSpPr>
        <p:spPr>
          <a:xfrm>
            <a:off x="5327650" y="4759325"/>
            <a:ext cx="4787900" cy="1304925"/>
          </a:xfrm>
        </p:spPr>
        <p:txBody>
          <a:bodyPr/>
          <a:lstStyle>
            <a:lvl2pPr>
              <a:tabLst>
                <a:tab pos="1798638" algn="l"/>
              </a:tabLst>
              <a:defRPr/>
            </a:lvl2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9"/>
            <a:ext cx="4787900" cy="2878180"/>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5577040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Bild links Inhalt 5">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1"/>
            <a:ext cx="5631107" cy="6659561"/>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676400"/>
            <a:ext cx="3960813" cy="4156076"/>
          </a:xfrm>
        </p:spPr>
        <p:txBody>
          <a:bodyPr/>
          <a:lstStyle>
            <a:lvl1pPr>
              <a:spcBef>
                <a:spcPts val="1600"/>
              </a:spcBef>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583680"/>
          </a:xfrm>
        </p:spPr>
        <p:txBody>
          <a:bodyPr/>
          <a:lstStyle/>
          <a:p>
            <a:r>
              <a:rPr lang="de-DE" dirty="0"/>
              <a:t>Mastertitelformat bearbeiten</a:t>
            </a:r>
          </a:p>
        </p:txBody>
      </p:sp>
    </p:spTree>
    <p:extLst>
      <p:ext uri="{BB962C8B-B14F-4D97-AF65-F5344CB8AC3E}">
        <p14:creationId xmlns:p14="http://schemas.microsoft.com/office/powerpoint/2010/main" val="10384988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5">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1"/>
            <a:ext cx="5631106" cy="6659561"/>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b="0">
                <a:solidFill>
                  <a:schemeClr val="tx1"/>
                </a:solidFill>
                <a:latin typeface="+mn-lt"/>
              </a:defRPr>
            </a:lvl1pPr>
            <a:lvl2pPr>
              <a:lnSpc>
                <a:spcPts val="1900"/>
              </a:lnSpc>
              <a:spcBef>
                <a:spcPts val="1800"/>
              </a:spcBef>
              <a:defRPr sz="1500" b="1">
                <a:solidFill>
                  <a:schemeClr val="accent3"/>
                </a:solidFill>
                <a:latin typeface="+mj-lt"/>
              </a:defRPr>
            </a:lvl2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426662748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el 1 Inhalt">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9756775"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05483844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2 Inhalte">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4" name="Inhalt 2">
            <a:extLst>
              <a:ext uri="{FF2B5EF4-FFF2-40B4-BE49-F238E27FC236}">
                <a16:creationId xmlns:a16="http://schemas.microsoft.com/office/drawing/2014/main" id="{4818D79A-2268-D45E-08FC-24A90E0E65C8}"/>
              </a:ext>
            </a:extLst>
          </p:cNvPr>
          <p:cNvSpPr>
            <a:spLocks noGrp="1" noRot="1" noMove="1" noResize="1" noEditPoints="1" noAdjustHandles="1" noChangeArrowheads="1" noChangeShapeType="1"/>
          </p:cNvSpPr>
          <p:nvPr>
            <p:ph idx="13"/>
          </p:nvPr>
        </p:nvSpPr>
        <p:spPr>
          <a:xfrm>
            <a:off x="3671888" y="1041401"/>
            <a:ext cx="6443662"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1">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3132139" cy="4791074"/>
          </a:xfrm>
        </p:spPr>
        <p:txBody>
          <a:bodyPr/>
          <a:lstStyle>
            <a:lvl3pPr marL="108000" indent="-108000">
              <a:buFontTx/>
              <a:buBlip>
                <a:blip r:embed="rId2"/>
              </a:buBlip>
              <a:defRPr/>
            </a:lvl3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86264414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el 3 Inhalte">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5" name="Inhalt 3">
            <a:extLst>
              <a:ext uri="{FF2B5EF4-FFF2-40B4-BE49-F238E27FC236}">
                <a16:creationId xmlns:a16="http://schemas.microsoft.com/office/drawing/2014/main" id="{9506A371-2FE5-4393-8549-089825558FBF}"/>
              </a:ext>
            </a:extLst>
          </p:cNvPr>
          <p:cNvSpPr>
            <a:spLocks noGrp="1" noRot="1" noMove="1" noResize="1" noEditPoints="1" noAdjustHandles="1" noChangeArrowheads="1" noChangeShapeType="1"/>
          </p:cNvSpPr>
          <p:nvPr>
            <p:ph idx="14"/>
          </p:nvPr>
        </p:nvSpPr>
        <p:spPr>
          <a:xfrm>
            <a:off x="6985002"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 name="Inhalt 2">
            <a:extLst>
              <a:ext uri="{FF2B5EF4-FFF2-40B4-BE49-F238E27FC236}">
                <a16:creationId xmlns:a16="http://schemas.microsoft.com/office/drawing/2014/main" id="{4818D79A-2268-D45E-08FC-24A90E0E65C8}"/>
              </a:ext>
            </a:extLst>
          </p:cNvPr>
          <p:cNvSpPr>
            <a:spLocks noGrp="1" noRot="1" noMove="1" noResize="1" noEditPoints="1" noAdjustHandles="1" noChangeArrowheads="1" noChangeShapeType="1"/>
          </p:cNvSpPr>
          <p:nvPr>
            <p:ph idx="13"/>
          </p:nvPr>
        </p:nvSpPr>
        <p:spPr>
          <a:xfrm>
            <a:off x="3671888"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1">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53484866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ext links Inhalt">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1" name="Linie unten">
            <a:extLst>
              <a:ext uri="{FF2B5EF4-FFF2-40B4-BE49-F238E27FC236}">
                <a16:creationId xmlns:a16="http://schemas.microsoft.com/office/drawing/2014/main" id="{B5CA13E5-1FAD-76FC-E7DE-8A3F9AF9CBBD}"/>
              </a:ext>
            </a:extLst>
          </p:cNvPr>
          <p:cNvCxnSpPr>
            <a:cxnSpLocks noGrp="1" noRot="1" noMove="1" noResize="1" noEditPoints="1" noAdjustHandles="1" noChangeArrowheads="1" noChangeShapeType="1"/>
          </p:cNvCxnSpPr>
          <p:nvPr userDrawn="1"/>
        </p:nvCxnSpPr>
        <p:spPr>
          <a:xfrm>
            <a:off x="3671888" y="4706378"/>
            <a:ext cx="6443661"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 name="Linie oben">
            <a:extLst>
              <a:ext uri="{FF2B5EF4-FFF2-40B4-BE49-F238E27FC236}">
                <a16:creationId xmlns:a16="http://schemas.microsoft.com/office/drawing/2014/main" id="{2491C51B-9AD5-C5E7-D799-FB1EF1A23302}"/>
              </a:ext>
            </a:extLst>
          </p:cNvPr>
          <p:cNvCxnSpPr>
            <a:cxnSpLocks noGrp="1" noRot="1" noMove="1" noResize="1" noEditPoints="1" noAdjustHandles="1" noChangeArrowheads="1" noChangeShapeType="1"/>
          </p:cNvCxnSpPr>
          <p:nvPr userDrawn="1"/>
        </p:nvCxnSpPr>
        <p:spPr>
          <a:xfrm>
            <a:off x="3671888" y="1041400"/>
            <a:ext cx="6443661"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671888" y="1041401"/>
            <a:ext cx="6443661" cy="3656012"/>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8" name="Text">
            <a:extLst>
              <a:ext uri="{FF2B5EF4-FFF2-40B4-BE49-F238E27FC236}">
                <a16:creationId xmlns:a16="http://schemas.microsoft.com/office/drawing/2014/main" id="{860E9E8B-F7A7-A548-BBFA-F5137E763ED8}"/>
              </a:ext>
            </a:extLst>
          </p:cNvPr>
          <p:cNvSpPr>
            <a:spLocks noGrp="1" noRot="1" noMove="1" noResize="1" noEditPoints="1" noAdjustHandles="1" noChangeArrowheads="1" noChangeShapeType="1"/>
          </p:cNvSpPr>
          <p:nvPr>
            <p:ph type="body" sz="quarter" idx="13"/>
          </p:nvPr>
        </p:nvSpPr>
        <p:spPr>
          <a:xfrm>
            <a:off x="358775" y="1041400"/>
            <a:ext cx="3132138" cy="3656013"/>
          </a:xfrm>
        </p:spPr>
        <p:txBody>
          <a:bodyPr/>
          <a:lstStyle>
            <a:lvl1pPr marL="144000" indent="-144000">
              <a:buFontTx/>
              <a:buBlip>
                <a:blip r:embed="rId2"/>
              </a:buBlip>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1363103107"/>
      </p:ext>
    </p:extLst>
  </p:cSld>
  <p:clrMapOvr>
    <a:masterClrMapping/>
  </p:clrMapOvr>
  <p:extLst>
    <p:ext uri="{DCECCB84-F9BA-43D5-87BE-67443E8EF086}">
      <p15:sldGuideLst xmlns:p15="http://schemas.microsoft.com/office/powerpoint/2012/main">
        <p15:guide id="1" orient="horz" pos="2959">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Anlagestrategie">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noGrp="1" noRot="1" noMove="1" noResize="1" noEditPoints="1" noAdjustHandles="1" noChangeArrowheads="1" noChangeShapeType="1"/>
          </p:cNvCxnSpPr>
          <p:nvPr userDrawn="1"/>
        </p:nvCxnSpPr>
        <p:spPr>
          <a:xfrm>
            <a:off x="5327650" y="5832475"/>
            <a:ext cx="4793151"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noGrp="1" noRot="1" noMove="1" noResize="1" noEditPoints="1" noAdjustHandles="1" noChangeArrowheads="1" noChangeShapeType="1"/>
          </p:cNvCxnSpPr>
          <p:nvPr userDrawn="1"/>
        </p:nvCxnSpPr>
        <p:spPr>
          <a:xfrm>
            <a:off x="352779" y="5240797"/>
            <a:ext cx="4795484"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17575468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Portfolio">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noGrp="1" noRot="1" noMove="1" noResize="1" noEditPoints="1" noAdjustHandles="1" noChangeArrowheads="1" noChangeShapeType="1"/>
          </p:cNvCxnSpPr>
          <p:nvPr userDrawn="1"/>
        </p:nvCxnSpPr>
        <p:spPr>
          <a:xfrm>
            <a:off x="5327650" y="5240797"/>
            <a:ext cx="4793151"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noGrp="1" noRot="1" noMove="1" noResize="1" noEditPoints="1" noAdjustHandles="1" noChangeArrowheads="1" noChangeShapeType="1"/>
          </p:cNvCxnSpPr>
          <p:nvPr userDrawn="1"/>
        </p:nvCxnSpPr>
        <p:spPr>
          <a:xfrm>
            <a:off x="352779" y="5240797"/>
            <a:ext cx="4795484"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236086070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Anlagestrategie Wertentwicklung">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p:cNvCxnSpPr>
          <p:nvPr userDrawn="1"/>
        </p:nvCxnSpPr>
        <p:spPr>
          <a:xfrm>
            <a:off x="4504801" y="3857371"/>
            <a:ext cx="5616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p:cNvCxnSpPr>
          <p:nvPr userDrawn="1"/>
        </p:nvCxnSpPr>
        <p:spPr>
          <a:xfrm>
            <a:off x="352779" y="4989784"/>
            <a:ext cx="3960000"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12" name="Fußnote">
            <a:extLst>
              <a:ext uri="{FF2B5EF4-FFF2-40B4-BE49-F238E27FC236}">
                <a16:creationId xmlns:a16="http://schemas.microsoft.com/office/drawing/2014/main" id="{ACF591ED-F264-96FA-8DD9-A565806966B6}"/>
              </a:ext>
            </a:extLst>
          </p:cNvPr>
          <p:cNvSpPr>
            <a:spLocks noGrp="1"/>
          </p:cNvSpPr>
          <p:nvPr>
            <p:ph type="body" sz="quarter" idx="16"/>
          </p:nvPr>
        </p:nvSpPr>
        <p:spPr>
          <a:xfrm>
            <a:off x="4498975" y="4016375"/>
            <a:ext cx="5616575" cy="1816100"/>
          </a:xfrm>
        </p:spPr>
        <p:txBody>
          <a:bodyPr/>
          <a:lstStyle>
            <a:lvl1pPr>
              <a:lnSpc>
                <a:spcPct val="100000"/>
              </a:lnSpc>
              <a:spcBef>
                <a:spcPts val="0"/>
              </a:spcBef>
              <a:spcAft>
                <a:spcPts val="0"/>
              </a:spcAft>
              <a:defRPr sz="600" b="0">
                <a:solidFill>
                  <a:schemeClr val="tx1"/>
                </a:solidFill>
                <a:latin typeface="+mn-lt"/>
              </a:defRPr>
            </a:lvl1pPr>
          </a:lstStyle>
          <a:p>
            <a:pPr lvl="0"/>
            <a:r>
              <a:rPr lang="de-DE" dirty="0"/>
              <a:t>Mastertextformat bearbeiten</a:t>
            </a:r>
          </a:p>
        </p:txBody>
      </p:sp>
      <p:sp>
        <p:nvSpPr>
          <p:cNvPr id="10" name="Diagramm rechts">
            <a:extLst>
              <a:ext uri="{FF2B5EF4-FFF2-40B4-BE49-F238E27FC236}">
                <a16:creationId xmlns:a16="http://schemas.microsoft.com/office/drawing/2014/main" id="{3A021442-F816-3F0A-E1A7-279CBD5A07BC}"/>
              </a:ext>
            </a:extLst>
          </p:cNvPr>
          <p:cNvSpPr>
            <a:spLocks noGrp="1"/>
          </p:cNvSpPr>
          <p:nvPr>
            <p:ph type="chart" sz="quarter" idx="15"/>
          </p:nvPr>
        </p:nvSpPr>
        <p:spPr>
          <a:xfrm>
            <a:off x="4505325" y="1041400"/>
            <a:ext cx="5584825" cy="2813050"/>
          </a:xfrm>
        </p:spPr>
        <p:txBody>
          <a:bodyPr/>
          <a:lstStyle/>
          <a:p>
            <a:endParaRPr lang="de-DE"/>
          </a:p>
        </p:txBody>
      </p:sp>
      <p:sp>
        <p:nvSpPr>
          <p:cNvPr id="4" name="Diagramm links">
            <a:extLst>
              <a:ext uri="{FF2B5EF4-FFF2-40B4-BE49-F238E27FC236}">
                <a16:creationId xmlns:a16="http://schemas.microsoft.com/office/drawing/2014/main" id="{C7B8DD6E-6ABD-EE02-4560-317478A589CC}"/>
              </a:ext>
            </a:extLst>
          </p:cNvPr>
          <p:cNvSpPr>
            <a:spLocks noGrp="1"/>
          </p:cNvSpPr>
          <p:nvPr>
            <p:ph type="chart" sz="quarter" idx="14"/>
          </p:nvPr>
        </p:nvSpPr>
        <p:spPr>
          <a:xfrm>
            <a:off x="349250" y="2679700"/>
            <a:ext cx="3959225" cy="2286000"/>
          </a:xfrm>
        </p:spPr>
        <p:txBody>
          <a:bodyPr/>
          <a:lstStyle/>
          <a:p>
            <a:endParaRPr lang="de-DE"/>
          </a:p>
        </p:txBody>
      </p:sp>
      <p:sp>
        <p:nvSpPr>
          <p:cNvPr id="8" name="Tabelle">
            <a:extLst>
              <a:ext uri="{FF2B5EF4-FFF2-40B4-BE49-F238E27FC236}">
                <a16:creationId xmlns:a16="http://schemas.microsoft.com/office/drawing/2014/main" id="{9E812005-7793-D92F-6E15-643D1E827060}"/>
              </a:ext>
            </a:extLst>
          </p:cNvPr>
          <p:cNvSpPr>
            <a:spLocks noGrp="1"/>
          </p:cNvSpPr>
          <p:nvPr>
            <p:ph type="tbl" sz="quarter" idx="13"/>
          </p:nvPr>
        </p:nvSpPr>
        <p:spPr>
          <a:xfrm>
            <a:off x="349068" y="1041400"/>
            <a:ext cx="3970519" cy="1484086"/>
          </a:xfrm>
        </p:spPr>
        <p:txBody>
          <a:bodyPr/>
          <a:lstStyle>
            <a:lvl1pPr>
              <a:defRPr sz="900"/>
            </a:lvl1pPr>
          </a:lstStyle>
          <a:p>
            <a:endParaRPr lang="de-DE" dirty="0"/>
          </a:p>
        </p:txBody>
      </p:sp>
      <p:sp>
        <p:nvSpPr>
          <p:cNvPr id="2" name="Titel">
            <a:extLst>
              <a:ext uri="{FF2B5EF4-FFF2-40B4-BE49-F238E27FC236}">
                <a16:creationId xmlns:a16="http://schemas.microsoft.com/office/drawing/2014/main" id="{8B3C277F-6B41-4AE4-99E4-3674B59C66BE}"/>
              </a:ext>
            </a:extLst>
          </p:cNvPr>
          <p:cNvSpPr>
            <a:spLocks noGrp="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421320901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nlagrstrategie schmal">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B3C277F-6B41-4AE4-99E4-3674B59C66BE}"/>
              </a:ext>
            </a:extLst>
          </p:cNvPr>
          <p:cNvSpPr>
            <a:spLocks noGrp="1"/>
          </p:cNvSpPr>
          <p:nvPr>
            <p:ph type="title"/>
          </p:nvPr>
        </p:nvSpPr>
        <p:spPr/>
        <p:txBody>
          <a:bodyPr/>
          <a:lstStyle/>
          <a:p>
            <a:r>
              <a:rPr lang="de-DE" dirty="0"/>
              <a:t>Mastertitelformat bearbeiten</a:t>
            </a:r>
          </a:p>
        </p:txBody>
      </p:sp>
      <p:sp>
        <p:nvSpPr>
          <p:cNvPr id="3" name="Inhaltsplatzhalter 2">
            <a:extLst>
              <a:ext uri="{FF2B5EF4-FFF2-40B4-BE49-F238E27FC236}">
                <a16:creationId xmlns:a16="http://schemas.microsoft.com/office/drawing/2014/main" id="{260C15E9-224A-AC2C-0CDE-881556E09104}"/>
              </a:ext>
            </a:extLst>
          </p:cNvPr>
          <p:cNvSpPr>
            <a:spLocks noGrp="1"/>
          </p:cNvSpPr>
          <p:nvPr>
            <p:ph idx="1"/>
          </p:nvPr>
        </p:nvSpPr>
        <p:spPr>
          <a:xfrm>
            <a:off x="358775" y="1041401"/>
            <a:ext cx="2305050"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oliennummernplatzhalter 5">
            <a:extLst>
              <a:ext uri="{FF2B5EF4-FFF2-40B4-BE49-F238E27FC236}">
                <a16:creationId xmlns:a16="http://schemas.microsoft.com/office/drawing/2014/main" id="{89109038-E711-508C-216E-C687B5316E9C}"/>
              </a:ext>
            </a:extLst>
          </p:cNvPr>
          <p:cNvSpPr>
            <a:spLocks noGrp="1"/>
          </p:cNvSpPr>
          <p:nvPr>
            <p:ph type="sldNum" sz="quarter" idx="12"/>
          </p:nvPr>
        </p:nvSpPr>
        <p:spPr/>
        <p:txBody>
          <a:bodyPr/>
          <a:lstStyle/>
          <a:p>
            <a:fld id="{3AE71D6B-ACB6-4F4C-A895-DCAEF1760EAA}" type="slidenum">
              <a:rPr lang="de-DE" smtClean="0"/>
              <a:t>‹Nr.›</a:t>
            </a:fld>
            <a:endParaRPr lang="de-DE"/>
          </a:p>
        </p:txBody>
      </p:sp>
      <p:sp>
        <p:nvSpPr>
          <p:cNvPr id="8" name="Tabellenplatzhalter 7">
            <a:extLst>
              <a:ext uri="{FF2B5EF4-FFF2-40B4-BE49-F238E27FC236}">
                <a16:creationId xmlns:a16="http://schemas.microsoft.com/office/drawing/2014/main" id="{9E812005-7793-D92F-6E15-643D1E827060}"/>
              </a:ext>
            </a:extLst>
          </p:cNvPr>
          <p:cNvSpPr>
            <a:spLocks noGrp="1"/>
          </p:cNvSpPr>
          <p:nvPr>
            <p:ph type="tbl" sz="quarter" idx="13"/>
          </p:nvPr>
        </p:nvSpPr>
        <p:spPr>
          <a:xfrm>
            <a:off x="2843212" y="1041400"/>
            <a:ext cx="3132137" cy="1419225"/>
          </a:xfrm>
        </p:spPr>
        <p:txBody>
          <a:bodyPr/>
          <a:lstStyle>
            <a:lvl1pPr>
              <a:defRPr sz="900"/>
            </a:lvl1pPr>
          </a:lstStyle>
          <a:p>
            <a:endParaRPr lang="de-DE" dirty="0"/>
          </a:p>
        </p:txBody>
      </p:sp>
      <p:cxnSp>
        <p:nvCxnSpPr>
          <p:cNvPr id="9" name="Gerader Verbinder 8">
            <a:extLst>
              <a:ext uri="{FF2B5EF4-FFF2-40B4-BE49-F238E27FC236}">
                <a16:creationId xmlns:a16="http://schemas.microsoft.com/office/drawing/2014/main" id="{6389BD36-56F5-8350-55A9-F82383A5CD68}"/>
              </a:ext>
            </a:extLst>
          </p:cNvPr>
          <p:cNvCxnSpPr>
            <a:cxnSpLocks/>
          </p:cNvCxnSpPr>
          <p:nvPr userDrawn="1"/>
        </p:nvCxnSpPr>
        <p:spPr>
          <a:xfrm>
            <a:off x="2843212" y="5832475"/>
            <a:ext cx="3132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7" name="Gerader Verbinder 6">
            <a:extLst>
              <a:ext uri="{FF2B5EF4-FFF2-40B4-BE49-F238E27FC236}">
                <a16:creationId xmlns:a16="http://schemas.microsoft.com/office/drawing/2014/main" id="{24B2DBBF-D7FF-5445-B224-D356DA219899}"/>
              </a:ext>
            </a:extLst>
          </p:cNvPr>
          <p:cNvCxnSpPr>
            <a:cxnSpLocks/>
          </p:cNvCxnSpPr>
          <p:nvPr userDrawn="1"/>
        </p:nvCxnSpPr>
        <p:spPr>
          <a:xfrm>
            <a:off x="6156325" y="5832475"/>
            <a:ext cx="3959225" cy="0"/>
          </a:xfrm>
          <a:prstGeom prst="line">
            <a:avLst/>
          </a:prstGeom>
          <a:ln w="381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0193093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2" name="Titel">
            <a:extLst>
              <a:ext uri="{FF2B5EF4-FFF2-40B4-BE49-F238E27FC236}">
                <a16:creationId xmlns:a16="http://schemas.microsoft.com/office/drawing/2014/main" id="{368211C2-F61D-C7AC-FA9C-4391CDBCBAEC}"/>
              </a:ext>
            </a:extLst>
          </p:cNvPr>
          <p:cNvSpPr>
            <a:spLocks noGrp="1" noRot="1" noMove="1" noResize="1" noEditPoints="1" noAdjustHandles="1" noChangeArrowheads="1" noChangeShapeType="1"/>
          </p:cNvSpPr>
          <p:nvPr>
            <p:ph type="title"/>
          </p:nvPr>
        </p:nvSpPr>
        <p:spPr/>
        <p:txBody>
          <a:bodyPr/>
          <a:lstStyle/>
          <a:p>
            <a:r>
              <a:rPr lang="de-DE"/>
              <a:t>Mastertitelformat bearbeiten</a:t>
            </a:r>
          </a:p>
        </p:txBody>
      </p:sp>
    </p:spTree>
    <p:extLst>
      <p:ext uri="{BB962C8B-B14F-4D97-AF65-F5344CB8AC3E}">
        <p14:creationId xmlns:p14="http://schemas.microsoft.com/office/powerpoint/2010/main" val="31244826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1DD6015A-9BBE-CDE6-A152-9855AC75DFB9}"/>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Tree>
    <p:extLst>
      <p:ext uri="{BB962C8B-B14F-4D97-AF65-F5344CB8AC3E}">
        <p14:creationId xmlns:p14="http://schemas.microsoft.com/office/powerpoint/2010/main" val="142700637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Ansprechpartner">
    <p:bg>
      <p:bgPr>
        <a:solidFill>
          <a:schemeClr val="bg1"/>
        </a:solidFill>
        <a:effectLst/>
      </p:bgPr>
    </p:bg>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3" name="Linie rechts">
            <a:extLst>
              <a:ext uri="{FF2B5EF4-FFF2-40B4-BE49-F238E27FC236}">
                <a16:creationId xmlns:a16="http://schemas.microsoft.com/office/drawing/2014/main" id="{FD52525D-63CC-8107-F830-67B98C6B65F8}"/>
              </a:ext>
            </a:extLst>
          </p:cNvPr>
          <p:cNvCxnSpPr>
            <a:cxnSpLocks noGrp="1" noRot="1" noMove="1" noResize="1" noEditPoints="1" noAdjustHandles="1" noChangeArrowheads="1" noChangeShapeType="1"/>
          </p:cNvCxnSpPr>
          <p:nvPr userDrawn="1"/>
        </p:nvCxnSpPr>
        <p:spPr>
          <a:xfrm>
            <a:off x="3671888" y="404308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Linie links">
            <a:extLst>
              <a:ext uri="{FF2B5EF4-FFF2-40B4-BE49-F238E27FC236}">
                <a16:creationId xmlns:a16="http://schemas.microsoft.com/office/drawing/2014/main" id="{CF1A3792-E31E-29D6-F65C-F09548B87121}"/>
              </a:ext>
            </a:extLst>
          </p:cNvPr>
          <p:cNvCxnSpPr>
            <a:cxnSpLocks noGrp="1" noRot="1" noMove="1" noResize="1" noEditPoints="1" noAdjustHandles="1" noChangeArrowheads="1" noChangeShapeType="1"/>
          </p:cNvCxnSpPr>
          <p:nvPr userDrawn="1"/>
        </p:nvCxnSpPr>
        <p:spPr>
          <a:xfrm>
            <a:off x="358775" y="404308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ext rechts">
            <a:extLst>
              <a:ext uri="{FF2B5EF4-FFF2-40B4-BE49-F238E27FC236}">
                <a16:creationId xmlns:a16="http://schemas.microsoft.com/office/drawing/2014/main" id="{8442F4D5-B5A2-FB48-AB51-E3F593F57123}"/>
              </a:ext>
            </a:extLst>
          </p:cNvPr>
          <p:cNvSpPr>
            <a:spLocks noGrp="1" noRot="1" noMove="1" noResize="1" noEditPoints="1" noAdjustHandles="1" noChangeArrowheads="1" noChangeShapeType="1"/>
          </p:cNvSpPr>
          <p:nvPr>
            <p:ph type="body" sz="quarter" idx="18"/>
          </p:nvPr>
        </p:nvSpPr>
        <p:spPr>
          <a:xfrm>
            <a:off x="3671887" y="4172650"/>
            <a:ext cx="3132138"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4" name="Text links">
            <a:extLst>
              <a:ext uri="{FF2B5EF4-FFF2-40B4-BE49-F238E27FC236}">
                <a16:creationId xmlns:a16="http://schemas.microsoft.com/office/drawing/2014/main" id="{3DF09069-72A7-40B9-FF1C-BAF486DC94EC}"/>
              </a:ext>
            </a:extLst>
          </p:cNvPr>
          <p:cNvSpPr>
            <a:spLocks noGrp="1" noRot="1" noMove="1" noResize="1" noEditPoints="1" noAdjustHandles="1" noChangeArrowheads="1" noChangeShapeType="1"/>
          </p:cNvSpPr>
          <p:nvPr>
            <p:ph type="body" sz="quarter" idx="17"/>
          </p:nvPr>
        </p:nvSpPr>
        <p:spPr>
          <a:xfrm>
            <a:off x="358775" y="4172650"/>
            <a:ext cx="3132138"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9" name="Name rechts">
            <a:extLst>
              <a:ext uri="{FF2B5EF4-FFF2-40B4-BE49-F238E27FC236}">
                <a16:creationId xmlns:a16="http://schemas.microsoft.com/office/drawing/2014/main" id="{360DA725-655A-CCCE-2980-293201DCB5BF}"/>
              </a:ext>
            </a:extLst>
          </p:cNvPr>
          <p:cNvSpPr>
            <a:spLocks noGrp="1" noRot="1" noMove="1" noResize="1" noEditPoints="1" noAdjustHandles="1" noChangeArrowheads="1" noChangeShapeType="1"/>
          </p:cNvSpPr>
          <p:nvPr>
            <p:ph type="body" sz="quarter" idx="16"/>
          </p:nvPr>
        </p:nvSpPr>
        <p:spPr>
          <a:xfrm>
            <a:off x="3671887" y="3688398"/>
            <a:ext cx="3132138" cy="225425"/>
          </a:xfrm>
        </p:spPr>
        <p:txBody>
          <a:bodyPr/>
          <a:lstStyle/>
          <a:p>
            <a:pPr lvl="0"/>
            <a:r>
              <a:rPr lang="de-DE" dirty="0"/>
              <a:t>Mastertextformat bearbeiten</a:t>
            </a:r>
          </a:p>
        </p:txBody>
      </p:sp>
      <p:sp>
        <p:nvSpPr>
          <p:cNvPr id="8" name="Name links">
            <a:extLst>
              <a:ext uri="{FF2B5EF4-FFF2-40B4-BE49-F238E27FC236}">
                <a16:creationId xmlns:a16="http://schemas.microsoft.com/office/drawing/2014/main" id="{8C3AF5C3-BBF2-13A2-04A6-FD891999D8F8}"/>
              </a:ext>
            </a:extLst>
          </p:cNvPr>
          <p:cNvSpPr>
            <a:spLocks noGrp="1" noRot="1" noMove="1" noResize="1" noEditPoints="1" noAdjustHandles="1" noChangeArrowheads="1" noChangeShapeType="1"/>
          </p:cNvSpPr>
          <p:nvPr>
            <p:ph type="body" sz="quarter" idx="15"/>
          </p:nvPr>
        </p:nvSpPr>
        <p:spPr>
          <a:xfrm>
            <a:off x="358775" y="3688398"/>
            <a:ext cx="3132138" cy="225425"/>
          </a:xfrm>
        </p:spPr>
        <p:txBody>
          <a:bodyPr/>
          <a:lstStyle/>
          <a:p>
            <a:pPr lvl="0"/>
            <a:r>
              <a:rPr lang="de-DE" dirty="0"/>
              <a:t>Mastertextformat bearbeiten</a:t>
            </a:r>
          </a:p>
        </p:txBody>
      </p:sp>
      <p:sp>
        <p:nvSpPr>
          <p:cNvPr id="6" name="Bild rechts">
            <a:extLst>
              <a:ext uri="{FF2B5EF4-FFF2-40B4-BE49-F238E27FC236}">
                <a16:creationId xmlns:a16="http://schemas.microsoft.com/office/drawing/2014/main" id="{E021AD21-0793-2C29-9088-4167DE0263DC}"/>
              </a:ext>
            </a:extLst>
          </p:cNvPr>
          <p:cNvSpPr>
            <a:spLocks noGrp="1" noRot="1" noMove="1" noResize="1" noEditPoints="1" noAdjustHandles="1" noChangeArrowheads="1" noChangeShapeType="1"/>
          </p:cNvSpPr>
          <p:nvPr>
            <p:ph type="pic" sz="quarter" idx="14"/>
          </p:nvPr>
        </p:nvSpPr>
        <p:spPr>
          <a:xfrm>
            <a:off x="3671888" y="1646238"/>
            <a:ext cx="3132138" cy="1792287"/>
          </a:xfrm>
        </p:spPr>
        <p:txBody>
          <a:bodyPr/>
          <a:lstStyle/>
          <a:p>
            <a:endParaRPr lang="de-DE"/>
          </a:p>
        </p:txBody>
      </p:sp>
      <p:sp>
        <p:nvSpPr>
          <p:cNvPr id="4" name="Bild links">
            <a:extLst>
              <a:ext uri="{FF2B5EF4-FFF2-40B4-BE49-F238E27FC236}">
                <a16:creationId xmlns:a16="http://schemas.microsoft.com/office/drawing/2014/main" id="{0029B528-90F8-0BC4-8037-8F393CACCB4E}"/>
              </a:ext>
            </a:extLst>
          </p:cNvPr>
          <p:cNvSpPr>
            <a:spLocks noGrp="1" noRot="1" noMove="1" noResize="1" noEditPoints="1" noAdjustHandles="1" noChangeArrowheads="1" noChangeShapeType="1"/>
          </p:cNvSpPr>
          <p:nvPr>
            <p:ph type="pic" sz="quarter" idx="13"/>
          </p:nvPr>
        </p:nvSpPr>
        <p:spPr>
          <a:xfrm>
            <a:off x="358775" y="1646238"/>
            <a:ext cx="3132138" cy="1792287"/>
          </a:xfrm>
        </p:spPr>
        <p:txBody>
          <a:bodyPr/>
          <a:lstStyle/>
          <a:p>
            <a:endParaRPr lang="de-DE"/>
          </a:p>
        </p:txBody>
      </p:sp>
      <p:sp>
        <p:nvSpPr>
          <p:cNvPr id="2" name="Titel">
            <a:extLst>
              <a:ext uri="{FF2B5EF4-FFF2-40B4-BE49-F238E27FC236}">
                <a16:creationId xmlns:a16="http://schemas.microsoft.com/office/drawing/2014/main" id="{368211C2-F61D-C7AC-FA9C-4391CDBCBAEC}"/>
              </a:ext>
            </a:extLst>
          </p:cNvPr>
          <p:cNvSpPr>
            <a:spLocks noGrp="1" noRot="1" noMove="1" noResize="1" noEditPoints="1" noAdjustHandles="1" noChangeArrowheads="1" noChangeShapeType="1"/>
          </p:cNvSpPr>
          <p:nvPr>
            <p:ph type="title"/>
          </p:nvPr>
        </p:nvSpPr>
        <p:spPr>
          <a:xfrm>
            <a:off x="358775" y="324000"/>
            <a:ext cx="5616575" cy="685800"/>
          </a:xfrm>
        </p:spPr>
        <p:txBody>
          <a:bodyPr/>
          <a:lstStyle/>
          <a:p>
            <a:r>
              <a:rPr lang="de-DE" dirty="0"/>
              <a:t>Mastertitelformat bearbeiten</a:t>
            </a:r>
          </a:p>
        </p:txBody>
      </p:sp>
    </p:spTree>
    <p:extLst>
      <p:ext uri="{BB962C8B-B14F-4D97-AF65-F5344CB8AC3E}">
        <p14:creationId xmlns:p14="http://schemas.microsoft.com/office/powerpoint/2010/main" val="395943010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Standorte">
    <p:bg>
      <p:bgPr>
        <a:solidFill>
          <a:schemeClr val="bg1"/>
        </a:solidFill>
        <a:effectLst/>
      </p:bgPr>
    </p:bg>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2" name="Linie rechts">
            <a:extLst>
              <a:ext uri="{FF2B5EF4-FFF2-40B4-BE49-F238E27FC236}">
                <a16:creationId xmlns:a16="http://schemas.microsoft.com/office/drawing/2014/main" id="{9578FC62-C673-CCCF-BE41-330AA9A6E201}"/>
              </a:ext>
            </a:extLst>
          </p:cNvPr>
          <p:cNvCxnSpPr>
            <a:cxnSpLocks noGrp="1" noRot="1" noMove="1" noResize="1" noEditPoints="1" noAdjustHandles="1" noChangeArrowheads="1" noChangeShapeType="1"/>
          </p:cNvCxnSpPr>
          <p:nvPr userDrawn="1"/>
        </p:nvCxnSpPr>
        <p:spPr>
          <a:xfrm>
            <a:off x="6976437"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3" name="Linie mitte">
            <a:extLst>
              <a:ext uri="{FF2B5EF4-FFF2-40B4-BE49-F238E27FC236}">
                <a16:creationId xmlns:a16="http://schemas.microsoft.com/office/drawing/2014/main" id="{FD52525D-63CC-8107-F830-67B98C6B65F8}"/>
              </a:ext>
            </a:extLst>
          </p:cNvPr>
          <p:cNvCxnSpPr>
            <a:cxnSpLocks noGrp="1" noRot="1" noMove="1" noResize="1" noEditPoints="1" noAdjustHandles="1" noChangeArrowheads="1" noChangeShapeType="1"/>
          </p:cNvCxnSpPr>
          <p:nvPr userDrawn="1"/>
        </p:nvCxnSpPr>
        <p:spPr>
          <a:xfrm>
            <a:off x="3671888"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Linie links">
            <a:extLst>
              <a:ext uri="{FF2B5EF4-FFF2-40B4-BE49-F238E27FC236}">
                <a16:creationId xmlns:a16="http://schemas.microsoft.com/office/drawing/2014/main" id="{CF1A3792-E31E-29D6-F65C-F09548B87121}"/>
              </a:ext>
            </a:extLst>
          </p:cNvPr>
          <p:cNvCxnSpPr>
            <a:cxnSpLocks noGrp="1" noRot="1" noMove="1" noResize="1" noEditPoints="1" noAdjustHandles="1" noChangeArrowheads="1" noChangeShapeType="1"/>
          </p:cNvCxnSpPr>
          <p:nvPr userDrawn="1"/>
        </p:nvCxnSpPr>
        <p:spPr>
          <a:xfrm>
            <a:off x="358775"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6" name="Text rechts">
            <a:extLst>
              <a:ext uri="{FF2B5EF4-FFF2-40B4-BE49-F238E27FC236}">
                <a16:creationId xmlns:a16="http://schemas.microsoft.com/office/drawing/2014/main" id="{4888ADCE-7FA3-531D-D5E7-E9A8A00D5834}"/>
              </a:ext>
            </a:extLst>
          </p:cNvPr>
          <p:cNvSpPr>
            <a:spLocks noGrp="1" noRot="1" noMove="1" noResize="1" noEditPoints="1" noAdjustHandles="1" noChangeArrowheads="1" noChangeShapeType="1"/>
          </p:cNvSpPr>
          <p:nvPr>
            <p:ph type="body" sz="quarter" idx="21"/>
          </p:nvPr>
        </p:nvSpPr>
        <p:spPr>
          <a:xfrm>
            <a:off x="6976436"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5" name="Text mitte">
            <a:extLst>
              <a:ext uri="{FF2B5EF4-FFF2-40B4-BE49-F238E27FC236}">
                <a16:creationId xmlns:a16="http://schemas.microsoft.com/office/drawing/2014/main" id="{8442F4D5-B5A2-FB48-AB51-E3F593F57123}"/>
              </a:ext>
            </a:extLst>
          </p:cNvPr>
          <p:cNvSpPr>
            <a:spLocks noGrp="1" noRot="1" noMove="1" noResize="1" noEditPoints="1" noAdjustHandles="1" noChangeArrowheads="1" noChangeShapeType="1"/>
          </p:cNvSpPr>
          <p:nvPr>
            <p:ph type="body" sz="quarter" idx="18"/>
          </p:nvPr>
        </p:nvSpPr>
        <p:spPr>
          <a:xfrm>
            <a:off x="3671887"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4" name="Text links">
            <a:extLst>
              <a:ext uri="{FF2B5EF4-FFF2-40B4-BE49-F238E27FC236}">
                <a16:creationId xmlns:a16="http://schemas.microsoft.com/office/drawing/2014/main" id="{3DF09069-72A7-40B9-FF1C-BAF486DC94EC}"/>
              </a:ext>
            </a:extLst>
          </p:cNvPr>
          <p:cNvSpPr>
            <a:spLocks noGrp="1" noRot="1" noMove="1" noResize="1" noEditPoints="1" noAdjustHandles="1" noChangeArrowheads="1" noChangeShapeType="1"/>
          </p:cNvSpPr>
          <p:nvPr>
            <p:ph type="body" sz="quarter" idx="17"/>
          </p:nvPr>
        </p:nvSpPr>
        <p:spPr>
          <a:xfrm>
            <a:off x="358775"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7" name="Name rechts">
            <a:extLst>
              <a:ext uri="{FF2B5EF4-FFF2-40B4-BE49-F238E27FC236}">
                <a16:creationId xmlns:a16="http://schemas.microsoft.com/office/drawing/2014/main" id="{CB48EDFE-72D8-1DDE-9F47-0C88F0D1F64F}"/>
              </a:ext>
            </a:extLst>
          </p:cNvPr>
          <p:cNvSpPr>
            <a:spLocks noGrp="1" noRot="1" noMove="1" noResize="1" noEditPoints="1" noAdjustHandles="1" noChangeArrowheads="1" noChangeShapeType="1"/>
          </p:cNvSpPr>
          <p:nvPr>
            <p:ph type="body" sz="quarter" idx="22"/>
          </p:nvPr>
        </p:nvSpPr>
        <p:spPr>
          <a:xfrm>
            <a:off x="6976436" y="3490278"/>
            <a:ext cx="3132138" cy="225425"/>
          </a:xfrm>
        </p:spPr>
        <p:txBody>
          <a:bodyPr/>
          <a:lstStyle/>
          <a:p>
            <a:pPr lvl="0"/>
            <a:r>
              <a:rPr lang="de-DE" dirty="0"/>
              <a:t>Mastertextformat bearbeiten</a:t>
            </a:r>
          </a:p>
        </p:txBody>
      </p:sp>
      <p:sp>
        <p:nvSpPr>
          <p:cNvPr id="9" name="Name mitte">
            <a:extLst>
              <a:ext uri="{FF2B5EF4-FFF2-40B4-BE49-F238E27FC236}">
                <a16:creationId xmlns:a16="http://schemas.microsoft.com/office/drawing/2014/main" id="{360DA725-655A-CCCE-2980-293201DCB5BF}"/>
              </a:ext>
            </a:extLst>
          </p:cNvPr>
          <p:cNvSpPr>
            <a:spLocks noGrp="1" noRot="1" noMove="1" noResize="1" noEditPoints="1" noAdjustHandles="1" noChangeArrowheads="1" noChangeShapeType="1"/>
          </p:cNvSpPr>
          <p:nvPr>
            <p:ph type="body" sz="quarter" idx="16"/>
          </p:nvPr>
        </p:nvSpPr>
        <p:spPr>
          <a:xfrm>
            <a:off x="3671887" y="3490278"/>
            <a:ext cx="3132138" cy="225425"/>
          </a:xfrm>
        </p:spPr>
        <p:txBody>
          <a:bodyPr/>
          <a:lstStyle/>
          <a:p>
            <a:pPr lvl="0"/>
            <a:r>
              <a:rPr lang="de-DE" dirty="0"/>
              <a:t>Mastertextformat bearbeiten</a:t>
            </a:r>
          </a:p>
        </p:txBody>
      </p:sp>
      <p:sp>
        <p:nvSpPr>
          <p:cNvPr id="8" name="Name links">
            <a:extLst>
              <a:ext uri="{FF2B5EF4-FFF2-40B4-BE49-F238E27FC236}">
                <a16:creationId xmlns:a16="http://schemas.microsoft.com/office/drawing/2014/main" id="{8C3AF5C3-BBF2-13A2-04A6-FD891999D8F8}"/>
              </a:ext>
            </a:extLst>
          </p:cNvPr>
          <p:cNvSpPr>
            <a:spLocks noGrp="1" noRot="1" noMove="1" noResize="1" noEditPoints="1" noAdjustHandles="1" noChangeArrowheads="1" noChangeShapeType="1"/>
          </p:cNvSpPr>
          <p:nvPr>
            <p:ph type="body" sz="quarter" idx="15"/>
          </p:nvPr>
        </p:nvSpPr>
        <p:spPr>
          <a:xfrm>
            <a:off x="358775" y="3490278"/>
            <a:ext cx="3132138" cy="225425"/>
          </a:xfrm>
        </p:spPr>
        <p:txBody>
          <a:bodyPr/>
          <a:lstStyle/>
          <a:p>
            <a:pPr lvl="0"/>
            <a:r>
              <a:rPr lang="de-DE" dirty="0"/>
              <a:t>Mastertextformat bearbeiten</a:t>
            </a:r>
          </a:p>
        </p:txBody>
      </p:sp>
      <p:sp>
        <p:nvSpPr>
          <p:cNvPr id="10" name="Bild rechts">
            <a:extLst>
              <a:ext uri="{FF2B5EF4-FFF2-40B4-BE49-F238E27FC236}">
                <a16:creationId xmlns:a16="http://schemas.microsoft.com/office/drawing/2014/main" id="{4BA8BEE0-583F-4067-18E1-4041C7CBE94E}"/>
              </a:ext>
            </a:extLst>
          </p:cNvPr>
          <p:cNvSpPr>
            <a:spLocks noGrp="1" noRot="1" noMove="1" noResize="1" noEditPoints="1" noAdjustHandles="1" noChangeArrowheads="1" noChangeShapeType="1"/>
          </p:cNvSpPr>
          <p:nvPr>
            <p:ph type="pic" sz="quarter" idx="20"/>
          </p:nvPr>
        </p:nvSpPr>
        <p:spPr>
          <a:xfrm>
            <a:off x="6886505" y="1564477"/>
            <a:ext cx="1656000" cy="1656000"/>
          </a:xfrm>
          <a:prstGeom prst="ellipse">
            <a:avLst/>
          </a:prstGeom>
        </p:spPr>
        <p:txBody>
          <a:bodyPr/>
          <a:lstStyle/>
          <a:p>
            <a:endParaRPr lang="de-DE" dirty="0"/>
          </a:p>
        </p:txBody>
      </p:sp>
      <p:sp>
        <p:nvSpPr>
          <p:cNvPr id="7" name="Bild mitte">
            <a:extLst>
              <a:ext uri="{FF2B5EF4-FFF2-40B4-BE49-F238E27FC236}">
                <a16:creationId xmlns:a16="http://schemas.microsoft.com/office/drawing/2014/main" id="{EEB43F9A-30D9-8B0B-CCD4-657C0E474967}"/>
              </a:ext>
            </a:extLst>
          </p:cNvPr>
          <p:cNvSpPr>
            <a:spLocks noGrp="1" noRot="1" noMove="1" noResize="1" noEditPoints="1" noAdjustHandles="1" noChangeArrowheads="1" noChangeShapeType="1"/>
          </p:cNvSpPr>
          <p:nvPr>
            <p:ph type="pic" sz="quarter" idx="19"/>
          </p:nvPr>
        </p:nvSpPr>
        <p:spPr>
          <a:xfrm>
            <a:off x="3590493" y="1564477"/>
            <a:ext cx="1656000" cy="1656000"/>
          </a:xfrm>
          <a:prstGeom prst="ellipse">
            <a:avLst/>
          </a:prstGeom>
        </p:spPr>
        <p:txBody>
          <a:bodyPr/>
          <a:lstStyle/>
          <a:p>
            <a:endParaRPr lang="de-DE"/>
          </a:p>
        </p:txBody>
      </p:sp>
      <p:sp>
        <p:nvSpPr>
          <p:cNvPr id="4" name="Bild links">
            <a:extLst>
              <a:ext uri="{FF2B5EF4-FFF2-40B4-BE49-F238E27FC236}">
                <a16:creationId xmlns:a16="http://schemas.microsoft.com/office/drawing/2014/main" id="{0029B528-90F8-0BC4-8037-8F393CACCB4E}"/>
              </a:ext>
            </a:extLst>
          </p:cNvPr>
          <p:cNvSpPr>
            <a:spLocks noGrp="1" noRot="1" noMove="1" noResize="1" noEditPoints="1" noAdjustHandles="1" noChangeArrowheads="1" noChangeShapeType="1"/>
          </p:cNvSpPr>
          <p:nvPr>
            <p:ph type="pic" sz="quarter" idx="13"/>
          </p:nvPr>
        </p:nvSpPr>
        <p:spPr>
          <a:xfrm>
            <a:off x="294481" y="1564477"/>
            <a:ext cx="1656000" cy="1656000"/>
          </a:xfrm>
          <a:prstGeom prst="ellipse">
            <a:avLst/>
          </a:prstGeom>
        </p:spPr>
        <p:txBody>
          <a:bodyPr/>
          <a:lstStyle/>
          <a:p>
            <a:endParaRPr lang="de-DE"/>
          </a:p>
        </p:txBody>
      </p:sp>
      <p:sp>
        <p:nvSpPr>
          <p:cNvPr id="3" name="Titel">
            <a:extLst>
              <a:ext uri="{FF2B5EF4-FFF2-40B4-BE49-F238E27FC236}">
                <a16:creationId xmlns:a16="http://schemas.microsoft.com/office/drawing/2014/main" id="{EFDA7145-AF61-F28D-FFDF-3C770ED41015}"/>
              </a:ext>
            </a:extLst>
          </p:cNvPr>
          <p:cNvSpPr>
            <a:spLocks noGrp="1" noRot="1" noMove="1" noResize="1" noEditPoints="1" noAdjustHandles="1" noChangeArrowheads="1" noChangeShapeType="1"/>
          </p:cNvSpPr>
          <p:nvPr>
            <p:ph type="title"/>
          </p:nvPr>
        </p:nvSpPr>
        <p:spPr/>
        <p:txBody>
          <a:bodyPr/>
          <a:lstStyle/>
          <a:p>
            <a:r>
              <a:rPr lang="de-DE"/>
              <a:t>Mastertitelformat bearbeiten</a:t>
            </a:r>
          </a:p>
        </p:txBody>
      </p:sp>
    </p:spTree>
    <p:extLst>
      <p:ext uri="{BB962C8B-B14F-4D97-AF65-F5344CB8AC3E}">
        <p14:creationId xmlns:p14="http://schemas.microsoft.com/office/powerpoint/2010/main" val="87344807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type="title" preserve="1">
  <p:cSld name="End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4133280"/>
            <a:ext cx="828675"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4386233"/>
            <a:ext cx="6626225" cy="303222"/>
          </a:xfrm>
        </p:spPr>
        <p:txBody>
          <a:bodyPr/>
          <a:lstStyle>
            <a:lvl1pPr marL="0" indent="0" algn="l">
              <a:buNone/>
              <a:defRPr sz="1400" b="0" cap="all" baseline="0">
                <a:solidFill>
                  <a:schemeClr val="bg1"/>
                </a:solidFill>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3486031"/>
            <a:ext cx="6626225" cy="498140"/>
          </a:xfrm>
        </p:spPr>
        <p:txBody>
          <a:bodyPr tIns="0" anchor="t" anchorCtr="0"/>
          <a:lstStyle>
            <a:lvl1pPr algn="l">
              <a:lnSpc>
                <a:spcPts val="3450"/>
              </a:lnSpc>
              <a:defRPr sz="2770">
                <a:solidFill>
                  <a:schemeClr val="bg1"/>
                </a:solidFill>
              </a:defRPr>
            </a:lvl1pPr>
          </a:lstStyle>
          <a:p>
            <a:r>
              <a:rPr lang="de-DE" dirty="0"/>
              <a:t>Mastertitelformat bearbeiten</a:t>
            </a:r>
          </a:p>
        </p:txBody>
      </p:sp>
    </p:spTree>
    <p:extLst>
      <p:ext uri="{BB962C8B-B14F-4D97-AF65-F5344CB8AC3E}">
        <p14:creationId xmlns:p14="http://schemas.microsoft.com/office/powerpoint/2010/main" val="48261643"/>
      </p:ext>
    </p:extLst>
  </p:cSld>
  <p:clrMapOvr>
    <a:masterClrMapping/>
  </p:clrMapOvr>
  <p:extLst>
    <p:ext uri="{DCECCB84-F9BA-43D5-87BE-67443E8EF086}">
      <p15:sldGuideLst xmlns:p15="http://schemas.microsoft.com/office/powerpoint/2012/main">
        <p15:guide id="1" orient="horz" pos="2097">
          <p15:clr>
            <a:srgbClr val="FBAE40"/>
          </p15:clr>
        </p15:guide>
        <p15:guide id="2" pos="3288">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Impressum">
    <p:bg>
      <p:bgPr>
        <a:solidFill>
          <a:schemeClr val="bg1"/>
        </a:solidFill>
        <a:effectLst/>
      </p:bgPr>
    </p:bg>
    <p:spTree>
      <p:nvGrpSpPr>
        <p:cNvPr id="1" name=""/>
        <p:cNvGrpSpPr/>
        <p:nvPr/>
      </p:nvGrpSpPr>
      <p:grpSpPr>
        <a:xfrm>
          <a:off x="0" y="0"/>
          <a:ext cx="0" cy="0"/>
          <a:chOff x="0" y="0"/>
          <a:chExt cx="0" cy="0"/>
        </a:xfrm>
      </p:grpSpPr>
      <p:sp>
        <p:nvSpPr>
          <p:cNvPr id="5" name="Datum">
            <a:extLst>
              <a:ext uri="{FF2B5EF4-FFF2-40B4-BE49-F238E27FC236}">
                <a16:creationId xmlns:a16="http://schemas.microsoft.com/office/drawing/2014/main" id="{EDAEF2B9-72B9-AC0D-2D72-82D271794187}"/>
              </a:ext>
            </a:extLst>
          </p:cNvPr>
          <p:cNvSpPr>
            <a:spLocks noGrp="1" noRot="1" noMove="1" noResize="1" noEditPoints="1" noAdjustHandles="1" noChangeArrowheads="1" noChangeShapeType="1"/>
          </p:cNvSpPr>
          <p:nvPr>
            <p:ph type="dt" sz="half" idx="11"/>
          </p:nvPr>
        </p:nvSpPr>
        <p:spPr>
          <a:xfrm>
            <a:off x="6137275" y="5800454"/>
            <a:ext cx="2340000" cy="108000"/>
          </a:xfrm>
          <a:prstGeom prst="rect">
            <a:avLst/>
          </a:prstGeom>
        </p:spPr>
        <p:txBody>
          <a:bodyPr/>
          <a:lstStyle/>
          <a:p>
            <a:r>
              <a:rPr lang="de-DE" dirty="0"/>
              <a:t>Stand. </a:t>
            </a:r>
            <a:fld id="{D2EEA022-D032-4EEB-B3BB-451FF23CBEEB}" type="datetimeFigureOut">
              <a:rPr lang="de-DE" smtClean="0"/>
              <a:pPr/>
              <a:t>06.07.2026</a:t>
            </a:fld>
            <a:endParaRPr lang="de-DE" dirty="0"/>
          </a:p>
        </p:txBody>
      </p:sp>
      <p:sp>
        <p:nvSpPr>
          <p:cNvPr id="7" name="Foliennummer">
            <a:extLst>
              <a:ext uri="{FF2B5EF4-FFF2-40B4-BE49-F238E27FC236}">
                <a16:creationId xmlns:a16="http://schemas.microsoft.com/office/drawing/2014/main" id="{83A09B95-C0A4-D314-1D39-F12826109A3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2016125" y="1041401"/>
            <a:ext cx="8099424" cy="4791074"/>
          </a:xfrm>
        </p:spPr>
        <p:txBody>
          <a:bodyPr numCol="2" spcCol="180000"/>
          <a:lstStyle>
            <a:lvl1pPr>
              <a:spcBef>
                <a:spcPts val="1400"/>
              </a:spcBef>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2281365931"/>
      </p:ext>
    </p:extLst>
  </p:cSld>
  <p:clrMapOvr>
    <a:masterClrMapping/>
  </p:clrMapOvr>
  <p:hf hdr="0" ftr="0"/>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type="title" preserve="1">
  <p:cSld name="Gruß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Datum">
            <a:extLst>
              <a:ext uri="{FF2B5EF4-FFF2-40B4-BE49-F238E27FC236}">
                <a16:creationId xmlns:a16="http://schemas.microsoft.com/office/drawing/2014/main" id="{ECBFCEA1-E801-45A2-8E72-9E393E4A1B67}"/>
              </a:ext>
            </a:extLst>
          </p:cNvPr>
          <p:cNvSpPr>
            <a:spLocks noGrp="1" noRot="1" noMove="1" noResize="1" noEditPoints="1" noAdjustHandles="1" noChangeArrowheads="1" noChangeShapeType="1"/>
          </p:cNvSpPr>
          <p:nvPr>
            <p:ph type="dt" sz="half" idx="10"/>
          </p:nvPr>
        </p:nvSpPr>
        <p:spPr>
          <a:xfrm>
            <a:off x="1006475" y="6223766"/>
            <a:ext cx="2340000" cy="108000"/>
          </a:xfrm>
          <a:prstGeom prst="rect">
            <a:avLst/>
          </a:prstGeom>
        </p:spPr>
        <p:txBody>
          <a:bodyPr/>
          <a:lstStyle>
            <a:lvl1pPr>
              <a:defRPr>
                <a:solidFill>
                  <a:schemeClr val="bg1"/>
                </a:solidFill>
              </a:defRPr>
            </a:lvl1pPr>
          </a:lstStyle>
          <a:p>
            <a:r>
              <a:rPr lang="de-DE"/>
              <a:t>Stand: </a:t>
            </a:r>
            <a:fld id="{D2EEA022-D032-4EEB-B3BB-451FF23CBEEB}" type="datetimeFigureOut">
              <a:rPr lang="de-DE" smtClean="0"/>
              <a:pPr/>
              <a:t>06.07.2026</a:t>
            </a:fld>
            <a:endParaRPr lang="de-DE" dirty="0"/>
          </a:p>
        </p:txBody>
      </p:sp>
      <p:pic>
        <p:nvPicPr>
          <p:cNvPr id="4" name="Logo">
            <a:extLst>
              <a:ext uri="{FF2B5EF4-FFF2-40B4-BE49-F238E27FC236}">
                <a16:creationId xmlns:a16="http://schemas.microsoft.com/office/drawing/2014/main" id="{73B6AEAD-FB17-E7F3-790A-F01A246915FD}"/>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8102713" y="5699126"/>
            <a:ext cx="1979991" cy="604930"/>
          </a:xfrm>
          <a:prstGeom prst="rect">
            <a:avLst/>
          </a:prstGeom>
        </p:spPr>
      </p:pic>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2064569"/>
            <a:ext cx="828675"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5" name="Herausgeber">
            <a:extLst>
              <a:ext uri="{FF2B5EF4-FFF2-40B4-BE49-F238E27FC236}">
                <a16:creationId xmlns:a16="http://schemas.microsoft.com/office/drawing/2014/main" id="{D75E9C45-CFC0-4A11-8779-BF1E36B119AB}"/>
              </a:ext>
            </a:extLst>
          </p:cNvPr>
          <p:cNvSpPr txBox="1">
            <a:spLocks noGrp="1" noRot="1" noMove="1" noResize="1" noEditPoints="1" noAdjustHandles="1" noChangeArrowheads="1" noChangeShapeType="1"/>
          </p:cNvSpPr>
          <p:nvPr userDrawn="1"/>
        </p:nvSpPr>
        <p:spPr>
          <a:xfrm>
            <a:off x="1006475" y="6099437"/>
            <a:ext cx="2484438" cy="124329"/>
          </a:xfrm>
          <a:prstGeom prst="rect">
            <a:avLst/>
          </a:prstGeom>
          <a:noFill/>
        </p:spPr>
        <p:txBody>
          <a:bodyPr wrap="square" lIns="0" tIns="0" rIns="0" bIns="0" rtlCol="0">
            <a:noAutofit/>
          </a:bodyPr>
          <a:lstStyle/>
          <a:p>
            <a:pPr>
              <a:lnSpc>
                <a:spcPts val="900"/>
              </a:lnSpc>
            </a:pPr>
            <a:r>
              <a:rPr lang="de-DE" sz="600" dirty="0">
                <a:solidFill>
                  <a:schemeClr val="bg1"/>
                </a:solidFill>
              </a:rPr>
              <a:t>Herausgeber: Fürst Fugger Privatbank Aktiengesellschaft</a:t>
            </a:r>
          </a:p>
        </p:txBody>
      </p: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2307362"/>
            <a:ext cx="6626225" cy="303222"/>
          </a:xfrm>
        </p:spPr>
        <p:txBody>
          <a:bodyPr/>
          <a:lstStyle>
            <a:lvl1pPr marL="0" indent="0" algn="l">
              <a:buNone/>
              <a:defRPr sz="1400" b="0" cap="none" baseline="0">
                <a:solidFill>
                  <a:schemeClr val="bg1"/>
                </a:solidFill>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1046481"/>
            <a:ext cx="6626225" cy="858520"/>
          </a:xfrm>
        </p:spPr>
        <p:txBody>
          <a:bodyPr tIns="0" anchor="t" anchorCtr="0"/>
          <a:lstStyle>
            <a:lvl1pPr algn="l">
              <a:lnSpc>
                <a:spcPts val="3450"/>
              </a:lnSpc>
              <a:defRPr sz="2770">
                <a:solidFill>
                  <a:schemeClr val="bg1"/>
                </a:solidFill>
              </a:defRPr>
            </a:lvl1pPr>
          </a:lstStyle>
          <a:p>
            <a:r>
              <a:rPr lang="de-DE" dirty="0"/>
              <a:t>Mastertitelformat bearbeiten</a:t>
            </a:r>
          </a:p>
        </p:txBody>
      </p:sp>
    </p:spTree>
    <p:extLst>
      <p:ext uri="{BB962C8B-B14F-4D97-AF65-F5344CB8AC3E}">
        <p14:creationId xmlns:p14="http://schemas.microsoft.com/office/powerpoint/2010/main" val="2201895080"/>
      </p:ext>
    </p:extLst>
  </p:cSld>
  <p:clrMapOvr>
    <a:masterClrMapping/>
  </p:clrMapOvr>
  <p:extLst>
    <p:ext uri="{DCECCB84-F9BA-43D5-87BE-67443E8EF086}">
      <p15:sldGuideLst xmlns:p15="http://schemas.microsoft.com/office/powerpoint/2012/main">
        <p15:guide id="1" orient="horz" pos="2097">
          <p15:clr>
            <a:srgbClr val="FBAE40"/>
          </p15:clr>
        </p15:guide>
        <p15:guide id="2" pos="3288">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image" Target="../media/image1.svg"/><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Datum">
            <a:extLst>
              <a:ext uri="{FF2B5EF4-FFF2-40B4-BE49-F238E27FC236}">
                <a16:creationId xmlns:a16="http://schemas.microsoft.com/office/drawing/2014/main" id="{1441D935-D4CE-8629-989D-CCFB95BFBF88}"/>
              </a:ext>
            </a:extLst>
          </p:cNvPr>
          <p:cNvSpPr>
            <a:spLocks noGrp="1" noRot="1" noMove="1" noResize="1" noEditPoints="1" noAdjustHandles="1" noChangeArrowheads="1" noChangeShapeType="1"/>
          </p:cNvSpPr>
          <p:nvPr>
            <p:ph type="dt" sz="half" idx="2"/>
          </p:nvPr>
        </p:nvSpPr>
        <p:spPr>
          <a:xfrm>
            <a:off x="7740763" y="6804958"/>
            <a:ext cx="2340000" cy="108000"/>
          </a:xfrm>
          <a:prstGeom prst="rect">
            <a:avLst/>
          </a:prstGeom>
        </p:spPr>
        <p:txBody>
          <a:bodyPr vert="horz" wrap="none" lIns="0" tIns="0" rIns="0" bIns="0" rtlCol="0" anchor="ctr"/>
          <a:lstStyle>
            <a:lvl1pPr algn="l">
              <a:defRPr sz="600">
                <a:solidFill>
                  <a:schemeClr val="tx1">
                    <a:lumMod val="50000"/>
                    <a:lumOff val="50000"/>
                  </a:schemeClr>
                </a:solidFill>
              </a:defRPr>
            </a:lvl1pPr>
          </a:lstStyle>
          <a:p>
            <a:fld id="{D2EEA022-D032-4EEB-B3BB-451FF23CBEEB}" type="datetimeFigureOut">
              <a:rPr lang="de-DE" smtClean="0"/>
              <a:pPr/>
              <a:t>06.07.2026</a:t>
            </a:fld>
            <a:endParaRPr lang="de-DE" dirty="0"/>
          </a:p>
        </p:txBody>
      </p:sp>
      <p:sp>
        <p:nvSpPr>
          <p:cNvPr id="6" name="Foliennummer">
            <a:extLst>
              <a:ext uri="{FF2B5EF4-FFF2-40B4-BE49-F238E27FC236}">
                <a16:creationId xmlns:a16="http://schemas.microsoft.com/office/drawing/2014/main" id="{D677F6CD-9908-3B49-0E21-DF1BF9A27F4A}"/>
              </a:ext>
            </a:extLst>
          </p:cNvPr>
          <p:cNvSpPr>
            <a:spLocks noGrp="1" noRot="1" noMove="1" noResize="1" noEditPoints="1" noAdjustHandles="1" noChangeArrowheads="1" noChangeShapeType="1"/>
          </p:cNvSpPr>
          <p:nvPr>
            <p:ph type="sldNum" sz="quarter" idx="4"/>
          </p:nvPr>
        </p:nvSpPr>
        <p:spPr>
          <a:xfrm>
            <a:off x="7866000" y="6182738"/>
            <a:ext cx="2224263" cy="157725"/>
          </a:xfrm>
          <a:prstGeom prst="rect">
            <a:avLst/>
          </a:prstGeom>
        </p:spPr>
        <p:txBody>
          <a:bodyPr vert="horz" lIns="0" tIns="0" rIns="0" bIns="0" rtlCol="0" anchor="t" anchorCtr="0">
            <a:noAutofit/>
          </a:bodyPr>
          <a:lstStyle>
            <a:lvl1pPr algn="r">
              <a:defRPr sz="1000" b="1">
                <a:solidFill>
                  <a:schemeClr val="accent1"/>
                </a:solidFill>
                <a:latin typeface="+mj-lt"/>
              </a:defRPr>
            </a:lvl1pPr>
          </a:lstStyle>
          <a:p>
            <a:fld id="{3AE71D6B-ACB6-4F4C-A895-DCAEF1760EAA}" type="slidenum">
              <a:rPr lang="de-DE" smtClean="0"/>
              <a:pPr/>
              <a:t>‹Nr.›</a:t>
            </a:fld>
            <a:endParaRPr lang="de-DE" dirty="0"/>
          </a:p>
        </p:txBody>
      </p:sp>
      <p:pic>
        <p:nvPicPr>
          <p:cNvPr id="8" name="Logo">
            <a:extLst>
              <a:ext uri="{FF2B5EF4-FFF2-40B4-BE49-F238E27FC236}">
                <a16:creationId xmlns:a16="http://schemas.microsoft.com/office/drawing/2014/main" id="{3D23323B-A958-3EE3-70B5-D03430E8261D}"/>
              </a:ext>
            </a:extLst>
          </p:cNvPr>
          <p:cNvPicPr>
            <a:picLocks noGrp="1" noRot="1" noChangeAspec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8"/>
              </a:ext>
            </a:extLst>
          </a:blip>
          <a:srcRect/>
          <a:stretch/>
        </p:blipFill>
        <p:spPr>
          <a:xfrm>
            <a:off x="394863" y="6149482"/>
            <a:ext cx="1577376" cy="205348"/>
          </a:xfrm>
          <a:prstGeom prst="rect">
            <a:avLst/>
          </a:prstGeom>
        </p:spPr>
      </p:pic>
      <p:cxnSp>
        <p:nvCxnSpPr>
          <p:cNvPr id="10" name="Linie">
            <a:extLst>
              <a:ext uri="{FF2B5EF4-FFF2-40B4-BE49-F238E27FC236}">
                <a16:creationId xmlns:a16="http://schemas.microsoft.com/office/drawing/2014/main" id="{30C87199-9CC3-886E-3A4B-0FA6C63EFFD7}"/>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3" name="Textplatzhalter">
            <a:extLst>
              <a:ext uri="{FF2B5EF4-FFF2-40B4-BE49-F238E27FC236}">
                <a16:creationId xmlns:a16="http://schemas.microsoft.com/office/drawing/2014/main" id="{23733324-201D-2B98-A6E9-A9E03DE47618}"/>
              </a:ext>
            </a:extLst>
          </p:cNvPr>
          <p:cNvSpPr>
            <a:spLocks noGrp="1" noRot="1" noMove="1" noResize="1" noEditPoints="1" noAdjustHandles="1" noChangeArrowheads="1" noChangeShapeType="1"/>
          </p:cNvSpPr>
          <p:nvPr>
            <p:ph type="body" idx="1"/>
          </p:nvPr>
        </p:nvSpPr>
        <p:spPr>
          <a:xfrm>
            <a:off x="358774" y="1041401"/>
            <a:ext cx="9756775" cy="4791074"/>
          </a:xfrm>
          <a:prstGeom prst="rect">
            <a:avLst/>
          </a:prstGeom>
        </p:spPr>
        <p:txBody>
          <a:bodyPr vert="horz" lIns="0" tIns="0" rIns="0" bIns="0" rtlCol="0">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Siebente Ebene</a:t>
            </a:r>
          </a:p>
          <a:p>
            <a:pPr lvl="7"/>
            <a:r>
              <a:rPr lang="de-DE" dirty="0"/>
              <a:t>Achte Ebene</a:t>
            </a:r>
          </a:p>
          <a:p>
            <a:pPr lvl="8"/>
            <a:r>
              <a:rPr lang="de-DE" dirty="0"/>
              <a:t>Neunte Ebene</a:t>
            </a:r>
          </a:p>
        </p:txBody>
      </p:sp>
      <p:sp>
        <p:nvSpPr>
          <p:cNvPr id="2" name="Titelplatzhalter">
            <a:extLst>
              <a:ext uri="{FF2B5EF4-FFF2-40B4-BE49-F238E27FC236}">
                <a16:creationId xmlns:a16="http://schemas.microsoft.com/office/drawing/2014/main" id="{25F389A5-5A88-033D-BB4F-AD00957B388F}"/>
              </a:ext>
            </a:extLst>
          </p:cNvPr>
          <p:cNvSpPr>
            <a:spLocks noGrp="1" noRot="1" noMove="1" noResize="1" noEditPoints="1" noAdjustHandles="1" noChangeArrowheads="1" noChangeShapeType="1"/>
          </p:cNvSpPr>
          <p:nvPr>
            <p:ph type="title"/>
          </p:nvPr>
        </p:nvSpPr>
        <p:spPr>
          <a:xfrm>
            <a:off x="358775" y="322580"/>
            <a:ext cx="9756774" cy="360000"/>
          </a:xfrm>
          <a:prstGeom prst="rect">
            <a:avLst/>
          </a:prstGeom>
        </p:spPr>
        <p:txBody>
          <a:bodyPr vert="horz" wrap="none" lIns="0" tIns="36000" rIns="0" bIns="0" rtlCol="0" anchor="t" anchorCtr="0">
            <a:noAutofit/>
          </a:bodyPr>
          <a:lstStyle/>
          <a:p>
            <a:r>
              <a:rPr lang="de-DE" dirty="0"/>
              <a:t>Mastertitelformat bearbeiten</a:t>
            </a:r>
          </a:p>
        </p:txBody>
      </p:sp>
    </p:spTree>
    <p:extLst>
      <p:ext uri="{BB962C8B-B14F-4D97-AF65-F5344CB8AC3E}">
        <p14:creationId xmlns:p14="http://schemas.microsoft.com/office/powerpoint/2010/main" val="3021293051"/>
      </p:ext>
    </p:extLst>
  </p:cSld>
  <p:clrMap bg1="lt1" tx1="dk1" bg2="lt2" tx2="dk2" accent1="accent1" accent2="accent2" accent3="accent3" accent4="accent4" accent5="accent5" accent6="accent6" hlink="hlink" folHlink="folHlink"/>
  <p:sldLayoutIdLst>
    <p:sldLayoutId id="2147483687" r:id="rId1"/>
    <p:sldLayoutId id="2147483688" r:id="rId2"/>
    <p:sldLayoutId id="2147483689" r:id="rId3"/>
    <p:sldLayoutId id="2147483690" r:id="rId4"/>
    <p:sldLayoutId id="2147483691" r:id="rId5"/>
    <p:sldLayoutId id="2147483692" r:id="rId6"/>
    <p:sldLayoutId id="2147483693" r:id="rId7"/>
    <p:sldLayoutId id="2147483694" r:id="rId8"/>
    <p:sldLayoutId id="2147483695" r:id="rId9"/>
    <p:sldLayoutId id="2147483696" r:id="rId10"/>
    <p:sldLayoutId id="2147483697" r:id="rId11"/>
    <p:sldLayoutId id="2147483698" r:id="rId12"/>
    <p:sldLayoutId id="2147483699" r:id="rId13"/>
    <p:sldLayoutId id="2147483700" r:id="rId14"/>
    <p:sldLayoutId id="2147483701" r:id="rId15"/>
    <p:sldLayoutId id="2147483702" r:id="rId16"/>
    <p:sldLayoutId id="2147483703" r:id="rId17"/>
    <p:sldLayoutId id="2147483704" r:id="rId18"/>
    <p:sldLayoutId id="2147483705" r:id="rId19"/>
    <p:sldLayoutId id="2147483706" r:id="rId20"/>
    <p:sldLayoutId id="2147483707" r:id="rId21"/>
    <p:sldLayoutId id="2147483708" r:id="rId22"/>
    <p:sldLayoutId id="2147483709" r:id="rId23"/>
    <p:sldLayoutId id="2147483710" r:id="rId24"/>
    <p:sldLayoutId id="2147483711" r:id="rId25"/>
    <p:sldLayoutId id="2147483712" r:id="rId26"/>
  </p:sldLayoutIdLst>
  <p:hf hdr="0" ftr="0" dt="0"/>
  <p:txStyles>
    <p:titleStyle>
      <a:lvl1pPr algn="l" defTabSz="783001" rtl="0" eaLnBrk="1" latinLnBrk="0" hangingPunct="1">
        <a:lnSpc>
          <a:spcPts val="2200"/>
        </a:lnSpc>
        <a:spcBef>
          <a:spcPct val="0"/>
        </a:spcBef>
        <a:buNone/>
        <a:defRPr sz="1700" b="1" kern="1200">
          <a:solidFill>
            <a:schemeClr val="accent1"/>
          </a:solidFill>
          <a:latin typeface="+mj-lt"/>
          <a:ea typeface="+mj-ea"/>
          <a:cs typeface="+mj-cs"/>
        </a:defRPr>
      </a:lvl1pPr>
    </p:titleStyle>
    <p:body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9"/>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9"/>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9"/>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9"/>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9"/>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9"/>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9"/>
        </a:buBlip>
        <a:defRPr sz="1100" kern="1200">
          <a:solidFill>
            <a:schemeClr val="tx1"/>
          </a:solidFill>
          <a:latin typeface="+mn-lt"/>
          <a:ea typeface="+mn-ea"/>
          <a:cs typeface="+mn-cs"/>
        </a:defRPr>
      </a:lvl9pPr>
    </p:bodyStyle>
    <p:otherStyle>
      <a:defPPr>
        <a:defRPr lang="de-DE"/>
      </a:defPPr>
      <a:lvl1pPr marL="0" algn="l" defTabSz="783001" rtl="0" eaLnBrk="1" latinLnBrk="0" hangingPunct="1">
        <a:defRPr sz="1541" kern="1200">
          <a:solidFill>
            <a:schemeClr val="tx1"/>
          </a:solidFill>
          <a:latin typeface="+mn-lt"/>
          <a:ea typeface="+mn-ea"/>
          <a:cs typeface="+mn-cs"/>
        </a:defRPr>
      </a:lvl1pPr>
      <a:lvl2pPr marL="391500" algn="l" defTabSz="783001" rtl="0" eaLnBrk="1" latinLnBrk="0" hangingPunct="1">
        <a:defRPr sz="1541" kern="1200">
          <a:solidFill>
            <a:schemeClr val="tx1"/>
          </a:solidFill>
          <a:latin typeface="+mn-lt"/>
          <a:ea typeface="+mn-ea"/>
          <a:cs typeface="+mn-cs"/>
        </a:defRPr>
      </a:lvl2pPr>
      <a:lvl3pPr marL="783001" algn="l" defTabSz="783001" rtl="0" eaLnBrk="1" latinLnBrk="0" hangingPunct="1">
        <a:defRPr sz="1541" kern="1200">
          <a:solidFill>
            <a:schemeClr val="tx1"/>
          </a:solidFill>
          <a:latin typeface="+mn-lt"/>
          <a:ea typeface="+mn-ea"/>
          <a:cs typeface="+mn-cs"/>
        </a:defRPr>
      </a:lvl3pPr>
      <a:lvl4pPr marL="1174501" algn="l" defTabSz="783001" rtl="0" eaLnBrk="1" latinLnBrk="0" hangingPunct="1">
        <a:defRPr sz="1541" kern="1200">
          <a:solidFill>
            <a:schemeClr val="tx1"/>
          </a:solidFill>
          <a:latin typeface="+mn-lt"/>
          <a:ea typeface="+mn-ea"/>
          <a:cs typeface="+mn-cs"/>
        </a:defRPr>
      </a:lvl4pPr>
      <a:lvl5pPr marL="1566001" algn="l" defTabSz="783001" rtl="0" eaLnBrk="1" latinLnBrk="0" hangingPunct="1">
        <a:defRPr sz="1541" kern="1200">
          <a:solidFill>
            <a:schemeClr val="tx1"/>
          </a:solidFill>
          <a:latin typeface="+mn-lt"/>
          <a:ea typeface="+mn-ea"/>
          <a:cs typeface="+mn-cs"/>
        </a:defRPr>
      </a:lvl5pPr>
      <a:lvl6pPr marL="1957502" algn="l" defTabSz="783001" rtl="0" eaLnBrk="1" latinLnBrk="0" hangingPunct="1">
        <a:defRPr sz="1541" kern="1200">
          <a:solidFill>
            <a:schemeClr val="tx1"/>
          </a:solidFill>
          <a:latin typeface="+mn-lt"/>
          <a:ea typeface="+mn-ea"/>
          <a:cs typeface="+mn-cs"/>
        </a:defRPr>
      </a:lvl6pPr>
      <a:lvl7pPr marL="2349002" algn="l" defTabSz="783001" rtl="0" eaLnBrk="1" latinLnBrk="0" hangingPunct="1">
        <a:defRPr sz="1541" kern="1200">
          <a:solidFill>
            <a:schemeClr val="tx1"/>
          </a:solidFill>
          <a:latin typeface="+mn-lt"/>
          <a:ea typeface="+mn-ea"/>
          <a:cs typeface="+mn-cs"/>
        </a:defRPr>
      </a:lvl7pPr>
      <a:lvl8pPr marL="2740503" algn="l" defTabSz="783001" rtl="0" eaLnBrk="1" latinLnBrk="0" hangingPunct="1">
        <a:defRPr sz="1541" kern="1200">
          <a:solidFill>
            <a:schemeClr val="tx1"/>
          </a:solidFill>
          <a:latin typeface="+mn-lt"/>
          <a:ea typeface="+mn-ea"/>
          <a:cs typeface="+mn-cs"/>
        </a:defRPr>
      </a:lvl8pPr>
      <a:lvl9pPr marL="3132003" algn="l" defTabSz="783001" rtl="0" eaLnBrk="1" latinLnBrk="0" hangingPunct="1">
        <a:defRPr sz="1541"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27">
          <p15:clr>
            <a:srgbClr val="F26B43"/>
          </p15:clr>
        </p15:guide>
        <p15:guide id="3" pos="226">
          <p15:clr>
            <a:srgbClr val="F26B43"/>
          </p15:clr>
        </p15:guide>
        <p15:guide id="15" pos="634">
          <p15:clr>
            <a:srgbClr val="F26B43"/>
          </p15:clr>
        </p15:guide>
        <p15:guide id="16" pos="748">
          <p15:clr>
            <a:srgbClr val="F26B43"/>
          </p15:clr>
        </p15:guide>
        <p15:guide id="17" pos="1156">
          <p15:clr>
            <a:srgbClr val="F26B43"/>
          </p15:clr>
        </p15:guide>
        <p15:guide id="18" pos="1270">
          <p15:clr>
            <a:srgbClr val="F26B43"/>
          </p15:clr>
        </p15:guide>
        <p15:guide id="19" pos="1678">
          <p15:clr>
            <a:srgbClr val="F26B43"/>
          </p15:clr>
        </p15:guide>
        <p15:guide id="20" pos="1791">
          <p15:clr>
            <a:srgbClr val="F26B43"/>
          </p15:clr>
        </p15:guide>
        <p15:guide id="21" pos="2199">
          <p15:clr>
            <a:srgbClr val="F26B43"/>
          </p15:clr>
        </p15:guide>
        <p15:guide id="22" pos="2313">
          <p15:clr>
            <a:srgbClr val="F26B43"/>
          </p15:clr>
        </p15:guide>
        <p15:guide id="23" pos="2721">
          <p15:clr>
            <a:srgbClr val="F26B43"/>
          </p15:clr>
        </p15:guide>
        <p15:guide id="24" pos="2834">
          <p15:clr>
            <a:srgbClr val="F26B43"/>
          </p15:clr>
        </p15:guide>
        <p15:guide id="25" pos="3243">
          <p15:clr>
            <a:srgbClr val="F26B43"/>
          </p15:clr>
        </p15:guide>
        <p15:guide id="26" pos="3356">
          <p15:clr>
            <a:srgbClr val="F26B43"/>
          </p15:clr>
        </p15:guide>
        <p15:guide id="27" pos="3764">
          <p15:clr>
            <a:srgbClr val="F26B43"/>
          </p15:clr>
        </p15:guide>
        <p15:guide id="28" pos="3878">
          <p15:clr>
            <a:srgbClr val="F26B43"/>
          </p15:clr>
        </p15:guide>
        <p15:guide id="29" pos="4286">
          <p15:clr>
            <a:srgbClr val="F26B43"/>
          </p15:clr>
        </p15:guide>
        <p15:guide id="30" pos="4399">
          <p15:clr>
            <a:srgbClr val="F26B43"/>
          </p15:clr>
        </p15:guide>
        <p15:guide id="31" pos="4808">
          <p15:clr>
            <a:srgbClr val="F26B43"/>
          </p15:clr>
        </p15:guide>
        <p15:guide id="32" pos="4921">
          <p15:clr>
            <a:srgbClr val="F26B43"/>
          </p15:clr>
        </p15:guide>
        <p15:guide id="33" pos="5329">
          <p15:clr>
            <a:srgbClr val="F26B43"/>
          </p15:clr>
        </p15:guide>
        <p15:guide id="34" pos="5443">
          <p15:clr>
            <a:srgbClr val="F26B43"/>
          </p15:clr>
        </p15:guide>
        <p15:guide id="35" pos="5851">
          <p15:clr>
            <a:srgbClr val="F26B43"/>
          </p15:clr>
        </p15:guide>
        <p15:guide id="36" pos="5964">
          <p15:clr>
            <a:srgbClr val="F26B43"/>
          </p15:clr>
        </p15:guide>
        <p15:guide id="37" pos="6372">
          <p15:clr>
            <a:srgbClr val="F26B43"/>
          </p15:clr>
        </p15:guide>
        <p15:guide id="38" orient="horz" pos="4002">
          <p15:clr>
            <a:srgbClr val="F26B43"/>
          </p15:clr>
        </p15:guide>
        <p15:guide id="39" orient="horz">
          <p15:clr>
            <a:srgbClr val="F26B43"/>
          </p15:clr>
        </p15:guide>
        <p15:guide id="40" orient="horz" pos="656">
          <p15:clr>
            <a:srgbClr val="F26B43"/>
          </p15:clr>
        </p15:guide>
        <p15:guide id="41" orient="horz" pos="4195">
          <p15:clr>
            <a:srgbClr val="F26B43"/>
          </p15:clr>
        </p15:guide>
        <p15:guide id="42" orient="horz" pos="3674">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2" Type="http://schemas.openxmlformats.org/officeDocument/2006/relationships/chart" Target="../charts/chart3.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10.xml.rels><?xml version="1.0" encoding="UTF-8" standalone="yes"?>
<Relationships xmlns="http://schemas.openxmlformats.org/package/2006/relationships"><Relationship Id="rId2" Type="http://schemas.openxmlformats.org/officeDocument/2006/relationships/chart" Target="../charts/chart4.xml"/><Relationship Id="rId1" Type="http://schemas.openxmlformats.org/officeDocument/2006/relationships/slideLayout" Target="../slideLayouts/slideLayout16.xml"/></Relationships>
</file>

<file path=ppt/slides/_rels/slide11.xml.rels><?xml version="1.0" encoding="UTF-8" standalone="yes"?>
<Relationships xmlns="http://schemas.openxmlformats.org/package/2006/relationships"><Relationship Id="rId3" Type="http://schemas.openxmlformats.org/officeDocument/2006/relationships/chart" Target="../charts/chart6.xml"/><Relationship Id="rId2" Type="http://schemas.openxmlformats.org/officeDocument/2006/relationships/chart" Target="../charts/chart5.xml"/><Relationship Id="rId1" Type="http://schemas.openxmlformats.org/officeDocument/2006/relationships/slideLayout" Target="../slideLayouts/slideLayout17.xml"/></Relationships>
</file>

<file path=ppt/slides/_rels/slide12.xml.rels><?xml version="1.0" encoding="UTF-8" standalone="yes"?>
<Relationships xmlns="http://schemas.openxmlformats.org/package/2006/relationships"><Relationship Id="rId3" Type="http://schemas.openxmlformats.org/officeDocument/2006/relationships/chart" Target="../charts/chart8.xml"/><Relationship Id="rId2" Type="http://schemas.openxmlformats.org/officeDocument/2006/relationships/chart" Target="../charts/chart7.xml"/><Relationship Id="rId1" Type="http://schemas.openxmlformats.org/officeDocument/2006/relationships/slideLayout" Target="../slideLayouts/slideLayout18.xml"/></Relationships>
</file>

<file path=ppt/slides/_rels/slide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2" Type="http://schemas.openxmlformats.org/officeDocument/2006/relationships/chart" Target="../charts/chart9.xml"/><Relationship Id="rId1" Type="http://schemas.openxmlformats.org/officeDocument/2006/relationships/slideLayout" Target="../slideLayouts/slideLayout9.xml"/></Relationships>
</file>

<file path=ppt/slides/_rels/slide17.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image" Target="../media/image22.jpeg"/><Relationship Id="rId1" Type="http://schemas.openxmlformats.org/officeDocument/2006/relationships/slideLayout" Target="../slideLayouts/slideLayout23.xml"/><Relationship Id="rId4" Type="http://schemas.openxmlformats.org/officeDocument/2006/relationships/image" Target="../media/image24.jpeg"/></Relationships>
</file>

<file path=ppt/slides/_rels/slide18.xml.rels><?xml version="1.0" encoding="UTF-8" standalone="yes"?>
<Relationships xmlns="http://schemas.openxmlformats.org/package/2006/relationships"><Relationship Id="rId3" Type="http://schemas.openxmlformats.org/officeDocument/2006/relationships/image" Target="../media/image26.jpeg"/><Relationship Id="rId2" Type="http://schemas.openxmlformats.org/officeDocument/2006/relationships/image" Target="../media/image25.jpeg"/><Relationship Id="rId1" Type="http://schemas.openxmlformats.org/officeDocument/2006/relationships/slideLayout" Target="../slideLayouts/slideLayout23.xml"/><Relationship Id="rId4" Type="http://schemas.openxmlformats.org/officeDocument/2006/relationships/image" Target="../media/image27.jpeg"/></Relationships>
</file>

<file path=ppt/slides/_rels/slide1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4.xml"/></Relationships>
</file>

<file path=ppt/slides/_rels/slide20.xml.rels><?xml version="1.0" encoding="UTF-8" standalone="yes"?>
<Relationships xmlns="http://schemas.openxmlformats.org/package/2006/relationships"><Relationship Id="rId3" Type="http://schemas.openxmlformats.org/officeDocument/2006/relationships/hyperlink" Target="mailto:info@fuggerbank.de" TargetMode="External"/><Relationship Id="rId2" Type="http://schemas.openxmlformats.org/officeDocument/2006/relationships/image" Target="../media/image2.png"/><Relationship Id="rId1" Type="http://schemas.openxmlformats.org/officeDocument/2006/relationships/slideLayout" Target="../slideLayouts/slideLayout14.xml"/><Relationship Id="rId6" Type="http://schemas.openxmlformats.org/officeDocument/2006/relationships/hyperlink" Target="https://www.ecb.europa.eu/" TargetMode="External"/><Relationship Id="rId5" Type="http://schemas.openxmlformats.org/officeDocument/2006/relationships/hyperlink" Target="http://www.bafin.de/" TargetMode="External"/><Relationship Id="rId4" Type="http://schemas.openxmlformats.org/officeDocument/2006/relationships/hyperlink" Target="http://www.fuggerbank.de/"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Untertitel">
            <a:extLst>
              <a:ext uri="{FF2B5EF4-FFF2-40B4-BE49-F238E27FC236}">
                <a16:creationId xmlns:a16="http://schemas.microsoft.com/office/drawing/2014/main" id="{E21E42E6-26DD-05A3-DFCF-CD476BFD417D}"/>
              </a:ext>
            </a:extLst>
          </p:cNvPr>
          <p:cNvSpPr>
            <a:spLocks noGrp="1" noRot="1" noMove="1" noResize="1" noEditPoints="1" noAdjustHandles="1" noChangeArrowheads="1" noChangeShapeType="1"/>
          </p:cNvSpPr>
          <p:nvPr>
            <p:ph type="subTitle" idx="1"/>
          </p:nvPr>
        </p:nvSpPr>
        <p:spPr>
          <a:xfrm>
            <a:off x="1006475" y="2305508"/>
            <a:ext cx="6626225" cy="303222"/>
          </a:xfrm>
        </p:spPr>
        <p:txBody>
          <a:bodyPr/>
          <a:lstStyle/>
          <a:p>
            <a:r>
              <a:rPr lang="de-DE" dirty="0"/>
              <a:t>UNABHÄNGIG. WERTEORIENTIERT. PERSÖNLICH.</a:t>
            </a:r>
          </a:p>
        </p:txBody>
      </p:sp>
      <p:sp>
        <p:nvSpPr>
          <p:cNvPr id="2" name="Titel">
            <a:extLst>
              <a:ext uri="{FF2B5EF4-FFF2-40B4-BE49-F238E27FC236}">
                <a16:creationId xmlns:a16="http://schemas.microsoft.com/office/drawing/2014/main" id="{C392FFA6-DF5F-DE1D-D172-069B9790B85A}"/>
              </a:ext>
            </a:extLst>
          </p:cNvPr>
          <p:cNvSpPr>
            <a:spLocks noGrp="1" noRot="1" noMove="1" noResize="1" noEditPoints="1" noAdjustHandles="1" noChangeArrowheads="1" noChangeShapeType="1"/>
          </p:cNvSpPr>
          <p:nvPr>
            <p:ph type="ctrTitle"/>
          </p:nvPr>
        </p:nvSpPr>
        <p:spPr>
          <a:xfrm>
            <a:off x="1006475" y="1041400"/>
            <a:ext cx="6626225" cy="931775"/>
          </a:xfrm>
        </p:spPr>
        <p:txBody>
          <a:bodyPr/>
          <a:lstStyle/>
          <a:p>
            <a:r>
              <a:rPr lang="de-DE" dirty="0"/>
              <a:t>Unsere  </a:t>
            </a:r>
            <a:br>
              <a:rPr lang="de-DE" dirty="0"/>
            </a:br>
            <a:r>
              <a:rPr lang="de-DE" dirty="0"/>
              <a:t>Vermögensverwaltung</a:t>
            </a:r>
          </a:p>
        </p:txBody>
      </p:sp>
    </p:spTree>
    <p:extLst>
      <p:ext uri="{BB962C8B-B14F-4D97-AF65-F5344CB8AC3E}">
        <p14:creationId xmlns:p14="http://schemas.microsoft.com/office/powerpoint/2010/main" val="304796312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12726207-F190-D2FF-DCF9-A3BD0AFCAC6F}"/>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2</a:t>
            </a:fld>
            <a:endParaRPr lang="de-DE"/>
          </a:p>
        </p:txBody>
      </p:sp>
      <p:sp>
        <p:nvSpPr>
          <p:cNvPr id="3" name="Text">
            <a:extLst>
              <a:ext uri="{FF2B5EF4-FFF2-40B4-BE49-F238E27FC236}">
                <a16:creationId xmlns:a16="http://schemas.microsoft.com/office/drawing/2014/main" id="{09F416ED-28F0-4097-3F6C-AA3AA8BF0016}"/>
              </a:ext>
            </a:extLst>
          </p:cNvPr>
          <p:cNvSpPr>
            <a:spLocks noGrp="1" noRot="1" noMove="1" noResize="1" noEditPoints="1" noAdjustHandles="1" noChangeArrowheads="1" noChangeShapeType="1"/>
          </p:cNvSpPr>
          <p:nvPr>
            <p:ph idx="1"/>
          </p:nvPr>
        </p:nvSpPr>
        <p:spPr>
          <a:xfrm>
            <a:off x="5327650" y="1411638"/>
            <a:ext cx="3960813" cy="4420838"/>
          </a:xfrm>
        </p:spPr>
        <p:txBody>
          <a:bodyPr/>
          <a:lstStyle/>
          <a:p>
            <a:r>
              <a:rPr lang="de-DE" dirty="0"/>
              <a:t>Die Strategie Pro stellt eine exklusive Erweiterung unserer Classic Vermögensverwaltung dar.</a:t>
            </a:r>
          </a:p>
          <a:p>
            <a:r>
              <a:rPr lang="de-DE" dirty="0"/>
              <a:t>Diese Strategievariante bietet die Möglichkeit, an der Entwicklung der internationalen Aktienmärkte zu </a:t>
            </a:r>
            <a:br>
              <a:rPr lang="de-DE" dirty="0"/>
            </a:br>
            <a:r>
              <a:rPr lang="de-DE" dirty="0"/>
              <a:t>partizipieren – und das mit einem dezidierten Fokus auf  höhere Kursgewinne. Wir wollen bewusst und offensiv Kurschancen am Aktienmarkt ausnutzen.</a:t>
            </a:r>
          </a:p>
          <a:p>
            <a:r>
              <a:rPr lang="de-DE" dirty="0"/>
              <a:t>Das Vorhalten von Liquidität wird in dieser Strategie ausgeschlossen bzw. vertraglich auf maximal 15 % für </a:t>
            </a:r>
            <a:br>
              <a:rPr lang="de-DE" dirty="0"/>
            </a:br>
            <a:r>
              <a:rPr lang="de-DE" dirty="0"/>
              <a:t>das Handling der Vermögensverwaltung begrenzt.</a:t>
            </a:r>
          </a:p>
          <a:p>
            <a:r>
              <a:rPr lang="de-DE" dirty="0"/>
              <a:t>Ziel ist eine dauerhafte Partizipation am Aktienmarkt </a:t>
            </a:r>
            <a:br>
              <a:rPr lang="de-DE" dirty="0"/>
            </a:br>
            <a:r>
              <a:rPr lang="de-DE" dirty="0"/>
              <a:t>unter Verzicht auf taktische Maßnahmen wie etwa das Vorhalten großer Liquiditätsbestände zum Abfedern von Kursrückgängen.</a:t>
            </a:r>
          </a:p>
          <a:p>
            <a:r>
              <a:rPr lang="de-DE" dirty="0"/>
              <a:t>Diese sehr spezielle Vermögensverwaltungslösung ist ab einem Anlagevolumen von 500.000 Euro darstellbar.</a:t>
            </a:r>
          </a:p>
        </p:txBody>
      </p:sp>
      <p:sp>
        <p:nvSpPr>
          <p:cNvPr id="2" name="Titel">
            <a:extLst>
              <a:ext uri="{FF2B5EF4-FFF2-40B4-BE49-F238E27FC236}">
                <a16:creationId xmlns:a16="http://schemas.microsoft.com/office/drawing/2014/main" id="{A045C7CC-A895-8F75-74B5-37B4A5A91499}"/>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Unsere Strategie PRO</a:t>
            </a:r>
          </a:p>
        </p:txBody>
      </p:sp>
    </p:spTree>
    <p:extLst>
      <p:ext uri="{BB962C8B-B14F-4D97-AF65-F5344CB8AC3E}">
        <p14:creationId xmlns:p14="http://schemas.microsoft.com/office/powerpoint/2010/main" val="260623105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A29DC1F0-E085-7711-FFB6-0AE5ACDA858C}"/>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3</a:t>
            </a:fld>
            <a:endParaRPr lang="de-DE"/>
          </a:p>
        </p:txBody>
      </p:sp>
      <p:sp>
        <p:nvSpPr>
          <p:cNvPr id="3" name="Text">
            <a:extLst>
              <a:ext uri="{FF2B5EF4-FFF2-40B4-BE49-F238E27FC236}">
                <a16:creationId xmlns:a16="http://schemas.microsoft.com/office/drawing/2014/main" id="{694BBE29-D879-8CF9-FF94-DBAA530E7B02}"/>
              </a:ext>
            </a:extLst>
          </p:cNvPr>
          <p:cNvSpPr>
            <a:spLocks noGrp="1" noRot="1" noMove="1" noResize="1" noEditPoints="1" noAdjustHandles="1" noChangeArrowheads="1" noChangeShapeType="1"/>
          </p:cNvSpPr>
          <p:nvPr>
            <p:ph idx="13"/>
          </p:nvPr>
        </p:nvSpPr>
        <p:spPr>
          <a:xfrm>
            <a:off x="1187450" y="1411288"/>
            <a:ext cx="4140200" cy="4421187"/>
          </a:xfrm>
        </p:spPr>
        <p:txBody>
          <a:bodyPr/>
          <a:lstStyle/>
          <a:p>
            <a:r>
              <a:rPr lang="de-DE" dirty="0"/>
              <a:t>In dieser Strategie sind folgende Punkte bei der Auswahl </a:t>
            </a:r>
            <a:br>
              <a:rPr lang="de-DE" dirty="0"/>
            </a:br>
            <a:r>
              <a:rPr lang="de-DE" dirty="0"/>
              <a:t>für uns relevant:</a:t>
            </a:r>
          </a:p>
          <a:p>
            <a:pPr lvl="1"/>
            <a:r>
              <a:rPr lang="de-DE" dirty="0"/>
              <a:t>Das Unternehmen sollte eine starke Marktposition (Burggraben) aufweisen und ferner über ein </a:t>
            </a:r>
            <a:br>
              <a:rPr lang="de-DE" dirty="0"/>
            </a:br>
            <a:r>
              <a:rPr lang="de-DE" dirty="0"/>
              <a:t>vorzügliches Management und Geschäftsmodell verfügen.</a:t>
            </a:r>
          </a:p>
          <a:p>
            <a:pPr lvl="1"/>
            <a:r>
              <a:rPr lang="de-DE" dirty="0"/>
              <a:t>Die Performance des Unternehmens sollte im 1-, 3- </a:t>
            </a:r>
            <a:br>
              <a:rPr lang="de-DE" dirty="0"/>
            </a:br>
            <a:r>
              <a:rPr lang="de-DE" dirty="0"/>
              <a:t>und 5-Jahresbereich positiv und in Relation zu </a:t>
            </a:r>
            <a:br>
              <a:rPr lang="de-DE" dirty="0"/>
            </a:br>
            <a:r>
              <a:rPr lang="de-DE" dirty="0"/>
              <a:t>internationalen Aktienindizes herausragend sein.</a:t>
            </a:r>
          </a:p>
          <a:p>
            <a:pPr lvl="1"/>
            <a:r>
              <a:rPr lang="de-DE" dirty="0"/>
              <a:t>Ergänzend dazu achten wir auf solide Bilanzen und </a:t>
            </a:r>
            <a:br>
              <a:rPr lang="de-DE" dirty="0"/>
            </a:br>
            <a:r>
              <a:rPr lang="de-DE" dirty="0"/>
              <a:t>hohe Wachstumsraten sowie unterjährige </a:t>
            </a:r>
            <a:br>
              <a:rPr lang="de-DE" dirty="0"/>
            </a:br>
            <a:r>
              <a:rPr lang="de-DE" dirty="0"/>
              <a:t>Prognoseerhöhungen seitens der Geschäftsführung, die </a:t>
            </a:r>
            <a:br>
              <a:rPr lang="de-DE" dirty="0"/>
            </a:br>
            <a:r>
              <a:rPr lang="de-DE" dirty="0"/>
              <a:t>statistisch nachweisbar Treiber einer guten zukünftigen Performance sind.</a:t>
            </a:r>
          </a:p>
          <a:p>
            <a:r>
              <a:rPr lang="de-DE" dirty="0"/>
              <a:t>Währungen, Länder und Branchen können von den Managern frei gewählt werden.</a:t>
            </a:r>
          </a:p>
        </p:txBody>
      </p:sp>
      <p:sp>
        <p:nvSpPr>
          <p:cNvPr id="2" name="Titel">
            <a:extLst>
              <a:ext uri="{FF2B5EF4-FFF2-40B4-BE49-F238E27FC236}">
                <a16:creationId xmlns:a16="http://schemas.microsoft.com/office/drawing/2014/main" id="{C2B7D173-C063-D0B2-4ED2-450BB23700E5}"/>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Unsere Strategie PRO</a:t>
            </a:r>
          </a:p>
        </p:txBody>
      </p:sp>
    </p:spTree>
    <p:extLst>
      <p:ext uri="{BB962C8B-B14F-4D97-AF65-F5344CB8AC3E}">
        <p14:creationId xmlns:p14="http://schemas.microsoft.com/office/powerpoint/2010/main" val="1202247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081DADAC-023D-6904-0920-7F79CEBD967C}"/>
              </a:ext>
            </a:extLst>
          </p:cNvPr>
          <p:cNvSpPr>
            <a:spLocks noGrp="1" noRot="1" noMove="1" noResize="1" noEditPoints="1" noAdjustHandles="1" noChangeArrowheads="1" noChangeShapeType="1"/>
          </p:cNvSpPr>
          <p:nvPr>
            <p:ph type="sldNum" sz="quarter" idx="12"/>
          </p:nvPr>
        </p:nvSpPr>
        <p:spPr/>
        <p:txBody>
          <a:bodyPr/>
          <a:lstStyle/>
          <a:p>
            <a:pPr marL="0" marR="0" lvl="0" indent="0" algn="r" defTabSz="820674" rtl="0" eaLnBrk="1" fontAlgn="auto" latinLnBrk="0" hangingPunct="1">
              <a:lnSpc>
                <a:spcPct val="100000"/>
              </a:lnSpc>
              <a:spcBef>
                <a:spcPts val="0"/>
              </a:spcBef>
              <a:spcAft>
                <a:spcPts val="0"/>
              </a:spcAft>
              <a:buClrTx/>
              <a:buSzTx/>
              <a:buFontTx/>
              <a:buNone/>
              <a:tabLst/>
              <a:defRPr/>
            </a:pPr>
            <a:fld id="{3AE71D6B-ACB6-4F4C-A895-DCAEF1760EAA}" type="slidenum">
              <a:rPr kumimoji="0" lang="de-DE" sz="1000" b="1" i="0" u="none" strike="noStrike" kern="1200" cap="none" spc="0" normalizeH="0" baseline="0" noProof="0" smtClean="0">
                <a:ln>
                  <a:noFill/>
                </a:ln>
                <a:solidFill>
                  <a:srgbClr val="14355C"/>
                </a:solidFill>
                <a:effectLst/>
                <a:uLnTx/>
                <a:uFillTx/>
                <a:latin typeface="Noto Serif"/>
                <a:ea typeface="+mn-ea"/>
                <a:cs typeface="+mn-cs"/>
              </a:rPr>
              <a:pPr marL="0" marR="0" lvl="0" indent="0" algn="r" defTabSz="820674" rtl="0" eaLnBrk="1" fontAlgn="auto" latinLnBrk="0" hangingPunct="1">
                <a:lnSpc>
                  <a:spcPct val="100000"/>
                </a:lnSpc>
                <a:spcBef>
                  <a:spcPts val="0"/>
                </a:spcBef>
                <a:spcAft>
                  <a:spcPts val="0"/>
                </a:spcAft>
                <a:buClrTx/>
                <a:buSzTx/>
                <a:buFontTx/>
                <a:buNone/>
                <a:tabLst/>
                <a:defRPr/>
              </a:pPr>
              <a:t>4</a:t>
            </a:fld>
            <a:endParaRPr kumimoji="0" lang="de-DE" sz="1000" b="1" i="0" u="none" strike="noStrike" kern="1200" cap="none" spc="0" normalizeH="0" baseline="0" noProof="0">
              <a:ln>
                <a:noFill/>
              </a:ln>
              <a:solidFill>
                <a:srgbClr val="14355C"/>
              </a:solidFill>
              <a:effectLst/>
              <a:uLnTx/>
              <a:uFillTx/>
              <a:latin typeface="Noto Serif"/>
              <a:ea typeface="+mn-ea"/>
              <a:cs typeface="+mn-cs"/>
            </a:endParaRPr>
          </a:p>
        </p:txBody>
      </p:sp>
      <p:sp>
        <p:nvSpPr>
          <p:cNvPr id="27" name="Fußnote">
            <a:extLst>
              <a:ext uri="{FF2B5EF4-FFF2-40B4-BE49-F238E27FC236}">
                <a16:creationId xmlns:a16="http://schemas.microsoft.com/office/drawing/2014/main" id="{EEC814CC-7104-A212-02EE-45F13BCD9D91}"/>
              </a:ext>
            </a:extLst>
          </p:cNvPr>
          <p:cNvSpPr txBox="1">
            <a:spLocks noGrp="1" noRot="1" noMove="1" noResize="1" noEditPoints="1" noAdjustHandles="1" noChangeArrowheads="1" noChangeShapeType="1"/>
          </p:cNvSpPr>
          <p:nvPr/>
        </p:nvSpPr>
        <p:spPr>
          <a:xfrm>
            <a:off x="5327650" y="5064125"/>
            <a:ext cx="4762614" cy="327025"/>
          </a:xfrm>
          <a:prstGeom prst="rect">
            <a:avLst/>
          </a:prstGeom>
        </p:spPr>
        <p:txBody>
          <a:bodyPr lIns="0" tIns="0" rIns="0" bIns="0"/>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marL="0" marR="0" lvl="0" indent="0" algn="r" defTabSz="783001" rtl="0" eaLnBrk="1" fontAlgn="auto" latinLnBrk="0" hangingPunct="1">
              <a:lnSpc>
                <a:spcPct val="100000"/>
              </a:lnSpc>
              <a:spcBef>
                <a:spcPts val="0"/>
              </a:spcBef>
              <a:spcAft>
                <a:spcPts val="0"/>
              </a:spcAft>
              <a:buClr>
                <a:srgbClr val="BB9256"/>
              </a:buClr>
              <a:buSzTx/>
              <a:buFont typeface="Arial" panose="020B0604020202020204" pitchFamily="34" charset="0"/>
              <a:buNone/>
              <a:tabLst/>
              <a:defRPr/>
            </a:pPr>
            <a:r>
              <a:rPr kumimoji="0" lang="de-DE" sz="600" b="0" i="0" u="none" strike="noStrike" kern="1200" cap="none" spc="0" normalizeH="0" baseline="0" noProof="0" dirty="0">
                <a:ln>
                  <a:noFill/>
                </a:ln>
                <a:solidFill>
                  <a:prstClr val="black"/>
                </a:solidFill>
                <a:effectLst/>
                <a:uLnTx/>
                <a:uFillTx/>
                <a:latin typeface="Noto Sans"/>
                <a:ea typeface="+mn-ea"/>
                <a:cs typeface="+mn-cs"/>
              </a:rPr>
              <a:t>*mit Investment Grade | Zugrundeliegende Indizes in Klammern | Währung: S&amp;P - USD, Stoxx600 - EUR, MSCI World - USD, </a:t>
            </a:r>
          </a:p>
          <a:p>
            <a:pPr marL="0" marR="0" lvl="0" indent="0" algn="r" defTabSz="783001" rtl="0" eaLnBrk="1" fontAlgn="auto" latinLnBrk="0" hangingPunct="1">
              <a:lnSpc>
                <a:spcPct val="100000"/>
              </a:lnSpc>
              <a:spcBef>
                <a:spcPts val="0"/>
              </a:spcBef>
              <a:spcAft>
                <a:spcPts val="0"/>
              </a:spcAft>
              <a:buClr>
                <a:srgbClr val="BB9256"/>
              </a:buClr>
              <a:buSzTx/>
              <a:buFont typeface="Arial" panose="020B0604020202020204" pitchFamily="34" charset="0"/>
              <a:buNone/>
              <a:tabLst/>
              <a:defRPr/>
            </a:pPr>
            <a:r>
              <a:rPr kumimoji="0" lang="de-DE" sz="600" b="0" i="0" u="none" strike="noStrike" kern="1200" cap="none" spc="0" normalizeH="0" baseline="0" noProof="0" dirty="0" err="1">
                <a:ln>
                  <a:noFill/>
                </a:ln>
                <a:solidFill>
                  <a:prstClr val="black"/>
                </a:solidFill>
                <a:effectLst/>
                <a:uLnTx/>
                <a:uFillTx/>
                <a:latin typeface="Noto Sans"/>
                <a:ea typeface="+mn-ea"/>
                <a:cs typeface="+mn-cs"/>
              </a:rPr>
              <a:t>Iboxx</a:t>
            </a:r>
            <a:r>
              <a:rPr kumimoji="0" lang="de-DE" sz="600" b="0" i="0" u="none" strike="noStrike" kern="1200" cap="none" spc="0" normalizeH="0" baseline="0" noProof="0" dirty="0">
                <a:ln>
                  <a:noFill/>
                </a:ln>
                <a:solidFill>
                  <a:prstClr val="black"/>
                </a:solidFill>
                <a:effectLst/>
                <a:uLnTx/>
                <a:uFillTx/>
                <a:latin typeface="Noto Sans"/>
                <a:ea typeface="+mn-ea"/>
                <a:cs typeface="+mn-cs"/>
              </a:rPr>
              <a:t> </a:t>
            </a:r>
            <a:r>
              <a:rPr kumimoji="0" lang="de-DE" sz="600" b="0" i="0" u="none" strike="noStrike" kern="1200" cap="none" spc="0" normalizeH="0" baseline="0" noProof="0" dirty="0" err="1">
                <a:ln>
                  <a:noFill/>
                </a:ln>
                <a:solidFill>
                  <a:prstClr val="black"/>
                </a:solidFill>
                <a:effectLst/>
                <a:uLnTx/>
                <a:uFillTx/>
                <a:latin typeface="Noto Sans"/>
                <a:ea typeface="+mn-ea"/>
                <a:cs typeface="+mn-cs"/>
              </a:rPr>
              <a:t>Eur</a:t>
            </a:r>
            <a:r>
              <a:rPr kumimoji="0" lang="de-DE" sz="600" b="0" i="0" u="none" strike="noStrike" kern="1200" cap="none" spc="0" normalizeH="0" baseline="0" noProof="0" dirty="0">
                <a:ln>
                  <a:noFill/>
                </a:ln>
                <a:solidFill>
                  <a:prstClr val="black"/>
                </a:solidFill>
                <a:effectLst/>
                <a:uLnTx/>
                <a:uFillTx/>
                <a:latin typeface="Noto Sans"/>
                <a:ea typeface="+mn-ea"/>
                <a:cs typeface="+mn-cs"/>
              </a:rPr>
              <a:t> </a:t>
            </a:r>
            <a:r>
              <a:rPr kumimoji="0" lang="de-DE" sz="600" b="0" i="0" u="none" strike="noStrike" kern="1200" cap="none" spc="0" normalizeH="0" baseline="0" noProof="0" dirty="0" err="1">
                <a:ln>
                  <a:noFill/>
                </a:ln>
                <a:solidFill>
                  <a:prstClr val="black"/>
                </a:solidFill>
                <a:effectLst/>
                <a:uLnTx/>
                <a:uFillTx/>
                <a:latin typeface="Noto Sans"/>
                <a:ea typeface="+mn-ea"/>
                <a:cs typeface="+mn-cs"/>
              </a:rPr>
              <a:t>Sov</a:t>
            </a:r>
            <a:r>
              <a:rPr kumimoji="0" lang="de-DE" sz="600" b="0" i="0" u="none" strike="noStrike" kern="1200" cap="none" spc="0" normalizeH="0" baseline="0" noProof="0" dirty="0">
                <a:ln>
                  <a:noFill/>
                </a:ln>
                <a:solidFill>
                  <a:prstClr val="black"/>
                </a:solidFill>
                <a:effectLst/>
                <a:uLnTx/>
                <a:uFillTx/>
                <a:latin typeface="Noto Sans"/>
                <a:ea typeface="+mn-ea"/>
                <a:cs typeface="+mn-cs"/>
              </a:rPr>
              <a:t> OV – EUR, </a:t>
            </a:r>
            <a:r>
              <a:rPr kumimoji="0" lang="de-DE" sz="600" b="0" i="0" u="none" strike="noStrike" kern="1200" cap="none" spc="0" normalizeH="0" baseline="0" noProof="0" dirty="0" err="1">
                <a:ln>
                  <a:noFill/>
                </a:ln>
                <a:solidFill>
                  <a:prstClr val="black"/>
                </a:solidFill>
                <a:effectLst/>
                <a:uLnTx/>
                <a:uFillTx/>
                <a:latin typeface="Noto Sans"/>
                <a:ea typeface="+mn-ea"/>
                <a:cs typeface="+mn-cs"/>
              </a:rPr>
              <a:t>Iboxx</a:t>
            </a:r>
            <a:r>
              <a:rPr kumimoji="0" lang="de-DE" sz="600" b="0" i="0" u="none" strike="noStrike" kern="1200" cap="none" spc="0" normalizeH="0" baseline="0" noProof="0" dirty="0">
                <a:ln>
                  <a:noFill/>
                </a:ln>
                <a:solidFill>
                  <a:prstClr val="black"/>
                </a:solidFill>
                <a:effectLst/>
                <a:uLnTx/>
                <a:uFillTx/>
                <a:latin typeface="Noto Sans"/>
                <a:ea typeface="+mn-ea"/>
                <a:cs typeface="+mn-cs"/>
              </a:rPr>
              <a:t> EUR Corp. OV - EUR, Gold – USD | Stand: Dezember 2025 | Quelle: Bloomberg</a:t>
            </a:r>
          </a:p>
        </p:txBody>
      </p:sp>
      <p:grpSp>
        <p:nvGrpSpPr>
          <p:cNvPr id="51" name="Legende">
            <a:extLst>
              <a:ext uri="{FF2B5EF4-FFF2-40B4-BE49-F238E27FC236}">
                <a16:creationId xmlns:a16="http://schemas.microsoft.com/office/drawing/2014/main" id="{EA61E4A6-3A95-8F6F-3FF6-2D9FED6B3E79}"/>
              </a:ext>
            </a:extLst>
          </p:cNvPr>
          <p:cNvGrpSpPr>
            <a:grpSpLocks/>
          </p:cNvGrpSpPr>
          <p:nvPr/>
        </p:nvGrpSpPr>
        <p:grpSpPr>
          <a:xfrm>
            <a:off x="358774" y="5064125"/>
            <a:ext cx="4140201" cy="378933"/>
            <a:chOff x="358774" y="5064125"/>
            <a:chExt cx="4140201" cy="378933"/>
          </a:xfrm>
        </p:grpSpPr>
        <p:grpSp>
          <p:nvGrpSpPr>
            <p:cNvPr id="28" name="Legende 7">
              <a:extLst>
                <a:ext uri="{FF2B5EF4-FFF2-40B4-BE49-F238E27FC236}">
                  <a16:creationId xmlns:a16="http://schemas.microsoft.com/office/drawing/2014/main" id="{59D18316-5791-B8D5-A380-7AE8F7F64EB7}"/>
                </a:ext>
              </a:extLst>
            </p:cNvPr>
            <p:cNvGrpSpPr>
              <a:grpSpLocks/>
            </p:cNvGrpSpPr>
            <p:nvPr/>
          </p:nvGrpSpPr>
          <p:grpSpPr>
            <a:xfrm>
              <a:off x="3875563" y="5335058"/>
              <a:ext cx="618336" cy="108000"/>
              <a:chOff x="358774" y="5064125"/>
              <a:chExt cx="895459" cy="108000"/>
            </a:xfrm>
          </p:grpSpPr>
          <p:sp>
            <p:nvSpPr>
              <p:cNvPr id="29" name="Rechteck">
                <a:extLst>
                  <a:ext uri="{FF2B5EF4-FFF2-40B4-BE49-F238E27FC236}">
                    <a16:creationId xmlns:a16="http://schemas.microsoft.com/office/drawing/2014/main" id="{3A7100E4-55A4-356C-72F3-2A3028B0C867}"/>
                  </a:ext>
                </a:extLst>
              </p:cNvPr>
              <p:cNvSpPr>
                <a:spLocks/>
              </p:cNvSpPr>
              <p:nvPr/>
            </p:nvSpPr>
            <p:spPr>
              <a:xfrm>
                <a:off x="358774" y="5121275"/>
                <a:ext cx="144000" cy="1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820674" rtl="0" eaLnBrk="1" fontAlgn="auto" latinLnBrk="0" hangingPunct="1">
                  <a:lnSpc>
                    <a:spcPct val="100000"/>
                  </a:lnSpc>
                  <a:spcBef>
                    <a:spcPts val="0"/>
                  </a:spcBef>
                  <a:spcAft>
                    <a:spcPts val="0"/>
                  </a:spcAft>
                  <a:buClrTx/>
                  <a:buSzTx/>
                  <a:buFontTx/>
                  <a:buNone/>
                  <a:tabLst/>
                  <a:defRPr/>
                </a:pPr>
                <a:endParaRPr kumimoji="0" lang="de-DE" sz="1616" b="0" i="0" u="none" strike="noStrike" kern="1200" cap="none" spc="0" normalizeH="0" baseline="0" noProof="0">
                  <a:ln>
                    <a:noFill/>
                  </a:ln>
                  <a:solidFill>
                    <a:prstClr val="white"/>
                  </a:solidFill>
                  <a:effectLst/>
                  <a:uLnTx/>
                  <a:uFillTx/>
                  <a:latin typeface="Noto Sans"/>
                  <a:ea typeface="+mn-ea"/>
                  <a:cs typeface="+mn-cs"/>
                </a:endParaRPr>
              </a:p>
            </p:txBody>
          </p:sp>
          <p:sp>
            <p:nvSpPr>
              <p:cNvPr id="30" name="Text">
                <a:extLst>
                  <a:ext uri="{FF2B5EF4-FFF2-40B4-BE49-F238E27FC236}">
                    <a16:creationId xmlns:a16="http://schemas.microsoft.com/office/drawing/2014/main" id="{3DBD3B1A-0068-44E0-13A3-7AB8014BD623}"/>
                  </a:ext>
                </a:extLst>
              </p:cNvPr>
              <p:cNvSpPr txBox="1">
                <a:spLocks/>
              </p:cNvSpPr>
              <p:nvPr/>
            </p:nvSpPr>
            <p:spPr>
              <a:xfrm>
                <a:off x="576487" y="5064125"/>
                <a:ext cx="677746" cy="108000"/>
              </a:xfrm>
              <a:prstGeom prst="rect">
                <a:avLst/>
              </a:prstGeom>
              <a:noFill/>
            </p:spPr>
            <p:txBody>
              <a:bodyPr wrap="none" lIns="0" tIns="0" rIns="0" bIns="0" rtlCol="0" anchor="ctr" anchorCtr="0">
                <a:no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err="1">
                    <a:ln>
                      <a:noFill/>
                    </a:ln>
                    <a:solidFill>
                      <a:prstClr val="black"/>
                    </a:solidFill>
                    <a:effectLst/>
                    <a:uLnTx/>
                    <a:uFillTx/>
                    <a:latin typeface="Noto Sans"/>
                    <a:ea typeface="+mn-ea"/>
                    <a:cs typeface="+mn-cs"/>
                  </a:rPr>
                  <a:t>Nullinie</a:t>
                </a:r>
                <a:endParaRPr kumimoji="0" lang="de-DE" sz="700" b="0" i="0" u="none" strike="noStrike" kern="1200" cap="none" spc="0" normalizeH="0" baseline="0" noProof="0" dirty="0">
                  <a:ln>
                    <a:noFill/>
                  </a:ln>
                  <a:solidFill>
                    <a:prstClr val="black"/>
                  </a:solidFill>
                  <a:effectLst/>
                  <a:uLnTx/>
                  <a:uFillTx/>
                  <a:latin typeface="Noto Sans"/>
                  <a:ea typeface="+mn-ea"/>
                  <a:cs typeface="+mn-cs"/>
                </a:endParaRPr>
              </a:p>
            </p:txBody>
          </p:sp>
        </p:grpSp>
        <p:grpSp>
          <p:nvGrpSpPr>
            <p:cNvPr id="20" name="Legende 6">
              <a:extLst>
                <a:ext uri="{FF2B5EF4-FFF2-40B4-BE49-F238E27FC236}">
                  <a16:creationId xmlns:a16="http://schemas.microsoft.com/office/drawing/2014/main" id="{7E07D60C-0BA6-3B45-CFCF-9A175CDC12B3}"/>
                </a:ext>
              </a:extLst>
            </p:cNvPr>
            <p:cNvGrpSpPr>
              <a:grpSpLocks/>
            </p:cNvGrpSpPr>
            <p:nvPr/>
          </p:nvGrpSpPr>
          <p:grpSpPr>
            <a:xfrm>
              <a:off x="3235850" y="5335058"/>
              <a:ext cx="436038" cy="108000"/>
              <a:chOff x="358774" y="5064125"/>
              <a:chExt cx="436038" cy="108000"/>
            </a:xfrm>
          </p:grpSpPr>
          <p:sp>
            <p:nvSpPr>
              <p:cNvPr id="21" name="Rechteck">
                <a:extLst>
                  <a:ext uri="{FF2B5EF4-FFF2-40B4-BE49-F238E27FC236}">
                    <a16:creationId xmlns:a16="http://schemas.microsoft.com/office/drawing/2014/main" id="{06029933-88CB-2A46-B800-F32ED20EF2CA}"/>
                  </a:ext>
                </a:extLst>
              </p:cNvPr>
              <p:cNvSpPr>
                <a:spLocks/>
              </p:cNvSpPr>
              <p:nvPr/>
            </p:nvSpPr>
            <p:spPr>
              <a:xfrm>
                <a:off x="358774" y="5064125"/>
                <a:ext cx="108000" cy="108000"/>
              </a:xfrm>
              <a:prstGeom prst="rect">
                <a:avLst/>
              </a:prstGeom>
              <a:solidFill>
                <a:srgbClr val="E5D4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820674" rtl="0" eaLnBrk="1" fontAlgn="auto" latinLnBrk="0" hangingPunct="1">
                  <a:lnSpc>
                    <a:spcPct val="100000"/>
                  </a:lnSpc>
                  <a:spcBef>
                    <a:spcPts val="0"/>
                  </a:spcBef>
                  <a:spcAft>
                    <a:spcPts val="0"/>
                  </a:spcAft>
                  <a:buClrTx/>
                  <a:buSzTx/>
                  <a:buFontTx/>
                  <a:buNone/>
                  <a:tabLst/>
                  <a:defRPr/>
                </a:pPr>
                <a:endParaRPr kumimoji="0" lang="de-DE" sz="1616" b="0" i="0" u="none" strike="noStrike" kern="1200" cap="none" spc="0" normalizeH="0" baseline="0" noProof="0">
                  <a:ln>
                    <a:noFill/>
                  </a:ln>
                  <a:solidFill>
                    <a:prstClr val="white"/>
                  </a:solidFill>
                  <a:effectLst/>
                  <a:uLnTx/>
                  <a:uFillTx/>
                  <a:latin typeface="Noto Sans"/>
                  <a:ea typeface="+mn-ea"/>
                  <a:cs typeface="+mn-cs"/>
                </a:endParaRPr>
              </a:p>
            </p:txBody>
          </p:sp>
          <p:sp>
            <p:nvSpPr>
              <p:cNvPr id="22" name="Text">
                <a:extLst>
                  <a:ext uri="{FF2B5EF4-FFF2-40B4-BE49-F238E27FC236}">
                    <a16:creationId xmlns:a16="http://schemas.microsoft.com/office/drawing/2014/main" id="{2EC3630A-28C7-91DF-9B3B-C9D79861B153}"/>
                  </a:ext>
                </a:extLst>
              </p:cNvPr>
              <p:cNvSpPr txBox="1">
                <a:spLocks/>
              </p:cNvSpPr>
              <p:nvPr/>
            </p:nvSpPr>
            <p:spPr>
              <a:xfrm>
                <a:off x="492125" y="5064125"/>
                <a:ext cx="302687" cy="108000"/>
              </a:xfrm>
              <a:prstGeom prst="rect">
                <a:avLst/>
              </a:prstGeom>
              <a:noFill/>
            </p:spPr>
            <p:txBody>
              <a:bodyPr wrap="none" lIns="0" tIns="0" rIns="0" bIns="0" rtlCol="0" anchor="ctr" anchorCtr="0">
                <a:no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a:ln>
                      <a:noFill/>
                    </a:ln>
                    <a:solidFill>
                      <a:prstClr val="black"/>
                    </a:solidFill>
                    <a:effectLst/>
                    <a:uLnTx/>
                    <a:uFillTx/>
                    <a:latin typeface="Noto Sans"/>
                    <a:ea typeface="+mn-ea"/>
                    <a:cs typeface="+mn-cs"/>
                  </a:rPr>
                  <a:t>Gold</a:t>
                </a:r>
              </a:p>
            </p:txBody>
          </p:sp>
        </p:grpSp>
        <p:grpSp>
          <p:nvGrpSpPr>
            <p:cNvPr id="17" name="Legende 5">
              <a:extLst>
                <a:ext uri="{FF2B5EF4-FFF2-40B4-BE49-F238E27FC236}">
                  <a16:creationId xmlns:a16="http://schemas.microsoft.com/office/drawing/2014/main" id="{59BA3AED-C951-D6C3-2A8E-0428BDCB6823}"/>
                </a:ext>
              </a:extLst>
            </p:cNvPr>
            <p:cNvGrpSpPr>
              <a:grpSpLocks/>
            </p:cNvGrpSpPr>
            <p:nvPr/>
          </p:nvGrpSpPr>
          <p:grpSpPr>
            <a:xfrm>
              <a:off x="1734607" y="5335058"/>
              <a:ext cx="1263125" cy="108000"/>
              <a:chOff x="358774" y="5064125"/>
              <a:chExt cx="1263125" cy="108000"/>
            </a:xfrm>
          </p:grpSpPr>
          <p:sp>
            <p:nvSpPr>
              <p:cNvPr id="18" name="Rechteck">
                <a:extLst>
                  <a:ext uri="{FF2B5EF4-FFF2-40B4-BE49-F238E27FC236}">
                    <a16:creationId xmlns:a16="http://schemas.microsoft.com/office/drawing/2014/main" id="{AC5EED34-8EEA-3FD7-ECE5-F7FA4111F38A}"/>
                  </a:ext>
                </a:extLst>
              </p:cNvPr>
              <p:cNvSpPr>
                <a:spLocks/>
              </p:cNvSpPr>
              <p:nvPr/>
            </p:nvSpPr>
            <p:spPr>
              <a:xfrm>
                <a:off x="358774" y="5064125"/>
                <a:ext cx="108000" cy="108000"/>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820674" rtl="0" eaLnBrk="1" fontAlgn="auto" latinLnBrk="0" hangingPunct="1">
                  <a:lnSpc>
                    <a:spcPct val="100000"/>
                  </a:lnSpc>
                  <a:spcBef>
                    <a:spcPts val="0"/>
                  </a:spcBef>
                  <a:spcAft>
                    <a:spcPts val="0"/>
                  </a:spcAft>
                  <a:buClrTx/>
                  <a:buSzTx/>
                  <a:buFontTx/>
                  <a:buNone/>
                  <a:tabLst/>
                  <a:defRPr/>
                </a:pPr>
                <a:endParaRPr kumimoji="0" lang="de-DE" sz="1616" b="0" i="0" u="none" strike="noStrike" kern="1200" cap="none" spc="0" normalizeH="0" baseline="0" noProof="0">
                  <a:ln>
                    <a:noFill/>
                  </a:ln>
                  <a:solidFill>
                    <a:prstClr val="white"/>
                  </a:solidFill>
                  <a:effectLst/>
                  <a:uLnTx/>
                  <a:uFillTx/>
                  <a:latin typeface="Noto Sans"/>
                  <a:ea typeface="+mn-ea"/>
                  <a:cs typeface="+mn-cs"/>
                </a:endParaRPr>
              </a:p>
            </p:txBody>
          </p:sp>
          <p:sp>
            <p:nvSpPr>
              <p:cNvPr id="19" name="Text">
                <a:extLst>
                  <a:ext uri="{FF2B5EF4-FFF2-40B4-BE49-F238E27FC236}">
                    <a16:creationId xmlns:a16="http://schemas.microsoft.com/office/drawing/2014/main" id="{3D369CE1-3A40-6FAE-60A1-677EFFA64D9E}"/>
                  </a:ext>
                </a:extLst>
              </p:cNvPr>
              <p:cNvSpPr txBox="1">
                <a:spLocks/>
              </p:cNvSpPr>
              <p:nvPr/>
            </p:nvSpPr>
            <p:spPr>
              <a:xfrm>
                <a:off x="492125" y="5064125"/>
                <a:ext cx="1129774" cy="108000"/>
              </a:xfrm>
              <a:prstGeom prst="rect">
                <a:avLst/>
              </a:prstGeom>
              <a:noFill/>
            </p:spPr>
            <p:txBody>
              <a:bodyPr wrap="none" lIns="0" tIns="18000" rIns="0" bIns="0" rtlCol="0" anchor="t" anchorCtr="0">
                <a:no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a:ln>
                      <a:noFill/>
                    </a:ln>
                    <a:solidFill>
                      <a:prstClr val="black"/>
                    </a:solidFill>
                    <a:effectLst/>
                    <a:uLnTx/>
                    <a:uFillTx/>
                    <a:latin typeface="Noto Sans"/>
                    <a:ea typeface="+mn-ea"/>
                    <a:cs typeface="+mn-cs"/>
                  </a:rPr>
                  <a:t>IBOXX EUR </a:t>
                </a:r>
                <a:r>
                  <a:rPr kumimoji="0" lang="de-DE" sz="700" b="0" i="0" u="none" strike="noStrike" kern="1200" cap="none" spc="0" normalizeH="0" baseline="0" noProof="0" dirty="0" err="1">
                    <a:ln>
                      <a:noFill/>
                    </a:ln>
                    <a:solidFill>
                      <a:prstClr val="black"/>
                    </a:solidFill>
                    <a:effectLst/>
                    <a:uLnTx/>
                    <a:uFillTx/>
                    <a:latin typeface="Noto Sans"/>
                    <a:ea typeface="+mn-ea"/>
                    <a:cs typeface="+mn-cs"/>
                  </a:rPr>
                  <a:t>Corp</a:t>
                </a:r>
                <a:r>
                  <a:rPr kumimoji="0" lang="de-DE" sz="700" b="0" i="0" u="none" strike="noStrike" kern="1200" cap="none" spc="0" normalizeH="0" baseline="0" noProof="0" dirty="0">
                    <a:ln>
                      <a:noFill/>
                    </a:ln>
                    <a:solidFill>
                      <a:prstClr val="black"/>
                    </a:solidFill>
                    <a:effectLst/>
                    <a:uLnTx/>
                    <a:uFillTx/>
                    <a:latin typeface="Noto Sans"/>
                    <a:ea typeface="+mn-ea"/>
                    <a:cs typeface="+mn-cs"/>
                  </a:rPr>
                  <a:t> Over all * </a:t>
                </a:r>
              </a:p>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a:ln>
                      <a:noFill/>
                    </a:ln>
                    <a:solidFill>
                      <a:prstClr val="black"/>
                    </a:solidFill>
                    <a:effectLst/>
                    <a:uLnTx/>
                    <a:uFillTx/>
                    <a:latin typeface="Noto Sans"/>
                    <a:ea typeface="+mn-ea"/>
                    <a:cs typeface="+mn-cs"/>
                  </a:rPr>
                  <a:t>(Unternehmensanleihen Eur.)</a:t>
                </a:r>
              </a:p>
            </p:txBody>
          </p:sp>
        </p:grpSp>
        <p:grpSp>
          <p:nvGrpSpPr>
            <p:cNvPr id="14" name="Legende 4">
              <a:extLst>
                <a:ext uri="{FF2B5EF4-FFF2-40B4-BE49-F238E27FC236}">
                  <a16:creationId xmlns:a16="http://schemas.microsoft.com/office/drawing/2014/main" id="{830FC5E9-1A85-650F-F0F5-520DDC014305}"/>
                </a:ext>
              </a:extLst>
            </p:cNvPr>
            <p:cNvGrpSpPr>
              <a:grpSpLocks/>
            </p:cNvGrpSpPr>
            <p:nvPr/>
          </p:nvGrpSpPr>
          <p:grpSpPr>
            <a:xfrm>
              <a:off x="358774" y="5335058"/>
              <a:ext cx="1263125" cy="108000"/>
              <a:chOff x="358774" y="5064125"/>
              <a:chExt cx="1263125" cy="108000"/>
            </a:xfrm>
          </p:grpSpPr>
          <p:sp>
            <p:nvSpPr>
              <p:cNvPr id="15" name="Rechteck">
                <a:extLst>
                  <a:ext uri="{FF2B5EF4-FFF2-40B4-BE49-F238E27FC236}">
                    <a16:creationId xmlns:a16="http://schemas.microsoft.com/office/drawing/2014/main" id="{A5213535-D219-CF79-F751-3D5F502DC744}"/>
                  </a:ext>
                </a:extLst>
              </p:cNvPr>
              <p:cNvSpPr>
                <a:spLocks/>
              </p:cNvSpPr>
              <p:nvPr/>
            </p:nvSpPr>
            <p:spPr>
              <a:xfrm>
                <a:off x="358774" y="5064125"/>
                <a:ext cx="108000" cy="108000"/>
              </a:xfrm>
              <a:prstGeom prst="rect">
                <a:avLst/>
              </a:prstGeom>
              <a:solidFill>
                <a:srgbClr val="BAD9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820674" rtl="0" eaLnBrk="1" fontAlgn="auto" latinLnBrk="0" hangingPunct="1">
                  <a:lnSpc>
                    <a:spcPct val="100000"/>
                  </a:lnSpc>
                  <a:spcBef>
                    <a:spcPts val="0"/>
                  </a:spcBef>
                  <a:spcAft>
                    <a:spcPts val="0"/>
                  </a:spcAft>
                  <a:buClrTx/>
                  <a:buSzTx/>
                  <a:buFontTx/>
                  <a:buNone/>
                  <a:tabLst/>
                  <a:defRPr/>
                </a:pPr>
                <a:endParaRPr kumimoji="0" lang="de-DE" sz="1616" b="0" i="0" u="none" strike="noStrike" kern="1200" cap="none" spc="0" normalizeH="0" baseline="0" noProof="0">
                  <a:ln>
                    <a:noFill/>
                  </a:ln>
                  <a:solidFill>
                    <a:prstClr val="white"/>
                  </a:solidFill>
                  <a:effectLst/>
                  <a:uLnTx/>
                  <a:uFillTx/>
                  <a:latin typeface="Noto Sans"/>
                  <a:ea typeface="+mn-ea"/>
                  <a:cs typeface="+mn-cs"/>
                </a:endParaRPr>
              </a:p>
            </p:txBody>
          </p:sp>
          <p:sp>
            <p:nvSpPr>
              <p:cNvPr id="16" name="Text">
                <a:extLst>
                  <a:ext uri="{FF2B5EF4-FFF2-40B4-BE49-F238E27FC236}">
                    <a16:creationId xmlns:a16="http://schemas.microsoft.com/office/drawing/2014/main" id="{92ECA39C-8867-4B59-F3E7-CE76BA01FADB}"/>
                  </a:ext>
                </a:extLst>
              </p:cNvPr>
              <p:cNvSpPr txBox="1">
                <a:spLocks/>
              </p:cNvSpPr>
              <p:nvPr/>
            </p:nvSpPr>
            <p:spPr>
              <a:xfrm>
                <a:off x="492125" y="5064125"/>
                <a:ext cx="1129774" cy="108000"/>
              </a:xfrm>
              <a:prstGeom prst="rect">
                <a:avLst/>
              </a:prstGeom>
              <a:noFill/>
            </p:spPr>
            <p:txBody>
              <a:bodyPr wrap="none" lIns="0" tIns="18000" rIns="0" bIns="0" rtlCol="0" anchor="t" anchorCtr="0">
                <a:no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a:ln>
                      <a:noFill/>
                    </a:ln>
                    <a:solidFill>
                      <a:prstClr val="black"/>
                    </a:solidFill>
                    <a:effectLst/>
                    <a:uLnTx/>
                    <a:uFillTx/>
                    <a:latin typeface="Noto Sans"/>
                    <a:ea typeface="+mn-ea"/>
                    <a:cs typeface="+mn-cs"/>
                  </a:rPr>
                  <a:t>IBOXX EUR SOV Over all *</a:t>
                </a:r>
              </a:p>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a:ln>
                      <a:noFill/>
                    </a:ln>
                    <a:solidFill>
                      <a:prstClr val="black"/>
                    </a:solidFill>
                    <a:effectLst/>
                    <a:uLnTx/>
                    <a:uFillTx/>
                    <a:latin typeface="Noto Sans"/>
                    <a:ea typeface="+mn-ea"/>
                    <a:cs typeface="+mn-cs"/>
                  </a:rPr>
                  <a:t>(Staatsanleihen Europa)</a:t>
                </a:r>
              </a:p>
            </p:txBody>
          </p:sp>
        </p:grpSp>
        <p:grpSp>
          <p:nvGrpSpPr>
            <p:cNvPr id="11" name="Legende 3">
              <a:extLst>
                <a:ext uri="{FF2B5EF4-FFF2-40B4-BE49-F238E27FC236}">
                  <a16:creationId xmlns:a16="http://schemas.microsoft.com/office/drawing/2014/main" id="{23CA5D26-FD1E-BF52-E6DD-3D8B5D76BF9A}"/>
                </a:ext>
              </a:extLst>
            </p:cNvPr>
            <p:cNvGrpSpPr>
              <a:grpSpLocks/>
            </p:cNvGrpSpPr>
            <p:nvPr/>
          </p:nvGrpSpPr>
          <p:grpSpPr>
            <a:xfrm>
              <a:off x="3235850" y="5064125"/>
              <a:ext cx="1263125" cy="108000"/>
              <a:chOff x="358774" y="5064125"/>
              <a:chExt cx="1263125" cy="108000"/>
            </a:xfrm>
          </p:grpSpPr>
          <p:sp>
            <p:nvSpPr>
              <p:cNvPr id="12" name="Rechteck">
                <a:extLst>
                  <a:ext uri="{FF2B5EF4-FFF2-40B4-BE49-F238E27FC236}">
                    <a16:creationId xmlns:a16="http://schemas.microsoft.com/office/drawing/2014/main" id="{2BBD1CEE-75C7-96CC-862D-FB440B3EAD77}"/>
                  </a:ext>
                </a:extLst>
              </p:cNvPr>
              <p:cNvSpPr>
                <a:spLocks/>
              </p:cNvSpPr>
              <p:nvPr/>
            </p:nvSpPr>
            <p:spPr>
              <a:xfrm>
                <a:off x="358774" y="5064125"/>
                <a:ext cx="108000" cy="10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820674" rtl="0" eaLnBrk="1" fontAlgn="auto" latinLnBrk="0" hangingPunct="1">
                  <a:lnSpc>
                    <a:spcPct val="100000"/>
                  </a:lnSpc>
                  <a:spcBef>
                    <a:spcPts val="0"/>
                  </a:spcBef>
                  <a:spcAft>
                    <a:spcPts val="0"/>
                  </a:spcAft>
                  <a:buClrTx/>
                  <a:buSzTx/>
                  <a:buFontTx/>
                  <a:buNone/>
                  <a:tabLst/>
                  <a:defRPr/>
                </a:pPr>
                <a:endParaRPr kumimoji="0" lang="de-DE" sz="1616" b="0" i="0" u="none" strike="noStrike" kern="1200" cap="none" spc="0" normalizeH="0" baseline="0" noProof="0">
                  <a:ln>
                    <a:noFill/>
                  </a:ln>
                  <a:solidFill>
                    <a:prstClr val="white"/>
                  </a:solidFill>
                  <a:effectLst/>
                  <a:uLnTx/>
                  <a:uFillTx/>
                  <a:latin typeface="Noto Sans"/>
                  <a:ea typeface="+mn-ea"/>
                  <a:cs typeface="+mn-cs"/>
                </a:endParaRPr>
              </a:p>
            </p:txBody>
          </p:sp>
          <p:sp>
            <p:nvSpPr>
              <p:cNvPr id="13" name="Text">
                <a:extLst>
                  <a:ext uri="{FF2B5EF4-FFF2-40B4-BE49-F238E27FC236}">
                    <a16:creationId xmlns:a16="http://schemas.microsoft.com/office/drawing/2014/main" id="{4DAC22EF-5E15-B262-D55D-C0C308918F47}"/>
                  </a:ext>
                </a:extLst>
              </p:cNvPr>
              <p:cNvSpPr txBox="1">
                <a:spLocks/>
              </p:cNvSpPr>
              <p:nvPr/>
            </p:nvSpPr>
            <p:spPr>
              <a:xfrm>
                <a:off x="492125" y="5064125"/>
                <a:ext cx="1129774" cy="108000"/>
              </a:xfrm>
              <a:prstGeom prst="rect">
                <a:avLst/>
              </a:prstGeom>
              <a:noFill/>
            </p:spPr>
            <p:txBody>
              <a:bodyPr wrap="none" lIns="0" tIns="0" rIns="0" bIns="0" rtlCol="0" anchor="ctr" anchorCtr="0">
                <a:no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a:ln>
                      <a:noFill/>
                    </a:ln>
                    <a:solidFill>
                      <a:prstClr val="black"/>
                    </a:solidFill>
                    <a:effectLst/>
                    <a:uLnTx/>
                    <a:uFillTx/>
                    <a:latin typeface="Noto Sans"/>
                    <a:ea typeface="+mn-ea"/>
                    <a:cs typeface="+mn-cs"/>
                  </a:rPr>
                  <a:t>Aktien Welt (MSCI World)</a:t>
                </a:r>
              </a:p>
            </p:txBody>
          </p:sp>
        </p:grpSp>
        <p:grpSp>
          <p:nvGrpSpPr>
            <p:cNvPr id="8" name="Legende 2">
              <a:extLst>
                <a:ext uri="{FF2B5EF4-FFF2-40B4-BE49-F238E27FC236}">
                  <a16:creationId xmlns:a16="http://schemas.microsoft.com/office/drawing/2014/main" id="{11AAC30C-9982-5996-D6CE-A1AAF6AF0BC0}"/>
                </a:ext>
              </a:extLst>
            </p:cNvPr>
            <p:cNvGrpSpPr>
              <a:grpSpLocks/>
            </p:cNvGrpSpPr>
            <p:nvPr/>
          </p:nvGrpSpPr>
          <p:grpSpPr>
            <a:xfrm>
              <a:off x="1734607" y="5064125"/>
              <a:ext cx="1263125" cy="108000"/>
              <a:chOff x="358774" y="5064125"/>
              <a:chExt cx="1263125" cy="108000"/>
            </a:xfrm>
          </p:grpSpPr>
          <p:sp>
            <p:nvSpPr>
              <p:cNvPr id="9" name="Rechteck">
                <a:extLst>
                  <a:ext uri="{FF2B5EF4-FFF2-40B4-BE49-F238E27FC236}">
                    <a16:creationId xmlns:a16="http://schemas.microsoft.com/office/drawing/2014/main" id="{1A78F901-524F-C84F-9CEE-6046A572B1E7}"/>
                  </a:ext>
                </a:extLst>
              </p:cNvPr>
              <p:cNvSpPr>
                <a:spLocks/>
              </p:cNvSpPr>
              <p:nvPr/>
            </p:nvSpPr>
            <p:spPr>
              <a:xfrm>
                <a:off x="358774" y="5064125"/>
                <a:ext cx="108000" cy="10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820674" rtl="0" eaLnBrk="1" fontAlgn="auto" latinLnBrk="0" hangingPunct="1">
                  <a:lnSpc>
                    <a:spcPct val="100000"/>
                  </a:lnSpc>
                  <a:spcBef>
                    <a:spcPts val="0"/>
                  </a:spcBef>
                  <a:spcAft>
                    <a:spcPts val="0"/>
                  </a:spcAft>
                  <a:buClrTx/>
                  <a:buSzTx/>
                  <a:buFontTx/>
                  <a:buNone/>
                  <a:tabLst/>
                  <a:defRPr/>
                </a:pPr>
                <a:endParaRPr kumimoji="0" lang="de-DE" sz="1616" b="0" i="0" u="none" strike="noStrike" kern="1200" cap="none" spc="0" normalizeH="0" baseline="0" noProof="0">
                  <a:ln>
                    <a:noFill/>
                  </a:ln>
                  <a:solidFill>
                    <a:prstClr val="white"/>
                  </a:solidFill>
                  <a:effectLst/>
                  <a:uLnTx/>
                  <a:uFillTx/>
                  <a:latin typeface="Noto Sans"/>
                  <a:ea typeface="+mn-ea"/>
                  <a:cs typeface="+mn-cs"/>
                </a:endParaRPr>
              </a:p>
            </p:txBody>
          </p:sp>
          <p:sp>
            <p:nvSpPr>
              <p:cNvPr id="10" name="Text">
                <a:extLst>
                  <a:ext uri="{FF2B5EF4-FFF2-40B4-BE49-F238E27FC236}">
                    <a16:creationId xmlns:a16="http://schemas.microsoft.com/office/drawing/2014/main" id="{B17D34EF-44AD-B653-DBBB-02714FF935D4}"/>
                  </a:ext>
                </a:extLst>
              </p:cNvPr>
              <p:cNvSpPr txBox="1">
                <a:spLocks/>
              </p:cNvSpPr>
              <p:nvPr/>
            </p:nvSpPr>
            <p:spPr>
              <a:xfrm>
                <a:off x="492125" y="5064125"/>
                <a:ext cx="1129774" cy="108000"/>
              </a:xfrm>
              <a:prstGeom prst="rect">
                <a:avLst/>
              </a:prstGeom>
              <a:noFill/>
            </p:spPr>
            <p:txBody>
              <a:bodyPr wrap="none" lIns="0" tIns="0" rIns="0" bIns="0" rtlCol="0" anchor="ctr" anchorCtr="0">
                <a:no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a:ln>
                      <a:noFill/>
                    </a:ln>
                    <a:solidFill>
                      <a:prstClr val="black"/>
                    </a:solidFill>
                    <a:effectLst/>
                    <a:uLnTx/>
                    <a:uFillTx/>
                    <a:latin typeface="Noto Sans"/>
                    <a:ea typeface="+mn-ea"/>
                    <a:cs typeface="+mn-cs"/>
                  </a:rPr>
                  <a:t>Aktien Europa (EuroStoxx600)</a:t>
                </a:r>
              </a:p>
            </p:txBody>
          </p:sp>
        </p:grpSp>
        <p:grpSp>
          <p:nvGrpSpPr>
            <p:cNvPr id="7" name="Legende 1">
              <a:extLst>
                <a:ext uri="{FF2B5EF4-FFF2-40B4-BE49-F238E27FC236}">
                  <a16:creationId xmlns:a16="http://schemas.microsoft.com/office/drawing/2014/main" id="{0590956A-8820-212B-CDD1-21BD7B2E1D90}"/>
                </a:ext>
              </a:extLst>
            </p:cNvPr>
            <p:cNvGrpSpPr>
              <a:grpSpLocks/>
            </p:cNvGrpSpPr>
            <p:nvPr/>
          </p:nvGrpSpPr>
          <p:grpSpPr>
            <a:xfrm>
              <a:off x="358774" y="5064125"/>
              <a:ext cx="1263125" cy="108000"/>
              <a:chOff x="358774" y="5064125"/>
              <a:chExt cx="1263125" cy="108000"/>
            </a:xfrm>
          </p:grpSpPr>
          <p:sp>
            <p:nvSpPr>
              <p:cNvPr id="3" name="Rechteck">
                <a:extLst>
                  <a:ext uri="{FF2B5EF4-FFF2-40B4-BE49-F238E27FC236}">
                    <a16:creationId xmlns:a16="http://schemas.microsoft.com/office/drawing/2014/main" id="{71BB5AC6-0E77-EA3F-8280-AF80E64668F4}"/>
                  </a:ext>
                </a:extLst>
              </p:cNvPr>
              <p:cNvSpPr>
                <a:spLocks/>
              </p:cNvSpPr>
              <p:nvPr/>
            </p:nvSpPr>
            <p:spPr>
              <a:xfrm>
                <a:off x="358774" y="5064125"/>
                <a:ext cx="108000" cy="108000"/>
              </a:xfrm>
              <a:prstGeom prst="rect">
                <a:avLst/>
              </a:prstGeom>
              <a:solidFill>
                <a:srgbClr val="284C8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820674" rtl="0" eaLnBrk="1" fontAlgn="auto" latinLnBrk="0" hangingPunct="1">
                  <a:lnSpc>
                    <a:spcPct val="100000"/>
                  </a:lnSpc>
                  <a:spcBef>
                    <a:spcPts val="0"/>
                  </a:spcBef>
                  <a:spcAft>
                    <a:spcPts val="0"/>
                  </a:spcAft>
                  <a:buClrTx/>
                  <a:buSzTx/>
                  <a:buFontTx/>
                  <a:buNone/>
                  <a:tabLst/>
                  <a:defRPr/>
                </a:pPr>
                <a:endParaRPr kumimoji="0" lang="de-DE" sz="1616" b="0" i="0" u="none" strike="noStrike" kern="1200" cap="none" spc="0" normalizeH="0" baseline="0" noProof="0">
                  <a:ln>
                    <a:noFill/>
                  </a:ln>
                  <a:solidFill>
                    <a:prstClr val="white"/>
                  </a:solidFill>
                  <a:effectLst/>
                  <a:uLnTx/>
                  <a:uFillTx/>
                  <a:latin typeface="Noto Sans"/>
                  <a:ea typeface="+mn-ea"/>
                  <a:cs typeface="+mn-cs"/>
                </a:endParaRPr>
              </a:p>
            </p:txBody>
          </p:sp>
          <p:sp>
            <p:nvSpPr>
              <p:cNvPr id="6" name="Text">
                <a:extLst>
                  <a:ext uri="{FF2B5EF4-FFF2-40B4-BE49-F238E27FC236}">
                    <a16:creationId xmlns:a16="http://schemas.microsoft.com/office/drawing/2014/main" id="{50534062-7416-0F85-644A-55433330369B}"/>
                  </a:ext>
                </a:extLst>
              </p:cNvPr>
              <p:cNvSpPr txBox="1">
                <a:spLocks/>
              </p:cNvSpPr>
              <p:nvPr/>
            </p:nvSpPr>
            <p:spPr>
              <a:xfrm>
                <a:off x="492125" y="5064125"/>
                <a:ext cx="1129774" cy="108000"/>
              </a:xfrm>
              <a:prstGeom prst="rect">
                <a:avLst/>
              </a:prstGeom>
              <a:noFill/>
            </p:spPr>
            <p:txBody>
              <a:bodyPr wrap="none" lIns="0" tIns="0" rIns="0" bIns="0" rtlCol="0" anchor="ctr" anchorCtr="0">
                <a:no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a:ln>
                      <a:noFill/>
                    </a:ln>
                    <a:solidFill>
                      <a:prstClr val="black"/>
                    </a:solidFill>
                    <a:effectLst/>
                    <a:uLnTx/>
                    <a:uFillTx/>
                    <a:latin typeface="Noto Sans"/>
                    <a:ea typeface="+mn-ea"/>
                    <a:cs typeface="+mn-cs"/>
                  </a:rPr>
                  <a:t>Aktien USA (S&amp;P 500)</a:t>
                </a:r>
              </a:p>
            </p:txBody>
          </p:sp>
        </p:grpSp>
      </p:grpSp>
      <p:grpSp>
        <p:nvGrpSpPr>
          <p:cNvPr id="50" name="Nullinien">
            <a:extLst>
              <a:ext uri="{FF2B5EF4-FFF2-40B4-BE49-F238E27FC236}">
                <a16:creationId xmlns:a16="http://schemas.microsoft.com/office/drawing/2014/main" id="{9988882D-5773-C862-1A93-2C04AE0AB9CB}"/>
              </a:ext>
            </a:extLst>
          </p:cNvPr>
          <p:cNvGrpSpPr>
            <a:grpSpLocks noGrp="1" noUngrp="1" noRot="1" noMove="1" noResize="1"/>
          </p:cNvGrpSpPr>
          <p:nvPr/>
        </p:nvGrpSpPr>
        <p:grpSpPr>
          <a:xfrm>
            <a:off x="972000" y="1421130"/>
            <a:ext cx="9103174" cy="3032760"/>
            <a:chOff x="972000" y="1421130"/>
            <a:chExt cx="9103174" cy="3032760"/>
          </a:xfrm>
        </p:grpSpPr>
        <p:cxnSp>
          <p:nvCxnSpPr>
            <p:cNvPr id="49" name="Nullinie 16">
              <a:extLst>
                <a:ext uri="{FF2B5EF4-FFF2-40B4-BE49-F238E27FC236}">
                  <a16:creationId xmlns:a16="http://schemas.microsoft.com/office/drawing/2014/main" id="{8F67D14F-6C53-9437-B551-4EB262A4D25A}"/>
                </a:ext>
              </a:extLst>
            </p:cNvPr>
            <p:cNvCxnSpPr>
              <a:cxnSpLocks noGrp="1" noRot="1" noMove="1" noResize="1" noEditPoints="1" noAdjustHandles="1" noChangeArrowheads="1" noChangeShapeType="1"/>
            </p:cNvCxnSpPr>
            <p:nvPr/>
          </p:nvCxnSpPr>
          <p:spPr>
            <a:xfrm>
              <a:off x="9556774" y="444627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8" name="Nullinie 15">
              <a:extLst>
                <a:ext uri="{FF2B5EF4-FFF2-40B4-BE49-F238E27FC236}">
                  <a16:creationId xmlns:a16="http://schemas.microsoft.com/office/drawing/2014/main" id="{FF14AC61-0F63-3282-770D-F622B63FA1E3}"/>
                </a:ext>
              </a:extLst>
            </p:cNvPr>
            <p:cNvCxnSpPr>
              <a:cxnSpLocks noGrp="1" noRot="1" noMove="1" noResize="1" noEditPoints="1" noAdjustHandles="1" noChangeArrowheads="1" noChangeShapeType="1"/>
            </p:cNvCxnSpPr>
            <p:nvPr/>
          </p:nvCxnSpPr>
          <p:spPr>
            <a:xfrm>
              <a:off x="8982014" y="142113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7" name="Nullinie 14">
              <a:extLst>
                <a:ext uri="{FF2B5EF4-FFF2-40B4-BE49-F238E27FC236}">
                  <a16:creationId xmlns:a16="http://schemas.microsoft.com/office/drawing/2014/main" id="{F65EBEB5-C37E-4138-D4F9-24FD628AE730}"/>
                </a:ext>
              </a:extLst>
            </p:cNvPr>
            <p:cNvCxnSpPr>
              <a:cxnSpLocks noGrp="1" noRot="1" noMove="1" noResize="1" noEditPoints="1" noAdjustHandles="1" noChangeArrowheads="1" noChangeShapeType="1"/>
            </p:cNvCxnSpPr>
            <p:nvPr/>
          </p:nvCxnSpPr>
          <p:spPr>
            <a:xfrm>
              <a:off x="8410511" y="294005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6" name="Nullinie 13">
              <a:extLst>
                <a:ext uri="{FF2B5EF4-FFF2-40B4-BE49-F238E27FC236}">
                  <a16:creationId xmlns:a16="http://schemas.microsoft.com/office/drawing/2014/main" id="{626FC758-2D6B-8DA9-0852-1828E2969F87}"/>
                </a:ext>
              </a:extLst>
            </p:cNvPr>
            <p:cNvCxnSpPr>
              <a:cxnSpLocks noGrp="1" noRot="1" noMove="1" noResize="1" noEditPoints="1" noAdjustHandles="1" noChangeArrowheads="1" noChangeShapeType="1"/>
            </p:cNvCxnSpPr>
            <p:nvPr/>
          </p:nvCxnSpPr>
          <p:spPr>
            <a:xfrm>
              <a:off x="7840592" y="393954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5" name="Nullinie 12">
              <a:extLst>
                <a:ext uri="{FF2B5EF4-FFF2-40B4-BE49-F238E27FC236}">
                  <a16:creationId xmlns:a16="http://schemas.microsoft.com/office/drawing/2014/main" id="{C0945B44-CEDA-E8DA-26A0-4879B82C65F4}"/>
                </a:ext>
              </a:extLst>
            </p:cNvPr>
            <p:cNvCxnSpPr>
              <a:cxnSpLocks noGrp="1" noRot="1" noMove="1" noResize="1" noEditPoints="1" noAdjustHandles="1" noChangeArrowheads="1" noChangeShapeType="1"/>
            </p:cNvCxnSpPr>
            <p:nvPr/>
          </p:nvCxnSpPr>
          <p:spPr>
            <a:xfrm>
              <a:off x="7267222" y="444627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4" name="Nullinie 11">
              <a:extLst>
                <a:ext uri="{FF2B5EF4-FFF2-40B4-BE49-F238E27FC236}">
                  <a16:creationId xmlns:a16="http://schemas.microsoft.com/office/drawing/2014/main" id="{518D0AA8-C1B8-4E5E-2BA0-F944050BC293}"/>
                </a:ext>
              </a:extLst>
            </p:cNvPr>
            <p:cNvCxnSpPr>
              <a:cxnSpLocks noGrp="1" noRot="1" noMove="1" noResize="1" noEditPoints="1" noAdjustHandles="1" noChangeArrowheads="1" noChangeShapeType="1"/>
            </p:cNvCxnSpPr>
            <p:nvPr/>
          </p:nvCxnSpPr>
          <p:spPr>
            <a:xfrm>
              <a:off x="6692556" y="192913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3" name="Nullinie 10">
              <a:extLst>
                <a:ext uri="{FF2B5EF4-FFF2-40B4-BE49-F238E27FC236}">
                  <a16:creationId xmlns:a16="http://schemas.microsoft.com/office/drawing/2014/main" id="{C350C785-D3DE-2792-32D6-60BA272BC19A}"/>
                </a:ext>
              </a:extLst>
            </p:cNvPr>
            <p:cNvCxnSpPr>
              <a:cxnSpLocks noGrp="1" noRot="1" noMove="1" noResize="1" noEditPoints="1" noAdjustHandles="1" noChangeArrowheads="1" noChangeShapeType="1"/>
            </p:cNvCxnSpPr>
            <p:nvPr/>
          </p:nvCxnSpPr>
          <p:spPr>
            <a:xfrm>
              <a:off x="6121046" y="444627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2" name="Nullinie 9">
              <a:extLst>
                <a:ext uri="{FF2B5EF4-FFF2-40B4-BE49-F238E27FC236}">
                  <a16:creationId xmlns:a16="http://schemas.microsoft.com/office/drawing/2014/main" id="{6622518C-27A2-91DC-64BB-EC267318A362}"/>
                </a:ext>
              </a:extLst>
            </p:cNvPr>
            <p:cNvCxnSpPr>
              <a:cxnSpLocks noGrp="1" noRot="1" noMove="1" noResize="1" noEditPoints="1" noAdjustHandles="1" noChangeArrowheads="1" noChangeShapeType="1"/>
            </p:cNvCxnSpPr>
            <p:nvPr/>
          </p:nvCxnSpPr>
          <p:spPr>
            <a:xfrm>
              <a:off x="5547958" y="444754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1" name="Nullinie 8">
              <a:extLst>
                <a:ext uri="{FF2B5EF4-FFF2-40B4-BE49-F238E27FC236}">
                  <a16:creationId xmlns:a16="http://schemas.microsoft.com/office/drawing/2014/main" id="{5043C605-B90A-719E-056E-01C1A341C4F0}"/>
                </a:ext>
              </a:extLst>
            </p:cNvPr>
            <p:cNvCxnSpPr>
              <a:cxnSpLocks noGrp="1" noRot="1" noMove="1" noResize="1" noEditPoints="1" noAdjustHandles="1" noChangeArrowheads="1" noChangeShapeType="1"/>
            </p:cNvCxnSpPr>
            <p:nvPr/>
          </p:nvCxnSpPr>
          <p:spPr>
            <a:xfrm>
              <a:off x="4976456" y="243205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0" name="Nullinie 7">
              <a:extLst>
                <a:ext uri="{FF2B5EF4-FFF2-40B4-BE49-F238E27FC236}">
                  <a16:creationId xmlns:a16="http://schemas.microsoft.com/office/drawing/2014/main" id="{B414B8A5-3064-5BB2-1CA0-E5AB45307721}"/>
                </a:ext>
              </a:extLst>
            </p:cNvPr>
            <p:cNvCxnSpPr>
              <a:cxnSpLocks noGrp="1" noRot="1" noMove="1" noResize="1" noEditPoints="1" noAdjustHandles="1" noChangeArrowheads="1" noChangeShapeType="1"/>
            </p:cNvCxnSpPr>
            <p:nvPr/>
          </p:nvCxnSpPr>
          <p:spPr>
            <a:xfrm>
              <a:off x="4404959" y="393954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9" name="Nullinie 6">
              <a:extLst>
                <a:ext uri="{FF2B5EF4-FFF2-40B4-BE49-F238E27FC236}">
                  <a16:creationId xmlns:a16="http://schemas.microsoft.com/office/drawing/2014/main" id="{15A3128C-D8CB-F377-BC63-BED33588F615}"/>
                </a:ext>
              </a:extLst>
            </p:cNvPr>
            <p:cNvCxnSpPr>
              <a:cxnSpLocks noGrp="1" noRot="1" noMove="1" noResize="1" noEditPoints="1" noAdjustHandles="1" noChangeArrowheads="1" noChangeShapeType="1"/>
            </p:cNvCxnSpPr>
            <p:nvPr/>
          </p:nvCxnSpPr>
          <p:spPr>
            <a:xfrm>
              <a:off x="3831874" y="394081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8" name="Nullinie 5">
              <a:extLst>
                <a:ext uri="{FF2B5EF4-FFF2-40B4-BE49-F238E27FC236}">
                  <a16:creationId xmlns:a16="http://schemas.microsoft.com/office/drawing/2014/main" id="{434A6A62-772B-A392-B172-0C6750D282AE}"/>
                </a:ext>
              </a:extLst>
            </p:cNvPr>
            <p:cNvCxnSpPr>
              <a:cxnSpLocks noGrp="1" noRot="1" noMove="1" noResize="1" noEditPoints="1" noAdjustHandles="1" noChangeArrowheads="1" noChangeShapeType="1"/>
            </p:cNvCxnSpPr>
            <p:nvPr/>
          </p:nvCxnSpPr>
          <p:spPr>
            <a:xfrm>
              <a:off x="3257197" y="444754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7" name="Nullinie 4">
              <a:extLst>
                <a:ext uri="{FF2B5EF4-FFF2-40B4-BE49-F238E27FC236}">
                  <a16:creationId xmlns:a16="http://schemas.microsoft.com/office/drawing/2014/main" id="{DD5E69FD-E780-2980-717E-C112E6B62B39}"/>
                </a:ext>
              </a:extLst>
            </p:cNvPr>
            <p:cNvCxnSpPr>
              <a:cxnSpLocks noGrp="1" noRot="1" noMove="1" noResize="1" noEditPoints="1" noAdjustHandles="1" noChangeArrowheads="1" noChangeShapeType="1"/>
            </p:cNvCxnSpPr>
            <p:nvPr/>
          </p:nvCxnSpPr>
          <p:spPr>
            <a:xfrm>
              <a:off x="2688866" y="343789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6" name="Nullinie 3">
              <a:extLst>
                <a:ext uri="{FF2B5EF4-FFF2-40B4-BE49-F238E27FC236}">
                  <a16:creationId xmlns:a16="http://schemas.microsoft.com/office/drawing/2014/main" id="{8329E460-B4C0-93FD-C399-926AE777ADBF}"/>
                </a:ext>
              </a:extLst>
            </p:cNvPr>
            <p:cNvCxnSpPr>
              <a:cxnSpLocks noGrp="1" noRot="1" noMove="1" noResize="1" noEditPoints="1" noAdjustHandles="1" noChangeArrowheads="1" noChangeShapeType="1"/>
            </p:cNvCxnSpPr>
            <p:nvPr/>
          </p:nvCxnSpPr>
          <p:spPr>
            <a:xfrm>
              <a:off x="2114550" y="394081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5" name="Nullinie 2">
              <a:extLst>
                <a:ext uri="{FF2B5EF4-FFF2-40B4-BE49-F238E27FC236}">
                  <a16:creationId xmlns:a16="http://schemas.microsoft.com/office/drawing/2014/main" id="{085CDDEF-E934-8A49-77B4-89F0E93845DF}"/>
                </a:ext>
              </a:extLst>
            </p:cNvPr>
            <p:cNvCxnSpPr>
              <a:cxnSpLocks noGrp="1" noRot="1" noMove="1" noResize="1" noEditPoints="1" noAdjustHandles="1" noChangeArrowheads="1" noChangeShapeType="1"/>
            </p:cNvCxnSpPr>
            <p:nvPr/>
          </p:nvCxnSpPr>
          <p:spPr>
            <a:xfrm>
              <a:off x="1544637" y="445389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2" name="Nullinie 1">
              <a:extLst>
                <a:ext uri="{FF2B5EF4-FFF2-40B4-BE49-F238E27FC236}">
                  <a16:creationId xmlns:a16="http://schemas.microsoft.com/office/drawing/2014/main" id="{AE5ADA14-80F3-87ED-2D05-43F0B4D60158}"/>
                </a:ext>
              </a:extLst>
            </p:cNvPr>
            <p:cNvCxnSpPr>
              <a:cxnSpLocks noGrp="1" noRot="1" noMove="1" noResize="1" noEditPoints="1" noAdjustHandles="1" noChangeArrowheads="1" noChangeShapeType="1"/>
            </p:cNvCxnSpPr>
            <p:nvPr/>
          </p:nvCxnSpPr>
          <p:spPr>
            <a:xfrm>
              <a:off x="972000" y="243205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grpSp>
      <p:graphicFrame>
        <p:nvGraphicFramePr>
          <p:cNvPr id="5" name="Tabelle">
            <a:extLst>
              <a:ext uri="{FF2B5EF4-FFF2-40B4-BE49-F238E27FC236}">
                <a16:creationId xmlns:a16="http://schemas.microsoft.com/office/drawing/2014/main" id="{EC80708B-0902-3AEC-CC9D-5DD4BA0EF575}"/>
              </a:ext>
            </a:extLst>
          </p:cNvPr>
          <p:cNvGraphicFramePr>
            <a:graphicFrameLocks noGrp="1"/>
          </p:cNvGraphicFramePr>
          <p:nvPr>
            <p:ph idx="1"/>
          </p:nvPr>
        </p:nvGraphicFramePr>
        <p:xfrm>
          <a:off x="358774" y="1041400"/>
          <a:ext cx="9716400" cy="3834000"/>
        </p:xfrm>
        <a:graphic>
          <a:graphicData uri="http://schemas.openxmlformats.org/drawingml/2006/table">
            <a:tbl>
              <a:tblPr firstRow="1" bandRow="1">
                <a:tableStyleId>{2D5ABB26-0587-4C30-8999-92F81FD0307C}</a:tableStyleId>
              </a:tblPr>
              <a:tblGrid>
                <a:gridCol w="612000">
                  <a:extLst>
                    <a:ext uri="{9D8B030D-6E8A-4147-A177-3AD203B41FA5}">
                      <a16:colId xmlns:a16="http://schemas.microsoft.com/office/drawing/2014/main" val="389672770"/>
                    </a:ext>
                  </a:extLst>
                </a:gridCol>
                <a:gridCol w="518400">
                  <a:extLst>
                    <a:ext uri="{9D8B030D-6E8A-4147-A177-3AD203B41FA5}">
                      <a16:colId xmlns:a16="http://schemas.microsoft.com/office/drawing/2014/main" val="3761890794"/>
                    </a:ext>
                  </a:extLst>
                </a:gridCol>
                <a:gridCol w="54000">
                  <a:extLst>
                    <a:ext uri="{9D8B030D-6E8A-4147-A177-3AD203B41FA5}">
                      <a16:colId xmlns:a16="http://schemas.microsoft.com/office/drawing/2014/main" val="1578058522"/>
                    </a:ext>
                  </a:extLst>
                </a:gridCol>
                <a:gridCol w="518400">
                  <a:extLst>
                    <a:ext uri="{9D8B030D-6E8A-4147-A177-3AD203B41FA5}">
                      <a16:colId xmlns:a16="http://schemas.microsoft.com/office/drawing/2014/main" val="3720253127"/>
                    </a:ext>
                  </a:extLst>
                </a:gridCol>
                <a:gridCol w="54000">
                  <a:extLst>
                    <a:ext uri="{9D8B030D-6E8A-4147-A177-3AD203B41FA5}">
                      <a16:colId xmlns:a16="http://schemas.microsoft.com/office/drawing/2014/main" val="3535412410"/>
                    </a:ext>
                  </a:extLst>
                </a:gridCol>
                <a:gridCol w="518400">
                  <a:extLst>
                    <a:ext uri="{9D8B030D-6E8A-4147-A177-3AD203B41FA5}">
                      <a16:colId xmlns:a16="http://schemas.microsoft.com/office/drawing/2014/main" val="1618179102"/>
                    </a:ext>
                  </a:extLst>
                </a:gridCol>
                <a:gridCol w="54000">
                  <a:extLst>
                    <a:ext uri="{9D8B030D-6E8A-4147-A177-3AD203B41FA5}">
                      <a16:colId xmlns:a16="http://schemas.microsoft.com/office/drawing/2014/main" val="2072559993"/>
                    </a:ext>
                  </a:extLst>
                </a:gridCol>
                <a:gridCol w="518400">
                  <a:extLst>
                    <a:ext uri="{9D8B030D-6E8A-4147-A177-3AD203B41FA5}">
                      <a16:colId xmlns:a16="http://schemas.microsoft.com/office/drawing/2014/main" val="2131862848"/>
                    </a:ext>
                  </a:extLst>
                </a:gridCol>
                <a:gridCol w="54000">
                  <a:extLst>
                    <a:ext uri="{9D8B030D-6E8A-4147-A177-3AD203B41FA5}">
                      <a16:colId xmlns:a16="http://schemas.microsoft.com/office/drawing/2014/main" val="1048734056"/>
                    </a:ext>
                  </a:extLst>
                </a:gridCol>
                <a:gridCol w="518400">
                  <a:extLst>
                    <a:ext uri="{9D8B030D-6E8A-4147-A177-3AD203B41FA5}">
                      <a16:colId xmlns:a16="http://schemas.microsoft.com/office/drawing/2014/main" val="1963245952"/>
                    </a:ext>
                  </a:extLst>
                </a:gridCol>
                <a:gridCol w="54000">
                  <a:extLst>
                    <a:ext uri="{9D8B030D-6E8A-4147-A177-3AD203B41FA5}">
                      <a16:colId xmlns:a16="http://schemas.microsoft.com/office/drawing/2014/main" val="1182318350"/>
                    </a:ext>
                  </a:extLst>
                </a:gridCol>
                <a:gridCol w="518400">
                  <a:extLst>
                    <a:ext uri="{9D8B030D-6E8A-4147-A177-3AD203B41FA5}">
                      <a16:colId xmlns:a16="http://schemas.microsoft.com/office/drawing/2014/main" val="3131425242"/>
                    </a:ext>
                  </a:extLst>
                </a:gridCol>
                <a:gridCol w="54000">
                  <a:extLst>
                    <a:ext uri="{9D8B030D-6E8A-4147-A177-3AD203B41FA5}">
                      <a16:colId xmlns:a16="http://schemas.microsoft.com/office/drawing/2014/main" val="1070082434"/>
                    </a:ext>
                  </a:extLst>
                </a:gridCol>
                <a:gridCol w="518400">
                  <a:extLst>
                    <a:ext uri="{9D8B030D-6E8A-4147-A177-3AD203B41FA5}">
                      <a16:colId xmlns:a16="http://schemas.microsoft.com/office/drawing/2014/main" val="3332445667"/>
                    </a:ext>
                  </a:extLst>
                </a:gridCol>
                <a:gridCol w="54000">
                  <a:extLst>
                    <a:ext uri="{9D8B030D-6E8A-4147-A177-3AD203B41FA5}">
                      <a16:colId xmlns:a16="http://schemas.microsoft.com/office/drawing/2014/main" val="487974343"/>
                    </a:ext>
                  </a:extLst>
                </a:gridCol>
                <a:gridCol w="518400">
                  <a:extLst>
                    <a:ext uri="{9D8B030D-6E8A-4147-A177-3AD203B41FA5}">
                      <a16:colId xmlns:a16="http://schemas.microsoft.com/office/drawing/2014/main" val="3703664561"/>
                    </a:ext>
                  </a:extLst>
                </a:gridCol>
                <a:gridCol w="54000">
                  <a:extLst>
                    <a:ext uri="{9D8B030D-6E8A-4147-A177-3AD203B41FA5}">
                      <a16:colId xmlns:a16="http://schemas.microsoft.com/office/drawing/2014/main" val="1480291182"/>
                    </a:ext>
                  </a:extLst>
                </a:gridCol>
                <a:gridCol w="518400">
                  <a:extLst>
                    <a:ext uri="{9D8B030D-6E8A-4147-A177-3AD203B41FA5}">
                      <a16:colId xmlns:a16="http://schemas.microsoft.com/office/drawing/2014/main" val="1581267040"/>
                    </a:ext>
                  </a:extLst>
                </a:gridCol>
                <a:gridCol w="54000">
                  <a:extLst>
                    <a:ext uri="{9D8B030D-6E8A-4147-A177-3AD203B41FA5}">
                      <a16:colId xmlns:a16="http://schemas.microsoft.com/office/drawing/2014/main" val="1644085341"/>
                    </a:ext>
                  </a:extLst>
                </a:gridCol>
                <a:gridCol w="518400">
                  <a:extLst>
                    <a:ext uri="{9D8B030D-6E8A-4147-A177-3AD203B41FA5}">
                      <a16:colId xmlns:a16="http://schemas.microsoft.com/office/drawing/2014/main" val="2844026285"/>
                    </a:ext>
                  </a:extLst>
                </a:gridCol>
                <a:gridCol w="54000">
                  <a:extLst>
                    <a:ext uri="{9D8B030D-6E8A-4147-A177-3AD203B41FA5}">
                      <a16:colId xmlns:a16="http://schemas.microsoft.com/office/drawing/2014/main" val="299076281"/>
                    </a:ext>
                  </a:extLst>
                </a:gridCol>
                <a:gridCol w="518400">
                  <a:extLst>
                    <a:ext uri="{9D8B030D-6E8A-4147-A177-3AD203B41FA5}">
                      <a16:colId xmlns:a16="http://schemas.microsoft.com/office/drawing/2014/main" val="489851299"/>
                    </a:ext>
                  </a:extLst>
                </a:gridCol>
                <a:gridCol w="54000">
                  <a:extLst>
                    <a:ext uri="{9D8B030D-6E8A-4147-A177-3AD203B41FA5}">
                      <a16:colId xmlns:a16="http://schemas.microsoft.com/office/drawing/2014/main" val="557852540"/>
                    </a:ext>
                  </a:extLst>
                </a:gridCol>
                <a:gridCol w="518400">
                  <a:extLst>
                    <a:ext uri="{9D8B030D-6E8A-4147-A177-3AD203B41FA5}">
                      <a16:colId xmlns:a16="http://schemas.microsoft.com/office/drawing/2014/main" val="324488919"/>
                    </a:ext>
                  </a:extLst>
                </a:gridCol>
                <a:gridCol w="54000">
                  <a:extLst>
                    <a:ext uri="{9D8B030D-6E8A-4147-A177-3AD203B41FA5}">
                      <a16:colId xmlns:a16="http://schemas.microsoft.com/office/drawing/2014/main" val="3250087394"/>
                    </a:ext>
                  </a:extLst>
                </a:gridCol>
                <a:gridCol w="518400">
                  <a:extLst>
                    <a:ext uri="{9D8B030D-6E8A-4147-A177-3AD203B41FA5}">
                      <a16:colId xmlns:a16="http://schemas.microsoft.com/office/drawing/2014/main" val="3968153167"/>
                    </a:ext>
                  </a:extLst>
                </a:gridCol>
                <a:gridCol w="54000">
                  <a:extLst>
                    <a:ext uri="{9D8B030D-6E8A-4147-A177-3AD203B41FA5}">
                      <a16:colId xmlns:a16="http://schemas.microsoft.com/office/drawing/2014/main" val="3640183562"/>
                    </a:ext>
                  </a:extLst>
                </a:gridCol>
                <a:gridCol w="518400">
                  <a:extLst>
                    <a:ext uri="{9D8B030D-6E8A-4147-A177-3AD203B41FA5}">
                      <a16:colId xmlns:a16="http://schemas.microsoft.com/office/drawing/2014/main" val="1539127349"/>
                    </a:ext>
                  </a:extLst>
                </a:gridCol>
                <a:gridCol w="54000">
                  <a:extLst>
                    <a:ext uri="{9D8B030D-6E8A-4147-A177-3AD203B41FA5}">
                      <a16:colId xmlns:a16="http://schemas.microsoft.com/office/drawing/2014/main" val="5767588"/>
                    </a:ext>
                  </a:extLst>
                </a:gridCol>
                <a:gridCol w="518400">
                  <a:extLst>
                    <a:ext uri="{9D8B030D-6E8A-4147-A177-3AD203B41FA5}">
                      <a16:colId xmlns:a16="http://schemas.microsoft.com/office/drawing/2014/main" val="1662239719"/>
                    </a:ext>
                  </a:extLst>
                </a:gridCol>
                <a:gridCol w="54000">
                  <a:extLst>
                    <a:ext uri="{9D8B030D-6E8A-4147-A177-3AD203B41FA5}">
                      <a16:colId xmlns:a16="http://schemas.microsoft.com/office/drawing/2014/main" val="874840740"/>
                    </a:ext>
                  </a:extLst>
                </a:gridCol>
                <a:gridCol w="518400">
                  <a:extLst>
                    <a:ext uri="{9D8B030D-6E8A-4147-A177-3AD203B41FA5}">
                      <a16:colId xmlns:a16="http://schemas.microsoft.com/office/drawing/2014/main" val="3536172128"/>
                    </a:ext>
                  </a:extLst>
                </a:gridCol>
              </a:tblGrid>
              <a:tr h="360000">
                <a:tc>
                  <a:txBody>
                    <a:bodyPr/>
                    <a:lstStyle/>
                    <a:p>
                      <a:pPr algn="ctr">
                        <a:lnSpc>
                          <a:spcPts val="1300"/>
                        </a:lnSpc>
                      </a:pPr>
                      <a:r>
                        <a:rPr lang="de-DE" sz="900" b="1" dirty="0">
                          <a:solidFill>
                            <a:schemeClr val="bg1"/>
                          </a:solidFill>
                          <a:sym typeface="Symbol" panose="05050102010706020507" pitchFamily="18" charset="2"/>
                        </a:rPr>
                        <a:t></a:t>
                      </a: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r>
                        <a:rPr lang="de-DE" sz="900" b="1" dirty="0">
                          <a:solidFill>
                            <a:schemeClr val="bg1"/>
                          </a:solidFill>
                        </a:rPr>
                        <a:t>9,62 %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-1,73 %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12,29 %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8,42 %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6,00 %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-0,81 %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5,41 %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10,93 %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-5,55 %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18,05 %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10,27 %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9,90 %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-14,28 %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15,02 %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13,77 %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20,65 %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504883458"/>
                  </a:ext>
                </a:extLst>
              </a:tr>
              <a:tr h="54000">
                <a:tc>
                  <a:txBody>
                    <a:bodyPr/>
                    <a:lstStyle/>
                    <a:p>
                      <a:pPr algn="l">
                        <a:lnSpc>
                          <a:spcPts val="0"/>
                        </a:lnSpc>
                      </a:pPr>
                      <a:endParaRPr lang="de-DE" sz="100" b="1"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1"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91269406"/>
                  </a:ext>
                </a:extLst>
              </a:tr>
              <a:tr h="450000">
                <a:tc>
                  <a:txBody>
                    <a:bodyPr/>
                    <a:lstStyle/>
                    <a:p>
                      <a:pPr algn="l">
                        <a:lnSpc>
                          <a:spcPts val="1300"/>
                        </a:lnSpc>
                      </a:pPr>
                      <a:r>
                        <a:rPr lang="de-DE" sz="900" b="1" dirty="0"/>
                        <a:t>Rang 1</a:t>
                      </a:r>
                    </a:p>
                  </a:txBody>
                  <a:tcPr marL="72000" marR="72000" marT="108000" marB="10800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29,57 %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t>10,10 %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15,53 %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29,60 %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13,05 %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7,97 %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9,54 %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20,11 %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0,99 %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28,88 %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25,12 %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26,89 %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-0,28 %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24,23 %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27,22 %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64,58 %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extLst>
                  <a:ext uri="{0D108BD9-81ED-4DB2-BD59-A6C34878D82A}">
                    <a16:rowId xmlns:a16="http://schemas.microsoft.com/office/drawing/2014/main" val="748731864"/>
                  </a:ext>
                </a:extLst>
              </a:tr>
              <a:tr h="54000">
                <a:tc>
                  <a:txBody>
                    <a:bodyPr/>
                    <a:lstStyle/>
                    <a:p>
                      <a:pPr algn="l">
                        <a:lnSpc>
                          <a:spcPts val="0"/>
                        </a:lnSpc>
                      </a:pPr>
                      <a:endParaRPr lang="de-DE" sz="1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68072511"/>
                  </a:ext>
                </a:extLst>
              </a:tr>
              <a:tr h="450000">
                <a:tc>
                  <a:txBody>
                    <a:bodyPr/>
                    <a:lstStyle/>
                    <a:p>
                      <a:pPr>
                        <a:lnSpc>
                          <a:spcPts val="1300"/>
                        </a:lnSpc>
                      </a:pPr>
                      <a:r>
                        <a:rPr lang="de-DE" sz="900" b="1" dirty="0"/>
                        <a:t>Rang2</a:t>
                      </a:r>
                    </a:p>
                  </a:txBody>
                  <a:tcPr marL="72000" marR="72000" marT="108000" marB="10800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12,78 %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t>3,37 %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13,59 %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24,10 %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11,39 %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1,64 %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8,14 %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19,42 %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-1,25 %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25,19 %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16,26 %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20,44 %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-13,65 %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21,77 %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23,31 %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19,80 %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3985023547"/>
                  </a:ext>
                </a:extLst>
              </a:tr>
              <a:tr h="54000">
                <a:tc>
                  <a:txBody>
                    <a:bodyPr/>
                    <a:lstStyle/>
                    <a:p>
                      <a:pPr>
                        <a:lnSpc>
                          <a:spcPts val="0"/>
                        </a:lnSpc>
                      </a:pPr>
                      <a:endParaRPr lang="de-DE" sz="1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76782605"/>
                  </a:ext>
                </a:extLst>
              </a:tr>
              <a:tr h="450000">
                <a:tc>
                  <a:txBody>
                    <a:bodyPr/>
                    <a:lstStyle/>
                    <a:p>
                      <a:pPr>
                        <a:lnSpc>
                          <a:spcPts val="1300"/>
                        </a:lnSpc>
                      </a:pPr>
                      <a:r>
                        <a:rPr lang="de-DE" sz="900" b="1" dirty="0"/>
                        <a:t>Rang 3</a:t>
                      </a:r>
                    </a:p>
                  </a:txBody>
                  <a:tcPr marL="72000" marR="72000" marT="108000" marB="10800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9,55 %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1,49 %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13,40 %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20,50 %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8,40 %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-0,56 %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5,32 %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13,53 %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-1,56 %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22,97 %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14,06 %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20,14 %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-14,38 %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15,65 %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17,00 %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19,49 %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1788615533"/>
                  </a:ext>
                </a:extLst>
              </a:tr>
              <a:tr h="54000">
                <a:tc>
                  <a:txBody>
                    <a:bodyPr/>
                    <a:lstStyle/>
                    <a:p>
                      <a:pPr>
                        <a:lnSpc>
                          <a:spcPts val="0"/>
                        </a:lnSpc>
                      </a:pPr>
                      <a:endParaRPr lang="de-DE" sz="1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9192032"/>
                  </a:ext>
                </a:extLst>
              </a:tr>
              <a:tr h="450000">
                <a:tc>
                  <a:txBody>
                    <a:bodyPr/>
                    <a:lstStyle/>
                    <a:p>
                      <a:pPr>
                        <a:lnSpc>
                          <a:spcPts val="1300"/>
                        </a:lnSpc>
                      </a:pPr>
                      <a:r>
                        <a:rPr lang="de-DE" sz="900" b="1" dirty="0"/>
                        <a:t>Rang 4</a:t>
                      </a:r>
                    </a:p>
                  </a:txBody>
                  <a:tcPr marL="72000" marR="72000" marT="108000" marB="10800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4,75 %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0,00 %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13,18 %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2,37 %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2,93 %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-0,73 %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4,73 %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10,06 %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-6,24 %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18,31 %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5,01 %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-0,97 %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-18,44 %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13,10 %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8,78 %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16,39 %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extLst>
                  <a:ext uri="{0D108BD9-81ED-4DB2-BD59-A6C34878D82A}">
                    <a16:rowId xmlns:a16="http://schemas.microsoft.com/office/drawing/2014/main" val="3180682499"/>
                  </a:ext>
                </a:extLst>
              </a:tr>
              <a:tr h="54000">
                <a:tc>
                  <a:txBody>
                    <a:bodyPr/>
                    <a:lstStyle/>
                    <a:p>
                      <a:pPr>
                        <a:lnSpc>
                          <a:spcPts val="0"/>
                        </a:lnSpc>
                      </a:pPr>
                      <a:endParaRPr lang="de-DE" sz="1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solidFill>
                          <a:schemeClr val="bg1"/>
                        </a:solidFill>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54546438"/>
                  </a:ext>
                </a:extLst>
              </a:tr>
              <a:tr h="450000">
                <a:tc>
                  <a:txBody>
                    <a:bodyPr/>
                    <a:lstStyle/>
                    <a:p>
                      <a:pPr>
                        <a:lnSpc>
                          <a:spcPts val="1300"/>
                        </a:lnSpc>
                      </a:pPr>
                      <a:r>
                        <a:rPr lang="de-DE" sz="900" b="1" dirty="0"/>
                        <a:t>Rang 5</a:t>
                      </a:r>
                    </a:p>
                  </a:txBody>
                  <a:tcPr marL="72000" marR="72000" marT="108000" marB="10800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1,16 %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-7,61 %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t>10,99 %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2,21 %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1,71 %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-2,74 %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3,27 %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2,41 %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lnSpc>
                          <a:spcPts val="13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-10,44 %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6,72 %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2,77 %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-3,45 %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-19,44 %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8,19 %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4,56 %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3,02 %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extLst>
                  <a:ext uri="{0D108BD9-81ED-4DB2-BD59-A6C34878D82A}">
                    <a16:rowId xmlns:a16="http://schemas.microsoft.com/office/drawing/2014/main" val="1546940508"/>
                  </a:ext>
                </a:extLst>
              </a:tr>
              <a:tr h="54000">
                <a:tc>
                  <a:txBody>
                    <a:bodyPr/>
                    <a:lstStyle/>
                    <a:p>
                      <a:pPr>
                        <a:lnSpc>
                          <a:spcPts val="0"/>
                        </a:lnSpc>
                      </a:pPr>
                      <a:endParaRPr lang="de-DE" sz="1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solidFill>
                          <a:schemeClr val="bg1"/>
                        </a:solidFill>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834935509"/>
                  </a:ext>
                </a:extLst>
              </a:tr>
              <a:tr h="450000">
                <a:tc>
                  <a:txBody>
                    <a:bodyPr/>
                    <a:lstStyle/>
                    <a:p>
                      <a:pPr>
                        <a:lnSpc>
                          <a:spcPts val="1300"/>
                        </a:lnSpc>
                      </a:pPr>
                      <a:r>
                        <a:rPr lang="de-DE" sz="900" b="1" dirty="0"/>
                        <a:t>Rang 6</a:t>
                      </a:r>
                    </a:p>
                  </a:txBody>
                  <a:tcPr marL="72000" marR="72000" marT="108000" marB="10800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-0,11 %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-17,73 %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7,06 %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-28,28 %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t>-1,44 %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t>-10,41 %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1,48 %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0,07 %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algn="ctr">
                        <a:lnSpc>
                          <a:spcPts val="13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-14,79 %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6,24 %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-1,58 %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-3,64 %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-19,46 %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7,15 %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1,76 %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0,64 %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extLst>
                  <a:ext uri="{0D108BD9-81ED-4DB2-BD59-A6C34878D82A}">
                    <a16:rowId xmlns:a16="http://schemas.microsoft.com/office/drawing/2014/main" val="1453224324"/>
                  </a:ext>
                </a:extLst>
              </a:tr>
              <a:tr h="54000">
                <a:tc>
                  <a:txBody>
                    <a:bodyPr/>
                    <a:lstStyle/>
                    <a:p>
                      <a:pPr>
                        <a:lnSpc>
                          <a:spcPts val="0"/>
                        </a:lnSpc>
                      </a:pPr>
                      <a:endParaRPr lang="de-DE" sz="1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57802187"/>
                  </a:ext>
                </a:extLst>
              </a:tr>
              <a:tr h="396000">
                <a:tc>
                  <a:txBody>
                    <a:bodyPr/>
                    <a:lstStyle/>
                    <a:p>
                      <a:pPr>
                        <a:lnSpc>
                          <a:spcPts val="1300"/>
                        </a:lnSpc>
                      </a:pPr>
                      <a:endParaRPr lang="de-DE" sz="900" b="1" dirty="0"/>
                    </a:p>
                  </a:txBody>
                  <a:tcPr marL="72000" marR="7200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2010</a:t>
                      </a:r>
                    </a:p>
                  </a:txBody>
                  <a:tcPr marL="72000" marR="7200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0" marB="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1" dirty="0"/>
                        <a:t>2011</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1" dirty="0"/>
                        <a:t>2012</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1" dirty="0"/>
                        <a:t>2013</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1" dirty="0"/>
                        <a:t>2014</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1" dirty="0"/>
                        <a:t>2015</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2016</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2017</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2018</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2019</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2020</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2021</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2022</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2023</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2024</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2025</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246866869"/>
                  </a:ext>
                </a:extLst>
              </a:tr>
            </a:tbl>
          </a:graphicData>
        </a:graphic>
      </p:graphicFrame>
      <p:sp>
        <p:nvSpPr>
          <p:cNvPr id="2" name="Titel">
            <a:extLst>
              <a:ext uri="{FF2B5EF4-FFF2-40B4-BE49-F238E27FC236}">
                <a16:creationId xmlns:a16="http://schemas.microsoft.com/office/drawing/2014/main" id="{F401EBA1-E5FC-9FBC-793D-EB26966EC660}"/>
              </a:ext>
            </a:extLst>
          </p:cNvPr>
          <p:cNvSpPr>
            <a:spLocks noGrp="1" noRot="1" noMove="1" noResize="1" noEditPoints="1" noAdjustHandles="1" noChangeArrowheads="1" noChangeShapeType="1"/>
          </p:cNvSpPr>
          <p:nvPr>
            <p:ph type="title"/>
          </p:nvPr>
        </p:nvSpPr>
        <p:spPr/>
        <p:txBody>
          <a:bodyPr/>
          <a:lstStyle/>
          <a:p>
            <a:r>
              <a:rPr lang="de-DE" dirty="0"/>
              <a:t>Aktien – die guten Jahre überwiegen</a:t>
            </a:r>
          </a:p>
        </p:txBody>
      </p:sp>
    </p:spTree>
    <p:extLst>
      <p:ext uri="{BB962C8B-B14F-4D97-AF65-F5344CB8AC3E}">
        <p14:creationId xmlns:p14="http://schemas.microsoft.com/office/powerpoint/2010/main" val="11666587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057D79A9-CEF6-77B2-72D1-38E49A66DC90}"/>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5</a:t>
            </a:fld>
            <a:endParaRPr lang="de-DE"/>
          </a:p>
        </p:txBody>
      </p:sp>
      <p:grpSp>
        <p:nvGrpSpPr>
          <p:cNvPr id="35" name="Linien">
            <a:extLst>
              <a:ext uri="{FF2B5EF4-FFF2-40B4-BE49-F238E27FC236}">
                <a16:creationId xmlns:a16="http://schemas.microsoft.com/office/drawing/2014/main" id="{E5077B21-77FC-B36C-3C4D-1CD0D946A918}"/>
              </a:ext>
            </a:extLst>
          </p:cNvPr>
          <p:cNvGrpSpPr>
            <a:grpSpLocks noGrp="1" noUngrp="1" noRot="1" noMove="1" noResize="1"/>
          </p:cNvGrpSpPr>
          <p:nvPr/>
        </p:nvGrpSpPr>
        <p:grpSpPr>
          <a:xfrm>
            <a:off x="358775" y="1041400"/>
            <a:ext cx="9756774" cy="4791075"/>
            <a:chOff x="358775" y="1041400"/>
            <a:chExt cx="9756774" cy="4791075"/>
          </a:xfrm>
        </p:grpSpPr>
        <p:cxnSp>
          <p:nvCxnSpPr>
            <p:cNvPr id="9" name="Linie unten">
              <a:extLst>
                <a:ext uri="{FF2B5EF4-FFF2-40B4-BE49-F238E27FC236}">
                  <a16:creationId xmlns:a16="http://schemas.microsoft.com/office/drawing/2014/main" id="{A2EAD724-C5DE-253C-132A-EB5AEBFD3154}"/>
                </a:ext>
              </a:extLst>
            </p:cNvPr>
            <p:cNvCxnSpPr>
              <a:cxnSpLocks noGrp="1" noRot="1" noMove="1" noResize="1" noEditPoints="1" noAdjustHandles="1" noChangeArrowheads="1" noChangeShapeType="1"/>
            </p:cNvCxnSpPr>
            <p:nvPr/>
          </p:nvCxnSpPr>
          <p:spPr>
            <a:xfrm>
              <a:off x="358775" y="5832475"/>
              <a:ext cx="9756774"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7" name="Linie oben">
              <a:extLst>
                <a:ext uri="{FF2B5EF4-FFF2-40B4-BE49-F238E27FC236}">
                  <a16:creationId xmlns:a16="http://schemas.microsoft.com/office/drawing/2014/main" id="{58FF9523-E5B4-B95F-1F9D-D22F83EB5F4C}"/>
                </a:ext>
              </a:extLst>
            </p:cNvPr>
            <p:cNvCxnSpPr>
              <a:cxnSpLocks noGrp="1" noRot="1" noMove="1" noResize="1" noEditPoints="1" noAdjustHandles="1" noChangeArrowheads="1" noChangeShapeType="1"/>
            </p:cNvCxnSpPr>
            <p:nvPr/>
          </p:nvCxnSpPr>
          <p:spPr>
            <a:xfrm>
              <a:off x="358775" y="1041400"/>
              <a:ext cx="9756774"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pic>
        <p:nvPicPr>
          <p:cNvPr id="6" name="Grafik" descr="Ein Bild, das Dunkelheit, Schwarz, Licht, Nacht enthält.&#10;&#10;Automatisch generierte Beschreibung">
            <a:extLst>
              <a:ext uri="{FF2B5EF4-FFF2-40B4-BE49-F238E27FC236}">
                <a16:creationId xmlns:a16="http://schemas.microsoft.com/office/drawing/2014/main" id="{0BF04AE7-D5B8-C006-FB05-02A77BDF1D6C}"/>
              </a:ext>
            </a:extLst>
          </p:cNvPr>
          <p:cNvPicPr>
            <a:picLocks noGrp="1" noRot="1" noChangeAspect="1" noMove="1" noResize="1" noEditPoints="1" noAdjustHandles="1" noChangeArrowheads="1" noChangeShapeType="1" noCrop="1"/>
          </p:cNvPicPr>
          <p:nvPr>
            <p:ph idx="1"/>
          </p:nvPr>
        </p:nvPicPr>
        <p:blipFill>
          <a:blip r:embed="rId2">
            <a:extLst>
              <a:ext uri="{28A0092B-C50C-407E-A947-70E740481C1C}">
                <a14:useLocalDpi xmlns:a14="http://schemas.microsoft.com/office/drawing/2010/main" val="0"/>
              </a:ext>
            </a:extLst>
          </a:blip>
          <a:stretch>
            <a:fillRect/>
          </a:stretch>
        </p:blipFill>
        <p:spPr>
          <a:xfrm>
            <a:off x="358775" y="1638213"/>
            <a:ext cx="9756775" cy="3895934"/>
          </a:xfrm>
        </p:spPr>
      </p:pic>
      <p:grpSp>
        <p:nvGrpSpPr>
          <p:cNvPr id="34" name="Texte">
            <a:extLst>
              <a:ext uri="{FF2B5EF4-FFF2-40B4-BE49-F238E27FC236}">
                <a16:creationId xmlns:a16="http://schemas.microsoft.com/office/drawing/2014/main" id="{928AAD08-3290-EEF6-84CA-44661228C5AB}"/>
              </a:ext>
            </a:extLst>
          </p:cNvPr>
          <p:cNvGrpSpPr>
            <a:grpSpLocks noGrp="1" noUngrp="1" noRot="1" noMove="1" noResize="1"/>
          </p:cNvGrpSpPr>
          <p:nvPr/>
        </p:nvGrpSpPr>
        <p:grpSpPr>
          <a:xfrm>
            <a:off x="358775" y="1205849"/>
            <a:ext cx="9369521" cy="4549284"/>
            <a:chOff x="358775" y="1205849"/>
            <a:chExt cx="9369521" cy="4549284"/>
          </a:xfrm>
        </p:grpSpPr>
        <p:sp>
          <p:nvSpPr>
            <p:cNvPr id="33" name="Text 22">
              <a:extLst>
                <a:ext uri="{FF2B5EF4-FFF2-40B4-BE49-F238E27FC236}">
                  <a16:creationId xmlns:a16="http://schemas.microsoft.com/office/drawing/2014/main" id="{BF86102E-63A3-47F0-E67B-A4A9A7C5C519}"/>
                </a:ext>
              </a:extLst>
            </p:cNvPr>
            <p:cNvSpPr txBox="1">
              <a:spLocks noGrp="1" noRot="1" noMove="1" noResize="1" noEditPoints="1" noAdjustHandles="1" noChangeArrowheads="1" noChangeShapeType="1"/>
            </p:cNvSpPr>
            <p:nvPr/>
          </p:nvSpPr>
          <p:spPr>
            <a:xfrm>
              <a:off x="9198936" y="1733957"/>
              <a:ext cx="529360" cy="235720"/>
            </a:xfrm>
            <a:prstGeom prst="rect">
              <a:avLst/>
            </a:prstGeom>
            <a:noFill/>
          </p:spPr>
          <p:txBody>
            <a:bodyPr wrap="square" lIns="0" tIns="0" rIns="0" bIns="0" rtlCol="0">
              <a:noAutofit/>
            </a:bodyPr>
            <a:lstStyle/>
            <a:p>
              <a:r>
                <a:rPr lang="de-DE" sz="700" b="1" dirty="0"/>
                <a:t>Euphorie</a:t>
              </a:r>
            </a:p>
            <a:p>
              <a:r>
                <a:rPr lang="de-DE" sz="700" dirty="0"/>
                <a:t>Geht doch!</a:t>
              </a:r>
            </a:p>
          </p:txBody>
        </p:sp>
        <p:sp>
          <p:nvSpPr>
            <p:cNvPr id="27" name="Text 21">
              <a:extLst>
                <a:ext uri="{FF2B5EF4-FFF2-40B4-BE49-F238E27FC236}">
                  <a16:creationId xmlns:a16="http://schemas.microsoft.com/office/drawing/2014/main" id="{5751171E-AB27-7350-FC89-9ED697FB52D6}"/>
                </a:ext>
              </a:extLst>
            </p:cNvPr>
            <p:cNvSpPr txBox="1">
              <a:spLocks noGrp="1" noRot="1" noMove="1" noResize="1" noEditPoints="1" noAdjustHandles="1" noChangeArrowheads="1" noChangeShapeType="1"/>
            </p:cNvSpPr>
            <p:nvPr/>
          </p:nvSpPr>
          <p:spPr>
            <a:xfrm>
              <a:off x="7506760" y="4786113"/>
              <a:ext cx="1213908" cy="465338"/>
            </a:xfrm>
            <a:prstGeom prst="rect">
              <a:avLst/>
            </a:prstGeom>
            <a:noFill/>
          </p:spPr>
          <p:txBody>
            <a:bodyPr wrap="square" lIns="0" tIns="0" rIns="0" bIns="0" rtlCol="0">
              <a:noAutofit/>
            </a:bodyPr>
            <a:lstStyle/>
            <a:p>
              <a:r>
                <a:rPr lang="de-DE" sz="700" b="1" dirty="0"/>
                <a:t>Depression</a:t>
              </a:r>
            </a:p>
            <a:p>
              <a:r>
                <a:rPr lang="de-DE" sz="700" dirty="0"/>
                <a:t>Mein schönes Geld ist weg! </a:t>
              </a:r>
            </a:p>
            <a:p>
              <a:r>
                <a:rPr lang="de-DE" sz="700" dirty="0"/>
                <a:t>Ich bin ein Idiot! Aber ich </a:t>
              </a:r>
            </a:p>
            <a:p>
              <a:r>
                <a:rPr lang="de-DE" sz="700" dirty="0"/>
                <a:t>habe daraus gelernt!</a:t>
              </a:r>
            </a:p>
          </p:txBody>
        </p:sp>
        <p:sp>
          <p:nvSpPr>
            <p:cNvPr id="28" name="Text 20">
              <a:extLst>
                <a:ext uri="{FF2B5EF4-FFF2-40B4-BE49-F238E27FC236}">
                  <a16:creationId xmlns:a16="http://schemas.microsoft.com/office/drawing/2014/main" id="{9F779A26-AE12-5208-0939-0778ECC19607}"/>
                </a:ext>
              </a:extLst>
            </p:cNvPr>
            <p:cNvSpPr txBox="1">
              <a:spLocks noGrp="1" noRot="1" noMove="1" noResize="1" noEditPoints="1" noAdjustHandles="1" noChangeArrowheads="1" noChangeShapeType="1"/>
            </p:cNvSpPr>
            <p:nvPr/>
          </p:nvSpPr>
          <p:spPr>
            <a:xfrm>
              <a:off x="7764223" y="4289443"/>
              <a:ext cx="1345910" cy="465338"/>
            </a:xfrm>
            <a:prstGeom prst="rect">
              <a:avLst/>
            </a:prstGeom>
            <a:noFill/>
          </p:spPr>
          <p:txBody>
            <a:bodyPr wrap="square" lIns="0" tIns="0" rIns="0" bIns="0" rtlCol="0">
              <a:noAutofit/>
            </a:bodyPr>
            <a:lstStyle/>
            <a:p>
              <a:r>
                <a:rPr lang="de-DE" sz="700" b="1" dirty="0"/>
                <a:t>Zweifel</a:t>
              </a:r>
            </a:p>
            <a:p>
              <a:r>
                <a:rPr lang="de-DE" sz="700" dirty="0"/>
                <a:t>Mist, das kann doch nicht sein! </a:t>
              </a:r>
            </a:p>
            <a:p>
              <a:r>
                <a:rPr lang="de-DE" sz="700" dirty="0"/>
                <a:t>Das sind doch alles Lemminge, </a:t>
              </a:r>
            </a:p>
            <a:p>
              <a:r>
                <a:rPr lang="de-DE" sz="700" dirty="0"/>
                <a:t>die in ihr Verderben rennen!</a:t>
              </a:r>
            </a:p>
          </p:txBody>
        </p:sp>
        <p:sp>
          <p:nvSpPr>
            <p:cNvPr id="29" name="Text 19">
              <a:extLst>
                <a:ext uri="{FF2B5EF4-FFF2-40B4-BE49-F238E27FC236}">
                  <a16:creationId xmlns:a16="http://schemas.microsoft.com/office/drawing/2014/main" id="{5166CB6F-CE2B-A942-CB6B-8B740BBFFD89}"/>
                </a:ext>
              </a:extLst>
            </p:cNvPr>
            <p:cNvSpPr txBox="1">
              <a:spLocks noGrp="1" noRot="1" noMove="1" noResize="1" noEditPoints="1" noAdjustHandles="1" noChangeArrowheads="1" noChangeShapeType="1"/>
            </p:cNvSpPr>
            <p:nvPr/>
          </p:nvSpPr>
          <p:spPr>
            <a:xfrm>
              <a:off x="8193906" y="3597811"/>
              <a:ext cx="916227" cy="465338"/>
            </a:xfrm>
            <a:prstGeom prst="rect">
              <a:avLst/>
            </a:prstGeom>
            <a:noFill/>
          </p:spPr>
          <p:txBody>
            <a:bodyPr wrap="square" lIns="0" tIns="0" rIns="0" bIns="0" rtlCol="0">
              <a:noAutofit/>
            </a:bodyPr>
            <a:lstStyle/>
            <a:p>
              <a:r>
                <a:rPr lang="de-DE" sz="700" b="1" dirty="0"/>
                <a:t>Hoffnung</a:t>
              </a:r>
            </a:p>
            <a:p>
              <a:r>
                <a:rPr lang="de-DE" sz="700" dirty="0"/>
                <a:t>Der Markt hat sich </a:t>
              </a:r>
            </a:p>
            <a:p>
              <a:r>
                <a:rPr lang="de-DE" sz="700" dirty="0"/>
                <a:t>gedreht. Vielleicht </a:t>
              </a:r>
            </a:p>
            <a:p>
              <a:r>
                <a:rPr lang="de-DE" sz="700" dirty="0"/>
                <a:t>doch ein Kaufsignal!</a:t>
              </a:r>
            </a:p>
          </p:txBody>
        </p:sp>
        <p:sp>
          <p:nvSpPr>
            <p:cNvPr id="30" name="Text 18">
              <a:extLst>
                <a:ext uri="{FF2B5EF4-FFF2-40B4-BE49-F238E27FC236}">
                  <a16:creationId xmlns:a16="http://schemas.microsoft.com/office/drawing/2014/main" id="{1984A926-9369-F243-ED9C-E08C1E03B46E}"/>
                </a:ext>
              </a:extLst>
            </p:cNvPr>
            <p:cNvSpPr txBox="1">
              <a:spLocks noGrp="1" noRot="1" noMove="1" noResize="1" noEditPoints="1" noAdjustHandles="1" noChangeArrowheads="1" noChangeShapeType="1"/>
            </p:cNvSpPr>
            <p:nvPr/>
          </p:nvSpPr>
          <p:spPr>
            <a:xfrm>
              <a:off x="8459788" y="3215456"/>
              <a:ext cx="1213379" cy="347967"/>
            </a:xfrm>
            <a:prstGeom prst="rect">
              <a:avLst/>
            </a:prstGeom>
            <a:noFill/>
          </p:spPr>
          <p:txBody>
            <a:bodyPr wrap="square" lIns="0" tIns="0" rIns="0" bIns="0" rtlCol="0">
              <a:noAutofit/>
            </a:bodyPr>
            <a:lstStyle/>
            <a:p>
              <a:r>
                <a:rPr lang="de-DE" sz="700" b="1" dirty="0"/>
                <a:t>Jagdfieber</a:t>
              </a:r>
            </a:p>
            <a:p>
              <a:r>
                <a:rPr lang="de-DE" sz="700" dirty="0"/>
                <a:t>Dieses Mal bin ich dabei und </a:t>
              </a:r>
            </a:p>
            <a:p>
              <a:r>
                <a:rPr lang="de-DE" sz="700" dirty="0"/>
                <a:t>hole mir mein Geld zurück!</a:t>
              </a:r>
            </a:p>
          </p:txBody>
        </p:sp>
        <p:sp>
          <p:nvSpPr>
            <p:cNvPr id="32" name="Text 17">
              <a:extLst>
                <a:ext uri="{FF2B5EF4-FFF2-40B4-BE49-F238E27FC236}">
                  <a16:creationId xmlns:a16="http://schemas.microsoft.com/office/drawing/2014/main" id="{FDABE429-A181-FA18-C03D-54BAF3975FBC}"/>
                </a:ext>
              </a:extLst>
            </p:cNvPr>
            <p:cNvSpPr txBox="1">
              <a:spLocks noGrp="1" noRot="1" noMove="1" noResize="1" noEditPoints="1" noAdjustHandles="1" noChangeArrowheads="1" noChangeShapeType="1"/>
            </p:cNvSpPr>
            <p:nvPr/>
          </p:nvSpPr>
          <p:spPr>
            <a:xfrm>
              <a:off x="7624377" y="1652622"/>
              <a:ext cx="1243213" cy="565235"/>
            </a:xfrm>
            <a:prstGeom prst="rect">
              <a:avLst/>
            </a:prstGeom>
            <a:noFill/>
          </p:spPr>
          <p:txBody>
            <a:bodyPr wrap="square" lIns="0" tIns="0" rIns="0" bIns="0" rtlCol="0">
              <a:noAutofit/>
            </a:bodyPr>
            <a:lstStyle/>
            <a:p>
              <a:r>
                <a:rPr lang="de-DE" sz="700" b="1" dirty="0">
                  <a:solidFill>
                    <a:schemeClr val="tx2"/>
                  </a:solidFill>
                </a:rPr>
                <a:t>Glaube</a:t>
              </a:r>
            </a:p>
            <a:p>
              <a:r>
                <a:rPr lang="de-DE" sz="700" dirty="0">
                  <a:solidFill>
                    <a:schemeClr val="tx2"/>
                  </a:solidFill>
                </a:rPr>
                <a:t>Ach was soll‘s. Ich glaube </a:t>
              </a:r>
            </a:p>
            <a:p>
              <a:r>
                <a:rPr lang="de-DE" sz="700" dirty="0">
                  <a:solidFill>
                    <a:schemeClr val="tx2"/>
                  </a:solidFill>
                </a:rPr>
                <a:t>an die Aktie! Es ist auch </a:t>
              </a:r>
            </a:p>
            <a:p>
              <a:r>
                <a:rPr lang="de-DE" sz="700" dirty="0">
                  <a:solidFill>
                    <a:schemeClr val="tx2"/>
                  </a:solidFill>
                </a:rPr>
                <a:t>billiger als beim letzten Mal! </a:t>
              </a:r>
            </a:p>
            <a:p>
              <a:r>
                <a:rPr lang="de-DE" sz="700" b="1" dirty="0">
                  <a:solidFill>
                    <a:schemeClr val="tx2"/>
                  </a:solidFill>
                </a:rPr>
                <a:t>Jetzt kaufe ich nochmal!</a:t>
              </a:r>
            </a:p>
          </p:txBody>
        </p:sp>
        <p:sp>
          <p:nvSpPr>
            <p:cNvPr id="31" name="Text 16">
              <a:extLst>
                <a:ext uri="{FF2B5EF4-FFF2-40B4-BE49-F238E27FC236}">
                  <a16:creationId xmlns:a16="http://schemas.microsoft.com/office/drawing/2014/main" id="{697A3FD6-2A9A-26CF-D690-75167D89BB56}"/>
                </a:ext>
              </a:extLst>
            </p:cNvPr>
            <p:cNvSpPr txBox="1">
              <a:spLocks noGrp="1" noRot="1" noMove="1" noResize="1" noEditPoints="1" noAdjustHandles="1" noChangeArrowheads="1" noChangeShapeType="1"/>
            </p:cNvSpPr>
            <p:nvPr/>
          </p:nvSpPr>
          <p:spPr>
            <a:xfrm>
              <a:off x="6933214" y="2675605"/>
              <a:ext cx="922204" cy="465338"/>
            </a:xfrm>
            <a:prstGeom prst="rect">
              <a:avLst/>
            </a:prstGeom>
            <a:noFill/>
          </p:spPr>
          <p:txBody>
            <a:bodyPr wrap="square" lIns="0" tIns="0" rIns="0" bIns="0" rtlCol="0">
              <a:noAutofit/>
            </a:bodyPr>
            <a:lstStyle/>
            <a:p>
              <a:r>
                <a:rPr lang="de-DE" sz="700" b="1" dirty="0"/>
                <a:t>Optimismus</a:t>
              </a:r>
            </a:p>
            <a:p>
              <a:r>
                <a:rPr lang="de-DE" sz="700" dirty="0"/>
                <a:t>Ich wusste es schon</a:t>
              </a:r>
            </a:p>
            <a:p>
              <a:r>
                <a:rPr lang="de-DE" sz="700" dirty="0"/>
                <a:t>immer, dass der Kurs</a:t>
              </a:r>
            </a:p>
            <a:p>
              <a:r>
                <a:rPr lang="de-DE" sz="700" dirty="0"/>
                <a:t>steigen wird!</a:t>
              </a:r>
            </a:p>
          </p:txBody>
        </p:sp>
        <p:sp>
          <p:nvSpPr>
            <p:cNvPr id="26" name="Text 15">
              <a:extLst>
                <a:ext uri="{FF2B5EF4-FFF2-40B4-BE49-F238E27FC236}">
                  <a16:creationId xmlns:a16="http://schemas.microsoft.com/office/drawing/2014/main" id="{C087945E-8416-6220-F364-64F7AE77B2B8}"/>
                </a:ext>
              </a:extLst>
            </p:cNvPr>
            <p:cNvSpPr txBox="1">
              <a:spLocks noGrp="1" noRot="1" noMove="1" noResize="1" noEditPoints="1" noAdjustHandles="1" noChangeArrowheads="1" noChangeShapeType="1"/>
            </p:cNvSpPr>
            <p:nvPr/>
          </p:nvSpPr>
          <p:spPr>
            <a:xfrm>
              <a:off x="6092826" y="5409483"/>
              <a:ext cx="1539873" cy="345650"/>
            </a:xfrm>
            <a:prstGeom prst="rect">
              <a:avLst/>
            </a:prstGeom>
            <a:noFill/>
          </p:spPr>
          <p:txBody>
            <a:bodyPr wrap="square" lIns="0" tIns="0" rIns="0" bIns="0" rtlCol="0">
              <a:noAutofit/>
            </a:bodyPr>
            <a:lstStyle/>
            <a:p>
              <a:r>
                <a:rPr lang="de-DE" sz="700" b="1" dirty="0"/>
                <a:t>Selbstbestätigung</a:t>
              </a:r>
            </a:p>
            <a:p>
              <a:r>
                <a:rPr lang="de-DE" sz="700" dirty="0"/>
                <a:t>Kursrutsch, wie ich es gesagt habe! </a:t>
              </a:r>
            </a:p>
            <a:p>
              <a:r>
                <a:rPr lang="de-DE" sz="700" dirty="0"/>
                <a:t>Zum Glück habe ich verkauft!</a:t>
              </a:r>
            </a:p>
          </p:txBody>
        </p:sp>
        <p:sp>
          <p:nvSpPr>
            <p:cNvPr id="25" name="Text 14">
              <a:extLst>
                <a:ext uri="{FF2B5EF4-FFF2-40B4-BE49-F238E27FC236}">
                  <a16:creationId xmlns:a16="http://schemas.microsoft.com/office/drawing/2014/main" id="{113C2FE3-C40E-DFC7-FE8C-30454863B0A7}"/>
                </a:ext>
              </a:extLst>
            </p:cNvPr>
            <p:cNvSpPr txBox="1">
              <a:spLocks noGrp="1" noRot="1" noMove="1" noResize="1" noEditPoints="1" noAdjustHandles="1" noChangeArrowheads="1" noChangeShapeType="1"/>
            </p:cNvSpPr>
            <p:nvPr/>
          </p:nvSpPr>
          <p:spPr>
            <a:xfrm>
              <a:off x="6166910" y="4182082"/>
              <a:ext cx="862938" cy="345650"/>
            </a:xfrm>
            <a:prstGeom prst="rect">
              <a:avLst/>
            </a:prstGeom>
            <a:noFill/>
          </p:spPr>
          <p:txBody>
            <a:bodyPr wrap="square" lIns="0" tIns="0" rIns="0" bIns="0" rtlCol="0">
              <a:noAutofit/>
            </a:bodyPr>
            <a:lstStyle/>
            <a:p>
              <a:r>
                <a:rPr lang="de-DE" sz="700" b="1" dirty="0"/>
                <a:t>Wunsch-Prognose</a:t>
              </a:r>
            </a:p>
            <a:p>
              <a:r>
                <a:rPr lang="de-DE" sz="700" dirty="0"/>
                <a:t>Der Kurs wird wie-</a:t>
              </a:r>
            </a:p>
            <a:p>
              <a:r>
                <a:rPr lang="de-DE" sz="700" dirty="0"/>
                <a:t>der fallen!</a:t>
              </a:r>
            </a:p>
          </p:txBody>
        </p:sp>
        <p:sp>
          <p:nvSpPr>
            <p:cNvPr id="24" name="Text 13">
              <a:extLst>
                <a:ext uri="{FF2B5EF4-FFF2-40B4-BE49-F238E27FC236}">
                  <a16:creationId xmlns:a16="http://schemas.microsoft.com/office/drawing/2014/main" id="{B8BDBFA5-BB8E-3257-C500-0437AF00C4E5}"/>
                </a:ext>
              </a:extLst>
            </p:cNvPr>
            <p:cNvSpPr txBox="1">
              <a:spLocks noGrp="1" noRot="1" noMove="1" noResize="1" noEditPoints="1" noAdjustHandles="1" noChangeArrowheads="1" noChangeShapeType="1"/>
            </p:cNvSpPr>
            <p:nvPr/>
          </p:nvSpPr>
          <p:spPr>
            <a:xfrm>
              <a:off x="5406629" y="3418726"/>
              <a:ext cx="1190889" cy="585467"/>
            </a:xfrm>
            <a:prstGeom prst="rect">
              <a:avLst/>
            </a:prstGeom>
            <a:noFill/>
          </p:spPr>
          <p:txBody>
            <a:bodyPr wrap="square" lIns="0" tIns="0" rIns="0" bIns="0" rtlCol="0">
              <a:noAutofit/>
            </a:bodyPr>
            <a:lstStyle/>
            <a:p>
              <a:r>
                <a:rPr lang="de-DE" sz="700" b="1" dirty="0"/>
                <a:t>Wut &amp; Ärger</a:t>
              </a:r>
            </a:p>
            <a:p>
              <a:r>
                <a:rPr lang="de-DE" sz="700" dirty="0"/>
                <a:t>Das ist doch </a:t>
              </a:r>
              <a:r>
                <a:rPr lang="de-DE" sz="700" dirty="0" err="1"/>
                <a:t>Kursmani</a:t>
              </a:r>
              <a:r>
                <a:rPr lang="de-DE" sz="700" dirty="0"/>
                <a:t>-</a:t>
              </a:r>
            </a:p>
            <a:p>
              <a:r>
                <a:rPr lang="de-DE" sz="700" dirty="0" err="1"/>
                <a:t>pulation</a:t>
              </a:r>
              <a:r>
                <a:rPr lang="de-DE" sz="700" dirty="0"/>
                <a:t>! Warum sagt die </a:t>
              </a:r>
            </a:p>
            <a:p>
              <a:r>
                <a:rPr lang="de-DE" sz="700" dirty="0"/>
                <a:t>Wertpapierbehörde nichts </a:t>
              </a:r>
            </a:p>
            <a:p>
              <a:r>
                <a:rPr lang="de-DE" sz="700" dirty="0"/>
                <a:t>dazu?!</a:t>
              </a:r>
            </a:p>
          </p:txBody>
        </p:sp>
        <p:sp>
          <p:nvSpPr>
            <p:cNvPr id="19" name="Text 12">
              <a:extLst>
                <a:ext uri="{FF2B5EF4-FFF2-40B4-BE49-F238E27FC236}">
                  <a16:creationId xmlns:a16="http://schemas.microsoft.com/office/drawing/2014/main" id="{E7899DDF-734E-2DE3-17BF-B4140663C426}"/>
                </a:ext>
              </a:extLst>
            </p:cNvPr>
            <p:cNvSpPr txBox="1">
              <a:spLocks noGrp="1" noRot="1" noMove="1" noResize="1" noEditPoints="1" noAdjustHandles="1" noChangeArrowheads="1" noChangeShapeType="1"/>
            </p:cNvSpPr>
            <p:nvPr/>
          </p:nvSpPr>
          <p:spPr>
            <a:xfrm>
              <a:off x="4760649" y="2590321"/>
              <a:ext cx="1314714" cy="650516"/>
            </a:xfrm>
            <a:prstGeom prst="rect">
              <a:avLst/>
            </a:prstGeom>
            <a:noFill/>
          </p:spPr>
          <p:txBody>
            <a:bodyPr wrap="square" lIns="0" tIns="0" rIns="0" bIns="0" rtlCol="0">
              <a:noAutofit/>
            </a:bodyPr>
            <a:lstStyle/>
            <a:p>
              <a:r>
                <a:rPr lang="de-DE" sz="700" b="1" dirty="0"/>
                <a:t>Wunschdenken</a:t>
              </a:r>
            </a:p>
            <a:p>
              <a:r>
                <a:rPr lang="de-DE" sz="700" dirty="0"/>
                <a:t>Doch eine mittlere Korrektur! </a:t>
              </a:r>
            </a:p>
            <a:p>
              <a:r>
                <a:rPr lang="de-DE" sz="700" dirty="0"/>
                <a:t>Macht nichts – ich kaufe noch </a:t>
              </a:r>
            </a:p>
            <a:p>
              <a:r>
                <a:rPr lang="de-DE" sz="700" dirty="0"/>
                <a:t>einmal günstig nach und </a:t>
              </a:r>
              <a:r>
                <a:rPr lang="de-DE" sz="700" dirty="0" err="1"/>
                <a:t>ver</a:t>
              </a:r>
              <a:r>
                <a:rPr lang="de-DE" sz="700" dirty="0"/>
                <a:t>-</a:t>
              </a:r>
            </a:p>
            <a:p>
              <a:r>
                <a:rPr lang="de-DE" sz="700" dirty="0"/>
                <a:t>dopple meine Position!</a:t>
              </a:r>
            </a:p>
          </p:txBody>
        </p:sp>
        <p:sp>
          <p:nvSpPr>
            <p:cNvPr id="16" name="Text 11">
              <a:extLst>
                <a:ext uri="{FF2B5EF4-FFF2-40B4-BE49-F238E27FC236}">
                  <a16:creationId xmlns:a16="http://schemas.microsoft.com/office/drawing/2014/main" id="{2F869ADE-7412-5ACB-AF79-E8BFD7094F81}"/>
                </a:ext>
              </a:extLst>
            </p:cNvPr>
            <p:cNvSpPr txBox="1">
              <a:spLocks noGrp="1" noRot="1" noMove="1" noResize="1" noEditPoints="1" noAdjustHandles="1" noChangeArrowheads="1" noChangeShapeType="1"/>
            </p:cNvSpPr>
            <p:nvPr/>
          </p:nvSpPr>
          <p:spPr>
            <a:xfrm>
              <a:off x="4642377" y="1733957"/>
              <a:ext cx="1769534" cy="597390"/>
            </a:xfrm>
            <a:prstGeom prst="rect">
              <a:avLst/>
            </a:prstGeom>
            <a:noFill/>
          </p:spPr>
          <p:txBody>
            <a:bodyPr wrap="square" lIns="0" tIns="0" rIns="0" bIns="0" rtlCol="0">
              <a:noAutofit/>
            </a:bodyPr>
            <a:lstStyle/>
            <a:p>
              <a:r>
                <a:rPr lang="de-DE" sz="700" b="1" dirty="0"/>
                <a:t>Selbstgefälligkeit</a:t>
              </a:r>
            </a:p>
            <a:p>
              <a:r>
                <a:rPr lang="de-DE" sz="700" dirty="0"/>
                <a:t>Ärgerlich! Jetzt kommt eine kleine </a:t>
              </a:r>
            </a:p>
            <a:p>
              <a:r>
                <a:rPr lang="de-DE" sz="700" dirty="0"/>
                <a:t>Korrektur! Doch ich werde diese nutzen </a:t>
              </a:r>
            </a:p>
            <a:p>
              <a:r>
                <a:rPr lang="de-DE" sz="700" dirty="0"/>
                <a:t>und Aktien nachkaufen, um meine </a:t>
              </a:r>
            </a:p>
            <a:p>
              <a:r>
                <a:rPr lang="de-DE" sz="700" dirty="0"/>
                <a:t>Position auszubauen!</a:t>
              </a:r>
            </a:p>
          </p:txBody>
        </p:sp>
        <p:sp>
          <p:nvSpPr>
            <p:cNvPr id="23" name="Text 10">
              <a:extLst>
                <a:ext uri="{FF2B5EF4-FFF2-40B4-BE49-F238E27FC236}">
                  <a16:creationId xmlns:a16="http://schemas.microsoft.com/office/drawing/2014/main" id="{9C86FC84-A4F5-47CA-B937-BE57C05D0DB4}"/>
                </a:ext>
              </a:extLst>
            </p:cNvPr>
            <p:cNvSpPr txBox="1">
              <a:spLocks noGrp="1" noRot="1" noMove="1" noResize="1" noEditPoints="1" noAdjustHandles="1" noChangeArrowheads="1" noChangeShapeType="1"/>
            </p:cNvSpPr>
            <p:nvPr/>
          </p:nvSpPr>
          <p:spPr>
            <a:xfrm>
              <a:off x="4018508" y="4868557"/>
              <a:ext cx="1564740" cy="662283"/>
            </a:xfrm>
            <a:prstGeom prst="rect">
              <a:avLst/>
            </a:prstGeom>
            <a:noFill/>
          </p:spPr>
          <p:txBody>
            <a:bodyPr wrap="square" lIns="0" tIns="0" rIns="0" bIns="0" rtlCol="0">
              <a:noAutofit/>
            </a:bodyPr>
            <a:lstStyle/>
            <a:p>
              <a:r>
                <a:rPr lang="de-DE" sz="700" b="1" dirty="0">
                  <a:solidFill>
                    <a:srgbClr val="A91A4D"/>
                  </a:solidFill>
                </a:rPr>
                <a:t>Kapitulation</a:t>
              </a:r>
            </a:p>
            <a:p>
              <a:r>
                <a:rPr lang="de-DE" sz="700" dirty="0">
                  <a:solidFill>
                    <a:srgbClr val="A91A4D"/>
                  </a:solidFill>
                </a:rPr>
                <a:t>Es reicht! Ich rette wenigstens noch </a:t>
              </a:r>
            </a:p>
            <a:p>
              <a:r>
                <a:rPr lang="de-DE" sz="700" dirty="0">
                  <a:solidFill>
                    <a:srgbClr val="A91A4D"/>
                  </a:solidFill>
                </a:rPr>
                <a:t>ein paar Euro und vermeide den </a:t>
              </a:r>
            </a:p>
            <a:p>
              <a:r>
                <a:rPr lang="de-DE" sz="700" dirty="0">
                  <a:solidFill>
                    <a:srgbClr val="A91A4D"/>
                  </a:solidFill>
                </a:rPr>
                <a:t>Totalverlust. Ich rühre in Zukunft </a:t>
              </a:r>
            </a:p>
            <a:p>
              <a:r>
                <a:rPr lang="de-DE" sz="700" dirty="0">
                  <a:solidFill>
                    <a:srgbClr val="A91A4D"/>
                  </a:solidFill>
                </a:rPr>
                <a:t>keine Aktie mehr an! Die Börse ist </a:t>
              </a:r>
            </a:p>
            <a:p>
              <a:r>
                <a:rPr lang="de-DE" sz="700" dirty="0">
                  <a:solidFill>
                    <a:srgbClr val="A91A4D"/>
                  </a:solidFill>
                </a:rPr>
                <a:t>nicht für mich! </a:t>
              </a:r>
              <a:r>
                <a:rPr lang="de-DE" sz="700" b="1" dirty="0">
                  <a:solidFill>
                    <a:srgbClr val="A91A4D"/>
                  </a:solidFill>
                </a:rPr>
                <a:t>Ich verkaufe jetzt!</a:t>
              </a:r>
            </a:p>
          </p:txBody>
        </p:sp>
        <p:sp>
          <p:nvSpPr>
            <p:cNvPr id="22" name="Text 9">
              <a:extLst>
                <a:ext uri="{FF2B5EF4-FFF2-40B4-BE49-F238E27FC236}">
                  <a16:creationId xmlns:a16="http://schemas.microsoft.com/office/drawing/2014/main" id="{F6EE7378-96EE-F5A4-3937-13EC1F373584}"/>
                </a:ext>
              </a:extLst>
            </p:cNvPr>
            <p:cNvSpPr txBox="1">
              <a:spLocks noGrp="1" noRot="1" noMove="1" noResize="1" noEditPoints="1" noAdjustHandles="1" noChangeArrowheads="1" noChangeShapeType="1"/>
            </p:cNvSpPr>
            <p:nvPr/>
          </p:nvSpPr>
          <p:spPr>
            <a:xfrm>
              <a:off x="3924835" y="4282295"/>
              <a:ext cx="1390121" cy="479635"/>
            </a:xfrm>
            <a:prstGeom prst="rect">
              <a:avLst/>
            </a:prstGeom>
            <a:noFill/>
          </p:spPr>
          <p:txBody>
            <a:bodyPr wrap="square" lIns="0" tIns="0" rIns="0" bIns="0" rtlCol="0">
              <a:noAutofit/>
            </a:bodyPr>
            <a:lstStyle/>
            <a:p>
              <a:r>
                <a:rPr lang="de-DE" sz="700" b="1" dirty="0"/>
                <a:t>Panik</a:t>
              </a:r>
            </a:p>
            <a:p>
              <a:r>
                <a:rPr lang="de-DE" sz="700" dirty="0"/>
                <a:t>Verdammt! Alle verkaufen! Ich </a:t>
              </a:r>
            </a:p>
            <a:p>
              <a:r>
                <a:rPr lang="de-DE" sz="700" dirty="0"/>
                <a:t>muss auch raus! Ich warte auf </a:t>
              </a:r>
            </a:p>
            <a:p>
              <a:r>
                <a:rPr lang="de-DE" sz="700" dirty="0"/>
                <a:t>eine kleine Korrektur nach oben!</a:t>
              </a:r>
            </a:p>
          </p:txBody>
        </p:sp>
        <p:sp>
          <p:nvSpPr>
            <p:cNvPr id="21" name="Text 8">
              <a:extLst>
                <a:ext uri="{FF2B5EF4-FFF2-40B4-BE49-F238E27FC236}">
                  <a16:creationId xmlns:a16="http://schemas.microsoft.com/office/drawing/2014/main" id="{C5F03C13-2961-A03F-32CB-D1150CAED35F}"/>
                </a:ext>
              </a:extLst>
            </p:cNvPr>
            <p:cNvSpPr txBox="1">
              <a:spLocks noGrp="1" noRot="1" noMove="1" noResize="1" noEditPoints="1" noAdjustHandles="1" noChangeArrowheads="1" noChangeShapeType="1"/>
            </p:cNvSpPr>
            <p:nvPr/>
          </p:nvSpPr>
          <p:spPr>
            <a:xfrm>
              <a:off x="3423179" y="3563423"/>
              <a:ext cx="1304396" cy="563243"/>
            </a:xfrm>
            <a:prstGeom prst="rect">
              <a:avLst/>
            </a:prstGeom>
            <a:noFill/>
          </p:spPr>
          <p:txBody>
            <a:bodyPr wrap="square" lIns="0" tIns="0" rIns="0" bIns="0" rtlCol="0">
              <a:noAutofit/>
            </a:bodyPr>
            <a:lstStyle/>
            <a:p>
              <a:r>
                <a:rPr lang="de-DE" sz="700" b="1" dirty="0"/>
                <a:t>Angst</a:t>
              </a:r>
            </a:p>
            <a:p>
              <a:r>
                <a:rPr lang="de-DE" sz="700" dirty="0"/>
                <a:t>Ist das noch normal? Der Kurs </a:t>
              </a:r>
            </a:p>
            <a:p>
              <a:r>
                <a:rPr lang="de-DE" sz="700" dirty="0"/>
                <a:t>hat sich schon halbiert! Tiefer </a:t>
              </a:r>
            </a:p>
            <a:p>
              <a:r>
                <a:rPr lang="de-DE" sz="700" dirty="0"/>
                <a:t>kann es doch nicht gehen! Wo </a:t>
              </a:r>
            </a:p>
            <a:p>
              <a:r>
                <a:rPr lang="de-DE" sz="700" dirty="0"/>
                <a:t>bleibt die Gegenbewegung?!</a:t>
              </a:r>
            </a:p>
          </p:txBody>
        </p:sp>
        <p:sp>
          <p:nvSpPr>
            <p:cNvPr id="20" name="Text 7">
              <a:extLst>
                <a:ext uri="{FF2B5EF4-FFF2-40B4-BE49-F238E27FC236}">
                  <a16:creationId xmlns:a16="http://schemas.microsoft.com/office/drawing/2014/main" id="{B702F0D8-6889-A0BB-9882-A7E1508711A2}"/>
                </a:ext>
              </a:extLst>
            </p:cNvPr>
            <p:cNvSpPr txBox="1">
              <a:spLocks noGrp="1" noRot="1" noMove="1" noResize="1" noEditPoints="1" noAdjustHandles="1" noChangeArrowheads="1" noChangeShapeType="1"/>
            </p:cNvSpPr>
            <p:nvPr/>
          </p:nvSpPr>
          <p:spPr>
            <a:xfrm>
              <a:off x="3389578" y="3049907"/>
              <a:ext cx="1071033" cy="479947"/>
            </a:xfrm>
            <a:prstGeom prst="rect">
              <a:avLst/>
            </a:prstGeom>
            <a:noFill/>
          </p:spPr>
          <p:txBody>
            <a:bodyPr wrap="square" lIns="0" tIns="0" rIns="0" bIns="0" rtlCol="0">
              <a:noAutofit/>
            </a:bodyPr>
            <a:lstStyle/>
            <a:p>
              <a:r>
                <a:rPr lang="de-DE" sz="700" b="1" dirty="0"/>
                <a:t>Hoffnung</a:t>
              </a:r>
            </a:p>
            <a:p>
              <a:r>
                <a:rPr lang="de-DE" sz="700" dirty="0"/>
                <a:t>Mann o Mann! Wenn </a:t>
              </a:r>
            </a:p>
            <a:p>
              <a:r>
                <a:rPr lang="de-DE" sz="700" dirty="0"/>
                <a:t>der Kurs wieder steigt, </a:t>
              </a:r>
            </a:p>
            <a:p>
              <a:r>
                <a:rPr lang="de-DE" sz="700" dirty="0"/>
                <a:t>verkaufe ich!</a:t>
              </a:r>
            </a:p>
          </p:txBody>
        </p:sp>
        <p:sp>
          <p:nvSpPr>
            <p:cNvPr id="15" name="Text 6">
              <a:extLst>
                <a:ext uri="{FF2B5EF4-FFF2-40B4-BE49-F238E27FC236}">
                  <a16:creationId xmlns:a16="http://schemas.microsoft.com/office/drawing/2014/main" id="{E0672AEB-03BB-B980-2914-BD1F2D8BB8AA}"/>
                </a:ext>
              </a:extLst>
            </p:cNvPr>
            <p:cNvSpPr txBox="1">
              <a:spLocks noGrp="1" noRot="1" noMove="1" noResize="1" noEditPoints="1" noAdjustHandles="1" noChangeArrowheads="1" noChangeShapeType="1"/>
            </p:cNvSpPr>
            <p:nvPr/>
          </p:nvSpPr>
          <p:spPr>
            <a:xfrm>
              <a:off x="3248555" y="2435632"/>
              <a:ext cx="1071033" cy="479947"/>
            </a:xfrm>
            <a:prstGeom prst="rect">
              <a:avLst/>
            </a:prstGeom>
            <a:noFill/>
          </p:spPr>
          <p:txBody>
            <a:bodyPr wrap="square" lIns="0" tIns="0" rIns="0" bIns="0" rtlCol="0">
              <a:noAutofit/>
            </a:bodyPr>
            <a:lstStyle/>
            <a:p>
              <a:r>
                <a:rPr lang="de-DE" sz="700" b="1" dirty="0">
                  <a:solidFill>
                    <a:schemeClr val="tx2"/>
                  </a:solidFill>
                </a:rPr>
                <a:t>Glaube</a:t>
              </a:r>
            </a:p>
            <a:p>
              <a:r>
                <a:rPr lang="de-DE" sz="700" dirty="0">
                  <a:solidFill>
                    <a:schemeClr val="tx2"/>
                  </a:solidFill>
                </a:rPr>
                <a:t>Ich warte nicht länger –  </a:t>
              </a:r>
            </a:p>
            <a:p>
              <a:r>
                <a:rPr lang="de-DE" sz="700" dirty="0">
                  <a:solidFill>
                    <a:schemeClr val="tx2"/>
                  </a:solidFill>
                </a:rPr>
                <a:t>die Rally ist im vollem </a:t>
              </a:r>
            </a:p>
            <a:p>
              <a:r>
                <a:rPr lang="de-DE" sz="700" dirty="0">
                  <a:solidFill>
                    <a:schemeClr val="tx2"/>
                  </a:solidFill>
                </a:rPr>
                <a:t>Gange! </a:t>
              </a:r>
              <a:r>
                <a:rPr lang="de-DE" sz="700" b="1" dirty="0">
                  <a:solidFill>
                    <a:schemeClr val="tx2"/>
                  </a:solidFill>
                </a:rPr>
                <a:t>Ich kaufe jetzt!</a:t>
              </a:r>
            </a:p>
          </p:txBody>
        </p:sp>
        <p:sp>
          <p:nvSpPr>
            <p:cNvPr id="14" name="Text 5">
              <a:extLst>
                <a:ext uri="{FF2B5EF4-FFF2-40B4-BE49-F238E27FC236}">
                  <a16:creationId xmlns:a16="http://schemas.microsoft.com/office/drawing/2014/main" id="{1AD76DCC-17D3-0526-76BB-B614CD0A15C2}"/>
                </a:ext>
              </a:extLst>
            </p:cNvPr>
            <p:cNvSpPr txBox="1">
              <a:spLocks noGrp="1" noRot="1" noMove="1" noResize="1" noEditPoints="1" noAdjustHandles="1" noChangeArrowheads="1" noChangeShapeType="1"/>
            </p:cNvSpPr>
            <p:nvPr/>
          </p:nvSpPr>
          <p:spPr>
            <a:xfrm>
              <a:off x="3671888" y="1205849"/>
              <a:ext cx="1769534" cy="479947"/>
            </a:xfrm>
            <a:prstGeom prst="rect">
              <a:avLst/>
            </a:prstGeom>
            <a:noFill/>
          </p:spPr>
          <p:txBody>
            <a:bodyPr wrap="square" lIns="0" tIns="0" rIns="0" bIns="0" rtlCol="0">
              <a:noAutofit/>
            </a:bodyPr>
            <a:lstStyle/>
            <a:p>
              <a:r>
                <a:rPr lang="de-DE" sz="700" b="1" dirty="0"/>
                <a:t>Euphorie</a:t>
              </a:r>
            </a:p>
            <a:p>
              <a:r>
                <a:rPr lang="de-DE" sz="700" dirty="0"/>
                <a:t>Der Kurs steigt weiter! Gott sei Dank </a:t>
              </a:r>
            </a:p>
            <a:p>
              <a:r>
                <a:rPr lang="de-DE" sz="700" dirty="0"/>
                <a:t>habe ich nicht länger gewartet! Ich bin</a:t>
              </a:r>
            </a:p>
            <a:p>
              <a:r>
                <a:rPr lang="de-DE" sz="700" dirty="0"/>
                <a:t>dabei und werde schnell reich!</a:t>
              </a:r>
            </a:p>
          </p:txBody>
        </p:sp>
        <p:sp>
          <p:nvSpPr>
            <p:cNvPr id="12" name="Text 4">
              <a:extLst>
                <a:ext uri="{FF2B5EF4-FFF2-40B4-BE49-F238E27FC236}">
                  <a16:creationId xmlns:a16="http://schemas.microsoft.com/office/drawing/2014/main" id="{4FACC1AE-4E22-373B-8E7E-8C780E8A0B18}"/>
                </a:ext>
              </a:extLst>
            </p:cNvPr>
            <p:cNvSpPr txBox="1">
              <a:spLocks noGrp="1" noRot="1" noMove="1" noResize="1" noEditPoints="1" noAdjustHandles="1" noChangeArrowheads="1" noChangeShapeType="1"/>
            </p:cNvSpPr>
            <p:nvPr/>
          </p:nvSpPr>
          <p:spPr>
            <a:xfrm>
              <a:off x="1968764" y="3103884"/>
              <a:ext cx="1007270" cy="585467"/>
            </a:xfrm>
            <a:prstGeom prst="rect">
              <a:avLst/>
            </a:prstGeom>
            <a:noFill/>
          </p:spPr>
          <p:txBody>
            <a:bodyPr wrap="square" lIns="0" tIns="0" rIns="0" bIns="0" rtlCol="0">
              <a:noAutofit/>
            </a:bodyPr>
            <a:lstStyle/>
            <a:p>
              <a:r>
                <a:rPr lang="de-DE" sz="700" b="1" dirty="0"/>
                <a:t>Optimismus</a:t>
              </a:r>
            </a:p>
            <a:p>
              <a:r>
                <a:rPr lang="de-DE" sz="700" dirty="0"/>
                <a:t>Sehr gut! Der positive </a:t>
              </a:r>
            </a:p>
            <a:p>
              <a:r>
                <a:rPr lang="de-DE" sz="700" dirty="0"/>
                <a:t>Trend hält an, bei der </a:t>
              </a:r>
            </a:p>
            <a:p>
              <a:r>
                <a:rPr lang="de-DE" sz="700" dirty="0"/>
                <a:t>nächsten Kurs-</a:t>
              </a:r>
              <a:r>
                <a:rPr lang="de-DE" sz="700" dirty="0" err="1"/>
                <a:t>Konsoli</a:t>
              </a:r>
              <a:r>
                <a:rPr lang="de-DE" sz="700" dirty="0"/>
                <a:t>-</a:t>
              </a:r>
            </a:p>
            <a:p>
              <a:r>
                <a:rPr lang="de-DE" sz="700" dirty="0" err="1"/>
                <a:t>dierung</a:t>
              </a:r>
              <a:r>
                <a:rPr lang="de-DE" sz="700" dirty="0"/>
                <a:t> kaufe ich!</a:t>
              </a:r>
            </a:p>
          </p:txBody>
        </p:sp>
        <p:sp>
          <p:nvSpPr>
            <p:cNvPr id="13" name="Text 3">
              <a:extLst>
                <a:ext uri="{FF2B5EF4-FFF2-40B4-BE49-F238E27FC236}">
                  <a16:creationId xmlns:a16="http://schemas.microsoft.com/office/drawing/2014/main" id="{3277DEEB-AC62-399D-EF55-D21FBA8EB7B3}"/>
                </a:ext>
              </a:extLst>
            </p:cNvPr>
            <p:cNvSpPr txBox="1">
              <a:spLocks noGrp="1" noRot="1" noMove="1" noResize="1" noEditPoints="1" noAdjustHandles="1" noChangeArrowheads="1" noChangeShapeType="1"/>
            </p:cNvSpPr>
            <p:nvPr/>
          </p:nvSpPr>
          <p:spPr>
            <a:xfrm>
              <a:off x="1621630" y="1400221"/>
              <a:ext cx="1153319" cy="780876"/>
            </a:xfrm>
            <a:prstGeom prst="rect">
              <a:avLst/>
            </a:prstGeom>
            <a:noFill/>
          </p:spPr>
          <p:txBody>
            <a:bodyPr wrap="square" lIns="0" tIns="0" rIns="0" bIns="0" rtlCol="0">
              <a:noAutofit/>
            </a:bodyPr>
            <a:lstStyle/>
            <a:p>
              <a:r>
                <a:rPr lang="de-DE" sz="700" b="1" dirty="0"/>
                <a:t>Jagdfieber</a:t>
              </a:r>
            </a:p>
            <a:p>
              <a:r>
                <a:rPr lang="de-DE" sz="700" dirty="0"/>
                <a:t>Verdammt! Ich habe die</a:t>
              </a:r>
            </a:p>
            <a:p>
              <a:r>
                <a:rPr lang="de-DE" sz="700" dirty="0"/>
                <a:t>letzte Konsolidierung </a:t>
              </a:r>
            </a:p>
            <a:p>
              <a:r>
                <a:rPr lang="de-DE" sz="700" dirty="0"/>
                <a:t>verpasst! Ich muss beim</a:t>
              </a:r>
            </a:p>
            <a:p>
              <a:r>
                <a:rPr lang="de-DE" sz="700" dirty="0"/>
                <a:t>nächsten Rücksetzer </a:t>
              </a:r>
            </a:p>
            <a:p>
              <a:r>
                <a:rPr lang="de-DE" sz="700" dirty="0"/>
                <a:t>kaufen, um vom positiven</a:t>
              </a:r>
            </a:p>
            <a:p>
              <a:r>
                <a:rPr lang="de-DE" sz="700" dirty="0"/>
                <a:t>Trend zu profitieren!</a:t>
              </a:r>
            </a:p>
          </p:txBody>
        </p:sp>
        <p:sp>
          <p:nvSpPr>
            <p:cNvPr id="11" name="Text 2">
              <a:extLst>
                <a:ext uri="{FF2B5EF4-FFF2-40B4-BE49-F238E27FC236}">
                  <a16:creationId xmlns:a16="http://schemas.microsoft.com/office/drawing/2014/main" id="{D705AD59-9CE7-CA47-59D0-91AB16F36D40}"/>
                </a:ext>
              </a:extLst>
            </p:cNvPr>
            <p:cNvSpPr txBox="1">
              <a:spLocks noGrp="1" noRot="1" noMove="1" noResize="1" noEditPoints="1" noAdjustHandles="1" noChangeArrowheads="1" noChangeShapeType="1"/>
            </p:cNvSpPr>
            <p:nvPr/>
          </p:nvSpPr>
          <p:spPr>
            <a:xfrm>
              <a:off x="794013" y="3618234"/>
              <a:ext cx="1087703" cy="585467"/>
            </a:xfrm>
            <a:prstGeom prst="rect">
              <a:avLst/>
            </a:prstGeom>
            <a:noFill/>
          </p:spPr>
          <p:txBody>
            <a:bodyPr wrap="square" lIns="0" tIns="0" rIns="0" bIns="0" rtlCol="0">
              <a:noAutofit/>
            </a:bodyPr>
            <a:lstStyle/>
            <a:p>
              <a:r>
                <a:rPr lang="de-DE" sz="700" b="1" dirty="0"/>
                <a:t>Zweifel</a:t>
              </a:r>
            </a:p>
            <a:p>
              <a:r>
                <a:rPr lang="de-DE" sz="700" dirty="0"/>
                <a:t>Ach was. Die Rally wird </a:t>
              </a:r>
            </a:p>
            <a:p>
              <a:r>
                <a:rPr lang="de-DE" sz="700" dirty="0"/>
                <a:t>nur kurz sein, wie jede </a:t>
              </a:r>
            </a:p>
            <a:p>
              <a:r>
                <a:rPr lang="de-DE" sz="700" dirty="0"/>
                <a:t>andere!</a:t>
              </a:r>
            </a:p>
          </p:txBody>
        </p:sp>
        <p:sp>
          <p:nvSpPr>
            <p:cNvPr id="10" name="Text 1">
              <a:extLst>
                <a:ext uri="{FF2B5EF4-FFF2-40B4-BE49-F238E27FC236}">
                  <a16:creationId xmlns:a16="http://schemas.microsoft.com/office/drawing/2014/main" id="{37AFCE65-6FA3-C2E9-CC88-B4260AAF8061}"/>
                </a:ext>
              </a:extLst>
            </p:cNvPr>
            <p:cNvSpPr txBox="1">
              <a:spLocks noGrp="1" noRot="1" noMove="1" noResize="1" noEditPoints="1" noAdjustHandles="1" noChangeArrowheads="1" noChangeShapeType="1"/>
            </p:cNvSpPr>
            <p:nvPr/>
          </p:nvSpPr>
          <p:spPr>
            <a:xfrm>
              <a:off x="358775" y="1998654"/>
              <a:ext cx="954088" cy="646331"/>
            </a:xfrm>
            <a:prstGeom prst="rect">
              <a:avLst/>
            </a:prstGeom>
            <a:noFill/>
          </p:spPr>
          <p:txBody>
            <a:bodyPr wrap="square" lIns="0" tIns="0" rIns="0" bIns="0" rtlCol="0">
              <a:noAutofit/>
            </a:bodyPr>
            <a:lstStyle/>
            <a:p>
              <a:r>
                <a:rPr lang="de-DE" sz="700" b="1" dirty="0"/>
                <a:t>Hoffnung</a:t>
              </a:r>
            </a:p>
            <a:p>
              <a:r>
                <a:rPr lang="de-DE" sz="700" dirty="0"/>
                <a:t>Doch interessant! Der </a:t>
              </a:r>
            </a:p>
            <a:p>
              <a:r>
                <a:rPr lang="de-DE" sz="700" dirty="0"/>
                <a:t>Aktienkurs steigt  </a:t>
              </a:r>
            </a:p>
            <a:p>
              <a:r>
                <a:rPr lang="de-DE" sz="700" dirty="0"/>
                <a:t>weiter – ich </a:t>
              </a:r>
              <a:r>
                <a:rPr lang="de-DE" sz="700" dirty="0" err="1"/>
                <a:t>beobach</a:t>
              </a:r>
              <a:r>
                <a:rPr lang="de-DE" sz="700" dirty="0"/>
                <a:t>-</a:t>
              </a:r>
            </a:p>
            <a:p>
              <a:r>
                <a:rPr lang="de-DE" sz="700" dirty="0" err="1"/>
                <a:t>te</a:t>
              </a:r>
              <a:r>
                <a:rPr lang="de-DE" sz="700" dirty="0"/>
                <a:t> jetzt den Markt und </a:t>
              </a:r>
            </a:p>
            <a:p>
              <a:r>
                <a:rPr lang="de-DE" sz="700" dirty="0"/>
                <a:t>die Aktie!</a:t>
              </a:r>
            </a:p>
          </p:txBody>
        </p:sp>
      </p:grpSp>
      <p:sp>
        <p:nvSpPr>
          <p:cNvPr id="4" name="Titel">
            <a:extLst>
              <a:ext uri="{FF2B5EF4-FFF2-40B4-BE49-F238E27FC236}">
                <a16:creationId xmlns:a16="http://schemas.microsoft.com/office/drawing/2014/main" id="{FE3CCEAB-2675-9D1F-F2D8-3D54565B46ED}"/>
              </a:ext>
            </a:extLst>
          </p:cNvPr>
          <p:cNvSpPr>
            <a:spLocks noGrp="1" noRot="1" noMove="1" noResize="1" noEditPoints="1" noAdjustHandles="1" noChangeArrowheads="1" noChangeShapeType="1"/>
          </p:cNvSpPr>
          <p:nvPr>
            <p:ph type="title"/>
          </p:nvPr>
        </p:nvSpPr>
        <p:spPr/>
        <p:txBody>
          <a:bodyPr/>
          <a:lstStyle/>
          <a:p>
            <a:r>
              <a:rPr lang="de-DE" dirty="0"/>
              <a:t>Die Fallstricke des typischen Investors</a:t>
            </a:r>
          </a:p>
        </p:txBody>
      </p:sp>
    </p:spTree>
    <p:extLst>
      <p:ext uri="{BB962C8B-B14F-4D97-AF65-F5344CB8AC3E}">
        <p14:creationId xmlns:p14="http://schemas.microsoft.com/office/powerpoint/2010/main" val="1916328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3" name="Diagramm">
            <a:extLst>
              <a:ext uri="{FF2B5EF4-FFF2-40B4-BE49-F238E27FC236}">
                <a16:creationId xmlns:a16="http://schemas.microsoft.com/office/drawing/2014/main" id="{A1C7E27E-8D81-FCEC-9F5E-4427E6D1258E}"/>
              </a:ext>
            </a:extLst>
          </p:cNvPr>
          <p:cNvGraphicFramePr>
            <a:graphicFrameLocks noGrp="1"/>
          </p:cNvGraphicFramePr>
          <p:nvPr>
            <p:ph idx="1"/>
          </p:nvPr>
        </p:nvGraphicFramePr>
        <p:xfrm>
          <a:off x="304800" y="1041400"/>
          <a:ext cx="9810752" cy="4618577"/>
        </p:xfrm>
        <a:graphic>
          <a:graphicData uri="http://schemas.openxmlformats.org/drawingml/2006/chart">
            <c:chart xmlns:c="http://schemas.openxmlformats.org/drawingml/2006/chart" xmlns:r="http://schemas.openxmlformats.org/officeDocument/2006/relationships" r:id="rId2"/>
          </a:graphicData>
        </a:graphic>
      </p:graphicFrame>
      <p:sp>
        <p:nvSpPr>
          <p:cNvPr id="2" name="Foliennummer">
            <a:extLst>
              <a:ext uri="{FF2B5EF4-FFF2-40B4-BE49-F238E27FC236}">
                <a16:creationId xmlns:a16="http://schemas.microsoft.com/office/drawing/2014/main" id="{C6F82169-69A4-8CBA-4FAB-91D17475B46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6</a:t>
            </a:fld>
            <a:endParaRPr lang="de-DE"/>
          </a:p>
        </p:txBody>
      </p:sp>
      <p:cxnSp>
        <p:nvCxnSpPr>
          <p:cNvPr id="9" name="Linie unten">
            <a:extLst>
              <a:ext uri="{FF2B5EF4-FFF2-40B4-BE49-F238E27FC236}">
                <a16:creationId xmlns:a16="http://schemas.microsoft.com/office/drawing/2014/main" id="{0715AACA-CBDA-93F9-D9F7-369F21F90C2A}"/>
              </a:ext>
            </a:extLst>
          </p:cNvPr>
          <p:cNvCxnSpPr>
            <a:cxnSpLocks noGrp="1" noRot="1" noMove="1" noResize="1" noEditPoints="1" noAdjustHandles="1" noChangeArrowheads="1" noChangeShapeType="1"/>
          </p:cNvCxnSpPr>
          <p:nvPr/>
        </p:nvCxnSpPr>
        <p:spPr>
          <a:xfrm>
            <a:off x="358775" y="5263454"/>
            <a:ext cx="9756775"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6" name="Quelle">
            <a:extLst>
              <a:ext uri="{FF2B5EF4-FFF2-40B4-BE49-F238E27FC236}">
                <a16:creationId xmlns:a16="http://schemas.microsoft.com/office/drawing/2014/main" id="{EAC6A0B8-642C-E3B8-B843-12B454B90915}"/>
              </a:ext>
            </a:extLst>
          </p:cNvPr>
          <p:cNvSpPr txBox="1">
            <a:spLocks/>
          </p:cNvSpPr>
          <p:nvPr/>
        </p:nvSpPr>
        <p:spPr>
          <a:xfrm>
            <a:off x="2016125" y="5342343"/>
            <a:ext cx="8099425" cy="116057"/>
          </a:xfrm>
          <a:prstGeom prst="rect">
            <a:avLst/>
          </a:prstGeom>
          <a:noFill/>
        </p:spPr>
        <p:txBody>
          <a:bodyPr wrap="square" lIns="0" tIns="0" rIns="0" bIns="0" rtlCol="0">
            <a:spAutoFit/>
          </a:bodyPr>
          <a:lstStyle/>
          <a:p>
            <a:pPr algn="r">
              <a:lnSpc>
                <a:spcPts val="1000"/>
              </a:lnSpc>
            </a:pPr>
            <a:r>
              <a:rPr lang="de-DE" sz="600" dirty="0">
                <a:solidFill>
                  <a:schemeClr val="tx1">
                    <a:lumMod val="50000"/>
                    <a:lumOff val="50000"/>
                  </a:schemeClr>
                </a:solidFill>
              </a:rPr>
              <a:t>Zugrundeliegender Zeitraum: 1980 bis 2023 | Stand: Dezember 2023 | Quelle: Bloomberg</a:t>
            </a:r>
          </a:p>
        </p:txBody>
      </p:sp>
      <p:sp>
        <p:nvSpPr>
          <p:cNvPr id="15" name="Header Diagramm">
            <a:extLst>
              <a:ext uri="{FF2B5EF4-FFF2-40B4-BE49-F238E27FC236}">
                <a16:creationId xmlns:a16="http://schemas.microsoft.com/office/drawing/2014/main" id="{56267971-4A21-44A2-D4FE-610F1478D7F8}"/>
              </a:ext>
            </a:extLst>
          </p:cNvPr>
          <p:cNvSpPr txBox="1">
            <a:spLocks noGrp="1" noRot="1" noMove="1" noResize="1" noEditPoints="1" noAdjustHandles="1" noChangeArrowheads="1" noChangeShapeType="1"/>
          </p:cNvSpPr>
          <p:nvPr/>
        </p:nvSpPr>
        <p:spPr>
          <a:xfrm>
            <a:off x="359550" y="1040400"/>
            <a:ext cx="9756000" cy="216000"/>
          </a:xfrm>
          <a:prstGeom prst="rect">
            <a:avLst/>
          </a:prstGeom>
          <a:solidFill>
            <a:schemeClr val="accent1"/>
          </a:solidFill>
          <a:ln>
            <a:noFill/>
          </a:ln>
        </p:spPr>
        <p:txBody>
          <a:bodyPr wrap="none" rtlCol="0">
            <a:noAutofit/>
          </a:bodyPr>
          <a:lstStyle/>
          <a:p>
            <a:r>
              <a:rPr lang="de-DE" sz="900" b="1" dirty="0">
                <a:solidFill>
                  <a:schemeClr val="bg1"/>
                </a:solidFill>
              </a:rPr>
              <a:t>PERFORMANCE P. A. – INVESTIERT BLEIBEN LOHNT SICH</a:t>
            </a:r>
          </a:p>
        </p:txBody>
      </p:sp>
      <p:sp>
        <p:nvSpPr>
          <p:cNvPr id="4" name="Titel">
            <a:extLst>
              <a:ext uri="{FF2B5EF4-FFF2-40B4-BE49-F238E27FC236}">
                <a16:creationId xmlns:a16="http://schemas.microsoft.com/office/drawing/2014/main" id="{6CC753F0-ABF8-7093-418C-8C1671F84F68}"/>
              </a:ext>
            </a:extLst>
          </p:cNvPr>
          <p:cNvSpPr>
            <a:spLocks noGrp="1" noRot="1" noMove="1" noResize="1" noEditPoints="1" noAdjustHandles="1" noChangeArrowheads="1" noChangeShapeType="1"/>
          </p:cNvSpPr>
          <p:nvPr>
            <p:ph type="title"/>
          </p:nvPr>
        </p:nvSpPr>
        <p:spPr/>
        <p:txBody>
          <a:bodyPr/>
          <a:lstStyle/>
          <a:p>
            <a:r>
              <a:rPr lang="de-DE"/>
              <a:t>Durchhalten zahlt sich aus</a:t>
            </a:r>
            <a:endParaRPr lang="de-DE" dirty="0"/>
          </a:p>
        </p:txBody>
      </p:sp>
    </p:spTree>
    <p:extLst>
      <p:ext uri="{BB962C8B-B14F-4D97-AF65-F5344CB8AC3E}">
        <p14:creationId xmlns:p14="http://schemas.microsoft.com/office/powerpoint/2010/main" val="202503386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3" name="Diagramm">
            <a:extLst>
              <a:ext uri="{FF2B5EF4-FFF2-40B4-BE49-F238E27FC236}">
                <a16:creationId xmlns:a16="http://schemas.microsoft.com/office/drawing/2014/main" id="{A1C7E27E-8D81-FCEC-9F5E-4427E6D1258E}"/>
              </a:ext>
            </a:extLst>
          </p:cNvPr>
          <p:cNvGraphicFramePr>
            <a:graphicFrameLocks noGrp="1" noDrilldown="1" noMove="1" noResize="1"/>
          </p:cNvGraphicFramePr>
          <p:nvPr>
            <p:ph idx="1"/>
          </p:nvPr>
        </p:nvGraphicFramePr>
        <p:xfrm>
          <a:off x="358775" y="1041400"/>
          <a:ext cx="9756775" cy="4618577"/>
        </p:xfrm>
        <a:graphic>
          <a:graphicData uri="http://schemas.openxmlformats.org/drawingml/2006/chart">
            <c:chart xmlns:c="http://schemas.openxmlformats.org/drawingml/2006/chart" xmlns:r="http://schemas.openxmlformats.org/officeDocument/2006/relationships" r:id="rId2"/>
          </a:graphicData>
        </a:graphic>
      </p:graphicFrame>
      <p:sp>
        <p:nvSpPr>
          <p:cNvPr id="2" name="Foliennummer">
            <a:extLst>
              <a:ext uri="{FF2B5EF4-FFF2-40B4-BE49-F238E27FC236}">
                <a16:creationId xmlns:a16="http://schemas.microsoft.com/office/drawing/2014/main" id="{C6F82169-69A4-8CBA-4FAB-91D17475B46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7</a:t>
            </a:fld>
            <a:endParaRPr lang="de-DE"/>
          </a:p>
        </p:txBody>
      </p:sp>
      <p:cxnSp>
        <p:nvCxnSpPr>
          <p:cNvPr id="9" name="Linie unten">
            <a:extLst>
              <a:ext uri="{FF2B5EF4-FFF2-40B4-BE49-F238E27FC236}">
                <a16:creationId xmlns:a16="http://schemas.microsoft.com/office/drawing/2014/main" id="{0715AACA-CBDA-93F9-D9F7-369F21F90C2A}"/>
              </a:ext>
            </a:extLst>
          </p:cNvPr>
          <p:cNvCxnSpPr>
            <a:cxnSpLocks noGrp="1" noRot="1" noMove="1" noResize="1" noEditPoints="1" noAdjustHandles="1" noChangeArrowheads="1" noChangeShapeType="1"/>
          </p:cNvCxnSpPr>
          <p:nvPr/>
        </p:nvCxnSpPr>
        <p:spPr>
          <a:xfrm>
            <a:off x="358775" y="5263454"/>
            <a:ext cx="9756775"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6" name="Quelle">
            <a:extLst>
              <a:ext uri="{FF2B5EF4-FFF2-40B4-BE49-F238E27FC236}">
                <a16:creationId xmlns:a16="http://schemas.microsoft.com/office/drawing/2014/main" id="{EAC6A0B8-642C-E3B8-B843-12B454B90915}"/>
              </a:ext>
            </a:extLst>
          </p:cNvPr>
          <p:cNvSpPr txBox="1">
            <a:spLocks noGrp="1" noRot="1" noMove="1" noResize="1" noEditPoints="1" noAdjustHandles="1" noChangeArrowheads="1" noChangeShapeType="1"/>
          </p:cNvSpPr>
          <p:nvPr/>
        </p:nvSpPr>
        <p:spPr>
          <a:xfrm>
            <a:off x="2016125" y="5342343"/>
            <a:ext cx="8099425" cy="116057"/>
          </a:xfrm>
          <a:prstGeom prst="rect">
            <a:avLst/>
          </a:prstGeom>
          <a:noFill/>
        </p:spPr>
        <p:txBody>
          <a:bodyPr wrap="square" lIns="0" tIns="0" rIns="0" bIns="0" rtlCol="0">
            <a:spAutoFit/>
          </a:bodyPr>
          <a:lstStyle/>
          <a:p>
            <a:pPr algn="r">
              <a:lnSpc>
                <a:spcPts val="1000"/>
              </a:lnSpc>
            </a:pPr>
            <a:r>
              <a:rPr lang="de-DE" sz="600" dirty="0">
                <a:solidFill>
                  <a:schemeClr val="tx1">
                    <a:lumMod val="50000"/>
                    <a:lumOff val="50000"/>
                  </a:schemeClr>
                </a:solidFill>
              </a:rPr>
              <a:t>Zugrundeliegender Zeitraum: 1980 bis 2023 | Zugrundeliegender Zeitraum: | Stand: Dezember 2023 | Quelle: Bloomberg</a:t>
            </a:r>
          </a:p>
        </p:txBody>
      </p:sp>
      <p:sp>
        <p:nvSpPr>
          <p:cNvPr id="15" name="Header Diagramm">
            <a:extLst>
              <a:ext uri="{FF2B5EF4-FFF2-40B4-BE49-F238E27FC236}">
                <a16:creationId xmlns:a16="http://schemas.microsoft.com/office/drawing/2014/main" id="{56267971-4A21-44A2-D4FE-610F1478D7F8}"/>
              </a:ext>
            </a:extLst>
          </p:cNvPr>
          <p:cNvSpPr txBox="1">
            <a:spLocks noGrp="1" noRot="1" noMove="1" noResize="1" noEditPoints="1" noAdjustHandles="1" noChangeArrowheads="1" noChangeShapeType="1"/>
          </p:cNvSpPr>
          <p:nvPr/>
        </p:nvSpPr>
        <p:spPr>
          <a:xfrm>
            <a:off x="359550" y="1040400"/>
            <a:ext cx="9756000" cy="216000"/>
          </a:xfrm>
          <a:prstGeom prst="rect">
            <a:avLst/>
          </a:prstGeom>
          <a:solidFill>
            <a:schemeClr val="accent1"/>
          </a:solidFill>
          <a:ln>
            <a:noFill/>
          </a:ln>
        </p:spPr>
        <p:txBody>
          <a:bodyPr wrap="none" rtlCol="0">
            <a:noAutofit/>
          </a:bodyPr>
          <a:lstStyle/>
          <a:p>
            <a:r>
              <a:rPr lang="de-DE" sz="900" b="1" dirty="0">
                <a:solidFill>
                  <a:schemeClr val="bg1"/>
                </a:solidFill>
              </a:rPr>
              <a:t>BESTE/SCHLECHTESTE JAHRESPERFORMANCE IN ROLLIERENDEN ZEITRÄUMEN DES MSCI WORLD INDEXES</a:t>
            </a:r>
          </a:p>
        </p:txBody>
      </p:sp>
      <p:sp>
        <p:nvSpPr>
          <p:cNvPr id="4" name="Titel">
            <a:extLst>
              <a:ext uri="{FF2B5EF4-FFF2-40B4-BE49-F238E27FC236}">
                <a16:creationId xmlns:a16="http://schemas.microsoft.com/office/drawing/2014/main" id="{6CC753F0-ABF8-7093-418C-8C1671F84F68}"/>
              </a:ext>
            </a:extLst>
          </p:cNvPr>
          <p:cNvSpPr>
            <a:spLocks noGrp="1" noRot="1" noMove="1" noResize="1" noEditPoints="1" noAdjustHandles="1" noChangeArrowheads="1" noChangeShapeType="1"/>
          </p:cNvSpPr>
          <p:nvPr>
            <p:ph type="title"/>
          </p:nvPr>
        </p:nvSpPr>
        <p:spPr/>
        <p:txBody>
          <a:bodyPr/>
          <a:lstStyle/>
          <a:p>
            <a:r>
              <a:rPr lang="de-DE" dirty="0"/>
              <a:t>Gute Jahre überwiegen</a:t>
            </a:r>
          </a:p>
        </p:txBody>
      </p:sp>
    </p:spTree>
    <p:extLst>
      <p:ext uri="{BB962C8B-B14F-4D97-AF65-F5344CB8AC3E}">
        <p14:creationId xmlns:p14="http://schemas.microsoft.com/office/powerpoint/2010/main" val="351411241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3" name="Diagramm">
            <a:extLst>
              <a:ext uri="{FF2B5EF4-FFF2-40B4-BE49-F238E27FC236}">
                <a16:creationId xmlns:a16="http://schemas.microsoft.com/office/drawing/2014/main" id="{A1C7E27E-8D81-FCEC-9F5E-4427E6D1258E}"/>
              </a:ext>
            </a:extLst>
          </p:cNvPr>
          <p:cNvGraphicFramePr>
            <a:graphicFrameLocks noGrp="1" noDrilldown="1" noMove="1" noResize="1"/>
          </p:cNvGraphicFramePr>
          <p:nvPr>
            <p:ph idx="1"/>
          </p:nvPr>
        </p:nvGraphicFramePr>
        <p:xfrm>
          <a:off x="298450" y="1041400"/>
          <a:ext cx="9817101" cy="4618577"/>
        </p:xfrm>
        <a:graphic>
          <a:graphicData uri="http://schemas.openxmlformats.org/drawingml/2006/chart">
            <c:chart xmlns:c="http://schemas.openxmlformats.org/drawingml/2006/chart" xmlns:r="http://schemas.openxmlformats.org/officeDocument/2006/relationships" r:id="rId2"/>
          </a:graphicData>
        </a:graphic>
      </p:graphicFrame>
      <p:sp>
        <p:nvSpPr>
          <p:cNvPr id="2" name="Foliennummer">
            <a:extLst>
              <a:ext uri="{FF2B5EF4-FFF2-40B4-BE49-F238E27FC236}">
                <a16:creationId xmlns:a16="http://schemas.microsoft.com/office/drawing/2014/main" id="{C6F82169-69A4-8CBA-4FAB-91D17475B46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8</a:t>
            </a:fld>
            <a:endParaRPr lang="de-DE"/>
          </a:p>
        </p:txBody>
      </p:sp>
      <p:cxnSp>
        <p:nvCxnSpPr>
          <p:cNvPr id="9" name="Linie unten">
            <a:extLst>
              <a:ext uri="{FF2B5EF4-FFF2-40B4-BE49-F238E27FC236}">
                <a16:creationId xmlns:a16="http://schemas.microsoft.com/office/drawing/2014/main" id="{0715AACA-CBDA-93F9-D9F7-369F21F90C2A}"/>
              </a:ext>
            </a:extLst>
          </p:cNvPr>
          <p:cNvCxnSpPr>
            <a:cxnSpLocks noGrp="1" noRot="1" noMove="1" noResize="1" noEditPoints="1" noAdjustHandles="1" noChangeArrowheads="1" noChangeShapeType="1"/>
          </p:cNvCxnSpPr>
          <p:nvPr/>
        </p:nvCxnSpPr>
        <p:spPr>
          <a:xfrm>
            <a:off x="358775" y="5263454"/>
            <a:ext cx="9756775"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 name="Linie oben">
            <a:extLst>
              <a:ext uri="{FF2B5EF4-FFF2-40B4-BE49-F238E27FC236}">
                <a16:creationId xmlns:a16="http://schemas.microsoft.com/office/drawing/2014/main" id="{E3ECABB8-F711-1800-A77C-F1C075675CEE}"/>
              </a:ext>
            </a:extLst>
          </p:cNvPr>
          <p:cNvCxnSpPr>
            <a:cxnSpLocks noGrp="1" noRot="1" noMove="1" noResize="1" noEditPoints="1" noAdjustHandles="1" noChangeArrowheads="1" noChangeShapeType="1"/>
          </p:cNvCxnSpPr>
          <p:nvPr/>
        </p:nvCxnSpPr>
        <p:spPr>
          <a:xfrm>
            <a:off x="358775" y="1041400"/>
            <a:ext cx="9756775"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6" name="Quelle">
            <a:extLst>
              <a:ext uri="{FF2B5EF4-FFF2-40B4-BE49-F238E27FC236}">
                <a16:creationId xmlns:a16="http://schemas.microsoft.com/office/drawing/2014/main" id="{EAC6A0B8-642C-E3B8-B843-12B454B90915}"/>
              </a:ext>
            </a:extLst>
          </p:cNvPr>
          <p:cNvSpPr txBox="1">
            <a:spLocks noGrp="1" noRot="1" noMove="1" noResize="1" noEditPoints="1" noAdjustHandles="1" noChangeArrowheads="1" noChangeShapeType="1"/>
          </p:cNvSpPr>
          <p:nvPr/>
        </p:nvSpPr>
        <p:spPr>
          <a:xfrm>
            <a:off x="2016125" y="5342343"/>
            <a:ext cx="8099425" cy="116057"/>
          </a:xfrm>
          <a:prstGeom prst="rect">
            <a:avLst/>
          </a:prstGeom>
          <a:noFill/>
        </p:spPr>
        <p:txBody>
          <a:bodyPr wrap="square" lIns="0" tIns="0" rIns="0" bIns="0" rtlCol="0">
            <a:spAutoFit/>
          </a:bodyPr>
          <a:lstStyle/>
          <a:p>
            <a:pPr algn="r">
              <a:lnSpc>
                <a:spcPts val="1000"/>
              </a:lnSpc>
            </a:pPr>
            <a:r>
              <a:rPr lang="de-DE" sz="600" dirty="0">
                <a:solidFill>
                  <a:schemeClr val="tx1">
                    <a:lumMod val="50000"/>
                    <a:lumOff val="50000"/>
                  </a:schemeClr>
                </a:solidFill>
              </a:rPr>
              <a:t> Zugrundeliegender Zeitraum: 1980 bis 2023 | Index: MSCI World | Stand: Dezember 2023 | Quelle: Bloomberg</a:t>
            </a:r>
          </a:p>
        </p:txBody>
      </p:sp>
      <p:sp>
        <p:nvSpPr>
          <p:cNvPr id="4" name="Titel">
            <a:extLst>
              <a:ext uri="{FF2B5EF4-FFF2-40B4-BE49-F238E27FC236}">
                <a16:creationId xmlns:a16="http://schemas.microsoft.com/office/drawing/2014/main" id="{6CC753F0-ABF8-7093-418C-8C1671F84F68}"/>
              </a:ext>
            </a:extLst>
          </p:cNvPr>
          <p:cNvSpPr>
            <a:spLocks noGrp="1" noRot="1" noMove="1" noResize="1" noEditPoints="1" noAdjustHandles="1" noChangeArrowheads="1" noChangeShapeType="1"/>
          </p:cNvSpPr>
          <p:nvPr>
            <p:ph type="title"/>
          </p:nvPr>
        </p:nvSpPr>
        <p:spPr/>
        <p:txBody>
          <a:bodyPr/>
          <a:lstStyle/>
          <a:p>
            <a:r>
              <a:rPr lang="de-DE" dirty="0"/>
              <a:t>Krise als Chance</a:t>
            </a:r>
          </a:p>
        </p:txBody>
      </p:sp>
    </p:spTree>
    <p:extLst>
      <p:ext uri="{BB962C8B-B14F-4D97-AF65-F5344CB8AC3E}">
        <p14:creationId xmlns:p14="http://schemas.microsoft.com/office/powerpoint/2010/main" val="352758912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2ED39924-74B5-00FD-A70C-790E06EB5CE9}"/>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9</a:t>
            </a:fld>
            <a:endParaRPr lang="de-DE"/>
          </a:p>
        </p:txBody>
      </p:sp>
      <p:cxnSp>
        <p:nvCxnSpPr>
          <p:cNvPr id="19" name="Linie unten">
            <a:extLst>
              <a:ext uri="{FF2B5EF4-FFF2-40B4-BE49-F238E27FC236}">
                <a16:creationId xmlns:a16="http://schemas.microsoft.com/office/drawing/2014/main" id="{095B3FDF-72A7-3FE2-8A64-19D9330F1672}"/>
              </a:ext>
            </a:extLst>
          </p:cNvPr>
          <p:cNvCxnSpPr>
            <a:cxnSpLocks noGrp="1" noRot="1" noMove="1" noResize="1" noEditPoints="1" noAdjustHandles="1" noChangeArrowheads="1" noChangeShapeType="1"/>
          </p:cNvCxnSpPr>
          <p:nvPr/>
        </p:nvCxnSpPr>
        <p:spPr>
          <a:xfrm>
            <a:off x="358775" y="4697841"/>
            <a:ext cx="9756775"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nvGrpSpPr>
          <p:cNvPr id="25" name="Orgamigramm">
            <a:extLst>
              <a:ext uri="{FF2B5EF4-FFF2-40B4-BE49-F238E27FC236}">
                <a16:creationId xmlns:a16="http://schemas.microsoft.com/office/drawing/2014/main" id="{5468EEB0-A25B-0A79-1F38-55959B6F0D29}"/>
              </a:ext>
            </a:extLst>
          </p:cNvPr>
          <p:cNvGrpSpPr>
            <a:grpSpLocks noGrp="1" noUngrp="1" noRot="1" noMove="1" noResize="1"/>
          </p:cNvGrpSpPr>
          <p:nvPr/>
        </p:nvGrpSpPr>
        <p:grpSpPr>
          <a:xfrm>
            <a:off x="358775" y="1041400"/>
            <a:ext cx="9756774" cy="3433235"/>
            <a:chOff x="358775" y="1041400"/>
            <a:chExt cx="9756774" cy="3433235"/>
          </a:xfrm>
        </p:grpSpPr>
        <p:grpSp>
          <p:nvGrpSpPr>
            <p:cNvPr id="23" name="Unten">
              <a:extLst>
                <a:ext uri="{FF2B5EF4-FFF2-40B4-BE49-F238E27FC236}">
                  <a16:creationId xmlns:a16="http://schemas.microsoft.com/office/drawing/2014/main" id="{E8D3F5E9-FDBF-D0BA-62BF-4A164B4CE44C}"/>
                </a:ext>
              </a:extLst>
            </p:cNvPr>
            <p:cNvGrpSpPr>
              <a:grpSpLocks noGrp="1" noUngrp="1" noRot="1" noMove="1" noResize="1"/>
            </p:cNvGrpSpPr>
            <p:nvPr/>
          </p:nvGrpSpPr>
          <p:grpSpPr>
            <a:xfrm>
              <a:off x="358775" y="3581401"/>
              <a:ext cx="9756774" cy="893234"/>
              <a:chOff x="358775" y="3581401"/>
              <a:chExt cx="9756774" cy="893234"/>
            </a:xfrm>
          </p:grpSpPr>
          <p:sp>
            <p:nvSpPr>
              <p:cNvPr id="12" name="Rechts">
                <a:extLst>
                  <a:ext uri="{FF2B5EF4-FFF2-40B4-BE49-F238E27FC236}">
                    <a16:creationId xmlns:a16="http://schemas.microsoft.com/office/drawing/2014/main" id="{964F466B-C867-EAF9-835D-651B52981610}"/>
                  </a:ext>
                </a:extLst>
              </p:cNvPr>
              <p:cNvSpPr>
                <a:spLocks noGrp="1" noRot="1" noMove="1" noResize="1" noEditPoints="1" noAdjustHandles="1" noChangeArrowheads="1" noChangeShapeType="1"/>
              </p:cNvSpPr>
              <p:nvPr/>
            </p:nvSpPr>
            <p:spPr>
              <a:xfrm>
                <a:off x="7810499" y="3581401"/>
                <a:ext cx="2305050"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Hoher freier Cashflow  </a:t>
                </a:r>
              </a:p>
              <a:p>
                <a:pPr algn="ctr"/>
                <a:r>
                  <a:rPr lang="de-DE" sz="900" b="1" dirty="0">
                    <a:solidFill>
                      <a:schemeClr val="accent1"/>
                    </a:solidFill>
                  </a:rPr>
                  <a:t>(Ziel: Tilgung des Fremdkapitals  </a:t>
                </a:r>
              </a:p>
              <a:p>
                <a:pPr algn="ctr"/>
                <a:r>
                  <a:rPr lang="de-DE" sz="900" b="1" dirty="0">
                    <a:solidFill>
                      <a:schemeClr val="accent1"/>
                    </a:solidFill>
                  </a:rPr>
                  <a:t>mit liquiden Mitteln und Cashflow  </a:t>
                </a:r>
              </a:p>
              <a:p>
                <a:pPr algn="ctr"/>
                <a:r>
                  <a:rPr lang="de-DE" sz="900" b="1" dirty="0">
                    <a:solidFill>
                      <a:schemeClr val="accent1"/>
                    </a:solidFill>
                  </a:rPr>
                  <a:t>in &lt;10 Jahren)</a:t>
                </a:r>
              </a:p>
            </p:txBody>
          </p:sp>
          <p:sp>
            <p:nvSpPr>
              <p:cNvPr id="13" name="Mitte rechts">
                <a:extLst>
                  <a:ext uri="{FF2B5EF4-FFF2-40B4-BE49-F238E27FC236}">
                    <a16:creationId xmlns:a16="http://schemas.microsoft.com/office/drawing/2014/main" id="{EE59FA6D-165E-9994-CAAB-0727E0C5F5A4}"/>
                  </a:ext>
                </a:extLst>
              </p:cNvPr>
              <p:cNvSpPr>
                <a:spLocks noGrp="1" noRot="1" noMove="1" noResize="1" noEditPoints="1" noAdjustHandles="1" noChangeArrowheads="1" noChangeShapeType="1"/>
              </p:cNvSpPr>
              <p:nvPr/>
            </p:nvSpPr>
            <p:spPr>
              <a:xfrm>
                <a:off x="6156324" y="3581401"/>
                <a:ext cx="1476375"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Large Cap</a:t>
                </a:r>
              </a:p>
            </p:txBody>
          </p:sp>
          <p:sp>
            <p:nvSpPr>
              <p:cNvPr id="14" name="Mitte">
                <a:extLst>
                  <a:ext uri="{FF2B5EF4-FFF2-40B4-BE49-F238E27FC236}">
                    <a16:creationId xmlns:a16="http://schemas.microsoft.com/office/drawing/2014/main" id="{A2610C7D-FD7F-CD43-AA47-FADEC1A379DB}"/>
                  </a:ext>
                </a:extLst>
              </p:cNvPr>
              <p:cNvSpPr>
                <a:spLocks noGrp="1" noRot="1" noMove="1" noResize="1" noEditPoints="1" noAdjustHandles="1" noChangeArrowheads="1" noChangeShapeType="1"/>
              </p:cNvSpPr>
              <p:nvPr/>
            </p:nvSpPr>
            <p:spPr>
              <a:xfrm>
                <a:off x="4502149" y="3581401"/>
                <a:ext cx="1476375"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Starkes Management</a:t>
                </a:r>
              </a:p>
            </p:txBody>
          </p:sp>
          <p:sp>
            <p:nvSpPr>
              <p:cNvPr id="15" name="Mitte links">
                <a:extLst>
                  <a:ext uri="{FF2B5EF4-FFF2-40B4-BE49-F238E27FC236}">
                    <a16:creationId xmlns:a16="http://schemas.microsoft.com/office/drawing/2014/main" id="{B54D74D3-AA28-48EA-2F1D-C9EAD862DBB2}"/>
                  </a:ext>
                </a:extLst>
              </p:cNvPr>
              <p:cNvSpPr>
                <a:spLocks noGrp="1" noRot="1" noMove="1" noResize="1" noEditPoints="1" noAdjustHandles="1" noChangeArrowheads="1" noChangeShapeType="1"/>
              </p:cNvSpPr>
              <p:nvPr/>
            </p:nvSpPr>
            <p:spPr>
              <a:xfrm>
                <a:off x="2847974" y="3581401"/>
                <a:ext cx="1476375"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Starke Marktposition</a:t>
                </a:r>
              </a:p>
            </p:txBody>
          </p:sp>
          <p:sp>
            <p:nvSpPr>
              <p:cNvPr id="17" name="Links">
                <a:extLst>
                  <a:ext uri="{FF2B5EF4-FFF2-40B4-BE49-F238E27FC236}">
                    <a16:creationId xmlns:a16="http://schemas.microsoft.com/office/drawing/2014/main" id="{BD1FEA6D-4D92-B475-8C9F-A299C3EE0420}"/>
                  </a:ext>
                </a:extLst>
              </p:cNvPr>
              <p:cNvSpPr>
                <a:spLocks noGrp="1" noRot="1" noMove="1" noResize="1" noEditPoints="1" noAdjustHandles="1" noChangeArrowheads="1" noChangeShapeType="1"/>
              </p:cNvSpPr>
              <p:nvPr/>
            </p:nvSpPr>
            <p:spPr>
              <a:xfrm>
                <a:off x="358775" y="3581401"/>
                <a:ext cx="2305050"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Existenz additiver Kurstreiber:</a:t>
                </a:r>
              </a:p>
              <a:p>
                <a:pPr algn="ctr"/>
                <a:r>
                  <a:rPr lang="de-DE" sz="900" b="1" dirty="0">
                    <a:solidFill>
                      <a:schemeClr val="accent1"/>
                    </a:solidFill>
                  </a:rPr>
                  <a:t>Prognoseerhöhungen</a:t>
                </a:r>
              </a:p>
            </p:txBody>
          </p:sp>
        </p:grpSp>
        <p:grpSp>
          <p:nvGrpSpPr>
            <p:cNvPr id="22" name="Mitte">
              <a:extLst>
                <a:ext uri="{FF2B5EF4-FFF2-40B4-BE49-F238E27FC236}">
                  <a16:creationId xmlns:a16="http://schemas.microsoft.com/office/drawing/2014/main" id="{A6FF29FB-38CD-7077-E1F8-62AB2A6ABD24}"/>
                </a:ext>
              </a:extLst>
            </p:cNvPr>
            <p:cNvGrpSpPr>
              <a:grpSpLocks noGrp="1" noUngrp="1" noRot="1" noMove="1" noResize="1"/>
            </p:cNvGrpSpPr>
            <p:nvPr/>
          </p:nvGrpSpPr>
          <p:grpSpPr>
            <a:xfrm>
              <a:off x="358775" y="2510367"/>
              <a:ext cx="9756774" cy="893234"/>
              <a:chOff x="358775" y="2510367"/>
              <a:chExt cx="9756774" cy="893234"/>
            </a:xfrm>
          </p:grpSpPr>
          <p:sp>
            <p:nvSpPr>
              <p:cNvPr id="11" name="Rechts">
                <a:extLst>
                  <a:ext uri="{FF2B5EF4-FFF2-40B4-BE49-F238E27FC236}">
                    <a16:creationId xmlns:a16="http://schemas.microsoft.com/office/drawing/2014/main" id="{ED008AE3-78B5-75EB-BA0C-E7D355E25641}"/>
                  </a:ext>
                </a:extLst>
              </p:cNvPr>
              <p:cNvSpPr>
                <a:spLocks noGrp="1" noRot="1" noMove="1" noResize="1" noEditPoints="1" noAdjustHandles="1" noChangeArrowheads="1" noChangeShapeType="1"/>
              </p:cNvSpPr>
              <p:nvPr/>
            </p:nvSpPr>
            <p:spPr>
              <a:xfrm>
                <a:off x="7810499" y="2510367"/>
                <a:ext cx="2305050"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1-, 3-, 5-Jahres-Performance positiv</a:t>
                </a:r>
              </a:p>
            </p:txBody>
          </p:sp>
          <p:sp>
            <p:nvSpPr>
              <p:cNvPr id="18" name="Mitte">
                <a:extLst>
                  <a:ext uri="{FF2B5EF4-FFF2-40B4-BE49-F238E27FC236}">
                    <a16:creationId xmlns:a16="http://schemas.microsoft.com/office/drawing/2014/main" id="{1B4C7A11-F064-3ADF-8EB5-8A5859D3E927}"/>
                  </a:ext>
                </a:extLst>
              </p:cNvPr>
              <p:cNvSpPr>
                <a:spLocks noGrp="1" noRot="1" noMove="1" noResize="1" noEditPoints="1" noAdjustHandles="1" noChangeArrowheads="1" noChangeShapeType="1"/>
              </p:cNvSpPr>
              <p:nvPr/>
            </p:nvSpPr>
            <p:spPr>
              <a:xfrm>
                <a:off x="2843213" y="2510367"/>
                <a:ext cx="4789486" cy="893234"/>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200" b="1" cap="all" dirty="0">
                    <a:solidFill>
                      <a:schemeClr val="bg1"/>
                    </a:solidFill>
                  </a:rPr>
                  <a:t>UNSERE LEITLINIEN</a:t>
                </a:r>
              </a:p>
            </p:txBody>
          </p:sp>
          <p:sp>
            <p:nvSpPr>
              <p:cNvPr id="16" name="Links">
                <a:extLst>
                  <a:ext uri="{FF2B5EF4-FFF2-40B4-BE49-F238E27FC236}">
                    <a16:creationId xmlns:a16="http://schemas.microsoft.com/office/drawing/2014/main" id="{55B1198D-EFA5-E45D-EF34-9C7CF660881D}"/>
                  </a:ext>
                </a:extLst>
              </p:cNvPr>
              <p:cNvSpPr>
                <a:spLocks noGrp="1" noRot="1" noMove="1" noResize="1" noEditPoints="1" noAdjustHandles="1" noChangeArrowheads="1" noChangeShapeType="1"/>
              </p:cNvSpPr>
              <p:nvPr/>
            </p:nvSpPr>
            <p:spPr>
              <a:xfrm>
                <a:off x="358775" y="2510367"/>
                <a:ext cx="2305050"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Berücksichtigung  </a:t>
                </a:r>
              </a:p>
              <a:p>
                <a:pPr algn="ctr"/>
                <a:r>
                  <a:rPr lang="de-DE" sz="900" b="1" dirty="0">
                    <a:solidFill>
                      <a:schemeClr val="accent1"/>
                    </a:solidFill>
                  </a:rPr>
                  <a:t>saisonaler Parameter</a:t>
                </a:r>
              </a:p>
            </p:txBody>
          </p:sp>
        </p:grpSp>
        <p:grpSp>
          <p:nvGrpSpPr>
            <p:cNvPr id="21" name="Oben">
              <a:extLst>
                <a:ext uri="{FF2B5EF4-FFF2-40B4-BE49-F238E27FC236}">
                  <a16:creationId xmlns:a16="http://schemas.microsoft.com/office/drawing/2014/main" id="{62580A02-F8CB-8E77-B404-95F435770AA9}"/>
                </a:ext>
              </a:extLst>
            </p:cNvPr>
            <p:cNvGrpSpPr>
              <a:grpSpLocks noGrp="1" noUngrp="1" noRot="1" noMove="1" noResize="1"/>
            </p:cNvGrpSpPr>
            <p:nvPr/>
          </p:nvGrpSpPr>
          <p:grpSpPr>
            <a:xfrm>
              <a:off x="358775" y="1439333"/>
              <a:ext cx="9756774" cy="893234"/>
              <a:chOff x="358775" y="1439333"/>
              <a:chExt cx="9756774" cy="893234"/>
            </a:xfrm>
          </p:grpSpPr>
          <p:sp>
            <p:nvSpPr>
              <p:cNvPr id="9" name="Rechts">
                <a:extLst>
                  <a:ext uri="{FF2B5EF4-FFF2-40B4-BE49-F238E27FC236}">
                    <a16:creationId xmlns:a16="http://schemas.microsoft.com/office/drawing/2014/main" id="{843123F4-A553-414E-101C-64E0F7623D21}"/>
                  </a:ext>
                </a:extLst>
              </p:cNvPr>
              <p:cNvSpPr>
                <a:spLocks noGrp="1" noRot="1" noMove="1" noResize="1" noEditPoints="1" noAdjustHandles="1" noChangeArrowheads="1" noChangeShapeType="1"/>
              </p:cNvSpPr>
              <p:nvPr/>
            </p:nvSpPr>
            <p:spPr>
              <a:xfrm>
                <a:off x="7810499" y="1439333"/>
                <a:ext cx="2305050"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Umsatzwachstum über  </a:t>
                </a:r>
              </a:p>
              <a:p>
                <a:pPr algn="ctr"/>
                <a:r>
                  <a:rPr lang="de-DE" sz="900" b="1" dirty="0">
                    <a:solidFill>
                      <a:schemeClr val="accent1"/>
                    </a:solidFill>
                  </a:rPr>
                  <a:t>dem Marktschnitt</a:t>
                </a:r>
              </a:p>
            </p:txBody>
          </p:sp>
          <p:sp>
            <p:nvSpPr>
              <p:cNvPr id="8" name="Mitte rechts">
                <a:extLst>
                  <a:ext uri="{FF2B5EF4-FFF2-40B4-BE49-F238E27FC236}">
                    <a16:creationId xmlns:a16="http://schemas.microsoft.com/office/drawing/2014/main" id="{555EFF35-45E1-7CB7-EC78-3FD4B81F4FC5}"/>
                  </a:ext>
                </a:extLst>
              </p:cNvPr>
              <p:cNvSpPr>
                <a:spLocks noGrp="1" noRot="1" noMove="1" noResize="1" noEditPoints="1" noAdjustHandles="1" noChangeArrowheads="1" noChangeShapeType="1"/>
              </p:cNvSpPr>
              <p:nvPr/>
            </p:nvSpPr>
            <p:spPr>
              <a:xfrm>
                <a:off x="5327650" y="1439333"/>
                <a:ext cx="2305050"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 Starkes Geschäftsmodell</a:t>
                </a:r>
              </a:p>
            </p:txBody>
          </p:sp>
          <p:sp>
            <p:nvSpPr>
              <p:cNvPr id="7" name="Mitte links">
                <a:extLst>
                  <a:ext uri="{FF2B5EF4-FFF2-40B4-BE49-F238E27FC236}">
                    <a16:creationId xmlns:a16="http://schemas.microsoft.com/office/drawing/2014/main" id="{C6C61715-884C-89B2-8B16-59AFD6E787F3}"/>
                  </a:ext>
                </a:extLst>
              </p:cNvPr>
              <p:cNvSpPr>
                <a:spLocks noGrp="1" noRot="1" noMove="1" noResize="1" noEditPoints="1" noAdjustHandles="1" noChangeArrowheads="1" noChangeShapeType="1"/>
              </p:cNvSpPr>
              <p:nvPr/>
            </p:nvSpPr>
            <p:spPr>
              <a:xfrm>
                <a:off x="2843213" y="1439333"/>
                <a:ext cx="2305050"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 Kursziel mehr als 10 % </a:t>
                </a:r>
              </a:p>
            </p:txBody>
          </p:sp>
          <p:sp>
            <p:nvSpPr>
              <p:cNvPr id="6" name="Links">
                <a:extLst>
                  <a:ext uri="{FF2B5EF4-FFF2-40B4-BE49-F238E27FC236}">
                    <a16:creationId xmlns:a16="http://schemas.microsoft.com/office/drawing/2014/main" id="{925EFDA7-D26C-FC0D-1B30-E374DC2AE8DC}"/>
                  </a:ext>
                </a:extLst>
              </p:cNvPr>
              <p:cNvSpPr>
                <a:spLocks noGrp="1" noRot="1" noMove="1" noResize="1" noEditPoints="1" noAdjustHandles="1" noChangeArrowheads="1" noChangeShapeType="1"/>
              </p:cNvSpPr>
              <p:nvPr/>
            </p:nvSpPr>
            <p:spPr>
              <a:xfrm>
                <a:off x="358775" y="1439333"/>
                <a:ext cx="2305050"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Hohe liquide Mittel in Relation  </a:t>
                </a:r>
              </a:p>
              <a:p>
                <a:pPr algn="ctr"/>
                <a:r>
                  <a:rPr lang="de-DE" sz="900" b="1" dirty="0">
                    <a:solidFill>
                      <a:schemeClr val="accent1"/>
                    </a:solidFill>
                  </a:rPr>
                  <a:t>zum Fremdkapital </a:t>
                </a:r>
              </a:p>
            </p:txBody>
          </p:sp>
        </p:grpSp>
        <p:sp>
          <p:nvSpPr>
            <p:cNvPr id="4" name="Header">
              <a:extLst>
                <a:ext uri="{FF2B5EF4-FFF2-40B4-BE49-F238E27FC236}">
                  <a16:creationId xmlns:a16="http://schemas.microsoft.com/office/drawing/2014/main" id="{D33570BE-E9F7-7AA1-DE1F-73C925A57A63}"/>
                </a:ext>
              </a:extLst>
            </p:cNvPr>
            <p:cNvSpPr>
              <a:spLocks noGrp="1" noRot="1" noMove="1" noResize="1" noEditPoints="1" noAdjustHandles="1" noChangeArrowheads="1" noChangeShapeType="1"/>
            </p:cNvSpPr>
            <p:nvPr/>
          </p:nvSpPr>
          <p:spPr>
            <a:xfrm>
              <a:off x="358775" y="1041400"/>
              <a:ext cx="9756774" cy="22013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bg1"/>
                  </a:solidFill>
                </a:rPr>
                <a:t>DIE WICHTIGSTEN ECKPFEILER UNSERER VERMÖGENSVERWALTUNG</a:t>
              </a:r>
            </a:p>
          </p:txBody>
        </p:sp>
      </p:grpSp>
      <p:sp>
        <p:nvSpPr>
          <p:cNvPr id="3" name="Titel">
            <a:extLst>
              <a:ext uri="{FF2B5EF4-FFF2-40B4-BE49-F238E27FC236}">
                <a16:creationId xmlns:a16="http://schemas.microsoft.com/office/drawing/2014/main" id="{2F1E125A-E4F1-2876-DCCC-8FE38F06E310}"/>
              </a:ext>
            </a:extLst>
          </p:cNvPr>
          <p:cNvSpPr>
            <a:spLocks noGrp="1" noRot="1" noMove="1" noResize="1" noEditPoints="1" noAdjustHandles="1" noChangeArrowheads="1" noChangeShapeType="1"/>
          </p:cNvSpPr>
          <p:nvPr>
            <p:ph type="title"/>
          </p:nvPr>
        </p:nvSpPr>
        <p:spPr/>
        <p:txBody>
          <a:bodyPr/>
          <a:lstStyle/>
          <a:p>
            <a:r>
              <a:rPr lang="de-DE" dirty="0"/>
              <a:t>Basis unserer Investmententscheidungen</a:t>
            </a:r>
          </a:p>
        </p:txBody>
      </p:sp>
    </p:spTree>
    <p:extLst>
      <p:ext uri="{BB962C8B-B14F-4D97-AF65-F5344CB8AC3E}">
        <p14:creationId xmlns:p14="http://schemas.microsoft.com/office/powerpoint/2010/main" val="356386669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liennummer">
            <a:extLst>
              <a:ext uri="{FF2B5EF4-FFF2-40B4-BE49-F238E27FC236}">
                <a16:creationId xmlns:a16="http://schemas.microsoft.com/office/drawing/2014/main" id="{4007EA5A-96E6-B43F-0DF7-768482385798}"/>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10</a:t>
            </a:fld>
            <a:endParaRPr lang="de-DE"/>
          </a:p>
        </p:txBody>
      </p:sp>
      <p:graphicFrame>
        <p:nvGraphicFramePr>
          <p:cNvPr id="5" name="C_Kennzahlen">
            <a:extLst>
              <a:ext uri="{FF2B5EF4-FFF2-40B4-BE49-F238E27FC236}">
                <a16:creationId xmlns:a16="http://schemas.microsoft.com/office/drawing/2014/main" id="{00000000-0008-0000-2E00-000002000000}"/>
              </a:ext>
            </a:extLst>
          </p:cNvPr>
          <p:cNvGraphicFramePr>
            <a:graphicFrameLocks noGrp="1" noDrilldown="1" noMove="1" noResize="1"/>
          </p:cNvGraphicFramePr>
          <p:nvPr/>
        </p:nvGraphicFramePr>
        <p:xfrm>
          <a:off x="355599" y="1040399"/>
          <a:ext cx="4788000" cy="4158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T_Kennzahlen">
            <a:extLst>
              <a:ext uri="{FF2B5EF4-FFF2-40B4-BE49-F238E27FC236}">
                <a16:creationId xmlns:a16="http://schemas.microsoft.com/office/drawing/2014/main" id="{6BE1D0F9-34B3-9150-2874-E7B68469B0CB}"/>
              </a:ext>
            </a:extLst>
          </p:cNvPr>
          <p:cNvGraphicFramePr>
            <a:graphicFrameLocks noGrp="1" noDrilldown="1" noMove="1" noResize="1"/>
          </p:cNvGraphicFramePr>
          <p:nvPr/>
        </p:nvGraphicFramePr>
        <p:xfrm>
          <a:off x="5334000" y="1040400"/>
          <a:ext cx="4787900" cy="4773840"/>
        </p:xfrm>
        <a:graphic>
          <a:graphicData uri="http://schemas.openxmlformats.org/drawingml/2006/table">
            <a:tbl>
              <a:tblPr/>
              <a:tblGrid>
                <a:gridCol w="2603500">
                  <a:extLst>
                    <a:ext uri="{9D8B030D-6E8A-4147-A177-3AD203B41FA5}">
                      <a16:colId xmlns:a16="http://schemas.microsoft.com/office/drawing/2014/main" val="1728175894"/>
                    </a:ext>
                  </a:extLst>
                </a:gridCol>
                <a:gridCol w="50800">
                  <a:extLst>
                    <a:ext uri="{9D8B030D-6E8A-4147-A177-3AD203B41FA5}">
                      <a16:colId xmlns:a16="http://schemas.microsoft.com/office/drawing/2014/main" val="2130602005"/>
                    </a:ext>
                  </a:extLst>
                </a:gridCol>
                <a:gridCol w="571500">
                  <a:extLst>
                    <a:ext uri="{9D8B030D-6E8A-4147-A177-3AD203B41FA5}">
                      <a16:colId xmlns:a16="http://schemas.microsoft.com/office/drawing/2014/main" val="4202399765"/>
                    </a:ext>
                  </a:extLst>
                </a:gridCol>
                <a:gridCol w="50800">
                  <a:extLst>
                    <a:ext uri="{9D8B030D-6E8A-4147-A177-3AD203B41FA5}">
                      <a16:colId xmlns:a16="http://schemas.microsoft.com/office/drawing/2014/main" val="4184945761"/>
                    </a:ext>
                  </a:extLst>
                </a:gridCol>
                <a:gridCol w="571500">
                  <a:extLst>
                    <a:ext uri="{9D8B030D-6E8A-4147-A177-3AD203B41FA5}">
                      <a16:colId xmlns:a16="http://schemas.microsoft.com/office/drawing/2014/main" val="2984768736"/>
                    </a:ext>
                  </a:extLst>
                </a:gridCol>
                <a:gridCol w="50800">
                  <a:extLst>
                    <a:ext uri="{9D8B030D-6E8A-4147-A177-3AD203B41FA5}">
                      <a16:colId xmlns:a16="http://schemas.microsoft.com/office/drawing/2014/main" val="35170253"/>
                    </a:ext>
                  </a:extLst>
                </a:gridCol>
                <a:gridCol w="889000">
                  <a:extLst>
                    <a:ext uri="{9D8B030D-6E8A-4147-A177-3AD203B41FA5}">
                      <a16:colId xmlns:a16="http://schemas.microsoft.com/office/drawing/2014/main" val="3775611984"/>
                    </a:ext>
                  </a:extLst>
                </a:gridCol>
              </a:tblGrid>
              <a:tr h="216000">
                <a:tc>
                  <a:txBody>
                    <a:bodyPr/>
                    <a:lstStyle/>
                    <a:p>
                      <a:pPr algn="l" fontAlgn="ctr">
                        <a:buNone/>
                      </a:pPr>
                      <a:r>
                        <a:rPr lang="de-DE" sz="600" b="1" i="0" u="none" strike="noStrike">
                          <a:solidFill>
                            <a:srgbClr val="FFFFFF"/>
                          </a:solidFill>
                          <a:effectLst/>
                          <a:latin typeface="Noto Sans" panose="020B0502040504020204" pitchFamily="34" charset="0"/>
                        </a:rPr>
                        <a:t>WERTPAPIER</a:t>
                      </a:r>
                    </a:p>
                  </a:txBody>
                  <a:tcPr marL="68583" marR="0" marT="0" marB="0" anchor="ctr">
                    <a:lnL>
                      <a:noFill/>
                    </a:lnL>
                    <a:lnR>
                      <a:noFill/>
                    </a:lnR>
                    <a:lnT>
                      <a:noFill/>
                    </a:lnT>
                    <a:lnB>
                      <a:noFill/>
                    </a:lnB>
                    <a:solidFill>
                      <a:srgbClr val="14355C"/>
                    </a:solidFill>
                  </a:tcPr>
                </a:tc>
                <a:tc>
                  <a:txBody>
                    <a:bodyPr/>
                    <a:lstStyle/>
                    <a:p>
                      <a:pPr algn="l" fontAlgn="ctr">
                        <a:buNone/>
                      </a:pPr>
                      <a:endParaRPr lang="de-DE" sz="600" b="1"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FFFFFF"/>
                          </a:solidFill>
                          <a:effectLst/>
                          <a:latin typeface="Noto Sans" panose="020B0502040504020204" pitchFamily="34" charset="0"/>
                        </a:rPr>
                        <a:t>Währung</a:t>
                      </a:r>
                    </a:p>
                  </a:txBody>
                  <a:tcPr marL="0" marR="0" marT="0" marB="0" anchor="ctr">
                    <a:lnL>
                      <a:noFill/>
                    </a:lnL>
                    <a:lnR>
                      <a:noFill/>
                    </a:lnR>
                    <a:lnT>
                      <a:noFill/>
                    </a:lnT>
                    <a:lnB>
                      <a:noFill/>
                    </a:lnB>
                    <a:solidFill>
                      <a:srgbClr val="14355C"/>
                    </a:solidFill>
                  </a:tcPr>
                </a:tc>
                <a:tc>
                  <a:txBody>
                    <a:bodyPr/>
                    <a:lstStyle/>
                    <a:p>
                      <a:pPr algn="ctr" fontAlgn="ctr">
                        <a:buNone/>
                      </a:pPr>
                      <a:endParaRPr lang="de-DE" sz="600" b="1"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FFFFFF"/>
                          </a:solidFill>
                          <a:effectLst/>
                          <a:latin typeface="Noto Sans" panose="020B0502040504020204" pitchFamily="34" charset="0"/>
                        </a:rPr>
                        <a:t>WKN</a:t>
                      </a:r>
                    </a:p>
                  </a:txBody>
                  <a:tcPr marL="0" marR="0" marT="0" marB="0" anchor="ctr">
                    <a:lnL>
                      <a:noFill/>
                    </a:lnL>
                    <a:lnR>
                      <a:noFill/>
                    </a:lnR>
                    <a:lnT>
                      <a:noFill/>
                    </a:lnT>
                    <a:lnB>
                      <a:noFill/>
                    </a:lnB>
                    <a:solidFill>
                      <a:srgbClr val="14355C"/>
                    </a:solidFill>
                  </a:tcPr>
                </a:tc>
                <a:tc>
                  <a:txBody>
                    <a:bodyPr/>
                    <a:lstStyle/>
                    <a:p>
                      <a:pPr algn="ctr" fontAlgn="ctr">
                        <a:buNone/>
                      </a:pPr>
                      <a:endParaRPr lang="de-DE" sz="600" b="1"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FFFFFF"/>
                          </a:solidFill>
                          <a:effectLst/>
                          <a:latin typeface="Noto Sans" panose="020B0502040504020204" pitchFamily="34" charset="0"/>
                        </a:rPr>
                        <a:t>Anteil %</a:t>
                      </a:r>
                    </a:p>
                  </a:txBody>
                  <a:tcPr marL="0" marR="0" marT="0" marB="0" anchor="ctr">
                    <a:lnL>
                      <a:noFill/>
                    </a:lnL>
                    <a:lnR>
                      <a:noFill/>
                    </a:lnR>
                    <a:lnT>
                      <a:noFill/>
                    </a:lnT>
                    <a:lnB>
                      <a:noFill/>
                    </a:lnB>
                    <a:solidFill>
                      <a:srgbClr val="14355C"/>
                    </a:solidFill>
                  </a:tcPr>
                </a:tc>
                <a:extLst>
                  <a:ext uri="{0D108BD9-81ED-4DB2-BD59-A6C34878D82A}">
                    <a16:rowId xmlns:a16="http://schemas.microsoft.com/office/drawing/2014/main" val="1053809238"/>
                  </a:ext>
                </a:extLst>
              </a:tr>
              <a:tr h="130224">
                <a:tc>
                  <a:txBody>
                    <a:bodyPr/>
                    <a:lstStyle/>
                    <a:p>
                      <a:pPr algn="l" fontAlgn="ctr">
                        <a:buNone/>
                      </a:pPr>
                      <a:r>
                        <a:rPr lang="de-DE" sz="600" b="1" i="0" u="none" strike="noStrike">
                          <a:solidFill>
                            <a:srgbClr val="000000"/>
                          </a:solidFill>
                          <a:effectLst/>
                          <a:latin typeface="Noto Sans" panose="020B0502040504020204" pitchFamily="34" charset="0"/>
                        </a:rPr>
                        <a:t>AKTIEN</a:t>
                      </a:r>
                    </a:p>
                  </a:txBody>
                  <a:tcPr marL="68583"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636947513"/>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Advanced Micro Devices Inc.</a:t>
                      </a:r>
                    </a:p>
                  </a:txBody>
                  <a:tcPr marL="68583"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863186</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2,77%</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073254464"/>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Allianz SE</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EUR</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840400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4,05%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217605485"/>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Alphabet Inc. A</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A14Y6F</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3,10%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352042714"/>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Amazon.com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906866</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2,85%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04876439"/>
                  </a:ext>
                </a:extLst>
              </a:tr>
              <a:tr h="130224">
                <a:tc>
                  <a:txBody>
                    <a:bodyPr/>
                    <a:lstStyle/>
                    <a:p>
                      <a:pPr algn="l" fontAlgn="ctr">
                        <a:buNone/>
                      </a:pPr>
                      <a:r>
                        <a:rPr lang="en-US" sz="600" b="0" i="0" u="none" strike="noStrike">
                          <a:solidFill>
                            <a:srgbClr val="000000"/>
                          </a:solidFill>
                          <a:effectLst/>
                          <a:latin typeface="Noto Sans" panose="020B0502040504020204" pitchFamily="34" charset="0"/>
                        </a:rPr>
                        <a:t>American Electric Power Co.Inc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850222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3,19%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156218642"/>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Applied Materials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865177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3,43%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649577644"/>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AstraZeneca PLC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GBP</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886455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2,27%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737948681"/>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Barclays plc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GBP</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850403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3,75%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765788315"/>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Broadcom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A2JG9Z</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2,05%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151523091"/>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Corning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850808</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2,12%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114627697"/>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Eli Lilly and Company</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858560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4,23%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80415662"/>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Engie S.A.</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EUR</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A0ER6Q</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3,72%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695882486"/>
                  </a:ext>
                </a:extLst>
              </a:tr>
              <a:tr h="130224">
                <a:tc>
                  <a:txBody>
                    <a:bodyPr/>
                    <a:lstStyle/>
                    <a:p>
                      <a:pPr algn="l" fontAlgn="ctr">
                        <a:buNone/>
                      </a:pPr>
                      <a:r>
                        <a:rPr lang="fr-FR" sz="600" b="0" i="0" u="none" strike="noStrike">
                          <a:solidFill>
                            <a:srgbClr val="000000"/>
                          </a:solidFill>
                          <a:effectLst/>
                          <a:latin typeface="Noto Sans" panose="020B0502040504020204" pitchFamily="34" charset="0"/>
                        </a:rPr>
                        <a:t>Hermes International S.C.A.</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EUR</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886670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2,34%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209751191"/>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Hitachi Ltd.</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JPY</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853219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2,62%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677240834"/>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Holcim Ltd.</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CHF</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869898</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3,18%</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771336916"/>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Howmet Aerospace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A2PZ2D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4,15%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988963258"/>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HSBC Holdings PLC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GBP</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923893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3,85%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66211529"/>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Lam Research Corp.</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A40L1V</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4,02%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382446228"/>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Micron Technology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869020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4,81%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883007516"/>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Microsoft Corp.</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870747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1,79%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699845813"/>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Mitsubishi UFJ Financial Group</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JPY</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657892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2,78%</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761153588"/>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Münchener Rückvers.-Ges. AG</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EUR</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843002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2,91%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940329004"/>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NVIDIA Corp.</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918422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3,24%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326485532"/>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Quanta Services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912294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3,05%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259023832"/>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Rio Tinto PLC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GBP</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852147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2,25%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91578925"/>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Ross Stores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870053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2,13%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753767022"/>
                  </a:ext>
                </a:extLst>
              </a:tr>
              <a:tr h="130224">
                <a:tc>
                  <a:txBody>
                    <a:bodyPr/>
                    <a:lstStyle/>
                    <a:p>
                      <a:pPr algn="l" fontAlgn="ctr">
                        <a:buNone/>
                      </a:pPr>
                      <a:r>
                        <a:rPr lang="en-US" sz="600" b="0" i="0" u="none" strike="noStrike">
                          <a:solidFill>
                            <a:srgbClr val="000000"/>
                          </a:solidFill>
                          <a:effectLst/>
                          <a:latin typeface="Noto Sans" panose="020B0502040504020204" pitchFamily="34" charset="0"/>
                        </a:rPr>
                        <a:t>Samsung Electronics Co. Ltd. (GDRs)</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EUR</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896360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2,68%</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844816361"/>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SanDisk Corp.</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A411ZM</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3,46%</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545807075"/>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Siemens AG</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EUR</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723610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2,77%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523349658"/>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SK Hynix Inc. (GDRs)</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EUR</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A1JWRE</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3,39%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654845458"/>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Vertiv Holdings Co.</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A2PZ5A</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1,57%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557484274"/>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Welltower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A1409D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3,57%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61592377"/>
                  </a:ext>
                </a:extLst>
              </a:tr>
              <a:tr h="130224">
                <a:tc>
                  <a:txBody>
                    <a:bodyPr/>
                    <a:lstStyle/>
                    <a:p>
                      <a:pPr algn="l" fontAlgn="ctr">
                        <a:buNone/>
                      </a:pPr>
                      <a:r>
                        <a:rPr lang="de-DE" sz="600" b="1" i="0" u="none" strike="noStrike">
                          <a:solidFill>
                            <a:srgbClr val="000000"/>
                          </a:solidFill>
                          <a:effectLst/>
                          <a:latin typeface="Noto Sans" panose="020B0502040504020204" pitchFamily="34" charset="0"/>
                        </a:rPr>
                        <a:t>LIQUIDITÄT</a:t>
                      </a:r>
                    </a:p>
                  </a:txBody>
                  <a:tcPr marL="68583"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EUR</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1,91%</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554679856"/>
                  </a:ext>
                </a:extLst>
              </a:tr>
              <a:tr h="130224">
                <a:tc>
                  <a:txBody>
                    <a:bodyPr/>
                    <a:lstStyle/>
                    <a:p>
                      <a:pPr algn="l" fontAlgn="ctr">
                        <a:buNone/>
                      </a:pPr>
                      <a:endParaRPr lang="de-DE" sz="600" b="1" i="0" u="none" strike="noStrike">
                        <a:solidFill>
                          <a:srgbClr val="000000"/>
                        </a:solidFill>
                        <a:effectLst/>
                        <a:latin typeface="Noto Sans" panose="020B0502040504020204" pitchFamily="34" charset="0"/>
                      </a:endParaRPr>
                    </a:p>
                  </a:txBody>
                  <a:tcPr marL="68583"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endParaRPr lang="de-DE" sz="600" b="1" i="0" u="none" strike="noStrike">
                        <a:solidFill>
                          <a:srgbClr val="000000"/>
                        </a:solidFill>
                        <a:effectLst/>
                        <a:latin typeface="Noto Sans" panose="020B0502040504020204" pitchFamily="34" charset="0"/>
                      </a:endParaRP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ct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endParaRPr lang="de-DE" sz="600" b="1" i="0" u="none" strike="noStrike">
                        <a:solidFill>
                          <a:srgbClr val="000000"/>
                        </a:solidFill>
                        <a:effectLst/>
                        <a:latin typeface="Noto Sans" panose="020B0502040504020204" pitchFamily="34" charset="0"/>
                      </a:endParaRP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ct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dirty="0">
                          <a:solidFill>
                            <a:srgbClr val="000000"/>
                          </a:solidFill>
                          <a:effectLst/>
                          <a:latin typeface="Noto Sans" panose="020B0502040504020204" pitchFamily="34" charset="0"/>
                        </a:rPr>
                        <a:t>100,00%</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extLst>
                  <a:ext uri="{0D108BD9-81ED-4DB2-BD59-A6C34878D82A}">
                    <a16:rowId xmlns:a16="http://schemas.microsoft.com/office/drawing/2014/main" val="253701833"/>
                  </a:ext>
                </a:extLst>
              </a:tr>
            </a:tbl>
          </a:graphicData>
        </a:graphic>
      </p:graphicFrame>
      <p:sp>
        <p:nvSpPr>
          <p:cNvPr id="2" name="Titel">
            <a:extLst>
              <a:ext uri="{FF2B5EF4-FFF2-40B4-BE49-F238E27FC236}">
                <a16:creationId xmlns:a16="http://schemas.microsoft.com/office/drawing/2014/main" id="{FF6052D7-94BC-EEE9-673D-47403DA2FA11}"/>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Einzeltitel</a:t>
            </a:r>
          </a:p>
        </p:txBody>
      </p:sp>
    </p:spTree>
    <p:extLst>
      <p:ext uri="{BB962C8B-B14F-4D97-AF65-F5344CB8AC3E}">
        <p14:creationId xmlns:p14="http://schemas.microsoft.com/office/powerpoint/2010/main" val="398653154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liennummer">
            <a:extLst>
              <a:ext uri="{FF2B5EF4-FFF2-40B4-BE49-F238E27FC236}">
                <a16:creationId xmlns:a16="http://schemas.microsoft.com/office/drawing/2014/main" id="{4007EA5A-96E6-B43F-0DF7-768482385798}"/>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11</a:t>
            </a:fld>
            <a:endParaRPr lang="de-DE"/>
          </a:p>
        </p:txBody>
      </p:sp>
      <p:graphicFrame>
        <p:nvGraphicFramePr>
          <p:cNvPr id="5" name="C_Kennzahlen2">
            <a:extLst>
              <a:ext uri="{FF2B5EF4-FFF2-40B4-BE49-F238E27FC236}">
                <a16:creationId xmlns:a16="http://schemas.microsoft.com/office/drawing/2014/main" id="{00000000-0008-0000-2E00-000004000000}"/>
              </a:ext>
            </a:extLst>
          </p:cNvPr>
          <p:cNvGraphicFramePr>
            <a:graphicFrameLocks noGrp="1" noDrilldown="1" noMove="1" noResize="1"/>
          </p:cNvGraphicFramePr>
          <p:nvPr/>
        </p:nvGraphicFramePr>
        <p:xfrm>
          <a:off x="5333999" y="1040400"/>
          <a:ext cx="4788000" cy="4158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C_Kennzahlen1">
            <a:extLst>
              <a:ext uri="{FF2B5EF4-FFF2-40B4-BE49-F238E27FC236}">
                <a16:creationId xmlns:a16="http://schemas.microsoft.com/office/drawing/2014/main" id="{00000000-0008-0000-2E00-000005000000}"/>
              </a:ext>
            </a:extLst>
          </p:cNvPr>
          <p:cNvGraphicFramePr>
            <a:graphicFrameLocks noGrp="1" noDrilldown="1" noMove="1" noResize="1"/>
          </p:cNvGraphicFramePr>
          <p:nvPr/>
        </p:nvGraphicFramePr>
        <p:xfrm>
          <a:off x="355599" y="1040399"/>
          <a:ext cx="4788000" cy="4158000"/>
        </p:xfrm>
        <a:graphic>
          <a:graphicData uri="http://schemas.openxmlformats.org/drawingml/2006/chart">
            <c:chart xmlns:c="http://schemas.openxmlformats.org/drawingml/2006/chart" xmlns:r="http://schemas.openxmlformats.org/officeDocument/2006/relationships" r:id="rId3"/>
          </a:graphicData>
        </a:graphic>
      </p:graphicFrame>
      <p:sp>
        <p:nvSpPr>
          <p:cNvPr id="2" name="Titel">
            <a:extLst>
              <a:ext uri="{FF2B5EF4-FFF2-40B4-BE49-F238E27FC236}">
                <a16:creationId xmlns:a16="http://schemas.microsoft.com/office/drawing/2014/main" id="{FF6052D7-94BC-EEE9-673D-47403DA2FA11}"/>
              </a:ext>
            </a:extLst>
          </p:cNvPr>
          <p:cNvSpPr>
            <a:spLocks noGrp="1" noRot="1" noMove="1" noResize="1" noEditPoints="1" noAdjustHandles="1" noChangeArrowheads="1" noChangeShapeType="1"/>
          </p:cNvSpPr>
          <p:nvPr>
            <p:ph type="title"/>
          </p:nvPr>
        </p:nvSpPr>
        <p:spPr/>
        <p:txBody>
          <a:bodyPr/>
          <a:lstStyle/>
          <a:p>
            <a:r>
              <a:rPr lang="de-DE" dirty="0"/>
              <a:t>Aktuelle Portfoliozusammenstellung</a:t>
            </a:r>
          </a:p>
        </p:txBody>
      </p:sp>
    </p:spTree>
    <p:extLst>
      <p:ext uri="{BB962C8B-B14F-4D97-AF65-F5344CB8AC3E}">
        <p14:creationId xmlns:p14="http://schemas.microsoft.com/office/powerpoint/2010/main" val="293937455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Fußnote">
            <a:extLst>
              <a:ext uri="{FF2B5EF4-FFF2-40B4-BE49-F238E27FC236}">
                <a16:creationId xmlns:a16="http://schemas.microsoft.com/office/drawing/2014/main" id="{F552D530-7244-9D7C-E105-7067E902FCB8}"/>
              </a:ext>
            </a:extLst>
          </p:cNvPr>
          <p:cNvSpPr>
            <a:spLocks noGrp="1" noRot="1" noMove="1" noResize="1" noEditPoints="1" noAdjustHandles="1" noChangeArrowheads="1" noChangeShapeType="1"/>
          </p:cNvSpPr>
          <p:nvPr>
            <p:ph type="body" sz="quarter" idx="16"/>
          </p:nvPr>
        </p:nvSpPr>
        <p:spPr/>
        <p:txBody>
          <a:bodyPr/>
          <a:lstStyle/>
          <a:p>
            <a:r>
              <a:rPr lang="de-DE" dirty="0"/>
              <a:t>* nach Kosten</a:t>
            </a:r>
          </a:p>
          <a:p>
            <a:r>
              <a:rPr lang="de-DE" dirty="0"/>
              <a:t>** ab 31.03  abzüglich halbjährigen Honorarsatz</a:t>
            </a:r>
          </a:p>
          <a:p>
            <a:r>
              <a:rPr lang="de-DE" dirty="0"/>
              <a:t>*** 50% EuroStoxx 50; 50% MSCI World Euro</a:t>
            </a:r>
          </a:p>
          <a:p>
            <a:endParaRPr lang="de-DE" dirty="0"/>
          </a:p>
          <a:p>
            <a:r>
              <a:rPr lang="de-DE" dirty="0"/>
              <a:t>Die aufgeführten Zahlen beziehen sich auf die Wertentwicklung in der Vergangenheit. Wert und Erträge einer Vermögensanlage können steigen oder fallen. Eine positive Entwicklung in der Vergangenheit ist keine Garantie für eine zukünftige </a:t>
            </a:r>
          </a:p>
          <a:p>
            <a:r>
              <a:rPr lang="de-DE" dirty="0"/>
              <a:t>Wertentwicklung. </a:t>
            </a:r>
          </a:p>
          <a:p>
            <a:r>
              <a:rPr lang="de-DE" dirty="0"/>
              <a:t>Der unterjährige Performance Ausweis erfolgt vor Kosten (ab 31.03. abzüglich halbjährigen Honorarsatz). Die weiteren Performance Angaben wurden nach </a:t>
            </a:r>
          </a:p>
          <a:p>
            <a:r>
              <a:rPr lang="de-DE" dirty="0"/>
              <a:t>Kosten berechnet. Sowohl das VV Honorar als auch fremde Spesen und evtl. Produktkosten wurden berücksichtigt. Die Inflation kann negative </a:t>
            </a:r>
            <a:r>
              <a:rPr lang="de-DE" dirty="0" err="1"/>
              <a:t>Auswirkun</a:t>
            </a:r>
            <a:r>
              <a:rPr lang="de-DE" dirty="0"/>
              <a:t>-</a:t>
            </a:r>
          </a:p>
          <a:p>
            <a:r>
              <a:rPr lang="de-DE" dirty="0"/>
              <a:t>gen auf den Wert und die nominale Rendite Ihres Anlagevermögens haben. So kann insbesondere bei risikofreien Anlagen ein Wertverlust dadurch ein-</a:t>
            </a:r>
          </a:p>
          <a:p>
            <a:r>
              <a:rPr lang="de-DE" dirty="0"/>
              <a:t>treten, dass die negative Auswirkung der Inflation die nominale Rendite übersteigt. Auch eine geringe Anlagedauer und die Gesamtkosten- und Gebühren </a:t>
            </a:r>
          </a:p>
          <a:p>
            <a:r>
              <a:rPr lang="de-DE" dirty="0"/>
              <a:t>können negativ das Risiko-Rendite-Verhältnis beeinflussen.</a:t>
            </a:r>
          </a:p>
        </p:txBody>
      </p:sp>
      <p:sp>
        <p:nvSpPr>
          <p:cNvPr id="3" name="Foliennummer">
            <a:extLst>
              <a:ext uri="{FF2B5EF4-FFF2-40B4-BE49-F238E27FC236}">
                <a16:creationId xmlns:a16="http://schemas.microsoft.com/office/drawing/2014/main" id="{93D026C5-CE52-2F17-9AE9-A84948B2AC43}"/>
              </a:ext>
            </a:extLst>
          </p:cNvPr>
          <p:cNvSpPr>
            <a:spLocks noGrp="1" noRot="1" noMove="1" noResize="1" noEditPoints="1" noAdjustHandles="1" noChangeArrowheads="1" noChangeShapeType="1"/>
          </p:cNvSpPr>
          <p:nvPr>
            <p:ph type="sldNum" sz="quarter" idx="12"/>
          </p:nvPr>
        </p:nvSpPr>
        <p:spPr/>
        <p:txBody>
          <a:bodyPr/>
          <a:lstStyle/>
          <a:p>
            <a:pPr marL="0" marR="0" lvl="0" indent="0" algn="r" defTabSz="820674" rtl="0" eaLnBrk="1" fontAlgn="auto" latinLnBrk="0" hangingPunct="1">
              <a:lnSpc>
                <a:spcPct val="100000"/>
              </a:lnSpc>
              <a:spcBef>
                <a:spcPts val="0"/>
              </a:spcBef>
              <a:spcAft>
                <a:spcPts val="0"/>
              </a:spcAft>
              <a:buClrTx/>
              <a:buSzTx/>
              <a:buFontTx/>
              <a:buNone/>
              <a:tabLst/>
              <a:defRPr/>
            </a:pPr>
            <a:fld id="{3AE71D6B-ACB6-4F4C-A895-DCAEF1760EAA}" type="slidenum">
              <a:rPr kumimoji="0" lang="de-DE" sz="1000" b="1" i="0" u="none" strike="noStrike" kern="1200" cap="none" spc="0" normalizeH="0" baseline="0" noProof="0" smtClean="0">
                <a:ln>
                  <a:noFill/>
                </a:ln>
                <a:solidFill>
                  <a:srgbClr val="14355C"/>
                </a:solidFill>
                <a:effectLst/>
                <a:uLnTx/>
                <a:uFillTx/>
                <a:latin typeface="Noto Serif"/>
                <a:ea typeface="+mn-ea"/>
                <a:cs typeface="+mn-cs"/>
              </a:rPr>
              <a:pPr marL="0" marR="0" lvl="0" indent="0" algn="r" defTabSz="820674" rtl="0" eaLnBrk="1" fontAlgn="auto" latinLnBrk="0" hangingPunct="1">
                <a:lnSpc>
                  <a:spcPct val="100000"/>
                </a:lnSpc>
                <a:spcBef>
                  <a:spcPts val="0"/>
                </a:spcBef>
                <a:spcAft>
                  <a:spcPts val="0"/>
                </a:spcAft>
                <a:buClrTx/>
                <a:buSzTx/>
                <a:buFontTx/>
                <a:buNone/>
                <a:tabLst/>
                <a:defRPr/>
              </a:pPr>
              <a:t>12</a:t>
            </a:fld>
            <a:endParaRPr kumimoji="0" lang="de-DE" sz="1000" b="1" i="0" u="none" strike="noStrike" kern="1200" cap="none" spc="0" normalizeH="0" baseline="0" noProof="0">
              <a:ln>
                <a:noFill/>
              </a:ln>
              <a:solidFill>
                <a:srgbClr val="14355C"/>
              </a:solidFill>
              <a:effectLst/>
              <a:uLnTx/>
              <a:uFillTx/>
              <a:latin typeface="Noto Serif"/>
              <a:ea typeface="+mn-ea"/>
              <a:cs typeface="+mn-cs"/>
            </a:endParaRPr>
          </a:p>
        </p:txBody>
      </p:sp>
      <p:sp>
        <p:nvSpPr>
          <p:cNvPr id="21" name="Quelle">
            <a:extLst>
              <a:ext uri="{FF2B5EF4-FFF2-40B4-BE49-F238E27FC236}">
                <a16:creationId xmlns:a16="http://schemas.microsoft.com/office/drawing/2014/main" id="{D9852219-B88C-ED04-CF61-B724CDD05E80}"/>
              </a:ext>
            </a:extLst>
          </p:cNvPr>
          <p:cNvSpPr txBox="1">
            <a:spLocks/>
          </p:cNvSpPr>
          <p:nvPr/>
        </p:nvSpPr>
        <p:spPr>
          <a:xfrm>
            <a:off x="8387549" y="4999667"/>
            <a:ext cx="1728000" cy="108000"/>
          </a:xfrm>
          <a:prstGeom prst="rect">
            <a:avLst/>
          </a:prstGeom>
          <a:noFill/>
        </p:spPr>
        <p:txBody>
          <a:bodyPr wrap="square" lIns="36000" tIns="0" rIns="36000" bIns="0" rtlCol="0">
            <a:noAutofit/>
          </a:bodyPr>
          <a:lstStyle/>
          <a:p>
            <a:pPr marL="0" marR="0" lvl="0" indent="0" algn="r" defTabSz="820674" rtl="0" eaLnBrk="1" fontAlgn="auto" latinLnBrk="0" hangingPunct="1">
              <a:lnSpc>
                <a:spcPct val="100000"/>
              </a:lnSpc>
              <a:spcBef>
                <a:spcPts val="0"/>
              </a:spcBef>
              <a:spcAft>
                <a:spcPts val="0"/>
              </a:spcAft>
              <a:buClrTx/>
              <a:buSzTx/>
              <a:buFontTx/>
              <a:buNone/>
              <a:tabLst/>
              <a:defRPr/>
            </a:pPr>
            <a:r>
              <a:rPr kumimoji="0" lang="de-DE" sz="600" b="0" i="0" u="none" strike="noStrike" kern="1200" cap="none" spc="0" normalizeH="0" baseline="0" noProof="0" dirty="0">
                <a:ln>
                  <a:noFill/>
                </a:ln>
                <a:solidFill>
                  <a:srgbClr val="9D9D9D"/>
                </a:solidFill>
                <a:effectLst/>
                <a:uLnTx/>
                <a:uFillTx/>
                <a:latin typeface="Noto Sans"/>
                <a:ea typeface="+mn-ea"/>
                <a:cs typeface="+mn-cs"/>
              </a:rPr>
              <a:t>Quelle: Eigene Berechnung, Stand </a:t>
            </a:r>
            <a:fld id="{2B9A7199-A8F1-40DF-B76B-6E716CAE5071}" type="datetime1">
              <a:rPr kumimoji="0" lang="de-DE" sz="600" b="0" i="0" u="none" strike="noStrike" kern="1200" cap="none" spc="0" normalizeH="0" baseline="0" noProof="0" smtClean="0">
                <a:ln>
                  <a:noFill/>
                </a:ln>
                <a:solidFill>
                  <a:srgbClr val="9D9D9D"/>
                </a:solidFill>
                <a:effectLst/>
                <a:uLnTx/>
                <a:uFillTx/>
                <a:latin typeface="Noto Sans"/>
                <a:ea typeface="+mn-ea"/>
                <a:cs typeface="+mn-cs"/>
              </a:rPr>
              <a:t>06.07.2026</a:t>
            </a:fld>
            <a:endParaRPr kumimoji="0" lang="de-DE" sz="600" b="0" i="0" u="none" strike="noStrike" kern="1200" cap="none" spc="0" normalizeH="0" baseline="0" noProof="0" dirty="0">
              <a:ln>
                <a:noFill/>
              </a:ln>
              <a:solidFill>
                <a:srgbClr val="9D9D9D"/>
              </a:solidFill>
              <a:effectLst/>
              <a:uLnTx/>
              <a:uFillTx/>
              <a:latin typeface="Noto Sans"/>
              <a:ea typeface="+mn-ea"/>
              <a:cs typeface="+mn-cs"/>
            </a:endParaRPr>
          </a:p>
        </p:txBody>
      </p:sp>
      <p:graphicFrame>
        <p:nvGraphicFramePr>
          <p:cNvPr id="10" name="Diagramm rechts">
            <a:extLst>
              <a:ext uri="{FF2B5EF4-FFF2-40B4-BE49-F238E27FC236}">
                <a16:creationId xmlns:a16="http://schemas.microsoft.com/office/drawing/2014/main" id="{0E50E052-B486-D3F6-9CA5-092E02A2D40A}"/>
              </a:ext>
            </a:extLst>
          </p:cNvPr>
          <p:cNvGraphicFramePr>
            <a:graphicFrameLocks noGrp="1"/>
          </p:cNvGraphicFramePr>
          <p:nvPr>
            <p:ph type="chart" sz="quarter" idx="15"/>
          </p:nvPr>
        </p:nvGraphicFramePr>
        <p:xfrm>
          <a:off x="4505325" y="1041400"/>
          <a:ext cx="5584825" cy="2813050"/>
        </p:xfrm>
        <a:graphic>
          <a:graphicData uri="http://schemas.openxmlformats.org/drawingml/2006/chart">
            <c:chart xmlns:c="http://schemas.openxmlformats.org/drawingml/2006/chart" xmlns:r="http://schemas.openxmlformats.org/officeDocument/2006/relationships" r:id="rId2"/>
          </a:graphicData>
        </a:graphic>
      </p:graphicFrame>
      <p:sp>
        <p:nvSpPr>
          <p:cNvPr id="11" name="Header Diagramm rechts">
            <a:extLst>
              <a:ext uri="{FF2B5EF4-FFF2-40B4-BE49-F238E27FC236}">
                <a16:creationId xmlns:a16="http://schemas.microsoft.com/office/drawing/2014/main" id="{16DD7AC6-1475-9E42-6604-A6E2254C8A34}"/>
              </a:ext>
            </a:extLst>
          </p:cNvPr>
          <p:cNvSpPr txBox="1">
            <a:spLocks noGrp="1" noRot="1" noMove="1" noResize="1" noEditPoints="1" noAdjustHandles="1" noChangeArrowheads="1" noChangeShapeType="1"/>
          </p:cNvSpPr>
          <p:nvPr/>
        </p:nvSpPr>
        <p:spPr>
          <a:xfrm>
            <a:off x="4505325" y="1040563"/>
            <a:ext cx="5616575" cy="216000"/>
          </a:xfrm>
          <a:prstGeom prst="rect">
            <a:avLst/>
          </a:prstGeom>
          <a:solidFill>
            <a:schemeClr val="accent1"/>
          </a:solidFill>
          <a:ln>
            <a:noFill/>
          </a:ln>
        </p:spPr>
        <p:txBody>
          <a:bodyPr wrap="square" rtlCol="0">
            <a:sp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900" b="1" i="0" u="none" strike="noStrike" kern="1200" cap="all" spc="0" normalizeH="0" baseline="0" noProof="0" dirty="0" err="1">
                <a:ln>
                  <a:noFill/>
                </a:ln>
                <a:solidFill>
                  <a:prstClr val="white"/>
                </a:solidFill>
                <a:effectLst/>
                <a:uLnTx/>
                <a:uFillTx/>
                <a:latin typeface="Noto Sans"/>
                <a:ea typeface="+mn-ea"/>
                <a:cs typeface="+mn-cs"/>
              </a:rPr>
              <a:t>wertentwicklung</a:t>
            </a:r>
            <a:endParaRPr kumimoji="0" lang="de-DE" sz="900" b="1" i="0" u="none" strike="noStrike" kern="1200" cap="all" spc="0" normalizeH="0" baseline="0" noProof="0" dirty="0">
              <a:ln>
                <a:noFill/>
              </a:ln>
              <a:solidFill>
                <a:prstClr val="white"/>
              </a:solidFill>
              <a:effectLst/>
              <a:uLnTx/>
              <a:uFillTx/>
              <a:latin typeface="Noto Sans"/>
              <a:ea typeface="+mn-ea"/>
              <a:cs typeface="+mn-cs"/>
            </a:endParaRPr>
          </a:p>
        </p:txBody>
      </p:sp>
      <p:sp>
        <p:nvSpPr>
          <p:cNvPr id="20" name="Legende Diagramm links">
            <a:extLst>
              <a:ext uri="{FF2B5EF4-FFF2-40B4-BE49-F238E27FC236}">
                <a16:creationId xmlns:a16="http://schemas.microsoft.com/office/drawing/2014/main" id="{9301122E-0E50-D567-491D-5453A4BCD6CF}"/>
              </a:ext>
            </a:extLst>
          </p:cNvPr>
          <p:cNvSpPr txBox="1">
            <a:spLocks noGrp="1" noRot="1" noMove="1" noResize="1" noEditPoints="1" noAdjustHandles="1" noChangeArrowheads="1" noChangeShapeType="1"/>
          </p:cNvSpPr>
          <p:nvPr/>
        </p:nvSpPr>
        <p:spPr>
          <a:xfrm>
            <a:off x="391550" y="5051334"/>
            <a:ext cx="2047875" cy="184666"/>
          </a:xfrm>
          <a:prstGeom prst="rect">
            <a:avLst/>
          </a:prstGeom>
          <a:noFill/>
        </p:spPr>
        <p:txBody>
          <a:bodyPr wrap="square" lIns="0" tIns="0" rIns="0" bIns="0" rtlCol="0" anchor="t">
            <a:sp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1200" b="0" i="0" u="none" strike="noStrike" kern="1200" cap="none" spc="0" normalizeH="0" baseline="0" noProof="0" dirty="0">
                <a:ln>
                  <a:noFill/>
                </a:ln>
                <a:solidFill>
                  <a:srgbClr val="BB9256"/>
                </a:solidFill>
                <a:effectLst/>
                <a:uLnTx/>
                <a:uFillTx/>
                <a:latin typeface="Noto Sans"/>
                <a:ea typeface="+mn-ea"/>
                <a:cs typeface="+mn-cs"/>
                <a:sym typeface="Wingdings 2" panose="05020102010507070707" pitchFamily="18" charset="2"/>
              </a:rPr>
              <a:t></a:t>
            </a:r>
            <a:r>
              <a:rPr kumimoji="0" lang="de-DE" sz="700" b="0" i="0" u="none" strike="noStrike" kern="1200" cap="none" spc="0" normalizeH="0" baseline="0" noProof="0" dirty="0">
                <a:ln>
                  <a:noFill/>
                </a:ln>
                <a:solidFill>
                  <a:prstClr val="black"/>
                </a:solidFill>
                <a:effectLst/>
                <a:uLnTx/>
                <a:uFillTx/>
                <a:latin typeface="Noto Sans"/>
                <a:ea typeface="+mn-ea"/>
                <a:cs typeface="+mn-cs"/>
                <a:sym typeface="Wingdings 2" panose="05020102010507070707" pitchFamily="18" charset="2"/>
              </a:rPr>
              <a:t> </a:t>
            </a:r>
            <a:r>
              <a:rPr kumimoji="0" lang="de-DE" sz="1000" b="0" i="0" u="none" strike="noStrike" kern="1200" cap="none" spc="0" normalizeH="0" baseline="14000" noProof="0" dirty="0">
                <a:ln>
                  <a:noFill/>
                </a:ln>
                <a:solidFill>
                  <a:prstClr val="black"/>
                </a:solidFill>
                <a:effectLst/>
                <a:uLnTx/>
                <a:uFillTx/>
                <a:latin typeface="Noto Sans"/>
                <a:ea typeface="+mn-ea"/>
                <a:cs typeface="+mn-cs"/>
              </a:rPr>
              <a:t>Musterdepot </a:t>
            </a:r>
            <a:r>
              <a:rPr kumimoji="0" lang="de-DE" sz="700" b="0" i="0" u="none" strike="noStrike" kern="1200" cap="none" spc="0" normalizeH="0" baseline="0" noProof="0" dirty="0">
                <a:ln>
                  <a:noFill/>
                </a:ln>
                <a:solidFill>
                  <a:prstClr val="black"/>
                </a:solidFill>
                <a:effectLst/>
                <a:uLnTx/>
                <a:uFillTx/>
                <a:latin typeface="Noto Sans"/>
                <a:ea typeface="+mn-ea"/>
                <a:cs typeface="+mn-cs"/>
              </a:rPr>
              <a:t>     </a:t>
            </a:r>
            <a:r>
              <a:rPr kumimoji="0" lang="de-DE" sz="1200" b="0" i="0" u="none" strike="noStrike" kern="1200" cap="none" spc="0" normalizeH="0" baseline="0" noProof="0" dirty="0">
                <a:ln>
                  <a:noFill/>
                </a:ln>
                <a:solidFill>
                  <a:srgbClr val="D1E9F8"/>
                </a:solidFill>
                <a:effectLst/>
                <a:uLnTx/>
                <a:uFillTx/>
                <a:latin typeface="Noto Sans"/>
                <a:ea typeface="+mn-ea"/>
                <a:cs typeface="+mn-cs"/>
                <a:sym typeface="Wingdings 2" panose="05020102010507070707" pitchFamily="18" charset="2"/>
              </a:rPr>
              <a:t></a:t>
            </a:r>
            <a:r>
              <a:rPr kumimoji="0" lang="de-DE" sz="700" b="0" i="0" u="none" strike="noStrike" kern="1200" cap="none" spc="0" normalizeH="0" baseline="0" noProof="0" dirty="0">
                <a:ln>
                  <a:noFill/>
                </a:ln>
                <a:solidFill>
                  <a:prstClr val="black"/>
                </a:solidFill>
                <a:effectLst/>
                <a:uLnTx/>
                <a:uFillTx/>
                <a:latin typeface="Noto Sans"/>
                <a:ea typeface="+mn-ea"/>
                <a:cs typeface="+mn-cs"/>
                <a:sym typeface="Wingdings 2" panose="05020102010507070707" pitchFamily="18" charset="2"/>
              </a:rPr>
              <a:t> </a:t>
            </a:r>
            <a:r>
              <a:rPr kumimoji="0" lang="de-DE" sz="1000" b="0" i="0" u="none" strike="noStrike" kern="1200" cap="none" spc="0" normalizeH="0" baseline="14000" noProof="0" dirty="0">
                <a:ln>
                  <a:noFill/>
                </a:ln>
                <a:solidFill>
                  <a:prstClr val="black"/>
                </a:solidFill>
                <a:effectLst/>
                <a:uLnTx/>
                <a:uFillTx/>
                <a:latin typeface="Noto Sans"/>
                <a:ea typeface="+mn-ea"/>
                <a:cs typeface="+mn-cs"/>
                <a:sym typeface="Wingdings 2" panose="05020102010507070707" pitchFamily="18" charset="2"/>
              </a:rPr>
              <a:t>Benchmark***</a:t>
            </a:r>
            <a:endParaRPr kumimoji="0" lang="de-DE" sz="1000" b="0" i="0" u="none" strike="noStrike" kern="1200" cap="none" spc="0" normalizeH="0" baseline="14000" noProof="0" dirty="0">
              <a:ln>
                <a:noFill/>
              </a:ln>
              <a:solidFill>
                <a:prstClr val="black"/>
              </a:solidFill>
              <a:effectLst/>
              <a:uLnTx/>
              <a:uFillTx/>
              <a:latin typeface="Noto Sans"/>
              <a:ea typeface="+mn-ea"/>
              <a:cs typeface="+mn-cs"/>
            </a:endParaRPr>
          </a:p>
        </p:txBody>
      </p:sp>
      <p:graphicFrame>
        <p:nvGraphicFramePr>
          <p:cNvPr id="15" name="Diagramm links">
            <a:extLst>
              <a:ext uri="{FF2B5EF4-FFF2-40B4-BE49-F238E27FC236}">
                <a16:creationId xmlns:a16="http://schemas.microsoft.com/office/drawing/2014/main" id="{35951F35-E8B0-13C5-E1C3-F8D2109CA2BC}"/>
              </a:ext>
            </a:extLst>
          </p:cNvPr>
          <p:cNvGraphicFramePr>
            <a:graphicFrameLocks noGrp="1"/>
          </p:cNvGraphicFramePr>
          <p:nvPr>
            <p:ph type="chart" sz="quarter" idx="14"/>
          </p:nvPr>
        </p:nvGraphicFramePr>
        <p:xfrm>
          <a:off x="349250" y="2679700"/>
          <a:ext cx="3959225" cy="2286000"/>
        </p:xfrm>
        <a:graphic>
          <a:graphicData uri="http://schemas.openxmlformats.org/drawingml/2006/chart">
            <c:chart xmlns:c="http://schemas.openxmlformats.org/drawingml/2006/chart" xmlns:r="http://schemas.openxmlformats.org/officeDocument/2006/relationships" r:id="rId3"/>
          </a:graphicData>
        </a:graphic>
      </p:graphicFrame>
      <p:sp>
        <p:nvSpPr>
          <p:cNvPr id="12" name="Header Diagramm links">
            <a:extLst>
              <a:ext uri="{FF2B5EF4-FFF2-40B4-BE49-F238E27FC236}">
                <a16:creationId xmlns:a16="http://schemas.microsoft.com/office/drawing/2014/main" id="{178ED8BE-CAE1-5F72-FDB5-D7E50AFDE2E4}"/>
              </a:ext>
            </a:extLst>
          </p:cNvPr>
          <p:cNvSpPr txBox="1">
            <a:spLocks noGrp="1" noRot="1" noMove="1" noResize="1" noEditPoints="1" noAdjustHandles="1" noChangeArrowheads="1" noChangeShapeType="1"/>
          </p:cNvSpPr>
          <p:nvPr/>
        </p:nvSpPr>
        <p:spPr>
          <a:xfrm>
            <a:off x="358775" y="2679700"/>
            <a:ext cx="3970800" cy="216000"/>
          </a:xfrm>
          <a:prstGeom prst="rect">
            <a:avLst/>
          </a:prstGeom>
          <a:solidFill>
            <a:schemeClr val="accent1"/>
          </a:solidFill>
          <a:ln>
            <a:solidFill>
              <a:schemeClr val="accent1"/>
            </a:solidFill>
          </a:ln>
        </p:spPr>
        <p:txBody>
          <a:bodyPr wrap="square" rtlCol="0">
            <a:sp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900" b="1" i="0" u="none" strike="noStrike" kern="1200" cap="all" spc="0" normalizeH="0" baseline="0" noProof="0" dirty="0">
                <a:ln>
                  <a:noFill/>
                </a:ln>
                <a:solidFill>
                  <a:prstClr val="white"/>
                </a:solidFill>
                <a:effectLst/>
                <a:uLnTx/>
                <a:uFillTx/>
                <a:latin typeface="Noto Sans"/>
                <a:ea typeface="+mn-ea"/>
                <a:cs typeface="+mn-cs"/>
              </a:rPr>
              <a:t>PERFORMANCE P.A. (NACH KOSTEN) IM BENCHMARKVERGLEICH</a:t>
            </a:r>
          </a:p>
        </p:txBody>
      </p:sp>
      <p:graphicFrame>
        <p:nvGraphicFramePr>
          <p:cNvPr id="19" name="Tabelle">
            <a:extLst>
              <a:ext uri="{FF2B5EF4-FFF2-40B4-BE49-F238E27FC236}">
                <a16:creationId xmlns:a16="http://schemas.microsoft.com/office/drawing/2014/main" id="{DEA49D10-A23C-5BE0-1C06-2B2957ADF50F}"/>
              </a:ext>
            </a:extLst>
          </p:cNvPr>
          <p:cNvGraphicFramePr>
            <a:graphicFrameLocks noGrp="1" noDrilldown="1" noMove="1" noResize="1"/>
          </p:cNvGraphicFramePr>
          <p:nvPr>
            <p:ph type="tbl" sz="quarter" idx="13"/>
          </p:nvPr>
        </p:nvGraphicFramePr>
        <p:xfrm>
          <a:off x="349250" y="1041400"/>
          <a:ext cx="3967200" cy="1468800"/>
        </p:xfrm>
        <a:graphic>
          <a:graphicData uri="http://schemas.openxmlformats.org/drawingml/2006/table">
            <a:tbl>
              <a:tblPr firstRow="1" bandRow="1">
                <a:tableStyleId>{69012ECD-51FC-41F1-AA8D-1B2483CD663E}</a:tableStyleId>
              </a:tblPr>
              <a:tblGrid>
                <a:gridCol w="2407630">
                  <a:extLst>
                    <a:ext uri="{9D8B030D-6E8A-4147-A177-3AD203B41FA5}">
                      <a16:colId xmlns:a16="http://schemas.microsoft.com/office/drawing/2014/main" val="1715752775"/>
                    </a:ext>
                  </a:extLst>
                </a:gridCol>
                <a:gridCol w="50309">
                  <a:extLst>
                    <a:ext uri="{9D8B030D-6E8A-4147-A177-3AD203B41FA5}">
                      <a16:colId xmlns:a16="http://schemas.microsoft.com/office/drawing/2014/main" val="2276385665"/>
                    </a:ext>
                  </a:extLst>
                </a:gridCol>
                <a:gridCol w="1509261">
                  <a:extLst>
                    <a:ext uri="{9D8B030D-6E8A-4147-A177-3AD203B41FA5}">
                      <a16:colId xmlns:a16="http://schemas.microsoft.com/office/drawing/2014/main" val="296509542"/>
                    </a:ext>
                  </a:extLst>
                </a:gridCol>
              </a:tblGrid>
              <a:tr h="216000">
                <a:tc>
                  <a:txBody>
                    <a:bodyPr/>
                    <a:lstStyle/>
                    <a:p>
                      <a:r>
                        <a:rPr lang="de-DE" sz="900" b="1" cap="all" baseline="0" dirty="0" err="1">
                          <a:solidFill>
                            <a:schemeClr val="bg1"/>
                          </a:solidFill>
                        </a:rPr>
                        <a:t>kennzahlen</a:t>
                      </a:r>
                      <a:endParaRPr lang="de-DE" sz="900" b="1" cap="all" baseline="0" dirty="0">
                        <a:solidFill>
                          <a:schemeClr val="bg1"/>
                        </a:solidFill>
                      </a:endParaRP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1" cap="all" baseline="0" dirty="0">
                        <a:solidFill>
                          <a:schemeClr val="bg1"/>
                        </a:solidFill>
                      </a:endParaRP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551644817"/>
                  </a:ext>
                </a:extLst>
              </a:tr>
              <a:tr h="50400">
                <a:tc>
                  <a:txBody>
                    <a:bodyPr/>
                    <a:lstStyle/>
                    <a:p>
                      <a:endParaRPr lang="de-DE" sz="100" b="0" dirty="0"/>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24828366"/>
                  </a:ext>
                </a:extLst>
              </a:tr>
              <a:tr h="288000">
                <a:tc>
                  <a:txBody>
                    <a:bodyPr/>
                    <a:lstStyle/>
                    <a:p>
                      <a:r>
                        <a:rPr lang="de-DE" sz="900" b="0" dirty="0"/>
                        <a:t>Wertentwicklung seit 2023 * </a:t>
                      </a:r>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59,37%</a:t>
                      </a:r>
                      <a:endParaRPr lang="de-DE" sz="9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2470595349"/>
                  </a:ext>
                </a:extLst>
              </a:tr>
              <a:tr h="288000">
                <a:tc>
                  <a:txBody>
                    <a:bodyPr/>
                    <a:lstStyle/>
                    <a:p>
                      <a:r>
                        <a:rPr lang="de-DE" sz="900" b="0" dirty="0"/>
                        <a:t>Rendite p.a. seit 2023 nach Kosten*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20,52%</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1995848646"/>
                  </a:ext>
                </a:extLst>
              </a:tr>
              <a:tr h="288000">
                <a:tc>
                  <a:txBody>
                    <a:bodyPr/>
                    <a:lstStyle/>
                    <a:p>
                      <a:r>
                        <a:rPr lang="de-DE" sz="900" b="0" dirty="0"/>
                        <a:t>Wertentwicklung seit 01.01.2026**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15,89%</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872306334"/>
                  </a:ext>
                </a:extLst>
              </a:tr>
              <a:tr h="288000">
                <a:tc>
                  <a:txBody>
                    <a:bodyPr/>
                    <a:lstStyle/>
                    <a:p>
                      <a:r>
                        <a:rPr lang="de-DE" sz="900" b="0" dirty="0"/>
                        <a:t>Duration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0,00</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97914861"/>
                  </a:ext>
                </a:extLst>
              </a:tr>
              <a:tr h="50400">
                <a:tc>
                  <a:txBody>
                    <a:bodyPr/>
                    <a:lstStyle/>
                    <a:p>
                      <a:endParaRPr lang="de-DE" sz="100" b="0" dirty="0"/>
                    </a:p>
                  </a:txBody>
                  <a:tcPr marL="72000" marR="72000" marT="0" marB="0" anchor="ctr">
                    <a:lnL w="6350" cap="flat" cmpd="sng" algn="ctr">
                      <a:noFill/>
                      <a:prstDash val="solid"/>
                      <a:miter lim="800000"/>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473747350"/>
                  </a:ext>
                </a:extLst>
              </a:tr>
            </a:tbl>
          </a:graphicData>
        </a:graphic>
      </p:graphicFrame>
      <p:sp>
        <p:nvSpPr>
          <p:cNvPr id="2" name="Titel">
            <a:extLst>
              <a:ext uri="{FF2B5EF4-FFF2-40B4-BE49-F238E27FC236}">
                <a16:creationId xmlns:a16="http://schemas.microsoft.com/office/drawing/2014/main" id="{7571966C-88D6-6951-9A27-024373FE8B15}"/>
              </a:ext>
            </a:extLst>
          </p:cNvPr>
          <p:cNvSpPr>
            <a:spLocks noGrp="1" noRot="1" noMove="1" noResize="1" noEditPoints="1" noAdjustHandles="1" noChangeArrowheads="1" noChangeShapeType="1"/>
          </p:cNvSpPr>
          <p:nvPr>
            <p:ph type="title"/>
          </p:nvPr>
        </p:nvSpPr>
        <p:spPr/>
        <p:txBody>
          <a:bodyPr/>
          <a:lstStyle/>
          <a:p>
            <a:r>
              <a:rPr lang="de-DE" dirty="0"/>
              <a:t>Anlagestrategie Pro | </a:t>
            </a:r>
            <a:r>
              <a:rPr lang="de-DE" b="0" dirty="0"/>
              <a:t>Wertentwicklung</a:t>
            </a:r>
          </a:p>
        </p:txBody>
      </p:sp>
    </p:spTree>
    <p:extLst>
      <p:ext uri="{BB962C8B-B14F-4D97-AF65-F5344CB8AC3E}">
        <p14:creationId xmlns:p14="http://schemas.microsoft.com/office/powerpoint/2010/main" val="234021633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897AF718-A759-DBA2-B95F-464EBB96BD5B}"/>
              </a:ext>
            </a:extLst>
          </p:cNvPr>
          <p:cNvSpPr>
            <a:spLocks noGrp="1"/>
          </p:cNvSpPr>
          <p:nvPr>
            <p:ph type="sldNum" sz="quarter" idx="12"/>
          </p:nvPr>
        </p:nvSpPr>
        <p:spPr/>
        <p:txBody>
          <a:bodyPr/>
          <a:lstStyle/>
          <a:p>
            <a:fld id="{3AE71D6B-ACB6-4F4C-A895-DCAEF1760EAA}" type="slidenum">
              <a:rPr lang="de-DE" smtClean="0"/>
              <a:pPr/>
              <a:t>13</a:t>
            </a:fld>
            <a:endParaRPr lang="de-DE" dirty="0"/>
          </a:p>
        </p:txBody>
      </p:sp>
      <p:sp>
        <p:nvSpPr>
          <p:cNvPr id="7" name="Titel 2">
            <a:extLst>
              <a:ext uri="{FF2B5EF4-FFF2-40B4-BE49-F238E27FC236}">
                <a16:creationId xmlns:a16="http://schemas.microsoft.com/office/drawing/2014/main" id="{910BE798-70D4-545D-A4F1-EBD6D771E96A}"/>
              </a:ext>
            </a:extLst>
          </p:cNvPr>
          <p:cNvSpPr>
            <a:spLocks noGrp="1"/>
          </p:cNvSpPr>
          <p:nvPr>
            <p:ph type="title"/>
          </p:nvPr>
        </p:nvSpPr>
        <p:spPr>
          <a:xfrm>
            <a:off x="358775" y="322579"/>
            <a:ext cx="4424240" cy="769903"/>
          </a:xfrm>
        </p:spPr>
        <p:txBody>
          <a:bodyPr/>
          <a:lstStyle/>
          <a:p>
            <a:r>
              <a:rPr lang="de-DE" dirty="0"/>
              <a:t>Wertentwicklung der Strategie PRO</a:t>
            </a:r>
            <a:br>
              <a:rPr lang="de-DE" dirty="0"/>
            </a:br>
            <a:endParaRPr lang="de-DE" dirty="0">
              <a:highlight>
                <a:srgbClr val="FFFF00"/>
              </a:highlight>
            </a:endParaRPr>
          </a:p>
        </p:txBody>
      </p:sp>
      <p:graphicFrame>
        <p:nvGraphicFramePr>
          <p:cNvPr id="8" name="Tabelle">
            <a:extLst>
              <a:ext uri="{FF2B5EF4-FFF2-40B4-BE49-F238E27FC236}">
                <a16:creationId xmlns:a16="http://schemas.microsoft.com/office/drawing/2014/main" id="{72D5AAAB-CE21-8F0C-96E7-3DA28AFCF258}"/>
              </a:ext>
            </a:extLst>
          </p:cNvPr>
          <p:cNvGraphicFramePr>
            <a:graphicFrameLocks/>
          </p:cNvGraphicFramePr>
          <p:nvPr/>
        </p:nvGraphicFramePr>
        <p:xfrm>
          <a:off x="646417" y="1080320"/>
          <a:ext cx="3674107" cy="3016800"/>
        </p:xfrm>
        <a:graphic>
          <a:graphicData uri="http://schemas.openxmlformats.org/drawingml/2006/table">
            <a:tbl>
              <a:tblPr firstRow="1" bandRow="1">
                <a:tableStyleId>{2D5ABB26-0587-4C30-8999-92F81FD0307C}</a:tableStyleId>
              </a:tblPr>
              <a:tblGrid>
                <a:gridCol w="2234082">
                  <a:extLst>
                    <a:ext uri="{9D8B030D-6E8A-4147-A177-3AD203B41FA5}">
                      <a16:colId xmlns:a16="http://schemas.microsoft.com/office/drawing/2014/main" val="1253444119"/>
                    </a:ext>
                  </a:extLst>
                </a:gridCol>
                <a:gridCol w="50277">
                  <a:extLst>
                    <a:ext uri="{9D8B030D-6E8A-4147-A177-3AD203B41FA5}">
                      <a16:colId xmlns:a16="http://schemas.microsoft.com/office/drawing/2014/main" val="4281156835"/>
                    </a:ext>
                  </a:extLst>
                </a:gridCol>
                <a:gridCol w="50160">
                  <a:extLst>
                    <a:ext uri="{9D8B030D-6E8A-4147-A177-3AD203B41FA5}">
                      <a16:colId xmlns:a16="http://schemas.microsoft.com/office/drawing/2014/main" val="3648185841"/>
                    </a:ext>
                  </a:extLst>
                </a:gridCol>
                <a:gridCol w="50160">
                  <a:extLst>
                    <a:ext uri="{9D8B030D-6E8A-4147-A177-3AD203B41FA5}">
                      <a16:colId xmlns:a16="http://schemas.microsoft.com/office/drawing/2014/main" val="1880432366"/>
                    </a:ext>
                  </a:extLst>
                </a:gridCol>
                <a:gridCol w="1189108">
                  <a:extLst>
                    <a:ext uri="{9D8B030D-6E8A-4147-A177-3AD203B41FA5}">
                      <a16:colId xmlns:a16="http://schemas.microsoft.com/office/drawing/2014/main" val="1976685652"/>
                    </a:ext>
                  </a:extLst>
                </a:gridCol>
                <a:gridCol w="50160">
                  <a:extLst>
                    <a:ext uri="{9D8B030D-6E8A-4147-A177-3AD203B41FA5}">
                      <a16:colId xmlns:a16="http://schemas.microsoft.com/office/drawing/2014/main" val="462972238"/>
                    </a:ext>
                  </a:extLst>
                </a:gridCol>
                <a:gridCol w="50160">
                  <a:extLst>
                    <a:ext uri="{9D8B030D-6E8A-4147-A177-3AD203B41FA5}">
                      <a16:colId xmlns:a16="http://schemas.microsoft.com/office/drawing/2014/main" val="1267060264"/>
                    </a:ext>
                  </a:extLst>
                </a:gridCol>
              </a:tblGrid>
              <a:tr h="576000">
                <a:tc>
                  <a:txBody>
                    <a:bodyPr/>
                    <a:lstStyle/>
                    <a:p>
                      <a:pPr algn="ctr">
                        <a:lnSpc>
                          <a:spcPct val="100000"/>
                        </a:lnSpc>
                      </a:pPr>
                      <a:r>
                        <a:rPr lang="de-DE" sz="900" b="1" dirty="0">
                          <a:solidFill>
                            <a:schemeClr val="bg1"/>
                          </a:solidFill>
                        </a:rPr>
                        <a:t>Zeitraum</a:t>
                      </a:r>
                    </a:p>
                  </a:txBody>
                  <a:tcPr marL="0" marR="0" marT="0" marB="0" anchor="ctr">
                    <a:lnR>
                      <a:noFill/>
                    </a:lnR>
                    <a:lnB>
                      <a:noFill/>
                    </a:lnB>
                    <a:solidFill>
                      <a:schemeClr val="accent1"/>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ct val="100000"/>
                        </a:lnSpc>
                      </a:pPr>
                      <a:r>
                        <a:rPr lang="de-DE" sz="900" b="1" dirty="0">
                          <a:solidFill>
                            <a:schemeClr val="bg1"/>
                          </a:solidFill>
                        </a:rPr>
                        <a:t>Strategie PRO</a:t>
                      </a:r>
                    </a:p>
                  </a:txBody>
                  <a:tcPr marL="0" marR="0" marT="0" marB="0" anchor="ctr">
                    <a:lnL>
                      <a:noFill/>
                    </a:lnL>
                    <a:lnR>
                      <a:noFill/>
                    </a:lnR>
                    <a:lnB>
                      <a:noFill/>
                    </a:lnB>
                    <a:solidFill>
                      <a:schemeClr val="accent1"/>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297518336"/>
                  </a:ext>
                </a:extLst>
              </a:tr>
              <a:tr h="50400">
                <a:tc>
                  <a:txBody>
                    <a:bodyPr/>
                    <a:lstStyle/>
                    <a:p>
                      <a:pPr>
                        <a:lnSpc>
                          <a:spcPct val="100000"/>
                        </a:lnSpc>
                      </a:pPr>
                      <a:endParaRPr lang="de-DE" sz="100" b="1" dirty="0"/>
                    </a:p>
                  </a:txBody>
                  <a:tcPr marL="72000" marR="0" marT="0"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nSpc>
                          <a:spcPct val="100000"/>
                        </a:lnSpc>
                      </a:pPr>
                      <a:endParaRPr lang="de-DE" sz="100" dirty="0"/>
                    </a:p>
                  </a:txBody>
                  <a:tcPr marL="0" marR="0" marT="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b="1"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17353684"/>
                  </a:ext>
                </a:extLst>
              </a:tr>
              <a:tr h="468000">
                <a:tc>
                  <a:txBody>
                    <a:bodyPr/>
                    <a:lstStyle/>
                    <a:p>
                      <a:pPr>
                        <a:lnSpc>
                          <a:spcPct val="100000"/>
                        </a:lnSpc>
                      </a:pPr>
                      <a:r>
                        <a:rPr lang="de-DE" sz="900" b="1" dirty="0"/>
                        <a:t>YTD Performance</a:t>
                      </a:r>
                    </a:p>
                  </a:txBody>
                  <a:tcPr marL="72000" marR="0" marT="0" marB="0" anchor="ctr">
                    <a:lnR>
                      <a:noFill/>
                    </a:lnR>
                    <a:lnT>
                      <a:noFill/>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15,89%</a:t>
                      </a:r>
                      <a:endParaRPr lang="de-DE" sz="900" dirty="0"/>
                    </a:p>
                  </a:txBody>
                  <a:tcPr marL="0" marR="0" marT="0" marB="0" anchor="ctr">
                    <a:lnL>
                      <a:noFill/>
                    </a:lnL>
                    <a:lnR>
                      <a:noFill/>
                    </a:lnR>
                    <a:lnT>
                      <a:noFill/>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730174765"/>
                  </a:ext>
                </a:extLst>
              </a:tr>
              <a:tr h="468000">
                <a:tc>
                  <a:txBody>
                    <a:bodyPr/>
                    <a:lstStyle/>
                    <a:p>
                      <a:pPr>
                        <a:lnSpc>
                          <a:spcPct val="100000"/>
                        </a:lnSpc>
                      </a:pPr>
                      <a:r>
                        <a:rPr lang="de-DE" sz="900" b="1" dirty="0"/>
                        <a:t>1 – Jahres Performance</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a:t>21,71%</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109901451"/>
                  </a:ext>
                </a:extLst>
              </a:tr>
              <a:tr h="468000">
                <a:tc>
                  <a:txBody>
                    <a:bodyPr/>
                    <a:lstStyle/>
                    <a:p>
                      <a:pPr>
                        <a:lnSpc>
                          <a:spcPct val="100000"/>
                        </a:lnSpc>
                      </a:pPr>
                      <a:r>
                        <a:rPr lang="de-DE" sz="900" b="1" dirty="0"/>
                        <a:t>3 – Jahres Performance</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a:t>-</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24286276"/>
                  </a:ext>
                </a:extLst>
              </a:tr>
              <a:tr h="468000">
                <a:tc>
                  <a:txBody>
                    <a:bodyPr/>
                    <a:lstStyle/>
                    <a:p>
                      <a:pPr>
                        <a:lnSpc>
                          <a:spcPct val="100000"/>
                        </a:lnSpc>
                      </a:pPr>
                      <a:r>
                        <a:rPr lang="de-DE" sz="900" b="1" dirty="0"/>
                        <a:t>5 – Jahres Performance</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52099554"/>
                  </a:ext>
                </a:extLst>
              </a:tr>
              <a:tr h="468000">
                <a:tc>
                  <a:txBody>
                    <a:bodyPr/>
                    <a:lstStyle/>
                    <a:p>
                      <a:pPr>
                        <a:lnSpc>
                          <a:spcPct val="100000"/>
                        </a:lnSpc>
                      </a:pPr>
                      <a:r>
                        <a:rPr lang="de-DE" sz="900" b="1" dirty="0"/>
                        <a:t>10 – Jahres Performance</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47187741"/>
                  </a:ext>
                </a:extLst>
              </a:tr>
              <a:tr h="50400">
                <a:tc>
                  <a:txBody>
                    <a:bodyPr/>
                    <a:lstStyle/>
                    <a:p>
                      <a:pPr>
                        <a:lnSpc>
                          <a:spcPct val="100000"/>
                        </a:lnSpc>
                      </a:pPr>
                      <a:endParaRPr lang="de-DE" sz="100" b="1" dirty="0"/>
                    </a:p>
                  </a:txBody>
                  <a:tcPr marL="72000" marR="0" marT="0" marB="0" anchor="ctr">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nSpc>
                          <a:spcPct val="100000"/>
                        </a:lnSpc>
                      </a:pPr>
                      <a:endParaRPr lang="de-DE" sz="100" dirty="0"/>
                    </a:p>
                  </a:txBody>
                  <a:tcPr marL="0" marR="0" marT="0" marB="0">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b="1"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gn="ctr">
                        <a:lnSpc>
                          <a:spcPct val="100000"/>
                        </a:lnSpc>
                      </a:pPr>
                      <a:endParaRPr lang="de-DE" sz="100"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307991516"/>
                  </a:ext>
                </a:extLst>
              </a:tr>
            </a:tbl>
          </a:graphicData>
        </a:graphic>
      </p:graphicFrame>
      <p:sp>
        <p:nvSpPr>
          <p:cNvPr id="9" name="Fußnote">
            <a:extLst>
              <a:ext uri="{FF2B5EF4-FFF2-40B4-BE49-F238E27FC236}">
                <a16:creationId xmlns:a16="http://schemas.microsoft.com/office/drawing/2014/main" id="{A7E2BA66-16D3-8994-8D91-5810C213FE02}"/>
              </a:ext>
            </a:extLst>
          </p:cNvPr>
          <p:cNvSpPr txBox="1">
            <a:spLocks/>
          </p:cNvSpPr>
          <p:nvPr/>
        </p:nvSpPr>
        <p:spPr>
          <a:xfrm>
            <a:off x="646417" y="4264266"/>
            <a:ext cx="3761531" cy="1286852"/>
          </a:xfrm>
          <a:prstGeom prst="rect">
            <a:avLst/>
          </a:prstGeom>
        </p:spPr>
        <p:txBody>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r>
              <a:rPr lang="de-DE" sz="600" dirty="0">
                <a:solidFill>
                  <a:srgbClr val="000000"/>
                </a:solidFill>
              </a:rPr>
              <a:t>* Die aufgeführten Zahlen beziehen sich auf die Wertentwicklung in der Vergangenheit. Die Wertentwicklung in der Vergangenheit ist kein zuverlässiger Indikator für die künftige Entwicklung und sollte nicht der alleinige Entscheidungsfaktor bei der Auswahl einer Anlagestrategie sein.  Der unterjährige Performance-Ausweis erfolgt vor Kosten. Die weiteren Performance Angaben wurden nach Kosten berechnet. Sowohl das VV Honorar als auch fremde Spesen und evtl. Produktkosten wurden berücksichtigt.</a:t>
            </a:r>
          </a:p>
          <a:p>
            <a:endParaRPr lang="de-DE" sz="600" dirty="0">
              <a:solidFill>
                <a:srgbClr val="000000"/>
              </a:solidFill>
            </a:endParaRPr>
          </a:p>
        </p:txBody>
      </p:sp>
    </p:spTree>
    <p:extLst>
      <p:ext uri="{BB962C8B-B14F-4D97-AF65-F5344CB8AC3E}">
        <p14:creationId xmlns:p14="http://schemas.microsoft.com/office/powerpoint/2010/main" val="245579690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4C2BF4D1-4B2C-9B2E-31AE-AD42CE7AF9D2}"/>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14</a:t>
            </a:fld>
            <a:endParaRPr lang="de-DE"/>
          </a:p>
        </p:txBody>
      </p:sp>
      <p:sp>
        <p:nvSpPr>
          <p:cNvPr id="3" name="Text">
            <a:extLst>
              <a:ext uri="{FF2B5EF4-FFF2-40B4-BE49-F238E27FC236}">
                <a16:creationId xmlns:a16="http://schemas.microsoft.com/office/drawing/2014/main" id="{FC14C7F1-73B2-E2F2-67EB-A1D8EE45D2C2}"/>
              </a:ext>
            </a:extLst>
          </p:cNvPr>
          <p:cNvSpPr>
            <a:spLocks noGrp="1" noRot="1" noMove="1" noResize="1" noEditPoints="1" noAdjustHandles="1" noChangeArrowheads="1" noChangeShapeType="1"/>
          </p:cNvSpPr>
          <p:nvPr>
            <p:ph idx="1"/>
          </p:nvPr>
        </p:nvSpPr>
        <p:spPr/>
        <p:txBody>
          <a:bodyPr/>
          <a:lstStyle/>
          <a:p>
            <a:r>
              <a:rPr lang="de-DE" dirty="0"/>
              <a:t>»all-in-fee«-Honorar</a:t>
            </a:r>
          </a:p>
          <a:p>
            <a:pPr lvl="2"/>
            <a:r>
              <a:rPr lang="de-DE" dirty="0"/>
              <a:t>Die Honorargestaltung unserer Vermögensverwaltung ist fair, transparent und nachvollziehbar. Wir berechnen gegen-über unseren Kunden in unserer Vermögensverwaltung ein »all-in-fee«-Honorar, das sämtliche Gebühren unseres Hauses für Depotführung, Transaktionen und Verwaltung umfasst.</a:t>
            </a:r>
          </a:p>
          <a:p>
            <a:r>
              <a:rPr lang="de-DE" dirty="0"/>
              <a:t>Halbjährliche Abrechnung</a:t>
            </a:r>
          </a:p>
          <a:p>
            <a:pPr lvl="2"/>
            <a:r>
              <a:rPr lang="de-DE" dirty="0"/>
              <a:t>Die Abrechnung erfolgt halbjährlich. Als Berechnungs-grundlage dient das durchschnittlich verfügbare Kapital (Konto und Depot). Alternativ bieten wir Ihnen ein  »all-in-fee«-Modell mit erfolgsabhängiger Komponente an.</a:t>
            </a:r>
          </a:p>
          <a:p>
            <a:r>
              <a:rPr lang="de-DE" dirty="0"/>
              <a:t>Wichtiger Hinweis</a:t>
            </a:r>
          </a:p>
          <a:p>
            <a:pPr lvl="2"/>
            <a:r>
              <a:rPr lang="de-DE" dirty="0"/>
              <a:t> Nicht enthalten sind evtl. anfallende Courtagen, Trans-aktionssteuern (z. B. Frankreich) und fremde Spesen an in- und ausländischen Börsenplätzen. Investmentfonds werden ohne Ausgabeaufschläge zum Netto-Ausgabepreis bei beiden Modellen abgerechnet.</a:t>
            </a:r>
          </a:p>
        </p:txBody>
      </p:sp>
      <p:sp>
        <p:nvSpPr>
          <p:cNvPr id="4" name="Titel">
            <a:extLst>
              <a:ext uri="{FF2B5EF4-FFF2-40B4-BE49-F238E27FC236}">
                <a16:creationId xmlns:a16="http://schemas.microsoft.com/office/drawing/2014/main" id="{127C1E86-2975-F5B5-8FF1-D9AF10EB60B2}"/>
              </a:ext>
            </a:extLst>
          </p:cNvPr>
          <p:cNvSpPr>
            <a:spLocks noGrp="1" noRot="1" noMove="1" noResize="1" noEditPoints="1" noAdjustHandles="1" noChangeArrowheads="1" noChangeShapeType="1"/>
          </p:cNvSpPr>
          <p:nvPr>
            <p:ph type="title"/>
          </p:nvPr>
        </p:nvSpPr>
        <p:spPr/>
        <p:txBody>
          <a:bodyPr/>
          <a:lstStyle/>
          <a:p>
            <a:r>
              <a:rPr lang="de-DE" dirty="0"/>
              <a:t>Unser Honorar</a:t>
            </a:r>
          </a:p>
        </p:txBody>
      </p:sp>
    </p:spTree>
    <p:extLst>
      <p:ext uri="{BB962C8B-B14F-4D97-AF65-F5344CB8AC3E}">
        <p14:creationId xmlns:p14="http://schemas.microsoft.com/office/powerpoint/2010/main" val="314080031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C6F82169-69A4-8CBA-4FAB-91D17475B46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15</a:t>
            </a:fld>
            <a:endParaRPr lang="de-DE"/>
          </a:p>
        </p:txBody>
      </p:sp>
      <p:sp>
        <p:nvSpPr>
          <p:cNvPr id="3" name="Quelle">
            <a:extLst>
              <a:ext uri="{FF2B5EF4-FFF2-40B4-BE49-F238E27FC236}">
                <a16:creationId xmlns:a16="http://schemas.microsoft.com/office/drawing/2014/main" id="{E5DB1B1C-A637-7A9E-CD33-9D2B1CE44C8D}"/>
              </a:ext>
            </a:extLst>
          </p:cNvPr>
          <p:cNvSpPr txBox="1">
            <a:spLocks noGrp="1" noRot="1" noMove="1" noResize="1" noEditPoints="1" noAdjustHandles="1" noChangeArrowheads="1" noChangeShapeType="1"/>
          </p:cNvSpPr>
          <p:nvPr/>
        </p:nvSpPr>
        <p:spPr>
          <a:xfrm>
            <a:off x="360362" y="4314428"/>
            <a:ext cx="9756000" cy="116057"/>
          </a:xfrm>
          <a:prstGeom prst="rect">
            <a:avLst/>
          </a:prstGeom>
          <a:noFill/>
        </p:spPr>
        <p:txBody>
          <a:bodyPr wrap="square" lIns="0" tIns="0" rIns="0" bIns="0" rtlCol="0">
            <a:spAutoFit/>
          </a:bodyPr>
          <a:lstStyle/>
          <a:p>
            <a:pPr>
              <a:lnSpc>
                <a:spcPts val="1000"/>
              </a:lnSpc>
              <a:tabLst>
                <a:tab pos="9720000" algn="r"/>
              </a:tabLst>
            </a:pPr>
            <a:r>
              <a:rPr lang="de-DE" sz="600" dirty="0">
                <a:solidFill>
                  <a:schemeClr val="tx1">
                    <a:lumMod val="50000"/>
                    <a:lumOff val="50000"/>
                  </a:schemeClr>
                </a:solidFill>
              </a:rPr>
              <a:t>Als Berechnungsgrundlage dient das durchschnittlich verfügbare Kapital (DVK) im Honorarzeitraum (01.01.-30.06. bzw. 01.07.- 31.12.). 	 (*inklusive 19 % gesetzliche Umsatzsteuer)</a:t>
            </a:r>
          </a:p>
        </p:txBody>
      </p:sp>
      <p:graphicFrame>
        <p:nvGraphicFramePr>
          <p:cNvPr id="5" name="Tabelle">
            <a:extLst>
              <a:ext uri="{FF2B5EF4-FFF2-40B4-BE49-F238E27FC236}">
                <a16:creationId xmlns:a16="http://schemas.microsoft.com/office/drawing/2014/main" id="{563A2DF8-2376-8E96-D6DC-CAAC807B0130}"/>
              </a:ext>
            </a:extLst>
          </p:cNvPr>
          <p:cNvGraphicFramePr>
            <a:graphicFrameLocks noGrp="1" noDrilldown="1" noMove="1" noResize="1"/>
          </p:cNvGraphicFramePr>
          <p:nvPr>
            <p:ph idx="1"/>
          </p:nvPr>
        </p:nvGraphicFramePr>
        <p:xfrm>
          <a:off x="358775" y="1574277"/>
          <a:ext cx="9754969" cy="2652636"/>
        </p:xfrm>
        <a:graphic>
          <a:graphicData uri="http://schemas.openxmlformats.org/drawingml/2006/table">
            <a:tbl>
              <a:tblPr firstRow="1" bandRow="1">
                <a:tableStyleId>{2D5ABB26-0587-4C30-8999-92F81FD0307C}</a:tableStyleId>
              </a:tblPr>
              <a:tblGrid>
                <a:gridCol w="1584000">
                  <a:extLst>
                    <a:ext uri="{9D8B030D-6E8A-4147-A177-3AD203B41FA5}">
                      <a16:colId xmlns:a16="http://schemas.microsoft.com/office/drawing/2014/main" val="1253444119"/>
                    </a:ext>
                  </a:extLst>
                </a:gridCol>
                <a:gridCol w="50230">
                  <a:extLst>
                    <a:ext uri="{9D8B030D-6E8A-4147-A177-3AD203B41FA5}">
                      <a16:colId xmlns:a16="http://schemas.microsoft.com/office/drawing/2014/main" val="4281156835"/>
                    </a:ext>
                  </a:extLst>
                </a:gridCol>
                <a:gridCol w="1584000">
                  <a:extLst>
                    <a:ext uri="{9D8B030D-6E8A-4147-A177-3AD203B41FA5}">
                      <a16:colId xmlns:a16="http://schemas.microsoft.com/office/drawing/2014/main" val="1976685652"/>
                    </a:ext>
                  </a:extLst>
                </a:gridCol>
                <a:gridCol w="50400">
                  <a:extLst>
                    <a:ext uri="{9D8B030D-6E8A-4147-A177-3AD203B41FA5}">
                      <a16:colId xmlns:a16="http://schemas.microsoft.com/office/drawing/2014/main" val="462972238"/>
                    </a:ext>
                  </a:extLst>
                </a:gridCol>
                <a:gridCol w="1584000">
                  <a:extLst>
                    <a:ext uri="{9D8B030D-6E8A-4147-A177-3AD203B41FA5}">
                      <a16:colId xmlns:a16="http://schemas.microsoft.com/office/drawing/2014/main" val="4117174221"/>
                    </a:ext>
                  </a:extLst>
                </a:gridCol>
                <a:gridCol w="50113">
                  <a:extLst>
                    <a:ext uri="{9D8B030D-6E8A-4147-A177-3AD203B41FA5}">
                      <a16:colId xmlns:a16="http://schemas.microsoft.com/office/drawing/2014/main" val="1267060264"/>
                    </a:ext>
                  </a:extLst>
                </a:gridCol>
                <a:gridCol w="4852226">
                  <a:extLst>
                    <a:ext uri="{9D8B030D-6E8A-4147-A177-3AD203B41FA5}">
                      <a16:colId xmlns:a16="http://schemas.microsoft.com/office/drawing/2014/main" val="4038602688"/>
                    </a:ext>
                  </a:extLst>
                </a:gridCol>
              </a:tblGrid>
              <a:tr h="342000">
                <a:tc gridSpan="3">
                  <a:txBody>
                    <a:bodyPr/>
                    <a:lstStyle/>
                    <a:p>
                      <a:pPr algn="ctr">
                        <a:lnSpc>
                          <a:spcPct val="100000"/>
                        </a:lnSpc>
                      </a:pPr>
                      <a:endParaRPr lang="de-DE" sz="900" b="1" dirty="0">
                        <a:solidFill>
                          <a:schemeClr val="bg1"/>
                        </a:solidFill>
                      </a:endParaRPr>
                    </a:p>
                  </a:txBody>
                  <a:tcPr marL="0" marR="0" marT="0" marB="0" anchor="ctr">
                    <a:lnR>
                      <a:noFill/>
                    </a:lnR>
                    <a:lnB>
                      <a:noFill/>
                    </a:lnB>
                    <a:solidFill>
                      <a:schemeClr val="accent1"/>
                    </a:solidFill>
                  </a:tcPr>
                </a:tc>
                <a:tc hMerge="1">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algn="ctr">
                        <a:lnSpc>
                          <a:spcPct val="100000"/>
                        </a:lnSpc>
                      </a:pPr>
                      <a:r>
                        <a:rPr lang="de-DE" sz="900" b="1" dirty="0">
                          <a:solidFill>
                            <a:schemeClr val="bg1"/>
                          </a:solidFill>
                        </a:rPr>
                        <a:t>Konservative</a:t>
                      </a:r>
                      <a:br>
                        <a:rPr lang="de-DE" sz="900" b="1" dirty="0">
                          <a:solidFill>
                            <a:schemeClr val="bg1"/>
                          </a:solidFill>
                        </a:rPr>
                      </a:br>
                      <a:r>
                        <a:rPr lang="de-DE" sz="900" b="1" dirty="0">
                          <a:solidFill>
                            <a:schemeClr val="bg1"/>
                          </a:solidFill>
                        </a:rPr>
                        <a:t>Strategie</a:t>
                      </a:r>
                    </a:p>
                  </a:txBody>
                  <a:tcPr marL="0" marR="0" marT="0" marB="0" anchor="ctr">
                    <a:lnL>
                      <a:noFill/>
                    </a:lnL>
                    <a:lnR>
                      <a:noFill/>
                    </a:lnR>
                    <a:lnB>
                      <a:noFill/>
                    </a:lnB>
                    <a:solidFill>
                      <a:schemeClr val="accent1"/>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gridSpan="3">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solidFill>
                            <a:schemeClr val="bg1"/>
                          </a:solidFill>
                        </a:rPr>
                        <a:t>Strategie Pro</a:t>
                      </a:r>
                    </a:p>
                  </a:txBody>
                  <a:tcPr marL="0" marR="0" marT="0" marB="0" anchor="ctr">
                    <a:lnL>
                      <a:noFill/>
                    </a:lnL>
                    <a:lnB>
                      <a:noFill/>
                    </a:lnB>
                    <a:solidFill>
                      <a:schemeClr val="accent1"/>
                    </a:solidFill>
                  </a:tcPr>
                </a:tc>
                <a:tc hMerge="1">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solidFill>
                            <a:schemeClr val="bg1"/>
                          </a:solidFill>
                        </a:rPr>
                        <a:t>Defensiv Plus</a:t>
                      </a:r>
                      <a:br>
                        <a:rPr lang="de-DE" sz="900" b="1" dirty="0">
                          <a:solidFill>
                            <a:schemeClr val="bg1"/>
                          </a:solidFill>
                        </a:rPr>
                      </a:br>
                      <a:r>
                        <a:rPr lang="de-DE" sz="900" b="1" dirty="0">
                          <a:solidFill>
                            <a:schemeClr val="bg1"/>
                          </a:solidFill>
                        </a:rPr>
                        <a:t>Strategie</a:t>
                      </a:r>
                    </a:p>
                  </a:txBody>
                  <a:tcPr marL="0" marR="0" marT="0" marB="0" anchor="ctr">
                    <a:lnL>
                      <a:noFill/>
                    </a:lnL>
                    <a:lnR>
                      <a:noFill/>
                    </a:lnR>
                    <a:lnB>
                      <a:noFill/>
                    </a:lnB>
                    <a:solidFill>
                      <a:schemeClr val="accent1"/>
                    </a:solidFill>
                  </a:tcPr>
                </a:tc>
                <a:extLst>
                  <a:ext uri="{0D108BD9-81ED-4DB2-BD59-A6C34878D82A}">
                    <a16:rowId xmlns:a16="http://schemas.microsoft.com/office/drawing/2014/main" val="2297518336"/>
                  </a:ext>
                </a:extLst>
              </a:tr>
              <a:tr h="38636">
                <a:tc>
                  <a:txBody>
                    <a:bodyPr/>
                    <a:lstStyle/>
                    <a:p>
                      <a:pPr>
                        <a:lnSpc>
                          <a:spcPct val="100000"/>
                        </a:lnSpc>
                      </a:pPr>
                      <a:endParaRPr lang="de-DE" sz="100" b="0" dirty="0"/>
                    </a:p>
                  </a:txBody>
                  <a:tcPr marL="0" marR="0" marT="0" marB="0">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nSpc>
                          <a:spcPct val="100000"/>
                        </a:lnSpc>
                      </a:pPr>
                      <a:endParaRPr lang="de-DE" sz="100" dirty="0"/>
                    </a:p>
                  </a:txBody>
                  <a:tcPr marL="0" marR="0" marT="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endParaRPr lang="de-DE" sz="100" dirty="0"/>
                    </a:p>
                  </a:txBody>
                  <a:tcPr marL="0" marR="0" marT="0" marB="0">
                    <a:lnL>
                      <a:noFill/>
                    </a:lnL>
                    <a:lnR>
                      <a:noFill/>
                    </a:lnR>
                    <a:lnT>
                      <a:noFill/>
                    </a:lnT>
                    <a:lnB>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16073518"/>
                  </a:ext>
                </a:extLst>
              </a:tr>
              <a:tr h="1368000">
                <a:tc gridSpan="3">
                  <a:txBody>
                    <a:bodyPr/>
                    <a:lstStyle/>
                    <a:p>
                      <a:pPr>
                        <a:lnSpc>
                          <a:spcPts val="1300"/>
                        </a:lnSpc>
                        <a:spcAft>
                          <a:spcPts val="600"/>
                        </a:spcAft>
                      </a:pPr>
                      <a:r>
                        <a:rPr lang="de-DE" sz="900" b="1" dirty="0"/>
                        <a:t>Unser Honorar</a:t>
                      </a:r>
                    </a:p>
                    <a:p>
                      <a:pPr>
                        <a:lnSpc>
                          <a:spcPts val="1300"/>
                        </a:lnSpc>
                        <a:spcAft>
                          <a:spcPts val="600"/>
                        </a:spcAft>
                      </a:pPr>
                      <a:r>
                        <a:rPr lang="de-DE" sz="900" dirty="0"/>
                        <a:t>Klassische „All-in-fee“</a:t>
                      </a:r>
                    </a:p>
                    <a:p>
                      <a:pPr>
                        <a:lnSpc>
                          <a:spcPts val="1300"/>
                        </a:lnSpc>
                        <a:spcAft>
                          <a:spcPts val="700"/>
                        </a:spcAft>
                      </a:pPr>
                      <a:r>
                        <a:rPr lang="de-DE" sz="900" dirty="0"/>
                        <a:t>Die Belastung erfolgt halbjährlich.</a:t>
                      </a:r>
                    </a:p>
                  </a:txBody>
                  <a:tcPr marL="72000" marR="0" marT="144000" marB="0">
                    <a:lnR>
                      <a:noFill/>
                    </a:lnR>
                    <a:lnT>
                      <a:noFill/>
                    </a:lnT>
                    <a:lnB w="3175" cap="flat" cmpd="sng" algn="ctr">
                      <a:solidFill>
                        <a:schemeClr val="accent1"/>
                      </a:solidFill>
                      <a:prstDash val="solid"/>
                      <a:round/>
                      <a:headEnd type="none" w="med" len="med"/>
                      <a:tailEnd type="none" w="med" len="med"/>
                    </a:lnB>
                  </a:tcPr>
                </a:tc>
                <a:tc hMerge="1">
                  <a:txBody>
                    <a:bodyPr/>
                    <a:lstStyle/>
                    <a:p>
                      <a:pPr>
                        <a:lnSpc>
                          <a:spcPts val="1300"/>
                        </a:lnSpc>
                      </a:pPr>
                      <a:endParaRPr lang="de-DE" sz="900" dirty="0"/>
                    </a:p>
                  </a:txBody>
                  <a:tcPr marL="0" marR="0" marT="5400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lnSpc>
                          <a:spcPts val="1300"/>
                        </a:lnSpc>
                        <a:spcAft>
                          <a:spcPts val="700"/>
                        </a:spcAft>
                      </a:pPr>
                      <a:r>
                        <a:rPr lang="de-DE" sz="900" b="1" dirty="0"/>
                        <a:t>Jährlich</a:t>
                      </a:r>
                    </a:p>
                    <a:p>
                      <a:pPr algn="ctr">
                        <a:lnSpc>
                          <a:spcPts val="1300"/>
                        </a:lnSpc>
                      </a:pPr>
                      <a:r>
                        <a:rPr lang="de-DE" sz="900" dirty="0"/>
                        <a:t>0,85 % netto des  </a:t>
                      </a:r>
                    </a:p>
                    <a:p>
                      <a:pPr algn="ctr">
                        <a:lnSpc>
                          <a:spcPts val="1300"/>
                        </a:lnSpc>
                      </a:pPr>
                      <a:r>
                        <a:rPr lang="de-DE" sz="900" dirty="0"/>
                        <a:t>verwalteten Vermögens  </a:t>
                      </a:r>
                    </a:p>
                    <a:p>
                      <a:pPr algn="ctr">
                        <a:lnSpc>
                          <a:spcPts val="1300"/>
                        </a:lnSpc>
                      </a:pPr>
                      <a:r>
                        <a:rPr lang="de-DE" sz="900" dirty="0"/>
                        <a:t>= 1,0115 %* brutto</a:t>
                      </a:r>
                    </a:p>
                  </a:txBody>
                  <a:tcPr marL="0" marR="0" marT="54000" marB="0">
                    <a:lnL>
                      <a:noFill/>
                    </a:lnL>
                    <a:lnR>
                      <a:noFill/>
                    </a:lnR>
                    <a:lnT>
                      <a:noFill/>
                    </a:lnT>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a:p>
                  </a:txBody>
                  <a:tcPr marL="0" marR="0" marT="5400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gridSpan="3">
                  <a:txBody>
                    <a:bodyPr/>
                    <a:lstStyle/>
                    <a:p>
                      <a:pPr algn="ctr">
                        <a:lnSpc>
                          <a:spcPts val="1300"/>
                        </a:lnSpc>
                        <a:spcAft>
                          <a:spcPts val="600"/>
                        </a:spcAft>
                      </a:pPr>
                      <a:r>
                        <a:rPr lang="de-DE" sz="900" b="1" dirty="0"/>
                        <a:t>Jährlich</a:t>
                      </a:r>
                      <a:r>
                        <a:rPr lang="de-DE" sz="900" dirty="0"/>
                        <a:t> </a:t>
                      </a:r>
                    </a:p>
                    <a:p>
                      <a:pPr algn="ctr">
                        <a:lnSpc>
                          <a:spcPts val="1300"/>
                        </a:lnSpc>
                        <a:spcAft>
                          <a:spcPts val="1100"/>
                        </a:spcAft>
                      </a:pPr>
                      <a:r>
                        <a:rPr lang="de-DE" sz="900" dirty="0"/>
                        <a:t>1,55 % netto des verwalteten Vermögens = 1,8445 %* brutto</a:t>
                      </a:r>
                    </a:p>
                    <a:p>
                      <a:pPr algn="ctr">
                        <a:lnSpc>
                          <a:spcPts val="1300"/>
                        </a:lnSpc>
                        <a:spcAft>
                          <a:spcPts val="600"/>
                        </a:spcAft>
                      </a:pPr>
                      <a:r>
                        <a:rPr lang="de-DE" sz="900" b="1" dirty="0"/>
                        <a:t>Alternativ ertragsabhängige Vergütung: </a:t>
                      </a:r>
                    </a:p>
                    <a:p>
                      <a:pPr algn="ctr">
                        <a:lnSpc>
                          <a:spcPts val="1300"/>
                        </a:lnSpc>
                        <a:spcAft>
                          <a:spcPts val="0"/>
                        </a:spcAft>
                      </a:pPr>
                      <a:r>
                        <a:rPr lang="de-DE" sz="900" dirty="0"/>
                        <a:t>Jährlich 1,05 % netto, plus 10 % des Zugewinns des verwaltenden Vermögens  </a:t>
                      </a:r>
                    </a:p>
                    <a:p>
                      <a:pPr algn="ctr">
                        <a:lnSpc>
                          <a:spcPts val="1300"/>
                        </a:lnSpc>
                        <a:spcAft>
                          <a:spcPts val="700"/>
                        </a:spcAft>
                      </a:pPr>
                      <a:r>
                        <a:rPr lang="de-DE" sz="900" dirty="0"/>
                        <a:t>= 1,2495 %* brutto + 11,90 %* brutto des Zugewinns</a:t>
                      </a:r>
                    </a:p>
                  </a:txBody>
                  <a:tcPr marL="0" marR="0" marT="144000" marB="0">
                    <a:lnL>
                      <a:noFill/>
                    </a:lnL>
                    <a:lnT>
                      <a:noFill/>
                    </a:lnT>
                    <a:lnB w="3175" cap="flat" cmpd="sng" algn="ctr">
                      <a:solidFill>
                        <a:schemeClr val="accent1"/>
                      </a:solidFill>
                      <a:prstDash val="solid"/>
                      <a:round/>
                      <a:headEnd type="none" w="med" len="med"/>
                      <a:tailEnd type="none" w="med" len="med"/>
                    </a:lnB>
                    <a:solidFill>
                      <a:schemeClr val="accent6"/>
                    </a:solidFill>
                  </a:tcPr>
                </a:tc>
                <a:tc hMerge="1">
                  <a:txBody>
                    <a:bodyPr/>
                    <a:lstStyle/>
                    <a:p>
                      <a:pPr algn="ctr">
                        <a:lnSpc>
                          <a:spcPts val="1300"/>
                        </a:lnSpc>
                      </a:pPr>
                      <a:endParaRPr lang="de-DE" sz="900"/>
                    </a:p>
                  </a:txBody>
                  <a:tcPr marL="0" marR="0" marT="5400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pPr marL="0" marR="0" lvl="0" indent="0" algn="ctr" defTabSz="783001" rtl="0" eaLnBrk="1" fontAlgn="auto" latinLnBrk="0" hangingPunct="1">
                        <a:lnSpc>
                          <a:spcPts val="1300"/>
                        </a:lnSpc>
                        <a:spcBef>
                          <a:spcPts val="0"/>
                        </a:spcBef>
                        <a:spcAft>
                          <a:spcPts val="700"/>
                        </a:spcAft>
                        <a:buClrTx/>
                        <a:buSzTx/>
                        <a:buFontTx/>
                        <a:buNone/>
                        <a:tabLst/>
                        <a:defRPr/>
                      </a:pPr>
                      <a:r>
                        <a:rPr lang="de-DE" sz="900" b="1" dirty="0"/>
                        <a:t>Jährlich</a:t>
                      </a:r>
                      <a:r>
                        <a:rPr lang="de-DE" sz="900" b="0" dirty="0"/>
                        <a:t> </a:t>
                      </a:r>
                    </a:p>
                    <a:p>
                      <a:pPr marL="0" marR="0" lvl="0" indent="0" algn="ctr" defTabSz="783001" rtl="0" eaLnBrk="1" fontAlgn="auto" latinLnBrk="0" hangingPunct="1">
                        <a:lnSpc>
                          <a:spcPts val="1300"/>
                        </a:lnSpc>
                        <a:spcBef>
                          <a:spcPts val="0"/>
                        </a:spcBef>
                        <a:spcAft>
                          <a:spcPts val="0"/>
                        </a:spcAft>
                        <a:buClrTx/>
                        <a:buSzTx/>
                        <a:buFontTx/>
                        <a:buNone/>
                        <a:tabLst/>
                        <a:defRPr/>
                      </a:pPr>
                      <a:r>
                        <a:rPr lang="de-DE" sz="900" dirty="0"/>
                        <a:t>1,55 % netto des verwalteten Vermögens = 1,8445 %* brutto</a:t>
                      </a:r>
                    </a:p>
                    <a:p>
                      <a:pPr marL="0" marR="0" lvl="0" indent="0" algn="ctr" defTabSz="783001" rtl="0" eaLnBrk="1" fontAlgn="auto" latinLnBrk="0" hangingPunct="1">
                        <a:lnSpc>
                          <a:spcPts val="1300"/>
                        </a:lnSpc>
                        <a:spcBef>
                          <a:spcPts val="700"/>
                        </a:spcBef>
                        <a:spcAft>
                          <a:spcPts val="700"/>
                        </a:spcAft>
                        <a:buClrTx/>
                        <a:buSzTx/>
                        <a:buFontTx/>
                        <a:buNone/>
                        <a:tabLst/>
                        <a:defRPr/>
                      </a:pPr>
                      <a:r>
                        <a:rPr lang="de-DE" sz="900" b="1" dirty="0"/>
                        <a:t>Alternativ ertragsabhängige Vergütung: </a:t>
                      </a:r>
                    </a:p>
                    <a:p>
                      <a:pPr marL="0" marR="0" lvl="0" indent="0" algn="ctr" defTabSz="783001" rtl="0" eaLnBrk="1" fontAlgn="auto" latinLnBrk="0" hangingPunct="1">
                        <a:lnSpc>
                          <a:spcPts val="1300"/>
                        </a:lnSpc>
                        <a:spcBef>
                          <a:spcPts val="0"/>
                        </a:spcBef>
                        <a:spcAft>
                          <a:spcPts val="0"/>
                        </a:spcAft>
                        <a:buClrTx/>
                        <a:buSzTx/>
                        <a:buFontTx/>
                        <a:buNone/>
                        <a:tabLst/>
                        <a:defRPr/>
                      </a:pPr>
                      <a:r>
                        <a:rPr lang="de-DE" sz="900" dirty="0"/>
                        <a:t>Jährlich 1,05 % netto, plus 10 % des Zugewinns des verwaltenden Vermögens</a:t>
                      </a:r>
                    </a:p>
                    <a:p>
                      <a:pPr marL="0" marR="0" lvl="0" indent="0" algn="ctr" defTabSz="783001" rtl="0" eaLnBrk="1" fontAlgn="auto" latinLnBrk="0" hangingPunct="1">
                        <a:lnSpc>
                          <a:spcPts val="1300"/>
                        </a:lnSpc>
                        <a:spcBef>
                          <a:spcPts val="0"/>
                        </a:spcBef>
                        <a:spcAft>
                          <a:spcPts val="0"/>
                        </a:spcAft>
                        <a:buClrTx/>
                        <a:buSzTx/>
                        <a:buFontTx/>
                        <a:buNone/>
                        <a:tabLst/>
                        <a:defRPr/>
                      </a:pPr>
                      <a:r>
                        <a:rPr lang="de-DE" sz="900" dirty="0"/>
                        <a:t>= 1,2495 %* brutto + 11,90 %* brutto des Zugewinns</a:t>
                      </a:r>
                    </a:p>
                  </a:txBody>
                  <a:tcPr marL="0" marR="0" marT="54000" marB="0">
                    <a:lnL>
                      <a:noFill/>
                    </a:lnL>
                    <a:lnT>
                      <a:noFill/>
                    </a:lnT>
                    <a:lnB w="3175" cap="flat" cmpd="sng" algn="ctr">
                      <a:solidFill>
                        <a:schemeClr val="accent1"/>
                      </a:solidFill>
                      <a:prstDash val="solid"/>
                      <a:round/>
                      <a:headEnd type="none" w="med" len="med"/>
                      <a:tailEnd type="none" w="med" len="med"/>
                    </a:lnB>
                    <a:solidFill>
                      <a:schemeClr val="accent6"/>
                    </a:solidFill>
                  </a:tcPr>
                </a:tc>
                <a:extLst>
                  <a:ext uri="{0D108BD9-81ED-4DB2-BD59-A6C34878D82A}">
                    <a16:rowId xmlns:a16="http://schemas.microsoft.com/office/drawing/2014/main" val="1730174765"/>
                  </a:ext>
                </a:extLst>
              </a:tr>
              <a:tr h="864000">
                <a:tc gridSpan="3">
                  <a:txBody>
                    <a:bodyPr/>
                    <a:lstStyle/>
                    <a:p>
                      <a:pPr>
                        <a:lnSpc>
                          <a:spcPts val="1300"/>
                        </a:lnSpc>
                        <a:spcAft>
                          <a:spcPts val="600"/>
                        </a:spcAft>
                      </a:pPr>
                      <a:r>
                        <a:rPr lang="de-DE" sz="900" dirty="0"/>
                        <a:t>Modell „Ertragsabhängig“</a:t>
                      </a:r>
                    </a:p>
                    <a:p>
                      <a:pPr>
                        <a:lnSpc>
                          <a:spcPts val="1300"/>
                        </a:lnSpc>
                      </a:pPr>
                      <a:r>
                        <a:rPr lang="de-DE" sz="900" dirty="0"/>
                        <a:t>Die Belastung erfolgt jährlich.</a:t>
                      </a:r>
                    </a:p>
                  </a:txBody>
                  <a:tcPr marL="72000" marR="0" marT="180000" marB="0">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tcPr>
                </a:tc>
                <a:tc hMerge="1">
                  <a:txBody>
                    <a:bodyPr/>
                    <a:lstStyle/>
                    <a:p>
                      <a:pPr>
                        <a:lnSpc>
                          <a:spcPts val="1300"/>
                        </a:lnSpc>
                      </a:pPr>
                      <a:endParaRPr lang="de-DE" sz="900" dirty="0"/>
                    </a:p>
                  </a:txBody>
                  <a:tcPr marL="0" marR="0" marT="108000" marB="0">
                    <a:lnL>
                      <a:noFill/>
                    </a:lnL>
                    <a:lnR>
                      <a:noFill/>
                    </a:lnR>
                    <a:lnT w="3175"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lnSpc>
                          <a:spcPts val="1300"/>
                        </a:lnSpc>
                      </a:pPr>
                      <a:r>
                        <a:rPr lang="de-DE" sz="900" dirty="0"/>
                        <a:t>Mindestens  </a:t>
                      </a:r>
                    </a:p>
                    <a:p>
                      <a:pPr algn="ctr">
                        <a:lnSpc>
                          <a:spcPts val="1300"/>
                        </a:lnSpc>
                      </a:pPr>
                      <a:r>
                        <a:rPr lang="de-DE" sz="900" dirty="0"/>
                        <a:t>2.000,00 € netto  </a:t>
                      </a:r>
                    </a:p>
                    <a:p>
                      <a:pPr algn="ctr">
                        <a:lnSpc>
                          <a:spcPts val="1300"/>
                        </a:lnSpc>
                      </a:pPr>
                      <a:r>
                        <a:rPr lang="de-DE" sz="900" dirty="0"/>
                        <a:t>bzw. mindestens  </a:t>
                      </a:r>
                    </a:p>
                    <a:p>
                      <a:pPr algn="ctr">
                        <a:lnSpc>
                          <a:spcPts val="1300"/>
                        </a:lnSpc>
                      </a:pPr>
                      <a:r>
                        <a:rPr lang="de-DE" sz="900" dirty="0"/>
                        <a:t>2.380,00 €* brutto</a:t>
                      </a:r>
                    </a:p>
                  </a:txBody>
                  <a:tcPr marL="0" marR="0" marT="108000" marB="0">
                    <a:lnL>
                      <a:noFill/>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a:lnSpc>
                          <a:spcPts val="1300"/>
                        </a:lnSpc>
                      </a:pPr>
                      <a:endParaRPr lang="de-DE" sz="900" dirty="0"/>
                    </a:p>
                  </a:txBody>
                  <a:tcPr marL="0" marR="0" marT="108000" marB="0">
                    <a:lnL>
                      <a:noFill/>
                    </a:lnL>
                    <a:lnR>
                      <a:noFill/>
                    </a:lnR>
                    <a:lnT w="3175"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gridSpan="3">
                  <a:txBody>
                    <a:bodyPr/>
                    <a:lstStyle/>
                    <a:p>
                      <a:pPr algn="ctr">
                        <a:lnSpc>
                          <a:spcPts val="1300"/>
                        </a:lnSpc>
                      </a:pPr>
                      <a:r>
                        <a:rPr lang="de-DE" sz="900" dirty="0"/>
                        <a:t>Mindestens 3.000,00 € netto bzw.  </a:t>
                      </a:r>
                    </a:p>
                    <a:p>
                      <a:pPr algn="ctr">
                        <a:lnSpc>
                          <a:spcPts val="1300"/>
                        </a:lnSpc>
                      </a:pPr>
                      <a:r>
                        <a:rPr lang="de-DE" sz="900" dirty="0"/>
                        <a:t>mindestens 3.570,00 €* brutto</a:t>
                      </a:r>
                    </a:p>
                  </a:txBody>
                  <a:tcPr marL="0" marR="0" marT="180000" marB="0">
                    <a:lnL>
                      <a:noFill/>
                    </a:lnL>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solidFill>
                      <a:schemeClr val="accent6"/>
                    </a:solidFill>
                  </a:tcPr>
                </a:tc>
                <a:tc hMerge="1">
                  <a:txBody>
                    <a:bodyPr/>
                    <a:lstStyle/>
                    <a:p>
                      <a:pPr algn="ctr">
                        <a:lnSpc>
                          <a:spcPts val="1300"/>
                        </a:lnSpc>
                      </a:pPr>
                      <a:endParaRPr lang="de-DE" sz="900" dirty="0"/>
                    </a:p>
                  </a:txBody>
                  <a:tcPr marL="0" marR="0" marT="108000" marB="0">
                    <a:lnL>
                      <a:noFill/>
                    </a:lnL>
                    <a:lnR>
                      <a:noFill/>
                    </a:lnR>
                    <a:lnT w="3175"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lnSpc>
                          <a:spcPts val="1300"/>
                        </a:lnSpc>
                      </a:pPr>
                      <a:r>
                        <a:rPr lang="de-DE" sz="900" dirty="0"/>
                        <a:t>Mindestens 3.000,00 € netto bzw. </a:t>
                      </a:r>
                    </a:p>
                    <a:p>
                      <a:pPr algn="ctr">
                        <a:lnSpc>
                          <a:spcPts val="1300"/>
                        </a:lnSpc>
                      </a:pPr>
                      <a:r>
                        <a:rPr lang="de-DE" sz="900" dirty="0"/>
                        <a:t>mindestens 3.570,00 €* brutto</a:t>
                      </a:r>
                    </a:p>
                  </a:txBody>
                  <a:tcPr marL="0" marR="0" marT="108000" marB="0">
                    <a:lnL>
                      <a:noFill/>
                    </a:lnL>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solidFill>
                      <a:schemeClr val="accent6"/>
                    </a:solidFill>
                  </a:tcPr>
                </a:tc>
                <a:extLst>
                  <a:ext uri="{0D108BD9-81ED-4DB2-BD59-A6C34878D82A}">
                    <a16:rowId xmlns:a16="http://schemas.microsoft.com/office/drawing/2014/main" val="569009892"/>
                  </a:ext>
                </a:extLst>
              </a:tr>
              <a:tr h="40000">
                <a:tc>
                  <a:txBody>
                    <a:bodyPr/>
                    <a:lstStyle/>
                    <a:p>
                      <a:pPr>
                        <a:lnSpc>
                          <a:spcPct val="100000"/>
                        </a:lnSpc>
                      </a:pPr>
                      <a:endParaRPr lang="de-DE" sz="100" b="0" dirty="0"/>
                    </a:p>
                  </a:txBody>
                  <a:tcPr marL="72000" marR="0" marT="0" marB="0">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nSpc>
                          <a:spcPct val="100000"/>
                        </a:lnSpc>
                      </a:pPr>
                      <a:endParaRPr lang="de-DE" sz="100" dirty="0"/>
                    </a:p>
                  </a:txBody>
                  <a:tcPr marL="0" marR="0" marT="0" marB="0">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gn="ctr">
                        <a:lnSpc>
                          <a:spcPct val="100000"/>
                        </a:lnSpc>
                      </a:pPr>
                      <a:endParaRPr lang="de-DE" sz="100" dirty="0"/>
                    </a:p>
                  </a:txBody>
                  <a:tcPr marL="0" marR="0" marT="0" marB="0">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gn="ctr">
                        <a:lnSpc>
                          <a:spcPct val="100000"/>
                        </a:lnSpc>
                      </a:pPr>
                      <a:endParaRPr lang="de-DE" sz="100" dirty="0"/>
                    </a:p>
                  </a:txBody>
                  <a:tcPr marL="0" marR="0" marT="0" marB="0">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lnL>
                      <a:noFill/>
                    </a:lnL>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extLst>
                  <a:ext uri="{0D108BD9-81ED-4DB2-BD59-A6C34878D82A}">
                    <a16:rowId xmlns:a16="http://schemas.microsoft.com/office/drawing/2014/main" val="3405939323"/>
                  </a:ext>
                </a:extLst>
              </a:tr>
            </a:tbl>
          </a:graphicData>
        </a:graphic>
      </p:graphicFrame>
      <p:sp>
        <p:nvSpPr>
          <p:cNvPr id="4" name="Titel">
            <a:extLst>
              <a:ext uri="{FF2B5EF4-FFF2-40B4-BE49-F238E27FC236}">
                <a16:creationId xmlns:a16="http://schemas.microsoft.com/office/drawing/2014/main" id="{6CC753F0-ABF8-7093-418C-8C1671F84F68}"/>
              </a:ext>
            </a:extLst>
          </p:cNvPr>
          <p:cNvSpPr>
            <a:spLocks noGrp="1" noRot="1" noMove="1" noResize="1" noEditPoints="1" noAdjustHandles="1" noChangeArrowheads="1" noChangeShapeType="1"/>
          </p:cNvSpPr>
          <p:nvPr>
            <p:ph type="title"/>
          </p:nvPr>
        </p:nvSpPr>
        <p:spPr/>
        <p:txBody>
          <a:bodyPr/>
          <a:lstStyle/>
          <a:p>
            <a:r>
              <a:rPr lang="de-DE" dirty="0"/>
              <a:t>Unser Honorar</a:t>
            </a:r>
          </a:p>
        </p:txBody>
      </p:sp>
    </p:spTree>
    <p:extLst>
      <p:ext uri="{BB962C8B-B14F-4D97-AF65-F5344CB8AC3E}">
        <p14:creationId xmlns:p14="http://schemas.microsoft.com/office/powerpoint/2010/main" val="313528681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61E7A324-9C97-4CF9-6D1E-8FF8558C8AC4}"/>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16</a:t>
            </a:fld>
            <a:endParaRPr lang="de-DE"/>
          </a:p>
        </p:txBody>
      </p:sp>
      <p:sp>
        <p:nvSpPr>
          <p:cNvPr id="5" name="Text">
            <a:extLst>
              <a:ext uri="{FF2B5EF4-FFF2-40B4-BE49-F238E27FC236}">
                <a16:creationId xmlns:a16="http://schemas.microsoft.com/office/drawing/2014/main" id="{409D5D81-50B2-B91D-3250-6938778F228B}"/>
              </a:ext>
            </a:extLst>
          </p:cNvPr>
          <p:cNvSpPr>
            <a:spLocks noGrp="1" noRot="1" noMove="1" noResize="1" noEditPoints="1" noAdjustHandles="1" noChangeArrowheads="1" noChangeShapeType="1"/>
          </p:cNvSpPr>
          <p:nvPr>
            <p:ph sz="quarter" idx="13"/>
          </p:nvPr>
        </p:nvSpPr>
        <p:spPr/>
        <p:txBody>
          <a:bodyPr anchor="t" anchorCtr="0"/>
          <a:lstStyle/>
          <a:p>
            <a:r>
              <a:rPr lang="de-DE" dirty="0"/>
              <a:t>Wesentliche Finanzkennzahlen auf einen Blick 31.12.2024</a:t>
            </a:r>
          </a:p>
          <a:p>
            <a:pPr lvl="1"/>
            <a:r>
              <a:rPr lang="de-DE" dirty="0"/>
              <a:t>Assets </a:t>
            </a:r>
            <a:r>
              <a:rPr lang="de-DE" dirty="0" err="1"/>
              <a:t>under</a:t>
            </a:r>
            <a:r>
              <a:rPr lang="de-DE" dirty="0"/>
              <a:t> Control 	</a:t>
            </a:r>
            <a:r>
              <a:rPr lang="de-DE" b="1" dirty="0"/>
              <a:t>6.780 Mio. EUR</a:t>
            </a:r>
          </a:p>
          <a:p>
            <a:pPr lvl="1"/>
            <a:r>
              <a:rPr lang="de-DE" dirty="0"/>
              <a:t>EK-Rendite (vor Steuern) 	</a:t>
            </a:r>
            <a:r>
              <a:rPr lang="de-DE" b="1" dirty="0"/>
              <a:t>40,1 %</a:t>
            </a:r>
          </a:p>
          <a:p>
            <a:pPr lvl="1"/>
            <a:r>
              <a:rPr lang="de-DE" dirty="0"/>
              <a:t>Mitarbeiter 	</a:t>
            </a:r>
            <a:r>
              <a:rPr lang="de-DE" b="1" dirty="0"/>
              <a:t>144</a:t>
            </a:r>
          </a:p>
        </p:txBody>
      </p:sp>
      <p:graphicFrame>
        <p:nvGraphicFramePr>
          <p:cNvPr id="8" name="Diagramm">
            <a:extLst>
              <a:ext uri="{FF2B5EF4-FFF2-40B4-BE49-F238E27FC236}">
                <a16:creationId xmlns:a16="http://schemas.microsoft.com/office/drawing/2014/main" id="{2269D18A-084D-CF8E-2840-F21732DB7395}"/>
              </a:ext>
            </a:extLst>
          </p:cNvPr>
          <p:cNvGraphicFramePr>
            <a:graphicFrameLocks noGrp="1" noDrilldown="1" noMove="1" noResize="1"/>
          </p:cNvGraphicFramePr>
          <p:nvPr>
            <p:ph idx="1"/>
          </p:nvPr>
        </p:nvGraphicFramePr>
        <p:xfrm>
          <a:off x="5327650" y="1411288"/>
          <a:ext cx="4787900" cy="2898775"/>
        </p:xfrm>
        <a:graphic>
          <a:graphicData uri="http://schemas.openxmlformats.org/drawingml/2006/chart">
            <c:chart xmlns:c="http://schemas.openxmlformats.org/drawingml/2006/chart" xmlns:r="http://schemas.openxmlformats.org/officeDocument/2006/relationships" r:id="rId2"/>
          </a:graphicData>
        </a:graphic>
      </p:graphicFrame>
      <p:grpSp>
        <p:nvGrpSpPr>
          <p:cNvPr id="13" name="Textlinie">
            <a:extLst>
              <a:ext uri="{FF2B5EF4-FFF2-40B4-BE49-F238E27FC236}">
                <a16:creationId xmlns:a16="http://schemas.microsoft.com/office/drawing/2014/main" id="{56C474AC-C2CB-F8B9-CBD2-688DC08BDA13}"/>
              </a:ext>
            </a:extLst>
          </p:cNvPr>
          <p:cNvGrpSpPr>
            <a:grpSpLocks noGrp="1" noUngrp="1" noRot="1" noMove="1" noResize="1"/>
          </p:cNvGrpSpPr>
          <p:nvPr/>
        </p:nvGrpSpPr>
        <p:grpSpPr>
          <a:xfrm>
            <a:off x="5327650" y="1725370"/>
            <a:ext cx="4787900" cy="184666"/>
            <a:chOff x="5327650" y="1725370"/>
            <a:chExt cx="4787900" cy="184666"/>
          </a:xfrm>
        </p:grpSpPr>
        <p:cxnSp>
          <p:nvCxnSpPr>
            <p:cNvPr id="10" name="Linie rechts">
              <a:extLst>
                <a:ext uri="{FF2B5EF4-FFF2-40B4-BE49-F238E27FC236}">
                  <a16:creationId xmlns:a16="http://schemas.microsoft.com/office/drawing/2014/main" id="{3E379351-53AE-4A53-7CFD-EFEC6FD9EFAB}"/>
                </a:ext>
              </a:extLst>
            </p:cNvPr>
            <p:cNvCxnSpPr>
              <a:cxnSpLocks noGrp="1" noRot="1" noMove="1" noResize="1" noEditPoints="1" noAdjustHandles="1" noChangeArrowheads="1" noChangeShapeType="1"/>
            </p:cNvCxnSpPr>
            <p:nvPr/>
          </p:nvCxnSpPr>
          <p:spPr>
            <a:xfrm>
              <a:off x="7934325" y="1799167"/>
              <a:ext cx="2181225" cy="0"/>
            </a:xfrm>
            <a:prstGeom prst="line">
              <a:avLst/>
            </a:prstGeom>
            <a:ln w="12700">
              <a:solidFill>
                <a:schemeClr val="accent2"/>
              </a:solidFill>
              <a:headEnd type="none" w="sm" len="sm"/>
              <a:tailEnd type="oval" w="sm" len="sm"/>
            </a:ln>
          </p:spPr>
          <p:style>
            <a:lnRef idx="1">
              <a:schemeClr val="accent1"/>
            </a:lnRef>
            <a:fillRef idx="0">
              <a:schemeClr val="accent1"/>
            </a:fillRef>
            <a:effectRef idx="0">
              <a:schemeClr val="accent1"/>
            </a:effectRef>
            <a:fontRef idx="minor">
              <a:schemeClr val="tx1"/>
            </a:fontRef>
          </p:style>
        </p:cxnSp>
        <p:sp>
          <p:nvSpPr>
            <p:cNvPr id="12" name="Text">
              <a:extLst>
                <a:ext uri="{FF2B5EF4-FFF2-40B4-BE49-F238E27FC236}">
                  <a16:creationId xmlns:a16="http://schemas.microsoft.com/office/drawing/2014/main" id="{A7990DBA-1571-09C9-78C3-00F3E9C5A659}"/>
                </a:ext>
              </a:extLst>
            </p:cNvPr>
            <p:cNvSpPr txBox="1">
              <a:spLocks noGrp="1" noRot="1" noMove="1" noResize="1" noEditPoints="1" noAdjustHandles="1" noChangeArrowheads="1" noChangeShapeType="1"/>
            </p:cNvSpPr>
            <p:nvPr/>
          </p:nvSpPr>
          <p:spPr>
            <a:xfrm>
              <a:off x="7406635" y="1725370"/>
              <a:ext cx="591830" cy="184666"/>
            </a:xfrm>
            <a:prstGeom prst="rect">
              <a:avLst/>
            </a:prstGeom>
            <a:noFill/>
          </p:spPr>
          <p:txBody>
            <a:bodyPr wrap="none" rtlCol="0" anchor="ctr" anchorCtr="0">
              <a:spAutoFit/>
            </a:bodyPr>
            <a:lstStyle/>
            <a:p>
              <a:pPr algn="ctr"/>
              <a:r>
                <a:rPr lang="de-DE" sz="600" b="1" dirty="0">
                  <a:solidFill>
                    <a:schemeClr val="accent2"/>
                  </a:solidFill>
                </a:rPr>
                <a:t>CAGR 6,5%</a:t>
              </a:r>
            </a:p>
          </p:txBody>
        </p:sp>
        <p:cxnSp>
          <p:nvCxnSpPr>
            <p:cNvPr id="9" name="Linie links">
              <a:extLst>
                <a:ext uri="{FF2B5EF4-FFF2-40B4-BE49-F238E27FC236}">
                  <a16:creationId xmlns:a16="http://schemas.microsoft.com/office/drawing/2014/main" id="{ECD25257-8C23-BF4E-E4DA-BE4C64E4FC89}"/>
                </a:ext>
              </a:extLst>
            </p:cNvPr>
            <p:cNvCxnSpPr>
              <a:cxnSpLocks noGrp="1" noRot="1" noMove="1" noResize="1" noEditPoints="1" noAdjustHandles="1" noChangeArrowheads="1" noChangeShapeType="1"/>
            </p:cNvCxnSpPr>
            <p:nvPr/>
          </p:nvCxnSpPr>
          <p:spPr>
            <a:xfrm>
              <a:off x="5327650" y="1799167"/>
              <a:ext cx="2118783" cy="0"/>
            </a:xfrm>
            <a:prstGeom prst="line">
              <a:avLst/>
            </a:prstGeom>
            <a:ln w="12700">
              <a:solidFill>
                <a:schemeClr val="accent2"/>
              </a:solidFill>
              <a:headEnd type="oval" w="sm" len="sm"/>
            </a:ln>
          </p:spPr>
          <p:style>
            <a:lnRef idx="1">
              <a:schemeClr val="accent1"/>
            </a:lnRef>
            <a:fillRef idx="0">
              <a:schemeClr val="accent1"/>
            </a:fillRef>
            <a:effectRef idx="0">
              <a:schemeClr val="accent1"/>
            </a:effectRef>
            <a:fontRef idx="minor">
              <a:schemeClr val="tx1"/>
            </a:fontRef>
          </p:style>
        </p:cxnSp>
      </p:grpSp>
      <p:sp>
        <p:nvSpPr>
          <p:cNvPr id="4" name="Titel">
            <a:extLst>
              <a:ext uri="{FF2B5EF4-FFF2-40B4-BE49-F238E27FC236}">
                <a16:creationId xmlns:a16="http://schemas.microsoft.com/office/drawing/2014/main" id="{43EB0369-5EB3-7532-2044-CF944BBC884F}"/>
              </a:ext>
            </a:extLst>
          </p:cNvPr>
          <p:cNvSpPr>
            <a:spLocks noGrp="1" noRot="1" noMove="1" noResize="1" noEditPoints="1" noAdjustHandles="1" noChangeArrowheads="1" noChangeShapeType="1"/>
          </p:cNvSpPr>
          <p:nvPr>
            <p:ph type="title"/>
          </p:nvPr>
        </p:nvSpPr>
        <p:spPr/>
        <p:txBody>
          <a:bodyPr/>
          <a:lstStyle/>
          <a:p>
            <a:r>
              <a:rPr lang="de-DE" dirty="0"/>
              <a:t>Unsere Bank in Zahlen</a:t>
            </a:r>
          </a:p>
        </p:txBody>
      </p:sp>
    </p:spTree>
    <p:extLst>
      <p:ext uri="{BB962C8B-B14F-4D97-AF65-F5344CB8AC3E}">
        <p14:creationId xmlns:p14="http://schemas.microsoft.com/office/powerpoint/2010/main" val="90885137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F16CDBE5-4FA6-3515-64ED-F86521DA4866}"/>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17</a:t>
            </a:fld>
            <a:endParaRPr lang="de-DE"/>
          </a:p>
        </p:txBody>
      </p:sp>
      <p:sp>
        <p:nvSpPr>
          <p:cNvPr id="11" name="Text rechts">
            <a:extLst>
              <a:ext uri="{FF2B5EF4-FFF2-40B4-BE49-F238E27FC236}">
                <a16:creationId xmlns:a16="http://schemas.microsoft.com/office/drawing/2014/main" id="{7C5AAA80-0D5B-6BA4-5A77-643F348D60D6}"/>
              </a:ext>
            </a:extLst>
          </p:cNvPr>
          <p:cNvSpPr>
            <a:spLocks noGrp="1" noRot="1" noMove="1" noResize="1" noEditPoints="1" noAdjustHandles="1" noChangeArrowheads="1" noChangeShapeType="1"/>
          </p:cNvSpPr>
          <p:nvPr>
            <p:ph type="body" sz="quarter" idx="21"/>
          </p:nvPr>
        </p:nvSpPr>
        <p:spPr/>
        <p:txBody>
          <a:bodyPr/>
          <a:lstStyle/>
          <a:p>
            <a:r>
              <a:rPr lang="de-DE" dirty="0"/>
              <a:t>Fürst Fugger Privatbank </a:t>
            </a:r>
            <a:br>
              <a:rPr lang="de-DE" dirty="0"/>
            </a:br>
            <a:r>
              <a:rPr lang="de-DE" dirty="0"/>
              <a:t>Friedrichsplatz 17 </a:t>
            </a:r>
            <a:br>
              <a:rPr lang="de-DE" dirty="0"/>
            </a:br>
            <a:r>
              <a:rPr lang="de-DE" dirty="0"/>
              <a:t>68165 Mannheim</a:t>
            </a:r>
          </a:p>
          <a:p>
            <a:r>
              <a:rPr lang="de-DE" dirty="0"/>
              <a:t>Telefon: +49 621 430905 0 </a:t>
            </a:r>
            <a:br>
              <a:rPr lang="de-DE" dirty="0"/>
            </a:br>
            <a:r>
              <a:rPr lang="de-DE" dirty="0"/>
              <a:t>Mail: private.banking.mannheim@fuggerbank.de</a:t>
            </a:r>
          </a:p>
        </p:txBody>
      </p:sp>
      <p:sp>
        <p:nvSpPr>
          <p:cNvPr id="3" name="Text mitte">
            <a:extLst>
              <a:ext uri="{FF2B5EF4-FFF2-40B4-BE49-F238E27FC236}">
                <a16:creationId xmlns:a16="http://schemas.microsoft.com/office/drawing/2014/main" id="{7965C01C-C4C9-7CDF-E9BF-690EDE0416FA}"/>
              </a:ext>
            </a:extLst>
          </p:cNvPr>
          <p:cNvSpPr>
            <a:spLocks noGrp="1" noRot="1" noMove="1" noResize="1" noEditPoints="1" noAdjustHandles="1" noChangeArrowheads="1" noChangeShapeType="1"/>
          </p:cNvSpPr>
          <p:nvPr>
            <p:ph type="body" sz="quarter" idx="18"/>
          </p:nvPr>
        </p:nvSpPr>
        <p:spPr/>
        <p:txBody>
          <a:bodyPr/>
          <a:lstStyle/>
          <a:p>
            <a:r>
              <a:rPr lang="de-DE" dirty="0"/>
              <a:t>Fürst Fugger Privatbank </a:t>
            </a:r>
            <a:br>
              <a:rPr lang="de-DE" dirty="0"/>
            </a:br>
            <a:r>
              <a:rPr lang="de-DE"/>
              <a:t>Im Zollhafen 24 </a:t>
            </a:r>
            <a:br>
              <a:rPr lang="de-DE"/>
            </a:br>
            <a:r>
              <a:rPr lang="de-DE"/>
              <a:t>50678 Köln </a:t>
            </a:r>
            <a:endParaRPr lang="de-DE" dirty="0"/>
          </a:p>
          <a:p>
            <a:r>
              <a:rPr lang="de-DE" dirty="0"/>
              <a:t>Telefon: +49 221 206544 20 </a:t>
            </a:r>
            <a:br>
              <a:rPr lang="de-DE" dirty="0"/>
            </a:br>
            <a:r>
              <a:rPr lang="de-DE" dirty="0"/>
              <a:t>Mail: private.banking.koeln@fuggerbank.de</a:t>
            </a:r>
          </a:p>
        </p:txBody>
      </p:sp>
      <p:sp>
        <p:nvSpPr>
          <p:cNvPr id="4" name="Text links">
            <a:extLst>
              <a:ext uri="{FF2B5EF4-FFF2-40B4-BE49-F238E27FC236}">
                <a16:creationId xmlns:a16="http://schemas.microsoft.com/office/drawing/2014/main" id="{45E2C8C1-9839-2531-AC40-4C0A6C0A06BB}"/>
              </a:ext>
            </a:extLst>
          </p:cNvPr>
          <p:cNvSpPr>
            <a:spLocks noGrp="1" noRot="1" noMove="1" noResize="1" noEditPoints="1" noAdjustHandles="1" noChangeArrowheads="1" noChangeShapeType="1"/>
          </p:cNvSpPr>
          <p:nvPr>
            <p:ph type="body" sz="quarter" idx="17"/>
          </p:nvPr>
        </p:nvSpPr>
        <p:spPr/>
        <p:txBody>
          <a:bodyPr/>
          <a:lstStyle/>
          <a:p>
            <a:r>
              <a:rPr lang="de-DE" dirty="0"/>
              <a:t>Fürst Fugger Privatbank </a:t>
            </a:r>
            <a:br>
              <a:rPr lang="de-DE" dirty="0"/>
            </a:br>
            <a:r>
              <a:rPr lang="de-DE" dirty="0"/>
              <a:t>Maximilianstraße 38</a:t>
            </a:r>
            <a:br>
              <a:rPr lang="de-DE" dirty="0"/>
            </a:br>
            <a:r>
              <a:rPr lang="de-DE" dirty="0"/>
              <a:t>86150 Augsburg</a:t>
            </a:r>
          </a:p>
          <a:p>
            <a:r>
              <a:rPr lang="de-DE" dirty="0"/>
              <a:t>Telefon: +49 821 3201 999</a:t>
            </a:r>
            <a:br>
              <a:rPr lang="de-DE" dirty="0"/>
            </a:br>
            <a:r>
              <a:rPr lang="de-DE" dirty="0"/>
              <a:t>Mail: private.banking.augsburg@fuggerbank.de</a:t>
            </a:r>
          </a:p>
        </p:txBody>
      </p:sp>
      <p:sp>
        <p:nvSpPr>
          <p:cNvPr id="12" name="Name rechts">
            <a:extLst>
              <a:ext uri="{FF2B5EF4-FFF2-40B4-BE49-F238E27FC236}">
                <a16:creationId xmlns:a16="http://schemas.microsoft.com/office/drawing/2014/main" id="{E67E6A22-9F9B-E8AA-25D5-32F5FCA94531}"/>
              </a:ext>
            </a:extLst>
          </p:cNvPr>
          <p:cNvSpPr>
            <a:spLocks noGrp="1" noRot="1" noMove="1" noResize="1" noEditPoints="1" noAdjustHandles="1" noChangeArrowheads="1" noChangeShapeType="1"/>
          </p:cNvSpPr>
          <p:nvPr>
            <p:ph type="body" sz="quarter" idx="22"/>
          </p:nvPr>
        </p:nvSpPr>
        <p:spPr/>
        <p:txBody>
          <a:bodyPr/>
          <a:lstStyle/>
          <a:p>
            <a:r>
              <a:rPr lang="de-DE" dirty="0"/>
              <a:t>Standort Mannheim</a:t>
            </a:r>
          </a:p>
        </p:txBody>
      </p:sp>
      <p:sp>
        <p:nvSpPr>
          <p:cNvPr id="5" name="Name mitte">
            <a:extLst>
              <a:ext uri="{FF2B5EF4-FFF2-40B4-BE49-F238E27FC236}">
                <a16:creationId xmlns:a16="http://schemas.microsoft.com/office/drawing/2014/main" id="{2DD0505B-E35A-0974-CBC6-D4668134FD81}"/>
              </a:ext>
            </a:extLst>
          </p:cNvPr>
          <p:cNvSpPr>
            <a:spLocks noGrp="1" noRot="1" noMove="1" noResize="1" noEditPoints="1" noAdjustHandles="1" noChangeArrowheads="1" noChangeShapeType="1"/>
          </p:cNvSpPr>
          <p:nvPr>
            <p:ph type="body" sz="quarter" idx="16"/>
          </p:nvPr>
        </p:nvSpPr>
        <p:spPr/>
        <p:txBody>
          <a:bodyPr/>
          <a:lstStyle/>
          <a:p>
            <a:r>
              <a:rPr lang="de-DE" dirty="0"/>
              <a:t>Standort Köln</a:t>
            </a:r>
          </a:p>
        </p:txBody>
      </p:sp>
      <p:sp>
        <p:nvSpPr>
          <p:cNvPr id="6" name="Name links">
            <a:extLst>
              <a:ext uri="{FF2B5EF4-FFF2-40B4-BE49-F238E27FC236}">
                <a16:creationId xmlns:a16="http://schemas.microsoft.com/office/drawing/2014/main" id="{92BAED04-BBE1-879D-AE8C-D1343B89F6B9}"/>
              </a:ext>
            </a:extLst>
          </p:cNvPr>
          <p:cNvSpPr>
            <a:spLocks noGrp="1" noRot="1" noMove="1" noResize="1" noEditPoints="1" noAdjustHandles="1" noChangeArrowheads="1" noChangeShapeType="1"/>
          </p:cNvSpPr>
          <p:nvPr>
            <p:ph type="body" sz="quarter" idx="15"/>
          </p:nvPr>
        </p:nvSpPr>
        <p:spPr/>
        <p:txBody>
          <a:bodyPr/>
          <a:lstStyle/>
          <a:p>
            <a:r>
              <a:rPr lang="de-DE" dirty="0"/>
              <a:t>Standort Augsburg</a:t>
            </a:r>
          </a:p>
        </p:txBody>
      </p:sp>
      <p:pic>
        <p:nvPicPr>
          <p:cNvPr id="18" name="Bild rechts">
            <a:extLst>
              <a:ext uri="{FF2B5EF4-FFF2-40B4-BE49-F238E27FC236}">
                <a16:creationId xmlns:a16="http://schemas.microsoft.com/office/drawing/2014/main" id="{721B5171-693C-1389-1941-32A8C742C50F}"/>
              </a:ext>
            </a:extLst>
          </p:cNvPr>
          <p:cNvPicPr>
            <a:picLocks noGrp="1" noRot="1" noChangeAspect="1" noMove="1" noResize="1" noEditPoints="1" noAdjustHandles="1" noChangeArrowheads="1" noChangeShapeType="1" noCrop="1"/>
          </p:cNvPicPr>
          <p:nvPr>
            <p:ph type="pic" sz="quarter" idx="20"/>
          </p:nvPr>
        </p:nvPicPr>
        <p:blipFill>
          <a:blip r:embed="rId2">
            <a:extLst>
              <a:ext uri="{28A0092B-C50C-407E-A947-70E740481C1C}">
                <a14:useLocalDpi xmlns:a14="http://schemas.microsoft.com/office/drawing/2010/main" val="0"/>
              </a:ext>
            </a:extLst>
          </a:blip>
          <a:srcRect l="14239" r="14239"/>
          <a:stretch>
            <a:fillRect/>
          </a:stretch>
        </p:blipFill>
        <p:spPr/>
      </p:pic>
      <p:pic>
        <p:nvPicPr>
          <p:cNvPr id="16" name="Bild mitte">
            <a:extLst>
              <a:ext uri="{FF2B5EF4-FFF2-40B4-BE49-F238E27FC236}">
                <a16:creationId xmlns:a16="http://schemas.microsoft.com/office/drawing/2014/main" id="{964CDC76-CFD5-014E-FA4D-A4FEC626AB6D}"/>
              </a:ext>
            </a:extLst>
          </p:cNvPr>
          <p:cNvPicPr>
            <a:picLocks noGrp="1" noRot="1" noChangeAspect="1" noMove="1" noResize="1" noEditPoints="1" noAdjustHandles="1" noChangeArrowheads="1" noChangeShapeType="1" noCrop="1"/>
          </p:cNvPicPr>
          <p:nvPr>
            <p:ph type="pic" sz="quarter" idx="19"/>
          </p:nvPr>
        </p:nvPicPr>
        <p:blipFill>
          <a:blip r:embed="rId3">
            <a:extLst>
              <a:ext uri="{28A0092B-C50C-407E-A947-70E740481C1C}">
                <a14:useLocalDpi xmlns:a14="http://schemas.microsoft.com/office/drawing/2010/main" val="0"/>
              </a:ext>
            </a:extLst>
          </a:blip>
          <a:srcRect l="16699" r="16699"/>
          <a:stretch>
            <a:fillRect/>
          </a:stretch>
        </p:blipFill>
        <p:spPr/>
      </p:pic>
      <p:pic>
        <p:nvPicPr>
          <p:cNvPr id="14" name="Bild links">
            <a:extLst>
              <a:ext uri="{FF2B5EF4-FFF2-40B4-BE49-F238E27FC236}">
                <a16:creationId xmlns:a16="http://schemas.microsoft.com/office/drawing/2014/main" id="{22B882D9-62F0-8BC8-EC01-CC7490F65857}"/>
              </a:ext>
            </a:extLst>
          </p:cNvPr>
          <p:cNvPicPr>
            <a:picLocks noGrp="1" noRot="1" noChangeAspect="1" noMove="1" noResize="1" noEditPoints="1" noAdjustHandles="1" noChangeArrowheads="1" noChangeShapeType="1" noCrop="1"/>
          </p:cNvPicPr>
          <p:nvPr>
            <p:ph type="pic" sz="quarter" idx="13"/>
          </p:nvPr>
        </p:nvPicPr>
        <p:blipFill>
          <a:blip r:embed="rId4">
            <a:extLst>
              <a:ext uri="{28A0092B-C50C-407E-A947-70E740481C1C}">
                <a14:useLocalDpi xmlns:a14="http://schemas.microsoft.com/office/drawing/2010/main" val="0"/>
              </a:ext>
            </a:extLst>
          </a:blip>
          <a:srcRect l="16635" r="16635"/>
          <a:stretch>
            <a:fillRect/>
          </a:stretch>
        </p:blipFill>
        <p:spPr/>
      </p:pic>
      <p:sp>
        <p:nvSpPr>
          <p:cNvPr id="8" name="Titel">
            <a:extLst>
              <a:ext uri="{FF2B5EF4-FFF2-40B4-BE49-F238E27FC236}">
                <a16:creationId xmlns:a16="http://schemas.microsoft.com/office/drawing/2014/main" id="{99AA23C9-5767-BA3A-A8E3-7815F50ACF63}"/>
              </a:ext>
            </a:extLst>
          </p:cNvPr>
          <p:cNvSpPr>
            <a:spLocks noGrp="1" noRot="1" noMove="1" noResize="1" noEditPoints="1" noAdjustHandles="1" noChangeArrowheads="1" noChangeShapeType="1"/>
          </p:cNvSpPr>
          <p:nvPr>
            <p:ph type="title"/>
          </p:nvPr>
        </p:nvSpPr>
        <p:spPr/>
        <p:txBody>
          <a:bodyPr/>
          <a:lstStyle/>
          <a:p>
            <a:r>
              <a:rPr lang="de-DE" dirty="0"/>
              <a:t>Unsere Standorte</a:t>
            </a:r>
          </a:p>
        </p:txBody>
      </p:sp>
    </p:spTree>
    <p:extLst>
      <p:ext uri="{BB962C8B-B14F-4D97-AF65-F5344CB8AC3E}">
        <p14:creationId xmlns:p14="http://schemas.microsoft.com/office/powerpoint/2010/main" val="286411772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A3B8814F-D1D8-2D28-64B5-ED0BAA73071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18</a:t>
            </a:fld>
            <a:endParaRPr lang="de-DE"/>
          </a:p>
        </p:txBody>
      </p:sp>
      <p:sp>
        <p:nvSpPr>
          <p:cNvPr id="11" name="Text rechts">
            <a:extLst>
              <a:ext uri="{FF2B5EF4-FFF2-40B4-BE49-F238E27FC236}">
                <a16:creationId xmlns:a16="http://schemas.microsoft.com/office/drawing/2014/main" id="{17ED16B6-3864-0319-682D-5404B527792F}"/>
              </a:ext>
            </a:extLst>
          </p:cNvPr>
          <p:cNvSpPr>
            <a:spLocks noGrp="1" noRot="1" noMove="1" noResize="1" noEditPoints="1" noAdjustHandles="1" noChangeArrowheads="1" noChangeShapeType="1"/>
          </p:cNvSpPr>
          <p:nvPr>
            <p:ph type="body" sz="quarter" idx="21"/>
          </p:nvPr>
        </p:nvSpPr>
        <p:spPr/>
        <p:txBody>
          <a:bodyPr/>
          <a:lstStyle/>
          <a:p>
            <a:r>
              <a:rPr lang="de-DE" dirty="0"/>
              <a:t>Fürst Fugger Privatbank </a:t>
            </a:r>
            <a:br>
              <a:rPr lang="de-DE" dirty="0"/>
            </a:br>
            <a:r>
              <a:rPr lang="de-DE" dirty="0"/>
              <a:t>Theodor-Heuss-Str. 9 </a:t>
            </a:r>
            <a:br>
              <a:rPr lang="de-DE" dirty="0"/>
            </a:br>
            <a:r>
              <a:rPr lang="de-DE" dirty="0"/>
              <a:t>70174 Stuttgart</a:t>
            </a:r>
          </a:p>
          <a:p>
            <a:r>
              <a:rPr lang="de-DE" dirty="0"/>
              <a:t>Telefon: +49 711 870359 0 </a:t>
            </a:r>
            <a:br>
              <a:rPr lang="de-DE" dirty="0"/>
            </a:br>
            <a:r>
              <a:rPr lang="de-DE" dirty="0"/>
              <a:t>Mail: private.banking.stuttgart@fuggerbank.de</a:t>
            </a:r>
          </a:p>
        </p:txBody>
      </p:sp>
      <p:sp>
        <p:nvSpPr>
          <p:cNvPr id="3" name="Text mitte">
            <a:extLst>
              <a:ext uri="{FF2B5EF4-FFF2-40B4-BE49-F238E27FC236}">
                <a16:creationId xmlns:a16="http://schemas.microsoft.com/office/drawing/2014/main" id="{2FA3669C-AD30-620E-4ED8-D05BF1BA5D81}"/>
              </a:ext>
            </a:extLst>
          </p:cNvPr>
          <p:cNvSpPr>
            <a:spLocks noGrp="1" noRot="1" noMove="1" noResize="1" noEditPoints="1" noAdjustHandles="1" noChangeArrowheads="1" noChangeShapeType="1"/>
          </p:cNvSpPr>
          <p:nvPr>
            <p:ph type="body" sz="quarter" idx="18"/>
          </p:nvPr>
        </p:nvSpPr>
        <p:spPr/>
        <p:txBody>
          <a:bodyPr/>
          <a:lstStyle/>
          <a:p>
            <a:r>
              <a:rPr lang="de-DE" dirty="0"/>
              <a:t>Fürst Fugger Privatbank </a:t>
            </a:r>
            <a:br>
              <a:rPr lang="de-DE" dirty="0"/>
            </a:br>
            <a:r>
              <a:rPr lang="de-DE" dirty="0"/>
              <a:t>Rathenauplatz 2 </a:t>
            </a:r>
            <a:br>
              <a:rPr lang="de-DE" dirty="0"/>
            </a:br>
            <a:r>
              <a:rPr lang="de-DE" dirty="0"/>
              <a:t>90489 Nürnberg</a:t>
            </a:r>
          </a:p>
          <a:p>
            <a:r>
              <a:rPr lang="de-DE" dirty="0"/>
              <a:t>Telefon: +49 911 52125 00 </a:t>
            </a:r>
            <a:br>
              <a:rPr lang="de-DE" dirty="0"/>
            </a:br>
            <a:r>
              <a:rPr lang="de-DE" dirty="0"/>
              <a:t>Mail: private.banking.nuernberg@fuggerbank.de</a:t>
            </a:r>
          </a:p>
        </p:txBody>
      </p:sp>
      <p:sp>
        <p:nvSpPr>
          <p:cNvPr id="4" name="Text links">
            <a:extLst>
              <a:ext uri="{FF2B5EF4-FFF2-40B4-BE49-F238E27FC236}">
                <a16:creationId xmlns:a16="http://schemas.microsoft.com/office/drawing/2014/main" id="{8B59AA38-FCAC-FB11-D03D-F4160D5D70BA}"/>
              </a:ext>
            </a:extLst>
          </p:cNvPr>
          <p:cNvSpPr>
            <a:spLocks noGrp="1" noRot="1" noMove="1" noResize="1" noEditPoints="1" noAdjustHandles="1" noChangeArrowheads="1" noChangeShapeType="1"/>
          </p:cNvSpPr>
          <p:nvPr>
            <p:ph type="body" sz="quarter" idx="17"/>
          </p:nvPr>
        </p:nvSpPr>
        <p:spPr/>
        <p:txBody>
          <a:bodyPr/>
          <a:lstStyle/>
          <a:p>
            <a:r>
              <a:rPr lang="de-DE" dirty="0"/>
              <a:t>Fürst Fugger Privatbank </a:t>
            </a:r>
            <a:br>
              <a:rPr lang="de-DE" dirty="0"/>
            </a:br>
            <a:r>
              <a:rPr lang="de-DE" dirty="0" err="1"/>
              <a:t>Prannerstraße</a:t>
            </a:r>
            <a:r>
              <a:rPr lang="de-DE"/>
              <a:t> 8</a:t>
            </a:r>
            <a:br>
              <a:rPr lang="de-DE" dirty="0"/>
            </a:br>
            <a:r>
              <a:rPr lang="de-DE" dirty="0"/>
              <a:t>80333 München</a:t>
            </a:r>
          </a:p>
          <a:p>
            <a:r>
              <a:rPr lang="de-DE" dirty="0"/>
              <a:t>Telefon: +49 8929 0729 0</a:t>
            </a:r>
            <a:br>
              <a:rPr lang="de-DE" dirty="0"/>
            </a:br>
            <a:r>
              <a:rPr lang="de-DE" dirty="0"/>
              <a:t>Mail: private.banking.muenchen@fuggerbank.de</a:t>
            </a:r>
          </a:p>
        </p:txBody>
      </p:sp>
      <p:sp>
        <p:nvSpPr>
          <p:cNvPr id="12" name="Name rechts">
            <a:extLst>
              <a:ext uri="{FF2B5EF4-FFF2-40B4-BE49-F238E27FC236}">
                <a16:creationId xmlns:a16="http://schemas.microsoft.com/office/drawing/2014/main" id="{AAE8014B-0DD1-0E63-35AB-4A492D8B2664}"/>
              </a:ext>
            </a:extLst>
          </p:cNvPr>
          <p:cNvSpPr>
            <a:spLocks noGrp="1" noRot="1" noMove="1" noResize="1" noEditPoints="1" noAdjustHandles="1" noChangeArrowheads="1" noChangeShapeType="1"/>
          </p:cNvSpPr>
          <p:nvPr>
            <p:ph type="body" sz="quarter" idx="22"/>
          </p:nvPr>
        </p:nvSpPr>
        <p:spPr/>
        <p:txBody>
          <a:bodyPr/>
          <a:lstStyle/>
          <a:p>
            <a:r>
              <a:rPr lang="de-DE" dirty="0"/>
              <a:t>Standort Stuttgart</a:t>
            </a:r>
          </a:p>
        </p:txBody>
      </p:sp>
      <p:sp>
        <p:nvSpPr>
          <p:cNvPr id="5" name="Name mitte">
            <a:extLst>
              <a:ext uri="{FF2B5EF4-FFF2-40B4-BE49-F238E27FC236}">
                <a16:creationId xmlns:a16="http://schemas.microsoft.com/office/drawing/2014/main" id="{5874B704-96C1-0CB8-63DC-A92C26BE04D7}"/>
              </a:ext>
            </a:extLst>
          </p:cNvPr>
          <p:cNvSpPr>
            <a:spLocks noGrp="1" noRot="1" noMove="1" noResize="1" noEditPoints="1" noAdjustHandles="1" noChangeArrowheads="1" noChangeShapeType="1"/>
          </p:cNvSpPr>
          <p:nvPr>
            <p:ph type="body" sz="quarter" idx="16"/>
          </p:nvPr>
        </p:nvSpPr>
        <p:spPr/>
        <p:txBody>
          <a:bodyPr/>
          <a:lstStyle/>
          <a:p>
            <a:r>
              <a:rPr lang="de-DE" dirty="0"/>
              <a:t>Standort Nürnberg</a:t>
            </a:r>
          </a:p>
        </p:txBody>
      </p:sp>
      <p:sp>
        <p:nvSpPr>
          <p:cNvPr id="6" name="Name links">
            <a:extLst>
              <a:ext uri="{FF2B5EF4-FFF2-40B4-BE49-F238E27FC236}">
                <a16:creationId xmlns:a16="http://schemas.microsoft.com/office/drawing/2014/main" id="{25DD03EF-49D2-8FA8-066A-F22E53377802}"/>
              </a:ext>
            </a:extLst>
          </p:cNvPr>
          <p:cNvSpPr>
            <a:spLocks noGrp="1" noRot="1" noMove="1" noResize="1" noEditPoints="1" noAdjustHandles="1" noChangeArrowheads="1" noChangeShapeType="1"/>
          </p:cNvSpPr>
          <p:nvPr>
            <p:ph type="body" sz="quarter" idx="15"/>
          </p:nvPr>
        </p:nvSpPr>
        <p:spPr/>
        <p:txBody>
          <a:bodyPr/>
          <a:lstStyle/>
          <a:p>
            <a:r>
              <a:rPr lang="de-DE" dirty="0"/>
              <a:t>Standort München</a:t>
            </a:r>
          </a:p>
        </p:txBody>
      </p:sp>
      <p:pic>
        <p:nvPicPr>
          <p:cNvPr id="18" name="Bild rechts">
            <a:extLst>
              <a:ext uri="{FF2B5EF4-FFF2-40B4-BE49-F238E27FC236}">
                <a16:creationId xmlns:a16="http://schemas.microsoft.com/office/drawing/2014/main" id="{D4BA8B98-92EC-64EB-71B3-A6E3E2BA7D31}"/>
              </a:ext>
            </a:extLst>
          </p:cNvPr>
          <p:cNvPicPr>
            <a:picLocks noGrp="1" noRot="1" noChangeAspect="1" noMove="1" noResize="1" noEditPoints="1" noAdjustHandles="1" noChangeArrowheads="1" noChangeShapeType="1" noCrop="1"/>
          </p:cNvPicPr>
          <p:nvPr>
            <p:ph type="pic" sz="quarter" idx="20"/>
          </p:nvPr>
        </p:nvPicPr>
        <p:blipFill>
          <a:blip r:embed="rId2">
            <a:extLst>
              <a:ext uri="{28A0092B-C50C-407E-A947-70E740481C1C}">
                <a14:useLocalDpi xmlns:a14="http://schemas.microsoft.com/office/drawing/2010/main" val="0"/>
              </a:ext>
            </a:extLst>
          </a:blip>
          <a:srcRect l="16699" r="16699"/>
          <a:stretch>
            <a:fillRect/>
          </a:stretch>
        </p:blipFill>
        <p:spPr/>
      </p:pic>
      <p:pic>
        <p:nvPicPr>
          <p:cNvPr id="16" name="Bild mitte">
            <a:extLst>
              <a:ext uri="{FF2B5EF4-FFF2-40B4-BE49-F238E27FC236}">
                <a16:creationId xmlns:a16="http://schemas.microsoft.com/office/drawing/2014/main" id="{5AE6996B-E069-D522-32E7-DF5ACACE4CB1}"/>
              </a:ext>
            </a:extLst>
          </p:cNvPr>
          <p:cNvPicPr>
            <a:picLocks noGrp="1" noRot="1" noChangeAspect="1" noMove="1" noResize="1" noEditPoints="1" noAdjustHandles="1" noChangeArrowheads="1" noChangeShapeType="1" noCrop="1"/>
          </p:cNvPicPr>
          <p:nvPr>
            <p:ph type="pic" sz="quarter" idx="19"/>
          </p:nvPr>
        </p:nvPicPr>
        <p:blipFill>
          <a:blip r:embed="rId3">
            <a:extLst>
              <a:ext uri="{28A0092B-C50C-407E-A947-70E740481C1C}">
                <a14:useLocalDpi xmlns:a14="http://schemas.microsoft.com/office/drawing/2010/main" val="0"/>
              </a:ext>
            </a:extLst>
          </a:blip>
          <a:srcRect l="16661" r="16661"/>
          <a:stretch>
            <a:fillRect/>
          </a:stretch>
        </p:blipFill>
        <p:spPr/>
      </p:pic>
      <p:pic>
        <p:nvPicPr>
          <p:cNvPr id="14" name="Bild links">
            <a:extLst>
              <a:ext uri="{FF2B5EF4-FFF2-40B4-BE49-F238E27FC236}">
                <a16:creationId xmlns:a16="http://schemas.microsoft.com/office/drawing/2014/main" id="{AA024E71-6679-A1C6-C7D2-469962ED7539}"/>
              </a:ext>
            </a:extLst>
          </p:cNvPr>
          <p:cNvPicPr>
            <a:picLocks noGrp="1" noRot="1" noChangeAspect="1" noMove="1" noResize="1" noEditPoints="1" noAdjustHandles="1" noChangeArrowheads="1" noChangeShapeType="1" noCrop="1"/>
          </p:cNvPicPr>
          <p:nvPr>
            <p:ph type="pic" sz="quarter" idx="13"/>
          </p:nvPr>
        </p:nvPicPr>
        <p:blipFill>
          <a:blip r:embed="rId4">
            <a:extLst>
              <a:ext uri="{28A0092B-C50C-407E-A947-70E740481C1C}">
                <a14:useLocalDpi xmlns:a14="http://schemas.microsoft.com/office/drawing/2010/main" val="0"/>
              </a:ext>
            </a:extLst>
          </a:blip>
          <a:srcRect l="16629" r="16629"/>
          <a:stretch>
            <a:fillRect/>
          </a:stretch>
        </p:blipFill>
        <p:spPr/>
      </p:pic>
      <p:sp>
        <p:nvSpPr>
          <p:cNvPr id="8" name="Titel">
            <a:extLst>
              <a:ext uri="{FF2B5EF4-FFF2-40B4-BE49-F238E27FC236}">
                <a16:creationId xmlns:a16="http://schemas.microsoft.com/office/drawing/2014/main" id="{E6DF9330-1FA1-1147-8E70-96269D3FE91B}"/>
              </a:ext>
            </a:extLst>
          </p:cNvPr>
          <p:cNvSpPr>
            <a:spLocks noGrp="1" noRot="1" noMove="1" noResize="1" noEditPoints="1" noAdjustHandles="1" noChangeArrowheads="1" noChangeShapeType="1"/>
          </p:cNvSpPr>
          <p:nvPr>
            <p:ph type="title"/>
          </p:nvPr>
        </p:nvSpPr>
        <p:spPr/>
        <p:txBody>
          <a:bodyPr/>
          <a:lstStyle/>
          <a:p>
            <a:r>
              <a:rPr lang="de-DE" dirty="0"/>
              <a:t>Unsere Standorte</a:t>
            </a:r>
          </a:p>
        </p:txBody>
      </p:sp>
    </p:spTree>
    <p:extLst>
      <p:ext uri="{BB962C8B-B14F-4D97-AF65-F5344CB8AC3E}">
        <p14:creationId xmlns:p14="http://schemas.microsoft.com/office/powerpoint/2010/main" val="303935147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FABEEE-A04E-6DAC-BC1B-672E88405F5C}"/>
            </a:ext>
          </a:extLst>
        </p:cNvPr>
        <p:cNvGrpSpPr/>
        <p:nvPr/>
      </p:nvGrpSpPr>
      <p:grpSpPr>
        <a:xfrm>
          <a:off x="0" y="0"/>
          <a:ext cx="0" cy="0"/>
          <a:chOff x="0" y="0"/>
          <a:chExt cx="0" cy="0"/>
        </a:xfrm>
      </p:grpSpPr>
      <p:sp>
        <p:nvSpPr>
          <p:cNvPr id="2" name="Foliennummer">
            <a:extLst>
              <a:ext uri="{FF2B5EF4-FFF2-40B4-BE49-F238E27FC236}">
                <a16:creationId xmlns:a16="http://schemas.microsoft.com/office/drawing/2014/main" id="{D086986D-FF02-10E6-714C-4BC3C095FB32}"/>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19</a:t>
            </a:fld>
            <a:endParaRPr lang="de-DE"/>
          </a:p>
        </p:txBody>
      </p:sp>
      <p:sp>
        <p:nvSpPr>
          <p:cNvPr id="6" name="Titel">
            <a:extLst>
              <a:ext uri="{FF2B5EF4-FFF2-40B4-BE49-F238E27FC236}">
                <a16:creationId xmlns:a16="http://schemas.microsoft.com/office/drawing/2014/main" id="{9A4A8219-EDFE-2E10-CAD7-8EE453B1C947}"/>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Risikohinweise</a:t>
            </a:r>
            <a:endParaRPr lang="de-DE" dirty="0">
              <a:solidFill>
                <a:srgbClr val="FF0000"/>
              </a:solidFill>
            </a:endParaRPr>
          </a:p>
        </p:txBody>
      </p:sp>
      <p:sp>
        <p:nvSpPr>
          <p:cNvPr id="8" name="Text 1">
            <a:extLst>
              <a:ext uri="{FF2B5EF4-FFF2-40B4-BE49-F238E27FC236}">
                <a16:creationId xmlns:a16="http://schemas.microsoft.com/office/drawing/2014/main" id="{2CA92FC6-4022-9D35-AA38-EEFAC8D0B3FD}"/>
              </a:ext>
            </a:extLst>
          </p:cNvPr>
          <p:cNvSpPr txBox="1">
            <a:spLocks/>
          </p:cNvSpPr>
          <p:nvPr/>
        </p:nvSpPr>
        <p:spPr>
          <a:xfrm>
            <a:off x="5387983"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lvl="2"/>
            <a:r>
              <a:rPr lang="de-DE" b="1" dirty="0"/>
              <a:t>Währungsrisiko:</a:t>
            </a:r>
            <a:r>
              <a:rPr lang="de-DE" dirty="0"/>
              <a:t> Bei Anlagen in Fremdwährungen hängt die Rendite nicht nur von der Kursentwicklung des Wertpapiers ab, sondern auch von der Entwicklung des Wechselkurses zum Euro. Ungünstige Wechselkursänderungen können Gewinne schmälern oder zu Verlusten führen.</a:t>
            </a:r>
            <a:endParaRPr lang="de-DE" b="1" dirty="0"/>
          </a:p>
          <a:p>
            <a:pPr lvl="2"/>
            <a:endParaRPr lang="de-DE" b="1" dirty="0"/>
          </a:p>
          <a:p>
            <a:pPr lvl="2"/>
            <a:r>
              <a:rPr lang="de-DE" b="1" dirty="0"/>
              <a:t>Meinungsvorbehalt</a:t>
            </a:r>
            <a:r>
              <a:rPr lang="de-DE" dirty="0"/>
              <a:t>: Die dargestellten Meinungsäußerungen geben die aktuelle Einschätzung des Erstellers wieder und können sich ohne vorherige Ankündigung ändern.</a:t>
            </a:r>
          </a:p>
          <a:p>
            <a:pPr lvl="2"/>
            <a:endParaRPr lang="de-DE" dirty="0"/>
          </a:p>
          <a:p>
            <a:pPr lvl="2"/>
            <a:r>
              <a:rPr lang="de-DE" b="1" dirty="0"/>
              <a:t>Steuerliche Hinweise:</a:t>
            </a:r>
            <a:r>
              <a:rPr lang="de-DE" dirty="0"/>
              <a:t> Die steuerliche Behandlung der Erträge hängt von den persönlichen Verhältnissen des Kunden ab und kann künftigen Änderungen unterworfen sein. Diese Information ersetzt keine individuelle Steuerberatung.</a:t>
            </a:r>
          </a:p>
        </p:txBody>
      </p:sp>
      <p:sp>
        <p:nvSpPr>
          <p:cNvPr id="14" name="Text 1">
            <a:extLst>
              <a:ext uri="{FF2B5EF4-FFF2-40B4-BE49-F238E27FC236}">
                <a16:creationId xmlns:a16="http://schemas.microsoft.com/office/drawing/2014/main" id="{262685F1-866B-40B7-CD4A-5027053E814A}"/>
              </a:ext>
            </a:extLst>
          </p:cNvPr>
          <p:cNvSpPr txBox="1">
            <a:spLocks/>
          </p:cNvSpPr>
          <p:nvPr/>
        </p:nvSpPr>
        <p:spPr>
          <a:xfrm>
            <a:off x="620040"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lvl="2"/>
            <a:r>
              <a:rPr lang="de-DE" b="1" dirty="0"/>
              <a:t>Markt- und Kursrisiken</a:t>
            </a:r>
            <a:r>
              <a:rPr lang="de-DE" dirty="0"/>
              <a:t>: Anlagen an den Kapitalmärkten sind mit Risiken verbunden. Die Kurse, Erträge und Werte einer Investmentanlage, auch der beschriebenen Investitionsmöglichkeiten können schwanken. Ein Kapitalverlust ist nicht auszuschließen.</a:t>
            </a:r>
            <a:br>
              <a:rPr lang="de-DE" dirty="0">
                <a:solidFill>
                  <a:srgbClr val="FF0000"/>
                </a:solidFill>
              </a:rPr>
            </a:br>
            <a:endParaRPr lang="de-DE" dirty="0">
              <a:solidFill>
                <a:srgbClr val="FF0000"/>
              </a:solidFill>
            </a:endParaRPr>
          </a:p>
          <a:p>
            <a:pPr lvl="2"/>
            <a:r>
              <a:rPr lang="de-DE" b="1" dirty="0"/>
              <a:t>Frühere Entwicklungen</a:t>
            </a:r>
            <a:r>
              <a:rPr lang="de-DE" dirty="0"/>
              <a:t>, Simulationen oder Prognosen sind kein verlässlicher Indikator für die zukünftige Wertentwicklung. Eine positive Entwicklung in der Vergangenheit ist insbesondere keine Garantie für die zukünftige Wertentwicklung. </a:t>
            </a:r>
          </a:p>
          <a:p>
            <a:pPr lvl="2"/>
            <a:endParaRPr lang="de-DE" dirty="0"/>
          </a:p>
          <a:p>
            <a:pPr lvl="2"/>
            <a:r>
              <a:rPr lang="de-DE" dirty="0"/>
              <a:t>Insbesondere bei Anlagen mit geringer Nominalverzinsung kann die </a:t>
            </a:r>
            <a:r>
              <a:rPr lang="de-DE" b="1" dirty="0"/>
              <a:t>Inflation</a:t>
            </a:r>
            <a:r>
              <a:rPr lang="de-DE" dirty="0"/>
              <a:t> zu einem realen Wertverlust führen.</a:t>
            </a:r>
          </a:p>
          <a:p>
            <a:pPr lvl="2"/>
            <a:endParaRPr lang="de-DE" dirty="0"/>
          </a:p>
          <a:p>
            <a:pPr lvl="2"/>
            <a:r>
              <a:rPr lang="de-DE" dirty="0"/>
              <a:t>Eine kurze Anlagedauer sowie anfallende </a:t>
            </a:r>
            <a:r>
              <a:rPr lang="de-DE" b="1" dirty="0"/>
              <a:t>Kosten</a:t>
            </a:r>
            <a:r>
              <a:rPr lang="de-DE" dirty="0"/>
              <a:t> und Gebühren können das Risiko-Rendite-Verhältnis sowie die tatsächliche Netto-Rendite erheblich beeinträchtigen.</a:t>
            </a:r>
          </a:p>
          <a:p>
            <a:pPr marL="0" lvl="2" indent="0">
              <a:buNone/>
            </a:pPr>
            <a:endParaRPr lang="de-DE" dirty="0"/>
          </a:p>
          <a:p>
            <a:pPr lvl="2"/>
            <a:endParaRPr lang="de-DE" dirty="0"/>
          </a:p>
          <a:p>
            <a:pPr lvl="2"/>
            <a:endParaRPr lang="de-DE" dirty="0"/>
          </a:p>
        </p:txBody>
      </p:sp>
    </p:spTree>
    <p:extLst>
      <p:ext uri="{BB962C8B-B14F-4D97-AF65-F5344CB8AC3E}">
        <p14:creationId xmlns:p14="http://schemas.microsoft.com/office/powerpoint/2010/main" val="268141578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B116CC-F0AE-71CB-1251-609EEDFB115A}"/>
            </a:ext>
          </a:extLst>
        </p:cNvPr>
        <p:cNvGrpSpPr/>
        <p:nvPr/>
      </p:nvGrpSpPr>
      <p:grpSpPr>
        <a:xfrm>
          <a:off x="0" y="0"/>
          <a:ext cx="0" cy="0"/>
          <a:chOff x="0" y="0"/>
          <a:chExt cx="0" cy="0"/>
        </a:xfrm>
      </p:grpSpPr>
      <p:sp>
        <p:nvSpPr>
          <p:cNvPr id="2" name="Foliennummer">
            <a:extLst>
              <a:ext uri="{FF2B5EF4-FFF2-40B4-BE49-F238E27FC236}">
                <a16:creationId xmlns:a16="http://schemas.microsoft.com/office/drawing/2014/main" id="{DB47530D-88A6-A760-B34A-D1BE097ED3C6}"/>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20</a:t>
            </a:fld>
            <a:endParaRPr lang="de-DE"/>
          </a:p>
        </p:txBody>
      </p:sp>
      <p:sp>
        <p:nvSpPr>
          <p:cNvPr id="6" name="Titel">
            <a:extLst>
              <a:ext uri="{FF2B5EF4-FFF2-40B4-BE49-F238E27FC236}">
                <a16:creationId xmlns:a16="http://schemas.microsoft.com/office/drawing/2014/main" id="{2811FDDA-3594-45DD-834F-5736DCC6EF31}"/>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Rechtliche Hinweise und Impressum</a:t>
            </a:r>
          </a:p>
        </p:txBody>
      </p:sp>
      <p:sp>
        <p:nvSpPr>
          <p:cNvPr id="8" name="Text 1">
            <a:extLst>
              <a:ext uri="{FF2B5EF4-FFF2-40B4-BE49-F238E27FC236}">
                <a16:creationId xmlns:a16="http://schemas.microsoft.com/office/drawing/2014/main" id="{6055C3FA-5170-362F-1D1E-FE305637A52B}"/>
              </a:ext>
            </a:extLst>
          </p:cNvPr>
          <p:cNvSpPr txBox="1">
            <a:spLocks/>
          </p:cNvSpPr>
          <p:nvPr/>
        </p:nvSpPr>
        <p:spPr>
          <a:xfrm>
            <a:off x="5387983"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a:lnSpc>
                <a:spcPct val="100000"/>
              </a:lnSpc>
              <a:spcBef>
                <a:spcPts val="600"/>
              </a:spcBef>
            </a:pPr>
            <a:r>
              <a:rPr lang="de-DE" sz="1000" dirty="0">
                <a:solidFill>
                  <a:srgbClr val="000000"/>
                </a:solidFill>
                <a:latin typeface="+mn-lt"/>
              </a:rPr>
              <a:t>Verantwortlich für die Inhalte</a:t>
            </a:r>
          </a:p>
          <a:p>
            <a:pPr>
              <a:lnSpc>
                <a:spcPct val="100000"/>
              </a:lnSpc>
              <a:spcBef>
                <a:spcPts val="600"/>
              </a:spcBef>
            </a:pPr>
            <a:r>
              <a:rPr lang="de-DE" sz="1000" b="0" dirty="0">
                <a:solidFill>
                  <a:srgbClr val="000000"/>
                </a:solidFill>
                <a:latin typeface="+mn-lt"/>
              </a:rPr>
              <a:t>Fürst Fugger Privatbank Aktiengesellschaft</a:t>
            </a:r>
            <a:br>
              <a:rPr lang="de-DE" sz="1000" b="0" dirty="0">
                <a:solidFill>
                  <a:srgbClr val="000000"/>
                </a:solidFill>
                <a:latin typeface="+mn-lt"/>
              </a:rPr>
            </a:br>
            <a:r>
              <a:rPr lang="de-DE" sz="1000" b="0" dirty="0">
                <a:solidFill>
                  <a:srgbClr val="000000"/>
                </a:solidFill>
                <a:latin typeface="+mn-lt"/>
              </a:rPr>
              <a:t>Maximilianstraße 38</a:t>
            </a:r>
            <a:br>
              <a:rPr lang="de-DE" sz="1000" b="0" dirty="0">
                <a:solidFill>
                  <a:srgbClr val="000000"/>
                </a:solidFill>
                <a:latin typeface="+mn-lt"/>
              </a:rPr>
            </a:br>
            <a:r>
              <a:rPr lang="de-DE" sz="1000" b="0" dirty="0">
                <a:solidFill>
                  <a:srgbClr val="000000"/>
                </a:solidFill>
                <a:latin typeface="+mn-lt"/>
              </a:rPr>
              <a:t>86150 Augsburg</a:t>
            </a:r>
            <a:br>
              <a:rPr lang="de-DE" sz="1000" b="0" dirty="0">
                <a:solidFill>
                  <a:srgbClr val="000000"/>
                </a:solidFill>
                <a:latin typeface="+mn-lt"/>
              </a:rPr>
            </a:br>
            <a:r>
              <a:rPr lang="de-DE" sz="1000" b="0" dirty="0">
                <a:solidFill>
                  <a:srgbClr val="000000"/>
                </a:solidFill>
                <a:latin typeface="+mn-lt"/>
              </a:rPr>
              <a:t>Telefon 0821 3201-0</a:t>
            </a:r>
            <a:br>
              <a:rPr lang="de-DE" sz="1000" b="0" dirty="0">
                <a:solidFill>
                  <a:srgbClr val="000000"/>
                </a:solidFill>
                <a:latin typeface="+mn-lt"/>
              </a:rPr>
            </a:br>
            <a:r>
              <a:rPr lang="de-DE" sz="1000" b="0" dirty="0">
                <a:solidFill>
                  <a:srgbClr val="000000"/>
                </a:solidFill>
                <a:latin typeface="+mn-lt"/>
              </a:rPr>
              <a:t>Telefax 0821 3201-271</a:t>
            </a:r>
          </a:p>
          <a:p>
            <a:pPr>
              <a:lnSpc>
                <a:spcPct val="100000"/>
              </a:lnSpc>
            </a:pPr>
            <a:r>
              <a:rPr lang="de-DE" sz="1000" dirty="0">
                <a:solidFill>
                  <a:srgbClr val="000000"/>
                </a:solidFill>
                <a:latin typeface="+mn-lt"/>
              </a:rPr>
              <a:t>E-Mail </a:t>
            </a:r>
            <a:r>
              <a:rPr lang="de-DE" sz="1000" u="sng" dirty="0">
                <a:solidFill>
                  <a:schemeClr val="accent3"/>
                </a:solidFill>
                <a:latin typeface="+mn-lt"/>
                <a:hlinkClick r:id="rId3">
                  <a:extLst>
                    <a:ext uri="{A12FA001-AC4F-418D-AE19-62706E023703}">
                      <ahyp:hlinkClr xmlns:ahyp="http://schemas.microsoft.com/office/drawing/2018/hyperlinkcolor" val="tx"/>
                    </a:ext>
                  </a:extLst>
                </a:hlinkClick>
              </a:rPr>
              <a:t>info@fuggerbank.de</a:t>
            </a:r>
            <a:r>
              <a:rPr lang="de-DE" sz="1000" dirty="0">
                <a:solidFill>
                  <a:schemeClr val="accent3"/>
                </a:solidFill>
                <a:latin typeface="+mn-lt"/>
              </a:rPr>
              <a:t>     </a:t>
            </a:r>
          </a:p>
          <a:p>
            <a:pPr>
              <a:lnSpc>
                <a:spcPct val="100000"/>
              </a:lnSpc>
            </a:pPr>
            <a:r>
              <a:rPr lang="de-DE" sz="1000" dirty="0">
                <a:solidFill>
                  <a:srgbClr val="000000"/>
                </a:solidFill>
                <a:latin typeface="+mn-lt"/>
              </a:rPr>
              <a:t>Homepage </a:t>
            </a:r>
            <a:r>
              <a:rPr lang="de-DE" sz="1000" dirty="0">
                <a:solidFill>
                  <a:schemeClr val="accent3"/>
                </a:solidFill>
                <a:latin typeface="+mn-lt"/>
                <a:hlinkClick r:id="rId4">
                  <a:extLst>
                    <a:ext uri="{A12FA001-AC4F-418D-AE19-62706E023703}">
                      <ahyp:hlinkClr xmlns:ahyp="http://schemas.microsoft.com/office/drawing/2018/hyperlinkcolor" val="tx"/>
                    </a:ext>
                  </a:extLst>
                </a:hlinkClick>
              </a:rPr>
              <a:t>www.fuggerbank.de</a:t>
            </a:r>
            <a:r>
              <a:rPr lang="de-DE" sz="1000" dirty="0">
                <a:solidFill>
                  <a:schemeClr val="accent3"/>
                </a:solidFill>
                <a:latin typeface="+mn-lt"/>
              </a:rPr>
              <a:t> </a:t>
            </a:r>
          </a:p>
          <a:p>
            <a:pPr>
              <a:lnSpc>
                <a:spcPts val="1100"/>
              </a:lnSpc>
            </a:pPr>
            <a:r>
              <a:rPr lang="de-DE" sz="1000" dirty="0">
                <a:solidFill>
                  <a:srgbClr val="000000"/>
                </a:solidFill>
                <a:latin typeface="+mn-lt"/>
              </a:rPr>
              <a:t>Vorstand </a:t>
            </a:r>
            <a:r>
              <a:rPr lang="de-DE" sz="1000" b="0" dirty="0">
                <a:solidFill>
                  <a:srgbClr val="000000"/>
                </a:solidFill>
                <a:latin typeface="+mn-lt"/>
              </a:rPr>
              <a:t>Dr. Martin Fritz (Vorsitzender)</a:t>
            </a:r>
            <a:br>
              <a:rPr lang="de-DE" sz="1000" b="0" dirty="0">
                <a:solidFill>
                  <a:srgbClr val="000000"/>
                </a:solidFill>
                <a:latin typeface="+mn-lt"/>
              </a:rPr>
            </a:br>
            <a:r>
              <a:rPr lang="de-DE" sz="1000" b="0" dirty="0">
                <a:solidFill>
                  <a:srgbClr val="000000"/>
                </a:solidFill>
                <a:latin typeface="+mn-lt"/>
              </a:rPr>
              <a:t>                   Jochen Hagen</a:t>
            </a:r>
          </a:p>
          <a:p>
            <a:pPr>
              <a:lnSpc>
                <a:spcPts val="600"/>
              </a:lnSpc>
            </a:pPr>
            <a:r>
              <a:rPr lang="de-DE" sz="1000" dirty="0">
                <a:solidFill>
                  <a:srgbClr val="000000"/>
                </a:solidFill>
                <a:latin typeface="+mn-lt"/>
              </a:rPr>
              <a:t>Vorsitzender des Aufsichtsrats </a:t>
            </a:r>
            <a:r>
              <a:rPr lang="de-DE" sz="1000" b="0" dirty="0">
                <a:solidFill>
                  <a:srgbClr val="000000"/>
                </a:solidFill>
                <a:latin typeface="+mn-lt"/>
              </a:rPr>
              <a:t>Dr. Jürgen Voß</a:t>
            </a:r>
          </a:p>
          <a:p>
            <a:pPr>
              <a:lnSpc>
                <a:spcPts val="600"/>
              </a:lnSpc>
            </a:pPr>
            <a:r>
              <a:rPr lang="en-US" sz="1000" b="0" dirty="0">
                <a:solidFill>
                  <a:srgbClr val="000000"/>
                </a:solidFill>
                <a:latin typeface="+mn-lt"/>
              </a:rPr>
              <a:t>BLZ 720 300 14 	BIC FUBKDE71</a:t>
            </a:r>
            <a:endParaRPr lang="de-DE" sz="1000" b="0" dirty="0">
              <a:solidFill>
                <a:srgbClr val="000000"/>
              </a:solidFill>
              <a:latin typeface="+mn-lt"/>
            </a:endParaRPr>
          </a:p>
          <a:p>
            <a:pPr>
              <a:lnSpc>
                <a:spcPts val="600"/>
              </a:lnSpc>
            </a:pPr>
            <a:r>
              <a:rPr lang="en-US" sz="1000" b="0" dirty="0" err="1">
                <a:solidFill>
                  <a:srgbClr val="000000"/>
                </a:solidFill>
                <a:latin typeface="+mn-lt"/>
              </a:rPr>
              <a:t>USt</a:t>
            </a:r>
            <a:r>
              <a:rPr lang="en-US" sz="1000" b="0" dirty="0">
                <a:solidFill>
                  <a:srgbClr val="000000"/>
                </a:solidFill>
                <a:latin typeface="+mn-lt"/>
              </a:rPr>
              <a:t>.-</a:t>
            </a:r>
            <a:r>
              <a:rPr lang="en-US" sz="1000" b="0" dirty="0" err="1">
                <a:solidFill>
                  <a:srgbClr val="000000"/>
                </a:solidFill>
                <a:latin typeface="+mn-lt"/>
              </a:rPr>
              <a:t>IdNr</a:t>
            </a:r>
            <a:r>
              <a:rPr lang="en-US" sz="1000" b="0" dirty="0">
                <a:solidFill>
                  <a:srgbClr val="000000"/>
                </a:solidFill>
                <a:latin typeface="+mn-lt"/>
              </a:rPr>
              <a:t>. </a:t>
            </a:r>
            <a:r>
              <a:rPr lang="de-DE" sz="1000" b="0" dirty="0">
                <a:solidFill>
                  <a:srgbClr val="000000"/>
                </a:solidFill>
                <a:latin typeface="+mn-lt"/>
              </a:rPr>
              <a:t>DE127460248 St.-Nr. 103/120/20616</a:t>
            </a:r>
          </a:p>
          <a:p>
            <a:pPr>
              <a:lnSpc>
                <a:spcPts val="600"/>
              </a:lnSpc>
            </a:pPr>
            <a:r>
              <a:rPr lang="de-DE" sz="1000" dirty="0">
                <a:solidFill>
                  <a:srgbClr val="000000"/>
                </a:solidFill>
                <a:latin typeface="+mn-lt"/>
              </a:rPr>
              <a:t>Handelsregister </a:t>
            </a:r>
            <a:r>
              <a:rPr lang="de-DE" sz="1000" b="0" dirty="0">
                <a:solidFill>
                  <a:srgbClr val="000000"/>
                </a:solidFill>
                <a:latin typeface="+mn-lt"/>
              </a:rPr>
              <a:t>Amtsgericht Augsburg HRB 30002</a:t>
            </a:r>
          </a:p>
          <a:p>
            <a:pPr>
              <a:lnSpc>
                <a:spcPts val="600"/>
              </a:lnSpc>
            </a:pPr>
            <a:r>
              <a:rPr lang="de-DE" sz="1000" dirty="0">
                <a:solidFill>
                  <a:srgbClr val="000000"/>
                </a:solidFill>
                <a:latin typeface="+mn-lt"/>
              </a:rPr>
              <a:t>Zuständige Aufsichtsbehörden</a:t>
            </a:r>
          </a:p>
          <a:p>
            <a:pPr>
              <a:lnSpc>
                <a:spcPts val="600"/>
              </a:lnSpc>
            </a:pPr>
            <a:r>
              <a:rPr lang="de-DE" sz="1000" b="0" dirty="0">
                <a:solidFill>
                  <a:srgbClr val="000000"/>
                </a:solidFill>
                <a:latin typeface="+mn-lt"/>
              </a:rPr>
              <a:t>Bundesanstalt für Finanzdienstleistungsaufsicht (BaFin)</a:t>
            </a:r>
            <a:br>
              <a:rPr lang="de-DE" sz="1000" b="0" dirty="0">
                <a:solidFill>
                  <a:srgbClr val="000000"/>
                </a:solidFill>
                <a:latin typeface="+mn-lt"/>
              </a:rPr>
            </a:br>
            <a:br>
              <a:rPr lang="de-DE" sz="1000" b="0" dirty="0">
                <a:solidFill>
                  <a:schemeClr val="accent3"/>
                </a:solidFill>
                <a:latin typeface="+mn-lt"/>
              </a:rPr>
            </a:br>
            <a:r>
              <a:rPr lang="de-DE" sz="1000" b="0" u="sng" dirty="0">
                <a:solidFill>
                  <a:schemeClr val="accent3"/>
                </a:solidFill>
                <a:latin typeface="+mn-lt"/>
                <a:hlinkClick r:id="rId5">
                  <a:extLst>
                    <a:ext uri="{A12FA001-AC4F-418D-AE19-62706E023703}">
                      <ahyp:hlinkClr xmlns:ahyp="http://schemas.microsoft.com/office/drawing/2018/hyperlinkcolor" val="tx"/>
                    </a:ext>
                  </a:extLst>
                </a:hlinkClick>
              </a:rPr>
              <a:t>www.bafin.de</a:t>
            </a:r>
            <a:endParaRPr lang="de-DE" sz="1000" b="0" dirty="0">
              <a:solidFill>
                <a:schemeClr val="accent3"/>
              </a:solidFill>
              <a:latin typeface="+mn-lt"/>
            </a:endParaRPr>
          </a:p>
          <a:p>
            <a:pPr>
              <a:lnSpc>
                <a:spcPts val="600"/>
              </a:lnSpc>
            </a:pPr>
            <a:r>
              <a:rPr lang="de-DE" sz="1000" b="0" dirty="0">
                <a:solidFill>
                  <a:srgbClr val="000000"/>
                </a:solidFill>
                <a:latin typeface="+mn-lt"/>
              </a:rPr>
              <a:t>Europäische Zentralbank </a:t>
            </a:r>
            <a:r>
              <a:rPr lang="de-DE" sz="1000" b="0" dirty="0">
                <a:solidFill>
                  <a:schemeClr val="accent3"/>
                </a:solidFill>
                <a:latin typeface="+mn-lt"/>
                <a:hlinkClick r:id="rId6">
                  <a:extLst>
                    <a:ext uri="{A12FA001-AC4F-418D-AE19-62706E023703}">
                      <ahyp:hlinkClr xmlns:ahyp="http://schemas.microsoft.com/office/drawing/2018/hyperlinkcolor" val="tx"/>
                    </a:ext>
                  </a:extLst>
                </a:hlinkClick>
              </a:rPr>
              <a:t>https://www.ecb.europa.eu/</a:t>
            </a:r>
            <a:r>
              <a:rPr lang="de-DE" sz="1000" b="0" dirty="0">
                <a:solidFill>
                  <a:schemeClr val="accent3"/>
                </a:solidFill>
                <a:latin typeface="+mn-lt"/>
              </a:rPr>
              <a:t> </a:t>
            </a:r>
          </a:p>
          <a:p>
            <a:pPr>
              <a:lnSpc>
                <a:spcPts val="600"/>
              </a:lnSpc>
            </a:pPr>
            <a:br>
              <a:rPr lang="de-DE" dirty="0">
                <a:solidFill>
                  <a:srgbClr val="000000"/>
                </a:solidFill>
                <a:latin typeface="+mn-lt"/>
              </a:rPr>
            </a:br>
            <a:endParaRPr lang="de-DE" dirty="0">
              <a:solidFill>
                <a:srgbClr val="000000"/>
              </a:solidFill>
              <a:latin typeface="+mn-lt"/>
            </a:endParaRPr>
          </a:p>
          <a:p>
            <a:pPr lvl="2"/>
            <a:endParaRPr lang="de-DE" dirty="0"/>
          </a:p>
        </p:txBody>
      </p:sp>
      <p:sp>
        <p:nvSpPr>
          <p:cNvPr id="14" name="Text 1">
            <a:extLst>
              <a:ext uri="{FF2B5EF4-FFF2-40B4-BE49-F238E27FC236}">
                <a16:creationId xmlns:a16="http://schemas.microsoft.com/office/drawing/2014/main" id="{8CCE4820-0FDA-9A4D-5A63-CD644FE440C8}"/>
              </a:ext>
            </a:extLst>
          </p:cNvPr>
          <p:cNvSpPr txBox="1">
            <a:spLocks/>
          </p:cNvSpPr>
          <p:nvPr/>
        </p:nvSpPr>
        <p:spPr>
          <a:xfrm>
            <a:off x="620040"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r>
              <a:rPr lang="de-DE" b="0" dirty="0">
                <a:solidFill>
                  <a:srgbClr val="000000"/>
                </a:solidFill>
                <a:latin typeface="+mn-lt"/>
              </a:rPr>
              <a:t>Die vorliegenden Inhalte sind als reine Kundeninformation der Fürst Fugger Privatbank zu verstehen. Sie stellen weder ein verbindliches Angebot noch eine Anlageberatung dar. Da jeder Anlageerfolg eine individuelle Analyse Ihrer Ziele und Vermögensverhältnisse voraussetzt, ersetzt dieses Dokument kein persönliches Beratungsgespräch.</a:t>
            </a:r>
          </a:p>
          <a:p>
            <a:r>
              <a:rPr lang="de-DE" b="0" dirty="0">
                <a:solidFill>
                  <a:srgbClr val="000000"/>
                </a:solidFill>
                <a:latin typeface="+mn-lt"/>
              </a:rPr>
              <a:t>Wir haben die Informationen mit gebotener Sorgfalt zusammengestellt. Bitte haben Sie Verständnis, dass wir für die Richtigkeit der genutzten Quellen keine Gewähr übernehmen können und unsere Haftung auf Vorsatz sowie grobe Fahrlässigkeit beschränkt ist. Die Vertraulichkeit bleibt gewahrt: Eine Weitergabe an Dritte oder eine Vervielfältigung ist nur nach unserer ausdrücklichen Zustimmung zulässig.</a:t>
            </a:r>
          </a:p>
          <a:p>
            <a:pPr lvl="2"/>
            <a:endParaRPr lang="de-DE" dirty="0"/>
          </a:p>
        </p:txBody>
      </p:sp>
    </p:spTree>
    <p:extLst>
      <p:ext uri="{BB962C8B-B14F-4D97-AF65-F5344CB8AC3E}">
        <p14:creationId xmlns:p14="http://schemas.microsoft.com/office/powerpoint/2010/main" val="140924150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um">
            <a:extLst>
              <a:ext uri="{FF2B5EF4-FFF2-40B4-BE49-F238E27FC236}">
                <a16:creationId xmlns:a16="http://schemas.microsoft.com/office/drawing/2014/main" id="{131D9782-D197-C72F-4BC2-70181ADDE9E7}"/>
              </a:ext>
            </a:extLst>
          </p:cNvPr>
          <p:cNvSpPr>
            <a:spLocks noGrp="1" noRot="1" noMove="1" noResize="1" noEditPoints="1" noAdjustHandles="1" noChangeArrowheads="1" noChangeShapeType="1"/>
          </p:cNvSpPr>
          <p:nvPr>
            <p:ph type="dt" sz="half" idx="10"/>
          </p:nvPr>
        </p:nvSpPr>
        <p:spPr/>
        <p:txBody>
          <a:bodyPr/>
          <a:lstStyle/>
          <a:p>
            <a:r>
              <a:rPr lang="de-DE"/>
              <a:t>Stand: </a:t>
            </a:r>
            <a:fld id="{831F5BE7-170E-4DE1-8FA0-231C67CFB96A}" type="datetime1">
              <a:rPr lang="de-DE" smtClean="0"/>
              <a:t>06.07.2026</a:t>
            </a:fld>
            <a:endParaRPr lang="de-DE" dirty="0"/>
          </a:p>
        </p:txBody>
      </p:sp>
      <p:sp>
        <p:nvSpPr>
          <p:cNvPr id="2" name="Untertitel">
            <a:extLst>
              <a:ext uri="{FF2B5EF4-FFF2-40B4-BE49-F238E27FC236}">
                <a16:creationId xmlns:a16="http://schemas.microsoft.com/office/drawing/2014/main" id="{BCA2869B-4C55-EBBA-720E-2A9070E7D7A3}"/>
              </a:ext>
            </a:extLst>
          </p:cNvPr>
          <p:cNvSpPr>
            <a:spLocks noGrp="1" noRot="1" noMove="1" noResize="1" noEditPoints="1" noAdjustHandles="1" noChangeArrowheads="1" noChangeShapeType="1"/>
          </p:cNvSpPr>
          <p:nvPr>
            <p:ph type="subTitle" idx="1"/>
          </p:nvPr>
        </p:nvSpPr>
        <p:spPr/>
        <p:txBody>
          <a:bodyPr/>
          <a:lstStyle/>
          <a:p>
            <a:r>
              <a:rPr lang="de-DE" dirty="0"/>
              <a:t>www.fuggerbank.de</a:t>
            </a:r>
          </a:p>
        </p:txBody>
      </p:sp>
      <p:sp>
        <p:nvSpPr>
          <p:cNvPr id="3" name="Titel">
            <a:extLst>
              <a:ext uri="{FF2B5EF4-FFF2-40B4-BE49-F238E27FC236}">
                <a16:creationId xmlns:a16="http://schemas.microsoft.com/office/drawing/2014/main" id="{EE0F3635-6E60-B93E-3B76-11C66486EF51}"/>
              </a:ext>
            </a:extLst>
          </p:cNvPr>
          <p:cNvSpPr>
            <a:spLocks noGrp="1" noRot="1" noMove="1" noResize="1" noEditPoints="1" noAdjustHandles="1" noChangeArrowheads="1" noChangeShapeType="1"/>
          </p:cNvSpPr>
          <p:nvPr>
            <p:ph type="ctrTitle"/>
          </p:nvPr>
        </p:nvSpPr>
        <p:spPr/>
        <p:txBody>
          <a:bodyPr/>
          <a:lstStyle/>
          <a:p>
            <a:r>
              <a:rPr lang="de-DE" dirty="0"/>
              <a:t>Vielen Dank </a:t>
            </a:r>
            <a:br>
              <a:rPr lang="de-DE" dirty="0"/>
            </a:br>
            <a:r>
              <a:rPr lang="de-DE" dirty="0"/>
              <a:t>für Ihr Interesse</a:t>
            </a:r>
          </a:p>
        </p:txBody>
      </p:sp>
    </p:spTree>
    <p:extLst>
      <p:ext uri="{BB962C8B-B14F-4D97-AF65-F5344CB8AC3E}">
        <p14:creationId xmlns:p14="http://schemas.microsoft.com/office/powerpoint/2010/main" val="2773834134"/>
      </p:ext>
    </p:extLst>
  </p:cSld>
  <p:clrMapOvr>
    <a:masterClrMapping/>
  </p:clrMapOvr>
</p:sld>
</file>

<file path=ppt/theme/theme1.xml><?xml version="1.0" encoding="utf-8"?>
<a:theme xmlns:a="http://schemas.openxmlformats.org/drawingml/2006/main" name="1_Office">
  <a:themeElements>
    <a:clrScheme name="Fürst Fugger Privatbank">
      <a:dk1>
        <a:sysClr val="windowText" lastClr="000000"/>
      </a:dk1>
      <a:lt1>
        <a:sysClr val="window" lastClr="FFFFFF"/>
      </a:lt1>
      <a:dk2>
        <a:srgbClr val="386FA7"/>
      </a:dk2>
      <a:lt2>
        <a:srgbClr val="9D9D9D"/>
      </a:lt2>
      <a:accent1>
        <a:srgbClr val="14355C"/>
      </a:accent1>
      <a:accent2>
        <a:srgbClr val="66A4CE"/>
      </a:accent2>
      <a:accent3>
        <a:srgbClr val="BB9256"/>
      </a:accent3>
      <a:accent4>
        <a:srgbClr val="9FD0EF"/>
      </a:accent4>
      <a:accent5>
        <a:srgbClr val="D1E9F8"/>
      </a:accent5>
      <a:accent6>
        <a:srgbClr val="E6F4FC"/>
      </a:accent6>
      <a:hlink>
        <a:srgbClr val="BB9256"/>
      </a:hlink>
      <a:folHlink>
        <a:srgbClr val="9D9D9D"/>
      </a:folHlink>
    </a:clrScheme>
    <a:fontScheme name="Fürst Fugger Privatbank">
      <a:majorFont>
        <a:latin typeface="Noto Serif"/>
        <a:ea typeface=""/>
        <a:cs typeface=""/>
      </a:majorFont>
      <a:minorFont>
        <a:latin typeface="Noto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custClrLst>
    <a:custClr name="Dunkelblau2">
      <a:srgbClr val="284C83"/>
    </a:custClr>
    <a:custClr name="Gold2">
      <a:srgbClr val="E5D4BC"/>
    </a:custClr>
    <a:custClr name="Hellblau4">
      <a:srgbClr val="BAD9F2"/>
    </a:custClr>
    <a:custClr name="Rot">
      <a:srgbClr val="A91A4D"/>
    </a:custClr>
  </a:custClr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2763</Words>
  <Application>Microsoft Office PowerPoint</Application>
  <PresentationFormat>Benutzerdefiniert</PresentationFormat>
  <Paragraphs>703</Paragraphs>
  <Slides>21</Slides>
  <Notes>0</Notes>
  <HiddenSlides>0</HiddenSlides>
  <MMClips>0</MMClips>
  <ScaleCrop>false</ScaleCrop>
  <HeadingPairs>
    <vt:vector size="6" baseType="variant">
      <vt:variant>
        <vt:lpstr>Verwendete Schriftarten</vt:lpstr>
      </vt:variant>
      <vt:variant>
        <vt:i4>6</vt:i4>
      </vt:variant>
      <vt:variant>
        <vt:lpstr>Design</vt:lpstr>
      </vt:variant>
      <vt:variant>
        <vt:i4>1</vt:i4>
      </vt:variant>
      <vt:variant>
        <vt:lpstr>Folientitel</vt:lpstr>
      </vt:variant>
      <vt:variant>
        <vt:i4>21</vt:i4>
      </vt:variant>
    </vt:vector>
  </HeadingPairs>
  <TitlesOfParts>
    <vt:vector size="28" baseType="lpstr">
      <vt:lpstr>Arial</vt:lpstr>
      <vt:lpstr>Calibri</vt:lpstr>
      <vt:lpstr>Noto Sans</vt:lpstr>
      <vt:lpstr>Noto Serif</vt:lpstr>
      <vt:lpstr>Open Sans</vt:lpstr>
      <vt:lpstr>Symbol</vt:lpstr>
      <vt:lpstr>1_Office</vt:lpstr>
      <vt:lpstr>Unsere   Vermögensverwaltung</vt:lpstr>
      <vt:lpstr>Unsere Strategie PRO</vt:lpstr>
      <vt:lpstr>Unsere Strategie PRO</vt:lpstr>
      <vt:lpstr>Aktien – die guten Jahre überwiegen</vt:lpstr>
      <vt:lpstr>Die Fallstricke des typischen Investors</vt:lpstr>
      <vt:lpstr>Durchhalten zahlt sich aus</vt:lpstr>
      <vt:lpstr>Gute Jahre überwiegen</vt:lpstr>
      <vt:lpstr>Krise als Chance</vt:lpstr>
      <vt:lpstr>Basis unserer Investmententscheidungen</vt:lpstr>
      <vt:lpstr>Einzeltitel</vt:lpstr>
      <vt:lpstr>Aktuelle Portfoliozusammenstellung</vt:lpstr>
      <vt:lpstr>Anlagestrategie Pro | Wertentwicklung</vt:lpstr>
      <vt:lpstr>Wertentwicklung der Strategie PRO </vt:lpstr>
      <vt:lpstr>Unser Honorar</vt:lpstr>
      <vt:lpstr>Unser Honorar</vt:lpstr>
      <vt:lpstr>Unsere Bank in Zahlen</vt:lpstr>
      <vt:lpstr>Unsere Standorte</vt:lpstr>
      <vt:lpstr>Unsere Standorte</vt:lpstr>
      <vt:lpstr>Risikohinweise</vt:lpstr>
      <vt:lpstr>Rechtliche Hinweise und Impressum</vt:lpstr>
      <vt:lpstr>Vielen Dank  für Ihr Interesse</vt:lpstr>
    </vt:vector>
  </TitlesOfParts>
  <Manager>endroes@aedwin.com</Manager>
  <Company>Fürst Fugger Privatbank AG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Präsentation zur Vermögensverwaltung</dc:title>
  <dc:creator>Harald Endrös</dc:creator>
  <cp:keywords>Vorlagen;Vermögensverwaltung</cp:keywords>
  <cp:lastModifiedBy>Philip Göttfert</cp:lastModifiedBy>
  <cp:revision>193</cp:revision>
  <dcterms:created xsi:type="dcterms:W3CDTF">2023-08-14T05:18:02Z</dcterms:created>
  <dcterms:modified xsi:type="dcterms:W3CDTF">2026-07-06T08:15:00Z</dcterms:modified>
  <cp:category>Vorlagen;Design</cp:category>
</cp:coreProperties>
</file>