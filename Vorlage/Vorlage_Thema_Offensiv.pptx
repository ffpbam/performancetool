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10.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8" r:id="rId32"/>
    <p:sldId id="1602" r:id="rId3"/>
    <p:sldId id="1603" r:id="rId4"/>
    <p:sldId id="566" r:id="rId5"/>
    <p:sldId id="1604" r:id="rId6"/>
    <p:sldId id="282" r:id="rId7"/>
    <p:sldId id="302" r:id="rId9"/>
    <p:sldId id="1607" r:id="rId31"/>
    <p:sldId id="257" r:id="rId11"/>
    <p:sldId id="304" r:id="rId12"/>
    <p:sldId id="305" r:id="rId13"/>
    <p:sldId id="564" r:id="rId14"/>
    <p:sldId id="1606" r:id="rId30"/>
    <p:sldId id="285" r:id="rId16"/>
    <p:sldId id="1605" r:id="rId29"/>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7.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6" Type="http://schemas.openxmlformats.org/officeDocument/2006/relationships/slide" Target="slides/slide14.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 Id="rId29" Type="http://schemas.openxmlformats.org/officeDocument/2006/relationships/slide" Target="slides/slide15.xml"/><Relationship Id="rId30" Type="http://schemas.openxmlformats.org/officeDocument/2006/relationships/slide" Target="slides/slide13.xml"/><Relationship Id="rId31" Type="http://schemas.openxmlformats.org/officeDocument/2006/relationships/slide" Target="slides/slide8.xml"/><Relationship Id="rId32"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6.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7.svg"/><Relationship Id="rId4" Type="http://schemas.openxmlformats.org/officeDocument/2006/relationships/image" Target="../media/image3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5A883542-134F-6BE2-E3B3-B2A2F7F3992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16423"/>
          <a:stretch/>
        </p:blipFill>
        <p:spPr>
          <a:xfrm>
            <a:off x="0" y="0"/>
            <a:ext cx="5631108" cy="6659563"/>
          </a:xfrm>
          <a:prstGeom prst="rect">
            <a:avLst/>
          </a:prstGeom>
        </p:spPr>
      </p:pic>
      <p:sp>
        <p:nvSpPr>
          <p:cNvPr id="10" name="Rechteck 9">
            <a:extLst>
              <a:ext uri="{FF2B5EF4-FFF2-40B4-BE49-F238E27FC236}">
                <a16:creationId xmlns:a16="http://schemas.microsoft.com/office/drawing/2014/main" id="{BABD6335-632E-6C6F-4173-EA9BAA9FBC6F}"/>
              </a:ext>
            </a:extLst>
          </p:cNvPr>
          <p:cNvSpPr/>
          <p:nvPr userDrawn="1"/>
        </p:nvSpPr>
        <p:spPr>
          <a:xfrm>
            <a:off x="4491080" y="571451"/>
            <a:ext cx="1140028" cy="608002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dirty="0"/>
          </a:p>
        </p:txBody>
      </p:sp>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499545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a:extLst>
              <a:ext uri="{FF2B5EF4-FFF2-40B4-BE49-F238E27FC236}">
                <a16:creationId xmlns:a16="http://schemas.microsoft.com/office/drawing/2014/main" id="{3871FBBF-6DD9-C077-C6CF-C48ECF7532D0}"/>
              </a:ext>
            </a:extLst>
          </p:cNvPr>
          <p:cNvSpPr txBox="1">
            <a:spLocks/>
          </p:cNvSpPr>
          <p:nvPr/>
        </p:nvSpPr>
        <p:spPr>
          <a:xfrm>
            <a:off x="1002324" y="3114644"/>
            <a:ext cx="6626225" cy="931775"/>
          </a:xfrm>
          <a:prstGeom prst="rect">
            <a:avLst/>
          </a:prstGeom>
        </p:spPr>
        <p:txBody>
          <a:bodyPr vert="horz" wrap="none" lIns="0" tIns="0" rIns="0" bIns="0" rtlCol="0" anchor="t" anchorCtr="0">
            <a:noAutofit/>
          </a:bodyPr>
          <a:lstStyle>
            <a:lvl1pPr algn="l" defTabSz="783001" rtl="0" eaLnBrk="1" latinLnBrk="0" hangingPunct="1">
              <a:lnSpc>
                <a:spcPts val="3450"/>
              </a:lnSpc>
              <a:spcBef>
                <a:spcPct val="0"/>
              </a:spcBef>
              <a:buNone/>
              <a:defRPr sz="2770" b="1" kern="1200">
                <a:solidFill>
                  <a:schemeClr val="bg1"/>
                </a:solidFill>
                <a:latin typeface="+mj-lt"/>
                <a:ea typeface="+mj-ea"/>
                <a:cs typeface="+mj-cs"/>
              </a:defRPr>
            </a:lvl1pPr>
          </a:lstStyle>
          <a:p>
            <a:r>
              <a:rPr lang="de-DE" dirty="0"/>
              <a:t>Unsere  </a:t>
            </a:r>
            <a:br>
              <a:rPr lang="de-DE" dirty="0"/>
            </a:br>
            <a:r>
              <a:rPr lang="de-DE" dirty="0"/>
              <a:t>Vermögensverwaltung</a:t>
            </a:r>
          </a:p>
        </p:txBody>
      </p:sp>
      <p:sp>
        <p:nvSpPr>
          <p:cNvPr id="5" name="Untertitel">
            <a:extLst>
              <a:ext uri="{FF2B5EF4-FFF2-40B4-BE49-F238E27FC236}">
                <a16:creationId xmlns:a16="http://schemas.microsoft.com/office/drawing/2014/main" id="{69F649E7-4FDE-7F87-F5C0-9BB76A0EB85B}"/>
              </a:ext>
            </a:extLst>
          </p:cNvPr>
          <p:cNvSpPr>
            <a:spLocks noGrp="1"/>
          </p:cNvSpPr>
          <p:nvPr>
            <p:ph type="subTitle" idx="1"/>
          </p:nvPr>
        </p:nvSpPr>
        <p:spPr>
          <a:xfrm>
            <a:off x="1002324" y="4369698"/>
            <a:ext cx="6626225" cy="303222"/>
          </a:xfrm>
        </p:spPr>
        <p:txBody>
          <a:bodyPr/>
          <a:lstStyle/>
          <a:p>
            <a:r>
              <a:rPr lang="de-DE" dirty="0"/>
              <a:t>UNABHÄNGIG. WERTEORIENTIERT. PERSÖNLICH.</a:t>
            </a:r>
          </a:p>
        </p:txBody>
      </p:sp>
      <p:pic>
        <p:nvPicPr>
          <p:cNvPr id="6" name="Logo">
            <a:extLst>
              <a:ext uri="{FF2B5EF4-FFF2-40B4-BE49-F238E27FC236}">
                <a16:creationId xmlns:a16="http://schemas.microsoft.com/office/drawing/2014/main" id="{FE1054F5-B936-9D37-59CE-D7CEEC518208}"/>
              </a:ext>
            </a:extLst>
          </p:cNvPr>
          <p:cNvPicPr/>
          <p:nvPr/>
        </p:nvPicPr>
        <p:blipFill>
          <a:blip r:embed="rId2">
            <a:extLst>
              <a:ext uri="{28A0092B-C50C-407E-A947-70E740481C1C}">
                <a14:useLocalDpi xmlns:a14="http://schemas.microsoft.com/office/drawing/2010/main" val="0"/>
              </a:ext>
            </a:extLst>
          </a:blip>
          <a:srcRect/>
          <a:stretch/>
        </p:blipFill>
        <p:spPr>
          <a:xfrm>
            <a:off x="407268" y="5793419"/>
            <a:ext cx="1979991" cy="597411"/>
          </a:xfrm>
          <a:prstGeom prst="rect">
            <a:avLst/>
          </a:prstGeom>
        </p:spPr>
      </p:pic>
    </p:spTree>
    <p:extLst>
      <p:ext uri="{BB962C8B-B14F-4D97-AF65-F5344CB8AC3E}">
        <p14:creationId xmlns:p14="http://schemas.microsoft.com/office/powerpoint/2010/main" val="1120128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92F3A7E-3C17-188F-79CC-B17632688D77}"/>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prstClr val="white"/>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dirty="0">
              <a:ln>
                <a:noFill/>
              </a:ln>
              <a:solidFill>
                <a:prstClr val="white"/>
              </a:solidFill>
              <a:effectLst/>
              <a:uLnTx/>
              <a:uFillTx/>
              <a:latin typeface="Noto Serif"/>
              <a:ea typeface="+mn-ea"/>
              <a:cs typeface="+mn-cs"/>
            </a:endParaRPr>
          </a:p>
        </p:txBody>
      </p:sp>
      <p:sp>
        <p:nvSpPr>
          <p:cNvPr id="4" name="Titel">
            <a:extLst>
              <a:ext uri="{FF2B5EF4-FFF2-40B4-BE49-F238E27FC236}">
                <a16:creationId xmlns:a16="http://schemas.microsoft.com/office/drawing/2014/main" id="{35143A01-2D64-118A-0721-C317C316E8EA}"/>
              </a:ext>
            </a:extLst>
          </p:cNvPr>
          <p:cNvSpPr>
            <a:spLocks noGrp="1" noRot="1" noMove="1" noResize="1" noEditPoints="1" noAdjustHandles="1" noChangeArrowheads="1" noChangeShapeType="1"/>
          </p:cNvSpPr>
          <p:nvPr>
            <p:ph type="title"/>
          </p:nvPr>
        </p:nvSpPr>
        <p:spPr/>
        <p:txBody>
          <a:bodyPr/>
          <a:lstStyle/>
          <a:p>
            <a:r>
              <a:rPr lang="de-DE" dirty="0"/>
              <a:t>Unsere Strategie „Offensiv“</a:t>
            </a:r>
          </a:p>
        </p:txBody>
      </p:sp>
      <p:sp>
        <p:nvSpPr>
          <p:cNvPr id="6" name="Inhaltsplatzhalter 5">
            <a:extLst>
              <a:ext uri="{FF2B5EF4-FFF2-40B4-BE49-F238E27FC236}">
                <a16:creationId xmlns:a16="http://schemas.microsoft.com/office/drawing/2014/main" id="{2DE62EDE-3C60-7418-78E9-2175D8E5815F}"/>
              </a:ext>
            </a:extLst>
          </p:cNvPr>
          <p:cNvSpPr>
            <a:spLocks noGrp="1"/>
          </p:cNvSpPr>
          <p:nvPr>
            <p:ph idx="1"/>
          </p:nvPr>
        </p:nvSpPr>
        <p:spPr/>
        <p:txBody>
          <a:bodyPr/>
          <a:lstStyle/>
          <a:p>
            <a:pPr marL="0" marR="0" lvl="0" indent="0" algn="l"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rPr>
              <a:t>Langfristiger Anlagehorizont</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Der Fokus liegt auf einem langfristigen Anlagehorizont von mindestens fünf Jahren, um größere Marktschwankungen abzufedern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 Anlagestrategie: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Offensives Ausnutzen von Kurschancen, bei permanenter Investition in den weltweiten Aktienmärkten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Mindestens 50% Aktienanteil – bis zu 100% möglich</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lang="de-DE" b="0" dirty="0" err="1">
                <a:solidFill>
                  <a:prstClr val="black"/>
                </a:solidFill>
                <a:latin typeface="Noto Sans"/>
                <a:sym typeface="Wingdings" panose="05000000000000000000" pitchFamily="2" charset="2"/>
              </a:rPr>
              <a:t>Anleihenquote</a:t>
            </a:r>
            <a:r>
              <a:rPr lang="de-DE" b="0" dirty="0">
                <a:solidFill>
                  <a:prstClr val="black"/>
                </a:solidFill>
                <a:latin typeface="Noto Sans"/>
                <a:sym typeface="Wingdings" panose="05000000000000000000" pitchFamily="2" charset="2"/>
              </a:rPr>
              <a:t> bei maximal 50%</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Ohne Begrenzung von Fremdwährungen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endPar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endParaRPr>
          </a:p>
          <a:p>
            <a:endParaRPr lang="de-DE" dirty="0"/>
          </a:p>
        </p:txBody>
      </p:sp>
    </p:spTree>
    <p:extLst>
      <p:ext uri="{BB962C8B-B14F-4D97-AF65-F5344CB8AC3E}">
        <p14:creationId xmlns:p14="http://schemas.microsoft.com/office/powerpoint/2010/main" val="727662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dirty="0"/>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Akzeptanz höherer Schwankungen: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Höhere Kursschwankungen werden in Kauf genommen</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Das Anstreben hoher Erträge erfordert den Eingang höherer Risiken</a:t>
            </a:r>
          </a:p>
          <a:p>
            <a:pPr marL="0" marR="0" lvl="0" indent="0" algn="just" defTabSz="783001" rtl="0" eaLnBrk="1" fontAlgn="auto" latinLnBrk="0" hangingPunct="1">
              <a:lnSpc>
                <a:spcPct val="100000"/>
              </a:lnSpc>
              <a:spcBef>
                <a:spcPts val="1600"/>
              </a:spcBef>
              <a:spcAft>
                <a:spcPts val="300"/>
              </a:spcAft>
              <a:buClr>
                <a:srgbClr val="BB9256"/>
              </a:buClr>
              <a:buSzTx/>
              <a:buFontTx/>
              <a:buNone/>
              <a:tabLst/>
              <a:defRPr/>
            </a:pPr>
            <a:r>
              <a:rPr kumimoji="0" lang="de-DE" sz="1100" b="1" i="0" u="none" strike="noStrike" kern="1200" cap="none" spc="0" normalizeH="0" baseline="0" noProof="0" dirty="0">
                <a:ln>
                  <a:noFill/>
                </a:ln>
                <a:solidFill>
                  <a:prstClr val="black"/>
                </a:solidFill>
                <a:effectLst/>
                <a:uLnTx/>
                <a:uFillTx/>
                <a:latin typeface="Noto Sans"/>
                <a:ea typeface="+mn-ea"/>
                <a:cs typeface="+mn-cs"/>
                <a:sym typeface="Wingdings" panose="05000000000000000000" pitchFamily="2" charset="2"/>
              </a:rPr>
              <a:t>Aktienrendite im Fokus:</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Noto Sans"/>
                <a:ea typeface="+mn-ea"/>
                <a:cs typeface="+mn-cs"/>
              </a:rPr>
              <a:t>Die Strategie verzichtet auf taktische Maßnahmen und zielt darauf ab, eine Outperformance durch Einzeltitel zu generieren. Im Gegensatz dazu finden ETFs, die lediglich die breite Marktentwicklung abbilden, keine Verwendung </a:t>
            </a: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Antizyklische Einstiegsgelegenheiten werden aktiv genutzt, wobei aussichtsreiche Branchen gezielt übergewichtet werden können</a:t>
            </a:r>
            <a:endParaRPr kumimoji="0" lang="de-DE" sz="1100" b="0" i="0" u="none" strike="noStrike" kern="1200" cap="none" spc="0" normalizeH="0" baseline="0" noProof="0" dirty="0">
              <a:ln>
                <a:noFill/>
              </a:ln>
              <a:solidFill>
                <a:prstClr val="black"/>
              </a:solidFill>
              <a:effectLst/>
              <a:uLnTx/>
              <a:uFillTx/>
              <a:latin typeface="Wingdings" panose="05000000000000000000" pitchFamily="2" charset="2"/>
              <a:ea typeface="+mn-ea"/>
              <a:cs typeface="+mn-cs"/>
            </a:endParaRPr>
          </a:p>
          <a:p>
            <a:pPr marL="108000" marR="0" lvl="0" indent="-108000" algn="just" defTabSz="783001" rtl="0" eaLnBrk="1" fontAlgn="auto" latinLnBrk="0" hangingPunct="1">
              <a:lnSpc>
                <a:spcPct val="100000"/>
              </a:lnSpc>
              <a:spcBef>
                <a:spcPts val="1600"/>
              </a:spcBef>
              <a:spcAft>
                <a:spcPts val="300"/>
              </a:spcAft>
              <a:buClr>
                <a:srgbClr val="BB9256"/>
              </a:buClr>
              <a:buSzTx/>
              <a:buFont typeface="Wingdings" panose="05000000000000000000" pitchFamily="2" charset="2"/>
              <a:buChar char="§"/>
              <a:tabLst/>
              <a:defRPr/>
            </a:pPr>
            <a:r>
              <a:rPr kumimoji="0" lang="de-DE" sz="1100" b="0" i="0" u="none" strike="noStrike" kern="1200" cap="none" spc="0" normalizeH="0" baseline="0" noProof="0" dirty="0">
                <a:ln>
                  <a:noFill/>
                </a:ln>
                <a:solidFill>
                  <a:prstClr val="black"/>
                </a:solidFill>
                <a:effectLst/>
                <a:uLnTx/>
                <a:uFillTx/>
                <a:latin typeface="Verdana" panose="020B0604030504040204" pitchFamily="34" charset="0"/>
                <a:ea typeface="+mn-ea"/>
                <a:cs typeface="+mn-cs"/>
              </a:rPr>
              <a:t>Offenes Anlageuniversum mit geringen Restriktionen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„Offensiv“ </a:t>
            </a:r>
          </a:p>
        </p:txBody>
      </p:sp>
      <p:sp>
        <p:nvSpPr>
          <p:cNvPr id="5" name="Textfeld 4">
            <a:extLst>
              <a:ext uri="{FF2B5EF4-FFF2-40B4-BE49-F238E27FC236}">
                <a16:creationId xmlns:a16="http://schemas.microsoft.com/office/drawing/2014/main" id="{785D5B08-6AE7-F80F-5543-F42817AD03E8}"/>
              </a:ext>
            </a:extLst>
          </p:cNvPr>
          <p:cNvSpPr txBox="1"/>
          <p:nvPr/>
        </p:nvSpPr>
        <p:spPr>
          <a:xfrm>
            <a:off x="139337" y="6444119"/>
            <a:ext cx="1480458" cy="184666"/>
          </a:xfrm>
          <a:prstGeom prst="rect">
            <a:avLst/>
          </a:prstGeom>
          <a:noFill/>
        </p:spPr>
        <p:txBody>
          <a:bodyPr wrap="square" rtlCol="0">
            <a:spAutoFit/>
          </a:bodyPr>
          <a:lstStyle/>
          <a:p>
            <a:r>
              <a:rPr lang="de-DE" sz="600" dirty="0">
                <a:solidFill>
                  <a:schemeClr val="bg1"/>
                </a:solidFill>
              </a:rPr>
              <a:t>Quelle: KI-generiertes Bild</a:t>
            </a:r>
          </a:p>
        </p:txBody>
      </p:sp>
    </p:spTree>
    <p:extLst>
      <p:ext uri="{BB962C8B-B14F-4D97-AF65-F5344CB8AC3E}">
        <p14:creationId xmlns:p14="http://schemas.microsoft.com/office/powerpoint/2010/main" val="1075968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Zusätzliches Momentum durch 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Niedrige Verschuldung</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Hohes Umsatzwachstum</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 mit hohen Eintrittsbarrieren</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Aktienrückkäufe und Insiderkäufe als Kurstreiber</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Liquidität</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b="1" dirty="0">
                <a:solidFill>
                  <a:schemeClr val="bg1"/>
                </a:solidFill>
              </a:endParaRP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
        <p:nvSpPr>
          <p:cNvPr id="5" name="Mitte rechts">
            <a:extLst>
              <a:ext uri="{FF2B5EF4-FFF2-40B4-BE49-F238E27FC236}">
                <a16:creationId xmlns:a16="http://schemas.microsoft.com/office/drawing/2014/main" id="{D2AE80A0-FF50-FA92-40B3-56A3160835DC}"/>
              </a:ext>
            </a:extLst>
          </p:cNvPr>
          <p:cNvSpPr/>
          <p:nvPr/>
        </p:nvSpPr>
        <p:spPr>
          <a:xfrm>
            <a:off x="5326855" y="3604104"/>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Fokus auf Large-Cap </a:t>
            </a:r>
            <a:br>
              <a:rPr lang="de-DE" sz="900" b="1" dirty="0">
                <a:solidFill>
                  <a:schemeClr val="accent1"/>
                </a:solidFill>
              </a:rPr>
            </a:br>
            <a:r>
              <a:rPr lang="de-DE" sz="900" b="1" dirty="0">
                <a:solidFill>
                  <a:schemeClr val="accent1"/>
                </a:solidFill>
              </a:rPr>
              <a:t>Unternehmen</a:t>
            </a:r>
          </a:p>
        </p:txBody>
      </p:sp>
      <p:sp>
        <p:nvSpPr>
          <p:cNvPr id="15" name="Mitte links">
            <a:extLst>
              <a:ext uri="{FF2B5EF4-FFF2-40B4-BE49-F238E27FC236}">
                <a16:creationId xmlns:a16="http://schemas.microsoft.com/office/drawing/2014/main" id="{4FCDAC5A-5CB1-F863-7E3D-B03E202900BB}"/>
              </a:ext>
            </a:extLst>
          </p:cNvPr>
          <p:cNvSpPr/>
          <p:nvPr/>
        </p:nvSpPr>
        <p:spPr>
          <a:xfrm>
            <a:off x="2842418" y="3604104"/>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Margen</a:t>
            </a:r>
          </a:p>
        </p:txBody>
      </p:sp>
      <p:sp>
        <p:nvSpPr>
          <p:cNvPr id="10" name="Header">
            <a:extLst>
              <a:ext uri="{FF2B5EF4-FFF2-40B4-BE49-F238E27FC236}">
                <a16:creationId xmlns:a16="http://schemas.microsoft.com/office/drawing/2014/main" id="{B65C5396-4F05-7E3F-5483-47C85BFA98D9}"/>
              </a:ext>
            </a:extLst>
          </p:cNvPr>
          <p:cNvSpPr/>
          <p:nvPr/>
        </p:nvSpPr>
        <p:spPr>
          <a:xfrm>
            <a:off x="341313" y="4668364"/>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900" b="1" dirty="0">
              <a:solidFill>
                <a:schemeClr val="bg1"/>
              </a:solidFill>
            </a:endParaRPr>
          </a:p>
        </p:txBody>
      </p:sp>
    </p:spTree>
    <p:extLst>
      <p:ext uri="{BB962C8B-B14F-4D97-AF65-F5344CB8AC3E}">
        <p14:creationId xmlns:p14="http://schemas.microsoft.com/office/powerpoint/2010/main" val="35638666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pPr algn="just"/>
            <a:r>
              <a:rPr lang="de-DE" dirty="0"/>
              <a:t>Halbjährliche Abrechnung</a:t>
            </a:r>
          </a:p>
          <a:p>
            <a:pPr lvl="2" algn="just"/>
            <a:r>
              <a:rPr lang="de-DE" dirty="0"/>
              <a:t>Die Abrechnung erfolgt halbjährlich. Als Berechnungs-grundlage dient das durchschnittlich verfügbare Kapital (Konto und Depot). Alternativ bieten wir Ihnen ein  </a:t>
            </a:r>
            <a:br>
              <a:rPr lang="de-DE" dirty="0"/>
            </a:br>
            <a:r>
              <a:rPr lang="de-DE" dirty="0"/>
              <a:t>»all-in-fee«-Modell mit erfolgsabhängiger Komponente an.</a:t>
            </a:r>
          </a:p>
          <a:p>
            <a:pPr algn="just"/>
            <a:r>
              <a:rPr lang="de-DE" dirty="0"/>
              <a:t>»All-in-fee«-Honorar</a:t>
            </a:r>
          </a:p>
          <a:p>
            <a:pPr lvl="2" algn="just"/>
            <a:r>
              <a:rPr lang="de-DE" dirty="0"/>
              <a:t>Die Honorargestaltung unserer Vermögensverwaltung ist fair, transparent und nachvollziehbar. Wir berechnen </a:t>
            </a:r>
            <a:br>
              <a:rPr lang="de-DE" dirty="0"/>
            </a:br>
            <a:r>
              <a:rPr lang="de-DE" dirty="0"/>
              <a:t>gegenüber unseren Kunden in unserer Vermögens-verwaltung ein »all-in-fee«-Honorar, das sämtliche Gebühren unseres Hauses für Depotführung, Transaktionen und Verwaltung umfasst.</a:t>
            </a:r>
          </a:p>
          <a:p>
            <a:pPr algn="just"/>
            <a:r>
              <a:rPr lang="de-DE" dirty="0"/>
              <a:t>Ausschluss</a:t>
            </a:r>
          </a:p>
          <a:p>
            <a:pPr lvl="2" algn="just"/>
            <a:r>
              <a:rPr lang="de-DE" dirty="0"/>
              <a:t> Nicht enthalten sind evtl. anfallende Courtagen, </a:t>
            </a:r>
            <a:br>
              <a:rPr lang="de-DE" dirty="0"/>
            </a:br>
            <a:r>
              <a:rPr lang="de-DE" dirty="0"/>
              <a:t>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Offensiv</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180717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